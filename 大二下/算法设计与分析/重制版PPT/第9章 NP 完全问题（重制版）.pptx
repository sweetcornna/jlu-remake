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algo_ch9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algo_ch9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9ee456705ddb9253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c984a38d9d785f18.png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4c03c5c0696e441.png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4582820" cy="3437763"/>
            <a:chOff x="666750" y="1619250"/>
            <a:chExt cx="4582820" cy="343776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1986915" cy="3429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802035" y="1718310"/>
              <a:ext cx="17544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算法设计与分析 · 第9章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3177906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NP 完全问题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14706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467100"/>
              <a:ext cx="457291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从判定问题、不确定算法到 NP 完全性证明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97668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921442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判定问题与多项式时间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26720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211955"/>
              <a:ext cx="161231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不确定算法与 NP 类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55771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502468"/>
              <a:ext cx="19946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归约、NPC 与 Cook 定理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84822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9298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恰好覆盖归约到子集和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4491495" cy="205359"/>
            <a:chOff x="680466" y="6192202"/>
            <a:chExt cx="4491495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449149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自学复习版｜据吉林大学《算法设计与分析》第9章课件整理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17157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6204" y="407194"/>
              <a:ext cx="9859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第9章 NP 完全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6" name="c1-agenda-1"/>
          <p:cNvGrpSpPr/>
          <p:nvPr/>
        </p:nvGrpSpPr>
        <p:grpSpPr>
          <a:xfrm>
            <a:off x="521970" y="1515428"/>
            <a:ext cx="6287453" cy="3689317"/>
            <a:chOff x="521970" y="1515428"/>
            <a:chExt cx="6287453" cy="3689317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判定问题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41484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好算法的标准、问题复杂性、优化问题改写成判定问题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18122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28695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323148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不确定算法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639854"/>
              <a:ext cx="57423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choice、failure、success，检索、排序、最大团的不确定算法，输入长度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2953702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05847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094673"/>
              <a:ext cx="138579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P、NP 与归约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412331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两个问题类的定义，归约与多项式时间归约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372522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383095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3867150"/>
              <a:ext cx="21346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NP 完全与 Cook 定理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183856"/>
              <a:ext cx="327260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NPC 与 NP 难、SAT 问题、四类问题的关系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449770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460248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4638675"/>
              <a:ext cx="191662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NP 完全性证明实例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4955381"/>
              <a:ext cx="248565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恰好覆盖 ≤ₚ 子集和 ≤ₚ 0/1 背包</a:t>
              </a:r>
            </a:p>
          </p:txBody>
        </p:sp>
      </p:grpSp>
      <p:grpSp>
        <p:nvGrpSpPr>
          <p:cNvPr id="41" name="c2-card-1"/>
          <p:cNvGrpSpPr/>
          <p:nvPr/>
        </p:nvGrpSpPr>
        <p:grpSpPr>
          <a:xfrm>
            <a:off x="7114222" y="1524000"/>
            <a:ext cx="4544378" cy="3800475"/>
            <a:chOff x="7114222" y="1524000"/>
            <a:chExt cx="4544378" cy="3800475"/>
          </a:xfrm>
        </p:grpSpPr>
        <p:sp>
          <p:nvSpPr>
            <p:cNvPr id="27" name="Rectangle 27"/>
            <p:cNvSpPr/>
            <p:nvPr/>
          </p:nvSpPr>
          <p:spPr>
            <a:xfrm>
              <a:off x="7114222" y="1524000"/>
              <a:ext cx="4544378" cy="3800475"/>
            </a:xfrm>
            <a:prstGeom prst="roundRect">
              <a:avLst>
                <a:gd name="adj" fmla="val 350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7123748" y="1657350"/>
              <a:ext cx="47625" cy="3533775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525702" y="211074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用具体数字说明多项式时间算法和指数时间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算法的差距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7367588" y="279463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525702" y="273177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把优化问题改写成判定问题，并说明二者可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以多项式时间互相转换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341566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335280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写出简单问题的不确定算法，分别分析猜想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阶段和验证阶段的时间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403669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3973830"/>
              <a:ext cx="35871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准确说出 P、NP、NP 完全、NP 难的定义和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相互关系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7588" y="465772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25702" y="4594860"/>
              <a:ext cx="37680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按两步法证明子集和问题是 NP 完全的，并说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清每段取 k 位的理由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2" name="TextBox 42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F4B9A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8EDF8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6376035" cy="3675697"/>
            <a:chOff x="667512" y="1835468"/>
            <a:chExt cx="6376035" cy="367569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197510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判定问题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6366129" cy="6465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先定下“好算法”的标准，再把各种优化问题改写成只答“是”或“否”的</a:t>
              </a:r>
              <a:br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问题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421195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415480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什么是好算法：多项式时间算法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56628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50913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问题复杂性与算法复杂性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92061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86346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现实世界问题的四种情况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527494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521779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优化问题转化为判定问题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1262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4148" y="407194"/>
              <a:ext cx="17711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第9章 NP 完全 · 判定问题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好算法：问题规模增大时，计算时间涨得慢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8728520" cy="293370"/>
            <a:chOff x="525780" y="1548765"/>
            <a:chExt cx="872852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87285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评价算法好坏的重要标准是运行时间。先看第一个角度：解决规模为 n 的问题需要多少计算时间。</a:t>
              </a:r>
            </a:p>
          </p:txBody>
        </p:sp>
      </p:grpSp>
      <p:grpSp>
        <p:nvGrpSpPr>
          <p:cNvPr id="40" name="c1-table-1"/>
          <p:cNvGrpSpPr/>
          <p:nvPr/>
        </p:nvGrpSpPr>
        <p:grpSpPr>
          <a:xfrm>
            <a:off x="528066" y="1954530"/>
            <a:ext cx="11130534" cy="1977961"/>
            <a:chOff x="528066" y="1954530"/>
            <a:chExt cx="11130534" cy="1977961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11125200" cy="424815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79564" y="2083118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算法（解决的问题）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349561" y="2083118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时间复杂度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820984" y="208311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问题规模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015353" y="2083118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运算量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827323" y="208311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计算时间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35889" y="250698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快速排序（排序）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349828" y="2506980"/>
              <a:ext cx="81937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 log n)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744250" y="2506980"/>
              <a:ext cx="811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10⁵ 个数据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975604" y="2506980"/>
              <a:ext cx="185379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10⁵ × log₂10⁵ ≈ 1.7×10⁶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756904" y="2506980"/>
              <a:ext cx="93299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1.7×10⁻³ 秒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279844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33400" y="2803208"/>
              <a:ext cx="11125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5889" y="2931795"/>
              <a:ext cx="197074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Dijkstra（单源最短路径）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508400" y="2931795"/>
              <a:ext cx="5022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O(n²)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744250" y="2931795"/>
              <a:ext cx="811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10⁴ 个顶点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975604" y="2931795"/>
              <a:ext cx="99761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(10⁴)² = 10⁸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756904" y="2931795"/>
              <a:ext cx="48874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 秒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322326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35889" y="335661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回溯法（最大团）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417037" y="3356610"/>
              <a:ext cx="6849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O(n·2ⁿ)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744250" y="3356610"/>
              <a:ext cx="811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 个顶点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975604" y="3356610"/>
              <a:ext cx="180533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 × 2¹⁰⁰ ≈ 1.27×10³²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663940" y="3237548"/>
              <a:ext cx="2985135" cy="405765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56904" y="3356610"/>
              <a:ext cx="212841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1.27×10²³ 秒 ≈ 4.0×10¹⁵ 年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1954530"/>
              <a:ext cx="11125200" cy="16973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3087052" y="1954530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4422458" y="1954530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5868352" y="1954530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8649652" y="1954530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528066" y="3727132"/>
              <a:ext cx="625838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假设计算机每秒执行 10⁹ 次运算，计算时间 = 运算量 ÷ 10⁹。最大团问题要求图中最大的完全子图。</a:t>
              </a:r>
            </a:p>
          </p:txBody>
        </p:sp>
      </p:grpSp>
      <p:grpSp>
        <p:nvGrpSpPr>
          <p:cNvPr id="46" name="c1-card-2"/>
          <p:cNvGrpSpPr/>
          <p:nvPr/>
        </p:nvGrpSpPr>
        <p:grpSpPr>
          <a:xfrm>
            <a:off x="533400" y="4070985"/>
            <a:ext cx="11125200" cy="1250632"/>
            <a:chOff x="533400" y="4070985"/>
            <a:chExt cx="11125200" cy="1250632"/>
          </a:xfrm>
        </p:grpSpPr>
        <p:sp>
          <p:nvSpPr>
            <p:cNvPr id="41" name="Rectangle 41"/>
            <p:cNvSpPr/>
            <p:nvPr/>
          </p:nvSpPr>
          <p:spPr>
            <a:xfrm>
              <a:off x="533400" y="4070985"/>
              <a:ext cx="11125200" cy="1250632"/>
            </a:xfrm>
            <a:prstGeom prst="roundRect">
              <a:avLst>
                <a:gd name="adj" fmla="val 106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542925" y="4204335"/>
              <a:ext cx="47625" cy="98393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769620" y="426910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861060" y="430339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62381" y="4629626"/>
              <a:ext cx="9527413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原课件第三行写作“100 × 2¹⁰⁰ ≈ 1.8×10³²，1.8×10²¹ 秒 ≈ 5.7×10¹⁵ 年”。实际 2¹⁰⁰ ≈ 1.27×10³⁰，运算量约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1.27×10³²，除以 10⁹ 得 1.27×10²³ 秒，约 4.0×10¹⁵ 年。原数据中 1.8×10²¹ 秒只合 5.7×10¹³ 年，前后也对不上。</a:t>
              </a:r>
            </a:p>
          </p:txBody>
        </p:sp>
      </p:grpSp>
      <p:grpSp>
        <p:nvGrpSpPr>
          <p:cNvPr id="53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47" name="Rectangle 47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738188" y="6011228"/>
              <a:ext cx="200026" cy="200025"/>
              <a:chOff x="738188" y="6011228"/>
              <a:chExt cx="200026" cy="200025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738188" y="601122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777926" y="605567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12642" y="616680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1040511" y="6011704"/>
              <a:ext cx="950559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宇宙年龄约 1.4×10¹⁰ 年。100 个顶点的最大团用这个回溯法要算约 29 万个宇宙年龄，规模稍大就完全不可行。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17723" cy="909257"/>
            <a:chOff x="520446" y="342900"/>
            <a:chExt cx="68177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1262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4148" y="407194"/>
              <a:ext cx="17711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第9章 NP 完全 · 判定问题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177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机器快 60 倍，指数算法也只能多算几个顶点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7668387" cy="293370"/>
            <a:chOff x="525780" y="1548765"/>
            <a:chExt cx="7668387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766838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第二个角度：单位时间内能解决多大规模的问题。把运算能力提高到每秒 6×10¹⁰ 次。</a:t>
              </a:r>
            </a:p>
          </p:txBody>
        </p:sp>
      </p:grpSp>
      <p:grpSp>
        <p:nvGrpSpPr>
          <p:cNvPr id="29" name="c1-table-1"/>
          <p:cNvGrpSpPr/>
          <p:nvPr/>
        </p:nvGrpSpPr>
        <p:grpSpPr>
          <a:xfrm>
            <a:off x="533400" y="1954530"/>
            <a:ext cx="6276022" cy="2550795"/>
            <a:chOff x="533400" y="1954530"/>
            <a:chExt cx="6276022" cy="2550795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6276022" cy="424815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56322" y="208311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算法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211515" y="2083118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单位时间内能解决的规模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386388" y="208311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核算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35889" y="26136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快速排序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017014" y="2506980"/>
              <a:ext cx="188671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秒排序约 2×10⁹（20 亿）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个数据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401122" y="2506980"/>
              <a:ext cx="162001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2×10⁹ × log₂(2×10⁹) ≈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6.2×10¹⁰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3011805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3016568"/>
              <a:ext cx="6276022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5889" y="3251835"/>
              <a:ext cx="67839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Dijkstra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017014" y="3145155"/>
              <a:ext cx="188671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秒处理约 2.4×10⁵ 个顶点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的图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401122" y="3251835"/>
              <a:ext cx="17084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√(6×10¹⁰) ≈ 2.45×10⁵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649980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5889" y="399669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最大团回溯法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1924050" y="3664268"/>
              <a:ext cx="2366010" cy="832485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2017014" y="3996690"/>
              <a:ext cx="220111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天只能处理约 46 个顶点的图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401122" y="3783330"/>
              <a:ext cx="2016252" cy="6614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一天 5.2×10¹⁵ 次；46×2⁴⁶ ≈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3.2×10¹⁵，47×2⁴⁷ ≈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6.6×10¹⁵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1954530"/>
              <a:ext cx="6276022" cy="255079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1909762" y="1954530"/>
              <a:ext cx="9525" cy="25507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4293870" y="1954530"/>
              <a:ext cx="9525" cy="25507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5" name="c1-card-2"/>
          <p:cNvGrpSpPr/>
          <p:nvPr/>
        </p:nvGrpSpPr>
        <p:grpSpPr>
          <a:xfrm>
            <a:off x="533400" y="4686300"/>
            <a:ext cx="6276022" cy="1522095"/>
            <a:chOff x="533400" y="4686300"/>
            <a:chExt cx="6276022" cy="1522095"/>
          </a:xfrm>
        </p:grpSpPr>
        <p:sp>
          <p:nvSpPr>
            <p:cNvPr id="30" name="Rectangle 30"/>
            <p:cNvSpPr/>
            <p:nvPr/>
          </p:nvSpPr>
          <p:spPr>
            <a:xfrm>
              <a:off x="533400" y="4686300"/>
              <a:ext cx="6276022" cy="1522095"/>
            </a:xfrm>
            <a:prstGeom prst="roundRect">
              <a:avLst>
                <a:gd name="adj" fmla="val 876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542925" y="4819650"/>
              <a:ext cx="47625" cy="125539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769620" y="488442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61060" y="49187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62381" y="5244941"/>
              <a:ext cx="5460746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原课件第三行写作“一天时间解决 41 个顶点的图”。按每秒 6×10¹⁰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次，41 个顶点只需约 25 分钟，一天可以做到 46 个顶点；41 个顶点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大约是每秒 10⁹ 次的机器算一天的规模。</a:t>
              </a:r>
            </a:p>
          </p:txBody>
        </p:sp>
      </p:grpSp>
      <p:grpSp>
        <p:nvGrpSpPr>
          <p:cNvPr id="44" name="c2-card-1"/>
          <p:cNvGrpSpPr/>
          <p:nvPr/>
        </p:nvGrpSpPr>
        <p:grpSpPr>
          <a:xfrm>
            <a:off x="7114222" y="1954530"/>
            <a:ext cx="4544378" cy="2340292"/>
            <a:chOff x="7114222" y="1954530"/>
            <a:chExt cx="4544378" cy="2340292"/>
          </a:xfrm>
        </p:grpSpPr>
        <p:sp>
          <p:nvSpPr>
            <p:cNvPr id="36" name="Rectangle 36"/>
            <p:cNvSpPr/>
            <p:nvPr/>
          </p:nvSpPr>
          <p:spPr>
            <a:xfrm>
              <a:off x="7114222" y="1954530"/>
              <a:ext cx="4544378" cy="2340292"/>
            </a:xfrm>
            <a:prstGeom prst="roundRect">
              <a:avLst>
                <a:gd name="adj" fmla="val 5698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7312342" y="2152650"/>
              <a:ext cx="1143000" cy="247650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383780" y="2186940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为什么差这么多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19962" y="2573655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476554" y="2513171"/>
              <a:ext cx="3675380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 log n、n² 算法：速度乘 60，n² 算法的规模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可乘 √60 ≈ 7.7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319962" y="3162300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476554" y="3102769"/>
              <a:ext cx="3657346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n·2ⁿ 算法：n 每加 1，运算量就翻一倍多。速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度乘 60 只够 n 多加 log₂60 ≈ 5.9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306247" y="3688080"/>
              <a:ext cx="382981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每秒 10⁹ 次时一天能算 40 个顶点，快 60 倍后也只到 46</a:t>
              </a:r>
              <a:br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个。</a:t>
              </a:r>
            </a:p>
          </p:txBody>
        </p:sp>
      </p:grpSp>
      <p:grpSp>
        <p:nvGrpSpPr>
          <p:cNvPr id="50" name="c2-callout-2"/>
          <p:cNvGrpSpPr/>
          <p:nvPr/>
        </p:nvGrpSpPr>
        <p:grpSpPr>
          <a:xfrm>
            <a:off x="7114222" y="4474845"/>
            <a:ext cx="4544378" cy="1018222"/>
            <a:chOff x="7114222" y="4474845"/>
            <a:chExt cx="4544378" cy="1018222"/>
          </a:xfrm>
        </p:grpSpPr>
        <p:sp>
          <p:nvSpPr>
            <p:cNvPr id="45" name="Rectangle 45"/>
            <p:cNvSpPr/>
            <p:nvPr/>
          </p:nvSpPr>
          <p:spPr>
            <a:xfrm>
              <a:off x="7114222" y="4474845"/>
              <a:ext cx="4544378" cy="1018222"/>
            </a:xfrm>
            <a:prstGeom prst="roundRect">
              <a:avLst>
                <a:gd name="adj" fmla="val 11225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7319010" y="4884420"/>
              <a:ext cx="200026" cy="200026"/>
              <a:chOff x="7319010" y="4884420"/>
              <a:chExt cx="200026" cy="200026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7319010" y="488442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7385685" y="4962208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7621334" y="4622006"/>
              <a:ext cx="3621278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快速排序和 Dijkstra 算法能快速解决问题，</a:t>
              </a:r>
              <a:br/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是好算法；最大团回溯法只能用于较小的图，</a:t>
              </a:r>
              <a:br/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100 个顶点根本不可行。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801999" cy="909257"/>
            <a:chOff x="520446" y="342900"/>
            <a:chExt cx="38019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1262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4148" y="407194"/>
              <a:ext cx="17711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第9章 NP 完全 · 判定问题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8019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多项式时间算法是好算法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5410200" cy="1792605"/>
            <a:chOff x="533400" y="1524000"/>
            <a:chExt cx="5410200" cy="17926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792605"/>
            </a:xfrm>
            <a:prstGeom prst="roundRect">
              <a:avLst>
                <a:gd name="adj" fmla="val 743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525905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多项式时间算法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4443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时间复杂度能被某个多项式 nᵏ（k 为常数）界住的算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法，称为多项式时间算法。常见的复杂度从小到大为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3"/>
                <p:cNvSpPr txBox="1">
                  <a:spLocks noGrp="1"/>
                </p:cNvSpPr>
                <p:nvPr/>
              </p:nvSpPr>
              <p:spPr>
                <a:xfrm>
                  <a:off x="781050" y="2726055"/>
                  <a:ext cx="4953000" cy="3619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O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&lt;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O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func>
                              <m:funcPr/>
                              <m:fName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log</m:t>
                                </m:r>
                              </m:fName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e>
                            </m:func>
                          </m:e>
                        </m:d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&lt;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O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&lt;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O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  <m:func>
                              <m:funcPr/>
                              <m:fName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log</m:t>
                                </m:r>
                              </m:fName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e>
                            </m:func>
                          </m:e>
                        </m:d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&lt;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O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e>
                              <m:sup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&lt;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O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e>
                              <m:sup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3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22" name="c1-card-2"/>
          <p:cNvGrpSpPr/>
          <p:nvPr/>
        </p:nvGrpSpPr>
        <p:grpSpPr>
          <a:xfrm>
            <a:off x="533400" y="3507105"/>
            <a:ext cx="5410200" cy="1680210"/>
            <a:chOff x="533400" y="3507105"/>
            <a:chExt cx="5410200" cy="1680210"/>
          </a:xfrm>
        </p:grpSpPr>
        <p:sp>
          <p:nvSpPr>
            <p:cNvPr id="15" name="Rectangle 15"/>
            <p:cNvSpPr/>
            <p:nvPr/>
          </p:nvSpPr>
          <p:spPr>
            <a:xfrm>
              <a:off x="533400" y="3507105"/>
              <a:ext cx="5410200" cy="1680210"/>
            </a:xfrm>
            <a:prstGeom prst="roundRect">
              <a:avLst>
                <a:gd name="adj" fmla="val 793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542925" y="3640455"/>
              <a:ext cx="47625" cy="141351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81050" y="371665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71258" y="375237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对照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382078" y="3751898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非多项式（指数）时间算法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formula4"/>
                <p:cNvSpPr txBox="1">
                  <a:spLocks noGrp="1"/>
                </p:cNvSpPr>
                <p:nvPr/>
              </p:nvSpPr>
              <p:spPr>
                <a:xfrm>
                  <a:off x="781050" y="4088130"/>
                  <a:ext cx="4953000" cy="419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O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p>
                            </m:sSup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&lt;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O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!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&lt;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O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e>
                              <m:sup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1" name="TextBox 21"/>
            <p:cNvSpPr txBox="1"/>
            <p:nvPr/>
          </p:nvSpPr>
          <p:spPr>
            <a:xfrm>
              <a:off x="774573" y="4623911"/>
              <a:ext cx="379515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O(n log n) 也是多项式时间，因为 n log n ≤ n²。</a:t>
              </a:r>
            </a:p>
          </p:txBody>
        </p:sp>
      </p:grpSp>
      <p:grpSp>
        <p:nvGrpSpPr>
          <p:cNvPr id="62" name="c2-table-1"/>
          <p:cNvGrpSpPr/>
          <p:nvPr/>
        </p:nvGrpSpPr>
        <p:grpSpPr>
          <a:xfrm>
            <a:off x="6242685" y="1524000"/>
            <a:ext cx="5415915" cy="2734152"/>
            <a:chOff x="6242685" y="1524000"/>
            <a:chExt cx="5415915" cy="2734152"/>
          </a:xfrm>
        </p:grpSpPr>
        <p:sp>
          <p:nvSpPr>
            <p:cNvPr id="23" name="Rectangle 23"/>
            <p:cNvSpPr/>
            <p:nvPr/>
          </p:nvSpPr>
          <p:spPr>
            <a:xfrm>
              <a:off x="6248400" y="1524000"/>
              <a:ext cx="5410200" cy="48768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527278" y="166306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13825" y="1663065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n²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12998" y="1663065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n³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464583" y="1663065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2ⁿ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852209" y="1663065"/>
              <a:ext cx="1954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n!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68970" y="2150745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283006" y="2150745"/>
              <a:ext cx="34842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369237" y="215074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1000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676066" y="215074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1024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759250" y="2150745"/>
              <a:ext cx="7926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3.6×10⁶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48400" y="249459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6248400" y="2499360"/>
              <a:ext cx="5410200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68970" y="2638425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283006" y="2638425"/>
              <a:ext cx="34842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400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369237" y="263842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8000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342882" y="2638425"/>
              <a:ext cx="7926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1.0×10⁶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648188" y="2638425"/>
              <a:ext cx="9037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2.4×10¹⁸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48400" y="298227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468970" y="3126105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50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171944" y="312610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2500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036052" y="3126105"/>
              <a:ext cx="7926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1.3×10⁵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231820" y="3126105"/>
              <a:ext cx="9037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1.1×10¹⁵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0648188" y="3126105"/>
              <a:ext cx="9037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3.0×10⁶⁴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6248400" y="346995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6248400" y="3474720"/>
              <a:ext cx="5410200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410663" y="3613785"/>
              <a:ext cx="3650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283006" y="3613785"/>
              <a:ext cx="34842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10⁴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480298" y="3613785"/>
              <a:ext cx="34842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10⁶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8944928" y="3484245"/>
              <a:ext cx="1287780" cy="46863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9231820" y="3613785"/>
              <a:ext cx="9037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1.3×10³⁰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10251758" y="3484245"/>
              <a:ext cx="1397318" cy="46863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10537126" y="3613785"/>
              <a:ext cx="101479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9.3×10¹⁵⁷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6248400" y="1524000"/>
              <a:ext cx="5410200" cy="24384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6933248" y="1524000"/>
              <a:ext cx="9525" cy="24384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7733348" y="1524000"/>
              <a:ext cx="9525" cy="24384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8930640" y="1524000"/>
              <a:ext cx="9525" cy="24384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10237470" y="1524000"/>
              <a:ext cx="9525" cy="24384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242685" y="4038124"/>
              <a:ext cx="39164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n 从 10 增到 100，n³ 只放大 1000 倍，2ⁿ 放大约 10²⁷ 倍</a:t>
              </a:r>
            </a:p>
          </p:txBody>
        </p:sp>
      </p:grpSp>
      <p:grpSp>
        <p:nvGrpSpPr>
          <p:cNvPr id="68" name="c2-callout-2"/>
          <p:cNvGrpSpPr/>
          <p:nvPr/>
        </p:nvGrpSpPr>
        <p:grpSpPr>
          <a:xfrm>
            <a:off x="6248400" y="4404360"/>
            <a:ext cx="5410200" cy="782955"/>
            <a:chOff x="6248400" y="4404360"/>
            <a:chExt cx="5410200" cy="782955"/>
          </a:xfrm>
        </p:grpSpPr>
        <p:sp>
          <p:nvSpPr>
            <p:cNvPr id="63" name="Rectangle 63"/>
            <p:cNvSpPr/>
            <p:nvPr/>
          </p:nvSpPr>
          <p:spPr>
            <a:xfrm>
              <a:off x="6248400" y="4404360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66" name="Group 66"/>
            <p:cNvGrpSpPr/>
            <p:nvPr/>
          </p:nvGrpSpPr>
          <p:grpSpPr>
            <a:xfrm>
              <a:off x="6453188" y="4695827"/>
              <a:ext cx="200023" cy="200023"/>
              <a:chOff x="6453188" y="4695827"/>
              <a:chExt cx="200023" cy="200023"/>
            </a:xfrm>
          </p:grpSpPr>
          <p:sp>
            <p:nvSpPr>
              <p:cNvPr id="64" name="Freeform 64"/>
              <p:cNvSpPr/>
              <p:nvPr/>
            </p:nvSpPr>
            <p:spPr>
              <a:xfrm>
                <a:off x="6453188" y="469582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5" name="Freeform 65"/>
              <p:cNvSpPr/>
              <p:nvPr/>
            </p:nvSpPr>
            <p:spPr>
              <a:xfrm>
                <a:off x="6586538" y="47625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7" name="TextBox 67"/>
            <p:cNvSpPr txBox="1"/>
            <p:nvPr/>
          </p:nvSpPr>
          <p:spPr>
            <a:xfrm>
              <a:off x="6755130" y="4552950"/>
              <a:ext cx="44157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本章把“存在多项式时间算法”作为好算法、问题实际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可解的标准。</a:t>
              </a:r>
            </a:p>
          </p:txBody>
        </p:sp>
      </p:grpSp>
      <p:grpSp>
        <p:nvGrpSpPr>
          <p:cNvPr id="75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69" name="Rectangle 69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73" name="Group 73"/>
            <p:cNvGrpSpPr/>
            <p:nvPr/>
          </p:nvGrpSpPr>
          <p:grpSpPr>
            <a:xfrm>
              <a:off x="726129" y="5992296"/>
              <a:ext cx="224134" cy="192560"/>
              <a:chOff x="726129" y="5992296"/>
              <a:chExt cx="224134" cy="192560"/>
            </a:xfrm>
          </p:grpSpPr>
          <p:sp>
            <p:nvSpPr>
              <p:cNvPr id="70" name="Freeform 70"/>
              <p:cNvSpPr/>
              <p:nvPr/>
            </p:nvSpPr>
            <p:spPr>
              <a:xfrm>
                <a:off x="838200" y="606266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71" name="Freeform 71"/>
              <p:cNvSpPr/>
              <p:nvPr/>
            </p:nvSpPr>
            <p:spPr>
              <a:xfrm>
                <a:off x="726129" y="599229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72" name="Freeform 72"/>
              <p:cNvSpPr/>
              <p:nvPr/>
            </p:nvSpPr>
            <p:spPr>
              <a:xfrm>
                <a:off x="838200" y="61404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74" name="TextBox 74"/>
            <p:cNvSpPr txBox="1"/>
            <p:nvPr/>
          </p:nvSpPr>
          <p:spPr>
            <a:xfrm>
              <a:off x="1040130" y="5991225"/>
              <a:ext cx="984923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易错：n¹⁰⁰ 虽然增长快，仍是多项式时间；n^(log n)、1.01ⁿ 不能被任何固定的 nᵏ 界住，不是多项式时间。</a:t>
              </a:r>
            </a:p>
          </p:txBody>
        </p:sp>
      </p:grpSp>
      <p:grpSp>
        <p:nvGrpSpPr>
          <p:cNvPr id="7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6" name="TextBox 76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21371" cy="909257"/>
            <a:chOff x="520446" y="342900"/>
            <a:chExt cx="792137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1262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4148" y="407194"/>
              <a:ext cx="17711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第9章 NP 完全 · 判定问题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2137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算法复杂性是算法的性质，问题复杂性是问题的性质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5" name="c1-compare-1"/>
          <p:cNvGrpSpPr/>
          <p:nvPr/>
        </p:nvGrpSpPr>
        <p:grpSpPr>
          <a:xfrm>
            <a:off x="533400" y="1524000"/>
            <a:ext cx="5410200" cy="2274570"/>
            <a:chOff x="533400" y="1524000"/>
            <a:chExt cx="5410200" cy="227457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2533650" cy="2274570"/>
            </a:xfrm>
            <a:prstGeom prst="roundRect">
              <a:avLst>
                <a:gd name="adj" fmla="val 58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007870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73430" y="175831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算法的复杂性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86765" y="217551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44880" y="2112645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解决问题的某个具体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算法的执行时间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6765" y="279654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44880" y="273367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是算法的性质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09950" y="1524000"/>
              <a:ext cx="2533650" cy="2274570"/>
            </a:xfrm>
            <a:prstGeom prst="roundRect">
              <a:avLst>
                <a:gd name="adj" fmla="val 58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3419475" y="1657350"/>
              <a:ext cx="47625" cy="200787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3649980" y="175831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问题的复杂性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3663315" y="217551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3821430" y="211264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问题本身的复杂程度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3663315" y="251079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821430" y="244792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是问题的性质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3663315" y="284607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3821430" y="2783205"/>
              <a:ext cx="1729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等于所有求解该问题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的算法中最好算法的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复杂性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3076575" y="2499360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146915" y="2595562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34" name="c1-card-2"/>
          <p:cNvGrpSpPr/>
          <p:nvPr/>
        </p:nvGrpSpPr>
        <p:grpSpPr>
          <a:xfrm>
            <a:off x="533400" y="3989070"/>
            <a:ext cx="5410200" cy="2076450"/>
            <a:chOff x="533400" y="3989070"/>
            <a:chExt cx="5410200" cy="2076450"/>
          </a:xfrm>
        </p:grpSpPr>
        <p:sp>
          <p:nvSpPr>
            <p:cNvPr id="26" name="Rectangle 26"/>
            <p:cNvSpPr/>
            <p:nvPr/>
          </p:nvSpPr>
          <p:spPr>
            <a:xfrm>
              <a:off x="533400" y="3989070"/>
              <a:ext cx="5410200" cy="2076450"/>
            </a:xfrm>
            <a:prstGeom prst="roundRect">
              <a:avLst>
                <a:gd name="adj" fmla="val 642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542925" y="4122420"/>
              <a:ext cx="47625" cy="180975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781050" y="419862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71258" y="423433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推论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786765" y="463867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44880" y="4575810"/>
              <a:ext cx="45205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给出一个 O(f(n)) 的算法，只说明问题复杂性不超过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O(f(n))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786765" y="525970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44880" y="5196840"/>
              <a:ext cx="46062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要说一个问题“只能指数时间求解”，必须证明所有算法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都做不到多项式时间</a:t>
              </a:r>
            </a:p>
          </p:txBody>
        </p:sp>
      </p:grpSp>
      <p:grpSp>
        <p:nvGrpSpPr>
          <p:cNvPr id="69" name="c2-card-1"/>
          <p:cNvGrpSpPr/>
          <p:nvPr/>
        </p:nvGrpSpPr>
        <p:grpSpPr>
          <a:xfrm>
            <a:off x="6248400" y="1524000"/>
            <a:ext cx="5410200" cy="4541520"/>
            <a:chOff x="6248400" y="1524000"/>
            <a:chExt cx="5410200" cy="4541520"/>
          </a:xfrm>
        </p:grpSpPr>
        <p:sp>
          <p:nvSpPr>
            <p:cNvPr id="35" name="Rectangle 35"/>
            <p:cNvSpPr/>
            <p:nvPr/>
          </p:nvSpPr>
          <p:spPr>
            <a:xfrm>
              <a:off x="6248400" y="1524000"/>
              <a:ext cx="5410200" cy="4541520"/>
            </a:xfrm>
            <a:prstGeom prst="roundRect">
              <a:avLst>
                <a:gd name="adj" fmla="val 293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6257925" y="1657350"/>
              <a:ext cx="47625" cy="427482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496050" y="1733550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591160" y="176926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954202" y="1768792"/>
              <a:ext cx="29562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排序问题的复杂性是 O(n log n)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496050" y="2105025"/>
              <a:ext cx="4953000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905993" y="224075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排序算法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524291" y="224075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平均情况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239743" y="224075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最坏情况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603873" y="268938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冒泡排序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607562" y="2689384"/>
              <a:ext cx="53566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O(n²)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0323015" y="2689384"/>
              <a:ext cx="53566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O(n²)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6496050" y="2997518"/>
              <a:ext cx="49530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6496050" y="3002280"/>
              <a:ext cx="49530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603873" y="313801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快速排序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438418" y="3138011"/>
              <a:ext cx="8739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 log n)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0323015" y="3138011"/>
              <a:ext cx="53566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O(n²)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6496050" y="3447098"/>
              <a:ext cx="49530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603873" y="358663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归并排序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438418" y="3586639"/>
              <a:ext cx="8739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 log n)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0153871" y="3586639"/>
              <a:ext cx="8739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 log n)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6496050" y="3895725"/>
              <a:ext cx="49530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6496050" y="3900488"/>
              <a:ext cx="49530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603873" y="403526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堆排序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438418" y="4035266"/>
              <a:ext cx="8739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 log n)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0153871" y="4035266"/>
              <a:ext cx="8739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 log n)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6496050" y="2105025"/>
              <a:ext cx="4953000" cy="22440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8012430" y="2105025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9728835" y="2105025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4" name="Ellipse 64"/>
            <p:cNvSpPr/>
            <p:nvPr/>
          </p:nvSpPr>
          <p:spPr>
            <a:xfrm>
              <a:off x="6501765" y="453199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659880" y="4469130"/>
              <a:ext cx="45777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基于比较的排序在最坏情况下至少要做约 n log₂n 次比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较（下界）</a:t>
              </a:r>
            </a:p>
          </p:txBody>
        </p:sp>
        <p:sp>
          <p:nvSpPr>
            <p:cNvPr id="66" name="Ellipse 66"/>
            <p:cNvSpPr/>
            <p:nvPr/>
          </p:nvSpPr>
          <p:spPr>
            <a:xfrm>
              <a:off x="6501765" y="515302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6659880" y="5090160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归并排序、堆排序达到了这个下界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6489573" y="5422106"/>
              <a:ext cx="444271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所以排序问题的复杂性是 O(n log n)，而冒泡排序这个算法是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O(n²)。</a:t>
              </a:r>
            </a:p>
          </p:txBody>
        </p:sp>
      </p:grpSp>
      <p:grpSp>
        <p:nvGrpSpPr>
          <p:cNvPr id="7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0" name="TextBox 70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21371" cy="909257"/>
            <a:chOff x="520446" y="342900"/>
            <a:chExt cx="792137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1262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4148" y="407194"/>
              <a:ext cx="17711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第9章 NP 完全 · 判定问题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2137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现实世界的问题：按目前对算法的了解分为四种情况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4" name="c1-table-1"/>
          <p:cNvGrpSpPr/>
          <p:nvPr/>
        </p:nvGrpSpPr>
        <p:grpSpPr>
          <a:xfrm>
            <a:off x="533400" y="1524000"/>
            <a:ext cx="11125200" cy="3076575"/>
            <a:chOff x="533400" y="1524000"/>
            <a:chExt cx="11125200" cy="307657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62915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336078" y="1655921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情况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386898" y="1655921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目前的了解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235161" y="1655921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例子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4746" y="2119789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多项式级的问题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636901" y="2119789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已经设计出多项式时间算法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309866" y="2119789"/>
              <a:ext cx="28818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排序、最小生成树、单源最短路径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44602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450782"/>
              <a:ext cx="11125200" cy="7162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4746" y="2709386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不可计算的问题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636901" y="2709386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根本不存在求解算法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309866" y="2582704"/>
              <a:ext cx="3981958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希尔伯特第十问题（判定整系数多项式方程有没有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整数解）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16230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4746" y="3425666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指数级的问题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636901" y="3298984"/>
              <a:ext cx="4162298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已设计出指数时间算法，并且已证明不存在多项式时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间算法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309866" y="3298984"/>
              <a:ext cx="3981958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带幂运算的正则表达式的全体性（能否匹配所有字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符串）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87953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884295"/>
              <a:ext cx="11125200" cy="7162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542925" y="3893820"/>
              <a:ext cx="1983105" cy="69723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4746" y="4016216"/>
              <a:ext cx="1637538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尚不确定多项式级的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问题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2545080" y="3893820"/>
              <a:ext cx="4653915" cy="69723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2636901" y="4016216"/>
              <a:ext cx="3981958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已设计出指数时间算法，但既没找到多项式时间算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法，也没能证明不存在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218045" y="3893820"/>
              <a:ext cx="4431030" cy="69723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309866" y="4142899"/>
              <a:ext cx="34458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图着色问题、货郎担问题、0/1 背包问题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1524000"/>
              <a:ext cx="11125200" cy="307657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2530792" y="1524000"/>
              <a:ext cx="9525" cy="30765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203758" y="1524000"/>
              <a:ext cx="9525" cy="30765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1" name="c1-callout-2"/>
          <p:cNvGrpSpPr/>
          <p:nvPr/>
        </p:nvGrpSpPr>
        <p:grpSpPr>
          <a:xfrm>
            <a:off x="533400" y="4780598"/>
            <a:ext cx="11125200" cy="756285"/>
            <a:chOff x="533400" y="4780598"/>
            <a:chExt cx="11125200" cy="756285"/>
          </a:xfrm>
        </p:grpSpPr>
        <p:sp>
          <p:nvSpPr>
            <p:cNvPr id="35" name="Rectangle 35"/>
            <p:cNvSpPr/>
            <p:nvPr/>
          </p:nvSpPr>
          <p:spPr>
            <a:xfrm>
              <a:off x="533400" y="4780598"/>
              <a:ext cx="11125200" cy="756285"/>
            </a:xfrm>
            <a:prstGeom prst="roundRect">
              <a:avLst>
                <a:gd name="adj" fmla="val 15113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738188" y="5058728"/>
              <a:ext cx="200026" cy="200026"/>
              <a:chOff x="738188" y="5058728"/>
              <a:chExt cx="200026" cy="200026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738188" y="505872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838200" y="51254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827088" y="515874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1040511" y="4927759"/>
              <a:ext cx="10032365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很多优化问题属于第四种情况。本章研究的就是这类问题：它们之间的难度关系，以及怎样说明一个问题“很可能没有多项式算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法”。</a:t>
              </a:r>
            </a:p>
          </p:txBody>
        </p:sp>
      </p:grpSp>
      <p:grpSp>
        <p:nvGrpSpPr>
          <p:cNvPr id="48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42" name="Rectangle 42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726129" y="6007536"/>
              <a:ext cx="224134" cy="192560"/>
              <a:chOff x="726129" y="6007536"/>
              <a:chExt cx="224134" cy="192560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838200" y="607790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726129" y="600753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38200" y="615569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1040511" y="6011704"/>
              <a:ext cx="864537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易错：“至今没找到多项式算法”和“已证明不存在多项式算法”是两回事，货郎担、0/1 背包属于前者。</a:t>
              </a:r>
            </a:p>
          </p:txBody>
        </p:sp>
      </p:grpSp>
      <p:grpSp>
        <p:nvGrpSpPr>
          <p:cNvPr id="5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9" name="TextBox 49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341226" cy="909257"/>
            <a:chOff x="520446" y="342900"/>
            <a:chExt cx="734122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1262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4148" y="407194"/>
              <a:ext cx="17711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第9章 NP 完全 · 判定问题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34122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优化问题可以改写成只答“是”或“否”的判定问题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1118921" cy="308039"/>
            <a:chOff x="525399" y="1550194"/>
            <a:chExt cx="11118921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111892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判定问题是指只需要回答“是”和“否”的问题。把优化问题要求的最优值换成一个给定的参数，就得到对应的判定问题。</a:t>
              </a:r>
            </a:p>
          </p:txBody>
        </p:sp>
      </p:grpSp>
      <p:grpSp>
        <p:nvGrpSpPr>
          <p:cNvPr id="31" name="c1-table-1"/>
          <p:cNvGrpSpPr/>
          <p:nvPr/>
        </p:nvGrpSpPr>
        <p:grpSpPr>
          <a:xfrm>
            <a:off x="533400" y="1967865"/>
            <a:ext cx="11125200" cy="2475548"/>
            <a:chOff x="533400" y="1967865"/>
            <a:chExt cx="11125200" cy="2475548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11125200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77557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问题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978707" y="210264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优化问题（求最优）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732202" y="2102644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判定问题（答是或否）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41223" y="2664619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图着色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087118" y="2551271"/>
              <a:ext cx="510921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已知图 G = &lt;V, E&gt;，给 G 的 n 个顶点着色，相邻顶点颜色不同，问最少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需要多少种颜色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551420" y="2426018"/>
              <a:ext cx="4097655" cy="656272"/>
            </a:xfrm>
            <a:prstGeom prst="rect">
              <a:avLst/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649718" y="2664619"/>
              <a:ext cx="378678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已知图 G = &lt;V, E&gt;，问 G 是否可用 m 种颜色着色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" y="308705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533400" y="3091815"/>
              <a:ext cx="11125200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41223" y="334089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最大团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087118" y="3227546"/>
              <a:ext cx="5101082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图 G = (V, E) 的完全子图叫做 G 的一个团（clique），团的大小用所含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顶点数表示。求 G 的最大团和它的大小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551420" y="3101340"/>
              <a:ext cx="4097655" cy="656272"/>
            </a:xfrm>
            <a:prstGeom prst="rect">
              <a:avLst/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649718" y="3340894"/>
              <a:ext cx="33322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已知图 G，问 G 是否存在一个大小为 k 的团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76237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1223" y="4016216"/>
              <a:ext cx="71039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0/1 背包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087118" y="3902869"/>
              <a:ext cx="5125466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已知 n 个物品的效益值 pᵢ 和重量 wᵢ，每个物品只能整取。在背包容量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 的限定下怎样选，使选中物品的效益值之和最大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551420" y="3776662"/>
              <a:ext cx="4097655" cy="656272"/>
            </a:xfrm>
            <a:prstGeom prst="rect">
              <a:avLst/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649718" y="3902869"/>
              <a:ext cx="3621786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 M 限定下，对给定的效益值 X，是否存在一种选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法使选中物品的效益值之和 ≥ X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1967865"/>
              <a:ext cx="11125200" cy="247554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1974532" y="1967865"/>
              <a:ext cx="9525" cy="247554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7537132" y="1967865"/>
              <a:ext cx="9525" cy="247554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8" name="c1-callout-2"/>
          <p:cNvGrpSpPr/>
          <p:nvPr/>
        </p:nvGrpSpPr>
        <p:grpSpPr>
          <a:xfrm>
            <a:off x="533400" y="4632960"/>
            <a:ext cx="11125200" cy="782955"/>
            <a:chOff x="533400" y="4632960"/>
            <a:chExt cx="11125200" cy="782955"/>
          </a:xfrm>
        </p:grpSpPr>
        <p:sp>
          <p:nvSpPr>
            <p:cNvPr id="32" name="Rectangle 32"/>
            <p:cNvSpPr/>
            <p:nvPr/>
          </p:nvSpPr>
          <p:spPr>
            <a:xfrm>
              <a:off x="533400" y="4632960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738188" y="4924425"/>
              <a:ext cx="200026" cy="200026"/>
              <a:chOff x="738188" y="4924425"/>
              <a:chExt cx="200026" cy="200026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738188" y="492442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838200" y="49911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827088" y="502443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1040130" y="4781550"/>
              <a:ext cx="99117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思考：能解优化问题，怎样回答判定问题？能解判定问题，怎样求出最优值？下一页以最大团为例回答，0/1 背包的解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答见再下一页。</a:t>
              </a:r>
            </a:p>
          </p:txBody>
        </p:sp>
      </p:grpSp>
      <p:grpSp>
        <p:nvGrpSpPr>
          <p:cNvPr id="45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9" name="Rectangle 39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1040130" y="5991225"/>
              <a:ext cx="943527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最大团判定问题问“大小为 k 的团”和问“大小至少为 k 的团”等价：大团里任取 k 个顶点，仍然两两相邻。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294495" cy="909257"/>
            <a:chOff x="520446" y="342900"/>
            <a:chExt cx="929449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1262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4148" y="407194"/>
              <a:ext cx="17711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第9章 NP 完全 · 判定问题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29449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以最大团为例：优化问题与判定问题可以多项式时间互相转换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8496300" cy="293370"/>
            <a:chOff x="525780" y="1548765"/>
            <a:chExt cx="849630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84963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结论：最大团问题可以在多项式时间内求解，当且仅当它的判定问题可以在多项式时间内求解。</a:t>
              </a:r>
            </a:p>
          </p:txBody>
        </p:sp>
      </p:grpSp>
      <p:grpSp>
        <p:nvGrpSpPr>
          <p:cNvPr id="25" name="c1-graph-1"/>
          <p:cNvGrpSpPr/>
          <p:nvPr/>
        </p:nvGrpSpPr>
        <p:grpSpPr>
          <a:xfrm>
            <a:off x="926782" y="2091690"/>
            <a:ext cx="3849053" cy="1535430"/>
            <a:chOff x="926782" y="2091690"/>
            <a:chExt cx="3849053" cy="1535430"/>
          </a:xfrm>
        </p:grpSpPr>
        <p:sp>
          <p:nvSpPr>
            <p:cNvPr id="9" name="Freeform 9"/>
            <p:cNvSpPr/>
            <p:nvPr/>
          </p:nvSpPr>
          <p:spPr>
            <a:xfrm>
              <a:off x="1222058" y="2319338"/>
              <a:ext cx="894397" cy="464820"/>
            </a:xfrm>
            <a:custGeom>
              <a:avLst/>
              <a:gdLst/>
              <a:ahLst/>
              <a:cxnLst/>
              <a:rect l="l" t="t" r="r" b="b"/>
              <a:pathLst>
                <a:path w="894397" h="464820">
                  <a:moveTo>
                    <a:pt x="0" y="464820"/>
                  </a:moveTo>
                  <a:lnTo>
                    <a:pt x="894397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222058" y="2934652"/>
              <a:ext cx="894397" cy="464820"/>
            </a:xfrm>
            <a:custGeom>
              <a:avLst/>
              <a:gdLst/>
              <a:ahLst/>
              <a:cxnLst/>
              <a:rect l="l" t="t" r="r" b="b"/>
              <a:pathLst>
                <a:path w="894397" h="464820">
                  <a:moveTo>
                    <a:pt x="0" y="0"/>
                  </a:moveTo>
                  <a:lnTo>
                    <a:pt x="894397" y="46482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2260282" y="2406015"/>
              <a:ext cx="9525" cy="906780"/>
            </a:xfrm>
            <a:custGeom>
              <a:avLst/>
              <a:gdLst/>
              <a:ahLst/>
              <a:cxnLst/>
              <a:rect l="l" t="t" r="r" b="b"/>
              <a:pathLst>
                <a:path w="9525" h="906780">
                  <a:moveTo>
                    <a:pt x="0" y="0"/>
                  </a:moveTo>
                  <a:lnTo>
                    <a:pt x="0" y="90678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2404110" y="2319338"/>
              <a:ext cx="894398" cy="464820"/>
            </a:xfrm>
            <a:custGeom>
              <a:avLst/>
              <a:gdLst/>
              <a:ahLst/>
              <a:cxnLst/>
              <a:rect l="l" t="t" r="r" b="b"/>
              <a:pathLst>
                <a:path w="894398" h="464820">
                  <a:moveTo>
                    <a:pt x="0" y="0"/>
                  </a:moveTo>
                  <a:lnTo>
                    <a:pt x="894398" y="46482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2404110" y="2934652"/>
              <a:ext cx="894398" cy="464820"/>
            </a:xfrm>
            <a:custGeom>
              <a:avLst/>
              <a:gdLst/>
              <a:ahLst/>
              <a:cxnLst/>
              <a:rect l="l" t="t" r="r" b="b"/>
              <a:pathLst>
                <a:path w="894398" h="464820">
                  <a:moveTo>
                    <a:pt x="0" y="464820"/>
                  </a:moveTo>
                  <a:lnTo>
                    <a:pt x="89439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3604260" y="2859405"/>
              <a:ext cx="857250" cy="9525"/>
            </a:xfrm>
            <a:custGeom>
              <a:avLst/>
              <a:gdLst/>
              <a:ahLst/>
              <a:cxnLst/>
              <a:rect l="l" t="t" r="r" b="b"/>
              <a:pathLst>
                <a:path w="857250" h="9525">
                  <a:moveTo>
                    <a:pt x="0" y="0"/>
                  </a:moveTo>
                  <a:lnTo>
                    <a:pt x="85725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5" name="Ellipse 15"/>
            <p:cNvSpPr/>
            <p:nvPr/>
          </p:nvSpPr>
          <p:spPr>
            <a:xfrm>
              <a:off x="926782" y="2707005"/>
              <a:ext cx="304800" cy="3048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2107882" y="2091690"/>
              <a:ext cx="304800" cy="3048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17" name="Ellipse 17"/>
            <p:cNvSpPr/>
            <p:nvPr/>
          </p:nvSpPr>
          <p:spPr>
            <a:xfrm>
              <a:off x="2107882" y="3322320"/>
              <a:ext cx="304800" cy="3048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18" name="Ellipse 18"/>
            <p:cNvSpPr/>
            <p:nvPr/>
          </p:nvSpPr>
          <p:spPr>
            <a:xfrm>
              <a:off x="3289935" y="2707005"/>
              <a:ext cx="304800" cy="3048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19" name="Ellipse 19"/>
            <p:cNvSpPr/>
            <p:nvPr/>
          </p:nvSpPr>
          <p:spPr>
            <a:xfrm>
              <a:off x="4471035" y="2707005"/>
              <a:ext cx="304800" cy="3048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9931" y="27893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211031" y="217408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211031" y="340471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393084" y="27893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574184" y="27893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  <p:grpSp>
        <p:nvGrpSpPr>
          <p:cNvPr id="42" name="c1-table-2"/>
          <p:cNvGrpSpPr/>
          <p:nvPr/>
        </p:nvGrpSpPr>
        <p:grpSpPr>
          <a:xfrm>
            <a:off x="528066" y="3944302"/>
            <a:ext cx="4549712" cy="1977962"/>
            <a:chOff x="528066" y="3944302"/>
            <a:chExt cx="4549712" cy="1977962"/>
          </a:xfrm>
        </p:grpSpPr>
        <p:sp>
          <p:nvSpPr>
            <p:cNvPr id="26" name="Rectangle 26"/>
            <p:cNvSpPr/>
            <p:nvPr/>
          </p:nvSpPr>
          <p:spPr>
            <a:xfrm>
              <a:off x="533400" y="3944302"/>
              <a:ext cx="4544378" cy="424815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700212" y="407289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调用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971925" y="407289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输出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35889" y="4497705"/>
              <a:ext cx="12398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DCLIQUE(G, 5)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089044" y="449770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4788218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533400" y="4792980"/>
              <a:ext cx="4544378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35889" y="4921567"/>
              <a:ext cx="12398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DCLIQUE(G, 4)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089044" y="4921567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5213032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5889" y="5346382"/>
              <a:ext cx="12398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DCLIQUE(G, 3)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3210878" y="5227320"/>
              <a:ext cx="1857375" cy="40576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4089044" y="534638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33400" y="3944302"/>
              <a:ext cx="4544378" cy="16973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3196590" y="3944302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28066" y="5716905"/>
              <a:ext cx="418759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第一次输出 1 时 k = 3，最大团大小为 3（如 {1,2,3}、{2,3,4}）</a:t>
              </a:r>
            </a:p>
          </p:txBody>
        </p:sp>
      </p:grpSp>
      <p:grpSp>
        <p:nvGrpSpPr>
          <p:cNvPr id="56" name="c2-steps-1"/>
          <p:cNvGrpSpPr/>
          <p:nvPr/>
        </p:nvGrpSpPr>
        <p:grpSpPr>
          <a:xfrm>
            <a:off x="5382578" y="1964055"/>
            <a:ext cx="6050940" cy="2002536"/>
            <a:chOff x="5382578" y="1964055"/>
            <a:chExt cx="6050940" cy="2002536"/>
          </a:xfrm>
        </p:grpSpPr>
        <p:sp>
          <p:nvSpPr>
            <p:cNvPr id="43" name="Rectangle 43"/>
            <p:cNvSpPr/>
            <p:nvPr/>
          </p:nvSpPr>
          <p:spPr>
            <a:xfrm>
              <a:off x="5515928" y="2106930"/>
              <a:ext cx="19050" cy="145446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Ellipse 44"/>
            <p:cNvSpPr/>
            <p:nvPr/>
          </p:nvSpPr>
          <p:spPr>
            <a:xfrm>
              <a:off x="5382578" y="196405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476201" y="20378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5382578" y="280225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5476201" y="28760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5382578" y="341852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5476201" y="34923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794438" y="1996916"/>
              <a:ext cx="177458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判定问题 → 优化问题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5795582" y="2277428"/>
              <a:ext cx="555955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DCLIQUE(G, k) 为判定算法，n 是 G 的顶点数。依次检验 k = n, n−1, n−2, …，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直到 DCLIQUE(G, k) 输出 1，此时的 k 就是最大团的大小。最多调用 n 次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5794438" y="2835116"/>
              <a:ext cx="177458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优化问题 → 判定问题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5795582" y="3115627"/>
              <a:ext cx="56379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先求出 G 的最大团大小 j。若 j &lt; k，DCLIQUE(G, k) 返回“否”，否则返回“是”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5794438" y="3451384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时间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5795582" y="3731895"/>
              <a:ext cx="53673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判定算法是多项式时间时，调用 n 次仍是多项式时间；反方向只多一次比较</a:t>
              </a:r>
            </a:p>
          </p:txBody>
        </p:sp>
      </p:grpSp>
      <p:grpSp>
        <p:nvGrpSpPr>
          <p:cNvPr id="65" name="c2-card-2"/>
          <p:cNvGrpSpPr/>
          <p:nvPr/>
        </p:nvGrpSpPr>
        <p:grpSpPr>
          <a:xfrm>
            <a:off x="5382578" y="4137660"/>
            <a:ext cx="6276022" cy="1840230"/>
            <a:chOff x="5382578" y="4137660"/>
            <a:chExt cx="6276022" cy="1840230"/>
          </a:xfrm>
        </p:grpSpPr>
        <p:sp>
          <p:nvSpPr>
            <p:cNvPr id="57" name="Rectangle 57"/>
            <p:cNvSpPr/>
            <p:nvPr/>
          </p:nvSpPr>
          <p:spPr>
            <a:xfrm>
              <a:off x="5382578" y="4137660"/>
              <a:ext cx="6276022" cy="1840230"/>
            </a:xfrm>
            <a:prstGeom prst="roundRect">
              <a:avLst>
                <a:gd name="adj" fmla="val 724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5392102" y="4271010"/>
              <a:ext cx="47625" cy="157353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5618798" y="433578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5710238" y="437007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补充</a:t>
              </a:r>
            </a:p>
          </p:txBody>
        </p:sp>
        <p:sp>
          <p:nvSpPr>
            <p:cNvPr id="61" name="Ellipse 61"/>
            <p:cNvSpPr/>
            <p:nvPr/>
          </p:nvSpPr>
          <p:spPr>
            <a:xfrm>
              <a:off x="5626417" y="4756785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5783008" y="4697254"/>
              <a:ext cx="388547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 k 二分查找，只需调用约 log₂n 次判定算法</a:t>
              </a:r>
            </a:p>
          </p:txBody>
        </p:sp>
        <p:sp>
          <p:nvSpPr>
            <p:cNvPr id="63" name="Ellipse 63"/>
            <p:cNvSpPr/>
            <p:nvPr/>
          </p:nvSpPr>
          <p:spPr>
            <a:xfrm>
              <a:off x="5626417" y="5074920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5783008" y="5014436"/>
              <a:ext cx="5370576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找出团本身：依次尝试删去每个顶点 v，若删后 DCLIQUE(G − v, k)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仍输出 1 就真的删去。处理完 n 个顶点后，剩下的恰好是一个大小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 k 的团</a:t>
              </a:r>
            </a:p>
          </p:txBody>
        </p:sp>
      </p:grpSp>
      <p:grpSp>
        <p:nvGrpSpPr>
          <p:cNvPr id="6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6" name="TextBox 66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1262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4148" y="407194"/>
              <a:ext cx="17711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第9章 NP 完全 · 判定问题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改写成判定问题后，难度不变，输出统一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5193982" cy="2558415"/>
            <a:chOff x="533400" y="1524000"/>
            <a:chExt cx="5193982" cy="255841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2558415"/>
            </a:xfrm>
            <a:prstGeom prst="roundRect">
              <a:avLst>
                <a:gd name="adj" fmla="val 521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29171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性质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许多尚不确定多项式时间的优化问题都可以改写成判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定问题，并且：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6765" y="279463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44880" y="2731770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判定问题可以在多项式时间内求解，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当且仅当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对应的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优化问题可以在多项式时间内求解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6765" y="341566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44880" y="3352800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如果判定问题不能在多项式时间内求解，那么对应的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优化问题也不能</a:t>
              </a:r>
            </a:p>
          </p:txBody>
        </p:sp>
      </p:grpSp>
      <p:grpSp>
        <p:nvGrpSpPr>
          <p:cNvPr id="21" name="c1-card-2"/>
          <p:cNvGrpSpPr/>
          <p:nvPr/>
        </p:nvGrpSpPr>
        <p:grpSpPr>
          <a:xfrm>
            <a:off x="533400" y="4272915"/>
            <a:ext cx="5193982" cy="1602105"/>
            <a:chOff x="533400" y="4272915"/>
            <a:chExt cx="5193982" cy="1602105"/>
          </a:xfrm>
        </p:grpSpPr>
        <p:sp>
          <p:nvSpPr>
            <p:cNvPr id="17" name="Rectangle 17"/>
            <p:cNvSpPr/>
            <p:nvPr/>
          </p:nvSpPr>
          <p:spPr>
            <a:xfrm>
              <a:off x="533400" y="4272915"/>
              <a:ext cx="5193982" cy="1602105"/>
            </a:xfrm>
            <a:prstGeom prst="roundRect">
              <a:avLst>
                <a:gd name="adj" fmla="val 8323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42950" y="448246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33158" y="451818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好处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35330" y="4859655"/>
              <a:ext cx="44348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不同优化问题的输出各不相同（颜色数、团、物品选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法）。改写成判定问题后，输出统一成“是”和“否”，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便于比较不同问题的难度。</a:t>
              </a:r>
            </a:p>
          </p:txBody>
        </p:sp>
      </p:grpSp>
      <p:grpSp>
        <p:nvGrpSpPr>
          <p:cNvPr id="34" name="c2-card-1"/>
          <p:cNvGrpSpPr/>
          <p:nvPr/>
        </p:nvGrpSpPr>
        <p:grpSpPr>
          <a:xfrm>
            <a:off x="6032182" y="1524000"/>
            <a:ext cx="5626418" cy="2773680"/>
            <a:chOff x="6032182" y="1524000"/>
            <a:chExt cx="5626418" cy="2773680"/>
          </a:xfrm>
        </p:grpSpPr>
        <p:sp>
          <p:nvSpPr>
            <p:cNvPr id="22" name="Rectangle 22"/>
            <p:cNvSpPr/>
            <p:nvPr/>
          </p:nvSpPr>
          <p:spPr>
            <a:xfrm>
              <a:off x="6032182" y="1524000"/>
              <a:ext cx="5626418" cy="2773680"/>
            </a:xfrm>
            <a:prstGeom prst="roundRect">
              <a:avLst>
                <a:gd name="adj" fmla="val 480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6041708" y="1657350"/>
              <a:ext cx="47625" cy="250698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79832" y="1733550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57239" y="1769269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思考题解答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306628" y="1768792"/>
              <a:ext cx="18422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0/1 背包的两个方向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6279832" y="2116455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341682" y="215874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580823" y="2129790"/>
              <a:ext cx="43872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优化 → 判定：求出最大效益值 P*，回答 P* ≥ X 是否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成立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6279832" y="2737485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341682" y="277977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580823" y="2750820"/>
              <a:ext cx="45300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判定 → 优化：最大效益值在 0 到 Σpᵢ 之间。对 X 做二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分查找，每次问“能否达到 X”，约调用 log₂(Σpᵢ) + 1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次判定算法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273356" y="3654266"/>
              <a:ext cx="471906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Σpᵢ 的二进制位数不超过输入长度，所以二分的调用次数是多项式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的。</a:t>
              </a:r>
            </a:p>
          </p:txBody>
        </p:sp>
      </p:grpSp>
      <p:grpSp>
        <p:nvGrpSpPr>
          <p:cNvPr id="41" name="c2-callout-2"/>
          <p:cNvGrpSpPr/>
          <p:nvPr/>
        </p:nvGrpSpPr>
        <p:grpSpPr>
          <a:xfrm>
            <a:off x="6032182" y="4488180"/>
            <a:ext cx="5626418" cy="1059180"/>
            <a:chOff x="6032182" y="4488180"/>
            <a:chExt cx="5626418" cy="1059180"/>
          </a:xfrm>
        </p:grpSpPr>
        <p:sp>
          <p:nvSpPr>
            <p:cNvPr id="35" name="Rectangle 35"/>
            <p:cNvSpPr/>
            <p:nvPr/>
          </p:nvSpPr>
          <p:spPr>
            <a:xfrm>
              <a:off x="6032182" y="4488180"/>
              <a:ext cx="5626418" cy="1059180"/>
            </a:xfrm>
            <a:prstGeom prst="roundRect">
              <a:avLst>
                <a:gd name="adj" fmla="val 10791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6224912" y="4914066"/>
              <a:ext cx="224134" cy="192560"/>
              <a:chOff x="6224912" y="4914066"/>
              <a:chExt cx="224134" cy="192560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6336983" y="498443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6224912" y="491406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6336983" y="506222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6538912" y="4636770"/>
              <a:ext cx="456819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如果改成 X = Σpᵢ, Σpᵢ−1, … 逐个检验，调用次数是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Σpᵢ，它相对输入长度是指数级的（见 9.2 节的二进制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输入长度）。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2" name="TextBox 42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F4B9A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8EDF8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5379834" cy="3351847"/>
            <a:chOff x="667512" y="1835468"/>
            <a:chExt cx="5379834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91363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不确定的判定问题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36992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允许算法“猜”一个解，再用确定的步骤验证猜得对不对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不确定算法与不确定机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检索、排序的不确定算法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不确定的判定算法：最大团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问题规模的二进制表示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81262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7397" y="407194"/>
              <a:ext cx="2374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第9章 NP 完全 · 不确定的判定问题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不确定算法：允许运算结果不唯一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3" name="c1-compare-1"/>
          <p:cNvGrpSpPr/>
          <p:nvPr/>
        </p:nvGrpSpPr>
        <p:grpSpPr>
          <a:xfrm>
            <a:off x="533400" y="1524000"/>
            <a:ext cx="5410200" cy="2225040"/>
            <a:chOff x="533400" y="1524000"/>
            <a:chExt cx="5410200" cy="222504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2533650" cy="2225040"/>
            </a:xfrm>
            <a:prstGeom prst="roundRect">
              <a:avLst>
                <a:gd name="adj" fmla="val 599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958340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73430" y="175831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确定算法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86765" y="217551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44880" y="211264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运算满足确定性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6765" y="251079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44880" y="2447925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每一步的运算结果是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唯一的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09950" y="1524000"/>
              <a:ext cx="2533650" cy="2225040"/>
            </a:xfrm>
            <a:prstGeom prst="roundRect">
              <a:avLst>
                <a:gd name="adj" fmla="val 599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3419475" y="1657350"/>
              <a:ext cx="47625" cy="195834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3649980" y="175831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不确定算法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3663315" y="217551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3821430" y="2112645"/>
              <a:ext cx="17487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取消“确定性”这一限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制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3663315" y="279654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821430" y="2733675"/>
              <a:ext cx="1729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允许运算结果是某个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特定集合中的一个元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素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3076575" y="2474595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3146915" y="2570798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30" name="c1-card-2"/>
          <p:cNvGrpSpPr/>
          <p:nvPr/>
        </p:nvGrpSpPr>
        <p:grpSpPr>
          <a:xfrm>
            <a:off x="533400" y="3939540"/>
            <a:ext cx="5410200" cy="1612582"/>
            <a:chOff x="533400" y="3939540"/>
            <a:chExt cx="5410200" cy="1612582"/>
          </a:xfrm>
        </p:grpSpPr>
        <p:sp>
          <p:nvSpPr>
            <p:cNvPr id="24" name="Rectangle 24"/>
            <p:cNvSpPr/>
            <p:nvPr/>
          </p:nvSpPr>
          <p:spPr>
            <a:xfrm>
              <a:off x="533400" y="3939540"/>
              <a:ext cx="5410200" cy="1612582"/>
            </a:xfrm>
            <a:prstGeom prst="roundRect">
              <a:avLst>
                <a:gd name="adj" fmla="val 826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542925" y="4072890"/>
              <a:ext cx="47625" cy="1345882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781050" y="414909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71258" y="418480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73430" y="4526280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从理论角度看，包含这种不确定运算的算法称为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不确定</a:t>
              </a:r>
              <a:br/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算法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74573" y="5143976"/>
              <a:ext cx="46654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它是分析时间复杂度难题用的理论工具，不对应真实的程序。</a:t>
              </a:r>
            </a:p>
          </p:txBody>
        </p:sp>
      </p:grpSp>
      <p:grpSp>
        <p:nvGrpSpPr>
          <p:cNvPr id="44" name="c2-card-1"/>
          <p:cNvGrpSpPr/>
          <p:nvPr/>
        </p:nvGrpSpPr>
        <p:grpSpPr>
          <a:xfrm>
            <a:off x="6248400" y="1524000"/>
            <a:ext cx="5410200" cy="2284095"/>
            <a:chOff x="6248400" y="1524000"/>
            <a:chExt cx="5410200" cy="2284095"/>
          </a:xfrm>
        </p:grpSpPr>
        <p:sp>
          <p:nvSpPr>
            <p:cNvPr id="31" name="Rectangle 31"/>
            <p:cNvSpPr/>
            <p:nvPr/>
          </p:nvSpPr>
          <p:spPr>
            <a:xfrm>
              <a:off x="6248400" y="1524000"/>
              <a:ext cx="5410200" cy="2284095"/>
            </a:xfrm>
            <a:prstGeom prst="roundRect">
              <a:avLst>
                <a:gd name="adj" fmla="val 583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6257925" y="1657350"/>
              <a:ext cx="47625" cy="2017395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6496050" y="1733550"/>
              <a:ext cx="1173480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549820" y="1769269"/>
              <a:ext cx="10659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SPARKS 中新增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88430" y="2110740"/>
              <a:ext cx="425485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一个函数和两个语句，时间复杂度都记为 O(1)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88430" y="2465070"/>
              <a:ext cx="101982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choice(S)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715250" y="2465070"/>
              <a:ext cx="288569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按题意选取集合 S 中的一个元素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496050" y="2785110"/>
              <a:ext cx="49530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488430" y="2905125"/>
              <a:ext cx="72552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failure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715250" y="290512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发出不成功完成的信号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496050" y="3225165"/>
              <a:ext cx="49530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488430" y="3345180"/>
              <a:ext cx="83154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success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715250" y="334518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发出成功完成的信号</a:t>
              </a:r>
            </a:p>
          </p:txBody>
        </p:sp>
      </p:grpSp>
      <p:grpSp>
        <p:nvGrpSpPr>
          <p:cNvPr id="48" name="c2-code-2"/>
          <p:cNvGrpSpPr/>
          <p:nvPr/>
        </p:nvGrpSpPr>
        <p:grpSpPr>
          <a:xfrm>
            <a:off x="6248400" y="3998595"/>
            <a:ext cx="5410200" cy="1313498"/>
            <a:chOff x="6248400" y="3998595"/>
            <a:chExt cx="5410200" cy="1313498"/>
          </a:xfrm>
        </p:grpSpPr>
        <p:sp>
          <p:nvSpPr>
            <p:cNvPr id="45" name="Rectangle 45"/>
            <p:cNvSpPr/>
            <p:nvPr/>
          </p:nvSpPr>
          <p:spPr>
            <a:xfrm>
              <a:off x="6248400" y="3998595"/>
              <a:ext cx="5410200" cy="1313498"/>
            </a:xfrm>
            <a:prstGeom prst="roundRect">
              <a:avLst>
                <a:gd name="adj" fmla="val 725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376797" y="415051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写法示例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376035" y="4413409"/>
              <a:ext cx="3290062" cy="8286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j ← choice(1:n)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j 取 1..n 中的某个值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x ← choice(true, false)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if 验证不通过 then failure endif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success</a:t>
              </a:r>
            </a:p>
          </p:txBody>
        </p:sp>
      </p:grpSp>
      <p:grpSp>
        <p:nvGrpSpPr>
          <p:cNvPr id="5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9" name="TextBox 49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73799" cy="909257"/>
            <a:chOff x="520446" y="342900"/>
            <a:chExt cx="75737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81262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7397" y="407194"/>
              <a:ext cx="2374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第9章 NP 完全 · 不确定的判定问题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737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不确定机：执行 choice 时总能“猜中”的理论机器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9" name="c1-image-1"/>
          <p:cNvGrpSpPr/>
          <p:nvPr/>
        </p:nvGrpSpPr>
        <p:grpSpPr>
          <a:xfrm>
            <a:off x="533400" y="1524000"/>
            <a:ext cx="4869180" cy="4858416"/>
            <a:chOff x="533400" y="1524000"/>
            <a:chExt cx="4869180" cy="4858416"/>
          </a:xfrm>
        </p:grpSpPr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2"/>
            <a:srcRect l="10088" t="0" r="10087" b="0"/>
            <a:stretch>
              <a:fillRect/>
            </a:stretch>
          </p:blipFill>
          <p:spPr>
            <a:xfrm>
              <a:off x="533400" y="1524000"/>
              <a:ext cx="4869180" cy="4574858"/>
            </a:xfrm>
            <a:prstGeom prst="roundRect">
              <a:avLst>
                <a:gd name="adj" fmla="val 2914"/>
              </a:avLst>
            </a:prstGeom>
          </p:spPr>
        </p:pic>
        <p:sp>
          <p:nvSpPr>
            <p:cNvPr id="8" name="TextBox 8"/>
            <p:cNvSpPr txBox="1"/>
            <p:nvPr/>
          </p:nvSpPr>
          <p:spPr>
            <a:xfrm>
              <a:off x="654304" y="6191726"/>
              <a:ext cx="46273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分身视角：每到一个岔路口就分出副本同时走，只要一个副本找到宝箱就算成功</a:t>
              </a:r>
            </a:p>
          </p:txBody>
        </p:sp>
      </p:grpSp>
      <p:grpSp>
        <p:nvGrpSpPr>
          <p:cNvPr id="15" name="c2-card-1"/>
          <p:cNvGrpSpPr/>
          <p:nvPr/>
        </p:nvGrpSpPr>
        <p:grpSpPr>
          <a:xfrm>
            <a:off x="5707380" y="1524000"/>
            <a:ext cx="5951220" cy="1185862"/>
            <a:chOff x="5707380" y="1524000"/>
            <a:chExt cx="5951220" cy="1185862"/>
          </a:xfrm>
        </p:grpSpPr>
        <p:sp>
          <p:nvSpPr>
            <p:cNvPr id="10" name="Rectangle 10"/>
            <p:cNvSpPr/>
            <p:nvPr/>
          </p:nvSpPr>
          <p:spPr>
            <a:xfrm>
              <a:off x="5707380" y="1524000"/>
              <a:ext cx="5951220" cy="1185862"/>
            </a:xfrm>
            <a:prstGeom prst="roundRect">
              <a:avLst>
                <a:gd name="adj" fmla="val 1124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5716905" y="1657350"/>
              <a:ext cx="47625" cy="919162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5932170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024842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925312" y="2054542"/>
              <a:ext cx="53286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能按上述方式执行不确定算法的机器称为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不确定机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。现实技术条件下它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并不存在，是为分析时间复杂度难题虚构的理论模型。</a:t>
              </a:r>
            </a:p>
          </p:txBody>
        </p:sp>
      </p:grpSp>
      <p:grpSp>
        <p:nvGrpSpPr>
          <p:cNvPr id="25" name="c2-card-2"/>
          <p:cNvGrpSpPr/>
          <p:nvPr/>
        </p:nvGrpSpPr>
        <p:grpSpPr>
          <a:xfrm>
            <a:off x="5707380" y="2879408"/>
            <a:ext cx="5951220" cy="1785938"/>
            <a:chOff x="5707380" y="2879408"/>
            <a:chExt cx="5951220" cy="1785938"/>
          </a:xfrm>
        </p:grpSpPr>
        <p:sp>
          <p:nvSpPr>
            <p:cNvPr id="16" name="Rectangle 16"/>
            <p:cNvSpPr/>
            <p:nvPr/>
          </p:nvSpPr>
          <p:spPr>
            <a:xfrm>
              <a:off x="5707380" y="2879408"/>
              <a:ext cx="5951220" cy="1785938"/>
            </a:xfrm>
            <a:prstGeom prst="roundRect">
              <a:avLst>
                <a:gd name="adj" fmla="val 746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5716905" y="3012758"/>
              <a:ext cx="47625" cy="1519238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5932170" y="3066098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016739" y="309895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上帝视角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925312" y="3410902"/>
              <a:ext cx="448856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不确定机是一个“有魔力”的机器，总在 O(1) 时间内执行完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choice(S)：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5940742" y="4024312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096762" y="3968115"/>
              <a:ext cx="459623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如果问题有解，它直接猜中，从 S 中返回一个需要的元素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5940742" y="4324350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096762" y="4268152"/>
              <a:ext cx="525957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如果问题无解，它从 S 中随便返回一个元素（结果总是 failure）</a:t>
              </a:r>
            </a:p>
          </p:txBody>
        </p:sp>
      </p:grpSp>
      <p:grpSp>
        <p:nvGrpSpPr>
          <p:cNvPr id="31" name="c2-card-3"/>
          <p:cNvGrpSpPr/>
          <p:nvPr/>
        </p:nvGrpSpPr>
        <p:grpSpPr>
          <a:xfrm>
            <a:off x="5707380" y="4835842"/>
            <a:ext cx="5951220" cy="1185862"/>
            <a:chOff x="5707380" y="4835842"/>
            <a:chExt cx="5951220" cy="1185862"/>
          </a:xfrm>
        </p:grpSpPr>
        <p:sp>
          <p:nvSpPr>
            <p:cNvPr id="26" name="Rectangle 26"/>
            <p:cNvSpPr/>
            <p:nvPr/>
          </p:nvSpPr>
          <p:spPr>
            <a:xfrm>
              <a:off x="5707380" y="4835842"/>
              <a:ext cx="5951220" cy="1185862"/>
            </a:xfrm>
            <a:prstGeom prst="roundRect">
              <a:avLst>
                <a:gd name="adj" fmla="val 1124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5716905" y="4969192"/>
              <a:ext cx="47625" cy="919162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5932170" y="5022532"/>
              <a:ext cx="831532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013640" y="505539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等价的理解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925312" y="5366385"/>
              <a:ext cx="499433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遇到 choice(S) 就分成 |S| 个副本同时执行。只要有一个副本到达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success，整个算法就成功，时间按这个副本走过的步数计算。</a:t>
              </a:r>
            </a:p>
          </p:txBody>
        </p:sp>
      </p:grpSp>
      <p:grpSp>
        <p:nvGrpSpPr>
          <p:cNvPr id="3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2" name="TextBox 32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89974" cy="909257"/>
            <a:chOff x="520446" y="342900"/>
            <a:chExt cx="688997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81262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7397" y="407194"/>
              <a:ext cx="2374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第9章 NP 完全 · 不确定的判定问题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8997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检索问题的不确定算法：O(1) 时间猜出下标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9430568" cy="308039"/>
            <a:chOff x="525399" y="1550194"/>
            <a:chExt cx="9430568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943056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问题：在元素集 A(1:n)（n ≥ 1）中检索元素 X。需确定下标 j 使 A(j) = X；X 不在 A 中时令 j = 0。</a:t>
              </a:r>
            </a:p>
          </p:txBody>
        </p:sp>
      </p:grpSp>
      <p:grpSp>
        <p:nvGrpSpPr>
          <p:cNvPr id="12" name="c1-code-1"/>
          <p:cNvGrpSpPr/>
          <p:nvPr/>
        </p:nvGrpSpPr>
        <p:grpSpPr>
          <a:xfrm>
            <a:off x="533400" y="1967865"/>
            <a:ext cx="5193982" cy="1187768"/>
            <a:chOff x="533400" y="1967865"/>
            <a:chExt cx="5193982" cy="1187768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5193982" cy="1187768"/>
            </a:xfrm>
            <a:prstGeom prst="roundRect">
              <a:avLst>
                <a:gd name="adj" fmla="val 8019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119789"/>
              <a:ext cx="12336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检索 X 的不确定算法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60273" y="2383631"/>
              <a:ext cx="3816858" cy="7084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8"/>
                </a:lnSpc>
              </a:pPr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j ← choice(1:n)          </a:t>
              </a:r>
              <a:r>
                <a:rPr lang="zh-CN" sz="12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猜想：猜一个下标</a:t>
              </a:r>
              <a:br/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if A(j) = X then success endif</a:t>
              </a:r>
              <a:br/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j ← 0; print(</a:t>
              </a:r>
              <a:r>
                <a:rPr lang="zh-CN" sz="12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'0'</a:t>
              </a:r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failure</a:t>
              </a:r>
            </a:p>
          </p:txBody>
        </p:sp>
      </p:grpSp>
      <p:grpSp>
        <p:nvGrpSpPr>
          <p:cNvPr id="20" name="c1-card-2"/>
          <p:cNvGrpSpPr/>
          <p:nvPr/>
        </p:nvGrpSpPr>
        <p:grpSpPr>
          <a:xfrm>
            <a:off x="533400" y="3345180"/>
            <a:ext cx="5193982" cy="2242185"/>
            <a:chOff x="533400" y="3345180"/>
            <a:chExt cx="5193982" cy="2242185"/>
          </a:xfrm>
        </p:grpSpPr>
        <p:sp>
          <p:nvSpPr>
            <p:cNvPr id="13" name="Rectangle 13"/>
            <p:cNvSpPr/>
            <p:nvPr/>
          </p:nvSpPr>
          <p:spPr>
            <a:xfrm>
              <a:off x="533400" y="3345180"/>
              <a:ext cx="5193982" cy="2242185"/>
            </a:xfrm>
            <a:prstGeom prst="roundRect">
              <a:avLst>
                <a:gd name="adj" fmla="val 5947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42950" y="355473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33158" y="359044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要点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48665" y="399478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3931920"/>
              <a:ext cx="43586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正确性：到达 success 时 A(j) = X，j 就是所求下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标。当且仅当不存在 j 使 A(j) = X 时，算法输出“0”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48665" y="461581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06780" y="4552950"/>
              <a:ext cx="424815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时间：猜想 O(1)，验证 O(1)，共 </a:t>
              </a:r>
              <a:r>
                <a:rPr lang="en-US" sz="150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O(1)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；确定算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法顺序检索需要 O(n)</a:t>
              </a:r>
            </a:p>
          </p:txBody>
        </p:sp>
      </p:grpSp>
      <p:grpSp>
        <p:nvGrpSpPr>
          <p:cNvPr id="55" name="c2-card-1"/>
          <p:cNvGrpSpPr/>
          <p:nvPr/>
        </p:nvGrpSpPr>
        <p:grpSpPr>
          <a:xfrm>
            <a:off x="6032182" y="1967865"/>
            <a:ext cx="5626418" cy="3620452"/>
            <a:chOff x="6032182" y="1967865"/>
            <a:chExt cx="5626418" cy="3620452"/>
          </a:xfrm>
        </p:grpSpPr>
        <p:sp>
          <p:nvSpPr>
            <p:cNvPr id="21" name="Rectangle 21"/>
            <p:cNvSpPr/>
            <p:nvPr/>
          </p:nvSpPr>
          <p:spPr>
            <a:xfrm>
              <a:off x="6032182" y="1967865"/>
              <a:ext cx="5626418" cy="3620452"/>
            </a:xfrm>
            <a:prstGeom prst="roundRect">
              <a:avLst>
                <a:gd name="adj" fmla="val 368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6041708" y="2101215"/>
              <a:ext cx="47625" cy="335375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79832" y="2177415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373990" y="221313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737985" y="2212658"/>
              <a:ext cx="170665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= (7, 3, 9, 3)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3356" y="2678906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506528" y="2548890"/>
              <a:ext cx="41910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659845" y="267890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925628" y="2548890"/>
              <a:ext cx="419100" cy="4191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078945" y="267890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344728" y="2548890"/>
              <a:ext cx="41910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498045" y="267890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7763828" y="2548890"/>
              <a:ext cx="419100" cy="4191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917145" y="267890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74844" y="3024664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093944" y="3024664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513044" y="3024664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932144" y="3024664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279832" y="3263265"/>
              <a:ext cx="5169218" cy="675322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416999" y="3511391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895922" y="3398044"/>
              <a:ext cx="1585316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85"/>
                </a:lnSpc>
              </a:pPr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能导致 success 的选</a:t>
              </a:r>
              <a:br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择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898659" y="351139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419815" y="418671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780086" y="4186714"/>
              <a:ext cx="9779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 = 2 或 j = 4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812720" y="4073366"/>
              <a:ext cx="18011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不确定机猜中其中一个，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success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279832" y="4609148"/>
              <a:ext cx="51692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6279832" y="4613910"/>
              <a:ext cx="5169218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419815" y="474964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780086" y="474964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812720" y="4749641"/>
              <a:ext cx="216687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任何选择都 failure，输出 0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279832" y="3263265"/>
              <a:ext cx="5169218" cy="18002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6667500" y="3263265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8700135" y="3263265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273356" y="5179219"/>
              <a:ext cx="375118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 = 3 时有两个正确下标，猜中哪一个都算成功。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81262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7397" y="407194"/>
              <a:ext cx="2374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第9章 NP 完全 · 不确定的判定问题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设计不确定算法：先猜想，再验证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9" name="c1-flow-1"/>
          <p:cNvGrpSpPr/>
          <p:nvPr/>
        </p:nvGrpSpPr>
        <p:grpSpPr>
          <a:xfrm>
            <a:off x="666750" y="1909762"/>
            <a:ext cx="5143500" cy="4067176"/>
            <a:chOff x="666750" y="1909762"/>
            <a:chExt cx="5143500" cy="4067176"/>
          </a:xfrm>
        </p:grpSpPr>
        <p:sp>
          <p:nvSpPr>
            <p:cNvPr id="7" name="Freeform 7"/>
            <p:cNvSpPr/>
            <p:nvPr/>
          </p:nvSpPr>
          <p:spPr>
            <a:xfrm>
              <a:off x="3238500" y="2347912"/>
              <a:ext cx="9525" cy="666750"/>
            </a:xfrm>
            <a:custGeom>
              <a:avLst/>
              <a:gdLst/>
              <a:ahLst/>
              <a:cxnLst/>
              <a:rect l="l" t="t" r="r" b="b"/>
              <a:pathLst>
                <a:path w="9525" h="666750">
                  <a:moveTo>
                    <a:pt x="0" y="0"/>
                  </a:moveTo>
                  <a:lnTo>
                    <a:pt x="0" y="6667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3186112" y="301466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3238500" y="3557588"/>
              <a:ext cx="9525" cy="666750"/>
            </a:xfrm>
            <a:custGeom>
              <a:avLst/>
              <a:gdLst/>
              <a:ahLst/>
              <a:cxnLst/>
              <a:rect l="l" t="t" r="r" b="b"/>
              <a:pathLst>
                <a:path w="9525" h="666750">
                  <a:moveTo>
                    <a:pt x="0" y="0"/>
                  </a:moveTo>
                  <a:lnTo>
                    <a:pt x="0" y="6667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186112" y="422433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3238500" y="4767262"/>
              <a:ext cx="1803082" cy="666750"/>
            </a:xfrm>
            <a:custGeom>
              <a:avLst/>
              <a:gdLst/>
              <a:ahLst/>
              <a:cxnLst/>
              <a:rect l="l" t="t" r="r" b="b"/>
              <a:pathLst>
                <a:path w="1803082" h="666750">
                  <a:moveTo>
                    <a:pt x="0" y="0"/>
                  </a:moveTo>
                  <a:lnTo>
                    <a:pt x="0" y="385762"/>
                  </a:lnTo>
                  <a:lnTo>
                    <a:pt x="1803082" y="385762"/>
                  </a:lnTo>
                  <a:lnTo>
                    <a:pt x="1803082" y="6667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4989195" y="543401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1435418" y="4767262"/>
              <a:ext cx="1803082" cy="666750"/>
            </a:xfrm>
            <a:custGeom>
              <a:avLst/>
              <a:gdLst/>
              <a:ahLst/>
              <a:cxnLst/>
              <a:rect l="l" t="t" r="r" b="b"/>
              <a:pathLst>
                <a:path w="1803082" h="666750">
                  <a:moveTo>
                    <a:pt x="1803082" y="0"/>
                  </a:moveTo>
                  <a:lnTo>
                    <a:pt x="1803082" y="385762"/>
                  </a:lnTo>
                  <a:lnTo>
                    <a:pt x="0" y="385762"/>
                  </a:lnTo>
                  <a:lnTo>
                    <a:pt x="0" y="6667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1383030" y="543401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912495" y="1909762"/>
              <a:ext cx="4652962" cy="438150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912495" y="3119438"/>
              <a:ext cx="4652962" cy="438150"/>
            </a:xfrm>
            <a:prstGeom prst="roundRect">
              <a:avLst>
                <a:gd name="adj" fmla="val 21739"/>
              </a:avLst>
            </a:prstGeom>
            <a:solidFill>
              <a:srgbClr val="E8EDF8"/>
            </a:solidFill>
            <a:ln w="19050">
              <a:solidFill>
                <a:srgbClr val="2F4B9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912495" y="4329112"/>
              <a:ext cx="4652962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4273868" y="5538788"/>
              <a:ext cx="1536382" cy="438150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666750" y="5538788"/>
              <a:ext cx="1536382" cy="438150"/>
            </a:xfrm>
            <a:prstGeom prst="roundRect">
              <a:avLst>
                <a:gd name="adj" fmla="val 21739"/>
              </a:avLst>
            </a:prstGeom>
            <a:solidFill>
              <a:srgbClr val="F4F6FB"/>
            </a:solidFill>
            <a:ln w="13335">
              <a:solidFill>
                <a:srgbClr val="D9DFEA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2887396" y="203977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输入实例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66728" y="3249454"/>
              <a:ext cx="374354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猜想阶段（不确定阶段）：用 choice 猜出一个解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91946" y="4459129"/>
              <a:ext cx="44931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验证阶段（确定阶段）：用确定语句检查这个解是否是答案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686817" y="5668804"/>
              <a:ext cx="7095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success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140315" y="5668804"/>
              <a:ext cx="59020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failure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892868" y="4936808"/>
              <a:ext cx="4953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923157" y="4963478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是答案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2155508" y="4936808"/>
              <a:ext cx="3619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2189798" y="496347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不是</a:t>
              </a:r>
            </a:p>
          </p:txBody>
        </p:sp>
      </p:grpSp>
      <p:grpSp>
        <p:nvGrpSpPr>
          <p:cNvPr id="36" name="c2-card-1"/>
          <p:cNvGrpSpPr/>
          <p:nvPr/>
        </p:nvGrpSpPr>
        <p:grpSpPr>
          <a:xfrm>
            <a:off x="6248400" y="1524000"/>
            <a:ext cx="5410200" cy="1049655"/>
            <a:chOff x="6248400" y="1524000"/>
            <a:chExt cx="5410200" cy="1049655"/>
          </a:xfrm>
        </p:grpSpPr>
        <p:sp>
          <p:nvSpPr>
            <p:cNvPr id="30" name="Rectangle 30"/>
            <p:cNvSpPr/>
            <p:nvPr/>
          </p:nvSpPr>
          <p:spPr>
            <a:xfrm>
              <a:off x="6248400" y="1524000"/>
              <a:ext cx="5410200" cy="1049655"/>
            </a:xfrm>
            <a:prstGeom prst="roundRect">
              <a:avLst>
                <a:gd name="adj" fmla="val 1270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6257925" y="1657350"/>
              <a:ext cx="47625" cy="782955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496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86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097078" y="1768792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多项式时间可验证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88430" y="2129790"/>
              <a:ext cx="46596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不确定算法在验证阶段的时间复杂度是多项式级的。</a:t>
              </a:r>
            </a:p>
          </p:txBody>
        </p:sp>
      </p:grpSp>
      <p:grpSp>
        <p:nvGrpSpPr>
          <p:cNvPr id="44" name="c2-card-2"/>
          <p:cNvGrpSpPr/>
          <p:nvPr/>
        </p:nvGrpSpPr>
        <p:grpSpPr>
          <a:xfrm>
            <a:off x="6248400" y="2764155"/>
            <a:ext cx="5410200" cy="1937385"/>
            <a:chOff x="6248400" y="2764155"/>
            <a:chExt cx="5410200" cy="1937385"/>
          </a:xfrm>
        </p:grpSpPr>
        <p:sp>
          <p:nvSpPr>
            <p:cNvPr id="37" name="Rectangle 37"/>
            <p:cNvSpPr/>
            <p:nvPr/>
          </p:nvSpPr>
          <p:spPr>
            <a:xfrm>
              <a:off x="6248400" y="2764155"/>
              <a:ext cx="5410200" cy="1937385"/>
            </a:xfrm>
            <a:prstGeom prst="roundRect">
              <a:avLst>
                <a:gd name="adj" fmla="val 6883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57950" y="2973705"/>
              <a:ext cx="1774508" cy="257175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09753" y="3009424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不确定算法的时间复杂度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6463665" y="3413760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621780" y="3350895"/>
              <a:ext cx="41395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返回 failure：不关注失败的情况，不妨认为恒为</a:t>
              </a:r>
              <a:br/>
              <a:r>
                <a:rPr lang="en-US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O(1)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463665" y="4034790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621780" y="3971925"/>
              <a:ext cx="46158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返回 success：等于不确定阶段与确定阶段的时间复杂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度之和</a:t>
              </a:r>
            </a:p>
          </p:txBody>
        </p:sp>
      </p:grpSp>
      <p:grpSp>
        <p:nvGrpSpPr>
          <p:cNvPr id="51" name="c2-callout-3"/>
          <p:cNvGrpSpPr/>
          <p:nvPr/>
        </p:nvGrpSpPr>
        <p:grpSpPr>
          <a:xfrm>
            <a:off x="6248400" y="4892040"/>
            <a:ext cx="5410200" cy="1059180"/>
            <a:chOff x="6248400" y="4892040"/>
            <a:chExt cx="5410200" cy="1059180"/>
          </a:xfrm>
        </p:grpSpPr>
        <p:sp>
          <p:nvSpPr>
            <p:cNvPr id="45" name="Rectangle 45"/>
            <p:cNvSpPr/>
            <p:nvPr/>
          </p:nvSpPr>
          <p:spPr>
            <a:xfrm>
              <a:off x="6248400" y="4892040"/>
              <a:ext cx="5410200" cy="1059180"/>
            </a:xfrm>
            <a:prstGeom prst="roundRect">
              <a:avLst>
                <a:gd name="adj" fmla="val 10791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6453188" y="5321618"/>
              <a:ext cx="200026" cy="200025"/>
              <a:chOff x="6453188" y="5321618"/>
              <a:chExt cx="200026" cy="200025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6453188" y="532161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6492926" y="536606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6527642" y="547719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6755130" y="5040630"/>
              <a:ext cx="43967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分析时分两段写：猜想阶段猜了几个分量，验证阶段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检查了多少次。后面的排序、最大团、SAT 都按这个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格式分析。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2" name="TextBox 52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442721" cy="909257"/>
            <a:chOff x="520446" y="342900"/>
            <a:chExt cx="744272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81262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7397" y="407194"/>
              <a:ext cx="2374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第9章 NP 完全 · 不确定的判定问题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44272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排序问题的不确定算法 NSORT：猜每个数的位置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5811012" cy="293370"/>
            <a:chOff x="525780" y="1548765"/>
            <a:chExt cx="5811012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581101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问题：A(1:n) 是待排序的正整数集，要求把它按非降次序排序。</a:t>
              </a:r>
            </a:p>
          </p:txBody>
        </p:sp>
      </p:grpSp>
      <p:grpSp>
        <p:nvGrpSpPr>
          <p:cNvPr id="14" name="c1-code-1"/>
          <p:cNvGrpSpPr/>
          <p:nvPr/>
        </p:nvGrpSpPr>
        <p:grpSpPr>
          <a:xfrm>
            <a:off x="533400" y="1954530"/>
            <a:ext cx="5410200" cy="3526155"/>
            <a:chOff x="533400" y="1954530"/>
            <a:chExt cx="5410200" cy="3526155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5410200" cy="3526155"/>
            </a:xfrm>
            <a:prstGeom prst="roundRect">
              <a:avLst>
                <a:gd name="adj" fmla="val 270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106454"/>
              <a:ext cx="44168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NSORT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52450" y="3188970"/>
              <a:ext cx="5372100" cy="21621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552450" y="4269105"/>
              <a:ext cx="5372100" cy="21621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60654" y="2369820"/>
              <a:ext cx="3281172" cy="30455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02"/>
                </a:lnSpc>
              </a:pPr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procedure NSORT(A, n)  </a:t>
              </a:r>
              <a:r>
                <a:rPr lang="zh-CN" sz="120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n 个正整数</a:t>
              </a:r>
              <a:br/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integer A(1:n), B(1:n), n, i, j</a:t>
              </a:r>
              <a:br/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B(1:n) ← 0           </a:t>
              </a:r>
              <a:r>
                <a:rPr lang="zh-CN" sz="120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辅助数组</a:t>
              </a:r>
              <a:br/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for i ← 1 to n do    </a:t>
              </a:r>
              <a:r>
                <a:rPr lang="zh-CN" sz="120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构造</a:t>
              </a:r>
              <a:br/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j ← choice(1:n)</a:t>
              </a:r>
              <a:br/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if B(j) ≠ 0 then failure endif</a:t>
              </a:r>
              <a:br/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B(j) ← A(i)</a:t>
              </a:r>
              <a:br/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repeat</a:t>
              </a:r>
              <a:br/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for i ← 1 to n-1 do  </a:t>
              </a:r>
              <a:r>
                <a:rPr lang="zh-CN" sz="120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验证次序</a:t>
              </a:r>
              <a:br/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if B(i) &gt; B(i+1) then failure endif</a:t>
              </a:r>
              <a:br/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repeat</a:t>
              </a:r>
              <a:br/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print(B)</a:t>
              </a:r>
              <a:br/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success</a:t>
              </a:r>
              <a:br/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 NSORT</a:t>
              </a:r>
            </a:p>
          </p:txBody>
        </p:sp>
      </p:grpSp>
      <p:grpSp>
        <p:nvGrpSpPr>
          <p:cNvPr id="21" name="c2-card-1"/>
          <p:cNvGrpSpPr/>
          <p:nvPr/>
        </p:nvGrpSpPr>
        <p:grpSpPr>
          <a:xfrm>
            <a:off x="6248400" y="1954530"/>
            <a:ext cx="5410200" cy="1529715"/>
            <a:chOff x="6248400" y="1954530"/>
            <a:chExt cx="5410200" cy="1529715"/>
          </a:xfrm>
        </p:grpSpPr>
        <p:sp>
          <p:nvSpPr>
            <p:cNvPr id="15" name="Rectangle 15"/>
            <p:cNvSpPr/>
            <p:nvPr/>
          </p:nvSpPr>
          <p:spPr>
            <a:xfrm>
              <a:off x="6248400" y="1954530"/>
              <a:ext cx="5410200" cy="1529715"/>
            </a:xfrm>
            <a:prstGeom prst="roundRect">
              <a:avLst>
                <a:gd name="adj" fmla="val 871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6257925" y="2087880"/>
              <a:ext cx="47625" cy="1263015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6484620" y="215265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576060" y="218694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思路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77381" y="2513171"/>
              <a:ext cx="4649216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为每个 A(i) 猜一个位置 j 放进 B(j)，位置已占用就失败；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放完后检查 B 是否非降。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78524" y="3098482"/>
              <a:ext cx="36607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 B(j) ≠ 0 判断占用，所以要求 A 中都是正整数。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6248400" y="3664268"/>
            <a:ext cx="5410200" cy="1840230"/>
            <a:chOff x="6248400" y="3664268"/>
            <a:chExt cx="5410200" cy="1840230"/>
          </a:xfrm>
        </p:grpSpPr>
        <p:sp>
          <p:nvSpPr>
            <p:cNvPr id="22" name="Rectangle 22"/>
            <p:cNvSpPr/>
            <p:nvPr/>
          </p:nvSpPr>
          <p:spPr>
            <a:xfrm>
              <a:off x="6248400" y="3664268"/>
              <a:ext cx="5410200" cy="1840230"/>
            </a:xfrm>
            <a:prstGeom prst="roundRect">
              <a:avLst>
                <a:gd name="adj" fmla="val 724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57925" y="3797618"/>
              <a:ext cx="47625" cy="157353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484620" y="3862388"/>
              <a:ext cx="609600" cy="24765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572060" y="3896678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正确性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6492240" y="4283392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648831" y="4223861"/>
              <a:ext cx="462216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把每个 A(i) 放到它在有序序列中的位置，这组选择一定导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致 success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6492240" y="4872990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648831" y="4812506"/>
              <a:ext cx="45229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success 时每个元素恰好放了一次且通过次序检查，B 就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 A 的非降排列</a:t>
              </a:r>
            </a:p>
          </p:txBody>
        </p:sp>
      </p:grpSp>
      <p:grpSp>
        <p:nvGrpSpPr>
          <p:cNvPr id="36" name="c2-callout-3"/>
          <p:cNvGrpSpPr/>
          <p:nvPr/>
        </p:nvGrpSpPr>
        <p:grpSpPr>
          <a:xfrm>
            <a:off x="6248400" y="5685472"/>
            <a:ext cx="5410200" cy="503872"/>
            <a:chOff x="6248400" y="5685472"/>
            <a:chExt cx="5410200" cy="503872"/>
          </a:xfrm>
        </p:grpSpPr>
        <p:sp>
          <p:nvSpPr>
            <p:cNvPr id="31" name="Rectangle 31"/>
            <p:cNvSpPr/>
            <p:nvPr/>
          </p:nvSpPr>
          <p:spPr>
            <a:xfrm>
              <a:off x="6248400" y="5685472"/>
              <a:ext cx="5410200" cy="503872"/>
            </a:xfrm>
            <a:prstGeom prst="roundRect">
              <a:avLst>
                <a:gd name="adj" fmla="val 22684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6453188" y="5836922"/>
              <a:ext cx="200023" cy="200023"/>
              <a:chOff x="6453188" y="5836922"/>
              <a:chExt cx="200023" cy="200023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6453188" y="583692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6586538" y="590359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6755511" y="5837396"/>
              <a:ext cx="333796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时间：构造 O(n) + 验证 O(n) = O(n)</a:t>
              </a:r>
            </a:p>
          </p:txBody>
        </p:sp>
      </p:grpSp>
      <p:grpSp>
        <p:nvGrpSpPr>
          <p:cNvPr id="3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7" name="TextBox 37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322280" cy="909257"/>
            <a:chOff x="520446" y="342900"/>
            <a:chExt cx="53222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81262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7397" y="407194"/>
              <a:ext cx="2374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第9章 NP 完全 · 不确定的判定问题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3222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NSORT 执行过程：A = (3, 1, 2)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2" name="c1-table-1"/>
          <p:cNvGrpSpPr/>
          <p:nvPr/>
        </p:nvGrpSpPr>
        <p:grpSpPr>
          <a:xfrm>
            <a:off x="527685" y="1524000"/>
            <a:ext cx="5956935" cy="3800952"/>
            <a:chOff x="527685" y="1524000"/>
            <a:chExt cx="5956935" cy="380095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951220" cy="75438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26532" y="1663065"/>
              <a:ext cx="846296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2100"/>
                </a:lnSpc>
              </a:pPr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选择 (j₁,</a:t>
              </a:r>
              <a:br/>
              <a:r>
                <a:rPr lang="en-US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j₂, j₃)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543213" y="1796415"/>
              <a:ext cx="10133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放置后的 B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098732" y="179641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0301" y="2417445"/>
              <a:ext cx="95875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(3, 1, 2)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92991" y="2417445"/>
              <a:ext cx="91382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(1, 2, 3)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238625" y="2417445"/>
              <a:ext cx="162775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success，输出 B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761298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766060"/>
              <a:ext cx="5951220" cy="7543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70301" y="3038475"/>
              <a:ext cx="95875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(1, 2, 3)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592991" y="3038475"/>
              <a:ext cx="91382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(3, 1, 2)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238625" y="2905125"/>
              <a:ext cx="1995964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B(1) = 3 &gt; B(2) = 1，</a:t>
              </a:r>
              <a:br/>
              <a:r>
                <a:rPr lang="en-US" sz="15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failure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515678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70301" y="3792855"/>
              <a:ext cx="95875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(2, 3, 1)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592991" y="3792855"/>
              <a:ext cx="91382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(2, 3, 1)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238625" y="3659505"/>
              <a:ext cx="1995964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B(2) = 3 &gt; B(3) = 1，</a:t>
              </a:r>
              <a:br/>
              <a:r>
                <a:rPr lang="en-US" sz="15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failure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4270058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4274820"/>
              <a:ext cx="5951220" cy="7543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70301" y="4547235"/>
              <a:ext cx="95875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(2, 2, 1)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304098" y="4413885"/>
              <a:ext cx="1491615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2 次选 j = 2 时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B(2) ≠ 0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238625" y="4547235"/>
              <a:ext cx="72552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failure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1524000"/>
              <a:ext cx="5951220" cy="35052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1962150" y="1524000"/>
              <a:ext cx="9525" cy="3505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4127182" y="1524000"/>
              <a:ext cx="9525" cy="3505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27685" y="5104924"/>
              <a:ext cx="23743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jᵢ 是第 i 次循环为 A(i) 猜出的位置</a:t>
              </a:r>
            </a:p>
          </p:txBody>
        </p:sp>
      </p:grpSp>
      <p:grpSp>
        <p:nvGrpSpPr>
          <p:cNvPr id="38" name="c1-callout-2"/>
          <p:cNvGrpSpPr/>
          <p:nvPr/>
        </p:nvGrpSpPr>
        <p:grpSpPr>
          <a:xfrm>
            <a:off x="533400" y="5471160"/>
            <a:ext cx="5951220" cy="782955"/>
            <a:chOff x="533400" y="5471160"/>
            <a:chExt cx="5951220" cy="782955"/>
          </a:xfrm>
        </p:grpSpPr>
        <p:sp>
          <p:nvSpPr>
            <p:cNvPr id="33" name="Rectangle 33"/>
            <p:cNvSpPr/>
            <p:nvPr/>
          </p:nvSpPr>
          <p:spPr>
            <a:xfrm>
              <a:off x="533400" y="5471160"/>
              <a:ext cx="5951220" cy="782955"/>
            </a:xfrm>
            <a:prstGeom prst="roundRect">
              <a:avLst>
                <a:gd name="adj" fmla="val 14599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738188" y="5762627"/>
              <a:ext cx="200023" cy="200023"/>
              <a:chOff x="738188" y="5762627"/>
              <a:chExt cx="200023" cy="200023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738188" y="576262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871538" y="58293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1040130" y="5619750"/>
              <a:ext cx="48920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27 种选择序列中只有 (3, 1, 2) 导致 success。不确定机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直接猜中它，所以只需 O(n) 时间。</a:t>
              </a:r>
            </a:p>
          </p:txBody>
        </p:sp>
      </p:grpSp>
      <p:grpSp>
        <p:nvGrpSpPr>
          <p:cNvPr id="74" name="c2-card-1"/>
          <p:cNvGrpSpPr/>
          <p:nvPr/>
        </p:nvGrpSpPr>
        <p:grpSpPr>
          <a:xfrm>
            <a:off x="6789420" y="1524000"/>
            <a:ext cx="4869180" cy="4730115"/>
            <a:chOff x="6789420" y="1524000"/>
            <a:chExt cx="4869180" cy="4730115"/>
          </a:xfrm>
        </p:grpSpPr>
        <p:sp>
          <p:nvSpPr>
            <p:cNvPr id="39" name="Rectangle 39"/>
            <p:cNvSpPr/>
            <p:nvPr/>
          </p:nvSpPr>
          <p:spPr>
            <a:xfrm>
              <a:off x="6789420" y="1524000"/>
              <a:ext cx="4869180" cy="4730115"/>
            </a:xfrm>
            <a:prstGeom prst="roundRect">
              <a:avLst>
                <a:gd name="adj" fmla="val 281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6798945" y="1657350"/>
              <a:ext cx="47625" cy="446341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7037070" y="1733550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106577" y="1769269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成功的那组选择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348662" y="1768792"/>
              <a:ext cx="81145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的变化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030593" y="2235041"/>
              <a:ext cx="26625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i=1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7409498" y="2105025"/>
              <a:ext cx="41910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562815" y="223504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7828598" y="2105025"/>
              <a:ext cx="41910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981915" y="223504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8247698" y="2105025"/>
              <a:ext cx="419100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8401015" y="223504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577814" y="25807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996914" y="25807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416014" y="25807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030593" y="3025616"/>
              <a:ext cx="26625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i=2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7409498" y="2895600"/>
              <a:ext cx="419100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7562815" y="302561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7828598" y="2895600"/>
              <a:ext cx="41910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7981915" y="302561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8247698" y="2895600"/>
              <a:ext cx="41910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8401015" y="302561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030593" y="3616166"/>
              <a:ext cx="26625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i=3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7409498" y="3486150"/>
              <a:ext cx="419100" cy="4191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7562815" y="361616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7828598" y="3486150"/>
              <a:ext cx="419100" cy="4191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7981915" y="361616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8247698" y="3486150"/>
              <a:ext cx="419100" cy="4191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8401015" y="361616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8" name="Ellipse 68"/>
            <p:cNvSpPr/>
            <p:nvPr/>
          </p:nvSpPr>
          <p:spPr>
            <a:xfrm>
              <a:off x="7042785" y="408813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7200900" y="4025265"/>
              <a:ext cx="24544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 = 1：A(1) = 3 放到 B(3)</a:t>
              </a:r>
            </a:p>
          </p:txBody>
        </p:sp>
        <p:sp>
          <p:nvSpPr>
            <p:cNvPr id="70" name="Ellipse 70"/>
            <p:cNvSpPr/>
            <p:nvPr/>
          </p:nvSpPr>
          <p:spPr>
            <a:xfrm>
              <a:off x="7042785" y="442341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7200900" y="4360545"/>
              <a:ext cx="24544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 = 2：A(2) = 1 放到 B(1)</a:t>
              </a:r>
            </a:p>
          </p:txBody>
        </p:sp>
        <p:sp>
          <p:nvSpPr>
            <p:cNvPr id="72" name="Ellipse 72"/>
            <p:cNvSpPr/>
            <p:nvPr/>
          </p:nvSpPr>
          <p:spPr>
            <a:xfrm>
              <a:off x="7042785" y="475869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7200900" y="4695825"/>
              <a:ext cx="38728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 = 3：A(3) = 2 放到 B(2)，验证 1 ≤ 2 ≤ 3 通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</a:t>
              </a:r>
            </a:p>
          </p:txBody>
        </p:sp>
      </p:grpSp>
      <p:grpSp>
        <p:nvGrpSpPr>
          <p:cNvPr id="7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5" name="TextBox 75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209451" cy="909257"/>
            <a:chOff x="520446" y="342900"/>
            <a:chExt cx="520945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81262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7397" y="407194"/>
              <a:ext cx="2374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第9章 NP 完全 · 不确定的判定问题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20945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不确定的判定算法：只输出 0 或 1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4977765" cy="2047875"/>
            <a:chOff x="533400" y="1524000"/>
            <a:chExt cx="4977765" cy="204787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2047875"/>
            </a:xfrm>
            <a:prstGeom prst="roundRect">
              <a:avLst>
                <a:gd name="adj" fmla="val 651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781175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0862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1332" y="2054542"/>
              <a:ext cx="428282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不确定的判定算法只回答 yes 或 no 的问题，只产生 0/1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输出：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66762" y="2668905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22782" y="2612708"/>
              <a:ext cx="34171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：当且仅当没有一种选择能导致 success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66762" y="2968942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22782" y="2912745"/>
              <a:ext cx="35989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：当且仅当至少存在一种选择导致 success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52475" y="3209449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为描述简洁，算法中不再显式写输出语句。</a:t>
              </a:r>
            </a:p>
          </p:txBody>
        </p:sp>
      </p:grpSp>
      <p:grpSp>
        <p:nvGrpSpPr>
          <p:cNvPr id="24" name="c1-callout-2"/>
          <p:cNvGrpSpPr/>
          <p:nvPr/>
        </p:nvGrpSpPr>
        <p:grpSpPr>
          <a:xfrm>
            <a:off x="533400" y="3741420"/>
            <a:ext cx="4977765" cy="729615"/>
            <a:chOff x="533400" y="3741420"/>
            <a:chExt cx="4977765" cy="729615"/>
          </a:xfrm>
        </p:grpSpPr>
        <p:sp>
          <p:nvSpPr>
            <p:cNvPr id="18" name="Rectangle 18"/>
            <p:cNvSpPr/>
            <p:nvPr/>
          </p:nvSpPr>
          <p:spPr>
            <a:xfrm>
              <a:off x="533400" y="3741420"/>
              <a:ext cx="4977765" cy="729615"/>
            </a:xfrm>
            <a:prstGeom prst="roundRect">
              <a:avLst>
                <a:gd name="adj" fmla="val 15666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726129" y="4002523"/>
              <a:ext cx="224134" cy="192560"/>
              <a:chOff x="726129" y="4002523"/>
              <a:chExt cx="224134" cy="19256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838200" y="407289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726129" y="400252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38200" y="415067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040892" y="3887152"/>
              <a:ext cx="398278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易错：判定为 1 只需要一条成功的选择路径；判定为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0 要求所有选择路径都失败。</a:t>
              </a:r>
            </a:p>
          </p:txBody>
        </p:sp>
      </p:grpSp>
      <p:grpSp>
        <p:nvGrpSpPr>
          <p:cNvPr id="30" name="c1-card-3"/>
          <p:cNvGrpSpPr/>
          <p:nvPr/>
        </p:nvGrpSpPr>
        <p:grpSpPr>
          <a:xfrm>
            <a:off x="533400" y="4640580"/>
            <a:ext cx="4977765" cy="1704022"/>
            <a:chOff x="533400" y="4640580"/>
            <a:chExt cx="4977765" cy="1704022"/>
          </a:xfrm>
        </p:grpSpPr>
        <p:sp>
          <p:nvSpPr>
            <p:cNvPr id="25" name="Rectangle 25"/>
            <p:cNvSpPr/>
            <p:nvPr/>
          </p:nvSpPr>
          <p:spPr>
            <a:xfrm>
              <a:off x="533400" y="4640580"/>
              <a:ext cx="4977765" cy="1704022"/>
            </a:xfrm>
            <a:prstGeom prst="roundRect">
              <a:avLst>
                <a:gd name="adj" fmla="val 7826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720090" y="4827270"/>
              <a:ext cx="582930" cy="238125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08711" y="4860131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选择树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13232" y="5172075"/>
              <a:ext cx="4411408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把每次 choice 的所有取值画成分支，得到一棵选择树，每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片叶子是 success 或 failure。有 success 叶子就输出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1，叶子全是 failure 就输出 0。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14375" y="5982176"/>
              <a:ext cx="41392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右图是检索算法 choice(1:4) 的选择树，A = (7, 3, 9, 3)。</a:t>
              </a:r>
            </a:p>
          </p:txBody>
        </p:sp>
      </p:grpSp>
      <p:grpSp>
        <p:nvGrpSpPr>
          <p:cNvPr id="49" name="c2-tree-1"/>
          <p:cNvGrpSpPr/>
          <p:nvPr/>
        </p:nvGrpSpPr>
        <p:grpSpPr>
          <a:xfrm>
            <a:off x="6343650" y="1701165"/>
            <a:ext cx="4801642" cy="1309211"/>
            <a:chOff x="6343650" y="1701165"/>
            <a:chExt cx="4801642" cy="1309211"/>
          </a:xfrm>
        </p:grpSpPr>
        <p:sp>
          <p:nvSpPr>
            <p:cNvPr id="31" name="Freeform 31"/>
            <p:cNvSpPr/>
            <p:nvPr/>
          </p:nvSpPr>
          <p:spPr>
            <a:xfrm>
              <a:off x="6545580" y="1885950"/>
              <a:ext cx="2191702" cy="723900"/>
            </a:xfrm>
            <a:custGeom>
              <a:avLst/>
              <a:gdLst/>
              <a:ahLst/>
              <a:cxnLst/>
              <a:rect l="l" t="t" r="r" b="b"/>
              <a:pathLst>
                <a:path w="2191702" h="723900">
                  <a:moveTo>
                    <a:pt x="2191702" y="0"/>
                  </a:moveTo>
                  <a:lnTo>
                    <a:pt x="0" y="7239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8006715" y="1885950"/>
              <a:ext cx="730567" cy="723900"/>
            </a:xfrm>
            <a:custGeom>
              <a:avLst/>
              <a:gdLst/>
              <a:ahLst/>
              <a:cxnLst/>
              <a:rect l="l" t="t" r="r" b="b"/>
              <a:pathLst>
                <a:path w="730567" h="723900">
                  <a:moveTo>
                    <a:pt x="730567" y="0"/>
                  </a:moveTo>
                  <a:lnTo>
                    <a:pt x="0" y="7239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8737282" y="1885950"/>
              <a:ext cx="730568" cy="723900"/>
            </a:xfrm>
            <a:custGeom>
              <a:avLst/>
              <a:gdLst/>
              <a:ahLst/>
              <a:cxnLst/>
              <a:rect l="l" t="t" r="r" b="b"/>
              <a:pathLst>
                <a:path w="730568" h="723900">
                  <a:moveTo>
                    <a:pt x="0" y="0"/>
                  </a:moveTo>
                  <a:lnTo>
                    <a:pt x="730568" y="7239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8737282" y="1885950"/>
              <a:ext cx="2190750" cy="723900"/>
            </a:xfrm>
            <a:custGeom>
              <a:avLst/>
              <a:gdLst/>
              <a:ahLst/>
              <a:cxnLst/>
              <a:rect l="l" t="t" r="r" b="b"/>
              <a:pathLst>
                <a:path w="2190750" h="723900">
                  <a:moveTo>
                    <a:pt x="0" y="0"/>
                  </a:moveTo>
                  <a:lnTo>
                    <a:pt x="2190750" y="7239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6343650" y="2425065"/>
              <a:ext cx="405765" cy="368618"/>
            </a:xfrm>
            <a:prstGeom prst="roundRect">
              <a:avLst>
                <a:gd name="adj" fmla="val 20672"/>
              </a:avLst>
            </a:prstGeom>
            <a:solidFill>
              <a:srgbClr val="FDECEA"/>
            </a:solidFill>
            <a:ln w="17145">
              <a:solidFill>
                <a:srgbClr val="B42318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7803832" y="2425065"/>
              <a:ext cx="405765" cy="368618"/>
            </a:xfrm>
            <a:prstGeom prst="roundRect">
              <a:avLst>
                <a:gd name="adj" fmla="val 20672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9264968" y="2425065"/>
              <a:ext cx="405765" cy="368618"/>
            </a:xfrm>
            <a:prstGeom prst="roundRect">
              <a:avLst>
                <a:gd name="adj" fmla="val 20672"/>
              </a:avLst>
            </a:prstGeom>
            <a:solidFill>
              <a:srgbClr val="FDECEA"/>
            </a:solidFill>
            <a:ln w="17145">
              <a:solidFill>
                <a:srgbClr val="B42318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10725150" y="2425065"/>
              <a:ext cx="405765" cy="368618"/>
            </a:xfrm>
            <a:prstGeom prst="roundRect">
              <a:avLst>
                <a:gd name="adj" fmla="val 20672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8001952" y="1701165"/>
              <a:ext cx="1469708" cy="368618"/>
            </a:xfrm>
            <a:prstGeom prst="roundRect">
              <a:avLst>
                <a:gd name="adj" fmla="val 20672"/>
              </a:avLst>
            </a:prstGeom>
            <a:solidFill>
              <a:srgbClr val="2F4B9A"/>
            </a:solidFill>
            <a:ln w="17145">
              <a:solidFill>
                <a:srgbClr val="2F4B9A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436353" y="2544128"/>
              <a:ext cx="2184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j=1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355917" y="2848451"/>
              <a:ext cx="37932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failure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897488" y="2544128"/>
              <a:ext cx="2184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j=2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789455" y="2848451"/>
              <a:ext cx="43452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success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358623" y="2544128"/>
              <a:ext cx="2184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j=3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278187" y="2848451"/>
              <a:ext cx="37932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failure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0818806" y="2544128"/>
              <a:ext cx="2184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j=4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0710772" y="2848451"/>
              <a:ext cx="43452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success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054437" y="1820228"/>
              <a:ext cx="136569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 = 3：choice(1:4)</a:t>
              </a:r>
            </a:p>
          </p:txBody>
        </p:sp>
      </p:grpSp>
      <p:grpSp>
        <p:nvGrpSpPr>
          <p:cNvPr id="55" name="c2-callout-2"/>
          <p:cNvGrpSpPr/>
          <p:nvPr/>
        </p:nvGrpSpPr>
        <p:grpSpPr>
          <a:xfrm>
            <a:off x="5815965" y="3312795"/>
            <a:ext cx="5842635" cy="481012"/>
            <a:chOff x="5815965" y="3312795"/>
            <a:chExt cx="5842635" cy="481012"/>
          </a:xfrm>
        </p:grpSpPr>
        <p:sp>
          <p:nvSpPr>
            <p:cNvPr id="50" name="Rectangle 50"/>
            <p:cNvSpPr/>
            <p:nvPr/>
          </p:nvSpPr>
          <p:spPr>
            <a:xfrm>
              <a:off x="5815965" y="3312795"/>
              <a:ext cx="5842635" cy="481012"/>
            </a:xfrm>
            <a:prstGeom prst="roundRect">
              <a:avLst>
                <a:gd name="adj" fmla="val 23762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6020753" y="3453765"/>
              <a:ext cx="200026" cy="200026"/>
              <a:chOff x="6020753" y="3453765"/>
              <a:chExt cx="200026" cy="200026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6020753" y="345376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6087428" y="3531553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6323457" y="3459480"/>
              <a:ext cx="48033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A = (7, 3, 9, 3)，X = 3：有选择导致 success，输出 1。</a:t>
              </a:r>
            </a:p>
          </p:txBody>
        </p:sp>
      </p:grpSp>
      <p:grpSp>
        <p:nvGrpSpPr>
          <p:cNvPr id="74" name="c2-tree-3"/>
          <p:cNvGrpSpPr/>
          <p:nvPr/>
        </p:nvGrpSpPr>
        <p:grpSpPr>
          <a:xfrm>
            <a:off x="6343650" y="4141470"/>
            <a:ext cx="4787265" cy="1308259"/>
            <a:chOff x="6343650" y="4141470"/>
            <a:chExt cx="4787265" cy="1308259"/>
          </a:xfrm>
        </p:grpSpPr>
        <p:sp>
          <p:nvSpPr>
            <p:cNvPr id="56" name="Freeform 56"/>
            <p:cNvSpPr/>
            <p:nvPr/>
          </p:nvSpPr>
          <p:spPr>
            <a:xfrm>
              <a:off x="6545580" y="4326255"/>
              <a:ext cx="2191702" cy="723900"/>
            </a:xfrm>
            <a:custGeom>
              <a:avLst/>
              <a:gdLst/>
              <a:ahLst/>
              <a:cxnLst/>
              <a:rect l="l" t="t" r="r" b="b"/>
              <a:pathLst>
                <a:path w="2191702" h="723900">
                  <a:moveTo>
                    <a:pt x="2191702" y="0"/>
                  </a:moveTo>
                  <a:lnTo>
                    <a:pt x="0" y="7239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57" name="Freeform 57"/>
            <p:cNvSpPr/>
            <p:nvPr/>
          </p:nvSpPr>
          <p:spPr>
            <a:xfrm>
              <a:off x="8006715" y="4326255"/>
              <a:ext cx="730567" cy="723900"/>
            </a:xfrm>
            <a:custGeom>
              <a:avLst/>
              <a:gdLst/>
              <a:ahLst/>
              <a:cxnLst/>
              <a:rect l="l" t="t" r="r" b="b"/>
              <a:pathLst>
                <a:path w="730567" h="723900">
                  <a:moveTo>
                    <a:pt x="730567" y="0"/>
                  </a:moveTo>
                  <a:lnTo>
                    <a:pt x="0" y="7239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58" name="Freeform 58"/>
            <p:cNvSpPr/>
            <p:nvPr/>
          </p:nvSpPr>
          <p:spPr>
            <a:xfrm>
              <a:off x="8737282" y="4326255"/>
              <a:ext cx="730568" cy="723900"/>
            </a:xfrm>
            <a:custGeom>
              <a:avLst/>
              <a:gdLst/>
              <a:ahLst/>
              <a:cxnLst/>
              <a:rect l="l" t="t" r="r" b="b"/>
              <a:pathLst>
                <a:path w="730568" h="723900">
                  <a:moveTo>
                    <a:pt x="0" y="0"/>
                  </a:moveTo>
                  <a:lnTo>
                    <a:pt x="730568" y="7239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59" name="Freeform 59"/>
            <p:cNvSpPr/>
            <p:nvPr/>
          </p:nvSpPr>
          <p:spPr>
            <a:xfrm>
              <a:off x="8737282" y="4326255"/>
              <a:ext cx="2190750" cy="723900"/>
            </a:xfrm>
            <a:custGeom>
              <a:avLst/>
              <a:gdLst/>
              <a:ahLst/>
              <a:cxnLst/>
              <a:rect l="l" t="t" r="r" b="b"/>
              <a:pathLst>
                <a:path w="2190750" h="723900">
                  <a:moveTo>
                    <a:pt x="0" y="0"/>
                  </a:moveTo>
                  <a:lnTo>
                    <a:pt x="2190750" y="7239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6343650" y="4865370"/>
              <a:ext cx="405765" cy="368618"/>
            </a:xfrm>
            <a:prstGeom prst="roundRect">
              <a:avLst>
                <a:gd name="adj" fmla="val 20672"/>
              </a:avLst>
            </a:prstGeom>
            <a:solidFill>
              <a:srgbClr val="FDECEA"/>
            </a:solidFill>
            <a:ln w="17145">
              <a:solidFill>
                <a:srgbClr val="B42318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7803832" y="4865370"/>
              <a:ext cx="405765" cy="368618"/>
            </a:xfrm>
            <a:prstGeom prst="roundRect">
              <a:avLst>
                <a:gd name="adj" fmla="val 20672"/>
              </a:avLst>
            </a:prstGeom>
            <a:solidFill>
              <a:srgbClr val="FDECEA"/>
            </a:solidFill>
            <a:ln w="17145">
              <a:solidFill>
                <a:srgbClr val="B42318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9264968" y="4865370"/>
              <a:ext cx="405765" cy="368618"/>
            </a:xfrm>
            <a:prstGeom prst="roundRect">
              <a:avLst>
                <a:gd name="adj" fmla="val 20672"/>
              </a:avLst>
            </a:prstGeom>
            <a:solidFill>
              <a:srgbClr val="FDECEA"/>
            </a:solidFill>
            <a:ln w="17145">
              <a:solidFill>
                <a:srgbClr val="B42318"/>
              </a:solidFill>
            </a:ln>
          </p:spPr>
        </p:sp>
        <p:sp>
          <p:nvSpPr>
            <p:cNvPr id="63" name="Rectangle 63"/>
            <p:cNvSpPr/>
            <p:nvPr/>
          </p:nvSpPr>
          <p:spPr>
            <a:xfrm>
              <a:off x="10725150" y="4865370"/>
              <a:ext cx="405765" cy="368618"/>
            </a:xfrm>
            <a:prstGeom prst="roundRect">
              <a:avLst>
                <a:gd name="adj" fmla="val 20672"/>
              </a:avLst>
            </a:prstGeom>
            <a:solidFill>
              <a:srgbClr val="FDECEA"/>
            </a:solidFill>
            <a:ln w="17145">
              <a:solidFill>
                <a:srgbClr val="B42318"/>
              </a:solidFill>
            </a:ln>
          </p:spPr>
        </p:sp>
        <p:sp>
          <p:nvSpPr>
            <p:cNvPr id="64" name="Rectangle 64"/>
            <p:cNvSpPr/>
            <p:nvPr/>
          </p:nvSpPr>
          <p:spPr>
            <a:xfrm>
              <a:off x="8001952" y="4141470"/>
              <a:ext cx="1469708" cy="368618"/>
            </a:xfrm>
            <a:prstGeom prst="roundRect">
              <a:avLst>
                <a:gd name="adj" fmla="val 20672"/>
              </a:avLst>
            </a:prstGeom>
            <a:solidFill>
              <a:srgbClr val="2F4B9A"/>
            </a:solidFill>
            <a:ln w="17145">
              <a:solidFill>
                <a:srgbClr val="2F4B9A"/>
              </a:solidFill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436353" y="4984433"/>
              <a:ext cx="2184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j=1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6355917" y="5287804"/>
              <a:ext cx="37932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failure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897488" y="4984433"/>
              <a:ext cx="2184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j=2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7817052" y="5287804"/>
              <a:ext cx="37932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failure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9358623" y="4984433"/>
              <a:ext cx="2184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j=3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9278187" y="5287804"/>
              <a:ext cx="37932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failure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0818806" y="4984433"/>
              <a:ext cx="2184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j=4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0738369" y="5287804"/>
              <a:ext cx="37932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failure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8054437" y="4260532"/>
              <a:ext cx="136569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 = 5：choice(1:4)</a:t>
              </a:r>
            </a:p>
          </p:txBody>
        </p:sp>
      </p:grpSp>
      <p:grpSp>
        <p:nvGrpSpPr>
          <p:cNvPr id="81" name="c2-callout-4"/>
          <p:cNvGrpSpPr/>
          <p:nvPr/>
        </p:nvGrpSpPr>
        <p:grpSpPr>
          <a:xfrm>
            <a:off x="5815965" y="5753100"/>
            <a:ext cx="5842635" cy="481012"/>
            <a:chOff x="5815965" y="5753100"/>
            <a:chExt cx="5842635" cy="481012"/>
          </a:xfrm>
        </p:grpSpPr>
        <p:sp>
          <p:nvSpPr>
            <p:cNvPr id="75" name="Rectangle 75"/>
            <p:cNvSpPr/>
            <p:nvPr/>
          </p:nvSpPr>
          <p:spPr>
            <a:xfrm>
              <a:off x="5815965" y="5753100"/>
              <a:ext cx="5842635" cy="481012"/>
            </a:xfrm>
            <a:prstGeom prst="roundRect">
              <a:avLst>
                <a:gd name="adj" fmla="val 2376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79" name="Group 79"/>
            <p:cNvGrpSpPr/>
            <p:nvPr/>
          </p:nvGrpSpPr>
          <p:grpSpPr>
            <a:xfrm>
              <a:off x="6020753" y="5893118"/>
              <a:ext cx="200026" cy="200026"/>
              <a:chOff x="6020753" y="5893118"/>
              <a:chExt cx="200026" cy="200026"/>
            </a:xfrm>
          </p:grpSpPr>
          <p:sp>
            <p:nvSpPr>
              <p:cNvPr id="76" name="Freeform 76"/>
              <p:cNvSpPr/>
              <p:nvPr/>
            </p:nvSpPr>
            <p:spPr>
              <a:xfrm>
                <a:off x="6020753" y="589311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7" name="Freeform 77"/>
              <p:cNvSpPr/>
              <p:nvPr/>
            </p:nvSpPr>
            <p:spPr>
              <a:xfrm>
                <a:off x="6120765" y="595979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8" name="Freeform 78"/>
              <p:cNvSpPr/>
              <p:nvPr/>
            </p:nvSpPr>
            <p:spPr>
              <a:xfrm>
                <a:off x="6109653" y="599313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80" name="TextBox 80"/>
            <p:cNvSpPr txBox="1"/>
            <p:nvPr/>
          </p:nvSpPr>
          <p:spPr>
            <a:xfrm>
              <a:off x="6323457" y="5898833"/>
              <a:ext cx="344443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= 5：所有选择都导致 failure，输出 0。</a:t>
              </a:r>
            </a:p>
          </p:txBody>
        </p:sp>
      </p:grpSp>
      <p:grpSp>
        <p:nvGrpSpPr>
          <p:cNvPr id="8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2" name="TextBox 82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231214" cy="909257"/>
            <a:chOff x="520446" y="342900"/>
            <a:chExt cx="523121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81262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7397" y="407194"/>
              <a:ext cx="2374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第9章 NP 完全 · 不确定的判定问题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23121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最大团判定问题的不确定算法 DCK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4871580" cy="264033"/>
            <a:chOff x="526542" y="1545907"/>
            <a:chExt cx="4871580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48715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问题：图 G 有 n 个顶点，判定 G 中是否存在大小为 k 的团。</a:t>
              </a:r>
            </a:p>
          </p:txBody>
        </p:sp>
      </p:grpSp>
      <p:grpSp>
        <p:nvGrpSpPr>
          <p:cNvPr id="14" name="c1-code-1"/>
          <p:cNvGrpSpPr/>
          <p:nvPr/>
        </p:nvGrpSpPr>
        <p:grpSpPr>
          <a:xfrm>
            <a:off x="533400" y="1928812"/>
            <a:ext cx="5626418" cy="2929890"/>
            <a:chOff x="533400" y="1928812"/>
            <a:chExt cx="5626418" cy="2929890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626418" cy="2929890"/>
            </a:xfrm>
            <a:prstGeom prst="roundRect">
              <a:avLst>
                <a:gd name="adj" fmla="val 325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080736"/>
              <a:ext cx="25140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DCK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52450" y="2907030"/>
              <a:ext cx="5588318" cy="20193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552450" y="3918585"/>
              <a:ext cx="5588318" cy="20193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61035" y="2342674"/>
              <a:ext cx="3019806" cy="24412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0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procedure DCK(G, n, k)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n：顶点数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S ← ∅       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猜出的点集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for i ← 1 to k do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不确定阶段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t ← choice(1:n)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if t ∈ S then failure endif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S ← S ∪ {t}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repeat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for 每一对 i, j ∈ S 且 i ≠ j do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if (i, j) 不是边 then failure endif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repeat      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确定阶段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success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 DCK</a:t>
              </a:r>
            </a:p>
          </p:txBody>
        </p:sp>
      </p:grpSp>
      <p:grpSp>
        <p:nvGrpSpPr>
          <p:cNvPr id="21" name="c1-callout-2"/>
          <p:cNvGrpSpPr/>
          <p:nvPr/>
        </p:nvGrpSpPr>
        <p:grpSpPr>
          <a:xfrm>
            <a:off x="533400" y="5028248"/>
            <a:ext cx="5626418" cy="978218"/>
            <a:chOff x="533400" y="5028248"/>
            <a:chExt cx="5626418" cy="978218"/>
          </a:xfrm>
        </p:grpSpPr>
        <p:sp>
          <p:nvSpPr>
            <p:cNvPr id="15" name="Rectangle 15"/>
            <p:cNvSpPr/>
            <p:nvPr/>
          </p:nvSpPr>
          <p:spPr>
            <a:xfrm>
              <a:off x="533400" y="5028248"/>
              <a:ext cx="5626418" cy="978218"/>
            </a:xfrm>
            <a:prstGeom prst="roundRect">
              <a:avLst>
                <a:gd name="adj" fmla="val 11685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9" name="Group 19"/>
            <p:cNvGrpSpPr/>
            <p:nvPr/>
          </p:nvGrpSpPr>
          <p:grpSpPr>
            <a:xfrm>
              <a:off x="738188" y="5417820"/>
              <a:ext cx="200026" cy="200026"/>
              <a:chOff x="738188" y="5417820"/>
              <a:chExt cx="200026" cy="200026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738188" y="541782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838200" y="548449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827088" y="551783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0" name="TextBox 20"/>
            <p:cNvSpPr txBox="1"/>
            <p:nvPr/>
          </p:nvSpPr>
          <p:spPr>
            <a:xfrm>
              <a:off x="1040892" y="5174933"/>
              <a:ext cx="4702874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对比确定算法：逐个检查全部 C(n, k) 个 k 顶点子集，每个子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集查 O(k²) 对顶点，最坏 O(k²·C(n, k))；k 约为 n/2 时是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指数级。</a:t>
              </a:r>
            </a:p>
          </p:txBody>
        </p:sp>
      </p:grpSp>
      <p:grpSp>
        <p:nvGrpSpPr>
          <p:cNvPr id="31" name="c2-card-1"/>
          <p:cNvGrpSpPr/>
          <p:nvPr/>
        </p:nvGrpSpPr>
        <p:grpSpPr>
          <a:xfrm>
            <a:off x="6464618" y="1928812"/>
            <a:ext cx="5193982" cy="1785938"/>
            <a:chOff x="6464618" y="1928812"/>
            <a:chExt cx="5193982" cy="1785938"/>
          </a:xfrm>
        </p:grpSpPr>
        <p:sp>
          <p:nvSpPr>
            <p:cNvPr id="22" name="Rectangle 22"/>
            <p:cNvSpPr/>
            <p:nvPr/>
          </p:nvSpPr>
          <p:spPr>
            <a:xfrm>
              <a:off x="6464618" y="1928812"/>
              <a:ext cx="5193982" cy="1785938"/>
            </a:xfrm>
            <a:prstGeom prst="roundRect">
              <a:avLst>
                <a:gd name="adj" fmla="val 746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6474142" y="2062162"/>
              <a:ext cx="47625" cy="1519238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689408" y="2115502"/>
              <a:ext cx="956310" cy="23812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766827" y="2148364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思路与正确性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82549" y="2459355"/>
              <a:ext cx="449713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猜 k 个互不相同的顶点组成 S，再检查 S 中每两个顶点之间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都有边。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6697980" y="3072765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53999" y="3016568"/>
              <a:ext cx="46713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 有大小为 k 的团 C 时，依次选出 C 的顶点就会 success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6697980" y="3373755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853999" y="3317558"/>
              <a:ext cx="46507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success 时 S 是 k 个两两相邻的不同顶点，正好是一个团</a:t>
              </a:r>
            </a:p>
          </p:txBody>
        </p:sp>
      </p:grpSp>
      <p:grpSp>
        <p:nvGrpSpPr>
          <p:cNvPr id="41" name="c2-card-2"/>
          <p:cNvGrpSpPr/>
          <p:nvPr/>
        </p:nvGrpSpPr>
        <p:grpSpPr>
          <a:xfrm>
            <a:off x="6464618" y="3884295"/>
            <a:ext cx="5193982" cy="2122170"/>
            <a:chOff x="6464618" y="3884295"/>
            <a:chExt cx="5193982" cy="2122170"/>
          </a:xfrm>
        </p:grpSpPr>
        <p:sp>
          <p:nvSpPr>
            <p:cNvPr id="32" name="Rectangle 32"/>
            <p:cNvSpPr/>
            <p:nvPr/>
          </p:nvSpPr>
          <p:spPr>
            <a:xfrm>
              <a:off x="6464618" y="3884295"/>
              <a:ext cx="5193982" cy="2122170"/>
            </a:xfrm>
            <a:prstGeom prst="roundRect">
              <a:avLst>
                <a:gd name="adj" fmla="val 6284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6651308" y="407098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743979" y="410384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时间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6659880" y="4471988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815899" y="4415790"/>
              <a:ext cx="402564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不确定阶段 O(k)：S 用布尔数组表示，判断 t ∈ S 为</a:t>
              </a:r>
              <a:br/>
              <a:r>
                <a:rPr lang="en-US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O(1)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6659880" y="5029200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815899" y="4973002"/>
              <a:ext cx="35106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确定阶段 O(k²)：检查 k(k−1) 个有序点对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6659880" y="5329238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815899" y="5273040"/>
              <a:ext cx="299030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合计 O(k + k²)，由 k ≤ n 得 </a:t>
              </a:r>
              <a:r>
                <a:rPr lang="en-US" sz="135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O(n²)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2" name="TextBox 42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368802" cy="909257"/>
            <a:chOff x="520446" y="342900"/>
            <a:chExt cx="836880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81262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7397" y="407194"/>
              <a:ext cx="2374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第9章 NP 完全 · 不确定的判定问题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36880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DCK 执行示例：同一个图，k = 3 输出 1，k = 4 输出 0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3" name="c1-graph-1"/>
          <p:cNvGrpSpPr/>
          <p:nvPr/>
        </p:nvGrpSpPr>
        <p:grpSpPr>
          <a:xfrm>
            <a:off x="848678" y="1678305"/>
            <a:ext cx="3343274" cy="1890141"/>
            <a:chOff x="848678" y="1678305"/>
            <a:chExt cx="3343274" cy="1890141"/>
          </a:xfrm>
        </p:grpSpPr>
        <p:sp>
          <p:nvSpPr>
            <p:cNvPr id="7" name="Freeform 7"/>
            <p:cNvSpPr/>
            <p:nvPr/>
          </p:nvSpPr>
          <p:spPr>
            <a:xfrm>
              <a:off x="1132522" y="1925955"/>
              <a:ext cx="827722" cy="598170"/>
            </a:xfrm>
            <a:custGeom>
              <a:avLst/>
              <a:gdLst/>
              <a:ahLst/>
              <a:cxnLst/>
              <a:rect l="l" t="t" r="r" b="b"/>
              <a:pathLst>
                <a:path w="827722" h="598170">
                  <a:moveTo>
                    <a:pt x="0" y="598170"/>
                  </a:moveTo>
                  <a:lnTo>
                    <a:pt x="82772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1132522" y="2714625"/>
              <a:ext cx="827722" cy="598170"/>
            </a:xfrm>
            <a:custGeom>
              <a:avLst/>
              <a:gdLst/>
              <a:ahLst/>
              <a:cxnLst/>
              <a:rect l="l" t="t" r="r" b="b"/>
              <a:pathLst>
                <a:path w="827722" h="598170">
                  <a:moveTo>
                    <a:pt x="0" y="0"/>
                  </a:moveTo>
                  <a:lnTo>
                    <a:pt x="827722" y="59817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2091690" y="1992630"/>
              <a:ext cx="9525" cy="1253490"/>
            </a:xfrm>
            <a:custGeom>
              <a:avLst/>
              <a:gdLst/>
              <a:ahLst/>
              <a:cxnLst/>
              <a:rect l="l" t="t" r="r" b="b"/>
              <a:pathLst>
                <a:path w="9525" h="1253490">
                  <a:moveTo>
                    <a:pt x="0" y="0"/>
                  </a:moveTo>
                  <a:lnTo>
                    <a:pt x="0" y="1253490"/>
                  </a:lnTo>
                </a:path>
              </a:pathLst>
            </a:custGeom>
            <a:noFill/>
            <a:ln w="28575">
              <a:solidFill>
                <a:srgbClr val="F26B3A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219325" y="1929765"/>
              <a:ext cx="757238" cy="590550"/>
            </a:xfrm>
            <a:custGeom>
              <a:avLst/>
              <a:gdLst/>
              <a:ahLst/>
              <a:cxnLst/>
              <a:rect l="l" t="t" r="r" b="b"/>
              <a:pathLst>
                <a:path w="757238" h="590550">
                  <a:moveTo>
                    <a:pt x="0" y="0"/>
                  </a:moveTo>
                  <a:lnTo>
                    <a:pt x="757238" y="590550"/>
                  </a:lnTo>
                </a:path>
              </a:pathLst>
            </a:custGeom>
            <a:noFill/>
            <a:ln w="28575">
              <a:solidFill>
                <a:srgbClr val="F26B3A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2219325" y="2718435"/>
              <a:ext cx="757238" cy="590550"/>
            </a:xfrm>
            <a:custGeom>
              <a:avLst/>
              <a:gdLst/>
              <a:ahLst/>
              <a:cxnLst/>
              <a:rect l="l" t="t" r="r" b="b"/>
              <a:pathLst>
                <a:path w="757238" h="590550">
                  <a:moveTo>
                    <a:pt x="0" y="590550"/>
                  </a:moveTo>
                  <a:lnTo>
                    <a:pt x="757238" y="0"/>
                  </a:lnTo>
                </a:path>
              </a:pathLst>
            </a:custGeom>
            <a:noFill/>
            <a:ln w="28575">
              <a:solidFill>
                <a:srgbClr val="F26B3A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266122" y="2619375"/>
              <a:ext cx="611505" cy="9525"/>
            </a:xfrm>
            <a:custGeom>
              <a:avLst/>
              <a:gdLst/>
              <a:ahLst/>
              <a:cxnLst/>
              <a:rect l="l" t="t" r="r" b="b"/>
              <a:pathLst>
                <a:path w="611505" h="9525">
                  <a:moveTo>
                    <a:pt x="0" y="0"/>
                  </a:moveTo>
                  <a:lnTo>
                    <a:pt x="61150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3" name="Ellipse 13"/>
            <p:cNvSpPr/>
            <p:nvPr/>
          </p:nvSpPr>
          <p:spPr>
            <a:xfrm>
              <a:off x="848678" y="2466975"/>
              <a:ext cx="304800" cy="3048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14" name="Ellipse 14"/>
            <p:cNvSpPr/>
            <p:nvPr/>
          </p:nvSpPr>
          <p:spPr>
            <a:xfrm>
              <a:off x="1939290" y="1678305"/>
              <a:ext cx="304800" cy="304800"/>
            </a:xfrm>
            <a:prstGeom prst="ellipse">
              <a:avLst/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15" name="Ellipse 15"/>
            <p:cNvSpPr/>
            <p:nvPr/>
          </p:nvSpPr>
          <p:spPr>
            <a:xfrm>
              <a:off x="1939290" y="3255645"/>
              <a:ext cx="304800" cy="304800"/>
            </a:xfrm>
            <a:prstGeom prst="ellipse">
              <a:avLst/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2951798" y="2466975"/>
              <a:ext cx="304800" cy="304800"/>
            </a:xfrm>
            <a:prstGeom prst="ellipse">
              <a:avLst/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17" name="Ellipse 17"/>
            <p:cNvSpPr/>
            <p:nvPr/>
          </p:nvSpPr>
          <p:spPr>
            <a:xfrm>
              <a:off x="3887152" y="2466975"/>
              <a:ext cx="304800" cy="3048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48336" y="254508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038948" y="175641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038948" y="333375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051456" y="254508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986811" y="254508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  <p:grpSp>
        <p:nvGrpSpPr>
          <p:cNvPr id="30" name="c1-card-2"/>
          <p:cNvGrpSpPr/>
          <p:nvPr/>
        </p:nvGrpSpPr>
        <p:grpSpPr>
          <a:xfrm>
            <a:off x="533400" y="3905250"/>
            <a:ext cx="3895725" cy="1847850"/>
            <a:chOff x="533400" y="3905250"/>
            <a:chExt cx="3895725" cy="1847850"/>
          </a:xfrm>
        </p:grpSpPr>
        <p:sp>
          <p:nvSpPr>
            <p:cNvPr id="24" name="Rectangle 24"/>
            <p:cNvSpPr/>
            <p:nvPr/>
          </p:nvSpPr>
          <p:spPr>
            <a:xfrm>
              <a:off x="533400" y="3905250"/>
              <a:ext cx="3895725" cy="1847850"/>
            </a:xfrm>
            <a:prstGeom prst="roundRect">
              <a:avLst>
                <a:gd name="adj" fmla="val 72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542925" y="4038600"/>
              <a:ext cx="47625" cy="158115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781050" y="4114800"/>
              <a:ext cx="47910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67934" y="4150519"/>
              <a:ext cx="3043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图 G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73430" y="4491990"/>
              <a:ext cx="27012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= 5，边：(1,2) (1,3) (2,3)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(2,4) (3,4) (4,5)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74573" y="5109686"/>
              <a:ext cx="3191002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橙色三角形是大小为 3 的团 {2, 3, 4}；{1,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2, 3} 也是。</a:t>
              </a:r>
            </a:p>
          </p:txBody>
        </p:sp>
      </p:grpSp>
      <p:grpSp>
        <p:nvGrpSpPr>
          <p:cNvPr id="61" name="c2-table-1"/>
          <p:cNvGrpSpPr/>
          <p:nvPr/>
        </p:nvGrpSpPr>
        <p:grpSpPr>
          <a:xfrm>
            <a:off x="4733925" y="1524000"/>
            <a:ext cx="6924675" cy="2924175"/>
            <a:chOff x="4733925" y="1524000"/>
            <a:chExt cx="6924675" cy="2924175"/>
          </a:xfrm>
        </p:grpSpPr>
        <p:sp>
          <p:nvSpPr>
            <p:cNvPr id="31" name="Rectangle 31"/>
            <p:cNvSpPr/>
            <p:nvPr/>
          </p:nvSpPr>
          <p:spPr>
            <a:xfrm>
              <a:off x="4733925" y="1524000"/>
              <a:ext cx="6924675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528189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调用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598336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一组选择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77947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验证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75305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841748" y="2108359"/>
              <a:ext cx="11790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DCK(G, 5, 3)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507871" y="2108359"/>
              <a:ext cx="88313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 = 2, 3, 4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819263" y="2108359"/>
              <a:ext cx="21065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(2,3) (2,4) (3,4) 都是边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0311955" y="2108359"/>
              <a:ext cx="7095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success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4733925" y="2416492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4733925" y="2421255"/>
              <a:ext cx="692467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4841748" y="2556986"/>
              <a:ext cx="11790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DCK(G, 5, 3)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507871" y="2556986"/>
              <a:ext cx="88313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 = 1, 2, 4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819263" y="2556986"/>
              <a:ext cx="105545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(1,4) 不是边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0311955" y="2556986"/>
              <a:ext cx="6190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failure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4733925" y="2866072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4841748" y="3005614"/>
              <a:ext cx="11790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DCK(G, 5, 3)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507871" y="3005614"/>
              <a:ext cx="88313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 = 2, 2, …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819263" y="3005614"/>
              <a:ext cx="182484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2 次选的 2 已在 S 中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311955" y="3005614"/>
              <a:ext cx="6190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failure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4733925" y="3314700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4733925" y="3319462"/>
              <a:ext cx="6924675" cy="112871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4841748" y="3794284"/>
              <a:ext cx="11790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DCK(G, 5, 4)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361811" y="3680936"/>
              <a:ext cx="1175258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任意 4 个不同顶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点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819263" y="3454241"/>
              <a:ext cx="2175002" cy="929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 种四点组合都缺边：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{1,2,3,4} 缺 (1,4)，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{2,3,4,5} 缺 (2,5)，其余含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顶点 1 和 4 或 1 和 5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0311955" y="3794284"/>
              <a:ext cx="10179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全部 failure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4733925" y="1524000"/>
              <a:ext cx="6924675" cy="292417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6182678" y="1524000"/>
              <a:ext cx="9525" cy="29241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7706678" y="1524000"/>
              <a:ext cx="9525" cy="29241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10199370" y="1524000"/>
              <a:ext cx="9525" cy="29241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7" name="c2-callout-2"/>
          <p:cNvGrpSpPr/>
          <p:nvPr/>
        </p:nvGrpSpPr>
        <p:grpSpPr>
          <a:xfrm>
            <a:off x="4733925" y="4638675"/>
            <a:ext cx="6924675" cy="1059180"/>
            <a:chOff x="4733925" y="4638675"/>
            <a:chExt cx="6924675" cy="1059180"/>
          </a:xfrm>
        </p:grpSpPr>
        <p:sp>
          <p:nvSpPr>
            <p:cNvPr id="62" name="Rectangle 62"/>
            <p:cNvSpPr/>
            <p:nvPr/>
          </p:nvSpPr>
          <p:spPr>
            <a:xfrm>
              <a:off x="4733925" y="4638675"/>
              <a:ext cx="6924675" cy="1059180"/>
            </a:xfrm>
            <a:prstGeom prst="roundRect">
              <a:avLst>
                <a:gd name="adj" fmla="val 10791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65" name="Group 65"/>
            <p:cNvGrpSpPr/>
            <p:nvPr/>
          </p:nvGrpSpPr>
          <p:grpSpPr>
            <a:xfrm>
              <a:off x="4938713" y="5068255"/>
              <a:ext cx="200023" cy="200023"/>
              <a:chOff x="4938713" y="5068255"/>
              <a:chExt cx="200023" cy="200023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4938713" y="506825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5072063" y="513492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6" name="TextBox 66"/>
            <p:cNvSpPr txBox="1"/>
            <p:nvPr/>
          </p:nvSpPr>
          <p:spPr>
            <a:xfrm>
              <a:off x="5240655" y="4787265"/>
              <a:ext cx="57683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DCK(G, 5, 3) 存在导致 success 的选择，输出 1；DCK(G, 5, 4) 的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5⁴ = 625 种选择序列没有一种成功，输出 0。所以 G 的最大团大小为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3。</a:t>
              </a:r>
            </a:p>
          </p:txBody>
        </p:sp>
      </p:grpSp>
      <p:grpSp>
        <p:nvGrpSpPr>
          <p:cNvPr id="7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8" name="TextBox 68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81262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7397" y="407194"/>
              <a:ext cx="2374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第9章 NP 完全 · 不确定的判定问题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问题规模按二进制输入长度计算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0863682" cy="308039"/>
            <a:chOff x="525399" y="1550194"/>
            <a:chExt cx="10863682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086368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为统一度量不同判定问题的算法时间，把算法的输入参数都转换成二进制形式，时间复杂度按二进制输入长度考虑。</a:t>
              </a:r>
            </a:p>
          </p:txBody>
        </p:sp>
      </p:grpSp>
      <p:grpSp>
        <p:nvGrpSpPr>
          <p:cNvPr id="24" name="c1-card-1"/>
          <p:cNvGrpSpPr/>
          <p:nvPr/>
        </p:nvGrpSpPr>
        <p:grpSpPr>
          <a:xfrm>
            <a:off x="533400" y="1967865"/>
            <a:ext cx="5951220" cy="3798570"/>
            <a:chOff x="533400" y="1967865"/>
            <a:chExt cx="5951220" cy="3798570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5951220" cy="3798570"/>
            </a:xfrm>
            <a:prstGeom prst="roundRect">
              <a:avLst>
                <a:gd name="adj" fmla="val 351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101215"/>
              <a:ext cx="47625" cy="3531870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81050" y="2177415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76160" y="221313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239202" y="2212658"/>
              <a:ext cx="373135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最大团判定 DCK(G, n, k) 的输入长度 m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73430" y="2573655"/>
              <a:ext cx="478040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 用二进制邻接矩阵表示，n 是顶点数，k 是判定值：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formula7"/>
                <p:cNvSpPr txBox="1">
                  <a:spLocks noGrp="1"/>
                </p:cNvSpPr>
                <p:nvPr/>
              </p:nvSpPr>
              <p:spPr>
                <a:xfrm>
                  <a:off x="781050" y="2884170"/>
                  <a:ext cx="5494020" cy="45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m</m:t>
                        </m:r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p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e>
                          <m:sup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d>
                          <m:dPr>
                            <m:begChr m:val="⌊"/>
                            <m:sepChr m:val=""/>
                            <m:endChr m:val="⌋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func>
                              <m:funcPr/>
                              <m:fName>
                                <m:sSub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log</m:t>
                                    </m:r>
                                  </m:e>
                                  <m:sub>
                                    <m: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b>
                                </m:sSub>
                              </m:fName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e>
                            </m:func>
                          </m:e>
                        </m:d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d>
                          <m:dPr>
                            <m:begChr m:val="⌊"/>
                            <m:sepChr m:val=""/>
                            <m:endChr m:val="⌋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func>
                              <m:funcPr/>
                              <m:fName>
                                <m:sSub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log</m:t>
                                    </m:r>
                                  </m:e>
                                  <m:sub>
                                    <m: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b>
                                </m:sSub>
                              </m:fName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e>
                            </m:func>
                          </m:e>
                        </m:d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2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6" name="TextBox 16"/>
            <p:cNvSpPr txBox="1"/>
            <p:nvPr/>
          </p:nvSpPr>
          <p:spPr>
            <a:xfrm>
              <a:off x="773430" y="3461385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n²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264092" y="3461385"/>
              <a:ext cx="22667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邻接矩阵，每个元素 1 位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81050" y="3781425"/>
              <a:ext cx="54940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73430" y="3901440"/>
              <a:ext cx="1138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⌊log₂k⌋ + 1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264092" y="3901440"/>
              <a:ext cx="24686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待判定的顶点个数 k 的位数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81050" y="4221480"/>
              <a:ext cx="54940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73430" y="4341495"/>
              <a:ext cx="1138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⌊log₂n⌋ + 1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264092" y="4341495"/>
              <a:ext cx="16609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顶点个数 n 的位数</a:t>
              </a:r>
            </a:p>
          </p:txBody>
        </p:sp>
      </p:grpSp>
      <p:grpSp>
        <p:nvGrpSpPr>
          <p:cNvPr id="48" name="c2-card-1"/>
          <p:cNvGrpSpPr/>
          <p:nvPr/>
        </p:nvGrpSpPr>
        <p:grpSpPr>
          <a:xfrm>
            <a:off x="6789420" y="1967865"/>
            <a:ext cx="4869180" cy="2825115"/>
            <a:chOff x="6789420" y="1967865"/>
            <a:chExt cx="4869180" cy="2825115"/>
          </a:xfrm>
        </p:grpSpPr>
        <p:sp>
          <p:nvSpPr>
            <p:cNvPr id="25" name="Rectangle 25"/>
            <p:cNvSpPr/>
            <p:nvPr/>
          </p:nvSpPr>
          <p:spPr>
            <a:xfrm>
              <a:off x="6789420" y="1967865"/>
              <a:ext cx="4869180" cy="2825115"/>
            </a:xfrm>
            <a:prstGeom prst="roundRect">
              <a:avLst>
                <a:gd name="adj" fmla="val 472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798945" y="2101215"/>
              <a:ext cx="47625" cy="255841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7037070" y="217741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119379" y="221313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代入数字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921942" y="2212658"/>
              <a:ext cx="23828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上一页的图，n = 5，k = 3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030593" y="267890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264718" y="2548890"/>
              <a:ext cx="419100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418035" y="267890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7683818" y="2548890"/>
              <a:ext cx="419100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837135" y="267890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030593" y="326945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264718" y="3139440"/>
              <a:ext cx="419100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418035" y="326945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83818" y="3139440"/>
              <a:ext cx="419100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837135" y="326945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02918" y="3139440"/>
              <a:ext cx="419100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256235" y="326945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7042785" y="374142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200900" y="3678555"/>
              <a:ext cx="205473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邻接矩阵 5 × 5 = 25 位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7042785" y="407670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200900" y="4013835"/>
              <a:ext cx="396297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 = 3 = (11)₂，2 位；n = 5 = (101)₂，3 位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7042785" y="441198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200900" y="4349115"/>
              <a:ext cx="211632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m = 25 + 1 + 2 + 2 =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  <p:grpSp>
        <p:nvGrpSpPr>
          <p:cNvPr id="54" name="c2-callout-2"/>
          <p:cNvGrpSpPr/>
          <p:nvPr/>
        </p:nvGrpSpPr>
        <p:grpSpPr>
          <a:xfrm>
            <a:off x="6789420" y="4983480"/>
            <a:ext cx="4869180" cy="782955"/>
            <a:chOff x="6789420" y="4983480"/>
            <a:chExt cx="4869180" cy="782955"/>
          </a:xfrm>
        </p:grpSpPr>
        <p:sp>
          <p:nvSpPr>
            <p:cNvPr id="49" name="Rectangle 49"/>
            <p:cNvSpPr/>
            <p:nvPr/>
          </p:nvSpPr>
          <p:spPr>
            <a:xfrm>
              <a:off x="6789420" y="4983480"/>
              <a:ext cx="4869180" cy="782955"/>
            </a:xfrm>
            <a:prstGeom prst="roundRect">
              <a:avLst>
                <a:gd name="adj" fmla="val 14599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52" name="Group 52"/>
            <p:cNvGrpSpPr/>
            <p:nvPr/>
          </p:nvGrpSpPr>
          <p:grpSpPr>
            <a:xfrm>
              <a:off x="6994208" y="5274947"/>
              <a:ext cx="200023" cy="200023"/>
              <a:chOff x="6994208" y="5274947"/>
              <a:chExt cx="200023" cy="200023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6994208" y="527494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7127558" y="534162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3" name="TextBox 53"/>
            <p:cNvSpPr txBox="1"/>
            <p:nvPr/>
          </p:nvSpPr>
          <p:spPr>
            <a:xfrm>
              <a:off x="7296150" y="5132070"/>
              <a:ext cx="37966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由 m ≥ n² 得 DCK 的时间 O(n²) = O(m)，相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对输入长度是线性的。</a:t>
              </a:r>
            </a:p>
          </p:txBody>
        </p:sp>
      </p:grpSp>
      <p:grpSp>
        <p:nvGrpSpPr>
          <p:cNvPr id="5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5" name="TextBox 55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78090" cy="909257"/>
            <a:chOff x="520446" y="342900"/>
            <a:chExt cx="75780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81262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7397" y="407194"/>
              <a:ext cx="2374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第9章 NP 完全 · 不确定的判定问题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780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补充：为什么一定要按输入长度算，伪多项式时间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5626418" cy="3451860"/>
            <a:chOff x="533400" y="1524000"/>
            <a:chExt cx="5626418" cy="345186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3451860"/>
            </a:xfrm>
            <a:prstGeom prst="roundRect">
              <a:avLst>
                <a:gd name="adj" fmla="val 38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318516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335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典型误区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65922" y="1768792"/>
              <a:ext cx="325571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0/1 背包的动态规划是多项式时间吗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6443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6 章 0/1 背包的动态规划表有 n 行、M + 1 列，时间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O(nM)。看起来是 n 和 M 的乘积。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73430" y="2750820"/>
              <a:ext cx="49206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但输入中容量 M 只占约 log₂M 位。M 的位数每增加 1，M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的上限就翻一倍，所以 O(nM) 相对输入长度是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指数级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74573" y="3368516"/>
              <a:ext cx="488975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这种时间关于数值大小是多项式、关于输入长度不是多项式的算法，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称为伪多项式时间算法。</a:t>
              </a:r>
            </a:p>
          </p:txBody>
        </p:sp>
      </p:grpSp>
      <p:grpSp>
        <p:nvGrpSpPr>
          <p:cNvPr id="37" name="c2-table-1"/>
          <p:cNvGrpSpPr/>
          <p:nvPr/>
        </p:nvGrpSpPr>
        <p:grpSpPr>
          <a:xfrm>
            <a:off x="6458902" y="1524000"/>
            <a:ext cx="5199698" cy="2246472"/>
            <a:chOff x="6458902" y="1524000"/>
            <a:chExt cx="5199698" cy="2246472"/>
          </a:xfrm>
        </p:grpSpPr>
        <p:sp>
          <p:nvSpPr>
            <p:cNvPr id="16" name="Rectangle 16"/>
            <p:cNvSpPr/>
            <p:nvPr/>
          </p:nvSpPr>
          <p:spPr>
            <a:xfrm>
              <a:off x="6464618" y="1524000"/>
              <a:ext cx="5193982" cy="48768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881355" y="1663065"/>
              <a:ext cx="65432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容量 M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363445" y="1663065"/>
              <a:ext cx="85625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 的位数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033492" y="1663065"/>
              <a:ext cx="122329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 = 50 时 nM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480659" y="2150745"/>
              <a:ext cx="3650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10³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672894" y="2150745"/>
              <a:ext cx="2373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981372" y="2150745"/>
              <a:ext cx="5705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5×10⁴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464618" y="249459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464618" y="2499360"/>
              <a:ext cx="5193982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480659" y="2638425"/>
              <a:ext cx="3650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10⁶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672894" y="2638425"/>
              <a:ext cx="2373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981372" y="2638425"/>
              <a:ext cx="5705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5×10⁷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464618" y="298227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364044" y="3126105"/>
              <a:ext cx="4816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10¹²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672894" y="3126105"/>
              <a:ext cx="2373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640252" y="2996565"/>
              <a:ext cx="2008822" cy="46863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0870311" y="3126105"/>
              <a:ext cx="68160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5×10¹³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64618" y="1524000"/>
              <a:ext cx="5193982" cy="195072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7947660" y="1524000"/>
              <a:ext cx="9525" cy="19507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9625965" y="1524000"/>
              <a:ext cx="9525" cy="19507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58902" y="3550444"/>
              <a:ext cx="44079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M 的位数从 20 增到 40（输入只多 20 位），表格规模扩大 10⁶ 倍</a:t>
              </a:r>
            </a:p>
          </p:txBody>
        </p:sp>
      </p:grpSp>
      <p:grpSp>
        <p:nvGrpSpPr>
          <p:cNvPr id="44" name="c2-callout-2"/>
          <p:cNvGrpSpPr/>
          <p:nvPr/>
        </p:nvGrpSpPr>
        <p:grpSpPr>
          <a:xfrm>
            <a:off x="6464618" y="3916680"/>
            <a:ext cx="5193982" cy="1059180"/>
            <a:chOff x="6464618" y="3916680"/>
            <a:chExt cx="5193982" cy="1059180"/>
          </a:xfrm>
        </p:grpSpPr>
        <p:sp>
          <p:nvSpPr>
            <p:cNvPr id="38" name="Rectangle 38"/>
            <p:cNvSpPr/>
            <p:nvPr/>
          </p:nvSpPr>
          <p:spPr>
            <a:xfrm>
              <a:off x="6464618" y="3916680"/>
              <a:ext cx="5193982" cy="1059180"/>
            </a:xfrm>
            <a:prstGeom prst="roundRect">
              <a:avLst>
                <a:gd name="adj" fmla="val 1079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2" name="Group 42"/>
            <p:cNvGrpSpPr/>
            <p:nvPr/>
          </p:nvGrpSpPr>
          <p:grpSpPr>
            <a:xfrm>
              <a:off x="6669405" y="4346258"/>
              <a:ext cx="200026" cy="200026"/>
              <a:chOff x="6669405" y="4346258"/>
              <a:chExt cx="200026" cy="200026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6669405" y="434625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6769418" y="44129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6758305" y="444627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3" name="TextBox 43"/>
            <p:cNvSpPr txBox="1"/>
            <p:nvPr/>
          </p:nvSpPr>
          <p:spPr>
            <a:xfrm>
              <a:off x="6971348" y="4065270"/>
              <a:ext cx="421576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DCK 中的数值 k、n 都不超过顶点数，按 n 算和按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 算结论一致；输入里有大数值（容量、目标和）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时，必须按位数分析。</a:t>
              </a:r>
            </a:p>
          </p:txBody>
        </p:sp>
      </p:grpSp>
      <p:grpSp>
        <p:nvGrpSpPr>
          <p:cNvPr id="51" name="takeaway"/>
          <p:cNvGrpSpPr/>
          <p:nvPr/>
        </p:nvGrpSpPr>
        <p:grpSpPr>
          <a:xfrm>
            <a:off x="533400" y="5579745"/>
            <a:ext cx="11125200" cy="782955"/>
            <a:chOff x="533400" y="5579745"/>
            <a:chExt cx="11125200" cy="782955"/>
          </a:xfrm>
        </p:grpSpPr>
        <p:sp>
          <p:nvSpPr>
            <p:cNvPr id="45" name="Rectangle 45"/>
            <p:cNvSpPr/>
            <p:nvPr/>
          </p:nvSpPr>
          <p:spPr>
            <a:xfrm>
              <a:off x="533400" y="5579745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738188" y="5871210"/>
              <a:ext cx="200026" cy="200025"/>
              <a:chOff x="738188" y="5871210"/>
              <a:chExt cx="200026" cy="200025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738188" y="587121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777926" y="591566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812642" y="602678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1040130" y="5728335"/>
              <a:ext cx="98831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判断方法：把运行时间写成输入位数的函数。时间式子里直接出现数值 M（而不是 log M）时，要检查它是不是伪多项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式时间。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2" name="TextBox 52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F4B9A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8EDF8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6334125" cy="3321367"/>
            <a:chOff x="667512" y="1835468"/>
            <a:chExt cx="6334125" cy="332136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023555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P、NP 与归约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6324219" cy="6465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用“确定算法还是不确定算法能在多项式时间内求解”划分判定问题，</a:t>
              </a:r>
              <a:br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再用归约比较难度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421195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4154805"/>
              <a:ext cx="156895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 问题与 NP 问题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56628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50913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归约的定义、例子与直观意义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92061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86346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多项式时间归约及其传递性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713474" cy="909257"/>
            <a:chOff x="520446" y="342900"/>
            <a:chExt cx="271347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0408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1636" y="407194"/>
              <a:ext cx="21076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第9章 NP 完全 · P、NP 与归约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71347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 问题与 NP 问题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410200" cy="1335405"/>
            <a:chOff x="533400" y="1524000"/>
            <a:chExt cx="5410200" cy="13354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335405"/>
            </a:xfrm>
            <a:prstGeom prst="roundRect">
              <a:avLst>
                <a:gd name="adj" fmla="val 998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068705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60952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 问题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所有可在多项式时间内用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确定算法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求解的判定问题的集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合。</a:t>
              </a:r>
            </a:p>
          </p:txBody>
        </p:sp>
      </p:grpSp>
      <p:grpSp>
        <p:nvGrpSpPr>
          <p:cNvPr id="21" name="c1-card-2"/>
          <p:cNvGrpSpPr/>
          <p:nvPr/>
        </p:nvGrpSpPr>
        <p:grpSpPr>
          <a:xfrm>
            <a:off x="533400" y="3049905"/>
            <a:ext cx="5410200" cy="1631632"/>
            <a:chOff x="533400" y="3049905"/>
            <a:chExt cx="5410200" cy="1631632"/>
          </a:xfrm>
        </p:grpSpPr>
        <p:sp>
          <p:nvSpPr>
            <p:cNvPr id="14" name="Rectangle 14"/>
            <p:cNvSpPr/>
            <p:nvPr/>
          </p:nvSpPr>
          <p:spPr>
            <a:xfrm>
              <a:off x="533400" y="3049905"/>
              <a:ext cx="5410200" cy="1631632"/>
            </a:xfrm>
            <a:prstGeom prst="roundRect">
              <a:avLst>
                <a:gd name="adj" fmla="val 817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542925" y="3183255"/>
              <a:ext cx="47625" cy="1364932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81050" y="325945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71258" y="329517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2078" y="3294698"/>
              <a:ext cx="73273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NP 问题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73430" y="3655695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所有可在多项式时间内用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不确定算法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求解的判定问题的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集合。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74573" y="4273391"/>
              <a:ext cx="483773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即能用不确定算法在多项式时间里猜出一个解，并验证这个解。</a:t>
              </a:r>
            </a:p>
          </p:txBody>
        </p:sp>
      </p:grpSp>
      <p:grpSp>
        <p:nvGrpSpPr>
          <p:cNvPr id="30" name="c1-card-3"/>
          <p:cNvGrpSpPr/>
          <p:nvPr/>
        </p:nvGrpSpPr>
        <p:grpSpPr>
          <a:xfrm>
            <a:off x="533400" y="4872038"/>
            <a:ext cx="5410200" cy="1365885"/>
            <a:chOff x="533400" y="4872038"/>
            <a:chExt cx="5410200" cy="1365885"/>
          </a:xfrm>
        </p:grpSpPr>
        <p:sp>
          <p:nvSpPr>
            <p:cNvPr id="22" name="Rectangle 22"/>
            <p:cNvSpPr/>
            <p:nvPr/>
          </p:nvSpPr>
          <p:spPr>
            <a:xfrm>
              <a:off x="533400" y="4872038"/>
              <a:ext cx="5410200" cy="1365885"/>
            </a:xfrm>
            <a:prstGeom prst="roundRect">
              <a:avLst>
                <a:gd name="adj" fmla="val 97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542925" y="5005388"/>
              <a:ext cx="47625" cy="109918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781050" y="5081588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76160" y="511730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786765" y="5521642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44880" y="5458778"/>
              <a:ext cx="329784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最大团判定（DCK，O(n²)）属于 NP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786765" y="5856922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44880" y="5794058"/>
              <a:ext cx="48409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排序、最短路径的判定版本有多项式确定算法，属于 P</a:t>
              </a:r>
            </a:p>
          </p:txBody>
        </p:sp>
      </p:grpSp>
      <p:grpSp>
        <p:nvGrpSpPr>
          <p:cNvPr id="38" name="c2-card-1"/>
          <p:cNvGrpSpPr/>
          <p:nvPr/>
        </p:nvGrpSpPr>
        <p:grpSpPr>
          <a:xfrm>
            <a:off x="6248400" y="1524000"/>
            <a:ext cx="5410200" cy="1917382"/>
            <a:chOff x="6248400" y="1524000"/>
            <a:chExt cx="5410200" cy="1917382"/>
          </a:xfrm>
        </p:grpSpPr>
        <p:sp>
          <p:nvSpPr>
            <p:cNvPr id="31" name="Rectangle 31"/>
            <p:cNvSpPr/>
            <p:nvPr/>
          </p:nvSpPr>
          <p:spPr>
            <a:xfrm>
              <a:off x="6248400" y="1524000"/>
              <a:ext cx="5410200" cy="1917382"/>
            </a:xfrm>
            <a:prstGeom prst="roundRect">
              <a:avLst>
                <a:gd name="adj" fmla="val 695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6257925" y="1657350"/>
              <a:ext cx="47625" cy="1650682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6496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586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定理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097078" y="1768792"/>
              <a:ext cx="64251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 ⊆ NP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88430" y="2129790"/>
              <a:ext cx="461581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确定算法可以看作不确定算法的特例：每个 choice(S)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 S 只有唯一一个元素。所以多项式时间的确定算法也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是多项式时间的不确定算法，P ⊆ NP 成立。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89573" y="3033236"/>
              <a:ext cx="291952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但至今不能确定 P = NP 还是 P ≠ NP。</a:t>
              </a:r>
            </a:p>
          </p:txBody>
        </p:sp>
      </p:grpSp>
      <p:grpSp>
        <p:nvGrpSpPr>
          <p:cNvPr id="44" name="c2-card-2"/>
          <p:cNvGrpSpPr/>
          <p:nvPr/>
        </p:nvGrpSpPr>
        <p:grpSpPr>
          <a:xfrm>
            <a:off x="6248400" y="3631882"/>
            <a:ext cx="5410200" cy="2606040"/>
            <a:chOff x="6248400" y="3631882"/>
            <a:chExt cx="5410200" cy="2606040"/>
          </a:xfrm>
        </p:grpSpPr>
        <p:sp>
          <p:nvSpPr>
            <p:cNvPr id="39" name="Rectangle 39"/>
            <p:cNvSpPr/>
            <p:nvPr/>
          </p:nvSpPr>
          <p:spPr>
            <a:xfrm>
              <a:off x="6248400" y="3631882"/>
              <a:ext cx="5410200" cy="2606040"/>
            </a:xfrm>
            <a:prstGeom prst="roundRect">
              <a:avLst>
                <a:gd name="adj" fmla="val 511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6257925" y="3765232"/>
              <a:ext cx="47625" cy="233934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496050" y="3841432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586258" y="387715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488430" y="4218622"/>
              <a:ext cx="4644390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原课件备注写作“NP ≠ 非 P 问题……因此 NP ⊂ 非 P 问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题”。后半句与 P ⊆ NP 矛盾：P 中的问题都属于 NP，NP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不是非 P 问题的子集。NP 中的 N 指 Nondeterministic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（不确定），不表示“非”。</a:t>
              </a:r>
            </a:p>
          </p:txBody>
        </p:sp>
      </p:grpSp>
      <p:grpSp>
        <p:nvGrpSpPr>
          <p:cNvPr id="4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5" name="TextBox 45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833851" cy="909257"/>
            <a:chOff x="520446" y="342900"/>
            <a:chExt cx="883385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0408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1636" y="407194"/>
              <a:ext cx="21076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第9章 NP 完全 · P、NP 与归约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83385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归约：把 L₁ 的输入转换成 L₂ 的输入，借 L₂ 的算法回答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9609155" cy="308039"/>
            <a:chOff x="525399" y="1550194"/>
            <a:chExt cx="9609155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960915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不同 NP 问题的难度不同，用归约表示它们之间的难度关系。L₁ 归约到 L₂ 记作 L₁ ≤ L₂ 或 L₁ ∝ L₂。</a:t>
              </a:r>
            </a:p>
          </p:txBody>
        </p:sp>
      </p:grpSp>
      <p:grpSp>
        <p:nvGrpSpPr>
          <p:cNvPr id="27" name="c1-flow-1"/>
          <p:cNvGrpSpPr/>
          <p:nvPr/>
        </p:nvGrpSpPr>
        <p:grpSpPr>
          <a:xfrm>
            <a:off x="836295" y="2187892"/>
            <a:ext cx="3722370" cy="3954780"/>
            <a:chOff x="836295" y="2187892"/>
            <a:chExt cx="3722370" cy="3954780"/>
          </a:xfrm>
        </p:grpSpPr>
        <p:sp>
          <p:nvSpPr>
            <p:cNvPr id="9" name="Freeform 9"/>
            <p:cNvSpPr/>
            <p:nvPr/>
          </p:nvSpPr>
          <p:spPr>
            <a:xfrm>
              <a:off x="2697480" y="2626042"/>
              <a:ext cx="9525" cy="336233"/>
            </a:xfrm>
            <a:custGeom>
              <a:avLst/>
              <a:gdLst/>
              <a:ahLst/>
              <a:cxnLst/>
              <a:rect l="l" t="t" r="r" b="b"/>
              <a:pathLst>
                <a:path w="9525" h="336233">
                  <a:moveTo>
                    <a:pt x="0" y="0"/>
                  </a:moveTo>
                  <a:lnTo>
                    <a:pt x="0" y="33623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645092" y="296227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697480" y="3505200"/>
              <a:ext cx="9525" cy="336233"/>
            </a:xfrm>
            <a:custGeom>
              <a:avLst/>
              <a:gdLst/>
              <a:ahLst/>
              <a:cxnLst/>
              <a:rect l="l" t="t" r="r" b="b"/>
              <a:pathLst>
                <a:path w="9525" h="336233">
                  <a:moveTo>
                    <a:pt x="0" y="0"/>
                  </a:moveTo>
                  <a:lnTo>
                    <a:pt x="0" y="33623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2645092" y="384143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2697480" y="4384358"/>
              <a:ext cx="9525" cy="336233"/>
            </a:xfrm>
            <a:custGeom>
              <a:avLst/>
              <a:gdLst/>
              <a:ahLst/>
              <a:cxnLst/>
              <a:rect l="l" t="t" r="r" b="b"/>
              <a:pathLst>
                <a:path w="9525" h="336233">
                  <a:moveTo>
                    <a:pt x="0" y="0"/>
                  </a:moveTo>
                  <a:lnTo>
                    <a:pt x="0" y="33623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2645092" y="472059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2697480" y="5263515"/>
              <a:ext cx="9525" cy="336232"/>
            </a:xfrm>
            <a:custGeom>
              <a:avLst/>
              <a:gdLst/>
              <a:ahLst/>
              <a:cxnLst/>
              <a:rect l="l" t="t" r="r" b="b"/>
              <a:pathLst>
                <a:path w="9525" h="336232">
                  <a:moveTo>
                    <a:pt x="0" y="0"/>
                  </a:moveTo>
                  <a:lnTo>
                    <a:pt x="0" y="33623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2645092" y="559974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836295" y="2187892"/>
              <a:ext cx="3722370" cy="438150"/>
            </a:xfrm>
            <a:custGeom>
              <a:avLst/>
              <a:gdLst/>
              <a:ahLst/>
              <a:cxnLst/>
              <a:rect l="l" t="t" r="r" b="b"/>
              <a:pathLst>
                <a:path w="3722370" h="438150">
                  <a:moveTo>
                    <a:pt x="133350" y="0"/>
                  </a:moveTo>
                  <a:lnTo>
                    <a:pt x="3722370" y="0"/>
                  </a:lnTo>
                  <a:lnTo>
                    <a:pt x="3589020" y="438150"/>
                  </a:lnTo>
                  <a:lnTo>
                    <a:pt x="0" y="438150"/>
                  </a:lnTo>
                  <a:close/>
                </a:path>
              </a:pathLst>
            </a:custGeom>
            <a:solidFill>
              <a:srgbClr val="E8EDF8"/>
            </a:solidFill>
            <a:ln w="13335">
              <a:solidFill>
                <a:srgbClr val="2F4B9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836295" y="3067050"/>
              <a:ext cx="3722370" cy="438150"/>
            </a:xfrm>
            <a:prstGeom prst="roundRect">
              <a:avLst>
                <a:gd name="adj" fmla="val 21739"/>
              </a:avLst>
            </a:prstGeom>
            <a:solidFill>
              <a:srgbClr val="E8EDF8"/>
            </a:solidFill>
            <a:ln w="19050">
              <a:solidFill>
                <a:srgbClr val="2F4B9A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836295" y="3946208"/>
              <a:ext cx="3722370" cy="438150"/>
            </a:xfrm>
            <a:custGeom>
              <a:avLst/>
              <a:gdLst/>
              <a:ahLst/>
              <a:cxnLst/>
              <a:rect l="l" t="t" r="r" b="b"/>
              <a:pathLst>
                <a:path w="3722370" h="438150">
                  <a:moveTo>
                    <a:pt x="133350" y="0"/>
                  </a:moveTo>
                  <a:lnTo>
                    <a:pt x="3722370" y="0"/>
                  </a:lnTo>
                  <a:lnTo>
                    <a:pt x="3589020" y="438150"/>
                  </a:lnTo>
                  <a:lnTo>
                    <a:pt x="0" y="438150"/>
                  </a:lnTo>
                  <a:close/>
                </a:path>
              </a:pathLst>
            </a:custGeom>
            <a:solidFill>
              <a:srgbClr val="E8EDF8"/>
            </a:solidFill>
            <a:ln w="13335">
              <a:solidFill>
                <a:srgbClr val="2F4B9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836295" y="4825365"/>
              <a:ext cx="3722370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836295" y="5704522"/>
              <a:ext cx="3722370" cy="438150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2231852" y="2317909"/>
              <a:ext cx="93125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L₁ 的输入 x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268997" y="3197066"/>
              <a:ext cx="85696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转换函数 T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083598" y="4076224"/>
              <a:ext cx="12277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L₂ 的输入 T(x)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305086" y="4955381"/>
              <a:ext cx="7847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L₂ 的算法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524936" y="5834539"/>
              <a:ext cx="23450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yes / no（L₂ 和 L₁ 的结果）</a:t>
              </a:r>
            </a:p>
          </p:txBody>
        </p:sp>
      </p:grpSp>
      <p:grpSp>
        <p:nvGrpSpPr>
          <p:cNvPr id="42" name="c2-card-1"/>
          <p:cNvGrpSpPr/>
          <p:nvPr/>
        </p:nvGrpSpPr>
        <p:grpSpPr>
          <a:xfrm>
            <a:off x="5166360" y="1967865"/>
            <a:ext cx="6492240" cy="2036445"/>
            <a:chOff x="5166360" y="1967865"/>
            <a:chExt cx="6492240" cy="2036445"/>
          </a:xfrm>
        </p:grpSpPr>
        <p:sp>
          <p:nvSpPr>
            <p:cNvPr id="28" name="Rectangle 28"/>
            <p:cNvSpPr/>
            <p:nvPr/>
          </p:nvSpPr>
          <p:spPr>
            <a:xfrm>
              <a:off x="5166360" y="1967865"/>
              <a:ext cx="6492240" cy="2036445"/>
            </a:xfrm>
            <a:prstGeom prst="roundRect">
              <a:avLst>
                <a:gd name="adj" fmla="val 654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5175885" y="2101215"/>
              <a:ext cx="47625" cy="1769745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5414010" y="217741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504218" y="221313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406390" y="2554605"/>
              <a:ext cx="479145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NP 问题 L₁ 归约到 L₂，是指能找到一个转换函数 T：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5414010" y="2876550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475859" y="291884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715000" y="2889885"/>
              <a:ext cx="571195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 把 L₁ 的任意一个合法输入 x 转换成 L₂ 的一个合法输入 T(x)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5414010" y="3211830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475859" y="325412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5715000" y="3225165"/>
              <a:ext cx="45529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将 T(x) 输入求解 L₂ 的算法，得到 L₂ 的一个输出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5414010" y="3547110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475859" y="358940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5715000" y="3560445"/>
              <a:ext cx="571061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L₁ 对输入 x 的输出是 yes，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当且仅当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L₂ 对 T(x) 的输出是 yes</a:t>
              </a:r>
            </a:p>
          </p:txBody>
        </p:sp>
      </p:grpSp>
      <p:grpSp>
        <p:nvGrpSpPr>
          <p:cNvPr id="48" name="c2-card-2"/>
          <p:cNvGrpSpPr/>
          <p:nvPr/>
        </p:nvGrpSpPr>
        <p:grpSpPr>
          <a:xfrm>
            <a:off x="5166360" y="4194810"/>
            <a:ext cx="6492240" cy="1562100"/>
            <a:chOff x="5166360" y="4194810"/>
            <a:chExt cx="6492240" cy="1562100"/>
          </a:xfrm>
        </p:grpSpPr>
        <p:sp>
          <p:nvSpPr>
            <p:cNvPr id="43" name="Rectangle 43"/>
            <p:cNvSpPr/>
            <p:nvPr/>
          </p:nvSpPr>
          <p:spPr>
            <a:xfrm>
              <a:off x="5166360" y="4194810"/>
              <a:ext cx="6492240" cy="1562100"/>
            </a:xfrm>
            <a:prstGeom prst="roundRect">
              <a:avLst>
                <a:gd name="adj" fmla="val 8537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5375910" y="440436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466118" y="444007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读图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368290" y="4781550"/>
              <a:ext cx="563041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左图中 T 与 L₂ 的算法串起来，整体就是问题 L₁ 的一个算法。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5369433" y="5112544"/>
              <a:ext cx="520674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归约具有传递性：L₁ ≤ L₂ 且 L₂ ≤ L₃，则 L₁ ≤ L₃（把两个转换函数接起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来）。</a:t>
              </a:r>
            </a:p>
          </p:txBody>
        </p:sp>
      </p:grpSp>
      <p:grpSp>
        <p:nvGrpSpPr>
          <p:cNvPr id="5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9" name="TextBox 49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78090" cy="909257"/>
            <a:chOff x="520446" y="342900"/>
            <a:chExt cx="75780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0408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1636" y="407194"/>
              <a:ext cx="21076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第9章 NP 完全 · P、NP 与归约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780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一个归约的例子：布尔值问题归约到最大元素问题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193982" cy="1326832"/>
            <a:chOff x="533400" y="1524000"/>
            <a:chExt cx="5193982" cy="132683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1326832"/>
            </a:xfrm>
            <a:prstGeom prst="roundRect">
              <a:avLst>
                <a:gd name="adj" fmla="val 1005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060132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987742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0089" y="1769269"/>
              <a:ext cx="8487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判定问题 L₁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398316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判定 n 个布尔值中是否至少有一个为 true。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4573" y="2442686"/>
              <a:ext cx="43321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输入：X₁, X₂, …, Xₙ，Xᵢ = true 或 false（1 ≤ i ≤ n）</a:t>
              </a:r>
            </a:p>
          </p:txBody>
        </p:sp>
      </p:grpSp>
      <p:grpSp>
        <p:nvGrpSpPr>
          <p:cNvPr id="20" name="c1-card-2"/>
          <p:cNvGrpSpPr/>
          <p:nvPr/>
        </p:nvGrpSpPr>
        <p:grpSpPr>
          <a:xfrm>
            <a:off x="533400" y="3041332"/>
            <a:ext cx="5193982" cy="1326832"/>
            <a:chOff x="533400" y="3041332"/>
            <a:chExt cx="5193982" cy="1326832"/>
          </a:xfrm>
        </p:grpSpPr>
        <p:sp>
          <p:nvSpPr>
            <p:cNvPr id="14" name="Rectangle 14"/>
            <p:cNvSpPr/>
            <p:nvPr/>
          </p:nvSpPr>
          <p:spPr>
            <a:xfrm>
              <a:off x="533400" y="3041332"/>
              <a:ext cx="5193982" cy="1326832"/>
            </a:xfrm>
            <a:prstGeom prst="roundRect">
              <a:avLst>
                <a:gd name="adj" fmla="val 1005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542925" y="3174682"/>
              <a:ext cx="47625" cy="1060132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81050" y="3250882"/>
              <a:ext cx="987742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50089" y="3286601"/>
              <a:ext cx="8487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判定问题 L₂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73430" y="3628072"/>
              <a:ext cx="36802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判定 n 个整数中的最大元素是否为正数。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74573" y="3960019"/>
              <a:ext cx="36214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输入：Y₁, Y₂, …, Yₙ，Yᵢ 为整数（1 ≤ i ≤ n）</a:t>
              </a:r>
            </a:p>
          </p:txBody>
        </p:sp>
      </p:grpSp>
      <p:grpSp>
        <p:nvGrpSpPr>
          <p:cNvPr id="29" name="c1-card-3"/>
          <p:cNvGrpSpPr/>
          <p:nvPr/>
        </p:nvGrpSpPr>
        <p:grpSpPr>
          <a:xfrm>
            <a:off x="533400" y="4558665"/>
            <a:ext cx="5193982" cy="1701165"/>
            <a:chOff x="533400" y="4558665"/>
            <a:chExt cx="5193982" cy="1701165"/>
          </a:xfrm>
        </p:grpSpPr>
        <p:sp>
          <p:nvSpPr>
            <p:cNvPr id="21" name="Rectangle 21"/>
            <p:cNvSpPr/>
            <p:nvPr/>
          </p:nvSpPr>
          <p:spPr>
            <a:xfrm>
              <a:off x="533400" y="4558665"/>
              <a:ext cx="5193982" cy="1701165"/>
            </a:xfrm>
            <a:prstGeom prst="roundRect">
              <a:avLst>
                <a:gd name="adj" fmla="val 7839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742950" y="4768215"/>
              <a:ext cx="905828" cy="257175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17032" y="4803934"/>
              <a:ext cx="7567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转换函数 T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35330" y="5145405"/>
              <a:ext cx="418414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T(X₁, X₂, …, Xₙ) = (Y₁, Y₂, …, Yₙ)，其中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748665" y="5543550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06780" y="5480685"/>
              <a:ext cx="184861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Xᵢ = true 时 Yᵢ = 1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748665" y="5878830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06780" y="5815965"/>
              <a:ext cx="190795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Xᵢ = false 时 Yᵢ = 0</a:t>
              </a:r>
            </a:p>
          </p:txBody>
        </p:sp>
      </p:grpSp>
      <p:grpSp>
        <p:nvGrpSpPr>
          <p:cNvPr id="54" name="c2-table-1"/>
          <p:cNvGrpSpPr/>
          <p:nvPr/>
        </p:nvGrpSpPr>
        <p:grpSpPr>
          <a:xfrm>
            <a:off x="6032182" y="1524000"/>
            <a:ext cx="5626418" cy="2475548"/>
            <a:chOff x="6032182" y="1524000"/>
            <a:chExt cx="5626418" cy="2475548"/>
          </a:xfrm>
        </p:grpSpPr>
        <p:sp>
          <p:nvSpPr>
            <p:cNvPr id="30" name="Rectangle 30"/>
            <p:cNvSpPr/>
            <p:nvPr/>
          </p:nvSpPr>
          <p:spPr>
            <a:xfrm>
              <a:off x="6032182" y="1524000"/>
              <a:ext cx="5626418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28058" y="1659731"/>
              <a:ext cx="9513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L₁ 的输入 x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155628" y="1659731"/>
              <a:ext cx="4222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T(x)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262441" y="1659731"/>
              <a:ext cx="7975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L₂ 的回答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613086" y="1659731"/>
              <a:ext cx="7975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L₁ 的回答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329705" y="2108359"/>
              <a:ext cx="1148029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85"/>
                </a:lnSpc>
              </a:pPr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(false, true,</a:t>
              </a:r>
              <a:br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false)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976885" y="2221706"/>
              <a:ext cx="7797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(0, 1, 0)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066086" y="2108359"/>
              <a:ext cx="915162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最大 1 &gt; 0，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yes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471975" y="2221706"/>
              <a:ext cx="10726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 true，yes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032182" y="264318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032182" y="2647950"/>
              <a:ext cx="5626418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268514" y="2897029"/>
              <a:ext cx="12704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(false, false)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097505" y="2897029"/>
              <a:ext cx="5385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(0, 0)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066086" y="2897029"/>
              <a:ext cx="8659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最大 0，no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471975" y="2783681"/>
              <a:ext cx="955802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全是 false，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no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032182" y="331946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304102" y="3459004"/>
              <a:ext cx="1199236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85"/>
                </a:lnSpc>
              </a:pPr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(false, false,</a:t>
              </a:r>
              <a:br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true)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976885" y="3572351"/>
              <a:ext cx="7797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(0, 0, 1)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066086" y="3459004"/>
              <a:ext cx="915162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最大 1 &gt; 0，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yes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471975" y="3572351"/>
              <a:ext cx="10726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 true，yes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6032182" y="1524000"/>
              <a:ext cx="5626418" cy="247554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7771448" y="1524000"/>
              <a:ext cx="9525" cy="247554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8953500" y="1524000"/>
              <a:ext cx="9525" cy="247554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10359390" y="1524000"/>
              <a:ext cx="9525" cy="247554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6" name="c2-card-2"/>
          <p:cNvGrpSpPr/>
          <p:nvPr/>
        </p:nvGrpSpPr>
        <p:grpSpPr>
          <a:xfrm>
            <a:off x="6032182" y="4190048"/>
            <a:ext cx="5626418" cy="2070735"/>
            <a:chOff x="6032182" y="4190048"/>
            <a:chExt cx="5626418" cy="2070735"/>
          </a:xfrm>
        </p:grpSpPr>
        <p:sp>
          <p:nvSpPr>
            <p:cNvPr id="55" name="Rectangle 55"/>
            <p:cNvSpPr/>
            <p:nvPr/>
          </p:nvSpPr>
          <p:spPr>
            <a:xfrm>
              <a:off x="6032182" y="4190048"/>
              <a:ext cx="5626418" cy="2070735"/>
            </a:xfrm>
            <a:prstGeom prst="roundRect">
              <a:avLst>
                <a:gd name="adj" fmla="val 644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6041708" y="4323398"/>
              <a:ext cx="47625" cy="180403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6279832" y="4399598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353289" y="443531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验证三个条件</a:t>
              </a:r>
            </a:p>
          </p:txBody>
        </p:sp>
        <p:sp>
          <p:nvSpPr>
            <p:cNvPr id="59" name="Ellipse 59"/>
            <p:cNvSpPr/>
            <p:nvPr/>
          </p:nvSpPr>
          <p:spPr>
            <a:xfrm>
              <a:off x="6285548" y="4839652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443662" y="4776788"/>
              <a:ext cx="33505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T(x) 是 n 个整数，是 L₂ 的合法输入</a:t>
              </a:r>
            </a:p>
          </p:txBody>
        </p:sp>
        <p:sp>
          <p:nvSpPr>
            <p:cNvPr id="61" name="Ellipse 61"/>
            <p:cNvSpPr/>
            <p:nvPr/>
          </p:nvSpPr>
          <p:spPr>
            <a:xfrm>
              <a:off x="6285548" y="5174933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443662" y="5112068"/>
              <a:ext cx="439997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某个 Xᵢ = true ⇒ Yᵢ = 1，最大元素为 1，是正数</a:t>
              </a:r>
            </a:p>
          </p:txBody>
        </p:sp>
        <p:sp>
          <p:nvSpPr>
            <p:cNvPr id="63" name="Ellipse 63"/>
            <p:cNvSpPr/>
            <p:nvPr/>
          </p:nvSpPr>
          <p:spPr>
            <a:xfrm>
              <a:off x="6285548" y="5510212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6443662" y="5447348"/>
              <a:ext cx="40225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全为 false ⇒ Y 全为 0，最大元素 0 不是正数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6273356" y="5778341"/>
              <a:ext cx="43591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两个方向都成立，所以 L₁ ≤ L₂。T 只扫描一遍，O(n)。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173537" cy="909257"/>
            <a:chOff x="520446" y="342900"/>
            <a:chExt cx="717353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0408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1636" y="407194"/>
              <a:ext cx="21076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第9章 NP 完全 · P、NP 与归约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17353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归约的直观意义：L₁ ≤ L₂ 表示 L₁ 不比 L₂ 难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9" name="c1-image-1"/>
          <p:cNvGrpSpPr/>
          <p:nvPr/>
        </p:nvGrpSpPr>
        <p:grpSpPr>
          <a:xfrm>
            <a:off x="533400" y="1524000"/>
            <a:ext cx="4760595" cy="4861180"/>
            <a:chOff x="533400" y="1524000"/>
            <a:chExt cx="4760595" cy="4861180"/>
          </a:xfrm>
        </p:grpSpPr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2"/>
            <a:srcRect l="9264" t="0" r="9265" b="0"/>
            <a:stretch>
              <a:fillRect/>
            </a:stretch>
          </p:blipFill>
          <p:spPr>
            <a:xfrm>
              <a:off x="533400" y="1524000"/>
              <a:ext cx="4760595" cy="4382452"/>
            </a:xfrm>
            <a:prstGeom prst="roundRect">
              <a:avLst>
                <a:gd name="adj" fmla="val 3042"/>
              </a:avLst>
            </a:prstGeom>
          </p:spPr>
        </p:pic>
        <p:sp>
          <p:nvSpPr>
            <p:cNvPr id="8" name="TextBox 8"/>
            <p:cNvSpPr txBox="1"/>
            <p:nvPr/>
          </p:nvSpPr>
          <p:spPr>
            <a:xfrm>
              <a:off x="651415" y="5999798"/>
              <a:ext cx="4524566" cy="3853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418"/>
                </a:lnSpc>
              </a:pPr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转换插头只改变插头的形状，供电的仍是墙上的插座；T 只转换输入，回答问</a:t>
              </a:r>
              <a:br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题靠 L₂ 的算法</a:t>
              </a:r>
            </a:p>
          </p:txBody>
        </p:sp>
      </p:grpSp>
      <p:grpSp>
        <p:nvGrpSpPr>
          <p:cNvPr id="16" name="c2-card-1"/>
          <p:cNvGrpSpPr/>
          <p:nvPr/>
        </p:nvGrpSpPr>
        <p:grpSpPr>
          <a:xfrm>
            <a:off x="5598795" y="1524000"/>
            <a:ext cx="6059805" cy="1750695"/>
            <a:chOff x="5598795" y="1524000"/>
            <a:chExt cx="6059805" cy="1750695"/>
          </a:xfrm>
        </p:grpSpPr>
        <p:sp>
          <p:nvSpPr>
            <p:cNvPr id="10" name="Rectangle 10"/>
            <p:cNvSpPr/>
            <p:nvPr/>
          </p:nvSpPr>
          <p:spPr>
            <a:xfrm>
              <a:off x="5598795" y="1524000"/>
              <a:ext cx="6059805" cy="1750695"/>
            </a:xfrm>
            <a:prstGeom prst="roundRect">
              <a:avLst>
                <a:gd name="adj" fmla="val 761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5608320" y="1657350"/>
              <a:ext cx="47625" cy="148399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5835015" y="1722120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918454" y="175641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直观意义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827776" y="2082641"/>
              <a:ext cx="5280406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L₁ 可归约为 L₂，则 L₂ 的时间复杂度不低于 L₁ 的时间复杂度，即</a:t>
              </a:r>
              <a:br/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L₁ 不比 L₂ 难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828919" y="2667952"/>
              <a:ext cx="531571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理由：求解 L₂ 的任何算法前面接上 T，就能求解 L₁（T 的开销另计，下一页要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求它是多项式的）。</a:t>
              </a:r>
            </a:p>
          </p:txBody>
        </p:sp>
      </p:grpSp>
      <p:grpSp>
        <p:nvGrpSpPr>
          <p:cNvPr id="22" name="c2-card-2"/>
          <p:cNvGrpSpPr/>
          <p:nvPr/>
        </p:nvGrpSpPr>
        <p:grpSpPr>
          <a:xfrm>
            <a:off x="5598795" y="3454718"/>
            <a:ext cx="6059805" cy="1250632"/>
            <a:chOff x="5598795" y="3454718"/>
            <a:chExt cx="6059805" cy="1250632"/>
          </a:xfrm>
        </p:grpSpPr>
        <p:sp>
          <p:nvSpPr>
            <p:cNvPr id="17" name="Rectangle 17"/>
            <p:cNvSpPr/>
            <p:nvPr/>
          </p:nvSpPr>
          <p:spPr>
            <a:xfrm>
              <a:off x="5598795" y="3454718"/>
              <a:ext cx="6059805" cy="1250632"/>
            </a:xfrm>
            <a:prstGeom prst="roundRect">
              <a:avLst>
                <a:gd name="adj" fmla="val 106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5608320" y="3588068"/>
              <a:ext cx="47625" cy="98393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835015" y="3652838"/>
              <a:ext cx="10096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910453" y="3687128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上一页的例子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827776" y="4014311"/>
              <a:ext cx="5370576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“最大元素是否为正”的算法能顺便回答“是否有 true”，所以后者不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比前者难。</a:t>
              </a:r>
            </a:p>
          </p:txBody>
        </p:sp>
      </p:grpSp>
      <p:grpSp>
        <p:nvGrpSpPr>
          <p:cNvPr id="32" name="c2-card-3"/>
          <p:cNvGrpSpPr/>
          <p:nvPr/>
        </p:nvGrpSpPr>
        <p:grpSpPr>
          <a:xfrm>
            <a:off x="5598795" y="4886325"/>
            <a:ext cx="6059805" cy="1315402"/>
            <a:chOff x="5598795" y="4886325"/>
            <a:chExt cx="6059805" cy="1315402"/>
          </a:xfrm>
        </p:grpSpPr>
        <p:sp>
          <p:nvSpPr>
            <p:cNvPr id="23" name="Rectangle 23"/>
            <p:cNvSpPr/>
            <p:nvPr/>
          </p:nvSpPr>
          <p:spPr>
            <a:xfrm>
              <a:off x="5598795" y="4886325"/>
              <a:ext cx="6059805" cy="1315402"/>
            </a:xfrm>
            <a:prstGeom prst="roundRect">
              <a:avLst>
                <a:gd name="adj" fmla="val 1013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5608320" y="5019675"/>
              <a:ext cx="47625" cy="104870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5835015" y="508444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926455" y="511873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18326" y="5119211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方向别弄反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5842635" y="5522595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5999226" y="5463064"/>
              <a:ext cx="405048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想说明新问题 L 很难：把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已知的难问题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归约到 L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5842635" y="5840730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999226" y="5781199"/>
              <a:ext cx="52991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L 归约到难问题，只能说明 L 不比那个问题难，推不出 L 难</a:t>
              </a:r>
            </a:p>
          </p:txBody>
        </p:sp>
      </p:grpSp>
      <p:grpSp>
        <p:nvGrpSpPr>
          <p:cNvPr id="3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3" name="TextBox 33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45280" cy="909257"/>
            <a:chOff x="520446" y="342900"/>
            <a:chExt cx="41452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0408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1636" y="407194"/>
              <a:ext cx="21076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第9章 NP 完全 · P、NP 与归约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1452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多项式时间归约及其传递性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5193982" cy="2252662"/>
            <a:chOff x="533400" y="1524000"/>
            <a:chExt cx="5193982" cy="225266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2252662"/>
            </a:xfrm>
            <a:prstGeom prst="roundRect">
              <a:avLst>
                <a:gd name="adj" fmla="val 592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985962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多项式时间归约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4729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 是问题 L₁ 归约到 L₂ 的转换函数，如果计算 T 的算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法是多项式级的，则称 L₁ 可以多项式时间归约到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L₂，记为 </a:t>
              </a:r>
              <a:r>
                <a:rPr lang="en-US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L₁ ≤ₚ L₂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（或 L₁ ∝ₚ L₂）。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86765" y="309943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44880" y="3036570"/>
              <a:ext cx="40767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 称为归约函数，计算 T 的算法称为归约算法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74573" y="3368516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下文讨论的归约均指多项式时间归约。</a:t>
              </a:r>
            </a:p>
          </p:txBody>
        </p:sp>
      </p:grpSp>
      <p:grpSp>
        <p:nvGrpSpPr>
          <p:cNvPr id="24" name="c1-card-2"/>
          <p:cNvGrpSpPr/>
          <p:nvPr/>
        </p:nvGrpSpPr>
        <p:grpSpPr>
          <a:xfrm>
            <a:off x="533400" y="3967162"/>
            <a:ext cx="5193982" cy="1365885"/>
            <a:chOff x="533400" y="3967162"/>
            <a:chExt cx="5193982" cy="1365885"/>
          </a:xfrm>
        </p:grpSpPr>
        <p:sp>
          <p:nvSpPr>
            <p:cNvPr id="17" name="Rectangle 17"/>
            <p:cNvSpPr/>
            <p:nvPr/>
          </p:nvSpPr>
          <p:spPr>
            <a:xfrm>
              <a:off x="533400" y="3967162"/>
              <a:ext cx="5193982" cy="1365885"/>
            </a:xfrm>
            <a:prstGeom prst="roundRect">
              <a:avLst>
                <a:gd name="adj" fmla="val 9763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42950" y="4176712"/>
              <a:ext cx="1216342" cy="257175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17789" y="4212431"/>
              <a:ext cx="10657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当 L₁ ≤ₚ L₂ 时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48665" y="4616768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06780" y="4553902"/>
              <a:ext cx="34831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L₂ 多项式级可解 ⇒ L₁ 也多项式级可解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48665" y="4952048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06780" y="4889182"/>
              <a:ext cx="408889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L₂ 指数级可解 ⇒ L₁ 也能在指数级时间内解决</a:t>
              </a:r>
            </a:p>
          </p:txBody>
        </p:sp>
      </p:grpSp>
      <p:grpSp>
        <p:nvGrpSpPr>
          <p:cNvPr id="42" name="c2-steps-1"/>
          <p:cNvGrpSpPr/>
          <p:nvPr/>
        </p:nvGrpSpPr>
        <p:grpSpPr>
          <a:xfrm>
            <a:off x="6032182" y="1533525"/>
            <a:ext cx="5212970" cy="3234023"/>
            <a:chOff x="6032182" y="1533525"/>
            <a:chExt cx="5212970" cy="3234023"/>
          </a:xfrm>
        </p:grpSpPr>
        <p:sp>
          <p:nvSpPr>
            <p:cNvPr id="25" name="Rectangle 25"/>
            <p:cNvSpPr/>
            <p:nvPr/>
          </p:nvSpPr>
          <p:spPr>
            <a:xfrm>
              <a:off x="6165532" y="1676400"/>
              <a:ext cx="19050" cy="265652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Ellipse 26"/>
            <p:cNvSpPr/>
            <p:nvPr/>
          </p:nvSpPr>
          <p:spPr>
            <a:xfrm>
              <a:off x="6032182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125806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6032182" y="241935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125806" y="24931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6032182" y="330422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125806" y="33780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6032182" y="4190048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125806" y="42638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43662" y="156781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44806" y="1861661"/>
              <a:ext cx="480034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L₁ ≤ₚ L₂ 的归约函数为 T₁，时间 p₁(|x|)；L₂ ≤ₚ L₃ 的归约函数为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T₂，时间 p₂(|y|)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43662" y="245364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接起来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44806" y="2746534"/>
              <a:ext cx="474345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令 T(x) = T₂(T₁(x))，则 L₁ 对 x 答 yes ⇔ L₂ 对 T₁(x) 答 yes ⇔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L₃ 对 T(x) 答 yes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443662" y="3338512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算时间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444806" y="3632359"/>
              <a:ext cx="4775962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T₁ 在 p₁(|x|) 步内最多写出 p₁(|x|) 个符号，所以计算 T 的时间 ≤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p₁(|x|) + p₂(p₁(|x|))，多项式代入多项式仍是多项式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43662" y="4224338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结论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44806" y="4518184"/>
              <a:ext cx="47649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多项式时间归约具有传递性：L₁ ≤ₚ L₂，L₂ ≤ₚ L₃ ⇒ L₁ ≤ₚ L₃</a:t>
              </a:r>
            </a:p>
          </p:txBody>
        </p:sp>
      </p:grpSp>
      <p:grpSp>
        <p:nvGrpSpPr>
          <p:cNvPr id="49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3" name="Rectangle 43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726129" y="5992296"/>
              <a:ext cx="224134" cy="192560"/>
              <a:chOff x="726129" y="5992296"/>
              <a:chExt cx="224134" cy="19256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838200" y="606266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726129" y="599229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38200" y="61404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1040130" y="5991225"/>
              <a:ext cx="812267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易错：证明归约时只证“x 答 yes ⇒ T(x) 答 yes”不够，还要证“T(x) 答 yes ⇒ x 答 yes”。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F4B9A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8EDF8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5626715" cy="3351847"/>
            <a:chOff x="667512" y="1835468"/>
            <a:chExt cx="5626715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第四部分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5626715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NP 完全问题与 Cook 定理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52457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找出 NP 中最难的一类问题，并确认这样的问题确实存在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09016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NP 完全与 NP 难的定义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93065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NPC 的意义与证明 NPC 的两步法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24866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SAT 问题及其不确定算法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54650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Cook 定理与四类问题的关系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952784" cy="909257"/>
            <a:chOff x="520446" y="342900"/>
            <a:chExt cx="395278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6608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57700" y="407194"/>
              <a:ext cx="29174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第9章 NP 完全 · NP 完全问题与 Cook 定理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95278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NP 完全问题与 NP 难问题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9" name="c1-card-1"/>
          <p:cNvGrpSpPr/>
          <p:nvPr/>
        </p:nvGrpSpPr>
        <p:grpSpPr>
          <a:xfrm>
            <a:off x="533400" y="1524000"/>
            <a:ext cx="4760595" cy="2085975"/>
            <a:chOff x="533400" y="1524000"/>
            <a:chExt cx="4760595" cy="208597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2085975"/>
            </a:xfrm>
            <a:prstGeom prst="roundRect">
              <a:avLst>
                <a:gd name="adj" fmla="val 639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819275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0862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1332" y="2054542"/>
              <a:ext cx="325076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问题 L 是 </a:t>
              </a: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NP 完全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（NPC）的，当满足：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58190" y="2343150"/>
              <a:ext cx="192405" cy="19240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13868" y="238153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38987" y="2355532"/>
              <a:ext cx="5513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 ∈ NP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58190" y="2643188"/>
              <a:ext cx="192405" cy="19240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13868" y="268157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38987" y="2655570"/>
              <a:ext cx="250591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对于每个 L′ ∈ NP，有 L′ ≤ₚ L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51332" y="2955608"/>
              <a:ext cx="4114800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问题 L 是 </a:t>
              </a: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NP 难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（NP-hard）的，当满足第 2 条，不要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 L ∈ NP。</a:t>
              </a:r>
            </a:p>
          </p:txBody>
        </p:sp>
      </p:grpSp>
      <p:grpSp>
        <p:nvGrpSpPr>
          <p:cNvPr id="28" name="c1-card-2"/>
          <p:cNvGrpSpPr/>
          <p:nvPr/>
        </p:nvGrpSpPr>
        <p:grpSpPr>
          <a:xfrm>
            <a:off x="533400" y="3780472"/>
            <a:ext cx="4760595" cy="1743075"/>
            <a:chOff x="533400" y="3780472"/>
            <a:chExt cx="4760595" cy="1743075"/>
          </a:xfrm>
        </p:grpSpPr>
        <p:sp>
          <p:nvSpPr>
            <p:cNvPr id="20" name="Rectangle 20"/>
            <p:cNvSpPr/>
            <p:nvPr/>
          </p:nvSpPr>
          <p:spPr>
            <a:xfrm>
              <a:off x="533400" y="3780472"/>
              <a:ext cx="4760595" cy="1743075"/>
            </a:xfrm>
            <a:prstGeom prst="roundRect">
              <a:avLst>
                <a:gd name="adj" fmla="val 765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542925" y="3913822"/>
              <a:ext cx="47625" cy="147637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758190" y="3967162"/>
              <a:ext cx="831532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39660" y="400002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怎样套定义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766762" y="4367212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22782" y="4311015"/>
              <a:ext cx="390563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最大团判定：属于 NP（DCK），且已知 SAT ≤ₚ 它，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 NPC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766762" y="4924425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22782" y="4868228"/>
              <a:ext cx="391420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停机问题：SAT ≤ₚ 它，但它不可判定、不属于 NP，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只是 NP 难</a:t>
              </a:r>
            </a:p>
          </p:txBody>
        </p:sp>
      </p:grpSp>
      <p:grpSp>
        <p:nvGrpSpPr>
          <p:cNvPr id="53" name="c2-table-1"/>
          <p:cNvGrpSpPr/>
          <p:nvPr/>
        </p:nvGrpSpPr>
        <p:grpSpPr>
          <a:xfrm>
            <a:off x="5598795" y="1524000"/>
            <a:ext cx="6059805" cy="2434590"/>
            <a:chOff x="5598795" y="1524000"/>
            <a:chExt cx="6059805" cy="2434590"/>
          </a:xfrm>
        </p:grpSpPr>
        <p:sp>
          <p:nvSpPr>
            <p:cNvPr id="29" name="Rectangle 29"/>
            <p:cNvSpPr/>
            <p:nvPr/>
          </p:nvSpPr>
          <p:spPr>
            <a:xfrm>
              <a:off x="5598795" y="1524000"/>
              <a:ext cx="6059805" cy="439102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5986081" y="164877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比较项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783662" y="1648778"/>
              <a:ext cx="65946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NP 完全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237683" y="1648778"/>
              <a:ext cx="47772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NP 难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694807" y="2087880"/>
              <a:ext cx="10229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是否属于 NP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028307" y="208788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一定属于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391460" y="208788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不一定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598795" y="239744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5598795" y="2402205"/>
              <a:ext cx="6059805" cy="43910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694807" y="2526982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范围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028307" y="2526982"/>
              <a:ext cx="10019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NPC ⊆ NP 难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391460" y="2526982"/>
              <a:ext cx="117271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比 NPC 范围广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598795" y="283559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694807" y="296608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难度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028307" y="2966085"/>
              <a:ext cx="137297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NP 中最难的一类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391460" y="2966085"/>
              <a:ext cx="20814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可能比所有 NPC 问题都难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598795" y="327469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5598795" y="3279458"/>
              <a:ext cx="6059805" cy="67913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5694807" y="3525202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例子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028307" y="3525202"/>
              <a:ext cx="21479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SAT、最大团判定、子集和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391460" y="3405188"/>
              <a:ext cx="1968246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所有 NPC 问题；停机问题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（不可判定，不属于 NP）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5598795" y="1524000"/>
              <a:ext cx="6059805" cy="24345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6927532" y="1524000"/>
              <a:ext cx="9525" cy="2434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9290685" y="1524000"/>
              <a:ext cx="9525" cy="2434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0" name="c2-callout-2"/>
          <p:cNvGrpSpPr/>
          <p:nvPr/>
        </p:nvGrpSpPr>
        <p:grpSpPr>
          <a:xfrm>
            <a:off x="5598795" y="4128135"/>
            <a:ext cx="6059805" cy="729615"/>
            <a:chOff x="5598795" y="4128135"/>
            <a:chExt cx="6059805" cy="729615"/>
          </a:xfrm>
        </p:grpSpPr>
        <p:sp>
          <p:nvSpPr>
            <p:cNvPr id="54" name="Rectangle 54"/>
            <p:cNvSpPr/>
            <p:nvPr/>
          </p:nvSpPr>
          <p:spPr>
            <a:xfrm>
              <a:off x="5598795" y="4128135"/>
              <a:ext cx="6059805" cy="729615"/>
            </a:xfrm>
            <a:prstGeom prst="roundRect">
              <a:avLst>
                <a:gd name="adj" fmla="val 15666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5803583" y="4392930"/>
              <a:ext cx="200026" cy="200026"/>
              <a:chOff x="5803583" y="4392930"/>
              <a:chExt cx="200026" cy="200026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5803583" y="439293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5903595" y="445960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5892483" y="449294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6106287" y="4274820"/>
              <a:ext cx="488289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NP 难问题同样难以找到多项式时间算法。停机问题连算法都不存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在，比任何 NPC 问题都难。</a:t>
              </a:r>
            </a:p>
          </p:txBody>
        </p:sp>
      </p:grpSp>
      <p:grpSp>
        <p:nvGrpSpPr>
          <p:cNvPr id="66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61" name="Rectangle 61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64" name="Group 64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5" name="TextBox 65"/>
            <p:cNvSpPr txBox="1"/>
            <p:nvPr/>
          </p:nvSpPr>
          <p:spPr>
            <a:xfrm>
              <a:off x="1040892" y="6028373"/>
              <a:ext cx="53951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NP 完全 = NP ∩ NP 难。判断一个问题是不是 NPC，两条缺一不可。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527618" cy="909257"/>
            <a:chOff x="520446" y="342900"/>
            <a:chExt cx="85276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6608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57700" y="407194"/>
              <a:ext cx="29174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第9章 NP 完全 · NP 完全问题与 Cook 定理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5276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NPC 的意义：只要一个 NPC 问题有多项式算法，P = NP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626418" cy="1250632"/>
            <a:chOff x="533400" y="1524000"/>
            <a:chExt cx="5626418" cy="125063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1250632"/>
            </a:xfrm>
            <a:prstGeom prst="roundRect">
              <a:avLst>
                <a:gd name="adj" fmla="val 106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983932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9620" y="172212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1060" y="17564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定理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381" y="2082641"/>
              <a:ext cx="4852549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所有 NP 问题都可以多项式时间归约到一个 NPC 问题。因此 </a:t>
              </a:r>
              <a:r>
                <a:rPr lang="en-US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P</a:t>
              </a:r>
              <a:br/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= NP 的充要条件是存在 NPC 问题 L ∈ P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22" name="c1-steps-2"/>
          <p:cNvGrpSpPr/>
          <p:nvPr/>
        </p:nvGrpSpPr>
        <p:grpSpPr>
          <a:xfrm>
            <a:off x="533400" y="2965132"/>
            <a:ext cx="5378196" cy="1606296"/>
            <a:chOff x="533400" y="2965132"/>
            <a:chExt cx="5378196" cy="1606296"/>
          </a:xfrm>
        </p:grpSpPr>
        <p:sp>
          <p:nvSpPr>
            <p:cNvPr id="13" name="Rectangle 13"/>
            <p:cNvSpPr/>
            <p:nvPr/>
          </p:nvSpPr>
          <p:spPr>
            <a:xfrm>
              <a:off x="666750" y="3108008"/>
              <a:ext cx="19050" cy="838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4" name="Ellipse 14"/>
            <p:cNvSpPr/>
            <p:nvPr/>
          </p:nvSpPr>
          <p:spPr>
            <a:xfrm>
              <a:off x="533400" y="296513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03895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380238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387619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261" y="2997994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充分性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404" y="3278505"/>
              <a:ext cx="475183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L 是 NPC 且 L ∈ P。任取 L′ ∈ NP，有 L′ ≤ₚ L；L 多项式可解，所以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L′ 也多项式可解，L′ ∈ P。于是 NP ⊆ P，又有 P ⊆ NP，得 P = NP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5261" y="3835241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必要性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404" y="4115752"/>
              <a:ext cx="496519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 P = NP，任取一个 NPC 问题（Cook 定理保证 SAT 就是），它属于 NP，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也就属于 P</a:t>
              </a:r>
            </a:p>
          </p:txBody>
        </p:sp>
      </p:grpSp>
      <p:grpSp>
        <p:nvGrpSpPr>
          <p:cNvPr id="28" name="c1-card-3"/>
          <p:cNvGrpSpPr/>
          <p:nvPr/>
        </p:nvGrpSpPr>
        <p:grpSpPr>
          <a:xfrm>
            <a:off x="533400" y="4742498"/>
            <a:ext cx="5626418" cy="1522095"/>
            <a:chOff x="533400" y="4742498"/>
            <a:chExt cx="5626418" cy="1522095"/>
          </a:xfrm>
        </p:grpSpPr>
        <p:sp>
          <p:nvSpPr>
            <p:cNvPr id="23" name="Rectangle 23"/>
            <p:cNvSpPr/>
            <p:nvPr/>
          </p:nvSpPr>
          <p:spPr>
            <a:xfrm>
              <a:off x="533400" y="4742498"/>
              <a:ext cx="5626418" cy="1522095"/>
            </a:xfrm>
            <a:prstGeom prst="roundRect">
              <a:avLst>
                <a:gd name="adj" fmla="val 876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542925" y="4875848"/>
              <a:ext cx="47625" cy="125539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769620" y="4940618"/>
              <a:ext cx="3429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65060" y="4974908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62381" y="5302091"/>
              <a:ext cx="4874641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假如有人给出 SAT 的 O(n³) 确定算法，那么最大团判定、子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集和、0/1 背包判定都立刻有多项式时间算法：先用多项式时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间归约把实例转换成 SAT 实例，再调用这个算法。</a:t>
              </a:r>
            </a:p>
          </p:txBody>
        </p:sp>
      </p:grpSp>
      <p:grpSp>
        <p:nvGrpSpPr>
          <p:cNvPr id="36" name="c2-card-1"/>
          <p:cNvGrpSpPr/>
          <p:nvPr/>
        </p:nvGrpSpPr>
        <p:grpSpPr>
          <a:xfrm>
            <a:off x="6464618" y="1524000"/>
            <a:ext cx="5193982" cy="1568768"/>
            <a:chOff x="6464618" y="1524000"/>
            <a:chExt cx="5193982" cy="1568768"/>
          </a:xfrm>
        </p:grpSpPr>
        <p:sp>
          <p:nvSpPr>
            <p:cNvPr id="29" name="Rectangle 29"/>
            <p:cNvSpPr/>
            <p:nvPr/>
          </p:nvSpPr>
          <p:spPr>
            <a:xfrm>
              <a:off x="6464618" y="1524000"/>
              <a:ext cx="5193982" cy="1568768"/>
            </a:xfrm>
            <a:prstGeom prst="roundRect">
              <a:avLst>
                <a:gd name="adj" fmla="val 85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662738" y="1722120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746177" y="175641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反过来读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6670358" y="2143125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826948" y="2082641"/>
              <a:ext cx="434480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若 P ≠ NP，则任何 NPC 问题都没有多项式时间算法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6670358" y="2460308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826948" y="2400776"/>
              <a:ext cx="4387723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只要证明某一个 NPC 问题没有多项式时间算法，就证明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了 P ≠ NP</a:t>
              </a:r>
            </a:p>
          </p:txBody>
        </p:sp>
      </p:grpSp>
      <p:grpSp>
        <p:nvGrpSpPr>
          <p:cNvPr id="46" name="c2-card-2"/>
          <p:cNvGrpSpPr/>
          <p:nvPr/>
        </p:nvGrpSpPr>
        <p:grpSpPr>
          <a:xfrm>
            <a:off x="6464618" y="3272790"/>
            <a:ext cx="5193982" cy="2992755"/>
            <a:chOff x="6464618" y="3272790"/>
            <a:chExt cx="5193982" cy="2992755"/>
          </a:xfrm>
        </p:grpSpPr>
        <p:sp>
          <p:nvSpPr>
            <p:cNvPr id="37" name="Rectangle 37"/>
            <p:cNvSpPr/>
            <p:nvPr/>
          </p:nvSpPr>
          <p:spPr>
            <a:xfrm>
              <a:off x="6464618" y="3272790"/>
              <a:ext cx="5193982" cy="2992755"/>
            </a:xfrm>
            <a:prstGeom prst="roundRect">
              <a:avLst>
                <a:gd name="adj" fmla="val 445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74142" y="3406140"/>
              <a:ext cx="47625" cy="272605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700838" y="3470910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784277" y="350520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实际用途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693598" y="3831431"/>
              <a:ext cx="4568063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遇到一个已知是 NPC 的问题，不必再花力气找多项式时间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的精确算法，可以改用：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708458" y="4481512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865048" y="4421029"/>
              <a:ext cx="364652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小规模时的精确算法：回溯法、分支限界法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6708458" y="4798695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865048" y="4739164"/>
              <a:ext cx="28818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大规模时的近似算法或启发式算法</a:t>
              </a:r>
            </a:p>
          </p:txBody>
        </p:sp>
      </p:grpSp>
      <p:grpSp>
        <p:nvGrpSpPr>
          <p:cNvPr id="4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7" name="TextBox 47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795248" cy="909257"/>
            <a:chOff x="520446" y="342900"/>
            <a:chExt cx="879524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6608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57700" y="407194"/>
              <a:ext cx="29174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第9章 NP 完全 · NP 完全问题与 Cook 定理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79524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证明 NPC 的捷径：属于 NP，再从已知 NPC 问题归约过来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626418" cy="1612582"/>
            <a:chOff x="533400" y="1524000"/>
            <a:chExt cx="5626418" cy="161258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1612582"/>
            </a:xfrm>
            <a:prstGeom prst="roundRect">
              <a:avLst>
                <a:gd name="adj" fmla="val 826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345882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捷径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47967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根据多项式时间归约的传递性：对于问题 L ∈ NP，如果存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 NPC 问题 L′ 使得 L′ ≤ₚ L，则 L 是 NPC 的。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4573" y="2728436"/>
              <a:ext cx="423951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任取 L″ ∈ NP，有 L″ ≤ₚ L′ ≤ₚ L，由传递性 L″ ≤ₚ L。</a:t>
              </a:r>
            </a:p>
          </p:txBody>
        </p:sp>
      </p:grpSp>
      <p:grpSp>
        <p:nvGrpSpPr>
          <p:cNvPr id="23" name="c1-steps-2"/>
          <p:cNvGrpSpPr/>
          <p:nvPr/>
        </p:nvGrpSpPr>
        <p:grpSpPr>
          <a:xfrm>
            <a:off x="533400" y="3336608"/>
            <a:ext cx="5632049" cy="1462373"/>
            <a:chOff x="533400" y="3336608"/>
            <a:chExt cx="5632049" cy="1462373"/>
          </a:xfrm>
        </p:grpSpPr>
        <p:sp>
          <p:nvSpPr>
            <p:cNvPr id="14" name="Rectangle 14"/>
            <p:cNvSpPr/>
            <p:nvPr/>
          </p:nvSpPr>
          <p:spPr>
            <a:xfrm>
              <a:off x="666750" y="3479482"/>
              <a:ext cx="19050" cy="65055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533400" y="3336608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27024" y="34104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33400" y="398716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27024" y="40609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4880" y="3370898"/>
              <a:ext cx="196320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 步：证明 L ∈ NP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6023" y="3664744"/>
              <a:ext cx="52194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给出 L 的不确定算法，说明它的猜想阶段和验证阶段都是多项式时间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4880" y="4021455"/>
              <a:ext cx="208642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2 步：证明 L′ ≤ₚ L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6023" y="4315301"/>
              <a:ext cx="4857242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选一个已知的 NPC 问题 L′，从 L′ 的任意实例 I′ 在多项式时间内构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造出 L 的一个实例 I，并证明 I′ 答是 ⇔ I 答是</a:t>
              </a:r>
            </a:p>
          </p:txBody>
        </p:sp>
      </p:grpSp>
      <p:grpSp>
        <p:nvGrpSpPr>
          <p:cNvPr id="30" name="c1-callout-3"/>
          <p:cNvGrpSpPr/>
          <p:nvPr/>
        </p:nvGrpSpPr>
        <p:grpSpPr>
          <a:xfrm>
            <a:off x="533400" y="4977765"/>
            <a:ext cx="5626418" cy="782955"/>
            <a:chOff x="533400" y="4977765"/>
            <a:chExt cx="5626418" cy="782955"/>
          </a:xfrm>
        </p:grpSpPr>
        <p:sp>
          <p:nvSpPr>
            <p:cNvPr id="24" name="Rectangle 24"/>
            <p:cNvSpPr/>
            <p:nvPr/>
          </p:nvSpPr>
          <p:spPr>
            <a:xfrm>
              <a:off x="533400" y="4977765"/>
              <a:ext cx="5626418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8" name="Group 28"/>
            <p:cNvGrpSpPr/>
            <p:nvPr/>
          </p:nvGrpSpPr>
          <p:grpSpPr>
            <a:xfrm>
              <a:off x="738188" y="5269230"/>
              <a:ext cx="200026" cy="200025"/>
              <a:chOff x="738188" y="5269230"/>
              <a:chExt cx="200026" cy="200025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738188" y="526923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777926" y="531368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812642" y="542480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1040130" y="5126355"/>
              <a:ext cx="46824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本章实例：L = 子集和，L′ = 恰好覆盖。第 1 步见第 41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页 SUBSETSUM，第 2 步见第 42–44 页的构造。</a:t>
              </a:r>
            </a:p>
          </p:txBody>
        </p:sp>
      </p:grpSp>
      <p:grpSp>
        <p:nvGrpSpPr>
          <p:cNvPr id="45" name="c2-flow-1"/>
          <p:cNvGrpSpPr/>
          <p:nvPr/>
        </p:nvGrpSpPr>
        <p:grpSpPr>
          <a:xfrm>
            <a:off x="6828472" y="1702118"/>
            <a:ext cx="4466272" cy="2025014"/>
            <a:chOff x="6828472" y="1702118"/>
            <a:chExt cx="4466272" cy="2025014"/>
          </a:xfrm>
        </p:grpSpPr>
        <p:sp>
          <p:nvSpPr>
            <p:cNvPr id="31" name="Freeform 31"/>
            <p:cNvSpPr/>
            <p:nvPr/>
          </p:nvSpPr>
          <p:spPr>
            <a:xfrm>
              <a:off x="9062085" y="2140268"/>
              <a:ext cx="9525" cy="250508"/>
            </a:xfrm>
            <a:custGeom>
              <a:avLst/>
              <a:gdLst/>
              <a:ahLst/>
              <a:cxnLst/>
              <a:rect l="l" t="t" r="r" b="b"/>
              <a:pathLst>
                <a:path w="9525" h="250508">
                  <a:moveTo>
                    <a:pt x="0" y="0"/>
                  </a:moveTo>
                  <a:lnTo>
                    <a:pt x="0" y="25050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9009698" y="239077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3" name="Freeform 33"/>
            <p:cNvSpPr/>
            <p:nvPr/>
          </p:nvSpPr>
          <p:spPr>
            <a:xfrm>
              <a:off x="9062085" y="2933700"/>
              <a:ext cx="9525" cy="250508"/>
            </a:xfrm>
            <a:custGeom>
              <a:avLst/>
              <a:gdLst/>
              <a:ahLst/>
              <a:cxnLst/>
              <a:rect l="l" t="t" r="r" b="b"/>
              <a:pathLst>
                <a:path w="9525" h="250508">
                  <a:moveTo>
                    <a:pt x="0" y="0"/>
                  </a:moveTo>
                  <a:lnTo>
                    <a:pt x="0" y="25050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9009698" y="318420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6828472" y="1702118"/>
              <a:ext cx="4466272" cy="438150"/>
            </a:xfrm>
            <a:prstGeom prst="roundRect">
              <a:avLst>
                <a:gd name="adj" fmla="val 21739"/>
              </a:avLst>
            </a:prstGeom>
            <a:solidFill>
              <a:srgbClr val="F4F6FB"/>
            </a:solidFill>
            <a:ln w="13335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6828472" y="2495550"/>
              <a:ext cx="4466272" cy="438150"/>
            </a:xfrm>
            <a:prstGeom prst="roundRect">
              <a:avLst>
                <a:gd name="adj" fmla="val 21739"/>
              </a:avLst>
            </a:prstGeom>
            <a:solidFill>
              <a:srgbClr val="E8EDF8"/>
            </a:solidFill>
            <a:ln w="19050">
              <a:solidFill>
                <a:srgbClr val="2F4B9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6828472" y="3288982"/>
              <a:ext cx="4466272" cy="438150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283773" y="1832134"/>
              <a:ext cx="155662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NP 中的所有问题 L″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292551" y="2625566"/>
              <a:ext cx="15390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已知的 NPC 问题 L′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988792" y="3418999"/>
              <a:ext cx="21465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待证问题 L（已证 L ∈ NP）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090660" y="2225992"/>
              <a:ext cx="822008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113901" y="2252662"/>
              <a:ext cx="73155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≤ₚ（已知）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090660" y="3019425"/>
              <a:ext cx="822008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113901" y="3046095"/>
              <a:ext cx="73155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≤ₚ（要证）</a:t>
              </a:r>
            </a:p>
          </p:txBody>
        </p:sp>
      </p:grpSp>
      <p:grpSp>
        <p:nvGrpSpPr>
          <p:cNvPr id="52" name="c2-callout-2"/>
          <p:cNvGrpSpPr/>
          <p:nvPr/>
        </p:nvGrpSpPr>
        <p:grpSpPr>
          <a:xfrm>
            <a:off x="6464618" y="4095750"/>
            <a:ext cx="5193982" cy="782955"/>
            <a:chOff x="6464618" y="4095750"/>
            <a:chExt cx="5193982" cy="782955"/>
          </a:xfrm>
        </p:grpSpPr>
        <p:sp>
          <p:nvSpPr>
            <p:cNvPr id="46" name="Rectangle 46"/>
            <p:cNvSpPr/>
            <p:nvPr/>
          </p:nvSpPr>
          <p:spPr>
            <a:xfrm>
              <a:off x="6464618" y="4095750"/>
              <a:ext cx="5193982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6657347" y="4383523"/>
              <a:ext cx="224134" cy="192560"/>
              <a:chOff x="6657347" y="4383523"/>
              <a:chExt cx="224134" cy="192560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6769418" y="445389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6657347" y="438352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6769418" y="453167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6971348" y="4244340"/>
              <a:ext cx="41681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方向不能反。证明 L ≤ₚ L′ 只说明 L 不比 L′ 难，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推不出 L 是 NPC。</a:t>
              </a:r>
            </a:p>
          </p:txBody>
        </p:sp>
      </p:grpSp>
      <p:grpSp>
        <p:nvGrpSpPr>
          <p:cNvPr id="59" name="c2-callout-3"/>
          <p:cNvGrpSpPr/>
          <p:nvPr/>
        </p:nvGrpSpPr>
        <p:grpSpPr>
          <a:xfrm>
            <a:off x="6464618" y="5069205"/>
            <a:ext cx="5193982" cy="782955"/>
            <a:chOff x="6464618" y="5069205"/>
            <a:chExt cx="5193982" cy="782955"/>
          </a:xfrm>
        </p:grpSpPr>
        <p:sp>
          <p:nvSpPr>
            <p:cNvPr id="53" name="Rectangle 53"/>
            <p:cNvSpPr/>
            <p:nvPr/>
          </p:nvSpPr>
          <p:spPr>
            <a:xfrm>
              <a:off x="6464618" y="5069205"/>
              <a:ext cx="5193982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7" name="Group 57"/>
            <p:cNvGrpSpPr/>
            <p:nvPr/>
          </p:nvGrpSpPr>
          <p:grpSpPr>
            <a:xfrm>
              <a:off x="6669405" y="5360670"/>
              <a:ext cx="200026" cy="200026"/>
              <a:chOff x="6669405" y="5360670"/>
              <a:chExt cx="200026" cy="200026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6669405" y="536067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6769418" y="542734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6758305" y="546068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8" name="TextBox 58"/>
            <p:cNvSpPr txBox="1"/>
            <p:nvPr/>
          </p:nvSpPr>
          <p:spPr>
            <a:xfrm>
              <a:off x="6971348" y="5217795"/>
              <a:ext cx="42538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这个方法需要一个起点：是否存在 NPC 问题？第一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 NPC 问题是什么？答案是 Cook 定理。</a:t>
              </a:r>
            </a:p>
          </p:txBody>
        </p:sp>
      </p:grpSp>
      <p:grpSp>
        <p:nvGrpSpPr>
          <p:cNvPr id="6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0" name="TextBox 60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19927" cy="909257"/>
            <a:chOff x="520446" y="342900"/>
            <a:chExt cx="751992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6608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57700" y="407194"/>
              <a:ext cx="29174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第9章 NP 完全 · NP 完全问题与 Cook 定理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1992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可满足性问题（SAT）：给定的合取范式能否取真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5715549" cy="308039"/>
            <a:chOff x="525399" y="1550194"/>
            <a:chExt cx="5715549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571554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问题描述：对于任意给定的一个合取范式 F，F 是否可满足？</a:t>
              </a:r>
            </a:p>
          </p:txBody>
        </p:sp>
      </p:grpSp>
      <p:grpSp>
        <p:nvGrpSpPr>
          <p:cNvPr id="26" name="c1-kv-1"/>
          <p:cNvGrpSpPr/>
          <p:nvPr/>
        </p:nvGrpSpPr>
        <p:grpSpPr>
          <a:xfrm>
            <a:off x="525780" y="1992630"/>
            <a:ext cx="6047994" cy="2775585"/>
            <a:chOff x="525780" y="1992630"/>
            <a:chExt cx="6047994" cy="2775585"/>
          </a:xfrm>
        </p:grpSpPr>
        <p:sp>
          <p:nvSpPr>
            <p:cNvPr id="9" name="TextBox 9"/>
            <p:cNvSpPr txBox="1"/>
            <p:nvPr/>
          </p:nvSpPr>
          <p:spPr>
            <a:xfrm>
              <a:off x="525780" y="199263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布尔变量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072640" y="1992630"/>
              <a:ext cx="375094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x₁, x₂, …, xₙ，取值为真（1）或假（0）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" y="2312670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25780" y="2432685"/>
              <a:ext cx="59932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文字 σ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072640" y="2432685"/>
              <a:ext cx="236772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一个变量 xᵢ 或它的非 ¬xᵢ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752725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5780" y="287274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合取与析取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072640" y="2872740"/>
              <a:ext cx="257975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∧ 表示与关系，∨ 表示或关系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" y="3192780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25780" y="3312795"/>
              <a:ext cx="73273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子式 Aⱼ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072640" y="3312795"/>
              <a:ext cx="231724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若干文字的析取，形如 ∨σ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3632835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25780" y="3752850"/>
              <a:ext cx="777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合取范式</a:t>
              </a:r>
              <a:br/>
              <a:r>
                <a:rPr lang="zh-CN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（CNF）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072640" y="3752850"/>
              <a:ext cx="27104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形如 A₁ ∧ A₂ ∧ … ∧ Aₖ 的公式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4354830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25780" y="4474845"/>
              <a:ext cx="81145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F 可满足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072640" y="4474845"/>
              <a:ext cx="45011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存在对 x₁, x₂, …, xₙ 的一组赋值，使 F 的值为真</a:t>
              </a:r>
            </a:p>
          </p:txBody>
        </p:sp>
      </p:grpSp>
      <p:grpSp>
        <p:nvGrpSpPr>
          <p:cNvPr id="37" name="c2-card-1"/>
          <p:cNvGrpSpPr/>
          <p:nvPr/>
        </p:nvGrpSpPr>
        <p:grpSpPr>
          <a:xfrm>
            <a:off x="6789420" y="1967865"/>
            <a:ext cx="4869180" cy="2146935"/>
            <a:chOff x="6789420" y="1967865"/>
            <a:chExt cx="4869180" cy="2146935"/>
          </a:xfrm>
        </p:grpSpPr>
        <p:sp>
          <p:nvSpPr>
            <p:cNvPr id="27" name="Rectangle 27"/>
            <p:cNvSpPr/>
            <p:nvPr/>
          </p:nvSpPr>
          <p:spPr>
            <a:xfrm>
              <a:off x="6789420" y="1967865"/>
              <a:ext cx="4869180" cy="2146935"/>
            </a:xfrm>
            <a:prstGeom prst="roundRect">
              <a:avLst>
                <a:gd name="adj" fmla="val 621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798945" y="2101215"/>
              <a:ext cx="47625" cy="188023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7037070" y="2177415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132180" y="221313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495223" y="2212658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一个合取范式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formula10"/>
                <p:cNvSpPr txBox="1">
                  <a:spLocks noGrp="1"/>
                </p:cNvSpPr>
                <p:nvPr/>
              </p:nvSpPr>
              <p:spPr>
                <a:xfrm>
                  <a:off x="7037070" y="2548890"/>
                  <a:ext cx="4411980" cy="381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</m:e>
                          <m:sub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∨</m:t>
                            </m:r>
                            <m:sSub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∧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¬</m:t>
                            </m:r>
                            <m:sSub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∨</m:t>
                            </m:r>
                            <m:sSub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∨</m:t>
                            </m:r>
                            <m:sSub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∧¬</m:t>
                        </m:r>
                        <m:sSub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b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33" name="Ellipse 33"/>
            <p:cNvSpPr/>
            <p:nvPr/>
          </p:nvSpPr>
          <p:spPr>
            <a:xfrm>
              <a:off x="7042785" y="311277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200900" y="3049905"/>
              <a:ext cx="35299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 个子式：A₁ = x₁ ∨ x₂，A₂ = ¬x₁ ∨ x₂ 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x₃，A₃ = ¬x₂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042785" y="373380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200900" y="3670935"/>
              <a:ext cx="273710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子式可以只有一个文字，如 A₃</a:t>
              </a:r>
            </a:p>
          </p:txBody>
        </p:sp>
      </p:grpSp>
      <p:grpSp>
        <p:nvGrpSpPr>
          <p:cNvPr id="43" name="c2-callout-2"/>
          <p:cNvGrpSpPr/>
          <p:nvPr/>
        </p:nvGrpSpPr>
        <p:grpSpPr>
          <a:xfrm>
            <a:off x="6789420" y="4305300"/>
            <a:ext cx="4869180" cy="782955"/>
            <a:chOff x="6789420" y="4305300"/>
            <a:chExt cx="4869180" cy="782955"/>
          </a:xfrm>
        </p:grpSpPr>
        <p:sp>
          <p:nvSpPr>
            <p:cNvPr id="38" name="Rectangle 38"/>
            <p:cNvSpPr/>
            <p:nvPr/>
          </p:nvSpPr>
          <p:spPr>
            <a:xfrm>
              <a:off x="6789420" y="4305300"/>
              <a:ext cx="4869180" cy="782955"/>
            </a:xfrm>
            <a:prstGeom prst="roundRect">
              <a:avLst>
                <a:gd name="adj" fmla="val 14599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6994208" y="4596767"/>
              <a:ext cx="200023" cy="200023"/>
              <a:chOff x="6994208" y="4596767"/>
              <a:chExt cx="200023" cy="200023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6994208" y="459676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7127558" y="466344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7296150" y="4453890"/>
              <a:ext cx="3825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 为真 ⇔ 每个子式中至少有一个文字为真。判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断赋值是否满足 F，逐个子式检查即可。</a:t>
              </a:r>
            </a:p>
          </p:txBody>
        </p:sp>
      </p:grpSp>
      <p:grpSp>
        <p:nvGrpSpPr>
          <p:cNvPr id="50" name="takeaway"/>
          <p:cNvGrpSpPr/>
          <p:nvPr/>
        </p:nvGrpSpPr>
        <p:grpSpPr>
          <a:xfrm>
            <a:off x="533400" y="5579745"/>
            <a:ext cx="11125200" cy="782955"/>
            <a:chOff x="533400" y="5579745"/>
            <a:chExt cx="11125200" cy="782955"/>
          </a:xfrm>
        </p:grpSpPr>
        <p:sp>
          <p:nvSpPr>
            <p:cNvPr id="44" name="Rectangle 44"/>
            <p:cNvSpPr/>
            <p:nvPr/>
          </p:nvSpPr>
          <p:spPr>
            <a:xfrm>
              <a:off x="533400" y="5579745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738188" y="5871210"/>
              <a:ext cx="200026" cy="200026"/>
              <a:chOff x="738188" y="5871210"/>
              <a:chExt cx="200026" cy="200026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738188" y="587121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38200" y="59378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827088" y="597122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040130" y="5728335"/>
              <a:ext cx="100355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后面 Cook 定理图中的两个变形：3SAT 要求每个子式恰有 3 个文字；最大可满足性问能否找到赋值，使至少 k 个子式为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真。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611025" cy="909257"/>
            <a:chOff x="520446" y="342900"/>
            <a:chExt cx="561102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6608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57700" y="407194"/>
              <a:ext cx="29174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第9章 NP 完全 · NP 完全问题与 Cook 定理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61102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SAT 实例：F₁ 可满足，F₂ 不可满足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2" name="c1-card-1"/>
          <p:cNvGrpSpPr/>
          <p:nvPr/>
        </p:nvGrpSpPr>
        <p:grpSpPr>
          <a:xfrm>
            <a:off x="533400" y="1524000"/>
            <a:ext cx="4760595" cy="4819650"/>
            <a:chOff x="533400" y="1524000"/>
            <a:chExt cx="4760595" cy="481965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4819650"/>
            </a:xfrm>
            <a:prstGeom prst="roundRect">
              <a:avLst>
                <a:gd name="adj" fmla="val 280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455295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845820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4991" y="1769269"/>
              <a:ext cx="6979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F₁ 可满足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formula13"/>
                <p:cNvSpPr txBox="1">
                  <a:spLocks noGrp="1"/>
                </p:cNvSpPr>
                <p:nvPr/>
              </p:nvSpPr>
              <p:spPr>
                <a:xfrm>
                  <a:off x="781050" y="2085975"/>
                  <a:ext cx="4303395" cy="3238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</m:e>
                          <m:sub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∨</m:t>
                            </m:r>
                            <m:sSub>
                              <m:e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∧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¬</m:t>
                            </m:r>
                            <m:sSub>
                              <m:e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∨</m:t>
                            </m:r>
                            <m:sSub>
                              <m:e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∨</m:t>
                            </m:r>
                            <m:sSub>
                              <m:e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∧¬</m:t>
                        </m:r>
                        <m:sSub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b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2" name="Ellipse 12"/>
            <p:cNvSpPr/>
            <p:nvPr/>
          </p:nvSpPr>
          <p:spPr>
            <a:xfrm>
              <a:off x="781050" y="2516505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42899" y="255879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82040" y="2529840"/>
              <a:ext cx="250907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子式 ¬x₂ 为真，必须 x₂ = 0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1050" y="2851785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42899" y="289407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82040" y="2865120"/>
              <a:ext cx="285235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子式 x₁ ∨ x₂ 为真，必须 x₁ = 1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81050" y="3187065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42899" y="322935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82040" y="3200400"/>
              <a:ext cx="35871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子式 ¬x₁ ∨ x₂ ∨ x₃ 中前两个文字为假，必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须 x₃ = 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74573" y="3818096"/>
              <a:ext cx="4044442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令 (x₁, x₂, x₃) = (1, 0, 1)，F₁ 成真，F₁ 是可满足的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（这也是唯一的成真赋值）。</a:t>
              </a:r>
            </a:p>
          </p:txBody>
        </p:sp>
      </p:grpSp>
      <p:grpSp>
        <p:nvGrpSpPr>
          <p:cNvPr id="67" name="c2-card-1"/>
          <p:cNvGrpSpPr/>
          <p:nvPr/>
        </p:nvGrpSpPr>
        <p:grpSpPr>
          <a:xfrm>
            <a:off x="5598795" y="1524000"/>
            <a:ext cx="6059805" cy="4819650"/>
            <a:chOff x="5598795" y="1524000"/>
            <a:chExt cx="6059805" cy="4819650"/>
          </a:xfrm>
        </p:grpSpPr>
        <p:sp>
          <p:nvSpPr>
            <p:cNvPr id="23" name="Rectangle 23"/>
            <p:cNvSpPr/>
            <p:nvPr/>
          </p:nvSpPr>
          <p:spPr>
            <a:xfrm>
              <a:off x="5598795" y="1524000"/>
              <a:ext cx="6059805" cy="4819650"/>
            </a:xfrm>
            <a:prstGeom prst="roundRect">
              <a:avLst>
                <a:gd name="adj" fmla="val 276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5608320" y="1657350"/>
              <a:ext cx="47625" cy="455295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5846445" y="1733550"/>
              <a:ext cx="987742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916437" y="1769269"/>
              <a:ext cx="8487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F₂ 不可满足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formula14"/>
                <p:cNvSpPr txBox="1">
                  <a:spLocks noGrp="1"/>
                </p:cNvSpPr>
                <p:nvPr/>
              </p:nvSpPr>
              <p:spPr>
                <a:xfrm>
                  <a:off x="5846445" y="2085975"/>
                  <a:ext cx="5602605" cy="3238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</m:e>
                          <m:sub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∨¬</m:t>
                            </m:r>
                            <m:sSub>
                              <m:e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∨</m:t>
                            </m:r>
                            <m:sSub>
                              <m:e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∧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¬</m:t>
                            </m:r>
                            <m:sSub>
                              <m:e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∨¬</m:t>
                            </m:r>
                            <m:sSub>
                              <m:e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∨</m:t>
                            </m:r>
                            <m:sSub>
                              <m:e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∧</m:t>
                        </m:r>
                        <m:sSub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b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∧¬</m:t>
                        </m:r>
                        <m:sSub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b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8" name="TextBox 28"/>
            <p:cNvSpPr txBox="1"/>
            <p:nvPr/>
          </p:nvSpPr>
          <p:spPr>
            <a:xfrm>
              <a:off x="5838825" y="2529840"/>
              <a:ext cx="52539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子式依次记为 A₁、A₂、A₃ = x₂、A₄ = ¬x₃。按 (x₂, x₃) 分组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检查全部 8 种赋值：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846445" y="3126105"/>
              <a:ext cx="5602605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080807" y="3261836"/>
              <a:ext cx="76381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(x₂, x₃)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421619" y="3261836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x₁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826754" y="326183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为假的子式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888802" y="3261836"/>
              <a:ext cx="2232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F₂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180318" y="3710464"/>
              <a:ext cx="56478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(0, 0)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288507" y="3710464"/>
              <a:ext cx="47820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或 1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083106" y="3710464"/>
              <a:ext cx="6065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A₃ = x₂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0946559" y="371046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846445" y="4018598"/>
              <a:ext cx="56026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5846445" y="4023360"/>
              <a:ext cx="560260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180318" y="4159091"/>
              <a:ext cx="56478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(0, 1)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288507" y="4159091"/>
              <a:ext cx="47820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或 1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083106" y="4159091"/>
              <a:ext cx="69505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A₃ 和 A₄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946559" y="415909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5846445" y="4468178"/>
              <a:ext cx="56026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180318" y="4607719"/>
              <a:ext cx="56478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(1, 1)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288507" y="4607719"/>
              <a:ext cx="47820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或 1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083106" y="4607719"/>
              <a:ext cx="70399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A₄ = ¬x₃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0946559" y="460771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5846445" y="4916805"/>
              <a:ext cx="56026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5846445" y="4921568"/>
              <a:ext cx="560260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180318" y="5056346"/>
              <a:ext cx="56478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(1, 0)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473744" y="505634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7984808" y="4931092"/>
              <a:ext cx="2558415" cy="429578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8083106" y="5056346"/>
              <a:ext cx="14808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A₁ = x₁ ∨ ¬x₂ ∨ x₃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0946559" y="505634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5846445" y="5365432"/>
              <a:ext cx="56026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180318" y="5505926"/>
              <a:ext cx="56478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(1, 0)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7473744" y="550592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7984808" y="5379720"/>
              <a:ext cx="2558415" cy="429578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8083106" y="5505926"/>
              <a:ext cx="157698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A₂ = ¬x₁ ∨ ¬x₂ ∨ x₃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0946559" y="550592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5846445" y="3126105"/>
              <a:ext cx="5602605" cy="269271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3" name="Rectangle 63"/>
            <p:cNvSpPr/>
            <p:nvPr/>
          </p:nvSpPr>
          <p:spPr>
            <a:xfrm>
              <a:off x="7074218" y="312610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4" name="Rectangle 64"/>
            <p:cNvSpPr/>
            <p:nvPr/>
          </p:nvSpPr>
          <p:spPr>
            <a:xfrm>
              <a:off x="7970520" y="312610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5" name="Rectangle 65"/>
            <p:cNvSpPr/>
            <p:nvPr/>
          </p:nvSpPr>
          <p:spPr>
            <a:xfrm>
              <a:off x="10547985" y="312610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5839968" y="5935504"/>
              <a:ext cx="506678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 种赋值都使某个子式为假，F₂ 不存在成真赋值，不是可满足的。</a:t>
              </a:r>
            </a:p>
          </p:txBody>
        </p:sp>
      </p:grpSp>
      <p:grpSp>
        <p:nvGrpSpPr>
          <p:cNvPr id="7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8" name="TextBox 68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000114" cy="909257"/>
            <a:chOff x="520446" y="342900"/>
            <a:chExt cx="500011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6608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57700" y="407194"/>
              <a:ext cx="29174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第9章 NP 完全 · NP 完全问题与 Cook 定理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00011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SAT 属于 NP：不确定算法 EVAL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ode-1"/>
          <p:cNvGrpSpPr/>
          <p:nvPr/>
        </p:nvGrpSpPr>
        <p:grpSpPr>
          <a:xfrm>
            <a:off x="533400" y="1524000"/>
            <a:ext cx="5193982" cy="2877502"/>
            <a:chOff x="533400" y="1524000"/>
            <a:chExt cx="5193982" cy="287750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2877502"/>
            </a:xfrm>
            <a:prstGeom prst="roundRect">
              <a:avLst>
                <a:gd name="adj" fmla="val 331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3319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EVAL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2758440"/>
              <a:ext cx="5155882" cy="21621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552450" y="3190875"/>
              <a:ext cx="5155882" cy="21621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60654" y="1939290"/>
              <a:ext cx="3174492" cy="239687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02"/>
                </a:lnSpc>
              </a:pPr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EVAL(F, n)</a:t>
              </a:r>
              <a:br/>
              <a:r>
                <a:rPr lang="zh-CN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</a:t>
              </a:r>
              <a:r>
                <a:rPr lang="zh-CN" sz="120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F 是否可满足，变量 xᵢ，1 ≤ i ≤ n</a:t>
              </a:r>
              <a:br/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boolean x(1:n)</a:t>
              </a:r>
              <a:br/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for i ← 1 to n do   </a:t>
              </a:r>
              <a:r>
                <a:rPr lang="zh-CN" sz="120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选一组真值指派</a:t>
              </a:r>
              <a:br/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xᵢ ← choice(true, false)</a:t>
              </a:r>
              <a:br/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repeat</a:t>
              </a:r>
              <a:br/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F(x₁, …, xₙ) = true</a:t>
              </a:r>
              <a:br/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then success</a:t>
              </a:r>
              <a:br/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else failure</a:t>
              </a:r>
              <a:br/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endif</a:t>
              </a:r>
              <a:br/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 EVAL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4581525"/>
            <a:ext cx="5193982" cy="1467802"/>
            <a:chOff x="533400" y="4581525"/>
            <a:chExt cx="5193982" cy="1467802"/>
          </a:xfrm>
        </p:grpSpPr>
        <p:sp>
          <p:nvSpPr>
            <p:cNvPr id="13" name="Rectangle 13"/>
            <p:cNvSpPr/>
            <p:nvPr/>
          </p:nvSpPr>
          <p:spPr>
            <a:xfrm>
              <a:off x="533400" y="4581525"/>
              <a:ext cx="5193982" cy="1467802"/>
            </a:xfrm>
            <a:prstGeom prst="roundRect">
              <a:avLst>
                <a:gd name="adj" fmla="val 908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542925" y="4714875"/>
              <a:ext cx="47625" cy="1201102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69620" y="4779645"/>
              <a:ext cx="609600" cy="24765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57059" y="4813935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正确性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2381" y="5140166"/>
              <a:ext cx="4144264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 可满足 ⇔ 存在一组 choice 选择使 F(x₁, …, xₙ) =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true ⇔ EVAL 输出 1。</a:t>
              </a:r>
            </a:p>
          </p:txBody>
        </p:sp>
      </p:grpSp>
      <p:grpSp>
        <p:nvGrpSpPr>
          <p:cNvPr id="28" name="c2-card-1"/>
          <p:cNvGrpSpPr/>
          <p:nvPr/>
        </p:nvGrpSpPr>
        <p:grpSpPr>
          <a:xfrm>
            <a:off x="6032182" y="1524000"/>
            <a:ext cx="5626418" cy="1886902"/>
            <a:chOff x="6032182" y="1524000"/>
            <a:chExt cx="5626418" cy="1886902"/>
          </a:xfrm>
        </p:grpSpPr>
        <p:sp>
          <p:nvSpPr>
            <p:cNvPr id="19" name="Rectangle 19"/>
            <p:cNvSpPr/>
            <p:nvPr/>
          </p:nvSpPr>
          <p:spPr>
            <a:xfrm>
              <a:off x="6032182" y="1524000"/>
              <a:ext cx="5626418" cy="1886902"/>
            </a:xfrm>
            <a:prstGeom prst="roundRect">
              <a:avLst>
                <a:gd name="adj" fmla="val 7067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230302" y="172212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321742" y="17564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时间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6237922" y="2143125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94514" y="2082641"/>
              <a:ext cx="26272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猜想阶段：n 次 choice，O(n)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6237922" y="2460308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94514" y="2400776"/>
              <a:ext cx="4838573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验证阶段：代入赋值，逐个子式求值，时间与公式长度 |F| 成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正比，O(|F|)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6237922" y="3049905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94514" y="2989421"/>
              <a:ext cx="495768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合计 </a:t>
              </a:r>
              <a:r>
                <a:rPr lang="en-US" sz="142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O(n + |F|)</a:t>
              </a: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，相对输入长度是线性的，所以 SAT ∈ NP</a:t>
              </a:r>
            </a:p>
          </p:txBody>
        </p:sp>
      </p:grpSp>
      <p:grpSp>
        <p:nvGrpSpPr>
          <p:cNvPr id="34" name="c2-card-2"/>
          <p:cNvGrpSpPr/>
          <p:nvPr/>
        </p:nvGrpSpPr>
        <p:grpSpPr>
          <a:xfrm>
            <a:off x="6032182" y="3590925"/>
            <a:ext cx="5626418" cy="1522095"/>
            <a:chOff x="6032182" y="3590925"/>
            <a:chExt cx="5626418" cy="1522095"/>
          </a:xfrm>
        </p:grpSpPr>
        <p:sp>
          <p:nvSpPr>
            <p:cNvPr id="29" name="Rectangle 29"/>
            <p:cNvSpPr/>
            <p:nvPr/>
          </p:nvSpPr>
          <p:spPr>
            <a:xfrm>
              <a:off x="6032182" y="3590925"/>
              <a:ext cx="5626418" cy="1522095"/>
            </a:xfrm>
            <a:prstGeom prst="roundRect">
              <a:avLst>
                <a:gd name="adj" fmla="val 876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6041708" y="3724275"/>
              <a:ext cx="47625" cy="125539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268402" y="378904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359842" y="382333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261164" y="4149566"/>
              <a:ext cx="4982845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原课件把 EVAL 的时间记为 O(n)，只算了猜想阶段。计算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F(x₁, …, xₙ) 需要扫描整个公式，公式可以比 n 长得多（例如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有很多子式）。结论 SAT ∈ NP 不受影响。</a:t>
              </a:r>
            </a:p>
          </p:txBody>
        </p:sp>
      </p:grpSp>
      <p:grpSp>
        <p:nvGrpSpPr>
          <p:cNvPr id="41" name="c2-callout-3"/>
          <p:cNvGrpSpPr/>
          <p:nvPr/>
        </p:nvGrpSpPr>
        <p:grpSpPr>
          <a:xfrm>
            <a:off x="6032182" y="5293042"/>
            <a:ext cx="5626418" cy="756285"/>
            <a:chOff x="6032182" y="5293042"/>
            <a:chExt cx="5626418" cy="756285"/>
          </a:xfrm>
        </p:grpSpPr>
        <p:sp>
          <p:nvSpPr>
            <p:cNvPr id="35" name="Rectangle 35"/>
            <p:cNvSpPr/>
            <p:nvPr/>
          </p:nvSpPr>
          <p:spPr>
            <a:xfrm>
              <a:off x="6032182" y="5293042"/>
              <a:ext cx="5626418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6236970" y="5571173"/>
              <a:ext cx="200026" cy="200025"/>
              <a:chOff x="6236970" y="5571173"/>
              <a:chExt cx="200026" cy="200025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6236970" y="557117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6276709" y="561562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6311424" y="572674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6539294" y="5441156"/>
              <a:ext cx="461314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确定地求解 SAT 要逐个尝试 2ⁿ 组赋值，F₂ 的 8 行真值表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就是 n = 3 时的穷举。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2" name="TextBox 42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479081" cy="909257"/>
            <a:chOff x="520446" y="342900"/>
            <a:chExt cx="747908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6608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57700" y="407194"/>
              <a:ext cx="29174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第9章 NP 完全 · NP 完全问题与 Cook 定理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47908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Cook 定理：SAT 是第一个被证明的 NP 完全问题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9" name="c1-card-1"/>
          <p:cNvGrpSpPr/>
          <p:nvPr/>
        </p:nvGrpSpPr>
        <p:grpSpPr>
          <a:xfrm>
            <a:off x="533400" y="1524000"/>
            <a:ext cx="4977765" cy="3198495"/>
            <a:chOff x="533400" y="1524000"/>
            <a:chExt cx="4977765" cy="319849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3198495"/>
            </a:xfrm>
            <a:prstGeom prst="roundRect">
              <a:avLst>
                <a:gd name="adj" fmla="val 416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93179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867728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7256" y="1769269"/>
              <a:ext cx="7143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Cook 定理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755457" y="1768792"/>
              <a:ext cx="164066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SAT 是 NP 完全的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1395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即任何 NP 问题都可以在多项式时间内归约为 SAT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问题。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86765" y="281368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44880" y="2750820"/>
              <a:ext cx="36235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SAT 是第一个 NPC 问题（Cook，1971）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6765" y="314896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4880" y="3086100"/>
              <a:ext cx="4015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证明略。思路是把不确定算法在多项式时间内的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执行过程写成一个合取范式，执行能到达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success 当且仅当这个公式可满足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86765" y="405574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44880" y="3992880"/>
              <a:ext cx="41109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 SAT 为起点不断归约，现在已知的 NPC 问题超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 3000 个</a:t>
              </a:r>
            </a:p>
          </p:txBody>
        </p:sp>
      </p:grpSp>
      <p:grpSp>
        <p:nvGrpSpPr>
          <p:cNvPr id="25" name="c1-callout-2"/>
          <p:cNvGrpSpPr/>
          <p:nvPr/>
        </p:nvGrpSpPr>
        <p:grpSpPr>
          <a:xfrm>
            <a:off x="533400" y="4912995"/>
            <a:ext cx="4977765" cy="1059180"/>
            <a:chOff x="533400" y="4912995"/>
            <a:chExt cx="4977765" cy="1059180"/>
          </a:xfrm>
        </p:grpSpPr>
        <p:sp>
          <p:nvSpPr>
            <p:cNvPr id="20" name="Rectangle 20"/>
            <p:cNvSpPr/>
            <p:nvPr/>
          </p:nvSpPr>
          <p:spPr>
            <a:xfrm>
              <a:off x="533400" y="4912995"/>
              <a:ext cx="4977765" cy="1059180"/>
            </a:xfrm>
            <a:prstGeom prst="roundRect">
              <a:avLst>
                <a:gd name="adj" fmla="val 10791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738188" y="5342575"/>
              <a:ext cx="200023" cy="200023"/>
              <a:chOff x="738188" y="5342575"/>
              <a:chExt cx="200023" cy="200023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738188" y="534257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71538" y="54092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1040130" y="5061585"/>
              <a:ext cx="40157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证明 L ∈ NP 是 NPC 的关键，在于从已知 NPC 问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题 L′ 的实例 I′ 出发，在多项式时间内构建出 L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的一个实例 I。</a:t>
              </a:r>
            </a:p>
          </p:txBody>
        </p:sp>
      </p:grpSp>
      <p:grpSp>
        <p:nvGrpSpPr>
          <p:cNvPr id="52" name="c2-tree-1"/>
          <p:cNvGrpSpPr/>
          <p:nvPr/>
        </p:nvGrpSpPr>
        <p:grpSpPr>
          <a:xfrm>
            <a:off x="6227445" y="1706880"/>
            <a:ext cx="5153977" cy="2777490"/>
            <a:chOff x="6227445" y="1706880"/>
            <a:chExt cx="5153977" cy="2777490"/>
          </a:xfrm>
        </p:grpSpPr>
        <p:sp>
          <p:nvSpPr>
            <p:cNvPr id="26" name="Freeform 26"/>
            <p:cNvSpPr/>
            <p:nvPr/>
          </p:nvSpPr>
          <p:spPr>
            <a:xfrm>
              <a:off x="6789420" y="2703195"/>
              <a:ext cx="9525" cy="784860"/>
            </a:xfrm>
            <a:custGeom>
              <a:avLst/>
              <a:gdLst/>
              <a:ahLst/>
              <a:cxnLst/>
              <a:rect l="l" t="t" r="r" b="b"/>
              <a:pathLst>
                <a:path w="9525" h="784860">
                  <a:moveTo>
                    <a:pt x="0" y="0"/>
                  </a:moveTo>
                  <a:lnTo>
                    <a:pt x="0" y="78486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8737282" y="2703195"/>
              <a:ext cx="9525" cy="784860"/>
            </a:xfrm>
            <a:custGeom>
              <a:avLst/>
              <a:gdLst/>
              <a:ahLst/>
              <a:cxnLst/>
              <a:rect l="l" t="t" r="r" b="b"/>
              <a:pathLst>
                <a:path w="9525" h="784860">
                  <a:moveTo>
                    <a:pt x="0" y="0"/>
                  </a:moveTo>
                  <a:lnTo>
                    <a:pt x="0" y="78486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10197465" y="3488055"/>
              <a:ext cx="9525" cy="786765"/>
            </a:xfrm>
            <a:custGeom>
              <a:avLst/>
              <a:gdLst/>
              <a:ahLst/>
              <a:cxnLst/>
              <a:rect l="l" t="t" r="r" b="b"/>
              <a:pathLst>
                <a:path w="9525" h="786765">
                  <a:moveTo>
                    <a:pt x="0" y="0"/>
                  </a:moveTo>
                  <a:lnTo>
                    <a:pt x="0" y="78676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10197465" y="2703195"/>
              <a:ext cx="487680" cy="784860"/>
            </a:xfrm>
            <a:custGeom>
              <a:avLst/>
              <a:gdLst/>
              <a:ahLst/>
              <a:cxnLst/>
              <a:rect l="l" t="t" r="r" b="b"/>
              <a:pathLst>
                <a:path w="487680" h="784860">
                  <a:moveTo>
                    <a:pt x="487680" y="0"/>
                  </a:moveTo>
                  <a:lnTo>
                    <a:pt x="0" y="78486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10685145" y="2703195"/>
              <a:ext cx="486728" cy="784860"/>
            </a:xfrm>
            <a:custGeom>
              <a:avLst/>
              <a:gdLst/>
              <a:ahLst/>
              <a:cxnLst/>
              <a:rect l="l" t="t" r="r" b="b"/>
              <a:pathLst>
                <a:path w="486728" h="784860">
                  <a:moveTo>
                    <a:pt x="0" y="0"/>
                  </a:moveTo>
                  <a:lnTo>
                    <a:pt x="486728" y="78486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6789420" y="1916430"/>
              <a:ext cx="1947862" cy="786765"/>
            </a:xfrm>
            <a:custGeom>
              <a:avLst/>
              <a:gdLst/>
              <a:ahLst/>
              <a:cxnLst/>
              <a:rect l="l" t="t" r="r" b="b"/>
              <a:pathLst>
                <a:path w="1947862" h="786765">
                  <a:moveTo>
                    <a:pt x="1947862" y="0"/>
                  </a:moveTo>
                  <a:lnTo>
                    <a:pt x="0" y="78676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8737282" y="1916430"/>
              <a:ext cx="9525" cy="786765"/>
            </a:xfrm>
            <a:custGeom>
              <a:avLst/>
              <a:gdLst/>
              <a:ahLst/>
              <a:cxnLst/>
              <a:rect l="l" t="t" r="r" b="b"/>
              <a:pathLst>
                <a:path w="9525" h="786765">
                  <a:moveTo>
                    <a:pt x="0" y="0"/>
                  </a:moveTo>
                  <a:lnTo>
                    <a:pt x="0" y="78676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8737282" y="1916430"/>
              <a:ext cx="1947862" cy="786765"/>
            </a:xfrm>
            <a:custGeom>
              <a:avLst/>
              <a:gdLst/>
              <a:ahLst/>
              <a:cxnLst/>
              <a:rect l="l" t="t" r="r" b="b"/>
              <a:pathLst>
                <a:path w="1947862" h="786765">
                  <a:moveTo>
                    <a:pt x="0" y="0"/>
                  </a:moveTo>
                  <a:lnTo>
                    <a:pt x="1947862" y="78676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6579870" y="3278505"/>
              <a:ext cx="419100" cy="419100"/>
            </a:xfrm>
            <a:prstGeom prst="roundRect">
              <a:avLst>
                <a:gd name="adj" fmla="val 18182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6227445" y="2493645"/>
              <a:ext cx="112395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8527732" y="3278505"/>
              <a:ext cx="419100" cy="419100"/>
            </a:xfrm>
            <a:prstGeom prst="roundRect">
              <a:avLst>
                <a:gd name="adj" fmla="val 18182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8456295" y="2493645"/>
              <a:ext cx="561975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9785032" y="4065270"/>
              <a:ext cx="826770" cy="419100"/>
            </a:xfrm>
            <a:prstGeom prst="roundRect">
              <a:avLst>
                <a:gd name="adj" fmla="val 18182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9864090" y="3278505"/>
              <a:ext cx="666750" cy="419100"/>
            </a:xfrm>
            <a:prstGeom prst="roundRect">
              <a:avLst>
                <a:gd name="adj" fmla="val 18182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10962322" y="3278505"/>
              <a:ext cx="419100" cy="419100"/>
            </a:xfrm>
            <a:prstGeom prst="roundRect">
              <a:avLst>
                <a:gd name="adj" fmla="val 18182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10275570" y="2493645"/>
              <a:ext cx="819150" cy="419100"/>
            </a:xfrm>
            <a:prstGeom prst="roundRect">
              <a:avLst>
                <a:gd name="adj" fmla="val 18182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500110" y="1706880"/>
              <a:ext cx="473392" cy="419100"/>
            </a:xfrm>
            <a:prstGeom prst="roundRect">
              <a:avLst>
                <a:gd name="adj" fmla="val 18182"/>
              </a:avLst>
            </a:prstGeom>
            <a:solidFill>
              <a:srgbClr val="2F4B9A"/>
            </a:solidFill>
            <a:ln w="17145">
              <a:solidFill>
                <a:srgbClr val="2F4B9A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736678" y="341376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298692" y="2627948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最大可满足性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684541" y="341376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534042" y="2627948"/>
              <a:ext cx="40648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3SAT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9864444" y="4199572"/>
              <a:ext cx="666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0/1 背包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949053" y="341376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子集和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119131" y="341376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355961" y="262794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恰好覆盖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583328" y="1842135"/>
              <a:ext cx="3079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SAT</a:t>
              </a:r>
            </a:p>
          </p:txBody>
        </p:sp>
      </p:grpSp>
      <p:grpSp>
        <p:nvGrpSpPr>
          <p:cNvPr id="59" name="c2-callout-2"/>
          <p:cNvGrpSpPr/>
          <p:nvPr/>
        </p:nvGrpSpPr>
        <p:grpSpPr>
          <a:xfrm>
            <a:off x="5815965" y="4857750"/>
            <a:ext cx="5842635" cy="782955"/>
            <a:chOff x="5815965" y="4857750"/>
            <a:chExt cx="5842635" cy="782955"/>
          </a:xfrm>
        </p:grpSpPr>
        <p:sp>
          <p:nvSpPr>
            <p:cNvPr id="53" name="Rectangle 53"/>
            <p:cNvSpPr/>
            <p:nvPr/>
          </p:nvSpPr>
          <p:spPr>
            <a:xfrm>
              <a:off x="5815965" y="4857750"/>
              <a:ext cx="5842635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7" name="Group 57"/>
            <p:cNvGrpSpPr/>
            <p:nvPr/>
          </p:nvGrpSpPr>
          <p:grpSpPr>
            <a:xfrm>
              <a:off x="6020753" y="5149215"/>
              <a:ext cx="200026" cy="200026"/>
              <a:chOff x="6020753" y="5149215"/>
              <a:chExt cx="200026" cy="200026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6020753" y="514921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6120765" y="521589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6109653" y="524922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8" name="TextBox 58"/>
            <p:cNvSpPr txBox="1"/>
            <p:nvPr/>
          </p:nvSpPr>
          <p:spPr>
            <a:xfrm>
              <a:off x="6322695" y="5006340"/>
              <a:ext cx="47205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树中上层问题 ≤ₚ 下层问题。橙色一支就是第五部分要证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明的归约链。</a:t>
              </a:r>
            </a:p>
          </p:txBody>
        </p:sp>
      </p:grpSp>
      <p:grpSp>
        <p:nvGrpSpPr>
          <p:cNvPr id="6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0" name="TextBox 60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496771" cy="909257"/>
            <a:chOff x="520446" y="342900"/>
            <a:chExt cx="549677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6608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57700" y="407194"/>
              <a:ext cx="29174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第9章 NP 完全 · NP 完全问题与 Cook 定理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49677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P、NP、NP 完全、NP 难之间的关系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2" name="venn-neq"/>
          <p:cNvGrpSpPr/>
          <p:nvPr/>
        </p:nvGrpSpPr>
        <p:grpSpPr>
          <a:xfrm>
            <a:off x="533400" y="1524000"/>
            <a:ext cx="5448300" cy="3733800"/>
            <a:chOff x="533400" y="1524000"/>
            <a:chExt cx="5448300" cy="37338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48300" cy="3733800"/>
            </a:xfrm>
            <a:prstGeom prst="roundRect">
              <a:avLst>
                <a:gd name="adj" fmla="val 3571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17042" y="1683068"/>
              <a:ext cx="263786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若 P ≠ NP（多数研究者的猜想）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1162050" y="3314700"/>
              <a:ext cx="3390900" cy="1790700"/>
            </a:xfrm>
            <a:prstGeom prst="ellipse">
              <a:avLst/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0" name="Polygon 10"/>
            <p:cNvSpPr/>
            <p:nvPr/>
          </p:nvSpPr>
          <p:spPr>
            <a:xfrm>
              <a:off x="2362200" y="2247900"/>
              <a:ext cx="3276600" cy="1962150"/>
            </a:xfrm>
            <a:custGeom>
              <a:avLst/>
              <a:gdLst/>
              <a:ahLst/>
              <a:cxnLst/>
              <a:rect l="l" t="t" r="r" b="b"/>
              <a:pathLst>
                <a:path w="3276600" h="1962150">
                  <a:moveTo>
                    <a:pt x="3276600" y="0"/>
                  </a:moveTo>
                  <a:lnTo>
                    <a:pt x="3275648" y="68580"/>
                  </a:lnTo>
                  <a:lnTo>
                    <a:pt x="3272790" y="137160"/>
                  </a:lnTo>
                  <a:lnTo>
                    <a:pt x="3268028" y="204788"/>
                  </a:lnTo>
                  <a:lnTo>
                    <a:pt x="3260407" y="273367"/>
                  </a:lnTo>
                  <a:lnTo>
                    <a:pt x="3251835" y="340995"/>
                  </a:lnTo>
                  <a:lnTo>
                    <a:pt x="3240405" y="407670"/>
                  </a:lnTo>
                  <a:lnTo>
                    <a:pt x="3228022" y="474345"/>
                  </a:lnTo>
                  <a:lnTo>
                    <a:pt x="3212782" y="541020"/>
                  </a:lnTo>
                  <a:lnTo>
                    <a:pt x="3196590" y="606742"/>
                  </a:lnTo>
                  <a:lnTo>
                    <a:pt x="3177540" y="671512"/>
                  </a:lnTo>
                  <a:lnTo>
                    <a:pt x="3157538" y="735330"/>
                  </a:lnTo>
                  <a:lnTo>
                    <a:pt x="3134678" y="798195"/>
                  </a:lnTo>
                  <a:lnTo>
                    <a:pt x="3110865" y="860108"/>
                  </a:lnTo>
                  <a:lnTo>
                    <a:pt x="3085148" y="921067"/>
                  </a:lnTo>
                  <a:lnTo>
                    <a:pt x="3057525" y="981075"/>
                  </a:lnTo>
                  <a:lnTo>
                    <a:pt x="3027998" y="1040130"/>
                  </a:lnTo>
                  <a:lnTo>
                    <a:pt x="2996565" y="1097280"/>
                  </a:lnTo>
                  <a:lnTo>
                    <a:pt x="2964180" y="1153478"/>
                  </a:lnTo>
                  <a:lnTo>
                    <a:pt x="2928938" y="1207770"/>
                  </a:lnTo>
                  <a:lnTo>
                    <a:pt x="2893695" y="1261110"/>
                  </a:lnTo>
                  <a:lnTo>
                    <a:pt x="2855595" y="1312545"/>
                  </a:lnTo>
                  <a:lnTo>
                    <a:pt x="2816543" y="1363028"/>
                  </a:lnTo>
                  <a:lnTo>
                    <a:pt x="2776538" y="1411605"/>
                  </a:lnTo>
                  <a:lnTo>
                    <a:pt x="2734628" y="1458278"/>
                  </a:lnTo>
                  <a:lnTo>
                    <a:pt x="2691765" y="1503045"/>
                  </a:lnTo>
                  <a:lnTo>
                    <a:pt x="2646998" y="1545908"/>
                  </a:lnTo>
                  <a:lnTo>
                    <a:pt x="2601278" y="1587818"/>
                  </a:lnTo>
                  <a:lnTo>
                    <a:pt x="2554605" y="1626870"/>
                  </a:lnTo>
                  <a:lnTo>
                    <a:pt x="2506028" y="1664018"/>
                  </a:lnTo>
                  <a:lnTo>
                    <a:pt x="2457450" y="1699260"/>
                  </a:lnTo>
                  <a:lnTo>
                    <a:pt x="2406968" y="1732597"/>
                  </a:lnTo>
                  <a:lnTo>
                    <a:pt x="2356485" y="1764030"/>
                  </a:lnTo>
                  <a:lnTo>
                    <a:pt x="2305050" y="1792605"/>
                  </a:lnTo>
                  <a:lnTo>
                    <a:pt x="2251710" y="1819275"/>
                  </a:lnTo>
                  <a:lnTo>
                    <a:pt x="2198370" y="1844040"/>
                  </a:lnTo>
                  <a:lnTo>
                    <a:pt x="2145030" y="1865947"/>
                  </a:lnTo>
                  <a:lnTo>
                    <a:pt x="2089785" y="1885950"/>
                  </a:lnTo>
                  <a:lnTo>
                    <a:pt x="2034540" y="1904047"/>
                  </a:lnTo>
                  <a:lnTo>
                    <a:pt x="1979295" y="1919288"/>
                  </a:lnTo>
                  <a:lnTo>
                    <a:pt x="1923097" y="1932622"/>
                  </a:lnTo>
                  <a:lnTo>
                    <a:pt x="1865947" y="1943100"/>
                  </a:lnTo>
                  <a:lnTo>
                    <a:pt x="1809750" y="1951672"/>
                  </a:lnTo>
                  <a:lnTo>
                    <a:pt x="1752600" y="1957388"/>
                  </a:lnTo>
                  <a:lnTo>
                    <a:pt x="1695450" y="1961197"/>
                  </a:lnTo>
                  <a:lnTo>
                    <a:pt x="1638300" y="1962150"/>
                  </a:lnTo>
                  <a:lnTo>
                    <a:pt x="1581150" y="1961197"/>
                  </a:lnTo>
                  <a:lnTo>
                    <a:pt x="1524000" y="1957388"/>
                  </a:lnTo>
                  <a:lnTo>
                    <a:pt x="1466850" y="1951672"/>
                  </a:lnTo>
                  <a:lnTo>
                    <a:pt x="1410653" y="1943100"/>
                  </a:lnTo>
                  <a:lnTo>
                    <a:pt x="1353503" y="1932622"/>
                  </a:lnTo>
                  <a:lnTo>
                    <a:pt x="1297305" y="1919288"/>
                  </a:lnTo>
                  <a:lnTo>
                    <a:pt x="1242060" y="1904047"/>
                  </a:lnTo>
                  <a:lnTo>
                    <a:pt x="1186815" y="1885950"/>
                  </a:lnTo>
                  <a:lnTo>
                    <a:pt x="1131570" y="1865947"/>
                  </a:lnTo>
                  <a:lnTo>
                    <a:pt x="1078230" y="1844040"/>
                  </a:lnTo>
                  <a:lnTo>
                    <a:pt x="1024890" y="1819275"/>
                  </a:lnTo>
                  <a:lnTo>
                    <a:pt x="971550" y="1792605"/>
                  </a:lnTo>
                  <a:lnTo>
                    <a:pt x="920115" y="1764030"/>
                  </a:lnTo>
                  <a:lnTo>
                    <a:pt x="869633" y="1732597"/>
                  </a:lnTo>
                  <a:lnTo>
                    <a:pt x="819150" y="1699260"/>
                  </a:lnTo>
                  <a:lnTo>
                    <a:pt x="770572" y="1664018"/>
                  </a:lnTo>
                  <a:lnTo>
                    <a:pt x="721995" y="1626870"/>
                  </a:lnTo>
                  <a:lnTo>
                    <a:pt x="675322" y="1587818"/>
                  </a:lnTo>
                  <a:lnTo>
                    <a:pt x="629603" y="1545908"/>
                  </a:lnTo>
                  <a:lnTo>
                    <a:pt x="584835" y="1503045"/>
                  </a:lnTo>
                  <a:lnTo>
                    <a:pt x="541972" y="1458278"/>
                  </a:lnTo>
                  <a:lnTo>
                    <a:pt x="500062" y="1411605"/>
                  </a:lnTo>
                  <a:lnTo>
                    <a:pt x="460058" y="1363028"/>
                  </a:lnTo>
                  <a:lnTo>
                    <a:pt x="421005" y="1312545"/>
                  </a:lnTo>
                  <a:lnTo>
                    <a:pt x="382905" y="1261110"/>
                  </a:lnTo>
                  <a:lnTo>
                    <a:pt x="347662" y="1207770"/>
                  </a:lnTo>
                  <a:lnTo>
                    <a:pt x="312420" y="1153478"/>
                  </a:lnTo>
                  <a:lnTo>
                    <a:pt x="280035" y="1097280"/>
                  </a:lnTo>
                  <a:lnTo>
                    <a:pt x="248603" y="1040130"/>
                  </a:lnTo>
                  <a:lnTo>
                    <a:pt x="219075" y="981075"/>
                  </a:lnTo>
                  <a:lnTo>
                    <a:pt x="191453" y="921067"/>
                  </a:lnTo>
                  <a:lnTo>
                    <a:pt x="165735" y="860108"/>
                  </a:lnTo>
                  <a:lnTo>
                    <a:pt x="141922" y="798195"/>
                  </a:lnTo>
                  <a:lnTo>
                    <a:pt x="119062" y="735330"/>
                  </a:lnTo>
                  <a:lnTo>
                    <a:pt x="99060" y="671512"/>
                  </a:lnTo>
                  <a:lnTo>
                    <a:pt x="80010" y="606742"/>
                  </a:lnTo>
                  <a:lnTo>
                    <a:pt x="63817" y="541020"/>
                  </a:lnTo>
                  <a:lnTo>
                    <a:pt x="48577" y="474345"/>
                  </a:lnTo>
                  <a:lnTo>
                    <a:pt x="36195" y="407670"/>
                  </a:lnTo>
                  <a:lnTo>
                    <a:pt x="24765" y="340995"/>
                  </a:lnTo>
                  <a:lnTo>
                    <a:pt x="16192" y="273367"/>
                  </a:lnTo>
                  <a:lnTo>
                    <a:pt x="8573" y="204788"/>
                  </a:lnTo>
                  <a:lnTo>
                    <a:pt x="3810" y="137160"/>
                  </a:lnTo>
                  <a:lnTo>
                    <a:pt x="952" y="685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EE7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362200" y="2247900"/>
              <a:ext cx="3276600" cy="1962150"/>
            </a:xfrm>
            <a:custGeom>
              <a:avLst/>
              <a:gdLst/>
              <a:ahLst/>
              <a:cxnLst/>
              <a:rect l="l" t="t" r="r" b="b"/>
              <a:pathLst>
                <a:path w="3276600" h="1962150">
                  <a:moveTo>
                    <a:pt x="3276600" y="0"/>
                  </a:moveTo>
                  <a:lnTo>
                    <a:pt x="3275648" y="68580"/>
                  </a:lnTo>
                  <a:lnTo>
                    <a:pt x="3272790" y="137160"/>
                  </a:lnTo>
                  <a:lnTo>
                    <a:pt x="3268028" y="204788"/>
                  </a:lnTo>
                  <a:lnTo>
                    <a:pt x="3260407" y="273367"/>
                  </a:lnTo>
                  <a:lnTo>
                    <a:pt x="3251835" y="340995"/>
                  </a:lnTo>
                  <a:lnTo>
                    <a:pt x="3240405" y="407670"/>
                  </a:lnTo>
                  <a:lnTo>
                    <a:pt x="3228022" y="474345"/>
                  </a:lnTo>
                  <a:lnTo>
                    <a:pt x="3212782" y="541020"/>
                  </a:lnTo>
                  <a:lnTo>
                    <a:pt x="3196590" y="606742"/>
                  </a:lnTo>
                  <a:lnTo>
                    <a:pt x="3177540" y="671512"/>
                  </a:lnTo>
                  <a:lnTo>
                    <a:pt x="3157538" y="735330"/>
                  </a:lnTo>
                  <a:lnTo>
                    <a:pt x="3134678" y="798195"/>
                  </a:lnTo>
                  <a:lnTo>
                    <a:pt x="3110865" y="860108"/>
                  </a:lnTo>
                  <a:lnTo>
                    <a:pt x="3085148" y="921067"/>
                  </a:lnTo>
                  <a:lnTo>
                    <a:pt x="3057525" y="981075"/>
                  </a:lnTo>
                  <a:lnTo>
                    <a:pt x="3027998" y="1040130"/>
                  </a:lnTo>
                  <a:lnTo>
                    <a:pt x="2996565" y="1097280"/>
                  </a:lnTo>
                  <a:lnTo>
                    <a:pt x="2964180" y="1153478"/>
                  </a:lnTo>
                  <a:lnTo>
                    <a:pt x="2928938" y="1207770"/>
                  </a:lnTo>
                  <a:lnTo>
                    <a:pt x="2893695" y="1261110"/>
                  </a:lnTo>
                  <a:lnTo>
                    <a:pt x="2855595" y="1312545"/>
                  </a:lnTo>
                  <a:lnTo>
                    <a:pt x="2816543" y="1363028"/>
                  </a:lnTo>
                  <a:lnTo>
                    <a:pt x="2776538" y="1411605"/>
                  </a:lnTo>
                  <a:lnTo>
                    <a:pt x="2734628" y="1458278"/>
                  </a:lnTo>
                  <a:lnTo>
                    <a:pt x="2691765" y="1503045"/>
                  </a:lnTo>
                  <a:lnTo>
                    <a:pt x="2646998" y="1545908"/>
                  </a:lnTo>
                  <a:lnTo>
                    <a:pt x="2601278" y="1587818"/>
                  </a:lnTo>
                  <a:lnTo>
                    <a:pt x="2554605" y="1626870"/>
                  </a:lnTo>
                  <a:lnTo>
                    <a:pt x="2506028" y="1664018"/>
                  </a:lnTo>
                  <a:lnTo>
                    <a:pt x="2457450" y="1699260"/>
                  </a:lnTo>
                  <a:lnTo>
                    <a:pt x="2406968" y="1732597"/>
                  </a:lnTo>
                  <a:lnTo>
                    <a:pt x="2356485" y="1764030"/>
                  </a:lnTo>
                  <a:lnTo>
                    <a:pt x="2305050" y="1792605"/>
                  </a:lnTo>
                  <a:lnTo>
                    <a:pt x="2251710" y="1819275"/>
                  </a:lnTo>
                  <a:lnTo>
                    <a:pt x="2198370" y="1844040"/>
                  </a:lnTo>
                  <a:lnTo>
                    <a:pt x="2145030" y="1865947"/>
                  </a:lnTo>
                  <a:lnTo>
                    <a:pt x="2089785" y="1885950"/>
                  </a:lnTo>
                  <a:lnTo>
                    <a:pt x="2034540" y="1904047"/>
                  </a:lnTo>
                  <a:lnTo>
                    <a:pt x="1979295" y="1919288"/>
                  </a:lnTo>
                  <a:lnTo>
                    <a:pt x="1923097" y="1932622"/>
                  </a:lnTo>
                  <a:lnTo>
                    <a:pt x="1865947" y="1943100"/>
                  </a:lnTo>
                  <a:lnTo>
                    <a:pt x="1809750" y="1951672"/>
                  </a:lnTo>
                  <a:lnTo>
                    <a:pt x="1752600" y="1957388"/>
                  </a:lnTo>
                  <a:lnTo>
                    <a:pt x="1695450" y="1961197"/>
                  </a:lnTo>
                  <a:lnTo>
                    <a:pt x="1638300" y="1962150"/>
                  </a:lnTo>
                  <a:lnTo>
                    <a:pt x="1581150" y="1961197"/>
                  </a:lnTo>
                  <a:lnTo>
                    <a:pt x="1524000" y="1957388"/>
                  </a:lnTo>
                  <a:lnTo>
                    <a:pt x="1466850" y="1951672"/>
                  </a:lnTo>
                  <a:lnTo>
                    <a:pt x="1410653" y="1943100"/>
                  </a:lnTo>
                  <a:lnTo>
                    <a:pt x="1353503" y="1932622"/>
                  </a:lnTo>
                  <a:lnTo>
                    <a:pt x="1297305" y="1919288"/>
                  </a:lnTo>
                  <a:lnTo>
                    <a:pt x="1242060" y="1904047"/>
                  </a:lnTo>
                  <a:lnTo>
                    <a:pt x="1186815" y="1885950"/>
                  </a:lnTo>
                  <a:lnTo>
                    <a:pt x="1131570" y="1865947"/>
                  </a:lnTo>
                  <a:lnTo>
                    <a:pt x="1078230" y="1844040"/>
                  </a:lnTo>
                  <a:lnTo>
                    <a:pt x="1024890" y="1819275"/>
                  </a:lnTo>
                  <a:lnTo>
                    <a:pt x="971550" y="1792605"/>
                  </a:lnTo>
                  <a:lnTo>
                    <a:pt x="920115" y="1764030"/>
                  </a:lnTo>
                  <a:lnTo>
                    <a:pt x="869633" y="1732597"/>
                  </a:lnTo>
                  <a:lnTo>
                    <a:pt x="819150" y="1699260"/>
                  </a:lnTo>
                  <a:lnTo>
                    <a:pt x="770572" y="1664018"/>
                  </a:lnTo>
                  <a:lnTo>
                    <a:pt x="721995" y="1626870"/>
                  </a:lnTo>
                  <a:lnTo>
                    <a:pt x="675322" y="1587818"/>
                  </a:lnTo>
                  <a:lnTo>
                    <a:pt x="629603" y="1545908"/>
                  </a:lnTo>
                  <a:lnTo>
                    <a:pt x="584835" y="1503045"/>
                  </a:lnTo>
                  <a:lnTo>
                    <a:pt x="541972" y="1458278"/>
                  </a:lnTo>
                  <a:lnTo>
                    <a:pt x="500062" y="1411605"/>
                  </a:lnTo>
                  <a:lnTo>
                    <a:pt x="460058" y="1363028"/>
                  </a:lnTo>
                  <a:lnTo>
                    <a:pt x="421005" y="1312545"/>
                  </a:lnTo>
                  <a:lnTo>
                    <a:pt x="382905" y="1261110"/>
                  </a:lnTo>
                  <a:lnTo>
                    <a:pt x="347662" y="1207770"/>
                  </a:lnTo>
                  <a:lnTo>
                    <a:pt x="312420" y="1153478"/>
                  </a:lnTo>
                  <a:lnTo>
                    <a:pt x="280035" y="1097280"/>
                  </a:lnTo>
                  <a:lnTo>
                    <a:pt x="248603" y="1040130"/>
                  </a:lnTo>
                  <a:lnTo>
                    <a:pt x="219075" y="981075"/>
                  </a:lnTo>
                  <a:lnTo>
                    <a:pt x="191453" y="921067"/>
                  </a:lnTo>
                  <a:lnTo>
                    <a:pt x="165735" y="860108"/>
                  </a:lnTo>
                  <a:lnTo>
                    <a:pt x="141922" y="798195"/>
                  </a:lnTo>
                  <a:lnTo>
                    <a:pt x="119062" y="735330"/>
                  </a:lnTo>
                  <a:lnTo>
                    <a:pt x="99060" y="671512"/>
                  </a:lnTo>
                  <a:lnTo>
                    <a:pt x="80010" y="606742"/>
                  </a:lnTo>
                  <a:lnTo>
                    <a:pt x="63817" y="541020"/>
                  </a:lnTo>
                  <a:lnTo>
                    <a:pt x="48577" y="474345"/>
                  </a:lnTo>
                  <a:lnTo>
                    <a:pt x="36195" y="407670"/>
                  </a:lnTo>
                  <a:lnTo>
                    <a:pt x="24765" y="340995"/>
                  </a:lnTo>
                  <a:lnTo>
                    <a:pt x="16192" y="273367"/>
                  </a:lnTo>
                  <a:lnTo>
                    <a:pt x="8573" y="204788"/>
                  </a:lnTo>
                  <a:lnTo>
                    <a:pt x="3810" y="137160"/>
                  </a:lnTo>
                  <a:lnTo>
                    <a:pt x="952" y="68580"/>
                  </a:lnTo>
                  <a:lnTo>
                    <a:pt x="0" y="0"/>
                  </a:lnTo>
                </a:path>
              </a:pathLst>
            </a:custGeom>
            <a:noFill/>
            <a:ln w="20955">
              <a:solidFill>
                <a:srgbClr val="F26B3A"/>
              </a:solidFill>
            </a:ln>
          </p:spPr>
        </p:sp>
        <p:sp>
          <p:nvSpPr>
            <p:cNvPr id="12" name="Line 12"/>
            <p:cNvSpPr/>
            <p:nvPr/>
          </p:nvSpPr>
          <p:spPr>
            <a:xfrm>
              <a:off x="2362200" y="2057400"/>
              <a:ext cx="9525" cy="190500"/>
            </a:xfrm>
            <a:custGeom>
              <a:avLst/>
              <a:gdLst/>
              <a:ahLst/>
              <a:cxnLst/>
              <a:rect l="l" t="t" r="r" b="b"/>
              <a:pathLst>
                <a:path w="9525" h="190500">
                  <a:moveTo>
                    <a:pt x="0" y="190500"/>
                  </a:moveTo>
                  <a:lnTo>
                    <a:pt x="0" y="0"/>
                  </a:lnTo>
                </a:path>
              </a:pathLst>
            </a:custGeom>
            <a:noFill/>
            <a:ln w="20955">
              <a:solidFill>
                <a:srgbClr val="F26B3A"/>
              </a:solidFill>
            </a:ln>
          </p:spPr>
        </p:sp>
        <p:sp>
          <p:nvSpPr>
            <p:cNvPr id="13" name="Line 13"/>
            <p:cNvSpPr/>
            <p:nvPr/>
          </p:nvSpPr>
          <p:spPr>
            <a:xfrm>
              <a:off x="5638800" y="2057400"/>
              <a:ext cx="9525" cy="190500"/>
            </a:xfrm>
            <a:custGeom>
              <a:avLst/>
              <a:gdLst/>
              <a:ahLst/>
              <a:cxnLst/>
              <a:rect l="l" t="t" r="r" b="b"/>
              <a:pathLst>
                <a:path w="9525" h="190500">
                  <a:moveTo>
                    <a:pt x="0" y="190500"/>
                  </a:moveTo>
                  <a:lnTo>
                    <a:pt x="0" y="0"/>
                  </a:lnTo>
                </a:path>
              </a:pathLst>
            </a:custGeom>
            <a:noFill/>
            <a:ln w="20955">
              <a:solidFill>
                <a:srgbClr val="F26B3A"/>
              </a:solidFill>
            </a:ln>
          </p:spPr>
        </p:sp>
        <p:sp>
          <p:nvSpPr>
            <p:cNvPr id="14" name="Polygon 14"/>
            <p:cNvSpPr/>
            <p:nvPr/>
          </p:nvSpPr>
          <p:spPr>
            <a:xfrm>
              <a:off x="2636520" y="3314700"/>
              <a:ext cx="1902142" cy="895350"/>
            </a:xfrm>
            <a:custGeom>
              <a:avLst/>
              <a:gdLst/>
              <a:ahLst/>
              <a:cxnLst/>
              <a:rect l="l" t="t" r="r" b="b"/>
              <a:pathLst>
                <a:path w="1902142" h="895350">
                  <a:moveTo>
                    <a:pt x="383858" y="505778"/>
                  </a:moveTo>
                  <a:lnTo>
                    <a:pt x="366712" y="489585"/>
                  </a:lnTo>
                  <a:lnTo>
                    <a:pt x="349567" y="474345"/>
                  </a:lnTo>
                  <a:lnTo>
                    <a:pt x="333375" y="458153"/>
                  </a:lnTo>
                  <a:lnTo>
                    <a:pt x="316230" y="441960"/>
                  </a:lnTo>
                  <a:lnTo>
                    <a:pt x="300038" y="424815"/>
                  </a:lnTo>
                  <a:lnTo>
                    <a:pt x="283845" y="408622"/>
                  </a:lnTo>
                  <a:lnTo>
                    <a:pt x="267652" y="391478"/>
                  </a:lnTo>
                  <a:lnTo>
                    <a:pt x="251460" y="374333"/>
                  </a:lnTo>
                  <a:lnTo>
                    <a:pt x="236220" y="356235"/>
                  </a:lnTo>
                  <a:lnTo>
                    <a:pt x="220980" y="339090"/>
                  </a:lnTo>
                  <a:lnTo>
                    <a:pt x="205740" y="320992"/>
                  </a:lnTo>
                  <a:lnTo>
                    <a:pt x="190500" y="301942"/>
                  </a:lnTo>
                  <a:lnTo>
                    <a:pt x="175260" y="283845"/>
                  </a:lnTo>
                  <a:lnTo>
                    <a:pt x="160972" y="264795"/>
                  </a:lnTo>
                  <a:lnTo>
                    <a:pt x="146685" y="245745"/>
                  </a:lnTo>
                  <a:lnTo>
                    <a:pt x="132397" y="226695"/>
                  </a:lnTo>
                  <a:lnTo>
                    <a:pt x="118110" y="207645"/>
                  </a:lnTo>
                  <a:lnTo>
                    <a:pt x="104775" y="187642"/>
                  </a:lnTo>
                  <a:lnTo>
                    <a:pt x="90488" y="167640"/>
                  </a:lnTo>
                  <a:lnTo>
                    <a:pt x="77152" y="147638"/>
                  </a:lnTo>
                  <a:lnTo>
                    <a:pt x="63817" y="127635"/>
                  </a:lnTo>
                  <a:lnTo>
                    <a:pt x="51435" y="107633"/>
                  </a:lnTo>
                  <a:lnTo>
                    <a:pt x="38100" y="86678"/>
                  </a:lnTo>
                  <a:lnTo>
                    <a:pt x="25717" y="65722"/>
                  </a:lnTo>
                  <a:lnTo>
                    <a:pt x="14288" y="44767"/>
                  </a:lnTo>
                  <a:lnTo>
                    <a:pt x="1905" y="22860"/>
                  </a:lnTo>
                  <a:lnTo>
                    <a:pt x="0" y="7620"/>
                  </a:lnTo>
                  <a:lnTo>
                    <a:pt x="43815" y="4762"/>
                  </a:lnTo>
                  <a:lnTo>
                    <a:pt x="87630" y="2858"/>
                  </a:lnTo>
                  <a:lnTo>
                    <a:pt x="132397" y="953"/>
                  </a:lnTo>
                  <a:lnTo>
                    <a:pt x="176212" y="0"/>
                  </a:lnTo>
                  <a:lnTo>
                    <a:pt x="220980" y="0"/>
                  </a:lnTo>
                  <a:lnTo>
                    <a:pt x="265747" y="0"/>
                  </a:lnTo>
                  <a:lnTo>
                    <a:pt x="309562" y="953"/>
                  </a:lnTo>
                  <a:lnTo>
                    <a:pt x="354330" y="2858"/>
                  </a:lnTo>
                  <a:lnTo>
                    <a:pt x="398145" y="4762"/>
                  </a:lnTo>
                  <a:lnTo>
                    <a:pt x="441960" y="7620"/>
                  </a:lnTo>
                  <a:lnTo>
                    <a:pt x="485775" y="11430"/>
                  </a:lnTo>
                  <a:lnTo>
                    <a:pt x="529590" y="15240"/>
                  </a:lnTo>
                  <a:lnTo>
                    <a:pt x="573405" y="20003"/>
                  </a:lnTo>
                  <a:lnTo>
                    <a:pt x="617220" y="24765"/>
                  </a:lnTo>
                  <a:lnTo>
                    <a:pt x="660083" y="30480"/>
                  </a:lnTo>
                  <a:lnTo>
                    <a:pt x="702945" y="37147"/>
                  </a:lnTo>
                  <a:lnTo>
                    <a:pt x="744855" y="43815"/>
                  </a:lnTo>
                  <a:lnTo>
                    <a:pt x="786765" y="51435"/>
                  </a:lnTo>
                  <a:lnTo>
                    <a:pt x="828675" y="59055"/>
                  </a:lnTo>
                  <a:lnTo>
                    <a:pt x="869633" y="68580"/>
                  </a:lnTo>
                  <a:lnTo>
                    <a:pt x="910590" y="77153"/>
                  </a:lnTo>
                  <a:lnTo>
                    <a:pt x="950595" y="87630"/>
                  </a:lnTo>
                  <a:lnTo>
                    <a:pt x="990600" y="97155"/>
                  </a:lnTo>
                  <a:lnTo>
                    <a:pt x="1029652" y="108585"/>
                  </a:lnTo>
                  <a:lnTo>
                    <a:pt x="1068705" y="120015"/>
                  </a:lnTo>
                  <a:lnTo>
                    <a:pt x="1106805" y="132397"/>
                  </a:lnTo>
                  <a:lnTo>
                    <a:pt x="1143952" y="144780"/>
                  </a:lnTo>
                  <a:lnTo>
                    <a:pt x="1181100" y="157162"/>
                  </a:lnTo>
                  <a:lnTo>
                    <a:pt x="1217295" y="171450"/>
                  </a:lnTo>
                  <a:lnTo>
                    <a:pt x="1253490" y="184785"/>
                  </a:lnTo>
                  <a:lnTo>
                    <a:pt x="1287780" y="199072"/>
                  </a:lnTo>
                  <a:lnTo>
                    <a:pt x="1322070" y="214312"/>
                  </a:lnTo>
                  <a:lnTo>
                    <a:pt x="1355408" y="229553"/>
                  </a:lnTo>
                  <a:lnTo>
                    <a:pt x="1387792" y="245745"/>
                  </a:lnTo>
                  <a:lnTo>
                    <a:pt x="1420177" y="261938"/>
                  </a:lnTo>
                  <a:lnTo>
                    <a:pt x="1450658" y="279083"/>
                  </a:lnTo>
                  <a:lnTo>
                    <a:pt x="1481138" y="296228"/>
                  </a:lnTo>
                  <a:lnTo>
                    <a:pt x="1510665" y="314325"/>
                  </a:lnTo>
                  <a:lnTo>
                    <a:pt x="1538288" y="331470"/>
                  </a:lnTo>
                  <a:lnTo>
                    <a:pt x="1565910" y="350520"/>
                  </a:lnTo>
                  <a:lnTo>
                    <a:pt x="1592580" y="368617"/>
                  </a:lnTo>
                  <a:lnTo>
                    <a:pt x="1618297" y="388620"/>
                  </a:lnTo>
                  <a:lnTo>
                    <a:pt x="1643062" y="407670"/>
                  </a:lnTo>
                  <a:lnTo>
                    <a:pt x="1666875" y="427672"/>
                  </a:lnTo>
                  <a:lnTo>
                    <a:pt x="1689735" y="447675"/>
                  </a:lnTo>
                  <a:lnTo>
                    <a:pt x="1710690" y="467678"/>
                  </a:lnTo>
                  <a:lnTo>
                    <a:pt x="1731645" y="488633"/>
                  </a:lnTo>
                  <a:lnTo>
                    <a:pt x="1751647" y="509588"/>
                  </a:lnTo>
                  <a:lnTo>
                    <a:pt x="1769745" y="531495"/>
                  </a:lnTo>
                  <a:lnTo>
                    <a:pt x="1787842" y="552450"/>
                  </a:lnTo>
                  <a:lnTo>
                    <a:pt x="1804035" y="574358"/>
                  </a:lnTo>
                  <a:lnTo>
                    <a:pt x="1819275" y="596265"/>
                  </a:lnTo>
                  <a:lnTo>
                    <a:pt x="1833562" y="619125"/>
                  </a:lnTo>
                  <a:lnTo>
                    <a:pt x="1846897" y="641033"/>
                  </a:lnTo>
                  <a:lnTo>
                    <a:pt x="1858327" y="663892"/>
                  </a:lnTo>
                  <a:lnTo>
                    <a:pt x="1869758" y="686753"/>
                  </a:lnTo>
                  <a:lnTo>
                    <a:pt x="1879282" y="709612"/>
                  </a:lnTo>
                  <a:lnTo>
                    <a:pt x="1887855" y="732472"/>
                  </a:lnTo>
                  <a:lnTo>
                    <a:pt x="1895475" y="755333"/>
                  </a:lnTo>
                  <a:lnTo>
                    <a:pt x="1902142" y="778192"/>
                  </a:lnTo>
                  <a:lnTo>
                    <a:pt x="1884045" y="794385"/>
                  </a:lnTo>
                  <a:lnTo>
                    <a:pt x="1863090" y="802005"/>
                  </a:lnTo>
                  <a:lnTo>
                    <a:pt x="1843088" y="809625"/>
                  </a:lnTo>
                  <a:lnTo>
                    <a:pt x="1822132" y="817245"/>
                  </a:lnTo>
                  <a:lnTo>
                    <a:pt x="1802130" y="823912"/>
                  </a:lnTo>
                  <a:lnTo>
                    <a:pt x="1781175" y="830580"/>
                  </a:lnTo>
                  <a:lnTo>
                    <a:pt x="1760220" y="837247"/>
                  </a:lnTo>
                  <a:lnTo>
                    <a:pt x="1739265" y="842962"/>
                  </a:lnTo>
                  <a:lnTo>
                    <a:pt x="1718310" y="848678"/>
                  </a:lnTo>
                  <a:lnTo>
                    <a:pt x="1697355" y="854392"/>
                  </a:lnTo>
                  <a:lnTo>
                    <a:pt x="1676400" y="859155"/>
                  </a:lnTo>
                  <a:lnTo>
                    <a:pt x="1655445" y="863917"/>
                  </a:lnTo>
                  <a:lnTo>
                    <a:pt x="1634490" y="868680"/>
                  </a:lnTo>
                  <a:lnTo>
                    <a:pt x="1613535" y="872490"/>
                  </a:lnTo>
                  <a:lnTo>
                    <a:pt x="1591627" y="876300"/>
                  </a:lnTo>
                  <a:lnTo>
                    <a:pt x="1570672" y="880110"/>
                  </a:lnTo>
                  <a:lnTo>
                    <a:pt x="1549718" y="882967"/>
                  </a:lnTo>
                  <a:lnTo>
                    <a:pt x="1527810" y="885825"/>
                  </a:lnTo>
                  <a:lnTo>
                    <a:pt x="1506855" y="887730"/>
                  </a:lnTo>
                  <a:lnTo>
                    <a:pt x="1484947" y="889635"/>
                  </a:lnTo>
                  <a:lnTo>
                    <a:pt x="1463992" y="891540"/>
                  </a:lnTo>
                  <a:lnTo>
                    <a:pt x="1443038" y="893445"/>
                  </a:lnTo>
                  <a:lnTo>
                    <a:pt x="1421130" y="894397"/>
                  </a:lnTo>
                  <a:lnTo>
                    <a:pt x="1400175" y="895350"/>
                  </a:lnTo>
                  <a:lnTo>
                    <a:pt x="1378268" y="895350"/>
                  </a:lnTo>
                  <a:lnTo>
                    <a:pt x="1356360" y="895350"/>
                  </a:lnTo>
                  <a:lnTo>
                    <a:pt x="1335405" y="895350"/>
                  </a:lnTo>
                  <a:lnTo>
                    <a:pt x="1313497" y="894397"/>
                  </a:lnTo>
                  <a:lnTo>
                    <a:pt x="1292542" y="893445"/>
                  </a:lnTo>
                  <a:lnTo>
                    <a:pt x="1270635" y="892492"/>
                  </a:lnTo>
                  <a:lnTo>
                    <a:pt x="1249680" y="890588"/>
                  </a:lnTo>
                  <a:lnTo>
                    <a:pt x="1228725" y="888683"/>
                  </a:lnTo>
                  <a:lnTo>
                    <a:pt x="1206818" y="886778"/>
                  </a:lnTo>
                  <a:lnTo>
                    <a:pt x="1185862" y="883920"/>
                  </a:lnTo>
                  <a:lnTo>
                    <a:pt x="1163955" y="881062"/>
                  </a:lnTo>
                  <a:lnTo>
                    <a:pt x="1143000" y="877253"/>
                  </a:lnTo>
                  <a:lnTo>
                    <a:pt x="1122045" y="873442"/>
                  </a:lnTo>
                  <a:lnTo>
                    <a:pt x="1101090" y="869633"/>
                  </a:lnTo>
                  <a:lnTo>
                    <a:pt x="1079182" y="865822"/>
                  </a:lnTo>
                  <a:lnTo>
                    <a:pt x="1058227" y="861060"/>
                  </a:lnTo>
                  <a:lnTo>
                    <a:pt x="1037272" y="856297"/>
                  </a:lnTo>
                  <a:lnTo>
                    <a:pt x="1016317" y="850583"/>
                  </a:lnTo>
                  <a:lnTo>
                    <a:pt x="995362" y="844867"/>
                  </a:lnTo>
                  <a:lnTo>
                    <a:pt x="974408" y="839153"/>
                  </a:lnTo>
                  <a:lnTo>
                    <a:pt x="953452" y="832485"/>
                  </a:lnTo>
                  <a:lnTo>
                    <a:pt x="933450" y="825817"/>
                  </a:lnTo>
                  <a:lnTo>
                    <a:pt x="912495" y="819150"/>
                  </a:lnTo>
                  <a:lnTo>
                    <a:pt x="891540" y="812483"/>
                  </a:lnTo>
                  <a:lnTo>
                    <a:pt x="871538" y="804862"/>
                  </a:lnTo>
                  <a:lnTo>
                    <a:pt x="850583" y="796290"/>
                  </a:lnTo>
                  <a:lnTo>
                    <a:pt x="830580" y="788670"/>
                  </a:lnTo>
                  <a:lnTo>
                    <a:pt x="810577" y="780097"/>
                  </a:lnTo>
                  <a:lnTo>
                    <a:pt x="790575" y="771525"/>
                  </a:lnTo>
                  <a:lnTo>
                    <a:pt x="770572" y="762000"/>
                  </a:lnTo>
                  <a:lnTo>
                    <a:pt x="750570" y="752475"/>
                  </a:lnTo>
                  <a:lnTo>
                    <a:pt x="730567" y="742950"/>
                  </a:lnTo>
                  <a:lnTo>
                    <a:pt x="710565" y="732472"/>
                  </a:lnTo>
                  <a:lnTo>
                    <a:pt x="691515" y="721995"/>
                  </a:lnTo>
                  <a:lnTo>
                    <a:pt x="671512" y="711517"/>
                  </a:lnTo>
                  <a:lnTo>
                    <a:pt x="652462" y="700088"/>
                  </a:lnTo>
                  <a:lnTo>
                    <a:pt x="633412" y="689610"/>
                  </a:lnTo>
                  <a:lnTo>
                    <a:pt x="613410" y="677228"/>
                  </a:lnTo>
                  <a:lnTo>
                    <a:pt x="595312" y="665797"/>
                  </a:lnTo>
                  <a:lnTo>
                    <a:pt x="576262" y="653415"/>
                  </a:lnTo>
                  <a:lnTo>
                    <a:pt x="557212" y="641033"/>
                  </a:lnTo>
                  <a:lnTo>
                    <a:pt x="539115" y="628650"/>
                  </a:lnTo>
                  <a:lnTo>
                    <a:pt x="520065" y="615315"/>
                  </a:lnTo>
                  <a:lnTo>
                    <a:pt x="501967" y="601980"/>
                  </a:lnTo>
                  <a:lnTo>
                    <a:pt x="483870" y="587692"/>
                  </a:lnTo>
                  <a:lnTo>
                    <a:pt x="465772" y="574358"/>
                  </a:lnTo>
                  <a:lnTo>
                    <a:pt x="447675" y="560070"/>
                  </a:lnTo>
                  <a:lnTo>
                    <a:pt x="430530" y="545783"/>
                  </a:lnTo>
                  <a:lnTo>
                    <a:pt x="412433" y="530542"/>
                  </a:lnTo>
                  <a:lnTo>
                    <a:pt x="395288" y="515303"/>
                  </a:lnTo>
                  <a:close/>
                </a:path>
              </a:pathLst>
            </a:custGeom>
            <a:solidFill>
              <a:srgbClr val="F9D2C0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2362200" y="2247900"/>
              <a:ext cx="3276600" cy="1962150"/>
            </a:xfrm>
            <a:custGeom>
              <a:avLst/>
              <a:gdLst/>
              <a:ahLst/>
              <a:cxnLst/>
              <a:rect l="l" t="t" r="r" b="b"/>
              <a:pathLst>
                <a:path w="3276600" h="1962150">
                  <a:moveTo>
                    <a:pt x="3276600" y="0"/>
                  </a:moveTo>
                  <a:lnTo>
                    <a:pt x="3275648" y="68580"/>
                  </a:lnTo>
                  <a:lnTo>
                    <a:pt x="3272790" y="137160"/>
                  </a:lnTo>
                  <a:lnTo>
                    <a:pt x="3268028" y="204788"/>
                  </a:lnTo>
                  <a:lnTo>
                    <a:pt x="3260407" y="273367"/>
                  </a:lnTo>
                  <a:lnTo>
                    <a:pt x="3251835" y="340995"/>
                  </a:lnTo>
                  <a:lnTo>
                    <a:pt x="3240405" y="407670"/>
                  </a:lnTo>
                  <a:lnTo>
                    <a:pt x="3228022" y="474345"/>
                  </a:lnTo>
                  <a:lnTo>
                    <a:pt x="3212782" y="541020"/>
                  </a:lnTo>
                  <a:lnTo>
                    <a:pt x="3196590" y="606742"/>
                  </a:lnTo>
                  <a:lnTo>
                    <a:pt x="3177540" y="671512"/>
                  </a:lnTo>
                  <a:lnTo>
                    <a:pt x="3157538" y="735330"/>
                  </a:lnTo>
                  <a:lnTo>
                    <a:pt x="3134678" y="798195"/>
                  </a:lnTo>
                  <a:lnTo>
                    <a:pt x="3110865" y="860108"/>
                  </a:lnTo>
                  <a:lnTo>
                    <a:pt x="3085148" y="921067"/>
                  </a:lnTo>
                  <a:lnTo>
                    <a:pt x="3057525" y="981075"/>
                  </a:lnTo>
                  <a:lnTo>
                    <a:pt x="3027998" y="1040130"/>
                  </a:lnTo>
                  <a:lnTo>
                    <a:pt x="2996565" y="1097280"/>
                  </a:lnTo>
                  <a:lnTo>
                    <a:pt x="2964180" y="1153478"/>
                  </a:lnTo>
                  <a:lnTo>
                    <a:pt x="2928938" y="1207770"/>
                  </a:lnTo>
                  <a:lnTo>
                    <a:pt x="2893695" y="1261110"/>
                  </a:lnTo>
                  <a:lnTo>
                    <a:pt x="2855595" y="1312545"/>
                  </a:lnTo>
                  <a:lnTo>
                    <a:pt x="2816543" y="1363028"/>
                  </a:lnTo>
                  <a:lnTo>
                    <a:pt x="2776538" y="1411605"/>
                  </a:lnTo>
                  <a:lnTo>
                    <a:pt x="2734628" y="1458278"/>
                  </a:lnTo>
                  <a:lnTo>
                    <a:pt x="2691765" y="1503045"/>
                  </a:lnTo>
                  <a:lnTo>
                    <a:pt x="2646998" y="1545908"/>
                  </a:lnTo>
                  <a:lnTo>
                    <a:pt x="2601278" y="1587818"/>
                  </a:lnTo>
                  <a:lnTo>
                    <a:pt x="2554605" y="1626870"/>
                  </a:lnTo>
                  <a:lnTo>
                    <a:pt x="2506028" y="1664018"/>
                  </a:lnTo>
                  <a:lnTo>
                    <a:pt x="2457450" y="1699260"/>
                  </a:lnTo>
                  <a:lnTo>
                    <a:pt x="2406968" y="1732597"/>
                  </a:lnTo>
                  <a:lnTo>
                    <a:pt x="2356485" y="1764030"/>
                  </a:lnTo>
                  <a:lnTo>
                    <a:pt x="2305050" y="1792605"/>
                  </a:lnTo>
                  <a:lnTo>
                    <a:pt x="2251710" y="1819275"/>
                  </a:lnTo>
                  <a:lnTo>
                    <a:pt x="2198370" y="1844040"/>
                  </a:lnTo>
                  <a:lnTo>
                    <a:pt x="2145030" y="1865947"/>
                  </a:lnTo>
                  <a:lnTo>
                    <a:pt x="2089785" y="1885950"/>
                  </a:lnTo>
                  <a:lnTo>
                    <a:pt x="2034540" y="1904047"/>
                  </a:lnTo>
                  <a:lnTo>
                    <a:pt x="1979295" y="1919288"/>
                  </a:lnTo>
                  <a:lnTo>
                    <a:pt x="1923097" y="1932622"/>
                  </a:lnTo>
                  <a:lnTo>
                    <a:pt x="1865947" y="1943100"/>
                  </a:lnTo>
                  <a:lnTo>
                    <a:pt x="1809750" y="1951672"/>
                  </a:lnTo>
                  <a:lnTo>
                    <a:pt x="1752600" y="1957388"/>
                  </a:lnTo>
                  <a:lnTo>
                    <a:pt x="1695450" y="1961197"/>
                  </a:lnTo>
                  <a:lnTo>
                    <a:pt x="1638300" y="1962150"/>
                  </a:lnTo>
                  <a:lnTo>
                    <a:pt x="1581150" y="1961197"/>
                  </a:lnTo>
                  <a:lnTo>
                    <a:pt x="1524000" y="1957388"/>
                  </a:lnTo>
                  <a:lnTo>
                    <a:pt x="1466850" y="1951672"/>
                  </a:lnTo>
                  <a:lnTo>
                    <a:pt x="1410653" y="1943100"/>
                  </a:lnTo>
                  <a:lnTo>
                    <a:pt x="1353503" y="1932622"/>
                  </a:lnTo>
                  <a:lnTo>
                    <a:pt x="1297305" y="1919288"/>
                  </a:lnTo>
                  <a:lnTo>
                    <a:pt x="1242060" y="1904047"/>
                  </a:lnTo>
                  <a:lnTo>
                    <a:pt x="1186815" y="1885950"/>
                  </a:lnTo>
                  <a:lnTo>
                    <a:pt x="1131570" y="1865947"/>
                  </a:lnTo>
                  <a:lnTo>
                    <a:pt x="1078230" y="1844040"/>
                  </a:lnTo>
                  <a:lnTo>
                    <a:pt x="1024890" y="1819275"/>
                  </a:lnTo>
                  <a:lnTo>
                    <a:pt x="971550" y="1792605"/>
                  </a:lnTo>
                  <a:lnTo>
                    <a:pt x="920115" y="1764030"/>
                  </a:lnTo>
                  <a:lnTo>
                    <a:pt x="869633" y="1732597"/>
                  </a:lnTo>
                  <a:lnTo>
                    <a:pt x="819150" y="1699260"/>
                  </a:lnTo>
                  <a:lnTo>
                    <a:pt x="770572" y="1664018"/>
                  </a:lnTo>
                  <a:lnTo>
                    <a:pt x="721995" y="1626870"/>
                  </a:lnTo>
                  <a:lnTo>
                    <a:pt x="675322" y="1587818"/>
                  </a:lnTo>
                  <a:lnTo>
                    <a:pt x="629603" y="1545908"/>
                  </a:lnTo>
                  <a:lnTo>
                    <a:pt x="584835" y="1503045"/>
                  </a:lnTo>
                  <a:lnTo>
                    <a:pt x="541972" y="1458278"/>
                  </a:lnTo>
                  <a:lnTo>
                    <a:pt x="500062" y="1411605"/>
                  </a:lnTo>
                  <a:lnTo>
                    <a:pt x="460058" y="1363028"/>
                  </a:lnTo>
                  <a:lnTo>
                    <a:pt x="421005" y="1312545"/>
                  </a:lnTo>
                  <a:lnTo>
                    <a:pt x="382905" y="1261110"/>
                  </a:lnTo>
                  <a:lnTo>
                    <a:pt x="347662" y="1207770"/>
                  </a:lnTo>
                  <a:lnTo>
                    <a:pt x="312420" y="1153478"/>
                  </a:lnTo>
                  <a:lnTo>
                    <a:pt x="280035" y="1097280"/>
                  </a:lnTo>
                  <a:lnTo>
                    <a:pt x="248603" y="1040130"/>
                  </a:lnTo>
                  <a:lnTo>
                    <a:pt x="219075" y="981075"/>
                  </a:lnTo>
                  <a:lnTo>
                    <a:pt x="191453" y="921067"/>
                  </a:lnTo>
                  <a:lnTo>
                    <a:pt x="165735" y="860108"/>
                  </a:lnTo>
                  <a:lnTo>
                    <a:pt x="141922" y="798195"/>
                  </a:lnTo>
                  <a:lnTo>
                    <a:pt x="119062" y="735330"/>
                  </a:lnTo>
                  <a:lnTo>
                    <a:pt x="99060" y="671512"/>
                  </a:lnTo>
                  <a:lnTo>
                    <a:pt x="80010" y="606742"/>
                  </a:lnTo>
                  <a:lnTo>
                    <a:pt x="63817" y="541020"/>
                  </a:lnTo>
                  <a:lnTo>
                    <a:pt x="48577" y="474345"/>
                  </a:lnTo>
                  <a:lnTo>
                    <a:pt x="36195" y="407670"/>
                  </a:lnTo>
                  <a:lnTo>
                    <a:pt x="24765" y="340995"/>
                  </a:lnTo>
                  <a:lnTo>
                    <a:pt x="16192" y="273367"/>
                  </a:lnTo>
                  <a:lnTo>
                    <a:pt x="8573" y="204788"/>
                  </a:lnTo>
                  <a:lnTo>
                    <a:pt x="3810" y="137160"/>
                  </a:lnTo>
                  <a:lnTo>
                    <a:pt x="952" y="68580"/>
                  </a:lnTo>
                  <a:lnTo>
                    <a:pt x="0" y="0"/>
                  </a:lnTo>
                </a:path>
              </a:pathLst>
            </a:custGeom>
            <a:noFill/>
            <a:ln w="20955">
              <a:solidFill>
                <a:srgbClr val="F26B3A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1162050" y="3314700"/>
              <a:ext cx="3390900" cy="1790700"/>
            </a:xfrm>
            <a:prstGeom prst="ellipse">
              <a:avLst/>
            </a:prstGeom>
            <a:noFill/>
            <a:ln w="20955">
              <a:solidFill>
                <a:srgbClr val="2F4B9A"/>
              </a:solidFill>
            </a:ln>
          </p:spPr>
        </p:sp>
        <p:sp>
          <p:nvSpPr>
            <p:cNvPr id="17" name="Ellipse 17"/>
            <p:cNvSpPr/>
            <p:nvPr/>
          </p:nvSpPr>
          <p:spPr>
            <a:xfrm>
              <a:off x="1428750" y="4114800"/>
              <a:ext cx="1181100" cy="762000"/>
            </a:xfrm>
            <a:prstGeom prst="ellipse">
              <a:avLst/>
            </a:prstGeom>
            <a:solidFill>
              <a:srgbClr val="CBD6F0"/>
            </a:solidFill>
            <a:ln w="19050">
              <a:solidFill>
                <a:srgbClr val="2F4B9A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3761636" y="2540318"/>
              <a:ext cx="47772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NP 难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299270" y="3741896"/>
              <a:ext cx="62522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NP 完全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387198" y="3969068"/>
              <a:ext cx="2355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NP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956995" y="4407218"/>
              <a:ext cx="1246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P</a:t>
              </a:r>
            </a:p>
          </p:txBody>
        </p:sp>
      </p:grpSp>
      <p:grpSp>
        <p:nvGrpSpPr>
          <p:cNvPr id="33" name="venn-eq"/>
          <p:cNvGrpSpPr/>
          <p:nvPr/>
        </p:nvGrpSpPr>
        <p:grpSpPr>
          <a:xfrm>
            <a:off x="6210300" y="1524000"/>
            <a:ext cx="5448300" cy="3733800"/>
            <a:chOff x="6210300" y="1524000"/>
            <a:chExt cx="5448300" cy="3733800"/>
          </a:xfrm>
        </p:grpSpPr>
        <p:sp>
          <p:nvSpPr>
            <p:cNvPr id="23" name="Rectangle 23"/>
            <p:cNvSpPr/>
            <p:nvPr/>
          </p:nvSpPr>
          <p:spPr>
            <a:xfrm>
              <a:off x="6210300" y="1524000"/>
              <a:ext cx="5448300" cy="3733800"/>
            </a:xfrm>
            <a:prstGeom prst="roundRect">
              <a:avLst>
                <a:gd name="adj" fmla="val 3571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393942" y="1683068"/>
              <a:ext cx="8204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若 P = NP</a:t>
              </a:r>
            </a:p>
          </p:txBody>
        </p:sp>
        <p:sp>
          <p:nvSpPr>
            <p:cNvPr id="25" name="Polygon 25"/>
            <p:cNvSpPr/>
            <p:nvPr/>
          </p:nvSpPr>
          <p:spPr>
            <a:xfrm>
              <a:off x="6781800" y="2247900"/>
              <a:ext cx="4305300" cy="2762250"/>
            </a:xfrm>
            <a:custGeom>
              <a:avLst/>
              <a:gdLst/>
              <a:ahLst/>
              <a:cxnLst/>
              <a:rect l="l" t="t" r="r" b="b"/>
              <a:pathLst>
                <a:path w="4305300" h="2762250">
                  <a:moveTo>
                    <a:pt x="4305300" y="0"/>
                  </a:moveTo>
                  <a:lnTo>
                    <a:pt x="4304348" y="96202"/>
                  </a:lnTo>
                  <a:lnTo>
                    <a:pt x="4299585" y="192405"/>
                  </a:lnTo>
                  <a:lnTo>
                    <a:pt x="4293870" y="288608"/>
                  </a:lnTo>
                  <a:lnTo>
                    <a:pt x="4284345" y="384810"/>
                  </a:lnTo>
                  <a:lnTo>
                    <a:pt x="4272915" y="480060"/>
                  </a:lnTo>
                  <a:lnTo>
                    <a:pt x="4258627" y="574358"/>
                  </a:lnTo>
                  <a:lnTo>
                    <a:pt x="4241482" y="668655"/>
                  </a:lnTo>
                  <a:lnTo>
                    <a:pt x="4221480" y="761047"/>
                  </a:lnTo>
                  <a:lnTo>
                    <a:pt x="4199573" y="853440"/>
                  </a:lnTo>
                  <a:lnTo>
                    <a:pt x="4175760" y="944880"/>
                  </a:lnTo>
                  <a:lnTo>
                    <a:pt x="4148138" y="1034415"/>
                  </a:lnTo>
                  <a:lnTo>
                    <a:pt x="4119562" y="1123950"/>
                  </a:lnTo>
                  <a:lnTo>
                    <a:pt x="4087177" y="1210628"/>
                  </a:lnTo>
                  <a:lnTo>
                    <a:pt x="4052888" y="1296353"/>
                  </a:lnTo>
                  <a:lnTo>
                    <a:pt x="4016693" y="1381125"/>
                  </a:lnTo>
                  <a:lnTo>
                    <a:pt x="3978593" y="1463992"/>
                  </a:lnTo>
                  <a:lnTo>
                    <a:pt x="3937635" y="1544955"/>
                  </a:lnTo>
                  <a:lnTo>
                    <a:pt x="3893820" y="1624012"/>
                  </a:lnTo>
                  <a:lnTo>
                    <a:pt x="3849052" y="1700212"/>
                  </a:lnTo>
                  <a:lnTo>
                    <a:pt x="3801427" y="1775460"/>
                  </a:lnTo>
                  <a:lnTo>
                    <a:pt x="3752850" y="1847850"/>
                  </a:lnTo>
                  <a:lnTo>
                    <a:pt x="3701415" y="1919288"/>
                  </a:lnTo>
                  <a:lnTo>
                    <a:pt x="3648075" y="1986915"/>
                  </a:lnTo>
                  <a:lnTo>
                    <a:pt x="3592830" y="2052638"/>
                  </a:lnTo>
                  <a:lnTo>
                    <a:pt x="3536632" y="2116455"/>
                  </a:lnTo>
                  <a:lnTo>
                    <a:pt x="3477577" y="2176462"/>
                  </a:lnTo>
                  <a:lnTo>
                    <a:pt x="3417570" y="2234565"/>
                  </a:lnTo>
                  <a:lnTo>
                    <a:pt x="3356610" y="2289810"/>
                  </a:lnTo>
                  <a:lnTo>
                    <a:pt x="3293745" y="2342198"/>
                  </a:lnTo>
                  <a:lnTo>
                    <a:pt x="3228975" y="2391728"/>
                  </a:lnTo>
                  <a:lnTo>
                    <a:pt x="3163252" y="2439352"/>
                  </a:lnTo>
                  <a:lnTo>
                    <a:pt x="3096577" y="2483168"/>
                  </a:lnTo>
                  <a:lnTo>
                    <a:pt x="3027998" y="2523172"/>
                  </a:lnTo>
                  <a:lnTo>
                    <a:pt x="2959418" y="2561272"/>
                  </a:lnTo>
                  <a:lnTo>
                    <a:pt x="2888932" y="2595562"/>
                  </a:lnTo>
                  <a:lnTo>
                    <a:pt x="2817495" y="2626995"/>
                  </a:lnTo>
                  <a:lnTo>
                    <a:pt x="2746057" y="2655570"/>
                  </a:lnTo>
                  <a:lnTo>
                    <a:pt x="2673668" y="2680335"/>
                  </a:lnTo>
                  <a:lnTo>
                    <a:pt x="2600325" y="2702243"/>
                  </a:lnTo>
                  <a:lnTo>
                    <a:pt x="2526030" y="2720340"/>
                  </a:lnTo>
                  <a:lnTo>
                    <a:pt x="2452688" y="2735580"/>
                  </a:lnTo>
                  <a:lnTo>
                    <a:pt x="2377440" y="2747010"/>
                  </a:lnTo>
                  <a:lnTo>
                    <a:pt x="2303145" y="2755582"/>
                  </a:lnTo>
                  <a:lnTo>
                    <a:pt x="2227898" y="2760345"/>
                  </a:lnTo>
                  <a:lnTo>
                    <a:pt x="2152650" y="2762250"/>
                  </a:lnTo>
                  <a:lnTo>
                    <a:pt x="2077403" y="2760345"/>
                  </a:lnTo>
                  <a:lnTo>
                    <a:pt x="2002155" y="2755582"/>
                  </a:lnTo>
                  <a:lnTo>
                    <a:pt x="1927860" y="2747010"/>
                  </a:lnTo>
                  <a:lnTo>
                    <a:pt x="1852612" y="2735580"/>
                  </a:lnTo>
                  <a:lnTo>
                    <a:pt x="1779270" y="2720340"/>
                  </a:lnTo>
                  <a:lnTo>
                    <a:pt x="1704975" y="2702243"/>
                  </a:lnTo>
                  <a:lnTo>
                    <a:pt x="1631632" y="2680335"/>
                  </a:lnTo>
                  <a:lnTo>
                    <a:pt x="1559243" y="2655570"/>
                  </a:lnTo>
                  <a:lnTo>
                    <a:pt x="1487805" y="2626995"/>
                  </a:lnTo>
                  <a:lnTo>
                    <a:pt x="1416368" y="2595562"/>
                  </a:lnTo>
                  <a:lnTo>
                    <a:pt x="1345882" y="2561272"/>
                  </a:lnTo>
                  <a:lnTo>
                    <a:pt x="1277303" y="2523172"/>
                  </a:lnTo>
                  <a:lnTo>
                    <a:pt x="1208722" y="2483168"/>
                  </a:lnTo>
                  <a:lnTo>
                    <a:pt x="1142047" y="2439352"/>
                  </a:lnTo>
                  <a:lnTo>
                    <a:pt x="1076325" y="2391728"/>
                  </a:lnTo>
                  <a:lnTo>
                    <a:pt x="1011555" y="2342198"/>
                  </a:lnTo>
                  <a:lnTo>
                    <a:pt x="948690" y="2289810"/>
                  </a:lnTo>
                  <a:lnTo>
                    <a:pt x="887730" y="2234565"/>
                  </a:lnTo>
                  <a:lnTo>
                    <a:pt x="827722" y="2176462"/>
                  </a:lnTo>
                  <a:lnTo>
                    <a:pt x="768668" y="2116455"/>
                  </a:lnTo>
                  <a:lnTo>
                    <a:pt x="712470" y="2052638"/>
                  </a:lnTo>
                  <a:lnTo>
                    <a:pt x="657225" y="1986915"/>
                  </a:lnTo>
                  <a:lnTo>
                    <a:pt x="603885" y="1919288"/>
                  </a:lnTo>
                  <a:lnTo>
                    <a:pt x="552450" y="1847850"/>
                  </a:lnTo>
                  <a:lnTo>
                    <a:pt x="503872" y="1775460"/>
                  </a:lnTo>
                  <a:lnTo>
                    <a:pt x="456247" y="1700212"/>
                  </a:lnTo>
                  <a:lnTo>
                    <a:pt x="411480" y="1624012"/>
                  </a:lnTo>
                  <a:lnTo>
                    <a:pt x="367665" y="1544955"/>
                  </a:lnTo>
                  <a:lnTo>
                    <a:pt x="326707" y="1463992"/>
                  </a:lnTo>
                  <a:lnTo>
                    <a:pt x="288607" y="1381125"/>
                  </a:lnTo>
                  <a:lnTo>
                    <a:pt x="252412" y="1296353"/>
                  </a:lnTo>
                  <a:lnTo>
                    <a:pt x="218122" y="1210628"/>
                  </a:lnTo>
                  <a:lnTo>
                    <a:pt x="185738" y="1123950"/>
                  </a:lnTo>
                  <a:lnTo>
                    <a:pt x="157162" y="1034415"/>
                  </a:lnTo>
                  <a:lnTo>
                    <a:pt x="129540" y="944880"/>
                  </a:lnTo>
                  <a:lnTo>
                    <a:pt x="105728" y="853440"/>
                  </a:lnTo>
                  <a:lnTo>
                    <a:pt x="83820" y="761047"/>
                  </a:lnTo>
                  <a:lnTo>
                    <a:pt x="63818" y="668655"/>
                  </a:lnTo>
                  <a:lnTo>
                    <a:pt x="46672" y="574358"/>
                  </a:lnTo>
                  <a:lnTo>
                    <a:pt x="32385" y="480060"/>
                  </a:lnTo>
                  <a:lnTo>
                    <a:pt x="20955" y="384810"/>
                  </a:lnTo>
                  <a:lnTo>
                    <a:pt x="11430" y="288608"/>
                  </a:lnTo>
                  <a:lnTo>
                    <a:pt x="5715" y="192405"/>
                  </a:lnTo>
                  <a:lnTo>
                    <a:pt x="953" y="962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EE7"/>
            </a:solidFill>
            <a:ln>
              <a:noFill/>
            </a:ln>
          </p:spPr>
        </p:sp>
        <p:sp>
          <p:nvSpPr>
            <p:cNvPr id="26" name="Freeform 26"/>
            <p:cNvSpPr/>
            <p:nvPr/>
          </p:nvSpPr>
          <p:spPr>
            <a:xfrm>
              <a:off x="6781800" y="2247900"/>
              <a:ext cx="4305300" cy="2762250"/>
            </a:xfrm>
            <a:custGeom>
              <a:avLst/>
              <a:gdLst/>
              <a:ahLst/>
              <a:cxnLst/>
              <a:rect l="l" t="t" r="r" b="b"/>
              <a:pathLst>
                <a:path w="4305300" h="2762250">
                  <a:moveTo>
                    <a:pt x="4305300" y="0"/>
                  </a:moveTo>
                  <a:lnTo>
                    <a:pt x="4304348" y="96202"/>
                  </a:lnTo>
                  <a:lnTo>
                    <a:pt x="4299585" y="192405"/>
                  </a:lnTo>
                  <a:lnTo>
                    <a:pt x="4293870" y="288608"/>
                  </a:lnTo>
                  <a:lnTo>
                    <a:pt x="4284345" y="384810"/>
                  </a:lnTo>
                  <a:lnTo>
                    <a:pt x="4272915" y="480060"/>
                  </a:lnTo>
                  <a:lnTo>
                    <a:pt x="4258627" y="574358"/>
                  </a:lnTo>
                  <a:lnTo>
                    <a:pt x="4241482" y="668655"/>
                  </a:lnTo>
                  <a:lnTo>
                    <a:pt x="4221480" y="761047"/>
                  </a:lnTo>
                  <a:lnTo>
                    <a:pt x="4199573" y="853440"/>
                  </a:lnTo>
                  <a:lnTo>
                    <a:pt x="4175760" y="944880"/>
                  </a:lnTo>
                  <a:lnTo>
                    <a:pt x="4148138" y="1034415"/>
                  </a:lnTo>
                  <a:lnTo>
                    <a:pt x="4119562" y="1123950"/>
                  </a:lnTo>
                  <a:lnTo>
                    <a:pt x="4087177" y="1210628"/>
                  </a:lnTo>
                  <a:lnTo>
                    <a:pt x="4052888" y="1296353"/>
                  </a:lnTo>
                  <a:lnTo>
                    <a:pt x="4016693" y="1381125"/>
                  </a:lnTo>
                  <a:lnTo>
                    <a:pt x="3978593" y="1463992"/>
                  </a:lnTo>
                  <a:lnTo>
                    <a:pt x="3937635" y="1544955"/>
                  </a:lnTo>
                  <a:lnTo>
                    <a:pt x="3893820" y="1624012"/>
                  </a:lnTo>
                  <a:lnTo>
                    <a:pt x="3849052" y="1700212"/>
                  </a:lnTo>
                  <a:lnTo>
                    <a:pt x="3801427" y="1775460"/>
                  </a:lnTo>
                  <a:lnTo>
                    <a:pt x="3752850" y="1847850"/>
                  </a:lnTo>
                  <a:lnTo>
                    <a:pt x="3701415" y="1919288"/>
                  </a:lnTo>
                  <a:lnTo>
                    <a:pt x="3648075" y="1986915"/>
                  </a:lnTo>
                  <a:lnTo>
                    <a:pt x="3592830" y="2052638"/>
                  </a:lnTo>
                  <a:lnTo>
                    <a:pt x="3536632" y="2116455"/>
                  </a:lnTo>
                  <a:lnTo>
                    <a:pt x="3477577" y="2176462"/>
                  </a:lnTo>
                  <a:lnTo>
                    <a:pt x="3417570" y="2234565"/>
                  </a:lnTo>
                  <a:lnTo>
                    <a:pt x="3356610" y="2289810"/>
                  </a:lnTo>
                  <a:lnTo>
                    <a:pt x="3293745" y="2342198"/>
                  </a:lnTo>
                  <a:lnTo>
                    <a:pt x="3228975" y="2391728"/>
                  </a:lnTo>
                  <a:lnTo>
                    <a:pt x="3163252" y="2439352"/>
                  </a:lnTo>
                  <a:lnTo>
                    <a:pt x="3096577" y="2483168"/>
                  </a:lnTo>
                  <a:lnTo>
                    <a:pt x="3027998" y="2523172"/>
                  </a:lnTo>
                  <a:lnTo>
                    <a:pt x="2959418" y="2561272"/>
                  </a:lnTo>
                  <a:lnTo>
                    <a:pt x="2888932" y="2595562"/>
                  </a:lnTo>
                  <a:lnTo>
                    <a:pt x="2817495" y="2626995"/>
                  </a:lnTo>
                  <a:lnTo>
                    <a:pt x="2746057" y="2655570"/>
                  </a:lnTo>
                  <a:lnTo>
                    <a:pt x="2673668" y="2680335"/>
                  </a:lnTo>
                  <a:lnTo>
                    <a:pt x="2600325" y="2702243"/>
                  </a:lnTo>
                  <a:lnTo>
                    <a:pt x="2526030" y="2720340"/>
                  </a:lnTo>
                  <a:lnTo>
                    <a:pt x="2452688" y="2735580"/>
                  </a:lnTo>
                  <a:lnTo>
                    <a:pt x="2377440" y="2747010"/>
                  </a:lnTo>
                  <a:lnTo>
                    <a:pt x="2303145" y="2755582"/>
                  </a:lnTo>
                  <a:lnTo>
                    <a:pt x="2227898" y="2760345"/>
                  </a:lnTo>
                  <a:lnTo>
                    <a:pt x="2152650" y="2762250"/>
                  </a:lnTo>
                  <a:lnTo>
                    <a:pt x="2077403" y="2760345"/>
                  </a:lnTo>
                  <a:lnTo>
                    <a:pt x="2002155" y="2755582"/>
                  </a:lnTo>
                  <a:lnTo>
                    <a:pt x="1927860" y="2747010"/>
                  </a:lnTo>
                  <a:lnTo>
                    <a:pt x="1852612" y="2735580"/>
                  </a:lnTo>
                  <a:lnTo>
                    <a:pt x="1779270" y="2720340"/>
                  </a:lnTo>
                  <a:lnTo>
                    <a:pt x="1704975" y="2702243"/>
                  </a:lnTo>
                  <a:lnTo>
                    <a:pt x="1631632" y="2680335"/>
                  </a:lnTo>
                  <a:lnTo>
                    <a:pt x="1559243" y="2655570"/>
                  </a:lnTo>
                  <a:lnTo>
                    <a:pt x="1487805" y="2626995"/>
                  </a:lnTo>
                  <a:lnTo>
                    <a:pt x="1416368" y="2595562"/>
                  </a:lnTo>
                  <a:lnTo>
                    <a:pt x="1345882" y="2561272"/>
                  </a:lnTo>
                  <a:lnTo>
                    <a:pt x="1277303" y="2523172"/>
                  </a:lnTo>
                  <a:lnTo>
                    <a:pt x="1208722" y="2483168"/>
                  </a:lnTo>
                  <a:lnTo>
                    <a:pt x="1142047" y="2439352"/>
                  </a:lnTo>
                  <a:lnTo>
                    <a:pt x="1076325" y="2391728"/>
                  </a:lnTo>
                  <a:lnTo>
                    <a:pt x="1011555" y="2342198"/>
                  </a:lnTo>
                  <a:lnTo>
                    <a:pt x="948690" y="2289810"/>
                  </a:lnTo>
                  <a:lnTo>
                    <a:pt x="887730" y="2234565"/>
                  </a:lnTo>
                  <a:lnTo>
                    <a:pt x="827722" y="2176462"/>
                  </a:lnTo>
                  <a:lnTo>
                    <a:pt x="768668" y="2116455"/>
                  </a:lnTo>
                  <a:lnTo>
                    <a:pt x="712470" y="2052638"/>
                  </a:lnTo>
                  <a:lnTo>
                    <a:pt x="657225" y="1986915"/>
                  </a:lnTo>
                  <a:lnTo>
                    <a:pt x="603885" y="1919288"/>
                  </a:lnTo>
                  <a:lnTo>
                    <a:pt x="552450" y="1847850"/>
                  </a:lnTo>
                  <a:lnTo>
                    <a:pt x="503872" y="1775460"/>
                  </a:lnTo>
                  <a:lnTo>
                    <a:pt x="456247" y="1700212"/>
                  </a:lnTo>
                  <a:lnTo>
                    <a:pt x="411480" y="1624012"/>
                  </a:lnTo>
                  <a:lnTo>
                    <a:pt x="367665" y="1544955"/>
                  </a:lnTo>
                  <a:lnTo>
                    <a:pt x="326707" y="1463992"/>
                  </a:lnTo>
                  <a:lnTo>
                    <a:pt x="288607" y="1381125"/>
                  </a:lnTo>
                  <a:lnTo>
                    <a:pt x="252412" y="1296353"/>
                  </a:lnTo>
                  <a:lnTo>
                    <a:pt x="218122" y="1210628"/>
                  </a:lnTo>
                  <a:lnTo>
                    <a:pt x="185738" y="1123950"/>
                  </a:lnTo>
                  <a:lnTo>
                    <a:pt x="157162" y="1034415"/>
                  </a:lnTo>
                  <a:lnTo>
                    <a:pt x="129540" y="944880"/>
                  </a:lnTo>
                  <a:lnTo>
                    <a:pt x="105728" y="853440"/>
                  </a:lnTo>
                  <a:lnTo>
                    <a:pt x="83820" y="761047"/>
                  </a:lnTo>
                  <a:lnTo>
                    <a:pt x="63818" y="668655"/>
                  </a:lnTo>
                  <a:lnTo>
                    <a:pt x="46672" y="574358"/>
                  </a:lnTo>
                  <a:lnTo>
                    <a:pt x="32385" y="480060"/>
                  </a:lnTo>
                  <a:lnTo>
                    <a:pt x="20955" y="384810"/>
                  </a:lnTo>
                  <a:lnTo>
                    <a:pt x="11430" y="288608"/>
                  </a:lnTo>
                  <a:lnTo>
                    <a:pt x="5715" y="192405"/>
                  </a:lnTo>
                  <a:lnTo>
                    <a:pt x="953" y="96202"/>
                  </a:lnTo>
                  <a:lnTo>
                    <a:pt x="0" y="0"/>
                  </a:lnTo>
                </a:path>
              </a:pathLst>
            </a:custGeom>
            <a:noFill/>
            <a:ln w="20955">
              <a:solidFill>
                <a:srgbClr val="F26B3A"/>
              </a:solidFill>
            </a:ln>
          </p:spPr>
        </p:sp>
        <p:sp>
          <p:nvSpPr>
            <p:cNvPr id="27" name="Line 27"/>
            <p:cNvSpPr/>
            <p:nvPr/>
          </p:nvSpPr>
          <p:spPr>
            <a:xfrm>
              <a:off x="6781800" y="2057400"/>
              <a:ext cx="9525" cy="190500"/>
            </a:xfrm>
            <a:custGeom>
              <a:avLst/>
              <a:gdLst/>
              <a:ahLst/>
              <a:cxnLst/>
              <a:rect l="l" t="t" r="r" b="b"/>
              <a:pathLst>
                <a:path w="9525" h="190500">
                  <a:moveTo>
                    <a:pt x="0" y="190500"/>
                  </a:moveTo>
                  <a:lnTo>
                    <a:pt x="0" y="0"/>
                  </a:lnTo>
                </a:path>
              </a:pathLst>
            </a:custGeom>
            <a:noFill/>
            <a:ln w="20955">
              <a:solidFill>
                <a:srgbClr val="F26B3A"/>
              </a:solidFill>
            </a:ln>
          </p:spPr>
        </p:sp>
        <p:sp>
          <p:nvSpPr>
            <p:cNvPr id="28" name="Line 28"/>
            <p:cNvSpPr/>
            <p:nvPr/>
          </p:nvSpPr>
          <p:spPr>
            <a:xfrm>
              <a:off x="11087100" y="2057400"/>
              <a:ext cx="9525" cy="190500"/>
            </a:xfrm>
            <a:custGeom>
              <a:avLst/>
              <a:gdLst/>
              <a:ahLst/>
              <a:cxnLst/>
              <a:rect l="l" t="t" r="r" b="b"/>
              <a:pathLst>
                <a:path w="9525" h="190500">
                  <a:moveTo>
                    <a:pt x="0" y="190500"/>
                  </a:moveTo>
                  <a:lnTo>
                    <a:pt x="0" y="0"/>
                  </a:lnTo>
                </a:path>
              </a:pathLst>
            </a:custGeom>
            <a:noFill/>
            <a:ln w="20955">
              <a:solidFill>
                <a:srgbClr val="F26B3A"/>
              </a:solidFill>
            </a:ln>
          </p:spPr>
        </p:sp>
        <p:sp>
          <p:nvSpPr>
            <p:cNvPr id="29" name="Ellipse 29"/>
            <p:cNvSpPr/>
            <p:nvPr/>
          </p:nvSpPr>
          <p:spPr>
            <a:xfrm>
              <a:off x="7429500" y="3219450"/>
              <a:ext cx="3009900" cy="1409700"/>
            </a:xfrm>
            <a:prstGeom prst="ellipse">
              <a:avLst/>
            </a:prstGeom>
            <a:solidFill>
              <a:srgbClr val="F9D2C0"/>
            </a:solidFill>
            <a:ln w="20955">
              <a:solidFill>
                <a:srgbClr val="2F4B9A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695586" y="2616518"/>
              <a:ext cx="47772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NP 难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645317" y="3721418"/>
              <a:ext cx="5782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P = NP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540593" y="3996214"/>
              <a:ext cx="78771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= NP 完全</a:t>
              </a:r>
            </a:p>
          </p:txBody>
        </p:sp>
      </p:grpSp>
      <p:grpSp>
        <p:nvGrpSpPr>
          <p:cNvPr id="39" name="note-neq"/>
          <p:cNvGrpSpPr/>
          <p:nvPr/>
        </p:nvGrpSpPr>
        <p:grpSpPr>
          <a:xfrm>
            <a:off x="533400" y="5391150"/>
            <a:ext cx="5448300" cy="971550"/>
            <a:chOff x="533400" y="5391150"/>
            <a:chExt cx="5448300" cy="971550"/>
          </a:xfrm>
        </p:grpSpPr>
        <p:sp>
          <p:nvSpPr>
            <p:cNvPr id="34" name="Rectangle 34"/>
            <p:cNvSpPr/>
            <p:nvPr/>
          </p:nvSpPr>
          <p:spPr>
            <a:xfrm>
              <a:off x="533400" y="5391150"/>
              <a:ext cx="5448300" cy="971550"/>
            </a:xfrm>
            <a:prstGeom prst="roundRect">
              <a:avLst>
                <a:gd name="adj" fmla="val 1372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542925" y="5505450"/>
              <a:ext cx="47625" cy="742950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762000" y="5505450"/>
              <a:ext cx="883920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63583" y="5555456"/>
              <a:ext cx="6807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若 P ≠ NP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56285" y="5860256"/>
              <a:ext cx="4555998" cy="4343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8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 ⊆ NP，NP 完全 = NP ∩ NP 难，P 与 NP 完全不相交。NP 中还有既不属于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P、也不是 NP 完全的问题（Ladner 定理）。</a:t>
              </a:r>
            </a:p>
          </p:txBody>
        </p:sp>
      </p:grpSp>
      <p:grpSp>
        <p:nvGrpSpPr>
          <p:cNvPr id="45" name="note-eq"/>
          <p:cNvGrpSpPr/>
          <p:nvPr/>
        </p:nvGrpSpPr>
        <p:grpSpPr>
          <a:xfrm>
            <a:off x="6210300" y="5391150"/>
            <a:ext cx="5448300" cy="971550"/>
            <a:chOff x="6210300" y="5391150"/>
            <a:chExt cx="5448300" cy="971550"/>
          </a:xfrm>
        </p:grpSpPr>
        <p:sp>
          <p:nvSpPr>
            <p:cNvPr id="40" name="Rectangle 40"/>
            <p:cNvSpPr/>
            <p:nvPr/>
          </p:nvSpPr>
          <p:spPr>
            <a:xfrm>
              <a:off x="6210300" y="5391150"/>
              <a:ext cx="5448300" cy="971550"/>
            </a:xfrm>
            <a:prstGeom prst="roundRect">
              <a:avLst>
                <a:gd name="adj" fmla="val 1372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6219825" y="5505450"/>
              <a:ext cx="47625" cy="742950"/>
            </a:xfrm>
            <a:prstGeom prst="roundRect">
              <a:avLst>
                <a:gd name="adj" fmla="val 50000"/>
              </a:avLst>
            </a:prstGeom>
            <a:solidFill>
              <a:srgbClr val="C2410C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438900" y="5505450"/>
              <a:ext cx="833438" cy="24765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515718" y="5555456"/>
              <a:ext cx="6807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若 P = NP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33185" y="5860256"/>
              <a:ext cx="4740910" cy="4343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8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P、NP、NP 完全三类重合（严格说要除去“全部答否”“全部答是”两个平凡问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题）。停机问题等 NP 难问题仍不属于 NP。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F4B9A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8EDF8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5840425" cy="3351847"/>
            <a:chOff x="667512" y="1835468"/>
            <a:chExt cx="5840425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第五部分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18173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NP 完全性证明实例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83051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以恰好覆盖为已知 NPC 问题，证明子集和问题是 NP 完全的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恰好覆盖问题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72745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子集和问题属于 NP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构造：每个子集编码成一个二进制数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317544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正确性、例子与子集和 ≤ₚ 0/1 背包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01810" cy="909257"/>
            <a:chOff x="520446" y="342900"/>
            <a:chExt cx="790181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4793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3877" y="407194"/>
              <a:ext cx="24679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第9章 NP 完全 · NP 完全性证明实例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0181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恰好覆盖问题：选出的子集互不相交，并集正好是 A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4760595" cy="2004060"/>
            <a:chOff x="533400" y="1524000"/>
            <a:chExt cx="4760595" cy="200406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2004060"/>
            </a:xfrm>
            <a:prstGeom prst="roundRect">
              <a:avLst>
                <a:gd name="adj" fmla="val 665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737360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2759" y="1743551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问题描述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1332" y="2054542"/>
              <a:ext cx="412851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给定有穷集 A = {a₁, a₂, …, aₙ} 和 A 的子集的集合 W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{S₁, S₂, …, Sₘ}。设 U ⊆ W，如果 U 中的集合两两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不相交，且并集等于 A，则称 U 是 A 的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恰好覆盖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1332" y="2869882"/>
              <a:ext cx="27212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问：当前实例是否存在这样的 U？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52475" y="3165634"/>
              <a:ext cx="44823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恰好覆盖问题是 NP 完全的，本部分把它作为已知的 NPC 问题 L′。</a:t>
              </a:r>
            </a:p>
          </p:txBody>
        </p:sp>
      </p:grpSp>
      <p:grpSp>
        <p:nvGrpSpPr>
          <p:cNvPr id="29" name="c1-card-2"/>
          <p:cNvGrpSpPr/>
          <p:nvPr/>
        </p:nvGrpSpPr>
        <p:grpSpPr>
          <a:xfrm>
            <a:off x="533400" y="3698558"/>
            <a:ext cx="4760595" cy="2060258"/>
            <a:chOff x="533400" y="3698558"/>
            <a:chExt cx="4760595" cy="2060258"/>
          </a:xfrm>
        </p:grpSpPr>
        <p:sp>
          <p:nvSpPr>
            <p:cNvPr id="15" name="Rectangle 15"/>
            <p:cNvSpPr/>
            <p:nvPr/>
          </p:nvSpPr>
          <p:spPr>
            <a:xfrm>
              <a:off x="533400" y="3698558"/>
              <a:ext cx="4760595" cy="2060258"/>
            </a:xfrm>
            <a:prstGeom prst="roundRect">
              <a:avLst>
                <a:gd name="adj" fmla="val 647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542925" y="3831908"/>
              <a:ext cx="47625" cy="1793558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58190" y="3885248"/>
              <a:ext cx="444818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51286" y="3918109"/>
              <a:ext cx="25957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例 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310450" y="3920490"/>
              <a:ext cx="29375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S₄ 改为 {3,5}，不存在恰好覆盖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58190" y="4233862"/>
              <a:ext cx="192405" cy="19240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3868" y="427224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38987" y="4246245"/>
              <a:ext cx="387134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元素 5 只在 S₄ 中，必须选 S₄，于是 S₂（含 3）不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能选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758190" y="4791075"/>
              <a:ext cx="192405" cy="19240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13868" y="482946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38987" y="4803458"/>
              <a:ext cx="23884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元素 1 只剩 S₁ = {1,2} 可选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758190" y="5091112"/>
              <a:ext cx="192405" cy="19240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13868" y="513045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38987" y="5103495"/>
              <a:ext cx="389705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元素 4 只在 S₂、S₃ 中：S₂ 已排除，S₃ = {2,4} 与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S₁ 在 2 上相交</a:t>
              </a:r>
            </a:p>
          </p:txBody>
        </p:sp>
      </p:grpSp>
      <p:grpSp>
        <p:nvGrpSpPr>
          <p:cNvPr id="73" name="c2-card-1"/>
          <p:cNvGrpSpPr/>
          <p:nvPr/>
        </p:nvGrpSpPr>
        <p:grpSpPr>
          <a:xfrm>
            <a:off x="5598795" y="1524000"/>
            <a:ext cx="6059805" cy="4234815"/>
            <a:chOff x="5598795" y="1524000"/>
            <a:chExt cx="6059805" cy="4234815"/>
          </a:xfrm>
        </p:grpSpPr>
        <p:sp>
          <p:nvSpPr>
            <p:cNvPr id="30" name="Rectangle 30"/>
            <p:cNvSpPr/>
            <p:nvPr/>
          </p:nvSpPr>
          <p:spPr>
            <a:xfrm>
              <a:off x="5598795" y="1524000"/>
              <a:ext cx="6059805" cy="4234815"/>
            </a:xfrm>
            <a:prstGeom prst="roundRect">
              <a:avLst>
                <a:gd name="adj" fmla="val 314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5608320" y="1657350"/>
              <a:ext cx="47625" cy="396811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5823585" y="1710690"/>
              <a:ext cx="444818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916681" y="1743551"/>
              <a:ext cx="25957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 1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376797" y="1745932"/>
              <a:ext cx="37642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= {1,2,3,4,5}，W = {S₁, S₂, S₃, S₄}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816727" y="2071688"/>
              <a:ext cx="534581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S₁ = {1,2}，S₂ = {1,3,4}，S₃ = {2,4}，S₄ = {2,5}。列出每个子集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含哪些元素：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823585" y="2606992"/>
              <a:ext cx="5648325" cy="40005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173826" y="272843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子集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250709" y="272843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177491" y="272843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105226" y="272843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032009" y="272843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958791" y="272843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232599" y="3128486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S₁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218858" y="312848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145640" y="312848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823585" y="3402330"/>
              <a:ext cx="564832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5823585" y="3407092"/>
              <a:ext cx="564832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232599" y="3528536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S₂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845618" y="3416618"/>
              <a:ext cx="907732" cy="38100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218858" y="352853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8700135" y="3416618"/>
              <a:ext cx="907732" cy="38100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9073375" y="352853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9626918" y="3416618"/>
              <a:ext cx="907732" cy="38100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10000158" y="352853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5823585" y="3802380"/>
              <a:ext cx="564832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232599" y="3928586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S₃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145640" y="392858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0000158" y="392858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5823585" y="4202430"/>
              <a:ext cx="564832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5823585" y="4207192"/>
              <a:ext cx="564832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232599" y="4328636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S₄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7773352" y="4216718"/>
              <a:ext cx="907732" cy="38100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8145640" y="432863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10554652" y="4216718"/>
              <a:ext cx="907732" cy="38100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10926940" y="432863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5823585" y="2606992"/>
              <a:ext cx="5648325" cy="20002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7" name="Rectangle 67"/>
            <p:cNvSpPr/>
            <p:nvPr/>
          </p:nvSpPr>
          <p:spPr>
            <a:xfrm>
              <a:off x="6831330" y="2606992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7759065" y="2606992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9" name="Rectangle 69"/>
            <p:cNvSpPr/>
            <p:nvPr/>
          </p:nvSpPr>
          <p:spPr>
            <a:xfrm>
              <a:off x="8685848" y="2606992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0" name="Rectangle 70"/>
            <p:cNvSpPr/>
            <p:nvPr/>
          </p:nvSpPr>
          <p:spPr>
            <a:xfrm>
              <a:off x="9612630" y="2606992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1" name="Rectangle 71"/>
            <p:cNvSpPr/>
            <p:nvPr/>
          </p:nvSpPr>
          <p:spPr>
            <a:xfrm>
              <a:off x="10540365" y="2606992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5817870" y="4709636"/>
              <a:ext cx="44191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绿色两行 {S₂, S₄} 让每个元素恰好出现一次，是 A 的恰好覆盖。</a:t>
              </a:r>
            </a:p>
          </p:txBody>
        </p:sp>
      </p:grpSp>
      <p:grpSp>
        <p:nvGrpSpPr>
          <p:cNvPr id="7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4" name="TextBox 74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479283" cy="909257"/>
            <a:chOff x="520446" y="342900"/>
            <a:chExt cx="547928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4793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3877" y="407194"/>
              <a:ext cx="24679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第9章 NP 完全 · NP 完全性证明实例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47928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子集和问题，以及它属于 NP 的证明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193982" cy="1335405"/>
            <a:chOff x="533400" y="1524000"/>
            <a:chExt cx="5193982" cy="13354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1335405"/>
            </a:xfrm>
            <a:prstGeom prst="roundRect">
              <a:avLst>
                <a:gd name="adj" fmla="val 998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068705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335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问题描述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65922" y="1768792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子集和问题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5205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给定正整数集合 X = {x₁, x₂, …, xₙ} 及正整数 N，问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是否存在 X 的子集 T，使得 T 中的元素之和等于 N？</a:t>
              </a:r>
            </a:p>
          </p:txBody>
        </p:sp>
      </p:grpSp>
      <p:grpSp>
        <p:nvGrpSpPr>
          <p:cNvPr id="23" name="c1-card-2"/>
          <p:cNvGrpSpPr/>
          <p:nvPr/>
        </p:nvGrpSpPr>
        <p:grpSpPr>
          <a:xfrm>
            <a:off x="533400" y="3049905"/>
            <a:ext cx="5193982" cy="1701165"/>
            <a:chOff x="533400" y="3049905"/>
            <a:chExt cx="5193982" cy="1701165"/>
          </a:xfrm>
        </p:grpSpPr>
        <p:sp>
          <p:nvSpPr>
            <p:cNvPr id="14" name="Rectangle 14"/>
            <p:cNvSpPr/>
            <p:nvPr/>
          </p:nvSpPr>
          <p:spPr>
            <a:xfrm>
              <a:off x="533400" y="3049905"/>
              <a:ext cx="5193982" cy="1701165"/>
            </a:xfrm>
            <a:prstGeom prst="roundRect">
              <a:avLst>
                <a:gd name="adj" fmla="val 783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542925" y="3183255"/>
              <a:ext cx="47625" cy="143446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81050" y="3259455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76160" y="329517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73430" y="3636645"/>
              <a:ext cx="182803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= {3, 5, 6, 7}：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786765" y="403479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44880" y="3971925"/>
              <a:ext cx="2998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= 15：取 T = {3, 5, 7}，</a:t>
              </a: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答是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786765" y="437007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44880" y="4307205"/>
              <a:ext cx="288817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= 4：没有子集的和为 4，</a:t>
              </a:r>
              <a:r>
                <a:rPr lang="zh-CN" sz="15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答否</a:t>
              </a:r>
            </a:p>
          </p:txBody>
        </p:sp>
      </p:grpSp>
      <p:grpSp>
        <p:nvGrpSpPr>
          <p:cNvPr id="28" name="c1-card-3"/>
          <p:cNvGrpSpPr/>
          <p:nvPr/>
        </p:nvGrpSpPr>
        <p:grpSpPr>
          <a:xfrm>
            <a:off x="533400" y="4941570"/>
            <a:ext cx="5193982" cy="1316355"/>
            <a:chOff x="533400" y="4941570"/>
            <a:chExt cx="5193982" cy="1316355"/>
          </a:xfrm>
        </p:grpSpPr>
        <p:sp>
          <p:nvSpPr>
            <p:cNvPr id="24" name="Rectangle 24"/>
            <p:cNvSpPr/>
            <p:nvPr/>
          </p:nvSpPr>
          <p:spPr>
            <a:xfrm>
              <a:off x="533400" y="4941570"/>
              <a:ext cx="5193982" cy="1316355"/>
            </a:xfrm>
            <a:prstGeom prst="roundRect">
              <a:avLst>
                <a:gd name="adj" fmla="val 1013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742950" y="515112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33158" y="518683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目标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35330" y="5528310"/>
              <a:ext cx="45300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求证子集和问题是 NP 完全的。按两步法：先证子集和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∈ NP，再证 </a:t>
              </a:r>
              <a:r>
                <a:rPr lang="zh-CN" sz="150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恰好覆盖 ≤ₚ 子集和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33" name="c2-code-1"/>
          <p:cNvGrpSpPr/>
          <p:nvPr/>
        </p:nvGrpSpPr>
        <p:grpSpPr>
          <a:xfrm>
            <a:off x="6032182" y="1524000"/>
            <a:ext cx="5626418" cy="2566988"/>
            <a:chOff x="6032182" y="1524000"/>
            <a:chExt cx="5626418" cy="2566988"/>
          </a:xfrm>
        </p:grpSpPr>
        <p:sp>
          <p:nvSpPr>
            <p:cNvPr id="29" name="Rectangle 29"/>
            <p:cNvSpPr/>
            <p:nvPr/>
          </p:nvSpPr>
          <p:spPr>
            <a:xfrm>
              <a:off x="6032182" y="1524000"/>
              <a:ext cx="5626418" cy="2566988"/>
            </a:xfrm>
            <a:prstGeom prst="roundRect">
              <a:avLst>
                <a:gd name="adj" fmla="val 371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160580" y="1675924"/>
              <a:ext cx="228005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 1 步（补充）：子集和的不确定算法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051232" y="2581275"/>
              <a:ext cx="5588318" cy="22955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159056" y="1940719"/>
              <a:ext cx="3686810" cy="20857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8"/>
                </a:lnSpc>
              </a:pPr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SUBSETSUM(X, n, N)</a:t>
              </a:r>
              <a:br/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s ← 0</a:t>
              </a:r>
              <a:br/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for i ← 1 to n do</a:t>
              </a:r>
              <a:br/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c ← choice(0:1)    </a:t>
              </a:r>
              <a:r>
                <a:rPr lang="zh-CN" sz="12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猜 xᵢ 是否放入 T</a:t>
              </a:r>
              <a:br/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if c = 1 then s ← s + xᵢ endif</a:t>
              </a:r>
              <a:br/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repeat</a:t>
              </a:r>
              <a:br/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s = N then success</a:t>
              </a:r>
              <a:br/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else failure endif</a:t>
              </a:r>
              <a:br/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 SUBSETSUM</a:t>
              </a:r>
            </a:p>
          </p:txBody>
        </p:sp>
      </p:grpSp>
      <p:grpSp>
        <p:nvGrpSpPr>
          <p:cNvPr id="43" name="c2-card-2"/>
          <p:cNvGrpSpPr/>
          <p:nvPr/>
        </p:nvGrpSpPr>
        <p:grpSpPr>
          <a:xfrm>
            <a:off x="6032182" y="4281488"/>
            <a:ext cx="5626418" cy="1976438"/>
            <a:chOff x="6032182" y="4281488"/>
            <a:chExt cx="5626418" cy="1976438"/>
          </a:xfrm>
        </p:grpSpPr>
        <p:sp>
          <p:nvSpPr>
            <p:cNvPr id="34" name="Rectangle 34"/>
            <p:cNvSpPr/>
            <p:nvPr/>
          </p:nvSpPr>
          <p:spPr>
            <a:xfrm>
              <a:off x="6032182" y="4281488"/>
              <a:ext cx="5626418" cy="1976438"/>
            </a:xfrm>
            <a:prstGeom prst="roundRect">
              <a:avLst>
                <a:gd name="adj" fmla="val 674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6041708" y="4414838"/>
              <a:ext cx="47625" cy="1709738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6279832" y="4491038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370041" y="45267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分析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285548" y="4931092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443662" y="4868228"/>
              <a:ext cx="384933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存在和为 N 的子集 ⇔ 存在一组选择使 s = N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6285548" y="5266372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443662" y="5203508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猜想 n 次，O(n)；验证做 n 次加法和一次比较，每次加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法的时间与数的位数成正比，总时间是输入长度的多项式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273356" y="5821204"/>
              <a:ext cx="199098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所以子集和问题属于 NP。</a:t>
              </a:r>
            </a:p>
          </p:txBody>
        </p:sp>
      </p:grpSp>
      <p:grpSp>
        <p:nvGrpSpPr>
          <p:cNvPr id="4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4" name="TextBox 44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458104" cy="909257"/>
            <a:chOff x="520446" y="342900"/>
            <a:chExt cx="84581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4793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3877" y="407194"/>
              <a:ext cx="24679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第9章 NP 完全 · NP 完全性证明实例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4581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2 步的构造：把每个子集 Sⱼ 编码成一个二进制数 xⱼ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10566464" cy="512636"/>
            <a:chOff x="526542" y="1545907"/>
            <a:chExt cx="10566464" cy="512636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1056646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给定恰好覆盖实例 A = {a₁, …, aₙ}、W = {S₁, …, Sₘ}，构造子集和实例 X = {x₁, …, xₘ} 和 N，让 Sⱼ 对应 xⱼ，A 对应 N。从 W 中选 Sⱼ 恰</a:t>
              </a:r>
              <a:br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好覆盖 A，相当于从 X 中选 xⱼ 使和等于 N。</a:t>
              </a:r>
            </a:p>
          </p:txBody>
        </p:sp>
      </p:grpSp>
      <p:grpSp>
        <p:nvGrpSpPr>
          <p:cNvPr id="26" name="c1-steps-1"/>
          <p:cNvGrpSpPr/>
          <p:nvPr/>
        </p:nvGrpSpPr>
        <p:grpSpPr>
          <a:xfrm>
            <a:off x="533400" y="2186940"/>
            <a:ext cx="4588464" cy="2268379"/>
            <a:chOff x="533400" y="2186940"/>
            <a:chExt cx="4588464" cy="2268379"/>
          </a:xfrm>
        </p:grpSpPr>
        <p:sp>
          <p:nvSpPr>
            <p:cNvPr id="9" name="Rectangle 9"/>
            <p:cNvSpPr/>
            <p:nvPr/>
          </p:nvSpPr>
          <p:spPr>
            <a:xfrm>
              <a:off x="666750" y="2329815"/>
              <a:ext cx="19050" cy="17487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533400" y="218694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2607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76987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84368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35280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42661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393573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400954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642" y="2218372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定位数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785" y="2486501"/>
              <a:ext cx="41750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 k = ⌈log₂(m+1)⌉，每个 xⱼ 和 N 都表示成 nk 位的二进制数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5642" y="2801302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分段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785" y="3069431"/>
              <a:ext cx="4127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把这 nk 位从左到右分成 n 段，每段 k 位，第 i 段对应元素 aᵢ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5642" y="3384232"/>
              <a:ext cx="5485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构造 N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785" y="3652361"/>
              <a:ext cx="20770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每段的最右位为 1，其余位为 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5642" y="3967162"/>
              <a:ext cx="6443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构造 xⱼ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6785" y="4235291"/>
              <a:ext cx="36682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如果 aᵢ ∈ Sⱼ，第 i 段的最右位为 1；否则第 i 段全为 0</a:t>
              </a:r>
            </a:p>
          </p:txBody>
        </p:sp>
      </p:grpSp>
      <p:grpSp>
        <p:nvGrpSpPr>
          <p:cNvPr id="51" name="c1-cells-2"/>
          <p:cNvGrpSpPr/>
          <p:nvPr/>
        </p:nvGrpSpPr>
        <p:grpSpPr>
          <a:xfrm>
            <a:off x="528066" y="4662964"/>
            <a:ext cx="2515172" cy="1130142"/>
            <a:chOff x="528066" y="4662964"/>
            <a:chExt cx="2515172" cy="1130142"/>
          </a:xfrm>
        </p:grpSpPr>
        <p:sp>
          <p:nvSpPr>
            <p:cNvPr id="27" name="TextBox 27"/>
            <p:cNvSpPr txBox="1"/>
            <p:nvPr/>
          </p:nvSpPr>
          <p:spPr>
            <a:xfrm>
              <a:off x="528066" y="5023485"/>
              <a:ext cx="969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" y="4904422"/>
              <a:ext cx="555308" cy="368618"/>
            </a:xfrm>
            <a:prstGeom prst="rect">
              <a:avLst/>
            </a:prstGeom>
            <a:solidFill>
              <a:srgbClr val="E8EDF8"/>
            </a:solidFill>
            <a:ln w="15240">
              <a:solidFill>
                <a:srgbClr val="2F4B9A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29638" y="5023485"/>
              <a:ext cx="3371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0…01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1376362" y="4904422"/>
              <a:ext cx="555308" cy="368618"/>
            </a:xfrm>
            <a:prstGeom prst="rect">
              <a:avLst/>
            </a:prstGeom>
            <a:solidFill>
              <a:srgbClr val="E8EDF8"/>
            </a:solidFill>
            <a:ln w="15240">
              <a:solidFill>
                <a:srgbClr val="2F4B9A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485898" y="5023485"/>
              <a:ext cx="3371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0…01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1931670" y="4904422"/>
              <a:ext cx="555308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2163651" y="502348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2487930" y="4904422"/>
              <a:ext cx="555308" cy="368618"/>
            </a:xfrm>
            <a:prstGeom prst="rect">
              <a:avLst/>
            </a:prstGeom>
            <a:solidFill>
              <a:srgbClr val="E8EDF8"/>
            </a:solidFill>
            <a:ln w="15240">
              <a:solidFill>
                <a:srgbClr val="2F4B9A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2597466" y="5023485"/>
              <a:ext cx="3371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0…01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29721" y="4662964"/>
              <a:ext cx="13702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a₁</a:t>
              </a:r>
            </a:p>
          </p:txBody>
        </p:sp>
        <p:sp>
          <p:nvSpPr>
            <p:cNvPr id="37" name="Freeform 37"/>
            <p:cNvSpPr/>
            <p:nvPr/>
          </p:nvSpPr>
          <p:spPr>
            <a:xfrm>
              <a:off x="1060132" y="4809172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1585981" y="4662964"/>
              <a:ext cx="13702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a₂</a:t>
              </a:r>
            </a:p>
          </p:txBody>
        </p:sp>
        <p:sp>
          <p:nvSpPr>
            <p:cNvPr id="39" name="Freeform 39"/>
            <p:cNvSpPr/>
            <p:nvPr/>
          </p:nvSpPr>
          <p:spPr>
            <a:xfrm>
              <a:off x="1616392" y="4809172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2697548" y="4662964"/>
              <a:ext cx="13702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aₙ</a:t>
              </a:r>
            </a:p>
          </p:txBody>
        </p:sp>
        <p:sp>
          <p:nvSpPr>
            <p:cNvPr id="41" name="Freeform 41"/>
            <p:cNvSpPr/>
            <p:nvPr/>
          </p:nvSpPr>
          <p:spPr>
            <a:xfrm>
              <a:off x="2727960" y="4809172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28066" y="55435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xⱼ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821055" y="5424488"/>
              <a:ext cx="555308" cy="368618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29638" y="5543550"/>
              <a:ext cx="3371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0…01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1376362" y="5424488"/>
              <a:ext cx="555308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1485898" y="5543550"/>
              <a:ext cx="3371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0…00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1931670" y="5424488"/>
              <a:ext cx="555308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2163651" y="554355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2487930" y="5424488"/>
              <a:ext cx="555308" cy="368618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2597466" y="5543550"/>
              <a:ext cx="3371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0…01</a:t>
              </a:r>
            </a:p>
          </p:txBody>
        </p:sp>
      </p:grpSp>
      <p:grpSp>
        <p:nvGrpSpPr>
          <p:cNvPr id="53" name="c1-text-3"/>
          <p:cNvGrpSpPr/>
          <p:nvPr/>
        </p:nvGrpSpPr>
        <p:grpSpPr>
          <a:xfrm>
            <a:off x="527685" y="5981224"/>
            <a:ext cx="3696299" cy="220028"/>
            <a:chOff x="527685" y="5981224"/>
            <a:chExt cx="3696299" cy="220028"/>
          </a:xfrm>
        </p:grpSpPr>
        <p:sp>
          <p:nvSpPr>
            <p:cNvPr id="52" name="TextBox 52"/>
            <p:cNvSpPr txBox="1"/>
            <p:nvPr/>
          </p:nvSpPr>
          <p:spPr>
            <a:xfrm>
              <a:off x="527685" y="5981224"/>
              <a:ext cx="36962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示意：每格是一段 k 位；图中 a₁、aₙ ∈ Sⱼ，a₂ ∉ Sⱼ。</a:t>
              </a:r>
            </a:p>
          </p:txBody>
        </p:sp>
      </p:grpSp>
      <p:grpSp>
        <p:nvGrpSpPr>
          <p:cNvPr id="59" name="c2-card-1"/>
          <p:cNvGrpSpPr/>
          <p:nvPr/>
        </p:nvGrpSpPr>
        <p:grpSpPr>
          <a:xfrm>
            <a:off x="6789420" y="2177415"/>
            <a:ext cx="4869180" cy="1670685"/>
            <a:chOff x="6789420" y="2177415"/>
            <a:chExt cx="4869180" cy="1670685"/>
          </a:xfrm>
        </p:grpSpPr>
        <p:sp>
          <p:nvSpPr>
            <p:cNvPr id="54" name="Rectangle 54"/>
            <p:cNvSpPr/>
            <p:nvPr/>
          </p:nvSpPr>
          <p:spPr>
            <a:xfrm>
              <a:off x="6789420" y="2177415"/>
              <a:ext cx="4869180" cy="1670685"/>
            </a:xfrm>
            <a:prstGeom prst="roundRect">
              <a:avLst>
                <a:gd name="adj" fmla="val 7982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6976110" y="2364105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7060679" y="2396966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写成数值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" name="formula21"/>
                <p:cNvSpPr txBox="1">
                  <a:spLocks noGrp="1"/>
                </p:cNvSpPr>
                <p:nvPr/>
              </p:nvSpPr>
              <p:spPr>
                <a:xfrm>
                  <a:off x="6976110" y="2686050"/>
                  <a:ext cx="4495800" cy="342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N</m:t>
                        </m:r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p>
                          <m:e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e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sSup>
                          <m:e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e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e>
                            </m:d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+⋯+</m:t>
                        </m:r>
                        <m:sSup>
                          <m:e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e>
                          <m:sup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8" name="formula22"/>
                <p:cNvSpPr txBox="1">
                  <a:spLocks noGrp="1"/>
                </p:cNvSpPr>
                <p:nvPr/>
              </p:nvSpPr>
              <p:spPr>
                <a:xfrm>
                  <a:off x="6976110" y="3112770"/>
                  <a:ext cx="4495800" cy="53149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n"/>
                            <m:ctrl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sSub>
                              <m:e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∈</m:t>
                            </m:r>
                            <m:sSub>
                              <m:e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S</m:t>
                                </m:r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</m:sub>
                            </m:sSub>
                          </m:sub>
                          <m:sup/>
                          <m:e>
                            <m:sSup>
                              <m:e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e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3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3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3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a:rPr lang="zh-CN" sz="13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</m:t>
                                    </m:r>
                                  </m:e>
                                </m:d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65" name="c2-card-2"/>
          <p:cNvGrpSpPr/>
          <p:nvPr/>
        </p:nvGrpSpPr>
        <p:grpSpPr>
          <a:xfrm>
            <a:off x="6789420" y="4017645"/>
            <a:ext cx="4869180" cy="1185862"/>
            <a:chOff x="6789420" y="4017645"/>
            <a:chExt cx="4869180" cy="1185862"/>
          </a:xfrm>
        </p:grpSpPr>
        <p:sp>
          <p:nvSpPr>
            <p:cNvPr id="60" name="Rectangle 60"/>
            <p:cNvSpPr/>
            <p:nvPr/>
          </p:nvSpPr>
          <p:spPr>
            <a:xfrm>
              <a:off x="6789420" y="4017645"/>
              <a:ext cx="4869180" cy="1185862"/>
            </a:xfrm>
            <a:prstGeom prst="roundRect">
              <a:avLst>
                <a:gd name="adj" fmla="val 1124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6798945" y="4150995"/>
              <a:ext cx="47625" cy="919162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7014210" y="4204335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7098779" y="4237196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构造时间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007352" y="4548188"/>
              <a:ext cx="425710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共写出 m + 1 个数，每个 nk 位，k = O(log m)，总时间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O(mn log m)，是多项式时间。</a:t>
              </a:r>
            </a:p>
          </p:txBody>
        </p:sp>
      </p:grpSp>
      <p:grpSp>
        <p:nvGrpSpPr>
          <p:cNvPr id="72" name="c2-callout-3"/>
          <p:cNvGrpSpPr/>
          <p:nvPr/>
        </p:nvGrpSpPr>
        <p:grpSpPr>
          <a:xfrm>
            <a:off x="6789420" y="5373052"/>
            <a:ext cx="4869180" cy="729615"/>
            <a:chOff x="6789420" y="5373052"/>
            <a:chExt cx="4869180" cy="729615"/>
          </a:xfrm>
        </p:grpSpPr>
        <p:sp>
          <p:nvSpPr>
            <p:cNvPr id="66" name="Rectangle 66"/>
            <p:cNvSpPr/>
            <p:nvPr/>
          </p:nvSpPr>
          <p:spPr>
            <a:xfrm>
              <a:off x="6789420" y="5373052"/>
              <a:ext cx="4869180" cy="729615"/>
            </a:xfrm>
            <a:prstGeom prst="roundRect">
              <a:avLst>
                <a:gd name="adj" fmla="val 15666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70" name="Group 70"/>
            <p:cNvGrpSpPr/>
            <p:nvPr/>
          </p:nvGrpSpPr>
          <p:grpSpPr>
            <a:xfrm>
              <a:off x="6994208" y="5637848"/>
              <a:ext cx="200026" cy="200026"/>
              <a:chOff x="6994208" y="5637848"/>
              <a:chExt cx="200026" cy="200026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6994208" y="563784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8" name="Freeform 68"/>
              <p:cNvSpPr/>
              <p:nvPr/>
            </p:nvSpPr>
            <p:spPr>
              <a:xfrm>
                <a:off x="7094220" y="570452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9" name="Freeform 69"/>
              <p:cNvSpPr/>
              <p:nvPr/>
            </p:nvSpPr>
            <p:spPr>
              <a:xfrm>
                <a:off x="7083108" y="573786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71" name="TextBox 71"/>
            <p:cNvSpPr txBox="1"/>
            <p:nvPr/>
          </p:nvSpPr>
          <p:spPr>
            <a:xfrm>
              <a:off x="7296912" y="5518785"/>
              <a:ext cx="4008501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思考：为什么每段需要 k 位，每段 1 位行不行？答案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见两页后。</a:t>
              </a:r>
            </a:p>
          </p:txBody>
        </p:sp>
      </p:grpSp>
      <p:grpSp>
        <p:nvGrpSpPr>
          <p:cNvPr id="7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3" name="TextBox 73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180078" cy="909257"/>
            <a:chOff x="520446" y="342900"/>
            <a:chExt cx="618007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4793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3877" y="407194"/>
              <a:ext cx="24679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第9章 NP 完全 · NP 完全性证明实例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18007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构造举例：n = 4，m = 3，每段 k = 2 位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11237738" cy="293370"/>
            <a:chOff x="525780" y="1548765"/>
            <a:chExt cx="11237738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123773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实例：A = {a₁, a₂, a₃, a₄} = {2, 3, 5, 8}，S₁ = {a₁, a₂}，S₂ = {a₁, a₃, a₄}，S₃ = {a₂}。S₂ ∪ S₃ 是 A 的恰好覆盖。</a:t>
              </a:r>
            </a:p>
          </p:txBody>
        </p:sp>
      </p:grpSp>
      <p:grpSp>
        <p:nvGrpSpPr>
          <p:cNvPr id="62" name="c1-cells-1"/>
          <p:cNvGrpSpPr/>
          <p:nvPr/>
        </p:nvGrpSpPr>
        <p:grpSpPr>
          <a:xfrm>
            <a:off x="526923" y="2003107"/>
            <a:ext cx="2350579" cy="2611755"/>
            <a:chOff x="526923" y="2003107"/>
            <a:chExt cx="2350579" cy="2611755"/>
          </a:xfrm>
        </p:grpSpPr>
        <p:sp>
          <p:nvSpPr>
            <p:cNvPr id="9" name="TextBox 9"/>
            <p:cNvSpPr txBox="1"/>
            <p:nvPr/>
          </p:nvSpPr>
          <p:spPr>
            <a:xfrm>
              <a:off x="526923" y="2359819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136332" y="2268855"/>
              <a:ext cx="435292" cy="340042"/>
            </a:xfrm>
            <a:prstGeom prst="rect">
              <a:avLst/>
            </a:prstGeom>
            <a:solidFill>
              <a:srgbClr val="E8EDF8"/>
            </a:solidFill>
            <a:ln w="15240">
              <a:solidFill>
                <a:srgbClr val="2F4B9A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247514" y="2359819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1571625" y="2268855"/>
              <a:ext cx="435292" cy="340042"/>
            </a:xfrm>
            <a:prstGeom prst="rect">
              <a:avLst/>
            </a:prstGeom>
            <a:solidFill>
              <a:srgbClr val="E8EDF8"/>
            </a:solidFill>
            <a:ln w="15240">
              <a:solidFill>
                <a:srgbClr val="2F4B9A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682807" y="2359819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2006918" y="2268855"/>
              <a:ext cx="435292" cy="340042"/>
            </a:xfrm>
            <a:prstGeom prst="rect">
              <a:avLst/>
            </a:prstGeom>
            <a:solidFill>
              <a:srgbClr val="E8EDF8"/>
            </a:solidFill>
            <a:ln w="15240">
              <a:solidFill>
                <a:srgbClr val="2F4B9A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2119052" y="2359819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2442210" y="2268855"/>
              <a:ext cx="435292" cy="340042"/>
            </a:xfrm>
            <a:prstGeom prst="rect">
              <a:avLst/>
            </a:prstGeom>
            <a:solidFill>
              <a:srgbClr val="E8EDF8"/>
            </a:solidFill>
            <a:ln w="15240">
              <a:solidFill>
                <a:srgbClr val="2F4B9A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2554344" y="2359819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266538" y="2003107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a₁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1315402" y="217360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701831" y="2003107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a₂</a:t>
              </a:r>
            </a:p>
          </p:txBody>
        </p:sp>
        <p:sp>
          <p:nvSpPr>
            <p:cNvPr id="21" name="Freeform 21"/>
            <p:cNvSpPr/>
            <p:nvPr/>
          </p:nvSpPr>
          <p:spPr>
            <a:xfrm>
              <a:off x="1750695" y="217360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2138076" y="2003107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a₃</a:t>
              </a:r>
            </a:p>
          </p:txBody>
        </p:sp>
        <p:sp>
          <p:nvSpPr>
            <p:cNvPr id="23" name="Freeform 23"/>
            <p:cNvSpPr/>
            <p:nvPr/>
          </p:nvSpPr>
          <p:spPr>
            <a:xfrm>
              <a:off x="2186940" y="217360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2573368" y="2003107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a₄</a:t>
              </a:r>
            </a:p>
          </p:txBody>
        </p:sp>
        <p:sp>
          <p:nvSpPr>
            <p:cNvPr id="25" name="Freeform 25"/>
            <p:cNvSpPr/>
            <p:nvPr/>
          </p:nvSpPr>
          <p:spPr>
            <a:xfrm>
              <a:off x="2622232" y="217360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26923" y="2860834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x₁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1136332" y="2769870"/>
              <a:ext cx="435292" cy="34004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D9DFEA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247514" y="2860834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1571625" y="2769870"/>
              <a:ext cx="435292" cy="34004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D9DFEA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1682807" y="2860834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2006918" y="2769870"/>
              <a:ext cx="435292" cy="340042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2119052" y="2860834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00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2442210" y="2769870"/>
              <a:ext cx="435292" cy="340042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2554344" y="2860834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00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26923" y="3362801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x₂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1136332" y="3271838"/>
              <a:ext cx="435292" cy="340042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1247514" y="3362801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1571625" y="3271838"/>
              <a:ext cx="435292" cy="340042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1682807" y="3362801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00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2006918" y="3271838"/>
              <a:ext cx="435292" cy="340042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2119052" y="3362801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2442210" y="3271838"/>
              <a:ext cx="435292" cy="340042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2554344" y="3362801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526923" y="3863816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x₃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1136332" y="3772852"/>
              <a:ext cx="435292" cy="340042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1247514" y="3863816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00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1571625" y="3772852"/>
              <a:ext cx="435292" cy="340042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1682807" y="3863816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2006918" y="3772852"/>
              <a:ext cx="435292" cy="340042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2119052" y="3863816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00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2442210" y="3772852"/>
              <a:ext cx="435292" cy="340042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2554344" y="3863816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00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526923" y="4364831"/>
              <a:ext cx="5105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x₂+x₃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1136332" y="4274820"/>
              <a:ext cx="435292" cy="340042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1247514" y="4364831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1571625" y="4274820"/>
              <a:ext cx="435292" cy="340042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1682807" y="4364831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2006918" y="4274820"/>
              <a:ext cx="435292" cy="340042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2119052" y="4364831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2442210" y="4274820"/>
              <a:ext cx="435292" cy="340042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2554344" y="4364831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69" name="c1-callout-2"/>
          <p:cNvGrpSpPr/>
          <p:nvPr/>
        </p:nvGrpSpPr>
        <p:grpSpPr>
          <a:xfrm>
            <a:off x="533400" y="4794885"/>
            <a:ext cx="5626418" cy="756285"/>
            <a:chOff x="533400" y="4794885"/>
            <a:chExt cx="5626418" cy="756285"/>
          </a:xfrm>
        </p:grpSpPr>
        <p:sp>
          <p:nvSpPr>
            <p:cNvPr id="63" name="Rectangle 63"/>
            <p:cNvSpPr/>
            <p:nvPr/>
          </p:nvSpPr>
          <p:spPr>
            <a:xfrm>
              <a:off x="533400" y="4794885"/>
              <a:ext cx="5626418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7" name="Group 67"/>
            <p:cNvGrpSpPr/>
            <p:nvPr/>
          </p:nvGrpSpPr>
          <p:grpSpPr>
            <a:xfrm>
              <a:off x="738188" y="5073015"/>
              <a:ext cx="200026" cy="200025"/>
              <a:chOff x="738188" y="5073015"/>
              <a:chExt cx="200026" cy="200025"/>
            </a:xfrm>
          </p:grpSpPr>
          <p:sp>
            <p:nvSpPr>
              <p:cNvPr id="64" name="Freeform 64"/>
              <p:cNvSpPr/>
              <p:nvPr/>
            </p:nvSpPr>
            <p:spPr>
              <a:xfrm>
                <a:off x="738188" y="507301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5" name="Freeform 65"/>
              <p:cNvSpPr/>
              <p:nvPr/>
            </p:nvSpPr>
            <p:spPr>
              <a:xfrm>
                <a:off x="777926" y="511746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812642" y="522859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8" name="TextBox 68"/>
            <p:cNvSpPr txBox="1"/>
            <p:nvPr/>
          </p:nvSpPr>
          <p:spPr>
            <a:xfrm>
              <a:off x="1040511" y="4942046"/>
              <a:ext cx="4441825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f(i, j) = 01（aᵢ ∈ Sⱼ）或 00（否则），j = 0 表示 A 本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身，N = f(1,0)f(2,0)f(3,0)f(4,0)。</a:t>
              </a:r>
            </a:p>
          </p:txBody>
        </p:sp>
      </p:grpSp>
      <p:grpSp>
        <p:nvGrpSpPr>
          <p:cNvPr id="97" name="c2-table-1"/>
          <p:cNvGrpSpPr/>
          <p:nvPr/>
        </p:nvGrpSpPr>
        <p:grpSpPr>
          <a:xfrm>
            <a:off x="6459284" y="1954530"/>
            <a:ext cx="5199316" cy="2401824"/>
            <a:chOff x="6459284" y="1954530"/>
            <a:chExt cx="5199316" cy="2401824"/>
          </a:xfrm>
        </p:grpSpPr>
        <p:sp>
          <p:nvSpPr>
            <p:cNvPr id="70" name="Rectangle 70"/>
            <p:cNvSpPr/>
            <p:nvPr/>
          </p:nvSpPr>
          <p:spPr>
            <a:xfrm>
              <a:off x="6464618" y="1954530"/>
              <a:ext cx="5193982" cy="424815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7108317" y="2083118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数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8672703" y="2083118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二进制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0538650" y="2083118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十进制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7139803" y="2506980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8559622" y="2506980"/>
              <a:ext cx="7229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01010101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11366221" y="2506980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85</a:t>
              </a:r>
            </a:p>
          </p:txBody>
        </p:sp>
        <p:sp>
          <p:nvSpPr>
            <p:cNvPr id="77" name="Rectangle 77"/>
            <p:cNvSpPr/>
            <p:nvPr/>
          </p:nvSpPr>
          <p:spPr>
            <a:xfrm>
              <a:off x="6464618" y="279844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8" name="Rectangle 78"/>
            <p:cNvSpPr/>
            <p:nvPr/>
          </p:nvSpPr>
          <p:spPr>
            <a:xfrm>
              <a:off x="6464618" y="2803208"/>
              <a:ext cx="5193982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7095797" y="2931795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x₁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8559622" y="2931795"/>
              <a:ext cx="7229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01010000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1366221" y="2931795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80</a:t>
              </a:r>
            </a:p>
          </p:txBody>
        </p:sp>
        <p:sp>
          <p:nvSpPr>
            <p:cNvPr id="82" name="Rectangle 82"/>
            <p:cNvSpPr/>
            <p:nvPr/>
          </p:nvSpPr>
          <p:spPr>
            <a:xfrm>
              <a:off x="6464618" y="322326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3" name="TextBox 83"/>
            <p:cNvSpPr txBox="1"/>
            <p:nvPr/>
          </p:nvSpPr>
          <p:spPr>
            <a:xfrm>
              <a:off x="7095797" y="3356610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x₂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8559622" y="3356610"/>
              <a:ext cx="7229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01000101</a:t>
              </a:r>
            </a:p>
          </p:txBody>
        </p:sp>
        <p:sp>
          <p:nvSpPr>
            <p:cNvPr id="85" name="Rectangle 85"/>
            <p:cNvSpPr/>
            <p:nvPr/>
          </p:nvSpPr>
          <p:spPr>
            <a:xfrm>
              <a:off x="9925050" y="3237548"/>
              <a:ext cx="1724025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86" name="TextBox 86"/>
            <p:cNvSpPr txBox="1"/>
            <p:nvPr/>
          </p:nvSpPr>
          <p:spPr>
            <a:xfrm>
              <a:off x="11366221" y="3356610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69</a:t>
              </a:r>
            </a:p>
          </p:txBody>
        </p:sp>
        <p:sp>
          <p:nvSpPr>
            <p:cNvPr id="87" name="Rectangle 87"/>
            <p:cNvSpPr/>
            <p:nvPr/>
          </p:nvSpPr>
          <p:spPr>
            <a:xfrm>
              <a:off x="6464618" y="364712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8" name="Rectangle 88"/>
            <p:cNvSpPr/>
            <p:nvPr/>
          </p:nvSpPr>
          <p:spPr>
            <a:xfrm>
              <a:off x="6464618" y="3651885"/>
              <a:ext cx="5193982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9" name="TextBox 89"/>
            <p:cNvSpPr txBox="1"/>
            <p:nvPr/>
          </p:nvSpPr>
          <p:spPr>
            <a:xfrm>
              <a:off x="7095797" y="3780472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x₃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8559622" y="3780472"/>
              <a:ext cx="7229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00010000</a:t>
              </a:r>
            </a:p>
          </p:txBody>
        </p:sp>
        <p:sp>
          <p:nvSpPr>
            <p:cNvPr id="91" name="Rectangle 91"/>
            <p:cNvSpPr/>
            <p:nvPr/>
          </p:nvSpPr>
          <p:spPr>
            <a:xfrm>
              <a:off x="9925050" y="3661410"/>
              <a:ext cx="1724025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92" name="TextBox 92"/>
            <p:cNvSpPr txBox="1"/>
            <p:nvPr/>
          </p:nvSpPr>
          <p:spPr>
            <a:xfrm>
              <a:off x="11366221" y="3780472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  <p:sp>
          <p:nvSpPr>
            <p:cNvPr id="93" name="Rectangle 93"/>
            <p:cNvSpPr/>
            <p:nvPr/>
          </p:nvSpPr>
          <p:spPr>
            <a:xfrm>
              <a:off x="6464618" y="1954530"/>
              <a:ext cx="5193982" cy="212217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94" name="Rectangle 94"/>
            <p:cNvSpPr/>
            <p:nvPr/>
          </p:nvSpPr>
          <p:spPr>
            <a:xfrm>
              <a:off x="7921942" y="195453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5" name="Rectangle 95"/>
            <p:cNvSpPr/>
            <p:nvPr/>
          </p:nvSpPr>
          <p:spPr>
            <a:xfrm>
              <a:off x="9910762" y="195453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6" name="TextBox 96"/>
            <p:cNvSpPr txBox="1"/>
            <p:nvPr/>
          </p:nvSpPr>
          <p:spPr>
            <a:xfrm>
              <a:off x="6459284" y="4150995"/>
              <a:ext cx="201078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k = ⌈log₂(m+1)⌉ = ⌈log₂4⌉ = 2</a:t>
              </a:r>
            </a:p>
          </p:txBody>
        </p:sp>
      </p:grpSp>
      <p:grpSp>
        <p:nvGrpSpPr>
          <p:cNvPr id="107" name="c2-card-2"/>
          <p:cNvGrpSpPr/>
          <p:nvPr/>
        </p:nvGrpSpPr>
        <p:grpSpPr>
          <a:xfrm>
            <a:off x="6464618" y="4495800"/>
            <a:ext cx="5193982" cy="1797368"/>
            <a:chOff x="6464618" y="4495800"/>
            <a:chExt cx="5193982" cy="1797368"/>
          </a:xfrm>
        </p:grpSpPr>
        <p:sp>
          <p:nvSpPr>
            <p:cNvPr id="98" name="Rectangle 98"/>
            <p:cNvSpPr/>
            <p:nvPr/>
          </p:nvSpPr>
          <p:spPr>
            <a:xfrm>
              <a:off x="6464618" y="4495800"/>
              <a:ext cx="5193982" cy="1797368"/>
            </a:xfrm>
            <a:prstGeom prst="roundRect">
              <a:avLst>
                <a:gd name="adj" fmla="val 741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99" name="Rectangle 99"/>
            <p:cNvSpPr/>
            <p:nvPr/>
          </p:nvSpPr>
          <p:spPr>
            <a:xfrm>
              <a:off x="6474142" y="4629150"/>
              <a:ext cx="47625" cy="153066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00" name="Rectangle 100"/>
            <p:cNvSpPr/>
            <p:nvPr/>
          </p:nvSpPr>
          <p:spPr>
            <a:xfrm>
              <a:off x="6700838" y="4693920"/>
              <a:ext cx="11430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1" name="TextBox 101"/>
            <p:cNvSpPr txBox="1"/>
            <p:nvPr/>
          </p:nvSpPr>
          <p:spPr>
            <a:xfrm>
              <a:off x="6772275" y="4728210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检验所有子集和</a:t>
              </a:r>
            </a:p>
          </p:txBody>
        </p:sp>
        <p:sp>
          <p:nvSpPr>
            <p:cNvPr id="102" name="Ellipse 102"/>
            <p:cNvSpPr/>
            <p:nvPr/>
          </p:nvSpPr>
          <p:spPr>
            <a:xfrm>
              <a:off x="6708458" y="5113972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03" name="TextBox 103"/>
            <p:cNvSpPr txBox="1"/>
            <p:nvPr/>
          </p:nvSpPr>
          <p:spPr>
            <a:xfrm>
              <a:off x="6865048" y="5054441"/>
              <a:ext cx="268116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单个：80，69，16；三个：165</a:t>
              </a:r>
            </a:p>
          </p:txBody>
        </p:sp>
        <p:sp>
          <p:nvSpPr>
            <p:cNvPr id="104" name="Ellipse 104"/>
            <p:cNvSpPr/>
            <p:nvPr/>
          </p:nvSpPr>
          <p:spPr>
            <a:xfrm>
              <a:off x="6708458" y="5432108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05" name="TextBox 105"/>
            <p:cNvSpPr txBox="1"/>
            <p:nvPr/>
          </p:nvSpPr>
          <p:spPr>
            <a:xfrm>
              <a:off x="6865048" y="5371624"/>
              <a:ext cx="26199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两个：149，96，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69 + 16 = 85</a:t>
              </a:r>
            </a:p>
          </p:txBody>
        </p:sp>
        <p:sp>
          <p:nvSpPr>
            <p:cNvPr id="106" name="TextBox 106"/>
            <p:cNvSpPr txBox="1"/>
            <p:nvPr/>
          </p:nvSpPr>
          <p:spPr>
            <a:xfrm>
              <a:off x="6694742" y="5686425"/>
              <a:ext cx="443941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只有 x₂ + x₃ = N，对应唯一的恰好覆盖 {S₂, S₃}。aᵢ 的取值 2、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3、5、8 不影响构造。</a:t>
              </a:r>
            </a:p>
          </p:txBody>
        </p:sp>
      </p:grpSp>
      <p:grpSp>
        <p:nvGrpSpPr>
          <p:cNvPr id="11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08" name="TextBox 108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109" name="TextBox 10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962759" cy="909257"/>
            <a:chOff x="520446" y="342900"/>
            <a:chExt cx="696275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4793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3877" y="407194"/>
              <a:ext cx="24679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第9章 NP 完全 · NP 完全性证明实例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96275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正确性：每段 k 位保证相加时不向上一段进位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steps-1"/>
          <p:cNvGrpSpPr/>
          <p:nvPr/>
        </p:nvGrpSpPr>
        <p:grpSpPr>
          <a:xfrm>
            <a:off x="533400" y="1533525"/>
            <a:ext cx="5189855" cy="2307431"/>
            <a:chOff x="533400" y="1533525"/>
            <a:chExt cx="5189855" cy="2307431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158019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323148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3969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311372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31875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45642" y="1564957"/>
              <a:ext cx="23932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 是恰好覆盖 ⇒ 有子集和为 N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46785" y="1833086"/>
              <a:ext cx="463423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 T = {xⱼ | Sⱼ ∈ U}。每个 aᵢ 恰好在 U 的一个集合中，T 中各数第 i 段加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起来恰为 1，不产生进位，总和等于 N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5642" y="2355532"/>
              <a:ext cx="24160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有子集和为 N ⇒ 存在恰好覆盖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785" y="2622709"/>
              <a:ext cx="477647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 最多 m 个数，每段最多加出 m &lt; 2ᵏ，不会向上一段进位。所以每段的和必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须恰为 1，即每个 aᵢ 恰好属于一个被选中的 Sⱼ，这些 Sⱼ 构成恰好覆盖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642" y="314515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结论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785" y="3413284"/>
              <a:ext cx="4662678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构造是多项式时间的，两个方向都成立，恰好覆盖 ≤ₚ 子集和。又因子集和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∈ NP，子集和问题是 NP 完全的</a:t>
              </a:r>
            </a:p>
          </p:txBody>
        </p:sp>
      </p:grpSp>
      <p:grpSp>
        <p:nvGrpSpPr>
          <p:cNvPr id="27" name="c1-callout-2"/>
          <p:cNvGrpSpPr/>
          <p:nvPr/>
        </p:nvGrpSpPr>
        <p:grpSpPr>
          <a:xfrm>
            <a:off x="533400" y="4004310"/>
            <a:ext cx="5410200" cy="978218"/>
            <a:chOff x="533400" y="4004310"/>
            <a:chExt cx="5410200" cy="978218"/>
          </a:xfrm>
        </p:grpSpPr>
        <p:sp>
          <p:nvSpPr>
            <p:cNvPr id="21" name="Rectangle 21"/>
            <p:cNvSpPr/>
            <p:nvPr/>
          </p:nvSpPr>
          <p:spPr>
            <a:xfrm>
              <a:off x="533400" y="4004310"/>
              <a:ext cx="5410200" cy="978218"/>
            </a:xfrm>
            <a:prstGeom prst="roundRect">
              <a:avLst>
                <a:gd name="adj" fmla="val 11685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738188" y="4392930"/>
              <a:ext cx="200026" cy="200025"/>
              <a:chOff x="738188" y="4392930"/>
              <a:chExt cx="200026" cy="200025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738188" y="439293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777926" y="443738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12642" y="454850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1040892" y="4150042"/>
              <a:ext cx="4488561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对照上一页：x₂ = 01|00|01|01，x₃ = 00|01|00|00，逐段相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加得 01|01|01|01 = N，每个元素恰好被选中的一个集合覆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盖。</a:t>
              </a:r>
            </a:p>
          </p:txBody>
        </p:sp>
      </p:grpSp>
      <p:grpSp>
        <p:nvGrpSpPr>
          <p:cNvPr id="34" name="c1-callout-3"/>
          <p:cNvGrpSpPr/>
          <p:nvPr/>
        </p:nvGrpSpPr>
        <p:grpSpPr>
          <a:xfrm>
            <a:off x="533400" y="5152072"/>
            <a:ext cx="5410200" cy="729615"/>
            <a:chOff x="533400" y="5152072"/>
            <a:chExt cx="5410200" cy="729615"/>
          </a:xfrm>
        </p:grpSpPr>
        <p:sp>
          <p:nvSpPr>
            <p:cNvPr id="28" name="Rectangle 28"/>
            <p:cNvSpPr/>
            <p:nvPr/>
          </p:nvSpPr>
          <p:spPr>
            <a:xfrm>
              <a:off x="533400" y="5152072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738188" y="5416868"/>
              <a:ext cx="200026" cy="200026"/>
              <a:chOff x="738188" y="5416868"/>
              <a:chExt cx="200026" cy="200026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738188" y="541686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838200" y="548354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827088" y="551688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040892" y="5297805"/>
              <a:ext cx="4308538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 k = ⌈log₂(m+1)⌉ 保证 2ᵏ ≥ m + 1 &gt; m。k 取得更大也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正确，只是数更长；取够用的最小值即可。</a:t>
              </a:r>
            </a:p>
          </p:txBody>
        </p:sp>
      </p:grpSp>
      <p:grpSp>
        <p:nvGrpSpPr>
          <p:cNvPr id="69" name="c2-card-1"/>
          <p:cNvGrpSpPr/>
          <p:nvPr/>
        </p:nvGrpSpPr>
        <p:grpSpPr>
          <a:xfrm>
            <a:off x="6248400" y="1524000"/>
            <a:ext cx="5410200" cy="4401502"/>
            <a:chOff x="6248400" y="1524000"/>
            <a:chExt cx="5410200" cy="4401502"/>
          </a:xfrm>
        </p:grpSpPr>
        <p:sp>
          <p:nvSpPr>
            <p:cNvPr id="35" name="Rectangle 35"/>
            <p:cNvSpPr/>
            <p:nvPr/>
          </p:nvSpPr>
          <p:spPr>
            <a:xfrm>
              <a:off x="6248400" y="1524000"/>
              <a:ext cx="5410200" cy="4401502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6257925" y="1657350"/>
              <a:ext cx="47625" cy="413480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473190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565862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反例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038784" y="1745932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每段只用 1 位会答错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66332" y="2071688"/>
              <a:ext cx="472859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= {a₁, a₂, a₃, a₄}，S₁ = {a₃, a₄}，S₂ = {a₂, a₄}，S₃ =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{a₂, a₃, a₄}。a₁ 不在任何子集中，</a:t>
              </a:r>
              <a:r>
                <a:rPr lang="zh-CN" sz="13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不存在恰好覆盖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473190" y="2606992"/>
              <a:ext cx="4998720" cy="40005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003593" y="272843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数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235306" y="2728436"/>
              <a:ext cx="6458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每段 1 位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988595" y="2728436"/>
              <a:ext cx="9149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每段 k = 2 位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032980" y="3128486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217024" y="3128486"/>
              <a:ext cx="682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1111 = 15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9939028" y="3128486"/>
              <a:ext cx="10140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01010101 = 85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473190" y="3402330"/>
              <a:ext cx="49987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6473190" y="3407092"/>
              <a:ext cx="499872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991908" y="352853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x₁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258487" y="3528536"/>
              <a:ext cx="5994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0011 = 3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9980491" y="3528536"/>
              <a:ext cx="931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00000101 = 5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473190" y="3802380"/>
              <a:ext cx="49987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991908" y="392858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x₂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258487" y="3928586"/>
              <a:ext cx="5994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0101 = 5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9939028" y="3928586"/>
              <a:ext cx="10140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00010001 = 17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6473190" y="4202430"/>
              <a:ext cx="49987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6473190" y="4207192"/>
              <a:ext cx="499872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991908" y="432863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x₃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258487" y="4328636"/>
              <a:ext cx="5994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0111 = 7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9939028" y="4328636"/>
              <a:ext cx="10140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00010101 = 21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6473190" y="2606992"/>
              <a:ext cx="4998720" cy="20002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3" name="Rectangle 63"/>
            <p:cNvSpPr/>
            <p:nvPr/>
          </p:nvSpPr>
          <p:spPr>
            <a:xfrm>
              <a:off x="7691438" y="2606992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4" name="Rectangle 64"/>
            <p:cNvSpPr/>
            <p:nvPr/>
          </p:nvSpPr>
          <p:spPr>
            <a:xfrm>
              <a:off x="9415462" y="2606992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5" name="Ellipse 65"/>
            <p:cNvSpPr/>
            <p:nvPr/>
          </p:nvSpPr>
          <p:spPr>
            <a:xfrm>
              <a:off x="6481762" y="4769168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6637782" y="4712970"/>
              <a:ext cx="452285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位：3 + 5 + 7 = 15 = N，a₄ 段加出 3 发生进位，</a:t>
              </a:r>
              <a:r>
                <a:rPr lang="zh-CN" sz="13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错误地答</a:t>
              </a:r>
              <a:br/>
              <a:r>
                <a:rPr lang="zh-CN" sz="13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67" name="Ellipse 67"/>
            <p:cNvSpPr/>
            <p:nvPr/>
          </p:nvSpPr>
          <p:spPr>
            <a:xfrm>
              <a:off x="6481762" y="5326380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6637782" y="5270183"/>
              <a:ext cx="460857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位：子集和为 5, 17, 21, 22, 26, 38, 43，都不等于 85，</a:t>
              </a:r>
              <a:br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正确答否</a:t>
              </a:r>
            </a:p>
          </p:txBody>
        </p:sp>
      </p:grpSp>
      <p:grpSp>
        <p:nvGrpSpPr>
          <p:cNvPr id="7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0" name="TextBox 70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17623" cy="909257"/>
            <a:chOff x="520446" y="342900"/>
            <a:chExt cx="51176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4793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3877" y="407194"/>
              <a:ext cx="24679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第9章 NP 完全 · NP 完全性证明实例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176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思考题解答：子集和 ≤ₚ 0/1 背包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4" name="c1-steps-1"/>
          <p:cNvGrpSpPr/>
          <p:nvPr/>
        </p:nvGrpSpPr>
        <p:grpSpPr>
          <a:xfrm>
            <a:off x="533400" y="1533525"/>
            <a:ext cx="5119116" cy="2840736"/>
            <a:chOff x="533400" y="1533525"/>
            <a:chExt cx="5119116" cy="2840736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207168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3717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4455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98799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306181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60521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67903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5261" y="156638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构造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404" y="1846898"/>
              <a:ext cx="470611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给定子集和实例 X = {x₁, …, xₙ} 和 N，令重量 wᵢ = xᵢ、效益值 pᵢ =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xᵢ，容量 M = N，要求的效益值也取 N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261" y="240458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等价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404" y="2685098"/>
              <a:ext cx="34974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Σwᵢ ≤ N 且 Σpᵢ ≥ N ⇔ 选中的 xᵢ 之和恰好等于 N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5261" y="3020854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时间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404" y="3301365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只把数复制一遍，线性时间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5261" y="3638074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结论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404" y="3918585"/>
              <a:ext cx="463753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0/1 背包判定问题属于 NP（猜选法，验证重量和效益），又有子集和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≤ₚ 0/1 背包，所以它是 NP 完全的</a:t>
              </a:r>
            </a:p>
          </p:txBody>
        </p:sp>
      </p:grpSp>
      <p:grpSp>
        <p:nvGrpSpPr>
          <p:cNvPr id="57" name="c2-table-1"/>
          <p:cNvGrpSpPr/>
          <p:nvPr/>
        </p:nvGrpSpPr>
        <p:grpSpPr>
          <a:xfrm>
            <a:off x="6243066" y="1524000"/>
            <a:ext cx="5415534" cy="3013329"/>
            <a:chOff x="6243066" y="1524000"/>
            <a:chExt cx="5415534" cy="3013329"/>
          </a:xfrm>
        </p:grpSpPr>
        <p:sp>
          <p:nvSpPr>
            <p:cNvPr id="25" name="Rectangle 25"/>
            <p:cNvSpPr/>
            <p:nvPr/>
          </p:nvSpPr>
          <p:spPr>
            <a:xfrm>
              <a:off x="6248400" y="1524000"/>
              <a:ext cx="5410200" cy="424815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028498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选法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784584" y="1652588"/>
              <a:ext cx="7169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重量 ≤ 85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541946" y="1652588"/>
              <a:ext cx="7169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效益 ≥ 85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350889" y="2076450"/>
              <a:ext cx="117490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{1}、{2}、{3}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547316" y="2076450"/>
              <a:ext cx="11914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80、69、16，✓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813542" y="2076450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48400" y="236791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6248400" y="2372678"/>
              <a:ext cx="5410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350889" y="2501265"/>
              <a:ext cx="5295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{1, 2}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842134" y="2501265"/>
              <a:ext cx="6018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149，✗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599496" y="2501265"/>
              <a:ext cx="6018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149，✓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48400" y="279273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350889" y="2926080"/>
              <a:ext cx="5295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{1, 3}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886558" y="2926080"/>
              <a:ext cx="5129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96，✗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643921" y="2926080"/>
              <a:ext cx="5129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96，✓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48400" y="321659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248400" y="3221355"/>
              <a:ext cx="5410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6257925" y="3230880"/>
              <a:ext cx="1876425" cy="40576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350889" y="3349942"/>
              <a:ext cx="5295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{2, 3}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8153400" y="3230880"/>
              <a:ext cx="1978342" cy="40576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8886558" y="3349942"/>
              <a:ext cx="5129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85，✓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10150792" y="3230880"/>
              <a:ext cx="1498282" cy="40576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10643921" y="3349942"/>
              <a:ext cx="5129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85，✓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248400" y="364140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350889" y="3774757"/>
              <a:ext cx="76700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{1, 2, 3}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842134" y="3774757"/>
              <a:ext cx="6018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165，✗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0599496" y="3774757"/>
              <a:ext cx="6018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165，✓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248400" y="1524000"/>
              <a:ext cx="5410200" cy="254698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8139112" y="1524000"/>
              <a:ext cx="9525" cy="25469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10136505" y="1524000"/>
              <a:ext cx="9525" cy="25469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243066" y="4145280"/>
              <a:ext cx="5117973" cy="3920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70"/>
                </a:lnSpc>
              </a:pPr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例：由上一例 X = {80, 69, 16}、N = 85 得 wᵢ = pᵢ = (80, 69, 16)，M = 85，效益值</a:t>
              </a:r>
              <a:br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85</a:t>
              </a:r>
            </a:p>
          </p:txBody>
        </p:sp>
      </p:grpSp>
      <p:grpSp>
        <p:nvGrpSpPr>
          <p:cNvPr id="63" name="c2-callout-2"/>
          <p:cNvGrpSpPr/>
          <p:nvPr/>
        </p:nvGrpSpPr>
        <p:grpSpPr>
          <a:xfrm>
            <a:off x="6248400" y="4675822"/>
            <a:ext cx="5410200" cy="756285"/>
            <a:chOff x="6248400" y="4675822"/>
            <a:chExt cx="5410200" cy="756285"/>
          </a:xfrm>
        </p:grpSpPr>
        <p:sp>
          <p:nvSpPr>
            <p:cNvPr id="58" name="Rectangle 58"/>
            <p:cNvSpPr/>
            <p:nvPr/>
          </p:nvSpPr>
          <p:spPr>
            <a:xfrm>
              <a:off x="6248400" y="4675822"/>
              <a:ext cx="5410200" cy="756285"/>
            </a:xfrm>
            <a:prstGeom prst="roundRect">
              <a:avLst>
                <a:gd name="adj" fmla="val 15113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61" name="Group 61"/>
            <p:cNvGrpSpPr/>
            <p:nvPr/>
          </p:nvGrpSpPr>
          <p:grpSpPr>
            <a:xfrm>
              <a:off x="6453188" y="4953953"/>
              <a:ext cx="200026" cy="200026"/>
              <a:chOff x="6453188" y="4953953"/>
              <a:chExt cx="200026" cy="200026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6453188" y="495395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6519863" y="5031740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62" name="TextBox 62"/>
            <p:cNvSpPr txBox="1"/>
            <p:nvPr/>
          </p:nvSpPr>
          <p:spPr>
            <a:xfrm>
              <a:off x="6755511" y="4822984"/>
              <a:ext cx="4360672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只有选物品 2、3 时两个条件同时满足，对应子集和 69</a:t>
              </a:r>
              <a:br/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+ 16 = 85。</a:t>
              </a:r>
            </a:p>
          </p:txBody>
        </p:sp>
      </p:grpSp>
      <p:grpSp>
        <p:nvGrpSpPr>
          <p:cNvPr id="69" name="takeaway"/>
          <p:cNvGrpSpPr/>
          <p:nvPr/>
        </p:nvGrpSpPr>
        <p:grpSpPr>
          <a:xfrm>
            <a:off x="533400" y="5606415"/>
            <a:ext cx="11125200" cy="756285"/>
            <a:chOff x="533400" y="5606415"/>
            <a:chExt cx="11125200" cy="756285"/>
          </a:xfrm>
        </p:grpSpPr>
        <p:sp>
          <p:nvSpPr>
            <p:cNvPr id="64" name="Rectangle 64"/>
            <p:cNvSpPr/>
            <p:nvPr/>
          </p:nvSpPr>
          <p:spPr>
            <a:xfrm>
              <a:off x="533400" y="5606415"/>
              <a:ext cx="11125200" cy="756285"/>
            </a:xfrm>
            <a:prstGeom prst="roundRect">
              <a:avLst>
                <a:gd name="adj" fmla="val 15113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67" name="Group 67"/>
            <p:cNvGrpSpPr/>
            <p:nvPr/>
          </p:nvGrpSpPr>
          <p:grpSpPr>
            <a:xfrm>
              <a:off x="738188" y="5884547"/>
              <a:ext cx="200023" cy="200023"/>
              <a:chOff x="738188" y="5884547"/>
              <a:chExt cx="200023" cy="200023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738188" y="588454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871538" y="595122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8" name="TextBox 68"/>
            <p:cNvSpPr txBox="1"/>
            <p:nvPr/>
          </p:nvSpPr>
          <p:spPr>
            <a:xfrm>
              <a:off x="1040511" y="5753576"/>
              <a:ext cx="9788906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归约链 SAT ≤ₚ … ≤ₚ 恰好覆盖 ≤ₚ 子集和 ≤ₚ 0/1 背包：除非 P = NP，0/1 背包没有多项式时间算法，第 6 章的 O(nM) 只是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伪多项式时间。</a:t>
              </a:r>
            </a:p>
          </p:txBody>
        </p:sp>
      </p:grpSp>
      <p:grpSp>
        <p:nvGrpSpPr>
          <p:cNvPr id="7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0" name="TextBox 70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560892" cy="909257"/>
            <a:chOff x="520446" y="342900"/>
            <a:chExt cx="256089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4793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3877" y="407194"/>
              <a:ext cx="24679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第9章 NP 完全 · NP 完全性证明实例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自测题（一）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937385"/>
            <a:chOff x="533400" y="1524000"/>
            <a:chExt cx="5410200" cy="193738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937385"/>
            </a:xfrm>
            <a:prstGeom prst="roundRect">
              <a:avLst>
                <a:gd name="adj" fmla="val 688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42950" y="173355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30437" y="176926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35330" y="2110740"/>
              <a:ext cx="4762976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在每秒 10⁹ 次的计算机上，O(n²) 算法处理 n = 10⁵ 要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多久？O(2ⁿ) 算法处理 n = 50 呢？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35330" y="2731770"/>
              <a:ext cx="38157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前者 10¹⁰ 次运算，10 秒；后者 2⁵⁰ ≈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1.13×10¹⁵ 次，约 1.13×10⁶ 秒，约 13 天。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651885"/>
            <a:ext cx="5410200" cy="1937385"/>
            <a:chOff x="533400" y="3651885"/>
            <a:chExt cx="5410200" cy="1937385"/>
          </a:xfrm>
        </p:grpSpPr>
        <p:sp>
          <p:nvSpPr>
            <p:cNvPr id="13" name="Rectangle 13"/>
            <p:cNvSpPr/>
            <p:nvPr/>
          </p:nvSpPr>
          <p:spPr>
            <a:xfrm>
              <a:off x="533400" y="3651885"/>
              <a:ext cx="5410200" cy="1937385"/>
            </a:xfrm>
            <a:prstGeom prst="roundRect">
              <a:avLst>
                <a:gd name="adj" fmla="val 688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42950" y="386143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30437" y="389715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35330" y="4238625"/>
              <a:ext cx="4672013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已知 L₁ ≤ₚ L₂，L₁ 是 NPC，L₂ ∈ NP。能得出什么？若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还知道 L₂ ∈ P 呢？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35330" y="4859655"/>
              <a:ext cx="45015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可得 L₂ 是 NPC；若 L₂ ∈ P，则 L₁ ∈ P，进而 P =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NP。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6248400" y="1524000"/>
            <a:ext cx="5410200" cy="1937385"/>
            <a:chOff x="6248400" y="1524000"/>
            <a:chExt cx="5410200" cy="1937385"/>
          </a:xfrm>
        </p:grpSpPr>
        <p:sp>
          <p:nvSpPr>
            <p:cNvPr id="19" name="Rectangle 19"/>
            <p:cNvSpPr/>
            <p:nvPr/>
          </p:nvSpPr>
          <p:spPr>
            <a:xfrm>
              <a:off x="6248400" y="1524000"/>
              <a:ext cx="5410200" cy="1937385"/>
            </a:xfrm>
            <a:prstGeom prst="roundRect">
              <a:avLst>
                <a:gd name="adj" fmla="val 688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457950" y="173355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545437" y="176926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450330" y="2110740"/>
              <a:ext cx="36748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为什么 P ⊆ NP？NP 是“非 P”的意思吗？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50330" y="2446020"/>
              <a:ext cx="452056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确定算法是 choice 集合只有一个元素的不确定算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法。NP 的 N 指不确定（Nondeterministic），不是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“非”。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6248400" y="3651885"/>
            <a:ext cx="5410200" cy="1937385"/>
            <a:chOff x="6248400" y="3651885"/>
            <a:chExt cx="5410200" cy="1937385"/>
          </a:xfrm>
        </p:grpSpPr>
        <p:sp>
          <p:nvSpPr>
            <p:cNvPr id="25" name="Rectangle 25"/>
            <p:cNvSpPr/>
            <p:nvPr/>
          </p:nvSpPr>
          <p:spPr>
            <a:xfrm>
              <a:off x="6248400" y="3651885"/>
              <a:ext cx="5410200" cy="1937385"/>
            </a:xfrm>
            <a:prstGeom prst="roundRect">
              <a:avLst>
                <a:gd name="adj" fmla="val 688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57950" y="386143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45437" y="389715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50330" y="4238625"/>
              <a:ext cx="4337209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 = (x₁ ∨ ¬x₂) ∧ (¬x₁ ∨ x₂) ∧ (x₁ ∨ x₂) 可满足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吗？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50330" y="4859655"/>
              <a:ext cx="47110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可满足。前两个子式要求 x₁ = x₂，第三个要求至少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一个为真，取 x₁ = x₂ = 1。</a:t>
              </a:r>
            </a:p>
          </p:txBody>
        </p:sp>
      </p:grpSp>
      <p:grpSp>
        <p:nvGrpSpPr>
          <p:cNvPr id="37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1" name="Rectangle 31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738188" y="5995988"/>
              <a:ext cx="200026" cy="200026"/>
              <a:chOff x="738188" y="5995988"/>
              <a:chExt cx="200026" cy="200026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738188" y="599598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838200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827088" y="609600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1040130" y="5991225"/>
              <a:ext cx="895064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对照复习：第 1 题见第 4–6 页，第 2 题见第 25 页，第 3 题见第 32–33 页，第 4 题见第 34–35 页。</a:t>
              </a:r>
            </a:p>
          </p:txBody>
        </p:sp>
      </p:grpSp>
      <p:grpSp>
        <p:nvGrpSpPr>
          <p:cNvPr id="4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8" name="TextBox 38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560892" cy="909257"/>
            <a:chOff x="520446" y="342900"/>
            <a:chExt cx="256089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4793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3877" y="407194"/>
              <a:ext cx="24679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第9章 NP 完全 · NP 完全性证明实例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自测题（二）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2111692"/>
            <a:chOff x="533400" y="1524000"/>
            <a:chExt cx="5410200" cy="211169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111692"/>
            </a:xfrm>
            <a:prstGeom prst="roundRect">
              <a:avLst>
                <a:gd name="adj" fmla="val 631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31520" y="172212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20468" y="175641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24281" y="2082641"/>
              <a:ext cx="4575727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恰好覆盖实例 n = 3，S₁ = {a₁, a₂}，S₂ = {a₃}，S₃ =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{a₂, a₃}。按本章构造，k、N、x₁、x₂、x₃ 各是多少？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24281" y="2672239"/>
              <a:ext cx="4676267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 k = 2；N = 010101 = 21，x₁ = 010100 = 20，x₂ =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000001 = 1，x₃ = 000101 = 5。x₁ + x₂ = 21，对应恰好覆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盖 {S₁, S₂}。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815715"/>
            <a:ext cx="5410200" cy="1568768"/>
            <a:chOff x="533400" y="3815715"/>
            <a:chExt cx="5410200" cy="1568768"/>
          </a:xfrm>
        </p:grpSpPr>
        <p:sp>
          <p:nvSpPr>
            <p:cNvPr id="13" name="Rectangle 13"/>
            <p:cNvSpPr/>
            <p:nvPr/>
          </p:nvSpPr>
          <p:spPr>
            <a:xfrm>
              <a:off x="533400" y="3815715"/>
              <a:ext cx="5410200" cy="1568768"/>
            </a:xfrm>
            <a:prstGeom prst="roundRect">
              <a:avLst>
                <a:gd name="adj" fmla="val 85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31520" y="401383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20468" y="404812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24281" y="4374356"/>
              <a:ext cx="501018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0/1 背包的 O(nM) 动态规划为什么不算多项式时间算法？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24281" y="4692491"/>
              <a:ext cx="4748403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输入中 M 只占约 log₂M 位，nM 相对输入长度是指数级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的，属于伪多项式时间。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6248400" y="1524000"/>
            <a:ext cx="5410200" cy="1568768"/>
            <a:chOff x="6248400" y="1524000"/>
            <a:chExt cx="5410200" cy="1568768"/>
          </a:xfrm>
        </p:grpSpPr>
        <p:sp>
          <p:nvSpPr>
            <p:cNvPr id="19" name="Rectangle 19"/>
            <p:cNvSpPr/>
            <p:nvPr/>
          </p:nvSpPr>
          <p:spPr>
            <a:xfrm>
              <a:off x="6248400" y="1524000"/>
              <a:ext cx="5410200" cy="1568768"/>
            </a:xfrm>
            <a:prstGeom prst="roundRect">
              <a:avLst>
                <a:gd name="adj" fmla="val 85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446520" y="172212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535468" y="175641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439281" y="2082641"/>
              <a:ext cx="411137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要证明问题 L 是 NPC，证出 L ≤ₚ SAT 可以吗？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39281" y="2400776"/>
              <a:ext cx="4766437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不可以。它只能说明 L ∈ NP；还必须把一个已知 NPC 问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题归约到 L。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6248400" y="3272790"/>
            <a:ext cx="5410200" cy="2111692"/>
            <a:chOff x="6248400" y="3272790"/>
            <a:chExt cx="5410200" cy="2111692"/>
          </a:xfrm>
        </p:grpSpPr>
        <p:sp>
          <p:nvSpPr>
            <p:cNvPr id="25" name="Rectangle 25"/>
            <p:cNvSpPr/>
            <p:nvPr/>
          </p:nvSpPr>
          <p:spPr>
            <a:xfrm>
              <a:off x="6248400" y="3272790"/>
              <a:ext cx="5410200" cy="2111692"/>
            </a:xfrm>
            <a:prstGeom prst="roundRect">
              <a:avLst>
                <a:gd name="adj" fmla="val 631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46520" y="347091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35468" y="350520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39281" y="3831431"/>
              <a:ext cx="324097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 P ≠ NP，有没有 NPC 问题属于 P？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39281" y="4149566"/>
              <a:ext cx="471233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没有。若某个 NPC 问题属于 P，由 NPC 的意义可得 P =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NP，矛盾。</a:t>
              </a:r>
            </a:p>
          </p:txBody>
        </p:sp>
      </p:grpSp>
      <p:grpSp>
        <p:nvGrpSpPr>
          <p:cNvPr id="37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31" name="Rectangle 31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738188" y="6011228"/>
              <a:ext cx="200026" cy="200026"/>
              <a:chOff x="738188" y="6011228"/>
              <a:chExt cx="200026" cy="200026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738188" y="601122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838200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827088" y="611124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1040511" y="6011704"/>
              <a:ext cx="80527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对照复习：第 1 题见第 42–44 页，第 2 题见第 33 页，第 3 题见第 23 页，第 4 题见第 32 页。</a:t>
              </a:r>
            </a:p>
          </p:txBody>
        </p:sp>
      </p:grpSp>
      <p:grpSp>
        <p:nvGrpSpPr>
          <p:cNvPr id="4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8" name="TextBox 38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560892" cy="909257"/>
            <a:chOff x="520446" y="342900"/>
            <a:chExt cx="256089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4793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3877" y="407194"/>
              <a:ext cx="24679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第9章 NP 完全 · NP 完全性证明实例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1" name="c1-table-1"/>
          <p:cNvGrpSpPr/>
          <p:nvPr/>
        </p:nvGrpSpPr>
        <p:grpSpPr>
          <a:xfrm>
            <a:off x="533400" y="1524000"/>
            <a:ext cx="6059805" cy="2400300"/>
            <a:chOff x="533400" y="1524000"/>
            <a:chExt cx="6059805" cy="24003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40005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25386" y="164544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问题类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801023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406111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例子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0555" y="2045494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479232" y="2045494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多项式时间内用确定算法可解的判定问题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630102" y="2045494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排序、最短路径的判定版本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31933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324100"/>
              <a:ext cx="6059805" cy="6000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0555" y="2545556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NP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479232" y="2445544"/>
              <a:ext cx="271399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多项式时间内用不确定算法可解（能猜能验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证）的判定问题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30102" y="2545556"/>
              <a:ext cx="17820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最大团判定、SAT、子集和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91941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0555" y="3145631"/>
              <a:ext cx="287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NPC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479232" y="3145631"/>
              <a:ext cx="27731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属于 NP，且 SAT（任一 NPC 问题）≤ₚ 它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630102" y="3045619"/>
              <a:ext cx="1668526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SAT、恰好覆盖、子集和、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0/1 背包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51948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524250"/>
              <a:ext cx="605980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0555" y="3645694"/>
              <a:ext cx="3963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NP 难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479232" y="3645694"/>
              <a:ext cx="18992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SAT（任一 NPC 问题）≤ₚ 它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630102" y="3645694"/>
              <a:ext cx="1726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所有 NPC 问题、停机问题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1524000"/>
              <a:ext cx="6059805" cy="24003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1377315" y="1524000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4528185" y="1524000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0" name="c1-card-2"/>
          <p:cNvGrpSpPr/>
          <p:nvPr/>
        </p:nvGrpSpPr>
        <p:grpSpPr>
          <a:xfrm>
            <a:off x="533400" y="4093845"/>
            <a:ext cx="6059805" cy="1485900"/>
            <a:chOff x="533400" y="4093845"/>
            <a:chExt cx="6059805" cy="1485900"/>
          </a:xfrm>
        </p:grpSpPr>
        <p:sp>
          <p:nvSpPr>
            <p:cNvPr id="32" name="Rectangle 32"/>
            <p:cNvSpPr/>
            <p:nvPr/>
          </p:nvSpPr>
          <p:spPr>
            <a:xfrm>
              <a:off x="533400" y="4093845"/>
              <a:ext cx="6059805" cy="1485900"/>
            </a:xfrm>
            <a:prstGeom prst="roundRect">
              <a:avLst>
                <a:gd name="adj" fmla="val 89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542925" y="4227195"/>
              <a:ext cx="47625" cy="121920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758190" y="4280535"/>
              <a:ext cx="1454468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20357" y="4313396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本讲义对原课件的更正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766762" y="4681538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922782" y="4625340"/>
              <a:ext cx="518293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最大团回溯法的运算量与时间（第 4 页）；提速后一天可解的顶点数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（第 5 页）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766762" y="5238750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22782" y="5182552"/>
              <a:ext cx="505966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备注“NP ⊂ 非 P 问题”（第 25 页）；EVAL 的时间（第 36 页）</a:t>
              </a:r>
            </a:p>
          </p:txBody>
        </p:sp>
      </p:grpSp>
      <p:grpSp>
        <p:nvGrpSpPr>
          <p:cNvPr id="59" name="c2-bullets-1"/>
          <p:cNvGrpSpPr/>
          <p:nvPr/>
        </p:nvGrpSpPr>
        <p:grpSpPr>
          <a:xfrm>
            <a:off x="6897052" y="1534478"/>
            <a:ext cx="4580763" cy="2847212"/>
            <a:chOff x="6897052" y="1534478"/>
            <a:chExt cx="4580763" cy="2847212"/>
          </a:xfrm>
        </p:grpSpPr>
        <p:sp>
          <p:nvSpPr>
            <p:cNvPr id="41" name="Ellipse 41"/>
            <p:cNvSpPr/>
            <p:nvPr/>
          </p:nvSpPr>
          <p:spPr>
            <a:xfrm>
              <a:off x="6897052" y="1534478"/>
              <a:ext cx="192405" cy="19240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952731" y="157286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177849" y="1545907"/>
              <a:ext cx="42999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多项式时间算法是好算法；问题复杂性指最好算法的复杂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6897052" y="2100262"/>
              <a:ext cx="192405" cy="19240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952731" y="213864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177849" y="2111692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优化问题与其判定问题可以多项式时间互相转换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6897052" y="2408872"/>
              <a:ext cx="192405" cy="19240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952731" y="244725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177849" y="2420302"/>
              <a:ext cx="42999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不确定算法分猜想、验证两阶段，时间按二进制输入长度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6897052" y="2974657"/>
              <a:ext cx="192405" cy="19240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952731" y="301304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177849" y="2986088"/>
              <a:ext cx="424853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SAT 是第一个 NPC 问题（Cook 定理），由它归约出其他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NPC 问题</a:t>
              </a:r>
            </a:p>
          </p:txBody>
        </p:sp>
        <p:sp>
          <p:nvSpPr>
            <p:cNvPr id="53" name="Ellipse 53"/>
            <p:cNvSpPr/>
            <p:nvPr/>
          </p:nvSpPr>
          <p:spPr>
            <a:xfrm>
              <a:off x="6897052" y="3540442"/>
              <a:ext cx="192405" cy="19240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952731" y="357882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177849" y="3551872"/>
              <a:ext cx="245790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某个 NPC 问题属于 P ⇔ P = NP</a:t>
              </a:r>
            </a:p>
          </p:txBody>
        </p:sp>
        <p:sp>
          <p:nvSpPr>
            <p:cNvPr id="56" name="Ellipse 56"/>
            <p:cNvSpPr/>
            <p:nvPr/>
          </p:nvSpPr>
          <p:spPr>
            <a:xfrm>
              <a:off x="6897052" y="3849052"/>
              <a:ext cx="192405" cy="19240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952731" y="388743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7177849" y="3860482"/>
              <a:ext cx="42999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归约的目的：用复杂度不降低、但应用范围更广的问题的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算法，代替应用范围小的一类问题的算法</a:t>
              </a:r>
            </a:p>
          </p:txBody>
        </p:sp>
      </p:grpSp>
      <p:grpSp>
        <p:nvGrpSpPr>
          <p:cNvPr id="65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60" name="Rectangle 60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1040892" y="6028373"/>
              <a:ext cx="1009206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证明 L 是 NPC 分两步：L ∈ NP；已知 NPC 问题 ≤ₚ L。复习时把恰好覆盖到子集和的构造手算一遍，并说清每段 k 位的理由。</a:t>
              </a:r>
            </a:p>
          </p:txBody>
        </p:sp>
      </p:grpSp>
      <p:grpSp>
        <p:nvGrpSpPr>
          <p:cNvPr id="6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6" name="TextBox 66"/>
            <p:cNvSpPr txBox="1"/>
            <p:nvPr/>
          </p:nvSpPr>
          <p:spPr>
            <a:xfrm>
              <a:off x="528447" y="6581299"/>
              <a:ext cx="2186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第9章 NP 完全问题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algo_ch9">
  <a:themeElements>
    <a:clrScheme name="algo_ch9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lgo_ch9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lgo_ch9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48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2026-09-17T06:25:30Z</dcterms:created>
  <dcterms:modified xsi:type="dcterms:W3CDTF">2026-09-17T06:25:30Z</dcterms:modified>
  <cp:category/>
  <cp:contentStatus/>
</cp:coreProperties>
</file>