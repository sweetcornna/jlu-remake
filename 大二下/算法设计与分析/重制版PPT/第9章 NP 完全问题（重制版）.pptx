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ee456705ddb9253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984a38d9d785f18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c03c5c0696e441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82820" cy="3437763"/>
            <a:chOff x="666750" y="1619250"/>
            <a:chExt cx="458282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第9章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17790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完全问题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572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从判定问题、不确定算法到 NP 完全性证明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判定问题与多项式时间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12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不确定算法与 NP 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归约、NPC 与 Cook 定理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恰好覆盖归约到子集和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91495" cy="205359"/>
            <a:chOff x="680466" y="6192202"/>
            <a:chExt cx="44914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9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自学复习版｜据吉林大学《算法设计与分析》第9章课件整理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715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204" y="407194"/>
              <a:ext cx="9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好算法的标准、问题复杂性、优化问题改写成判定问题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742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choice、failure、success，检索、排序、最大团的不确定算法，输入长度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85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P、NP 与归约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两个问题类的定义，归约与多项式时间归约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13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完全与 Cook 定理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72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NPC 与 NP 难、SAT 问题、四类问题的关系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完全性证明实例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恰好覆盖 ≤ₚ 子集和 ≤ₚ 0/1 背包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用具体数字说明多项式时间算法和指数时间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算法的差距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把优化问题改写成判定问题，并说明二者可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以多项式时间互相转换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写出简单问题的不确定算法，分别分析猜想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阶段和验证阶段的时间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准确说出 P、NP、NP 完全、NP 难的定义和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相互关系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按两步法证明子集和问题是 NP 完全的，并说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清每段取 k 位的理由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76035" cy="3675697"/>
            <a:chOff x="667512" y="1835468"/>
            <a:chExt cx="6376035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6612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先定下“好算法”的标准，再把各种优化问题改写成只答“是”或“否”的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什么是好算法：多项式时间算法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问题复杂性与算法复杂性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现实世界问题的四种情况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优化问题转化为判定问题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好算法：问题规模增大时，计算时间涨得慢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28520" cy="293370"/>
            <a:chOff x="525780" y="1548765"/>
            <a:chExt cx="87285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28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评价算法好坏的重要标准是运行时间。先看第一个角度：解决规模为 n 的问题需要多少计算时间。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27685" y="1954530"/>
            <a:ext cx="11130915" cy="2015967"/>
            <a:chOff x="527685" y="1954530"/>
            <a:chExt cx="11130915" cy="2015967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79564" y="208597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算法（解决的问题）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49561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20984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问题规模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15353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27323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快速排序（排序）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49828" y="2515552"/>
              <a:ext cx="819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4250" y="251555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 个数据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78462" y="2515552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 × log₂10⁵ ≈ 1.7×10⁶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59762" y="2515552"/>
              <a:ext cx="932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1.7×10⁻³ 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1970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Dijkstra（单源最短路径）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8400" y="2946082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44250" y="294608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 个顶点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78462" y="294608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(10⁴)² = 10⁸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9762" y="2946082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37661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回溯法（最大团）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17037" y="3376612"/>
              <a:ext cx="684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O(n·2ⁿ)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4250" y="337661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个顶点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78462" y="3376612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× 2¹⁰⁰ ≈ 1.27×10³²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663940" y="3254692"/>
              <a:ext cx="298513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59762" y="3376612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1.27×10²³ 秒 ≈ 4.0×10¹⁵ 年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54530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08705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22458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6835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64965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685" y="3750469"/>
              <a:ext cx="6675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假设计算机每秒执行 10⁹ 次运算，计算时间 = 运算量 ÷ 10⁹。最大团问题要求图中最大的完全子图。</a:t>
              </a:r>
            </a:p>
          </p:txBody>
        </p:sp>
      </p:grpSp>
      <p:grpSp>
        <p:nvGrpSpPr>
          <p:cNvPr id="46" name="c1-card-2"/>
          <p:cNvGrpSpPr/>
          <p:nvPr/>
        </p:nvGrpSpPr>
        <p:grpSpPr>
          <a:xfrm>
            <a:off x="533400" y="4111942"/>
            <a:ext cx="11125200" cy="1561148"/>
            <a:chOff x="533400" y="4111942"/>
            <a:chExt cx="11125200" cy="1561148"/>
          </a:xfrm>
        </p:grpSpPr>
        <p:sp>
          <p:nvSpPr>
            <p:cNvPr id="41" name="Rectangle 41"/>
            <p:cNvSpPr/>
            <p:nvPr/>
          </p:nvSpPr>
          <p:spPr>
            <a:xfrm>
              <a:off x="533400" y="4111942"/>
              <a:ext cx="11125200" cy="1561148"/>
            </a:xfrm>
            <a:prstGeom prst="roundRect">
              <a:avLst>
                <a:gd name="adj" fmla="val 8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245292"/>
              <a:ext cx="47625" cy="12944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5335" y="43157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5543" y="4351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8096" y="4688681"/>
              <a:ext cx="95274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原课件第三行写作“100 × 2¹⁰⁰ ≈ 1.8×10³²，1.8×10²¹ 秒 ≈ 5.7×10¹⁵ 年”。实际 2¹⁰⁰ ≈ 1.27×10³⁰，运算量约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1.27×10³²，除以 10⁹ 得 1.27×10²³ 秒，约 4.0×10¹⁵ 年。原数据中 1.8×10²¹ 秒只合 5.7×10¹³ 年，前后也对不上。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95055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宇宙年龄约 1.4×10¹⁰ 年。100 个顶点的最大团用这个回溯法要算约 29 万个宇宙年龄，规模稍大就完全不可行。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7723" cy="909257"/>
            <a:chOff x="520446" y="342900"/>
            <a:chExt cx="68177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机器快 60 倍，指数算法也只能多算几个顶点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68387" cy="293370"/>
            <a:chOff x="525780" y="1548765"/>
            <a:chExt cx="766838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68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第二个角度：单位时间内能解决多大规模的问题。把运算能力提高到每秒 6×10¹⁰ 次。</a:t>
              </a:r>
            </a:p>
          </p:txBody>
        </p:sp>
      </p:grpSp>
      <p:grpSp>
        <p:nvGrpSpPr>
          <p:cNvPr id="29" name="c1-table-1"/>
          <p:cNvGrpSpPr/>
          <p:nvPr/>
        </p:nvGrpSpPr>
        <p:grpSpPr>
          <a:xfrm>
            <a:off x="533400" y="1954530"/>
            <a:ext cx="6276022" cy="2573655"/>
            <a:chOff x="533400" y="1954530"/>
            <a:chExt cx="6276022" cy="257365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32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11515" y="208597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单位时间内能解决的规模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8638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6222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19872" y="2515552"/>
              <a:ext cx="18867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秒排序约 2×10⁹（20 亿）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3979" y="2515552"/>
              <a:ext cx="1620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2×10⁹ × log₂(2×10⁹) 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6.2×10¹⁰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232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27998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3266122"/>
              <a:ext cx="678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9872" y="3159442"/>
              <a:ext cx="18867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秒处理约 2.4×10⁵ 个顶点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3979" y="3266122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√(6×10¹⁰) ≈ 2.45×10⁵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671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0166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最大团回溯法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24050" y="3681412"/>
              <a:ext cx="2366010" cy="8382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019872" y="4016692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天只能处理约 46 个顶点的图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3979" y="3803332"/>
              <a:ext cx="201625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一天 5.2×10¹⁵ 次；46×2⁴⁶ 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3.2×10¹⁵，47×2⁴⁷ 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6.6×10¹⁵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54530"/>
              <a:ext cx="6276022" cy="25736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09762" y="1954530"/>
              <a:ext cx="9525" cy="25736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293870" y="1954530"/>
              <a:ext cx="9525" cy="25736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4713922"/>
            <a:ext cx="6276022" cy="1545908"/>
            <a:chOff x="533400" y="4713922"/>
            <a:chExt cx="6276022" cy="1545908"/>
          </a:xfrm>
        </p:grpSpPr>
        <p:sp>
          <p:nvSpPr>
            <p:cNvPr id="30" name="Rectangle 30"/>
            <p:cNvSpPr/>
            <p:nvPr/>
          </p:nvSpPr>
          <p:spPr>
            <a:xfrm>
              <a:off x="533400" y="4713922"/>
              <a:ext cx="627602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84727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5335" y="49177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5543" y="49534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096" y="5290661"/>
              <a:ext cx="546074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原课件第三行写作“一天时间解决 41 个顶点的图”。按每秒 6×10¹⁰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次，41 个顶点只需约 25 分钟，一天可以做到 46 个顶点；41 个顶点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大约是每秒 10⁹ 次的机器算一天的规模。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7114222" y="1954530"/>
            <a:ext cx="4544378" cy="2368868"/>
            <a:chOff x="7114222" y="1954530"/>
            <a:chExt cx="4544378" cy="2368868"/>
          </a:xfrm>
        </p:grpSpPr>
        <p:sp>
          <p:nvSpPr>
            <p:cNvPr id="36" name="Rectangle 36"/>
            <p:cNvSpPr/>
            <p:nvPr/>
          </p:nvSpPr>
          <p:spPr>
            <a:xfrm>
              <a:off x="7114222" y="1954530"/>
              <a:ext cx="4544378" cy="2368868"/>
            </a:xfrm>
            <a:prstGeom prst="roundRect">
              <a:avLst>
                <a:gd name="adj" fmla="val 562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18058" y="215836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86612" y="219408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为什么差这么多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25677" y="25917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82268" y="2531269"/>
              <a:ext cx="36753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log n、n² 算法：速度乘 60，n² 算法的规模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可乘 √60 ≈ 7.7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25677" y="318325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2268" y="3122771"/>
              <a:ext cx="36573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n·2ⁿ 算法：n 每加 1，运算量就翻一倍多。速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度乘 60 只够 n 多加 log₂60 ≈ 5.9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1962" y="3710940"/>
              <a:ext cx="3829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每秒 10⁹ 次时一天能算 40 个顶点，快 60 倍后也只到 46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7114222" y="4508182"/>
            <a:ext cx="4544378" cy="1751648"/>
            <a:chOff x="7114222" y="4508182"/>
            <a:chExt cx="4544378" cy="1751648"/>
          </a:xfrm>
        </p:grpSpPr>
        <p:sp>
          <p:nvSpPr>
            <p:cNvPr id="45" name="Rectangle 45"/>
            <p:cNvSpPr/>
            <p:nvPr/>
          </p:nvSpPr>
          <p:spPr>
            <a:xfrm>
              <a:off x="7114222" y="4508182"/>
              <a:ext cx="4544378" cy="1751648"/>
            </a:xfrm>
            <a:prstGeom prst="roundRect">
              <a:avLst>
                <a:gd name="adj" fmla="val 65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19010" y="5284470"/>
              <a:ext cx="200026" cy="200026"/>
              <a:chOff x="7319010" y="528447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19010" y="52844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385685" y="53622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621334" y="5022056"/>
              <a:ext cx="36212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快速排序和 Dijkstra 算法能快速解决问题，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是好算法；最大团回溯法只能用于较小的图，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100 个顶点根本不可行。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多项式时间算法是好算法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92605"/>
            <a:chOff x="533400" y="1524000"/>
            <a:chExt cx="5410200" cy="1792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时间复杂度能被某个多项式 nᵏ（k 为常数）界住的算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法，称为多项式时间算法。常见的复杂度从小到大为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507105"/>
            <a:ext cx="5410200" cy="1680210"/>
            <a:chOff x="533400" y="3507105"/>
            <a:chExt cx="5410200" cy="1680210"/>
          </a:xfrm>
        </p:grpSpPr>
        <p:sp>
          <p:nvSpPr>
            <p:cNvPr id="15" name="Rectangle 15"/>
            <p:cNvSpPr/>
            <p:nvPr/>
          </p:nvSpPr>
          <p:spPr>
            <a:xfrm>
              <a:off x="533400" y="3507105"/>
              <a:ext cx="5410200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40455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7166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7523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75189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非多项式（指数）时间算法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4"/>
                <p:cNvSpPr txBox="1">
                  <a:spLocks noGrp="1"/>
                </p:cNvSpPr>
                <p:nvPr/>
              </p:nvSpPr>
              <p:spPr>
                <a:xfrm>
                  <a:off x="781050" y="408813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4573" y="4623911"/>
              <a:ext cx="37951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O(n log n) 也是多项式时间，因为 n log n ≤ n²。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242685" y="1524000"/>
            <a:ext cx="5415915" cy="2734152"/>
            <a:chOff x="6242685" y="1524000"/>
            <a:chExt cx="5415915" cy="273415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27278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1382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2998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583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52209" y="1663065"/>
              <a:ext cx="195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n!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8970" y="215074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83006" y="215074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69237" y="215074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76066" y="215074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59250" y="215074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3.6×10⁶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8970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3006" y="26384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9237" y="26384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42882" y="263842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1.0×10⁶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48188" y="263842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2.4×10¹⁸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982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68970" y="312610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1944" y="312610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36052" y="312610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31820" y="312610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1.1×10¹⁵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48188" y="312610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3.0×10⁶⁴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469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34747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10663" y="361378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83006" y="361378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0298" y="361378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44928" y="3484245"/>
              <a:ext cx="128778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31820" y="361378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1.3×10³⁰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251758" y="3484245"/>
              <a:ext cx="139731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537126" y="361378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9.3×10¹⁵⁷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3324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3334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93064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3747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2685" y="4038124"/>
              <a:ext cx="3916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从 10 增到 100，n³ 只放大 1000 倍，2ⁿ 放大约 10²⁷ 倍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248400" y="4404360"/>
            <a:ext cx="5410200" cy="782955"/>
            <a:chOff x="6248400" y="4404360"/>
            <a:chExt cx="5410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6248400" y="440436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4695827"/>
              <a:ext cx="200023" cy="200023"/>
              <a:chOff x="6453188" y="469582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453188" y="46958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86538" y="4762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130" y="4552950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本章把“存在多项式时间算法”作为好算法、问题实际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可解的标准。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9" name="Rectangle 6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9849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易错：n¹⁰⁰ 虽然增长快，仍是多项式时间；n^(log n)、1.01ⁿ 不能被任何固定的 nᵏ 界住，不是多项式时间。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算法复杂性是算法的性质，问题复杂性是问题的性质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ompare-1"/>
          <p:cNvGrpSpPr/>
          <p:nvPr/>
        </p:nvGrpSpPr>
        <p:grpSpPr>
          <a:xfrm>
            <a:off x="533400" y="1524000"/>
            <a:ext cx="5410200" cy="2274570"/>
            <a:chOff x="533400" y="1524000"/>
            <a:chExt cx="5410200" cy="2274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算法的复杂性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解决问题的某个具体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算法的执行时间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是算法的性质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48050" y="1524000"/>
              <a:ext cx="249555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5757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8808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问题的复杂性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70141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9530" y="21126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问题本身的复杂程度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01415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9530" y="24479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是问题的性质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01415" y="28460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9530" y="278320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等于所有求解该问题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的算法中最好算法的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076575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46915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989070"/>
            <a:ext cx="5410200" cy="2076450"/>
            <a:chOff x="533400" y="3989070"/>
            <a:chExt cx="5410200" cy="2076450"/>
          </a:xfrm>
        </p:grpSpPr>
        <p:sp>
          <p:nvSpPr>
            <p:cNvPr id="26" name="Rectangle 26"/>
            <p:cNvSpPr/>
            <p:nvPr/>
          </p:nvSpPr>
          <p:spPr>
            <a:xfrm>
              <a:off x="533400" y="3989070"/>
              <a:ext cx="5410200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12242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1986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1258" y="42343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6386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57581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给出一个 O(f(n)) 的算法，只说明问题复杂性不超过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2597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519684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要说一个问题“只能指数时间求解”，必须证明所有算法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都做不到多项式时间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248400" y="1524000"/>
            <a:ext cx="5410200" cy="4541520"/>
            <a:chOff x="6248400" y="1524000"/>
            <a:chExt cx="5410200" cy="454152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4541520"/>
            </a:xfrm>
            <a:prstGeom prst="roundRect">
              <a:avLst>
                <a:gd name="adj" fmla="val 2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42748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1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54202" y="1768792"/>
              <a:ext cx="2956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排序问题的复杂性是 O(n log n)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96050" y="2105025"/>
              <a:ext cx="49530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5993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24291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平均情况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9743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03873" y="26893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07562" y="2689384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23015" y="2689384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96050" y="299751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96050" y="300228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03873" y="31380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38418" y="3138011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23015" y="3138011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96050" y="344709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03873" y="35866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8418" y="3586639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53871" y="3586639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96050" y="3895725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6050" y="3900488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03873" y="40352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8418" y="4035266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53871" y="4035266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2105025"/>
              <a:ext cx="49530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12430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728835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501765" y="45319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9880" y="446913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基于比较的排序在最坏情况下至少要做约 n log₂n 次比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较（下界）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01765" y="51530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59880" y="50901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归并排序、堆排序达到了这个下界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89573" y="5422106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所以排序问题的复杂性是 O(n log n)，而冒泡排序这个算法是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O(n²)。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现实世界的问题：按目前对算法的了解分为四种情况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table-1"/>
          <p:cNvGrpSpPr/>
          <p:nvPr/>
        </p:nvGrpSpPr>
        <p:grpSpPr>
          <a:xfrm>
            <a:off x="533400" y="1524000"/>
            <a:ext cx="11125200" cy="3105150"/>
            <a:chOff x="533400" y="1524000"/>
            <a:chExt cx="11125200" cy="3105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3607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86898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目前的了解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3516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多项式级的问题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9758" y="212836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已经设计出多项式时间算法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2724" y="212836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排序、最小生成树、单源最短路径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72367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不可计算的问题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9758" y="272367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根本不存在求解算法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2724" y="2596991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希尔伯特第十问题（判定整系数多项式方程有没有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整数解）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79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44566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指数级的问题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9758" y="3318986"/>
              <a:ext cx="41622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已设计出指数时间算法，并且已证明不存在多项式时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间算法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2724" y="3318986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带幂运算的正则表达式的全体性（能否匹配所有字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符串）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023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07155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916680"/>
              <a:ext cx="1983105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404193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尚不确定多项式级的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45080" y="3916680"/>
              <a:ext cx="4653915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39758" y="4041934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已设计出指数时间算法，但既没找到多项式时间算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法，也没能证明不存在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18045" y="3916680"/>
              <a:ext cx="4431030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12724" y="4168616"/>
              <a:ext cx="344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图着色问题、货郎担问题、0/1 背包问题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11125200" cy="3105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530792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03758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4814888"/>
            <a:ext cx="11125200" cy="858202"/>
            <a:chOff x="533400" y="4814888"/>
            <a:chExt cx="11125200" cy="858202"/>
          </a:xfrm>
        </p:grpSpPr>
        <p:sp>
          <p:nvSpPr>
            <p:cNvPr id="35" name="Rectangle 35"/>
            <p:cNvSpPr/>
            <p:nvPr/>
          </p:nvSpPr>
          <p:spPr>
            <a:xfrm>
              <a:off x="533400" y="4814888"/>
              <a:ext cx="11125200" cy="858202"/>
            </a:xfrm>
            <a:prstGeom prst="roundRect">
              <a:avLst>
                <a:gd name="adj" fmla="val 133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143500"/>
              <a:ext cx="200026" cy="200026"/>
              <a:chOff x="738188" y="5143500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1435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210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52435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5012531"/>
              <a:ext cx="1003236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很多优化问题属于第四种情况。本章研究的就是这类问题：它们之间的难度关系，以及怎样说明一个问题“很可能没有多项式算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法”。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2" name="Rectangle 4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04084"/>
              <a:ext cx="8645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易错：“至今没找到多项式算法”和“已证明不存在多项式算法”是两回事，货郎担、0/1 背包属于前者。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41226" cy="909257"/>
            <a:chOff x="520446" y="342900"/>
            <a:chExt cx="73412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412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优化问题可以改写成只答“是”或“否”的判定问题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118921" cy="308039"/>
            <a:chOff x="525399" y="1550194"/>
            <a:chExt cx="1111892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1189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判定问题是指只需要回答“是”和“否”的问题。把优化问题要求的最优值换成一个给定的参数，就得到对应的判定问题。</a:t>
              </a:r>
            </a:p>
          </p:txBody>
        </p:sp>
      </p:grpSp>
      <p:grpSp>
        <p:nvGrpSpPr>
          <p:cNvPr id="31" name="c1-table-1"/>
          <p:cNvGrpSpPr/>
          <p:nvPr/>
        </p:nvGrpSpPr>
        <p:grpSpPr>
          <a:xfrm>
            <a:off x="533400" y="1967865"/>
            <a:ext cx="11125200" cy="2475548"/>
            <a:chOff x="533400" y="1967865"/>
            <a:chExt cx="11125200" cy="247554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7755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78707" y="21026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优化问题（求最优）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32202" y="210264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判定问题（答是或否）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图着色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7118" y="2551271"/>
              <a:ext cx="51092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已知图 G = &lt;V, E&gt;，给 G 的 n 个顶点着色，相邻顶点颜色不同，问最少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需要多少种颜色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51420" y="2426018"/>
              <a:ext cx="4097655" cy="656272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49718" y="2664619"/>
              <a:ext cx="3786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已知图 G = &lt;V, E&gt;，问 G 是否可用 m 种颜色着色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870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09181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3408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7118" y="3227546"/>
              <a:ext cx="51010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 G = (V, E) 的完全子图叫做 G 的一个团（clique），团的大小用所含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顶点数表示。求 G 的最大团和它的大小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51420" y="3101340"/>
              <a:ext cx="4097655" cy="656272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49718" y="3340894"/>
              <a:ext cx="3332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已知图 G，问 G 是否存在一个大小为 k 的团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2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016216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7118" y="3902869"/>
              <a:ext cx="51254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n 个物品的效益值 pᵢ 和重量 wᵢ，每个物品只能整取。在背包容量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的限定下怎样选，使选中物品的效益值之和最大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51420" y="3776662"/>
              <a:ext cx="4097655" cy="656272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49718" y="3902869"/>
              <a:ext cx="3621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M 限定下，对给定的效益值 X，是否存在一种选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法使选中物品的效益值之和 ≥ X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967865"/>
              <a:ext cx="1112520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74532" y="196786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37132" y="196786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632960"/>
            <a:ext cx="11125200" cy="1024890"/>
            <a:chOff x="533400" y="4632960"/>
            <a:chExt cx="11125200" cy="1024890"/>
          </a:xfrm>
        </p:grpSpPr>
        <p:sp>
          <p:nvSpPr>
            <p:cNvPr id="32" name="Rectangle 32"/>
            <p:cNvSpPr/>
            <p:nvPr/>
          </p:nvSpPr>
          <p:spPr>
            <a:xfrm>
              <a:off x="533400" y="4632960"/>
              <a:ext cx="11125200" cy="1024890"/>
            </a:xfrm>
            <a:prstGeom prst="roundRect">
              <a:avLst>
                <a:gd name="adj" fmla="val 111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045393"/>
              <a:ext cx="200026" cy="200026"/>
              <a:chOff x="738188" y="5045393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0453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1120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1454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4902518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思考：能解优化问题，怎样回答判定问题？能解判定问题，怎样求出最优值？下一页以最大团为例回答，0/1 背包的解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答见再下一页。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9435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最大团判定问题问“大小为 k 的团”和问“大小至少为 k 的团”等价：大团里任取 k 个顶点，仍然两两相邻。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以最大团为例：优化问题与判定问题可以多项式时间互相转换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96300" cy="293370"/>
            <a:chOff x="525780" y="1548765"/>
            <a:chExt cx="84963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结论：最大团问题可以在多项式时间内求解，当且仅当它的判定问题可以在多项式时间内求解。</a:t>
              </a:r>
            </a:p>
          </p:txBody>
        </p:sp>
      </p:grpSp>
      <p:grpSp>
        <p:nvGrpSpPr>
          <p:cNvPr id="25" name="c1-graph-1"/>
          <p:cNvGrpSpPr/>
          <p:nvPr/>
        </p:nvGrpSpPr>
        <p:grpSpPr>
          <a:xfrm>
            <a:off x="926782" y="2083118"/>
            <a:ext cx="3849053" cy="1506283"/>
            <a:chOff x="926782" y="2083118"/>
            <a:chExt cx="3849053" cy="1506283"/>
          </a:xfrm>
        </p:grpSpPr>
        <p:sp>
          <p:nvSpPr>
            <p:cNvPr id="9" name="Freeform 9"/>
            <p:cNvSpPr/>
            <p:nvPr/>
          </p:nvSpPr>
          <p:spPr>
            <a:xfrm>
              <a:off x="1223010" y="2308860"/>
              <a:ext cx="892492" cy="450532"/>
            </a:xfrm>
            <a:custGeom>
              <a:avLst/>
              <a:gdLst/>
              <a:ahLst/>
              <a:cxnLst/>
              <a:rect l="l" t="t" r="r" b="b"/>
              <a:pathLst>
                <a:path w="892492" h="450532">
                  <a:moveTo>
                    <a:pt x="0" y="450532"/>
                  </a:moveTo>
                  <a:lnTo>
                    <a:pt x="8924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23010" y="2905125"/>
              <a:ext cx="892492" cy="450533"/>
            </a:xfrm>
            <a:custGeom>
              <a:avLst/>
              <a:gdLst/>
              <a:ahLst/>
              <a:cxnLst/>
              <a:rect l="l" t="t" r="r" b="b"/>
              <a:pathLst>
                <a:path w="892492" h="450533">
                  <a:moveTo>
                    <a:pt x="0" y="0"/>
                  </a:moveTo>
                  <a:lnTo>
                    <a:pt x="892492" y="4505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60282" y="2397442"/>
              <a:ext cx="9525" cy="869633"/>
            </a:xfrm>
            <a:custGeom>
              <a:avLst/>
              <a:gdLst/>
              <a:ahLst/>
              <a:cxnLst/>
              <a:rect l="l" t="t" r="r" b="b"/>
              <a:pathLst>
                <a:path w="9525" h="869633">
                  <a:moveTo>
                    <a:pt x="0" y="0"/>
                  </a:moveTo>
                  <a:lnTo>
                    <a:pt x="0" y="8696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05062" y="2308860"/>
              <a:ext cx="892492" cy="450532"/>
            </a:xfrm>
            <a:custGeom>
              <a:avLst/>
              <a:gdLst/>
              <a:ahLst/>
              <a:cxnLst/>
              <a:rect l="l" t="t" r="r" b="b"/>
              <a:pathLst>
                <a:path w="892492" h="450532">
                  <a:moveTo>
                    <a:pt x="0" y="0"/>
                  </a:moveTo>
                  <a:lnTo>
                    <a:pt x="892492" y="4505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05062" y="2905125"/>
              <a:ext cx="892492" cy="450533"/>
            </a:xfrm>
            <a:custGeom>
              <a:avLst/>
              <a:gdLst/>
              <a:ahLst/>
              <a:cxnLst/>
              <a:rect l="l" t="t" r="r" b="b"/>
              <a:pathLst>
                <a:path w="892492" h="450533">
                  <a:moveTo>
                    <a:pt x="0" y="450533"/>
                  </a:moveTo>
                  <a:lnTo>
                    <a:pt x="8924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04260" y="283273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26782" y="26803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107882" y="208311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107882" y="3276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289935" y="26803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71035" y="26803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6441" y="27574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07541" y="21602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07541" y="3354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89593" y="27574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0693" y="27574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27685" y="3895725"/>
            <a:ext cx="4550093" cy="2015967"/>
            <a:chOff x="527685" y="3895725"/>
            <a:chExt cx="4550093" cy="2015967"/>
          </a:xfrm>
        </p:grpSpPr>
        <p:sp>
          <p:nvSpPr>
            <p:cNvPr id="26" name="Rectangle 26"/>
            <p:cNvSpPr/>
            <p:nvPr/>
          </p:nvSpPr>
          <p:spPr>
            <a:xfrm>
              <a:off x="533400" y="3895725"/>
              <a:ext cx="454437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00212" y="40262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71925" y="40262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8746" y="4456748"/>
              <a:ext cx="1239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DCLIQUE(G, 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89044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510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755832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4887278"/>
              <a:ext cx="1239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DCLIQUE(G, 4)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9044" y="48872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18064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5316855"/>
              <a:ext cx="1239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DCLIQUE(G, 3)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210878" y="5194935"/>
              <a:ext cx="185737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89044" y="53168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895725"/>
              <a:ext cx="454437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96590" y="389572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5691664"/>
              <a:ext cx="4466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第一次输出 1 时 k = 3，最大团大小为 3（如 {1,2,3}、{2,3,4}）</a:t>
              </a:r>
            </a:p>
          </p:txBody>
        </p:sp>
      </p:grpSp>
      <p:grpSp>
        <p:nvGrpSpPr>
          <p:cNvPr id="56" name="c2-steps-1"/>
          <p:cNvGrpSpPr/>
          <p:nvPr/>
        </p:nvGrpSpPr>
        <p:grpSpPr>
          <a:xfrm>
            <a:off x="5382578" y="1964055"/>
            <a:ext cx="6050940" cy="2011109"/>
            <a:chOff x="5382578" y="1964055"/>
            <a:chExt cx="6050940" cy="2011109"/>
          </a:xfrm>
        </p:grpSpPr>
        <p:sp>
          <p:nvSpPr>
            <p:cNvPr id="43" name="Rectangle 43"/>
            <p:cNvSpPr/>
            <p:nvPr/>
          </p:nvSpPr>
          <p:spPr>
            <a:xfrm>
              <a:off x="5515928" y="210693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382578" y="19640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76201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382578" y="28060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76201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382578" y="34270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76201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94438" y="1996916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判定问题 → 优化问题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95582" y="2277428"/>
              <a:ext cx="5559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DCLIQUE(G, k) 为判定算法，n 是 G 的顶点数。依次检验 k = n, n−1, n−2, …，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 DCLIQUE(G, k) 输出 1，此时的 k 就是最大团的大小。最多调用 n 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94438" y="2838926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优化问题 → 判定问题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95582" y="3119438"/>
              <a:ext cx="5637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先求出 G 的最大团大小 j。若 j &lt; k，DCLIQUE(G, k) 返回“否”，否则返回“是”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94438" y="34599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95582" y="3740468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判定算法是多项式时间时，调用 n 次仍是多项式时间；反方向只多一次比较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382578" y="4150995"/>
            <a:ext cx="6276022" cy="1865948"/>
            <a:chOff x="5382578" y="4150995"/>
            <a:chExt cx="6276022" cy="1865948"/>
          </a:xfrm>
        </p:grpSpPr>
        <p:sp>
          <p:nvSpPr>
            <p:cNvPr id="57" name="Rectangle 57"/>
            <p:cNvSpPr/>
            <p:nvPr/>
          </p:nvSpPr>
          <p:spPr>
            <a:xfrm>
              <a:off x="5382578" y="4150995"/>
              <a:ext cx="6276022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92102" y="4284345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624512" y="43548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15673" y="43905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632132" y="478821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88724" y="4727734"/>
              <a:ext cx="38854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k 二分查找，只需调用约 log₂n 次判定算法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632132" y="510825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88724" y="5047774"/>
              <a:ext cx="53705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找出团本身：依次尝试删去每个顶点 v，若删后 DCLIQUE(G − v, k)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仍输出 1 就真的删去。处理完 n 个顶点后，剩下的恰好是一个大小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k 的团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2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48" y="407194"/>
              <a:ext cx="1771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改写成判定问题后，难度不变，输出统一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558415"/>
            <a:chOff x="533400" y="1524000"/>
            <a:chExt cx="5193982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许多尚不确定多项式时间的优化问题都可以改写成判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定问题，并且：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判定问题可以在多项式时间内求解，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当且仅当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优化问题可以在多项式时间内求解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如果判定问题不能在多项式时间内求解，那么对应的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优化问题也不能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272915"/>
            <a:ext cx="5193982" cy="1602105"/>
            <a:chOff x="533400" y="4272915"/>
            <a:chExt cx="5193982" cy="1602105"/>
          </a:xfrm>
        </p:grpSpPr>
        <p:sp>
          <p:nvSpPr>
            <p:cNvPr id="17" name="Rectangle 17"/>
            <p:cNvSpPr/>
            <p:nvPr/>
          </p:nvSpPr>
          <p:spPr>
            <a:xfrm>
              <a:off x="533400" y="427291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44824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158" y="45181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4859655"/>
              <a:ext cx="4434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不同优化问题的输出各不相同（颜色数、团、物品选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法）。改写成判定问题后，输出统一成“是”和“否”，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便于比较不同问题的难度。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032182" y="1524000"/>
            <a:ext cx="5626418" cy="2773680"/>
            <a:chOff x="6032182" y="1524000"/>
            <a:chExt cx="5626418" cy="2773680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2773680"/>
            </a:xfrm>
            <a:prstGeom prst="roundRect">
              <a:avLst>
                <a:gd name="adj" fmla="val 48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25069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723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思考题解答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6628" y="1768792"/>
              <a:ext cx="1842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背包的两个方向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79832" y="21164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1682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80823" y="2129790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 → 判定：求出最大效益值 P*，回答 P* ≥ X 是否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79832" y="27374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1682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80823" y="2750820"/>
              <a:ext cx="4530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 → 优化：最大效益值在 0 到 Σpᵢ 之间。对 X 做二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分查找，每次问“能否达到 X”，约调用 log₂(Σpᵢ) + 1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次判定算法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73356" y="3654266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Σpᵢ 的二进制位数不超过输入长度，所以二分的调用次数是多项式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032182" y="4488180"/>
            <a:ext cx="5626418" cy="1386840"/>
            <a:chOff x="6032182" y="4488180"/>
            <a:chExt cx="5626418" cy="1386840"/>
          </a:xfrm>
        </p:grpSpPr>
        <p:sp>
          <p:nvSpPr>
            <p:cNvPr id="35" name="Rectangle 35"/>
            <p:cNvSpPr/>
            <p:nvPr/>
          </p:nvSpPr>
          <p:spPr>
            <a:xfrm>
              <a:off x="6032182" y="4488180"/>
              <a:ext cx="5626418" cy="1386840"/>
            </a:xfrm>
            <a:prstGeom prst="roundRect">
              <a:avLst>
                <a:gd name="adj" fmla="val 824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224912" y="5077896"/>
              <a:ext cx="224134" cy="192560"/>
              <a:chOff x="6224912" y="507789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36983" y="51482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224912" y="50778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336983" y="5226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538912" y="4800600"/>
              <a:ext cx="4568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如果改成 X = Σpᵢ, Σpᵢ−1, … 逐个检验，调用次数是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Σpᵢ，它相对输入长度是指数级的（见 9.2 节的二进制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输入长度）。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79834" cy="3351847"/>
            <a:chOff x="667512" y="1835468"/>
            <a:chExt cx="537983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不确定的判定问题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6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允许算法“猜”一个解，再用确定的步骤验证猜得对不对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不确定算法与不确定机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检索、排序的不确定算法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不确定的判定算法：最大团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问题规模的二进制表示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不确定算法：允许运算结果不唯一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410200" cy="2225040"/>
            <a:chOff x="533400" y="1524000"/>
            <a:chExt cx="5410200" cy="2225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22504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83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运算满足确定性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每一步的运算结果是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48050" y="1524000"/>
              <a:ext cx="2495550" cy="222504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57575" y="1657350"/>
              <a:ext cx="47625" cy="19583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88080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不确定算法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70141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9530" y="2112645"/>
              <a:ext cx="1748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取消“确定性”这一限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01415" y="27965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9530" y="273367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允许运算结果是某个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特定集合中的一个元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076575" y="247459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46915" y="25707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39540"/>
            <a:ext cx="5410200" cy="1612582"/>
            <a:chOff x="533400" y="3939540"/>
            <a:chExt cx="5410200" cy="1612582"/>
          </a:xfrm>
        </p:grpSpPr>
        <p:sp>
          <p:nvSpPr>
            <p:cNvPr id="24" name="Rectangle 24"/>
            <p:cNvSpPr/>
            <p:nvPr/>
          </p:nvSpPr>
          <p:spPr>
            <a:xfrm>
              <a:off x="533400" y="393954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07289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1490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1258" y="41848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452628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从理论角度看，包含这种不确定运算的算法称为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不确定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514397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它是分析时间复杂度难题用的理论工具，不对应真实的程序。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2284095"/>
            <a:chOff x="6248400" y="1524000"/>
            <a:chExt cx="5410200" cy="228409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284095"/>
            </a:xfrm>
            <a:prstGeom prst="roundRect">
              <a:avLst>
                <a:gd name="adj" fmla="val 58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20173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117348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49820" y="1769269"/>
              <a:ext cx="1065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SPARKS 中新增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110740"/>
              <a:ext cx="4254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一个函数和两个语句，时间复杂度都记为 O(1)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2465070"/>
              <a:ext cx="101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choice(S)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15250" y="2465070"/>
              <a:ext cx="2885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按题意选取集合 S 中的一个元素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96050" y="2785110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88430" y="290512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15250" y="2905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发出不成功完成的信号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96050" y="3225165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88430" y="3345180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success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15250" y="3345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发出成功完成的信号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6248400" y="3998595"/>
            <a:ext cx="5410200" cy="1313498"/>
            <a:chOff x="6248400" y="3998595"/>
            <a:chExt cx="5410200" cy="1313498"/>
          </a:xfrm>
        </p:grpSpPr>
        <p:sp>
          <p:nvSpPr>
            <p:cNvPr id="45" name="Rectangle 45"/>
            <p:cNvSpPr/>
            <p:nvPr/>
          </p:nvSpPr>
          <p:spPr>
            <a:xfrm>
              <a:off x="6248400" y="399859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6797" y="41505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写法示例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76035" y="4413409"/>
              <a:ext cx="329006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 ← choice(1:n)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 取 1..n 中的某个值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← choice(true, false)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验证不通过 then failure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success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3799" cy="909257"/>
            <a:chOff x="520446" y="342900"/>
            <a:chExt cx="75737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3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不确定机：执行 choice 时总能“猜中”的理论机器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489014" y="1524000"/>
            <a:ext cx="4957953" cy="4861179"/>
            <a:chOff x="489014" y="1524000"/>
            <a:chExt cx="4957953" cy="486117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9979" t="0" r="9979" b="0"/>
            <a:stretch>
              <a:fillRect/>
            </a:stretch>
          </p:blipFill>
          <p:spPr>
            <a:xfrm>
              <a:off x="533400" y="1524000"/>
              <a:ext cx="4869180" cy="4562475"/>
            </a:xfrm>
            <a:prstGeom prst="roundRect">
              <a:avLst>
                <a:gd name="adj" fmla="val 2922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89014" y="617982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分身视角：每到一个岔路口就分出副本同时走，只要一个副本找到宝箱就算成功</a:t>
              </a:r>
            </a:p>
          </p:txBody>
        </p:sp>
      </p:grpSp>
      <p:grpSp>
        <p:nvGrpSpPr>
          <p:cNvPr id="15" name="c2-card-1"/>
          <p:cNvGrpSpPr/>
          <p:nvPr/>
        </p:nvGrpSpPr>
        <p:grpSpPr>
          <a:xfrm>
            <a:off x="5707380" y="1524000"/>
            <a:ext cx="5951220" cy="1209675"/>
            <a:chOff x="5707380" y="1524000"/>
            <a:chExt cx="5951220" cy="1209675"/>
          </a:xfrm>
        </p:grpSpPr>
        <p:sp>
          <p:nvSpPr>
            <p:cNvPr id="10" name="Rectangle 10"/>
            <p:cNvSpPr/>
            <p:nvPr/>
          </p:nvSpPr>
          <p:spPr>
            <a:xfrm>
              <a:off x="5707380" y="1524000"/>
              <a:ext cx="595122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690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3788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2932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1027" y="207264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能按上述方式执行不确定算法的机器称为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不确定机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。现实技术条件下它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并不存在，是为分析时间复杂度难题虚构的理论模型。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5707380" y="2908935"/>
            <a:ext cx="5951220" cy="1814512"/>
            <a:chOff x="5707380" y="2908935"/>
            <a:chExt cx="5951220" cy="1814512"/>
          </a:xfrm>
        </p:grpSpPr>
        <p:sp>
          <p:nvSpPr>
            <p:cNvPr id="16" name="Rectangle 16"/>
            <p:cNvSpPr/>
            <p:nvPr/>
          </p:nvSpPr>
          <p:spPr>
            <a:xfrm>
              <a:off x="5707380" y="2908935"/>
              <a:ext cx="5951220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6905" y="3042285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37885" y="310134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1324" y="31356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上帝视角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31027" y="3457575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不确定机是一个“有魔力”的机器，总在 O(1) 时间内执行完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choice(S)：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946458" y="40738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02477" y="4017645"/>
              <a:ext cx="4596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如果问题有解，它直接猜中，从 S 中返回一个需要的元素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946458" y="437578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02477" y="4319588"/>
              <a:ext cx="525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如果问题无解，它从 S 中随便返回一个元素（结果总是 failure）</a:t>
              </a:r>
            </a:p>
          </p:txBody>
        </p:sp>
      </p:grpSp>
      <p:grpSp>
        <p:nvGrpSpPr>
          <p:cNvPr id="31" name="c2-card-3"/>
          <p:cNvGrpSpPr/>
          <p:nvPr/>
        </p:nvGrpSpPr>
        <p:grpSpPr>
          <a:xfrm>
            <a:off x="5707380" y="4897755"/>
            <a:ext cx="5951220" cy="1209675"/>
            <a:chOff x="5707380" y="4897755"/>
            <a:chExt cx="5951220" cy="1209675"/>
          </a:xfrm>
        </p:grpSpPr>
        <p:sp>
          <p:nvSpPr>
            <p:cNvPr id="26" name="Rectangle 26"/>
            <p:cNvSpPr/>
            <p:nvPr/>
          </p:nvSpPr>
          <p:spPr>
            <a:xfrm>
              <a:off x="5707380" y="4897755"/>
              <a:ext cx="595122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6905" y="503110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937885" y="509016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7324" y="51244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等价的理解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31027" y="5447348"/>
              <a:ext cx="49943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 choice(S) 就分成 |S| 个副本同时执行。只要有一个副本到达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success，整个算法就成功，时间按这个副本走过的步数计算。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9974" cy="909257"/>
            <a:chOff x="520446" y="342900"/>
            <a:chExt cx="68899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9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检索问题的不确定算法：O(1) 时间猜出下标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430568" cy="308039"/>
            <a:chOff x="525399" y="1550194"/>
            <a:chExt cx="943056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4305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问题：在元素集 A(1:n)（n ≥ 1）中检索元素 X。需确定下标 j 使 A(j) = X；X 不在 A 中时令 j = 0。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193982" cy="1187768"/>
            <a:chOff x="533400" y="1967865"/>
            <a:chExt cx="5193982" cy="118776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1187768"/>
            </a:xfrm>
            <a:prstGeom prst="roundRect">
              <a:avLst>
                <a:gd name="adj" fmla="val 8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2336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检索 X 的不确定算法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0273" y="2383631"/>
              <a:ext cx="3816858" cy="708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 ← choice(1:n)       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猜想：猜一个下标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A(j) = X then success endif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 ← 0; print(</a:t>
              </a:r>
              <a:r>
                <a:rPr lang="zh-CN" sz="12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failure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45180"/>
            <a:ext cx="5193982" cy="2242185"/>
            <a:chOff x="533400" y="3345180"/>
            <a:chExt cx="5193982" cy="22421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45180"/>
              <a:ext cx="5193982" cy="2242185"/>
            </a:xfrm>
            <a:prstGeom prst="roundRect">
              <a:avLst>
                <a:gd name="adj" fmla="val 594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547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158" y="35904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39947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93192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正确性：到达 success 时 A(j) = X，j 就是所求下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标。当且仅当不存在 j 使 A(j) = X 时，算法输出“0”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46158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4552950"/>
              <a:ext cx="4248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时间：猜想 O(1)，验证 O(1)，共 </a:t>
              </a:r>
              <a:r>
                <a:rPr lang="en-US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；确定算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法顺序检索需要 O(n)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032182" y="1967865"/>
            <a:ext cx="5626418" cy="3620452"/>
            <a:chOff x="6032182" y="1967865"/>
            <a:chExt cx="5626418" cy="3620452"/>
          </a:xfrm>
        </p:grpSpPr>
        <p:sp>
          <p:nvSpPr>
            <p:cNvPr id="21" name="Rectangle 21"/>
            <p:cNvSpPr/>
            <p:nvPr/>
          </p:nvSpPr>
          <p:spPr>
            <a:xfrm>
              <a:off x="6032182" y="1967865"/>
              <a:ext cx="5626418" cy="3620452"/>
            </a:xfrm>
            <a:prstGeom prst="roundRect">
              <a:avLst>
                <a:gd name="adj" fmla="val 36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1708" y="2101215"/>
              <a:ext cx="47625" cy="33537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79832" y="21774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3990" y="2213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37985" y="2212658"/>
              <a:ext cx="1706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(7, 3, 9, 3)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3356" y="26789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06528" y="254889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11305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428548" y="254889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3325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50568" y="254889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55345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272588" y="254889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77365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26304" y="30246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8324" y="30246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70344" y="30246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92364" y="30246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79832" y="3263265"/>
              <a:ext cx="5169218" cy="67532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6999" y="35113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5922" y="3398044"/>
              <a:ext cx="158531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能导致 success 的选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98659" y="35113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19815" y="41867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80086" y="4186714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2 或 j = 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12720" y="407336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不确定机猜中其中一个，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79832" y="4609148"/>
              <a:ext cx="51692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79832" y="4613910"/>
              <a:ext cx="51692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9815" y="47496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80086" y="47496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12720" y="4749641"/>
              <a:ext cx="216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任何选择都 failure，输出 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79832" y="3263265"/>
              <a:ext cx="5169218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67500" y="326326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700135" y="326326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73356" y="5179219"/>
              <a:ext cx="3751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3 时有两个正确下标，猜中哪一个都算成功。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设计不确定算法：先猜想，再验证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666750" y="1909762"/>
            <a:ext cx="5143500" cy="4067176"/>
            <a:chOff x="666750" y="1909762"/>
            <a:chExt cx="5143500" cy="4067176"/>
          </a:xfrm>
        </p:grpSpPr>
        <p:sp>
          <p:nvSpPr>
            <p:cNvPr id="7" name="Freeform 7"/>
            <p:cNvSpPr/>
            <p:nvPr/>
          </p:nvSpPr>
          <p:spPr>
            <a:xfrm>
              <a:off x="3238500" y="234791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3014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3557588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4129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4862512"/>
              <a:ext cx="1803082" cy="571500"/>
            </a:xfrm>
            <a:custGeom>
              <a:avLst/>
              <a:gdLst/>
              <a:ahLst/>
              <a:cxnLst/>
              <a:rect l="l" t="t" r="r" b="b"/>
              <a:pathLst>
                <a:path w="1803082" h="571500">
                  <a:moveTo>
                    <a:pt x="0" y="0"/>
                  </a:moveTo>
                  <a:lnTo>
                    <a:pt x="0" y="338138"/>
                  </a:lnTo>
                  <a:lnTo>
                    <a:pt x="1803082" y="338138"/>
                  </a:lnTo>
                  <a:lnTo>
                    <a:pt x="1803082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989195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35418" y="4862512"/>
              <a:ext cx="1803082" cy="571500"/>
            </a:xfrm>
            <a:custGeom>
              <a:avLst/>
              <a:gdLst/>
              <a:ahLst/>
              <a:cxnLst/>
              <a:rect l="l" t="t" r="r" b="b"/>
              <a:pathLst>
                <a:path w="1803082" h="571500">
                  <a:moveTo>
                    <a:pt x="1803082" y="0"/>
                  </a:moveTo>
                  <a:lnTo>
                    <a:pt x="1803082" y="338138"/>
                  </a:lnTo>
                  <a:lnTo>
                    <a:pt x="0" y="338138"/>
                  </a:ln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3030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2495" y="1909762"/>
              <a:ext cx="4652962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2495" y="3119438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2495" y="4233862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73868" y="5538788"/>
              <a:ext cx="1536382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5538788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87396" y="20397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6728" y="3249454"/>
              <a:ext cx="3743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猜想阶段（不确定阶段）：用 choice 猜出一个解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1303" y="4349591"/>
              <a:ext cx="39143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验证阶段（确定阶段）：用确定语句检查这个解是否是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86817" y="5668804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success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0315" y="566880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92868" y="498443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3157" y="50111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是答案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155508" y="498443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89798" y="5011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不是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049655"/>
            <a:chOff x="6248400" y="1524000"/>
            <a:chExt cx="5410200" cy="104965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7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多项式时间可验证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12979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不确定算法在验证阶段的时间复杂度是多项式级的。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2764155"/>
            <a:ext cx="5410200" cy="1937385"/>
            <a:chOff x="6248400" y="2764155"/>
            <a:chExt cx="5410200" cy="1937385"/>
          </a:xfrm>
        </p:grpSpPr>
        <p:sp>
          <p:nvSpPr>
            <p:cNvPr id="37" name="Rectangle 37"/>
            <p:cNvSpPr/>
            <p:nvPr/>
          </p:nvSpPr>
          <p:spPr>
            <a:xfrm>
              <a:off x="6248400" y="276415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7950" y="297370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09753" y="300942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不确定算法的时间复杂度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3665" y="341376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21780" y="3350895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 failure：不关注失败的情况，不妨认为恒为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3665" y="40347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1780" y="3971925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 success：等于不确定阶段与确定阶段的时间复杂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度之和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248400" y="4892040"/>
            <a:ext cx="5410200" cy="1059180"/>
            <a:chOff x="6248400" y="4892040"/>
            <a:chExt cx="5410200" cy="1059180"/>
          </a:xfrm>
        </p:grpSpPr>
        <p:sp>
          <p:nvSpPr>
            <p:cNvPr id="45" name="Rectangle 45"/>
            <p:cNvSpPr/>
            <p:nvPr/>
          </p:nvSpPr>
          <p:spPr>
            <a:xfrm>
              <a:off x="6248400" y="489204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5321618"/>
              <a:ext cx="200026" cy="200025"/>
              <a:chOff x="6453188" y="532161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53216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92926" y="53660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27642" y="54771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130" y="504063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分析时分两段写：猜想阶段猜了几个分量，验证阶段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检查了多少次。后面的排序、最大团、SAT 都按这个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格式分析。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2721" cy="909257"/>
            <a:chOff x="520446" y="342900"/>
            <a:chExt cx="74427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2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排序问题的不确定算法 NSORT：猜每个数的位置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811012" cy="293370"/>
            <a:chOff x="525780" y="1548765"/>
            <a:chExt cx="581101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811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问题：A(1:n) 是待排序的正整数集，要求把它按非降次序排序。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54530"/>
            <a:ext cx="5410200" cy="3621405"/>
            <a:chOff x="533400" y="1954530"/>
            <a:chExt cx="5410200" cy="36214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3621405"/>
            </a:xfrm>
            <a:prstGeom prst="roundRect">
              <a:avLst>
                <a:gd name="adj" fmla="val 26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441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NSORT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215640"/>
              <a:ext cx="5372100" cy="2228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330065"/>
              <a:ext cx="5372100" cy="2228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0464" y="2370534"/>
              <a:ext cx="3390519" cy="3139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NSORT(A, n)  </a:t>
              </a:r>
              <a:r>
                <a:rPr lang="zh-CN" sz="12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 个正整数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A(1:n), B(1:n), n, i, j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B(1:n) ← 0           </a:t>
              </a:r>
              <a:r>
                <a:rPr lang="zh-CN" sz="12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辅助数组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 do    </a:t>
              </a:r>
              <a:r>
                <a:rPr lang="zh-CN" sz="12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构造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← choice(1:n)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B(j) ≠ 0 then failure endif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B(j) ← A(i)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n-1 do  </a:t>
              </a:r>
              <a:r>
                <a:rPr lang="zh-CN" sz="12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验证次序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B(i) &gt; B(i+1) then failure endif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print(B)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success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NSORT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248400" y="1954530"/>
            <a:ext cx="5410200" cy="1556385"/>
            <a:chOff x="6248400" y="1954530"/>
            <a:chExt cx="5410200" cy="1556385"/>
          </a:xfrm>
        </p:grpSpPr>
        <p:sp>
          <p:nvSpPr>
            <p:cNvPr id="15" name="Rectangle 15"/>
            <p:cNvSpPr/>
            <p:nvPr/>
          </p:nvSpPr>
          <p:spPr>
            <a:xfrm>
              <a:off x="6248400" y="1954530"/>
              <a:ext cx="5410200" cy="1556385"/>
            </a:xfrm>
            <a:prstGeom prst="roundRect">
              <a:avLst>
                <a:gd name="adj" fmla="val 8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57925" y="2087880"/>
              <a:ext cx="47625" cy="12896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90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80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3096" y="2531269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为每个 A(i) 猜一个位置 j 放进 B(j)，位置已占用就失败；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放完后检查 B 是否非降。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4239" y="3119438"/>
              <a:ext cx="3660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B(j) ≠ 0 判断占用，所以要求 A 中都是正整数。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95700"/>
            <a:ext cx="5410200" cy="1865948"/>
            <a:chOff x="6248400" y="3695700"/>
            <a:chExt cx="5410200" cy="1865948"/>
          </a:xfrm>
        </p:grpSpPr>
        <p:sp>
          <p:nvSpPr>
            <p:cNvPr id="22" name="Rectangle 22"/>
            <p:cNvSpPr/>
            <p:nvPr/>
          </p:nvSpPr>
          <p:spPr>
            <a:xfrm>
              <a:off x="6248400" y="3695700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38290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0335" y="38995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6593" y="39352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97955" y="43329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4546" y="4272439"/>
              <a:ext cx="44418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 A(i) 放到它在有序序列中的位置，这组选择一定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导致 success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97955" y="49244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4546" y="486394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 时每个元素恰好放了一次且通过次序检查，B 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A 的非降排列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6248400" y="5747385"/>
            <a:ext cx="5410200" cy="518160"/>
            <a:chOff x="6248400" y="5747385"/>
            <a:chExt cx="5410200" cy="518160"/>
          </a:xfrm>
        </p:grpSpPr>
        <p:sp>
          <p:nvSpPr>
            <p:cNvPr id="31" name="Rectangle 31"/>
            <p:cNvSpPr/>
            <p:nvPr/>
          </p:nvSpPr>
          <p:spPr>
            <a:xfrm>
              <a:off x="6248400" y="5747385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5906455"/>
              <a:ext cx="200023" cy="200023"/>
              <a:chOff x="6453188" y="5906455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59064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86538" y="5973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511" y="5906929"/>
              <a:ext cx="3337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时间：构造 O(n) + 验证 O(n) = O(n)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22280" cy="909257"/>
            <a:chOff x="520446" y="342900"/>
            <a:chExt cx="5322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22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NSORT 执行过程：A = (3, 1, 2)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5956935" cy="3800952"/>
            <a:chOff x="527685" y="1524000"/>
            <a:chExt cx="5956935" cy="3800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7543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6532" y="1663065"/>
              <a:ext cx="84629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 (j₁,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j₂, j₃)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3213" y="1796415"/>
              <a:ext cx="1013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放置后的 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98732" y="17964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0301" y="241744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(3, 1, 2)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92991" y="2417445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(1, 2, 3)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38625" y="2417445"/>
              <a:ext cx="1627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success，输出 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595122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0301" y="303847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(1, 2, 3)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92991" y="3038475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(3, 1, 2)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38625" y="2905125"/>
              <a:ext cx="199596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B(1) = 3 &gt; B(2) = 1，</a:t>
              </a:r>
              <a:br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301" y="379285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(2, 3, 1)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92991" y="3792855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(2, 3, 1)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38625" y="3659505"/>
              <a:ext cx="199596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B(2) = 3 &gt; B(3) = 1，</a:t>
              </a:r>
              <a:br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700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74820"/>
              <a:ext cx="595122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0301" y="454723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(2, 2, 1)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04098" y="4413885"/>
              <a:ext cx="14916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次选 j = 2 时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B(2) ≠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8625" y="454723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951220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62150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27182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5104924"/>
              <a:ext cx="2374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jᵢ 是第 i 次循环为 A(i) 猜出的位置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471160"/>
            <a:ext cx="5951220" cy="782955"/>
            <a:chOff x="533400" y="5471160"/>
            <a:chExt cx="595122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471160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62627"/>
              <a:ext cx="200023" cy="200023"/>
              <a:chOff x="738188" y="576262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7626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829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619750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 种选择序列中只有 (3, 1, 2) 导致 success。不确定机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直接猜中它，所以只需 O(n) 时间。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789420" y="1524000"/>
            <a:ext cx="4869180" cy="4730115"/>
            <a:chOff x="6789420" y="1524000"/>
            <a:chExt cx="4869180" cy="4730115"/>
          </a:xfrm>
        </p:grpSpPr>
        <p:sp>
          <p:nvSpPr>
            <p:cNvPr id="39" name="Rectangle 39"/>
            <p:cNvSpPr/>
            <p:nvPr/>
          </p:nvSpPr>
          <p:spPr>
            <a:xfrm>
              <a:off x="6789420" y="1524000"/>
              <a:ext cx="4869180" cy="4730115"/>
            </a:xfrm>
            <a:prstGeom prst="roundRect">
              <a:avLst>
                <a:gd name="adj" fmla="val 2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98945" y="1657350"/>
              <a:ext cx="47625" cy="44634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3707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0657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成功的那组选择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48662" y="1768792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的变化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30593" y="223504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09498" y="21050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14275" y="2235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331518" y="21050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36295" y="2235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253538" y="2105025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58315" y="22350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29274" y="25807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1294" y="25807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73314" y="25807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30593" y="3025616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09498" y="289560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14275" y="30256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331518" y="28956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36295" y="30256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253538" y="28956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658315" y="30256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30593" y="3616166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409498" y="348615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14275" y="3616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331518" y="348615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36295" y="3616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253538" y="348615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658315" y="3616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042785" y="40881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00900" y="4025265"/>
              <a:ext cx="2454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1：A(1) = 3 放到 B(3)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42785" y="44234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00900" y="4360545"/>
              <a:ext cx="2454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2：A(2) = 1 放到 B(1)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042785" y="47586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00900" y="4695825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3：A(3) = 2 放到 B(2)，验证 1 ≤ 2 ≤ 3 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09451" cy="909257"/>
            <a:chOff x="520446" y="342900"/>
            <a:chExt cx="52094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094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不确定的判定算法：只输出 0 或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047875"/>
            <a:chOff x="533400" y="1524000"/>
            <a:chExt cx="4977765" cy="2047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47875"/>
            </a:xfrm>
            <a:prstGeom prst="roundRect">
              <a:avLst>
                <a:gd name="adj" fmla="val 6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811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828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不确定的判定算法只回答 yes 或 no 的问题，只产生 0/1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3417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：当且仅当没有一种选择能导致 success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12745"/>
              <a:ext cx="3598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：当且仅当至少存在一种选择导致 success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475" y="320944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为描述简洁，算法中不再显式写输出语句。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741420"/>
            <a:ext cx="4977765" cy="729615"/>
            <a:chOff x="533400" y="3741420"/>
            <a:chExt cx="4977765" cy="729615"/>
          </a:xfrm>
        </p:grpSpPr>
        <p:sp>
          <p:nvSpPr>
            <p:cNvPr id="18" name="Rectangle 18"/>
            <p:cNvSpPr/>
            <p:nvPr/>
          </p:nvSpPr>
          <p:spPr>
            <a:xfrm>
              <a:off x="533400" y="374142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4002523"/>
              <a:ext cx="224134" cy="192560"/>
              <a:chOff x="726129" y="400252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4072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4002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4150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3887152"/>
              <a:ext cx="39827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易错：判定为 1 只需要一条成功的选择路径；判定为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 要求所有选择路径都失败。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640580"/>
            <a:ext cx="4977765" cy="1704022"/>
            <a:chOff x="533400" y="4640580"/>
            <a:chExt cx="4977765" cy="1704022"/>
          </a:xfrm>
        </p:grpSpPr>
        <p:sp>
          <p:nvSpPr>
            <p:cNvPr id="25" name="Rectangle 25"/>
            <p:cNvSpPr/>
            <p:nvPr/>
          </p:nvSpPr>
          <p:spPr>
            <a:xfrm>
              <a:off x="533400" y="4640580"/>
              <a:ext cx="4977765" cy="1704022"/>
            </a:xfrm>
            <a:prstGeom prst="roundRect">
              <a:avLst>
                <a:gd name="adj" fmla="val 78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0090" y="482727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8711" y="486013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232" y="5172075"/>
              <a:ext cx="44114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把每次 choice 的所有取值画成分支，得到一棵选择树，每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片叶子是 success 或 failure。有 success 叶子就输出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1，叶子全是 failure 就输出 0。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4375" y="5982176"/>
              <a:ext cx="4139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右图是检索算法 choice(1:4) 的选择树，A = (7, 3, 9, 3)。</a:t>
              </a:r>
            </a:p>
          </p:txBody>
        </p:sp>
      </p:grpSp>
      <p:grpSp>
        <p:nvGrpSpPr>
          <p:cNvPr id="49" name="c2-tree-1"/>
          <p:cNvGrpSpPr/>
          <p:nvPr/>
        </p:nvGrpSpPr>
        <p:grpSpPr>
          <a:xfrm>
            <a:off x="6343650" y="1652588"/>
            <a:ext cx="4801642" cy="1212056"/>
            <a:chOff x="6343650" y="1652588"/>
            <a:chExt cx="4801642" cy="1212056"/>
          </a:xfrm>
        </p:grpSpPr>
        <p:sp>
          <p:nvSpPr>
            <p:cNvPr id="31" name="Freeform 31"/>
            <p:cNvSpPr/>
            <p:nvPr/>
          </p:nvSpPr>
          <p:spPr>
            <a:xfrm>
              <a:off x="6545580" y="1837372"/>
              <a:ext cx="2191702" cy="626745"/>
            </a:xfrm>
            <a:custGeom>
              <a:avLst/>
              <a:gdLst/>
              <a:ahLst/>
              <a:cxnLst/>
              <a:rect l="l" t="t" r="r" b="b"/>
              <a:pathLst>
                <a:path w="2191702" h="626745">
                  <a:moveTo>
                    <a:pt x="2191702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06715" y="1837372"/>
              <a:ext cx="730567" cy="626745"/>
            </a:xfrm>
            <a:custGeom>
              <a:avLst/>
              <a:gdLst/>
              <a:ahLst/>
              <a:cxnLst/>
              <a:rect l="l" t="t" r="r" b="b"/>
              <a:pathLst>
                <a:path w="730567" h="626745">
                  <a:moveTo>
                    <a:pt x="730567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37282" y="1837372"/>
              <a:ext cx="730568" cy="626745"/>
            </a:xfrm>
            <a:custGeom>
              <a:avLst/>
              <a:gdLst/>
              <a:ahLst/>
              <a:cxnLst/>
              <a:rect l="l" t="t" r="r" b="b"/>
              <a:pathLst>
                <a:path w="730568" h="626745">
                  <a:moveTo>
                    <a:pt x="0" y="0"/>
                  </a:moveTo>
                  <a:lnTo>
                    <a:pt x="730568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737282" y="1837372"/>
              <a:ext cx="2190750" cy="626745"/>
            </a:xfrm>
            <a:custGeom>
              <a:avLst/>
              <a:gdLst/>
              <a:ahLst/>
              <a:cxnLst/>
              <a:rect l="l" t="t" r="r" b="b"/>
              <a:pathLst>
                <a:path w="2190750" h="626745">
                  <a:moveTo>
                    <a:pt x="0" y="0"/>
                  </a:moveTo>
                  <a:lnTo>
                    <a:pt x="219075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43650" y="2279332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03832" y="2279332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264968" y="2279332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725150" y="2279332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01952" y="1652588"/>
              <a:ext cx="1469708" cy="368618"/>
            </a:xfrm>
            <a:prstGeom prst="roundRect">
              <a:avLst>
                <a:gd name="adj" fmla="val 20672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36353" y="239839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j=1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55917" y="2702719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97488" y="239839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j=2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9455" y="2702719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success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58623" y="239839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j=3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78187" y="2702719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18806" y="239839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j=4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10772" y="2702719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success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54437" y="1771650"/>
              <a:ext cx="1365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3：choice(1:4)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5815965" y="3118485"/>
            <a:ext cx="5842635" cy="481012"/>
            <a:chOff x="5815965" y="3118485"/>
            <a:chExt cx="5842635" cy="481012"/>
          </a:xfrm>
        </p:grpSpPr>
        <p:sp>
          <p:nvSpPr>
            <p:cNvPr id="50" name="Rectangle 50"/>
            <p:cNvSpPr/>
            <p:nvPr/>
          </p:nvSpPr>
          <p:spPr>
            <a:xfrm>
              <a:off x="5815965" y="3118485"/>
              <a:ext cx="5842635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3259455"/>
              <a:ext cx="200026" cy="200026"/>
              <a:chOff x="6020753" y="325945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020753" y="32594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87428" y="333724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3457" y="3265170"/>
              <a:ext cx="4803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= (7, 3, 9, 3)，X = 3：有选择导致 success，输出 1。</a:t>
              </a:r>
            </a:p>
          </p:txBody>
        </p:sp>
      </p:grpSp>
      <p:grpSp>
        <p:nvGrpSpPr>
          <p:cNvPr id="74" name="c2-tree-3"/>
          <p:cNvGrpSpPr/>
          <p:nvPr/>
        </p:nvGrpSpPr>
        <p:grpSpPr>
          <a:xfrm>
            <a:off x="6343650" y="3898582"/>
            <a:ext cx="4787265" cy="1211104"/>
            <a:chOff x="6343650" y="3898582"/>
            <a:chExt cx="4787265" cy="1211104"/>
          </a:xfrm>
        </p:grpSpPr>
        <p:sp>
          <p:nvSpPr>
            <p:cNvPr id="56" name="Freeform 56"/>
            <p:cNvSpPr/>
            <p:nvPr/>
          </p:nvSpPr>
          <p:spPr>
            <a:xfrm>
              <a:off x="6545580" y="4083368"/>
              <a:ext cx="2191702" cy="626745"/>
            </a:xfrm>
            <a:custGeom>
              <a:avLst/>
              <a:gdLst/>
              <a:ahLst/>
              <a:cxnLst/>
              <a:rect l="l" t="t" r="r" b="b"/>
              <a:pathLst>
                <a:path w="2191702" h="626745">
                  <a:moveTo>
                    <a:pt x="2191702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006715" y="4083368"/>
              <a:ext cx="730567" cy="626745"/>
            </a:xfrm>
            <a:custGeom>
              <a:avLst/>
              <a:gdLst/>
              <a:ahLst/>
              <a:cxnLst/>
              <a:rect l="l" t="t" r="r" b="b"/>
              <a:pathLst>
                <a:path w="730567" h="626745">
                  <a:moveTo>
                    <a:pt x="730567" y="0"/>
                  </a:moveTo>
                  <a:lnTo>
                    <a:pt x="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737282" y="4083368"/>
              <a:ext cx="730568" cy="626745"/>
            </a:xfrm>
            <a:custGeom>
              <a:avLst/>
              <a:gdLst/>
              <a:ahLst/>
              <a:cxnLst/>
              <a:rect l="l" t="t" r="r" b="b"/>
              <a:pathLst>
                <a:path w="730568" h="626745">
                  <a:moveTo>
                    <a:pt x="0" y="0"/>
                  </a:moveTo>
                  <a:lnTo>
                    <a:pt x="730568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737282" y="4083368"/>
              <a:ext cx="2190750" cy="626745"/>
            </a:xfrm>
            <a:custGeom>
              <a:avLst/>
              <a:gdLst/>
              <a:ahLst/>
              <a:cxnLst/>
              <a:rect l="l" t="t" r="r" b="b"/>
              <a:pathLst>
                <a:path w="2190750" h="626745">
                  <a:moveTo>
                    <a:pt x="0" y="0"/>
                  </a:moveTo>
                  <a:lnTo>
                    <a:pt x="2190750" y="6267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43650" y="4525328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803832" y="4525328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64968" y="4525328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725150" y="4525328"/>
              <a:ext cx="405765" cy="368618"/>
            </a:xfrm>
            <a:prstGeom prst="roundRect">
              <a:avLst>
                <a:gd name="adj" fmla="val 2067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01952" y="3898582"/>
              <a:ext cx="1469708" cy="368618"/>
            </a:xfrm>
            <a:prstGeom prst="roundRect">
              <a:avLst>
                <a:gd name="adj" fmla="val 20672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36353" y="464439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j=1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55917" y="494776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97488" y="464439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j=2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17052" y="494776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58623" y="464439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j=3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278187" y="494776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18806" y="464439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j=4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38369" y="494776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54437" y="4017645"/>
              <a:ext cx="1365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5：choice(1:4)</a:t>
              </a:r>
            </a:p>
          </p:txBody>
        </p:sp>
      </p:grpSp>
      <p:grpSp>
        <p:nvGrpSpPr>
          <p:cNvPr id="81" name="c2-callout-4"/>
          <p:cNvGrpSpPr/>
          <p:nvPr/>
        </p:nvGrpSpPr>
        <p:grpSpPr>
          <a:xfrm>
            <a:off x="5815965" y="5364480"/>
            <a:ext cx="5842635" cy="980122"/>
            <a:chOff x="5815965" y="5364480"/>
            <a:chExt cx="5842635" cy="980122"/>
          </a:xfrm>
        </p:grpSpPr>
        <p:sp>
          <p:nvSpPr>
            <p:cNvPr id="75" name="Rectangle 75"/>
            <p:cNvSpPr/>
            <p:nvPr/>
          </p:nvSpPr>
          <p:spPr>
            <a:xfrm>
              <a:off x="5815965" y="5364480"/>
              <a:ext cx="5842635" cy="980122"/>
            </a:xfrm>
            <a:prstGeom prst="roundRect">
              <a:avLst>
                <a:gd name="adj" fmla="val 116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020753" y="5755005"/>
              <a:ext cx="200026" cy="200026"/>
              <a:chOff x="6020753" y="5755005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020753" y="57550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120765" y="58216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109653" y="58550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323457" y="5760720"/>
              <a:ext cx="3444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5：所有选择都导致 failure，输出 0。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214" cy="909257"/>
            <a:chOff x="520446" y="342900"/>
            <a:chExt cx="523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最大团判定问题的不确定算法 DCK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24232" cy="278702"/>
            <a:chOff x="526161" y="1547336"/>
            <a:chExt cx="51242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24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问题：图 G 有 n 个顶点，判定 G 中是否存在大小为 k 的团。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41195"/>
            <a:ext cx="5626418" cy="3011805"/>
            <a:chOff x="533400" y="1941195"/>
            <a:chExt cx="5626418" cy="301180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3011805"/>
            </a:xfrm>
            <a:prstGeom prst="roundRect">
              <a:avLst>
                <a:gd name="adj" fmla="val 31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DCK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939415"/>
              <a:ext cx="5588318" cy="2095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986212"/>
              <a:ext cx="5588318" cy="2095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0844" y="2355771"/>
              <a:ext cx="3127629" cy="2532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DCK(G, n, k)  </a:t>
              </a:r>
              <a:r>
                <a:rPr lang="zh-CN" sz="11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n：顶点数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 ← ∅                 </a:t>
              </a:r>
              <a:r>
                <a:rPr lang="zh-CN" sz="11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猜出的点集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k do     </a:t>
              </a:r>
              <a:r>
                <a:rPr lang="zh-CN" sz="11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不确定阶段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← choice(1:n)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t ∈ S then failure endif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 ← S ∪ {t}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zh-CN" sz="11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for 每一对 i, j ∈ S 且 i ≠ j do</a:t>
              </a:r>
              <a:br/>
              <a:r>
                <a:rPr lang="zh-CN" sz="11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(i, j) 不是边 then failure endif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                </a:t>
              </a:r>
              <a:r>
                <a:rPr lang="zh-CN" sz="11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确定阶段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success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DCK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5128260"/>
            <a:ext cx="5626418" cy="978218"/>
            <a:chOff x="533400" y="5128260"/>
            <a:chExt cx="5626418" cy="978218"/>
          </a:xfrm>
        </p:grpSpPr>
        <p:sp>
          <p:nvSpPr>
            <p:cNvPr id="15" name="Rectangle 15"/>
            <p:cNvSpPr/>
            <p:nvPr/>
          </p:nvSpPr>
          <p:spPr>
            <a:xfrm>
              <a:off x="533400" y="5128260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517833"/>
              <a:ext cx="200026" cy="200026"/>
              <a:chOff x="738188" y="551783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5178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584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6178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5274945"/>
              <a:ext cx="470287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对比确定算法：逐个检查全部 C(n, k) 个 k 顶点子集，每个子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集查 O(k²) 对顶点，最坏 O(k²·C(n, k))；k 约为 n/2 时是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指数级。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464618" y="1941195"/>
            <a:ext cx="5193982" cy="1814512"/>
            <a:chOff x="6464618" y="1941195"/>
            <a:chExt cx="5193982" cy="1814512"/>
          </a:xfrm>
        </p:grpSpPr>
        <p:sp>
          <p:nvSpPr>
            <p:cNvPr id="22" name="Rectangle 22"/>
            <p:cNvSpPr/>
            <p:nvPr/>
          </p:nvSpPr>
          <p:spPr>
            <a:xfrm>
              <a:off x="6464618" y="1941195"/>
              <a:ext cx="5193982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2074545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5122" y="213360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0561" y="21678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思路与正确性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88264" y="2490788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 k 个互不相同的顶点组成 S，再检查 S 中每两个顶点之间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都有边。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03695" y="31061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9714" y="3049905"/>
              <a:ext cx="4671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有大小为 k 的团 C 时，依次选出 C 的顶点就会 success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03695" y="34089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9714" y="3352800"/>
              <a:ext cx="4650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 时 S 是 k 个两两相邻的不同顶点，正好是一个团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3930968"/>
            <a:ext cx="5193982" cy="2175510"/>
            <a:chOff x="6464618" y="3930968"/>
            <a:chExt cx="5193982" cy="2175510"/>
          </a:xfrm>
        </p:grpSpPr>
        <p:sp>
          <p:nvSpPr>
            <p:cNvPr id="32" name="Rectangle 32"/>
            <p:cNvSpPr/>
            <p:nvPr/>
          </p:nvSpPr>
          <p:spPr>
            <a:xfrm>
              <a:off x="6464618" y="3930968"/>
              <a:ext cx="5193982" cy="2175510"/>
            </a:xfrm>
            <a:prstGeom prst="roundRect">
              <a:avLst>
                <a:gd name="adj" fmla="val 6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57022" y="41233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48462" y="41576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65595" y="453675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21614" y="4480560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不确定阶段 O(k)：S 用布尔数组表示，判断 t ∈ S 为</a:t>
              </a:r>
              <a:br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65595" y="509587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21614" y="5039678"/>
              <a:ext cx="3510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确定阶段 O(k²)：检查 k(k−1) 个有序点对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65595" y="539877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21614" y="5342573"/>
              <a:ext cx="299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合计 O(k + k²)，由 k ≤ n 得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8802" cy="909257"/>
            <a:chOff x="520446" y="342900"/>
            <a:chExt cx="83688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88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DCK 执行示例：同一个图，k = 3 输出 1，k = 4 输出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848678" y="1678305"/>
            <a:ext cx="3343274" cy="1890141"/>
            <a:chOff x="848678" y="1678305"/>
            <a:chExt cx="3343274" cy="1890141"/>
          </a:xfrm>
        </p:grpSpPr>
        <p:sp>
          <p:nvSpPr>
            <p:cNvPr id="7" name="Freeform 7"/>
            <p:cNvSpPr/>
            <p:nvPr/>
          </p:nvSpPr>
          <p:spPr>
            <a:xfrm>
              <a:off x="1132522" y="1925955"/>
              <a:ext cx="827722" cy="598170"/>
            </a:xfrm>
            <a:custGeom>
              <a:avLst/>
              <a:gdLst/>
              <a:ahLst/>
              <a:cxnLst/>
              <a:rect l="l" t="t" r="r" b="b"/>
              <a:pathLst>
                <a:path w="827722" h="598170">
                  <a:moveTo>
                    <a:pt x="0" y="598170"/>
                  </a:moveTo>
                  <a:lnTo>
                    <a:pt x="8277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32522" y="2714625"/>
              <a:ext cx="827722" cy="598170"/>
            </a:xfrm>
            <a:custGeom>
              <a:avLst/>
              <a:gdLst/>
              <a:ahLst/>
              <a:cxnLst/>
              <a:rect l="l" t="t" r="r" b="b"/>
              <a:pathLst>
                <a:path w="827722" h="598170">
                  <a:moveTo>
                    <a:pt x="0" y="0"/>
                  </a:moveTo>
                  <a:lnTo>
                    <a:pt x="827722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91690" y="1992630"/>
              <a:ext cx="9525" cy="1253490"/>
            </a:xfrm>
            <a:custGeom>
              <a:avLst/>
              <a:gdLst/>
              <a:ahLst/>
              <a:cxnLst/>
              <a:rect l="l" t="t" r="r" b="b"/>
              <a:pathLst>
                <a:path w="9525" h="1253490">
                  <a:moveTo>
                    <a:pt x="0" y="0"/>
                  </a:moveTo>
                  <a:lnTo>
                    <a:pt x="0" y="125349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19325" y="1929765"/>
              <a:ext cx="757238" cy="590550"/>
            </a:xfrm>
            <a:custGeom>
              <a:avLst/>
              <a:gdLst/>
              <a:ahLst/>
              <a:cxnLst/>
              <a:rect l="l" t="t" r="r" b="b"/>
              <a:pathLst>
                <a:path w="757238" h="590550">
                  <a:moveTo>
                    <a:pt x="0" y="0"/>
                  </a:moveTo>
                  <a:lnTo>
                    <a:pt x="757238" y="59055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9325" y="2718435"/>
              <a:ext cx="757238" cy="590550"/>
            </a:xfrm>
            <a:custGeom>
              <a:avLst/>
              <a:gdLst/>
              <a:ahLst/>
              <a:cxnLst/>
              <a:rect l="l" t="t" r="r" b="b"/>
              <a:pathLst>
                <a:path w="757238" h="590550">
                  <a:moveTo>
                    <a:pt x="0" y="590550"/>
                  </a:moveTo>
                  <a:lnTo>
                    <a:pt x="757238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66122" y="2619375"/>
              <a:ext cx="611505" cy="9525"/>
            </a:xfrm>
            <a:custGeom>
              <a:avLst/>
              <a:gdLst/>
              <a:ahLst/>
              <a:cxnLst/>
              <a:rect l="l" t="t" r="r" b="b"/>
              <a:pathLst>
                <a:path w="611505" h="9525">
                  <a:moveTo>
                    <a:pt x="0" y="0"/>
                  </a:moveTo>
                  <a:lnTo>
                    <a:pt x="6115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48678" y="24669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939290" y="167830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939290" y="325564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951798" y="246697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887152" y="24669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8336" y="2545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38948" y="1756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38948" y="3333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51456" y="2545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86811" y="2545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05250"/>
            <a:ext cx="3895725" cy="1847850"/>
            <a:chOff x="533400" y="3905250"/>
            <a:chExt cx="3895725" cy="1847850"/>
          </a:xfrm>
        </p:grpSpPr>
        <p:sp>
          <p:nvSpPr>
            <p:cNvPr id="24" name="Rectangle 24"/>
            <p:cNvSpPr/>
            <p:nvPr/>
          </p:nvSpPr>
          <p:spPr>
            <a:xfrm>
              <a:off x="533400" y="3905250"/>
              <a:ext cx="389572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03860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11480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934" y="4150519"/>
              <a:ext cx="304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 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4491990"/>
              <a:ext cx="2701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5，边：(1,2) (1,3) (2,3)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(2,4) (3,4) (4,5)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5109686"/>
              <a:ext cx="3191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橙色三角形是大小为 3 的团 {2, 3, 4}；{1,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2, 3} 也是。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4733925" y="1524000"/>
            <a:ext cx="6924675" cy="2924175"/>
            <a:chOff x="4733925" y="1524000"/>
            <a:chExt cx="6924675" cy="2924175"/>
          </a:xfrm>
        </p:grpSpPr>
        <p:sp>
          <p:nvSpPr>
            <p:cNvPr id="31" name="Rectangle 31"/>
            <p:cNvSpPr/>
            <p:nvPr/>
          </p:nvSpPr>
          <p:spPr>
            <a:xfrm>
              <a:off x="4733925" y="1524000"/>
              <a:ext cx="692467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18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983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一组选择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794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530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41748" y="2108359"/>
              <a:ext cx="1179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DCK(G, 5, 3)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7871" y="2108359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2, 3, 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19263" y="2108359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(2,3) (2,4) (3,4) 都是边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11955" y="2108359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success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33925" y="24164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33925" y="2421255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841748" y="2556986"/>
              <a:ext cx="1179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DCK(G, 5, 3)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7871" y="2556986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1, 2, 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19263" y="2556986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 不是边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11955" y="2556986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733925" y="28660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841748" y="3005614"/>
              <a:ext cx="1179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DCK(G, 5, 3)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7871" y="3005614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2, 2, 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19263" y="3005614"/>
              <a:ext cx="1824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次选的 2 已在 S 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11955" y="300561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failure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733925" y="331470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733925" y="3319462"/>
              <a:ext cx="6924675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41748" y="3794284"/>
              <a:ext cx="1179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DCK(G, 5, 4)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61811" y="3680936"/>
              <a:ext cx="1175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 4 个不同顶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19263" y="3454241"/>
              <a:ext cx="2175002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种四点组合都缺边：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{1,2,3,4} 缺 (1,4)，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{2,3,4,5} 缺 (2,5)，其余含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1 和 4 或 1 和 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11955" y="3794284"/>
              <a:ext cx="1017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全部 failure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733925" y="1524000"/>
              <a:ext cx="6924675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8267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70667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199370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2"/>
          <p:cNvGrpSpPr/>
          <p:nvPr/>
        </p:nvGrpSpPr>
        <p:grpSpPr>
          <a:xfrm>
            <a:off x="4733925" y="4638675"/>
            <a:ext cx="6924675" cy="1114425"/>
            <a:chOff x="4733925" y="4638675"/>
            <a:chExt cx="6924675" cy="1114425"/>
          </a:xfrm>
        </p:grpSpPr>
        <p:sp>
          <p:nvSpPr>
            <p:cNvPr id="62" name="Rectangle 62"/>
            <p:cNvSpPr/>
            <p:nvPr/>
          </p:nvSpPr>
          <p:spPr>
            <a:xfrm>
              <a:off x="4733925" y="4638675"/>
              <a:ext cx="6924675" cy="1114425"/>
            </a:xfrm>
            <a:prstGeom prst="roundRect">
              <a:avLst>
                <a:gd name="adj" fmla="val 1025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4938713" y="5095877"/>
              <a:ext cx="200023" cy="200023"/>
              <a:chOff x="4938713" y="509587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4938713" y="50958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072063" y="5162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5240655" y="4814888"/>
              <a:ext cx="57683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DCK(G, 5, 3) 存在导致 success 的选择，输出 1；DCK(G, 5, 4)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5⁴ = 625 种选择序列没有一种成功，输出 0。所以 G 的最大团大小为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问题规模按二进制输入长度计算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63682" cy="308039"/>
            <a:chOff x="525399" y="1550194"/>
            <a:chExt cx="108636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636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为统一度量不同判定问题的算法时间，把算法的输入参数都转换成二进制形式，时间复杂度按二进制输入长度考虑。</a:t>
              </a:r>
            </a:p>
          </p:txBody>
        </p:sp>
      </p:grpSp>
      <p:grpSp>
        <p:nvGrpSpPr>
          <p:cNvPr id="24" name="c1-card-1"/>
          <p:cNvGrpSpPr/>
          <p:nvPr/>
        </p:nvGrpSpPr>
        <p:grpSpPr>
          <a:xfrm>
            <a:off x="533400" y="1967865"/>
            <a:ext cx="5951220" cy="3798570"/>
            <a:chOff x="533400" y="1967865"/>
            <a:chExt cx="5951220" cy="37985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798570"/>
            </a:xfrm>
            <a:prstGeom prst="roundRect">
              <a:avLst>
                <a:gd name="adj" fmla="val 3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6160" y="2213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9202" y="2212658"/>
              <a:ext cx="373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最大团判定 DCK(G, n, k) 的输入长度 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7804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用二进制邻接矩阵表示，n 是顶点数，k 是判定值：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7"/>
                <p:cNvSpPr txBox="1">
                  <a:spLocks noGrp="1"/>
                </p:cNvSpPr>
                <p:nvPr/>
              </p:nvSpPr>
              <p:spPr>
                <a:xfrm>
                  <a:off x="781050" y="2884170"/>
                  <a:ext cx="54940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⌊"/>
                            <m:sepChr m:val=""/>
                            <m:endChr m:val="⌋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⌊"/>
                            <m:sepChr m:val=""/>
                            <m:endChr m:val="⌋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3430" y="346138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092" y="346138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邻接矩阵，每个元素 1 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3781425"/>
              <a:ext cx="54940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430" y="3901440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⌊log₂k⌋ + 1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64092" y="3901440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待判定的顶点个数 k 的位数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4221480"/>
              <a:ext cx="54940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3430" y="4341495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⌊log₂n⌋ + 1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64092" y="434149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顶点个数 n 的位数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789420" y="1967865"/>
            <a:ext cx="4869180" cy="2825115"/>
            <a:chOff x="6789420" y="1967865"/>
            <a:chExt cx="4869180" cy="2825115"/>
          </a:xfrm>
        </p:grpSpPr>
        <p:sp>
          <p:nvSpPr>
            <p:cNvPr id="25" name="Rectangle 25"/>
            <p:cNvSpPr/>
            <p:nvPr/>
          </p:nvSpPr>
          <p:spPr>
            <a:xfrm>
              <a:off x="6789420" y="1967865"/>
              <a:ext cx="4869180" cy="2825115"/>
            </a:xfrm>
            <a:prstGeom prst="roundRect">
              <a:avLst>
                <a:gd name="adj" fmla="val 47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8945" y="2101215"/>
              <a:ext cx="47625" cy="25584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3707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1937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代入数字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21942" y="2212658"/>
              <a:ext cx="238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上一页的图，n = 5，k =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30593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64718" y="254889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69495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86738" y="254889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91515" y="2678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0593" y="3269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64718" y="313944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69495" y="3269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86738" y="313944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91515" y="3269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08758" y="313944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13535" y="32694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42785" y="37414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0900" y="367855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 5 × 5 = 25 位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42785" y="40767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0900" y="4013835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 = (11)₂，2 位；n = 5 = (101)₂，3 位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42785" y="441198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0900" y="4349115"/>
              <a:ext cx="2116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m = 25 + 1 + 2 + 2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789420" y="4983480"/>
            <a:ext cx="4869180" cy="782955"/>
            <a:chOff x="6789420" y="4983480"/>
            <a:chExt cx="4869180" cy="782955"/>
          </a:xfrm>
        </p:grpSpPr>
        <p:sp>
          <p:nvSpPr>
            <p:cNvPr id="49" name="Rectangle 49"/>
            <p:cNvSpPr/>
            <p:nvPr/>
          </p:nvSpPr>
          <p:spPr>
            <a:xfrm>
              <a:off x="6789420" y="498348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94208" y="5274947"/>
              <a:ext cx="200023" cy="200023"/>
              <a:chOff x="6994208" y="527494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4208" y="5274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27558" y="5341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296150" y="5132070"/>
              <a:ext cx="3796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m ≥ n² 得 DCK 的时间 O(n²) = O(m)，相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对输入长度是线性的。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126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397" y="407194"/>
              <a:ext cx="2374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不确定的判定问题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补充：为什么一定要按输入长度算，伪多项式时间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3451860"/>
            <a:chOff x="533400" y="1524000"/>
            <a:chExt cx="5626418" cy="3451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451860"/>
            </a:xfrm>
            <a:prstGeom prst="roundRect">
              <a:avLst>
                <a:gd name="adj" fmla="val 3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851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典型误区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3255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背包的动态规划是多项式时间吗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章 0/1 背包的动态规划表有 n 行、M + 1 列，时间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O(nM)。看起来是 n 和 M 的乘积。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920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但输入中容量 M 只占约 log₂M 位。M 的位数每增加 1，M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的上限就翻一倍，所以 O(nM) 相对输入长度是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指数级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36851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这种时间关于数值大小是多项式、关于输入长度不是多项式的算法，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称为伪多项式时间算法。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458902" y="1524000"/>
            <a:ext cx="5199698" cy="2246472"/>
            <a:chOff x="6458902" y="1524000"/>
            <a:chExt cx="5199698" cy="2246472"/>
          </a:xfrm>
        </p:grpSpPr>
        <p:sp>
          <p:nvSpPr>
            <p:cNvPr id="16" name="Rectangle 16"/>
            <p:cNvSpPr/>
            <p:nvPr/>
          </p:nvSpPr>
          <p:spPr>
            <a:xfrm>
              <a:off x="6464618" y="1524000"/>
              <a:ext cx="5193982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1355" y="1663065"/>
              <a:ext cx="654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容量 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3445" y="1663065"/>
              <a:ext cx="856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的位数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33492" y="1663065"/>
              <a:ext cx="122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50 时 nM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0659" y="215074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2894" y="215074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81372" y="215074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5×10⁴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64618" y="24945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64618" y="2499360"/>
              <a:ext cx="519398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80659" y="263842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72894" y="2638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81372" y="263842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5×10⁷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29822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64044" y="312610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72894" y="312610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640252" y="2996565"/>
              <a:ext cx="200882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70311" y="312610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5×10¹³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947660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25965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58902" y="3550444"/>
              <a:ext cx="4407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的位数从 20 增到 40（输入只多 20 位），表格规模扩大 10⁶ 倍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464618" y="3916680"/>
            <a:ext cx="5193982" cy="1059180"/>
            <a:chOff x="6464618" y="3916680"/>
            <a:chExt cx="5193982" cy="1059180"/>
          </a:xfrm>
        </p:grpSpPr>
        <p:sp>
          <p:nvSpPr>
            <p:cNvPr id="38" name="Rectangle 38"/>
            <p:cNvSpPr/>
            <p:nvPr/>
          </p:nvSpPr>
          <p:spPr>
            <a:xfrm>
              <a:off x="6464618" y="391668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9405" y="4346258"/>
              <a:ext cx="200026" cy="200026"/>
              <a:chOff x="6669405" y="434625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43462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69418" y="4412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58305" y="44462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1348" y="4065270"/>
              <a:ext cx="4215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DCK 中的数值 k、n 都不超过顶点数，按 n 算和按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算结论一致；输入里有大数值（容量、目标和）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时，必须按位数分析。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5" name="Rectangle 4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728335"/>
              <a:ext cx="9883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判断方法：把运行时间写成输入位数的函数。时间式子里直接出现数值 M（而不是 log M）时，要检查它是不是伪多项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式时间。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4125" cy="3321367"/>
            <a:chOff x="667512" y="1835468"/>
            <a:chExt cx="6334125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023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P、NP 与归约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242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用“确定算法还是不确定算法能在多项式时间内求解”划分判定问题，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再用归约比较难度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5689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问题与 NP 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归约的定义、例子与直观意义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多项式时间归约及其传递性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13474" cy="909257"/>
            <a:chOff x="520446" y="342900"/>
            <a:chExt cx="27134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04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36" y="407194"/>
              <a:ext cx="2107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P、NP 与归约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134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问题与 NP 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所有可在多项式时间内用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确定算法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求解的判定问题的集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049905"/>
            <a:ext cx="5410200" cy="1631632"/>
            <a:chOff x="533400" y="3049905"/>
            <a:chExt cx="5410200" cy="1631632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41020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2951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2078" y="3294698"/>
              <a:ext cx="732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65569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所有可在多项式时间内用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不确定算法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求解的判定问题的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27339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即能用不确定算法在多项式时间里猜出一个解，并验证这个解。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872038"/>
            <a:ext cx="5410200" cy="1365885"/>
            <a:chOff x="533400" y="4872038"/>
            <a:chExt cx="5410200" cy="1365885"/>
          </a:xfrm>
        </p:grpSpPr>
        <p:sp>
          <p:nvSpPr>
            <p:cNvPr id="22" name="Rectangle 22"/>
            <p:cNvSpPr/>
            <p:nvPr/>
          </p:nvSpPr>
          <p:spPr>
            <a:xfrm>
              <a:off x="533400" y="4872038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005388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508158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6160" y="51173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52164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5458778"/>
              <a:ext cx="3297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最大团判定（DCK，O(n²)）属于 NP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585692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5794058"/>
              <a:ext cx="48409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排序、最短路径的判定版本有多项式确定算法，属于 P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1917382"/>
            <a:chOff x="6248400" y="1524000"/>
            <a:chExt cx="5410200" cy="191738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7078" y="1768792"/>
              <a:ext cx="642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⊆ NP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2129790"/>
              <a:ext cx="4615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确定算法可以看作不确定算法的特例：每个 choice(S)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 S 只有唯一一个元素。所以多项式时间的确定算法也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是多项式时间的不确定算法，P ⊆ NP 成立。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9573" y="3033236"/>
              <a:ext cx="29195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但至今不能确定 P = NP 还是 P ≠ NP。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3631882"/>
            <a:ext cx="5410200" cy="2606040"/>
            <a:chOff x="6248400" y="3631882"/>
            <a:chExt cx="5410200" cy="2606040"/>
          </a:xfrm>
        </p:grpSpPr>
        <p:sp>
          <p:nvSpPr>
            <p:cNvPr id="39" name="Rectangle 39"/>
            <p:cNvSpPr/>
            <p:nvPr/>
          </p:nvSpPr>
          <p:spPr>
            <a:xfrm>
              <a:off x="6248400" y="3631882"/>
              <a:ext cx="5410200" cy="2606040"/>
            </a:xfrm>
            <a:prstGeom prst="roundRect">
              <a:avLst>
                <a:gd name="adj" fmla="val 51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765232"/>
              <a:ext cx="47625" cy="23393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38414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86258" y="3877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4218622"/>
              <a:ext cx="46443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原课件备注写作“NP ≠ 非 P 问题……因此 NP ⊂ 非 P 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题”。后半句与 P ⊆ NP 矛盾：P 中的问题都属于 NP，NP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不是非 P 问题的子集。NP 中的 N 指 Nondeterministic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（不确定），不表示“非”。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33851" cy="909257"/>
            <a:chOff x="520446" y="342900"/>
            <a:chExt cx="88338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04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36" y="407194"/>
              <a:ext cx="2107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P、NP 与归约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338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归约：把 L₁ 的输入转换成 L₂ 的输入，借 L₂ 的算法回答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609155" cy="308039"/>
            <a:chOff x="525399" y="1550194"/>
            <a:chExt cx="960915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6091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 NP 问题的难度不同，用归约表示它们之间的难度关系。L₁ 归约到 L₂ 记作 L₁ ≤ L₂ 或 L₁ ∝ L₂。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836295" y="2187892"/>
            <a:ext cx="3722370" cy="3954780"/>
            <a:chOff x="836295" y="2187892"/>
            <a:chExt cx="3722370" cy="3954780"/>
          </a:xfrm>
        </p:grpSpPr>
        <p:sp>
          <p:nvSpPr>
            <p:cNvPr id="9" name="Freeform 9"/>
            <p:cNvSpPr/>
            <p:nvPr/>
          </p:nvSpPr>
          <p:spPr>
            <a:xfrm>
              <a:off x="2697480" y="2626042"/>
              <a:ext cx="9525" cy="336233"/>
            </a:xfrm>
            <a:custGeom>
              <a:avLst/>
              <a:gdLst/>
              <a:ahLst/>
              <a:cxnLst/>
              <a:rect l="l" t="t" r="r" b="b"/>
              <a:pathLst>
                <a:path w="9525" h="336233">
                  <a:moveTo>
                    <a:pt x="0" y="0"/>
                  </a:moveTo>
                  <a:lnTo>
                    <a:pt x="0" y="3362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45092" y="2962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7480" y="3505200"/>
              <a:ext cx="9525" cy="336233"/>
            </a:xfrm>
            <a:custGeom>
              <a:avLst/>
              <a:gdLst/>
              <a:ahLst/>
              <a:cxnLst/>
              <a:rect l="l" t="t" r="r" b="b"/>
              <a:pathLst>
                <a:path w="9525" h="336233">
                  <a:moveTo>
                    <a:pt x="0" y="0"/>
                  </a:moveTo>
                  <a:lnTo>
                    <a:pt x="0" y="3362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45092" y="38414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97480" y="4384358"/>
              <a:ext cx="9525" cy="336233"/>
            </a:xfrm>
            <a:custGeom>
              <a:avLst/>
              <a:gdLst/>
              <a:ahLst/>
              <a:cxnLst/>
              <a:rect l="l" t="t" r="r" b="b"/>
              <a:pathLst>
                <a:path w="9525" h="336233">
                  <a:moveTo>
                    <a:pt x="0" y="0"/>
                  </a:moveTo>
                  <a:lnTo>
                    <a:pt x="0" y="3362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45092" y="47205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97480" y="5263515"/>
              <a:ext cx="9525" cy="336232"/>
            </a:xfrm>
            <a:custGeom>
              <a:avLst/>
              <a:gdLst/>
              <a:ahLst/>
              <a:cxnLst/>
              <a:rect l="l" t="t" r="r" b="b"/>
              <a:pathLst>
                <a:path w="9525" h="336232">
                  <a:moveTo>
                    <a:pt x="0" y="0"/>
                  </a:moveTo>
                  <a:lnTo>
                    <a:pt x="0" y="336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45092" y="5599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36295" y="2187892"/>
              <a:ext cx="3722370" cy="438150"/>
            </a:xfrm>
            <a:custGeom>
              <a:avLst/>
              <a:gdLst/>
              <a:ahLst/>
              <a:cxnLst/>
              <a:rect l="l" t="t" r="r" b="b"/>
              <a:pathLst>
                <a:path w="3722370" h="438150">
                  <a:moveTo>
                    <a:pt x="133350" y="0"/>
                  </a:moveTo>
                  <a:lnTo>
                    <a:pt x="3722370" y="0"/>
                  </a:lnTo>
                  <a:lnTo>
                    <a:pt x="358902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8EDF8"/>
            </a:solidFill>
            <a:ln w="13335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6295" y="3067050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6295" y="3946208"/>
              <a:ext cx="3722370" cy="438150"/>
            </a:xfrm>
            <a:custGeom>
              <a:avLst/>
              <a:gdLst/>
              <a:ahLst/>
              <a:cxnLst/>
              <a:rect l="l" t="t" r="r" b="b"/>
              <a:pathLst>
                <a:path w="3722370" h="438150">
                  <a:moveTo>
                    <a:pt x="133350" y="0"/>
                  </a:moveTo>
                  <a:lnTo>
                    <a:pt x="3722370" y="0"/>
                  </a:lnTo>
                  <a:lnTo>
                    <a:pt x="358902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8EDF8"/>
            </a:solidFill>
            <a:ln w="13335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6295" y="4825365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6295" y="5704522"/>
              <a:ext cx="3722370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31852" y="2317909"/>
              <a:ext cx="931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的输入 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68997" y="3197066"/>
              <a:ext cx="856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转换函数 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83598" y="4076224"/>
              <a:ext cx="12277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 的输入 T(x)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05086" y="4955381"/>
              <a:ext cx="784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 的算法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4936" y="5834539"/>
              <a:ext cx="2345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yes / no（L₂ 和 L₁ 的结果）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166360" y="1967865"/>
            <a:ext cx="6492240" cy="2036445"/>
            <a:chOff x="5166360" y="1967865"/>
            <a:chExt cx="6492240" cy="2036445"/>
          </a:xfrm>
        </p:grpSpPr>
        <p:sp>
          <p:nvSpPr>
            <p:cNvPr id="28" name="Rectangle 28"/>
            <p:cNvSpPr/>
            <p:nvPr/>
          </p:nvSpPr>
          <p:spPr>
            <a:xfrm>
              <a:off x="5166360" y="1967865"/>
              <a:ext cx="6492240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75885" y="2101215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1401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0421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06390" y="2554605"/>
              <a:ext cx="4791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问题 L₁ 归约到 L₂，是指能找到一个转换函数 T：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414010" y="28765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75859" y="29188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15000" y="2889885"/>
              <a:ext cx="5711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把 L₁ 的任意一个合法输入 x 转换成 L₂ 的一个合法输入 T(x)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14010" y="32118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75859" y="32541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15000" y="3225165"/>
              <a:ext cx="4552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T(x) 输入求解 L₂ 的算法，得到 L₂ 的一个输出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414010" y="354711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75859" y="35894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15000" y="3560445"/>
              <a:ext cx="57106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对输入 x 的输出是 yes，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当且仅当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L₂ 对 T(x) 的输出是 yes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166360" y="4194810"/>
            <a:ext cx="6492240" cy="1562100"/>
            <a:chOff x="5166360" y="4194810"/>
            <a:chExt cx="6492240" cy="1562100"/>
          </a:xfrm>
        </p:grpSpPr>
        <p:sp>
          <p:nvSpPr>
            <p:cNvPr id="43" name="Rectangle 43"/>
            <p:cNvSpPr/>
            <p:nvPr/>
          </p:nvSpPr>
          <p:spPr>
            <a:xfrm>
              <a:off x="5166360" y="4194810"/>
              <a:ext cx="6492240" cy="1562100"/>
            </a:xfrm>
            <a:prstGeom prst="roundRect">
              <a:avLst>
                <a:gd name="adj" fmla="val 853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75910" y="44043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66118" y="4440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68290" y="4781550"/>
              <a:ext cx="5630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左图中 T 与 L₂ 的算法串起来，整体就是问题 L₁ 的一个算法。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69433" y="5112544"/>
              <a:ext cx="5206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归约具有传递性：L₁ ≤ L₂ 且 L₂ ≤ L₃，则 L₁ ≤ L₃（把两个转换函数接起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04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36" y="407194"/>
              <a:ext cx="2107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P、NP 与归约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一个归约的例子：布尔值问题归约到最大元素问题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326832"/>
            <a:chOff x="533400" y="1524000"/>
            <a:chExt cx="5193982" cy="1326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26832"/>
            </a:xfrm>
            <a:prstGeom prst="roundRect">
              <a:avLst>
                <a:gd name="adj" fmla="val 10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01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8774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089" y="176926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判定问题 L₁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983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 n 个布尔值中是否至少有一个为 true。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442686"/>
              <a:ext cx="4332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输入：X₁, X₂, …, Xₙ，Xᵢ = true 或 false（1 ≤ i ≤ n）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041332"/>
            <a:ext cx="5193982" cy="1326832"/>
            <a:chOff x="533400" y="3041332"/>
            <a:chExt cx="5193982" cy="1326832"/>
          </a:xfrm>
        </p:grpSpPr>
        <p:sp>
          <p:nvSpPr>
            <p:cNvPr id="14" name="Rectangle 14"/>
            <p:cNvSpPr/>
            <p:nvPr/>
          </p:nvSpPr>
          <p:spPr>
            <a:xfrm>
              <a:off x="533400" y="3041332"/>
              <a:ext cx="5193982" cy="1326832"/>
            </a:xfrm>
            <a:prstGeom prst="roundRect">
              <a:avLst>
                <a:gd name="adj" fmla="val 10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74682"/>
              <a:ext cx="47625" cy="10601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0882"/>
              <a:ext cx="98774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089" y="3286601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判定问题 L₂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628072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 n 个整数中的最大元素是否为正数。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3960019"/>
              <a:ext cx="3621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输入：Y₁, Y₂, …, Yₙ，Yᵢ 为整数（1 ≤ i ≤ n）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558665"/>
            <a:ext cx="5193982" cy="1701165"/>
            <a:chOff x="533400" y="4558665"/>
            <a:chExt cx="5193982" cy="1701165"/>
          </a:xfrm>
        </p:grpSpPr>
        <p:sp>
          <p:nvSpPr>
            <p:cNvPr id="21" name="Rectangle 21"/>
            <p:cNvSpPr/>
            <p:nvPr/>
          </p:nvSpPr>
          <p:spPr>
            <a:xfrm>
              <a:off x="533400" y="455866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2950" y="4768215"/>
              <a:ext cx="90582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7032" y="4803934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转换函数 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5145405"/>
              <a:ext cx="4184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T(X₁, X₂, …, Xₙ) = (Y₁, Y₂, …, Yₙ)，其中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48665" y="554355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5480685"/>
              <a:ext cx="1848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 = true 时 Yᵢ = 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48665" y="58788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780" y="5815965"/>
              <a:ext cx="1907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 = false 时 Yᵢ = 0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032182" y="1524000"/>
            <a:ext cx="5626418" cy="2475548"/>
            <a:chOff x="6032182" y="1524000"/>
            <a:chExt cx="5626418" cy="2475548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28058" y="1659731"/>
              <a:ext cx="951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L₁ 的输入 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55628" y="165973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T(x)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62441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L₂ 的回答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13086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L₁ 的回答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29705" y="2108359"/>
              <a:ext cx="114802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(false, true,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6885" y="222170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(0, 1, 0)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6086" y="2108359"/>
              <a:ext cx="915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 1 &gt; 0，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71975" y="222170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true，yes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64795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68514" y="2897029"/>
              <a:ext cx="1270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(false, false)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7505" y="2897029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6086" y="289702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 0，no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71975" y="2783681"/>
              <a:ext cx="9558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全是 false，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4102" y="3459004"/>
              <a:ext cx="119923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(false, false,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6885" y="357235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(0, 0, 1)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66086" y="3459004"/>
              <a:ext cx="915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 1 &gt; 0，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71975" y="3572351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true，yes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1524000"/>
              <a:ext cx="5626418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71448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5350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35939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032182" y="4190048"/>
            <a:ext cx="5626418" cy="2070735"/>
            <a:chOff x="6032182" y="4190048"/>
            <a:chExt cx="5626418" cy="2070735"/>
          </a:xfrm>
        </p:grpSpPr>
        <p:sp>
          <p:nvSpPr>
            <p:cNvPr id="55" name="Rectangle 55"/>
            <p:cNvSpPr/>
            <p:nvPr/>
          </p:nvSpPr>
          <p:spPr>
            <a:xfrm>
              <a:off x="6032182" y="4190048"/>
              <a:ext cx="5626418" cy="2070735"/>
            </a:xfrm>
            <a:prstGeom prst="roundRect">
              <a:avLst>
                <a:gd name="adj" fmla="val 64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1708" y="4323398"/>
              <a:ext cx="47625" cy="18040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79832" y="439959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3289" y="44353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验证三个条件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85548" y="483965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43662" y="4776788"/>
              <a:ext cx="3350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T(x) 是 n 个整数，是 L₂ 的合法输入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285548" y="5174933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43662" y="5112068"/>
              <a:ext cx="4399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 Xᵢ = true ⇒ Yᵢ = 1，最大元素为 1，是正数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85548" y="551021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43662" y="5447348"/>
              <a:ext cx="4022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全为 false ⇒ Y 全为 0，最大元素 0 不是正数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73356" y="5778341"/>
              <a:ext cx="4359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两个方向都成立，所以 L₁ ≤ L₂。T 只扫描一遍，O(n)。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3537" cy="909257"/>
            <a:chOff x="520446" y="342900"/>
            <a:chExt cx="71735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04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36" y="407194"/>
              <a:ext cx="2107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P、NP 与归约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35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归约的直观意义：L₁ ≤ L₂ 表示 L₁ 不比 L₂ 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760595" cy="4863942"/>
            <a:chOff x="533400" y="1524000"/>
            <a:chExt cx="4760595" cy="486394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9024" t="0" r="9024" b="0"/>
            <a:stretch>
              <a:fillRect/>
            </a:stretch>
          </p:blipFill>
          <p:spPr>
            <a:xfrm>
              <a:off x="533400" y="1524000"/>
              <a:ext cx="4760595" cy="4356735"/>
            </a:xfrm>
            <a:prstGeom prst="roundRect">
              <a:avLst>
                <a:gd name="adj" fmla="val 3060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642810" y="5975509"/>
              <a:ext cx="454177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转换插头只改变插头的形状，供电的仍是墙上的插座；T 只转换输入，回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答问题靠 L₂ 的算法</a:t>
              </a:r>
            </a:p>
          </p:txBody>
        </p:sp>
      </p:grpSp>
      <p:grpSp>
        <p:nvGrpSpPr>
          <p:cNvPr id="16" name="c2-card-1"/>
          <p:cNvGrpSpPr/>
          <p:nvPr/>
        </p:nvGrpSpPr>
        <p:grpSpPr>
          <a:xfrm>
            <a:off x="5598795" y="1524000"/>
            <a:ext cx="6059805" cy="1777365"/>
            <a:chOff x="5598795" y="1524000"/>
            <a:chExt cx="6059805" cy="1777365"/>
          </a:xfrm>
        </p:grpSpPr>
        <p:sp>
          <p:nvSpPr>
            <p:cNvPr id="10" name="Rectangle 10"/>
            <p:cNvSpPr/>
            <p:nvPr/>
          </p:nvSpPr>
          <p:spPr>
            <a:xfrm>
              <a:off x="5598795" y="1524000"/>
              <a:ext cx="6059805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08320" y="165735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84073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23039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直观意义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3491" y="2100739"/>
              <a:ext cx="52804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可归约为 L₂，则 L₂ 的时间复杂度不低于 L₁ 的时间复杂度，即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L₁ 不比 L₂ 难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4634" y="2688907"/>
              <a:ext cx="5315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理由：求解 L₂ 的任何算法前面接上 T，就能求解 L₁（T 的开销另计，下一页要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求它是多项式的）。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5598795" y="3486150"/>
            <a:ext cx="6059805" cy="1274445"/>
            <a:chOff x="5598795" y="3486150"/>
            <a:chExt cx="6059805" cy="1274445"/>
          </a:xfrm>
        </p:grpSpPr>
        <p:sp>
          <p:nvSpPr>
            <p:cNvPr id="17" name="Rectangle 17"/>
            <p:cNvSpPr/>
            <p:nvPr/>
          </p:nvSpPr>
          <p:spPr>
            <a:xfrm>
              <a:off x="5598795" y="3486150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608320" y="361950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40730" y="368998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4187" y="37257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上一页的例子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33491" y="4062889"/>
              <a:ext cx="53705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“最大元素是否为正”的算法能顺便回答“是否有 true”，所以后者不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比前者难。</a:t>
              </a:r>
            </a:p>
          </p:txBody>
        </p:sp>
      </p:grpSp>
      <p:grpSp>
        <p:nvGrpSpPr>
          <p:cNvPr id="32" name="c2-card-3"/>
          <p:cNvGrpSpPr/>
          <p:nvPr/>
        </p:nvGrpSpPr>
        <p:grpSpPr>
          <a:xfrm>
            <a:off x="5598795" y="4946332"/>
            <a:ext cx="6059805" cy="1342072"/>
            <a:chOff x="5598795" y="4946332"/>
            <a:chExt cx="6059805" cy="1342072"/>
          </a:xfrm>
        </p:grpSpPr>
        <p:sp>
          <p:nvSpPr>
            <p:cNvPr id="23" name="Rectangle 23"/>
            <p:cNvSpPr/>
            <p:nvPr/>
          </p:nvSpPr>
          <p:spPr>
            <a:xfrm>
              <a:off x="5598795" y="4946332"/>
              <a:ext cx="6059805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608320" y="5079682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40730" y="51501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31891" y="51858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2138" y="519064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方向别弄反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48350" y="560165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04941" y="5542121"/>
              <a:ext cx="40504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想说明新问题 L 很难：把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已知的难问题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归约到 L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48350" y="592169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04941" y="5862161"/>
              <a:ext cx="5299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L 归约到难问题，只能说明 L 不比那个问题难，推不出 L 难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04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36" y="407194"/>
              <a:ext cx="2107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P、NP 与归约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多项式时间归约及其传递性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252662"/>
            <a:chOff x="533400" y="1524000"/>
            <a:chExt cx="5193982" cy="2252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多项式时间归约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72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是问题 L₁ 归约到 L₂ 的转换函数，如果计算 T 的算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法是多项式级的，则称 L₁ 可以多项式时间归约到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L₂，记为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L₁ ≤ₚ L₂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（或 L₁ ∝ₚ L₂）。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4076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称为归约函数，计算 T 的算法称为归约算法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36851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下文讨论的归约均指多项式时间归约。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967162"/>
            <a:ext cx="5193982" cy="1365885"/>
            <a:chOff x="533400" y="3967162"/>
            <a:chExt cx="5193982" cy="1365885"/>
          </a:xfrm>
        </p:grpSpPr>
        <p:sp>
          <p:nvSpPr>
            <p:cNvPr id="17" name="Rectangle 17"/>
            <p:cNvSpPr/>
            <p:nvPr/>
          </p:nvSpPr>
          <p:spPr>
            <a:xfrm>
              <a:off x="533400" y="3967162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4176712"/>
              <a:ext cx="121634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7789" y="4212431"/>
              <a:ext cx="1065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 L₁ ≤ₚ L₂ 时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461676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4553902"/>
              <a:ext cx="348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L₂ 多项式级可解 ⇒ L₁ 也多项式级可解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48665" y="495204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4889182"/>
              <a:ext cx="4088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L₂ 指数级可解 ⇒ L₁ 也能在指数级时间内解决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6032182" y="1533525"/>
            <a:ext cx="5212970" cy="3234023"/>
            <a:chOff x="6032182" y="1533525"/>
            <a:chExt cx="5212970" cy="3234023"/>
          </a:xfrm>
        </p:grpSpPr>
        <p:sp>
          <p:nvSpPr>
            <p:cNvPr id="25" name="Rectangle 25"/>
            <p:cNvSpPr/>
            <p:nvPr/>
          </p:nvSpPr>
          <p:spPr>
            <a:xfrm>
              <a:off x="6165532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32182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2580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32182" y="33042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5806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32182" y="41900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5806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3662" y="156781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806" y="1861661"/>
              <a:ext cx="480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≤ₚ L₂ 的归约函数为 T₁，时间 p₁(|x|)；L₂ ≤ₚ L₃ 的归约函数为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T₂，时间 p₂(|y|)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3662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接起来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806" y="2746534"/>
              <a:ext cx="474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T(x) = T₂(T₁(x))，则 L₁ 对 x 答 yes ⇔ L₂ 对 T₁(x) 答 yes 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 对 T(x) 答 yes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3662" y="33385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算时间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806" y="3632359"/>
              <a:ext cx="47759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 在 p₁(|x|) 步内最多写出 p₁(|x|) 个符号，所以计算 T 的时间 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p₁(|x|) + p₂(p₁(|x|))，多项式代入多项式仍是多项式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3662" y="42243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4806" y="4518184"/>
              <a:ext cx="4764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多项式时间归约具有传递性：L₁ ≤ₚ L₂，L₂ ≤ₚ L₃ ⇒ L₁ ≤ₚ L₃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122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易错：证明归约时只证“x 答 yes ⇒ T(x) 答 yes”不够，还要证“T(x) 答 yes ⇒ x 答 yes”。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626715" cy="3351847"/>
            <a:chOff x="667512" y="1835468"/>
            <a:chExt cx="562671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267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完全问题与 Cook 定理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245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找出 NP 中最难的一类问题，并确认这样的问题确实存在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90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完全与 NP 难的定义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30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NPC 的意义与证明 NPC 的两步法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 问题及其不确定算法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46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Cook 定理与四类问题的关系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52784" cy="909257"/>
            <a:chOff x="520446" y="342900"/>
            <a:chExt cx="395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5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完全问题与 NP 难问题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760595" cy="2117408"/>
            <a:chOff x="533400" y="1524000"/>
            <a:chExt cx="4760595" cy="2117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250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问题 L 是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（NPC）的，当满足：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3631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375535"/>
              <a:ext cx="551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∈ NP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66604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678430"/>
              <a:ext cx="2505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对于每个 L′ ∈ NP，有 L′ ≤ₚ 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2980372"/>
              <a:ext cx="411480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问题 L 是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（NP-hard）的，当满足第 2 条，不要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L ∈ NP。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815715"/>
            <a:ext cx="4760595" cy="1768792"/>
            <a:chOff x="533400" y="3815715"/>
            <a:chExt cx="4760595" cy="1768792"/>
          </a:xfrm>
        </p:grpSpPr>
        <p:sp>
          <p:nvSpPr>
            <p:cNvPr id="20" name="Rectangle 20"/>
            <p:cNvSpPr/>
            <p:nvPr/>
          </p:nvSpPr>
          <p:spPr>
            <a:xfrm>
              <a:off x="533400" y="3815715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94906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4008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3343" y="4042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怎样套定义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44215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4365308"/>
              <a:ext cx="39056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最大团判定：属于 NP（DCK），且已知 SAT ≤ₚ 它，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NPC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2478" y="498062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8497" y="4924425"/>
              <a:ext cx="39142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停机问题：SAT ≤ₚ 它，但它不可判定、不属于 NP，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 NP 难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598795" y="1524000"/>
            <a:ext cx="6059805" cy="2463166"/>
            <a:chOff x="5598795" y="1524000"/>
            <a:chExt cx="6059805" cy="2463166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86081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83662" y="1651635"/>
              <a:ext cx="65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NP 完全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7683" y="1651635"/>
              <a:ext cx="477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NP 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97664" y="2096452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是否属于 NP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1164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一定属于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4317" y="20964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24088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98795" y="2413635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7664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1164" y="2541270"/>
              <a:ext cx="100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NPC ⊆ NP 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94317" y="2541270"/>
              <a:ext cx="1172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NPC 范围广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28527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7664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1164" y="2986088"/>
              <a:ext cx="1372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中最难的一类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4317" y="2986088"/>
              <a:ext cx="2081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可能比所有 NPC 问题都难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2975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598795" y="3302318"/>
              <a:ext cx="605980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7664" y="355092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31164" y="3550920"/>
              <a:ext cx="2147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SAT、最大团判定、子集和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94317" y="3430905"/>
              <a:ext cx="196824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NPC 问题；停机问题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（不可判定，不属于 NP）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1524000"/>
              <a:ext cx="6059805" cy="24631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27532" y="1524000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90685" y="1524000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5598795" y="4162425"/>
            <a:ext cx="6059805" cy="1423035"/>
            <a:chOff x="5598795" y="4162425"/>
            <a:chExt cx="6059805" cy="1423035"/>
          </a:xfrm>
        </p:grpSpPr>
        <p:sp>
          <p:nvSpPr>
            <p:cNvPr id="54" name="Rectangle 54"/>
            <p:cNvSpPr/>
            <p:nvPr/>
          </p:nvSpPr>
          <p:spPr>
            <a:xfrm>
              <a:off x="5598795" y="4162425"/>
              <a:ext cx="6059805" cy="1423035"/>
            </a:xfrm>
            <a:prstGeom prst="roundRect">
              <a:avLst>
                <a:gd name="adj" fmla="val 803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803583" y="4773930"/>
              <a:ext cx="200026" cy="200026"/>
              <a:chOff x="5803583" y="4773930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803583" y="47739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903595" y="48406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892483" y="48739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106287" y="4654868"/>
              <a:ext cx="48828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难问题同样难以找到多项式时间算法。停机问题连算法都不存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在，比任何 NPC 问题都难。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1" name="Rectangle 6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5395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NP 完全 = NP ∩ NP 难。判断一个问题是不是 NPC，两条缺一不可。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7618" cy="909257"/>
            <a:chOff x="520446" y="342900"/>
            <a:chExt cx="85276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76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NPC 的意义：只要一个 NPC 问题有多项式算法，P = NP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74445"/>
            <a:chOff x="533400" y="1524000"/>
            <a:chExt cx="5626418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525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所有 NP 问题都可以多项式时间归约到一个 NPC 问题。因此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NP 的充要条件是存在 NPC 问题 L ∈ P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steps-2"/>
          <p:cNvGrpSpPr/>
          <p:nvPr/>
        </p:nvGrpSpPr>
        <p:grpSpPr>
          <a:xfrm>
            <a:off x="533400" y="2993708"/>
            <a:ext cx="5378196" cy="1611058"/>
            <a:chOff x="533400" y="2993708"/>
            <a:chExt cx="5378196" cy="1611058"/>
          </a:xfrm>
        </p:grpSpPr>
        <p:sp>
          <p:nvSpPr>
            <p:cNvPr id="13" name="Rectangle 13"/>
            <p:cNvSpPr/>
            <p:nvPr/>
          </p:nvSpPr>
          <p:spPr>
            <a:xfrm>
              <a:off x="666750" y="3136582"/>
              <a:ext cx="19050" cy="842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937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067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3571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95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65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7080"/>
              <a:ext cx="4751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L 是 NPC 且 L ∈ P。任取 L′ ∈ NP，有 L′ ≤ₚ L；L 多项式可解，所以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L′ 也多项式可解，L′ ∈ P。于是 NP ⊆ P，又有 P ⊆ NP，得 P = NP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8685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4149090"/>
              <a:ext cx="4965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 = NP，任取一个 NPC 问题（Cook 定理保证 SAT 就是），它属于 NP，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也就属于 P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780598"/>
            <a:ext cx="5626418" cy="1545908"/>
            <a:chOff x="533400" y="4780598"/>
            <a:chExt cx="5626418" cy="1545908"/>
          </a:xfrm>
        </p:grpSpPr>
        <p:sp>
          <p:nvSpPr>
            <p:cNvPr id="23" name="Rectangle 23"/>
            <p:cNvSpPr/>
            <p:nvPr/>
          </p:nvSpPr>
          <p:spPr>
            <a:xfrm>
              <a:off x="533400" y="4780598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91394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498443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0445" y="50201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5358289"/>
              <a:ext cx="487464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假如有人给出 SAT 的 O(n³) 确定算法，那么最大团判定、子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集和、0/1 背包判定都立刻有多项式时间算法：先用多项式时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间归约把实例转换成 SAT 实例，再调用这个算法。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464618" y="1524000"/>
            <a:ext cx="5193982" cy="1594485"/>
            <a:chOff x="6464618" y="1524000"/>
            <a:chExt cx="5193982" cy="159448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594485"/>
            </a:xfrm>
            <a:prstGeom prst="roundRect">
              <a:avLst>
                <a:gd name="adj" fmla="val 83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68452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0761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676072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32664" y="2100739"/>
              <a:ext cx="4344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P ≠ NP，则任何 NPC 问题都没有多项式时间算法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76072" y="24812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32664" y="2420779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只要证明某一个 NPC 问题没有多项式时间算法，就证明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 P ≠ NP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3304222"/>
            <a:ext cx="5193982" cy="3023235"/>
            <a:chOff x="6464618" y="3304222"/>
            <a:chExt cx="5193982" cy="3023235"/>
          </a:xfrm>
        </p:grpSpPr>
        <p:sp>
          <p:nvSpPr>
            <p:cNvPr id="37" name="Rectangle 37"/>
            <p:cNvSpPr/>
            <p:nvPr/>
          </p:nvSpPr>
          <p:spPr>
            <a:xfrm>
              <a:off x="6464618" y="3304222"/>
              <a:ext cx="5193982" cy="3023235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3437572"/>
              <a:ext cx="47625" cy="27565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06552" y="350805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88861" y="35437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实际用途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9314" y="3880961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遇到一个已知是 NPC 的问题，不必再花力气找多项式时间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的精确算法，可以改用：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4172" y="453294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0764" y="447246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小规模时的精确算法：回溯法、分支限界法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4172" y="48529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0764" y="479250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大规模时的近似算法或启发式算法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95248" cy="909257"/>
            <a:chOff x="520446" y="342900"/>
            <a:chExt cx="8795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95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NPC 的捷径：属于 NP，再从已知 NPC 问题归约过来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12582"/>
            <a:chOff x="533400" y="1524000"/>
            <a:chExt cx="5626418" cy="1612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捷径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根据多项式时间归约的传递性：对于问题 L ∈ NP，如果存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NPC 问题 L′ 使得 L′ ≤ₚ L，则 L 是 NPC 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4239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任取 L″ ∈ NP，有 L″ ≤ₚ L′ ≤ₚ L，由传递性 L″ ≤ₚ L。</a:t>
              </a:r>
            </a:p>
          </p:txBody>
        </p:sp>
      </p:grpSp>
      <p:grpSp>
        <p:nvGrpSpPr>
          <p:cNvPr id="23" name="c1-steps-2"/>
          <p:cNvGrpSpPr/>
          <p:nvPr/>
        </p:nvGrpSpPr>
        <p:grpSpPr>
          <a:xfrm>
            <a:off x="533400" y="3336608"/>
            <a:ext cx="5632049" cy="1462373"/>
            <a:chOff x="533400" y="3336608"/>
            <a:chExt cx="5632049" cy="1462373"/>
          </a:xfrm>
        </p:grpSpPr>
        <p:sp>
          <p:nvSpPr>
            <p:cNvPr id="14" name="Rectangle 14"/>
            <p:cNvSpPr/>
            <p:nvPr/>
          </p:nvSpPr>
          <p:spPr>
            <a:xfrm>
              <a:off x="666750" y="3479482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366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10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871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609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370898"/>
              <a:ext cx="1963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步：证明 L ∈ NP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664744"/>
              <a:ext cx="5219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 L 的不确定算法，说明它的猜想阶段和验证阶段都是多项式时间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021455"/>
              <a:ext cx="2086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步：证明 L′ ≤ₚ 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315301"/>
              <a:ext cx="4857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选一个已知的 NPC 问题 L′，从 L′ 的任意实例 I′ 在多项式时间内构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造出 L 的一个实例 I，并证明 I′ 答是 ⇔ I 答是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977765"/>
            <a:ext cx="5626418" cy="874395"/>
            <a:chOff x="533400" y="4977765"/>
            <a:chExt cx="5626418" cy="874395"/>
          </a:xfrm>
        </p:grpSpPr>
        <p:sp>
          <p:nvSpPr>
            <p:cNvPr id="24" name="Rectangle 24"/>
            <p:cNvSpPr/>
            <p:nvPr/>
          </p:nvSpPr>
          <p:spPr>
            <a:xfrm>
              <a:off x="533400" y="4977765"/>
              <a:ext cx="5626418" cy="874395"/>
            </a:xfrm>
            <a:prstGeom prst="roundRect">
              <a:avLst>
                <a:gd name="adj" fmla="val 130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314950"/>
              <a:ext cx="200026" cy="200025"/>
              <a:chOff x="738188" y="5314950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3149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3594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4705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172075"/>
              <a:ext cx="4682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本章实例：L = 子集和，L′ = 恰好覆盖。第 1 步见第 41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 SUBSETSUM，第 2 步见第 42–44 页的构造。</a:t>
              </a:r>
            </a:p>
          </p:txBody>
        </p:sp>
      </p:grpSp>
      <p:grpSp>
        <p:nvGrpSpPr>
          <p:cNvPr id="45" name="c2-flow-1"/>
          <p:cNvGrpSpPr/>
          <p:nvPr/>
        </p:nvGrpSpPr>
        <p:grpSpPr>
          <a:xfrm>
            <a:off x="6828472" y="1702118"/>
            <a:ext cx="4466272" cy="2025014"/>
            <a:chOff x="6828472" y="1702118"/>
            <a:chExt cx="4466272" cy="2025014"/>
          </a:xfrm>
        </p:grpSpPr>
        <p:sp>
          <p:nvSpPr>
            <p:cNvPr id="31" name="Freeform 31"/>
            <p:cNvSpPr/>
            <p:nvPr/>
          </p:nvSpPr>
          <p:spPr>
            <a:xfrm>
              <a:off x="9062085" y="2140268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09698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2933700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09698" y="31842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1702118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28472" y="2495550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28472" y="3288982"/>
              <a:ext cx="4466272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83773" y="1832134"/>
              <a:ext cx="1556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中的所有问题 L″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2551" y="2625566"/>
              <a:ext cx="153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已知的 NPC 问题 L′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88792" y="3418999"/>
              <a:ext cx="2146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待证问题 L（已证 L ∈ NP）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90660" y="2225992"/>
              <a:ext cx="82200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13901" y="2252662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≤ₚ（已知）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90660" y="3019425"/>
              <a:ext cx="82200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13901" y="3046095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≤ₚ（要证）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464618" y="4095750"/>
            <a:ext cx="5193982" cy="782955"/>
            <a:chOff x="6464618" y="4095750"/>
            <a:chExt cx="5193982" cy="782955"/>
          </a:xfrm>
        </p:grpSpPr>
        <p:sp>
          <p:nvSpPr>
            <p:cNvPr id="46" name="Rectangle 46"/>
            <p:cNvSpPr/>
            <p:nvPr/>
          </p:nvSpPr>
          <p:spPr>
            <a:xfrm>
              <a:off x="6464618" y="409575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57347" y="4383523"/>
              <a:ext cx="224134" cy="192560"/>
              <a:chOff x="6657347" y="4383523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9418" y="4453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7347" y="4383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69418" y="4531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4244340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方向不能反。证明 L ≤ₚ L′ 只说明 L 不比 L′ 难，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推不出 L 是 NPC。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464618" y="5069205"/>
            <a:ext cx="5193982" cy="782955"/>
            <a:chOff x="6464618" y="5069205"/>
            <a:chExt cx="5193982" cy="782955"/>
          </a:xfrm>
        </p:grpSpPr>
        <p:sp>
          <p:nvSpPr>
            <p:cNvPr id="53" name="Rectangle 53"/>
            <p:cNvSpPr/>
            <p:nvPr/>
          </p:nvSpPr>
          <p:spPr>
            <a:xfrm>
              <a:off x="6464618" y="506920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69405" y="5360670"/>
              <a:ext cx="200026" cy="200026"/>
              <a:chOff x="6669405" y="536067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669405" y="53606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9418" y="54273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58305" y="54606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1348" y="5217795"/>
              <a:ext cx="4253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这个方法需要一个起点：是否存在 NPC 问题？第一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NPC 问题是什么？答案是 Cook 定理。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9927" cy="909257"/>
            <a:chOff x="520446" y="342900"/>
            <a:chExt cx="75199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9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可满足性问题（SAT）：给定的合取范式能否取真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15549" cy="308039"/>
            <a:chOff x="525399" y="1550194"/>
            <a:chExt cx="571554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1554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问题描述：对于任意给定的一个合取范式 F，F 是否可满足？</a:t>
              </a:r>
            </a:p>
          </p:txBody>
        </p:sp>
      </p:grpSp>
      <p:grpSp>
        <p:nvGrpSpPr>
          <p:cNvPr id="26" name="c1-kv-1"/>
          <p:cNvGrpSpPr/>
          <p:nvPr/>
        </p:nvGrpSpPr>
        <p:grpSpPr>
          <a:xfrm>
            <a:off x="525780" y="1992630"/>
            <a:ext cx="5958840" cy="3057525"/>
            <a:chOff x="525780" y="1992630"/>
            <a:chExt cx="5958840" cy="305752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布尔变量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2640" y="1992630"/>
              <a:ext cx="3750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x₂, …, xₙ，取值为真（1）或假（0）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3126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43268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文字 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72640" y="243268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一个变量 xᵢ 或它的非 ¬xᵢ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527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28727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合取与析取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2640" y="2872740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 表示与关系，∨ 表示或关系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927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312795"/>
              <a:ext cx="732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子式 Aⱼ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72640" y="3312795"/>
              <a:ext cx="2317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若干文字的析取，形如 ∨σ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63283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3752850"/>
              <a:ext cx="77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合取范式</a:t>
              </a:r>
              <a:br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（CNF）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72640" y="3752850"/>
              <a:ext cx="2710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形如 A₁ ∧ A₂ ∧ … ∧ Aₖ 的公式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3548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5780" y="4474845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 可满足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72640" y="4474845"/>
              <a:ext cx="4044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存在对 x₁, x₂, …, xₙ 的一组赋值，使 F 的值为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789420" y="1967865"/>
            <a:ext cx="4869180" cy="2146935"/>
            <a:chOff x="6789420" y="1967865"/>
            <a:chExt cx="4869180" cy="2146935"/>
          </a:xfrm>
        </p:grpSpPr>
        <p:sp>
          <p:nvSpPr>
            <p:cNvPr id="27" name="Rectangle 27"/>
            <p:cNvSpPr/>
            <p:nvPr/>
          </p:nvSpPr>
          <p:spPr>
            <a:xfrm>
              <a:off x="6789420" y="1967865"/>
              <a:ext cx="4869180" cy="2146935"/>
            </a:xfrm>
            <a:prstGeom prst="roundRect">
              <a:avLst>
                <a:gd name="adj" fmla="val 62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98945" y="2101215"/>
              <a:ext cx="47625" cy="18802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37070" y="21774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32180" y="2213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5223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一个合取范式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0"/>
                <p:cNvSpPr txBox="1">
                  <a:spLocks noGrp="1"/>
                </p:cNvSpPr>
                <p:nvPr/>
              </p:nvSpPr>
              <p:spPr>
                <a:xfrm>
                  <a:off x="7037070" y="2548890"/>
                  <a:ext cx="441198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¬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∧¬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Ellipse 33"/>
            <p:cNvSpPr/>
            <p:nvPr/>
          </p:nvSpPr>
          <p:spPr>
            <a:xfrm>
              <a:off x="7042785" y="31127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00900" y="3049905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个子式：A₁ = x₁ ∨ x₂，A₂ = ¬x₁ ∨ x₂ 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x₃，A₃ = ¬x₂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042785" y="37338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0900" y="3670935"/>
              <a:ext cx="2737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子式可以只有一个文字，如 A₃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789420" y="4305300"/>
            <a:ext cx="4869180" cy="782955"/>
            <a:chOff x="6789420" y="4305300"/>
            <a:chExt cx="4869180" cy="782955"/>
          </a:xfrm>
        </p:grpSpPr>
        <p:sp>
          <p:nvSpPr>
            <p:cNvPr id="38" name="Rectangle 38"/>
            <p:cNvSpPr/>
            <p:nvPr/>
          </p:nvSpPr>
          <p:spPr>
            <a:xfrm>
              <a:off x="6789420" y="430530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994208" y="4596767"/>
              <a:ext cx="200023" cy="200023"/>
              <a:chOff x="6994208" y="4596767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94208" y="45967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27558" y="46634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96150" y="445389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为真 ⇔ 每个子式中至少有一个文字为真。判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断赋值是否满足 F，逐个子式检查即可。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728335"/>
              <a:ext cx="10035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 Cook 定理图中的两个变形：3SAT 要求每个子式恰有 3 个文字；最大可满足性问能否找到赋值，使至少 k 个子式为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11025" cy="909257"/>
            <a:chOff x="520446" y="342900"/>
            <a:chExt cx="56110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110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 实例：F₁ 可满足，F₂ 不可满足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760595" cy="4819650"/>
            <a:chOff x="533400" y="1524000"/>
            <a:chExt cx="4760595" cy="4819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819650"/>
            </a:xfrm>
            <a:prstGeom prst="roundRect">
              <a:avLst>
                <a:gd name="adj" fmla="val 2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52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4582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991" y="1769269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F₁ 可满足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3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30339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¬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∧¬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81050" y="25165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5587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529840"/>
              <a:ext cx="250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子式 ¬x₂ 为真，必须 x₂ = 0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8517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8940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865120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子式 x₁ ∨ x₂ 为真，必须 x₁ = 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1870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2293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20040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子式 ¬x₁ ∨ x₂ ∨ x₃ 中前两个文字为假，必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 x₃ =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3818096"/>
              <a:ext cx="4044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(x₁, x₂, x₃) = (1, 0, 1)，F₁ 成真，F₁ 是可满足的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（这也是唯一的成真赋值）。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5598795" y="1524000"/>
            <a:ext cx="6059805" cy="4819650"/>
            <a:chOff x="5598795" y="1524000"/>
            <a:chExt cx="6059805" cy="4819650"/>
          </a:xfrm>
        </p:grpSpPr>
        <p:sp>
          <p:nvSpPr>
            <p:cNvPr id="23" name="Rectangle 23"/>
            <p:cNvSpPr/>
            <p:nvPr/>
          </p:nvSpPr>
          <p:spPr>
            <a:xfrm>
              <a:off x="5598795" y="1524000"/>
              <a:ext cx="6059805" cy="4819650"/>
            </a:xfrm>
            <a:prstGeom prst="roundRect">
              <a:avLst>
                <a:gd name="adj" fmla="val 27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608320" y="1657350"/>
              <a:ext cx="47625" cy="45529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46445" y="1733550"/>
              <a:ext cx="98774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6437" y="176926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F₂ 不可满足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4"/>
                <p:cNvSpPr txBox="1">
                  <a:spLocks noGrp="1"/>
                </p:cNvSpPr>
                <p:nvPr/>
              </p:nvSpPr>
              <p:spPr>
                <a:xfrm>
                  <a:off x="5846445" y="2085975"/>
                  <a:ext cx="560260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∨¬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¬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∨¬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∨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∧¬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5838825" y="2529840"/>
              <a:ext cx="5253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子式依次记为 A₁、A₂、A₃ = x₂、A₄ = ¬x₃。按 (x₂, x₃) 分组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检查全部 8 种赋值：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46445" y="3126105"/>
              <a:ext cx="56026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0807" y="3261836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(x₂, x₃)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1619" y="326183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26754" y="32618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为假的子式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88802" y="326183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80318" y="3710464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88507" y="3710464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3106" y="3710464"/>
              <a:ext cx="606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 = x₂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46559" y="37104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46445" y="4018598"/>
              <a:ext cx="56026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46445" y="4023360"/>
              <a:ext cx="56026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80318" y="4159091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88507" y="4159091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83106" y="4159091"/>
              <a:ext cx="695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 和 A₄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46559" y="41590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46445" y="4468178"/>
              <a:ext cx="56026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80318" y="4607719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8507" y="4607719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83106" y="4607719"/>
              <a:ext cx="703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 = ¬x₃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46559" y="46077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46445" y="4916805"/>
              <a:ext cx="56026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46445" y="4921568"/>
              <a:ext cx="56026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80318" y="505634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73744" y="505634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84808" y="4931092"/>
              <a:ext cx="25584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83106" y="5056346"/>
              <a:ext cx="148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= x₁ ∨ ¬x₂ ∨ x₃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46559" y="505634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46445" y="5365432"/>
              <a:ext cx="56026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80318" y="550592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73744" y="55059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84808" y="5379720"/>
              <a:ext cx="25584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83106" y="5505926"/>
              <a:ext cx="1576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 = ¬x₁ ∨ ¬x₂ ∨ x₃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46559" y="55059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46445" y="3126105"/>
              <a:ext cx="560260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74218" y="312610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970520" y="312610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547985" y="312610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39968" y="5935504"/>
              <a:ext cx="50667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种赋值都使某个子式为假，F₂ 不存在成真赋值，不是可满足的。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0114" cy="909257"/>
            <a:chOff x="520446" y="342900"/>
            <a:chExt cx="50001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01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 属于 NP：不确定算法 EVAL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193982" cy="2951798"/>
            <a:chOff x="533400" y="1524000"/>
            <a:chExt cx="5193982" cy="29517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951798"/>
            </a:xfrm>
            <a:prstGeom prst="roundRect">
              <a:avLst>
                <a:gd name="adj" fmla="val 322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EVAL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85110"/>
              <a:ext cx="5155882" cy="2228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230880"/>
              <a:ext cx="5155882" cy="2228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0464" y="1940004"/>
              <a:ext cx="3280283" cy="2470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EVAL(F, n)</a:t>
              </a:r>
              <a:br/>
              <a:r>
                <a:rPr lang="zh-CN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2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 是否可满足，变量 xᵢ，1 ≤ i ≤ n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boolean x(1:n)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 do   </a:t>
              </a:r>
              <a:r>
                <a:rPr lang="zh-CN" sz="12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选一组真值指派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xᵢ ← choice(true, false)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F(x₁, …, xₙ) = true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 success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failure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2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EVAL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661535"/>
            <a:ext cx="5193982" cy="1450658"/>
            <a:chOff x="533400" y="4661535"/>
            <a:chExt cx="5193982" cy="1450658"/>
          </a:xfrm>
        </p:grpSpPr>
        <p:sp>
          <p:nvSpPr>
            <p:cNvPr id="13" name="Rectangle 13"/>
            <p:cNvSpPr/>
            <p:nvPr/>
          </p:nvSpPr>
          <p:spPr>
            <a:xfrm>
              <a:off x="533400" y="4661535"/>
              <a:ext cx="5193982" cy="1450658"/>
            </a:xfrm>
            <a:prstGeom prst="roundRect">
              <a:avLst>
                <a:gd name="adj" fmla="val 9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794885"/>
              <a:ext cx="47625" cy="11839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486537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1593" y="49010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5238274"/>
              <a:ext cx="41442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可满足 ⇔ 存在一组 choice 选择使 F(x₁, …, xₙ)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⇔ EVAL 输出 1。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032182" y="1524000"/>
            <a:ext cx="5626418" cy="1914525"/>
            <a:chOff x="6032182" y="1524000"/>
            <a:chExt cx="5626418" cy="1914525"/>
          </a:xfrm>
        </p:grpSpPr>
        <p:sp>
          <p:nvSpPr>
            <p:cNvPr id="19" name="Rectangle 19"/>
            <p:cNvSpPr/>
            <p:nvPr/>
          </p:nvSpPr>
          <p:spPr>
            <a:xfrm>
              <a:off x="6032182" y="1524000"/>
              <a:ext cx="5626418" cy="1914525"/>
            </a:xfrm>
            <a:prstGeom prst="roundRect">
              <a:avLst>
                <a:gd name="adj" fmla="val 696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36018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6226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43638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229" y="2100739"/>
              <a:ext cx="2627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猜想阶段：n 次 choice，O(n)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43638" y="24812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229" y="2420779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验证阶段：代入赋值，逐个子式求值，时间与公式长度 |F| 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正比，O(|F|)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3638" y="307276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229" y="3012281"/>
              <a:ext cx="49576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合计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O(n + |F|)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，相对输入长度是线性的，所以 SAT ∈ NP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032182" y="3624262"/>
            <a:ext cx="5626418" cy="1545908"/>
            <a:chOff x="6032182" y="3624262"/>
            <a:chExt cx="5626418" cy="1545908"/>
          </a:xfrm>
        </p:grpSpPr>
        <p:sp>
          <p:nvSpPr>
            <p:cNvPr id="29" name="Rectangle 29"/>
            <p:cNvSpPr/>
            <p:nvPr/>
          </p:nvSpPr>
          <p:spPr>
            <a:xfrm>
              <a:off x="6032182" y="3624262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375761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74118" y="38280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4326" y="38638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66879" y="4201001"/>
              <a:ext cx="498284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EVAL 的时间记为 O(n)，只算了猜想阶段。计算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F(x₁, …, xₙ) 需要扫描整个公式，公式可以比 n 长得多（例如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有很多子式）。结论 SAT ∈ NP 不受影响。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6032182" y="5355908"/>
            <a:ext cx="5626418" cy="756285"/>
            <a:chOff x="6032182" y="5355908"/>
            <a:chExt cx="5626418" cy="756285"/>
          </a:xfrm>
        </p:grpSpPr>
        <p:sp>
          <p:nvSpPr>
            <p:cNvPr id="35" name="Rectangle 35"/>
            <p:cNvSpPr/>
            <p:nvPr/>
          </p:nvSpPr>
          <p:spPr>
            <a:xfrm>
              <a:off x="6032182" y="5355908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236970" y="5634038"/>
              <a:ext cx="200026" cy="200025"/>
              <a:chOff x="6236970" y="563403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236970" y="56340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276709" y="56784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311424" y="57896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539294" y="5503069"/>
              <a:ext cx="461314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确定地求解 SAT 要逐个尝试 2ⁿ 组赋值，F₂ 的 8 行真值表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就是 n = 3 时的穷举。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79081" cy="909257"/>
            <a:chOff x="520446" y="342900"/>
            <a:chExt cx="74790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790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Cook 定理：SAT 是第一个被证明的 NP 完全问题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3198495"/>
            <a:chOff x="533400" y="1524000"/>
            <a:chExt cx="4977765" cy="3198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98495"/>
            </a:xfrm>
            <a:prstGeom prst="roundRect">
              <a:avLst>
                <a:gd name="adj" fmla="val 41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317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6772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6" y="1769269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Cook 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5457" y="1768792"/>
              <a:ext cx="1640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 是 NP 完全的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即任何 NP 问题都可以在多项式时间内归约为 SAT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3623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 是第一个 NPC 问题（Cook，1971）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证明略。思路是把不确定算法在多项式时间内的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执行过程写成一个合取范式，执行能到达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 当且仅当这个公式可满足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0557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992880"/>
              <a:ext cx="4110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SAT 为起点不断归约，现在已知的 NPC 问题超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3000 个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912995"/>
            <a:ext cx="4977765" cy="1059180"/>
            <a:chOff x="533400" y="4912995"/>
            <a:chExt cx="4977765" cy="1059180"/>
          </a:xfrm>
        </p:grpSpPr>
        <p:sp>
          <p:nvSpPr>
            <p:cNvPr id="20" name="Rectangle 20"/>
            <p:cNvSpPr/>
            <p:nvPr/>
          </p:nvSpPr>
          <p:spPr>
            <a:xfrm>
              <a:off x="533400" y="4912995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342575"/>
              <a:ext cx="200023" cy="200023"/>
              <a:chOff x="738188" y="5342575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3425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409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061585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 L ∈ NP 是 NPC 的关键，在于从已知 NPC 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 L′ 的实例 I′ 出发，在多项式时间内构建出 L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的一个实例 I。</a:t>
              </a:r>
            </a:p>
          </p:txBody>
        </p:sp>
      </p:grpSp>
      <p:grpSp>
        <p:nvGrpSpPr>
          <p:cNvPr id="52" name="c2-tree-1"/>
          <p:cNvGrpSpPr/>
          <p:nvPr/>
        </p:nvGrpSpPr>
        <p:grpSpPr>
          <a:xfrm>
            <a:off x="5983605" y="1706880"/>
            <a:ext cx="5153977" cy="2777490"/>
            <a:chOff x="5983605" y="1706880"/>
            <a:chExt cx="5153977" cy="2777490"/>
          </a:xfrm>
        </p:grpSpPr>
        <p:sp>
          <p:nvSpPr>
            <p:cNvPr id="26" name="Freeform 26"/>
            <p:cNvSpPr/>
            <p:nvPr/>
          </p:nvSpPr>
          <p:spPr>
            <a:xfrm>
              <a:off x="6545580" y="2703195"/>
              <a:ext cx="9525" cy="784860"/>
            </a:xfrm>
            <a:custGeom>
              <a:avLst/>
              <a:gdLst/>
              <a:ahLst/>
              <a:cxnLst/>
              <a:rect l="l" t="t" r="r" b="b"/>
              <a:pathLst>
                <a:path w="9525" h="784860">
                  <a:moveTo>
                    <a:pt x="0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006715" y="2703195"/>
              <a:ext cx="9525" cy="784860"/>
            </a:xfrm>
            <a:custGeom>
              <a:avLst/>
              <a:gdLst/>
              <a:ahLst/>
              <a:cxnLst/>
              <a:rect l="l" t="t" r="r" b="b"/>
              <a:pathLst>
                <a:path w="9525" h="784860">
                  <a:moveTo>
                    <a:pt x="0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467850" y="3488055"/>
              <a:ext cx="9525" cy="786765"/>
            </a:xfrm>
            <a:custGeom>
              <a:avLst/>
              <a:gdLst/>
              <a:ahLst/>
              <a:cxnLst/>
              <a:rect l="l" t="t" r="r" b="b"/>
              <a:pathLst>
                <a:path w="9525" h="786765">
                  <a:moveTo>
                    <a:pt x="0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467850" y="2703195"/>
              <a:ext cx="729615" cy="784860"/>
            </a:xfrm>
            <a:custGeom>
              <a:avLst/>
              <a:gdLst/>
              <a:ahLst/>
              <a:cxnLst/>
              <a:rect l="l" t="t" r="r" b="b"/>
              <a:pathLst>
                <a:path w="729615" h="784860">
                  <a:moveTo>
                    <a:pt x="729615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197465" y="2703195"/>
              <a:ext cx="730568" cy="784860"/>
            </a:xfrm>
            <a:custGeom>
              <a:avLst/>
              <a:gdLst/>
              <a:ahLst/>
              <a:cxnLst/>
              <a:rect l="l" t="t" r="r" b="b"/>
              <a:pathLst>
                <a:path w="730568" h="784860">
                  <a:moveTo>
                    <a:pt x="0" y="0"/>
                  </a:moveTo>
                  <a:lnTo>
                    <a:pt x="730568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45580" y="1916430"/>
              <a:ext cx="2191702" cy="786765"/>
            </a:xfrm>
            <a:custGeom>
              <a:avLst/>
              <a:gdLst/>
              <a:ahLst/>
              <a:cxnLst/>
              <a:rect l="l" t="t" r="r" b="b"/>
              <a:pathLst>
                <a:path w="2191702" h="786765">
                  <a:moveTo>
                    <a:pt x="2191702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06715" y="1916430"/>
              <a:ext cx="730567" cy="786765"/>
            </a:xfrm>
            <a:custGeom>
              <a:avLst/>
              <a:gdLst/>
              <a:ahLst/>
              <a:cxnLst/>
              <a:rect l="l" t="t" r="r" b="b"/>
              <a:pathLst>
                <a:path w="730567" h="786765">
                  <a:moveTo>
                    <a:pt x="730567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37282" y="1916430"/>
              <a:ext cx="1460182" cy="786765"/>
            </a:xfrm>
            <a:custGeom>
              <a:avLst/>
              <a:gdLst/>
              <a:ahLst/>
              <a:cxnLst/>
              <a:rect l="l" t="t" r="r" b="b"/>
              <a:pathLst>
                <a:path w="1460182" h="786765">
                  <a:moveTo>
                    <a:pt x="0" y="0"/>
                  </a:moveTo>
                  <a:lnTo>
                    <a:pt x="1460182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36030" y="327850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983605" y="2493645"/>
              <a:ext cx="11239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797165" y="327850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25728" y="2493645"/>
              <a:ext cx="56197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054465" y="4065270"/>
              <a:ext cx="826770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34475" y="3278505"/>
              <a:ext cx="666750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718482" y="327850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87890" y="2493645"/>
              <a:ext cx="819150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00110" y="1706880"/>
              <a:ext cx="473392" cy="419100"/>
            </a:xfrm>
            <a:prstGeom prst="roundRect">
              <a:avLst>
                <a:gd name="adj" fmla="val 18182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92838" y="3413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54852" y="26279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最大可满足性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53973" y="3413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03474" y="262794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3SAT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34829" y="4199572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19438" y="3413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75291" y="3413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68281" y="26279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恰好覆盖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83328" y="184213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SAT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5815965" y="4857750"/>
            <a:ext cx="5842635" cy="1114425"/>
            <a:chOff x="5815965" y="4857750"/>
            <a:chExt cx="5842635" cy="1114425"/>
          </a:xfrm>
        </p:grpSpPr>
        <p:sp>
          <p:nvSpPr>
            <p:cNvPr id="53" name="Rectangle 53"/>
            <p:cNvSpPr/>
            <p:nvPr/>
          </p:nvSpPr>
          <p:spPr>
            <a:xfrm>
              <a:off x="5815965" y="4857750"/>
              <a:ext cx="5842635" cy="1114425"/>
            </a:xfrm>
            <a:prstGeom prst="roundRect">
              <a:avLst>
                <a:gd name="adj" fmla="val 1025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20753" y="5314950"/>
              <a:ext cx="200026" cy="200026"/>
              <a:chOff x="6020753" y="531495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020753" y="53149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120765" y="5381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09653" y="54149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2695" y="5172075"/>
              <a:ext cx="4720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树中上层问题 ≤ₚ 下层问题。橙色一支就是第五部分要证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明的归约链。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96771" cy="909257"/>
            <a:chOff x="520446" y="342900"/>
            <a:chExt cx="54967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660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00" y="407194"/>
              <a:ext cx="2917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完全问题与 Cook 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967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P、NP、NP 完全、NP 难之间的关系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venn-neq"/>
          <p:cNvGrpSpPr/>
          <p:nvPr/>
        </p:nvGrpSpPr>
        <p:grpSpPr>
          <a:xfrm>
            <a:off x="533400" y="1524000"/>
            <a:ext cx="5448300" cy="3733800"/>
            <a:chOff x="533400" y="1524000"/>
            <a:chExt cx="5448300" cy="3733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48300" cy="3733800"/>
            </a:xfrm>
            <a:prstGeom prst="roundRect">
              <a:avLst>
                <a:gd name="adj" fmla="val 35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042" y="1683068"/>
              <a:ext cx="2637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若 P ≠ NP（多数研究者的猜想）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162050" y="3314700"/>
              <a:ext cx="3390900" cy="179070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2362200" y="2247900"/>
              <a:ext cx="3276600" cy="1962150"/>
            </a:xfrm>
            <a:custGeom>
              <a:avLst/>
              <a:gdLst/>
              <a:ahLst/>
              <a:cxnLst/>
              <a:rect l="l" t="t" r="r" b="b"/>
              <a:pathLst>
                <a:path w="3276600" h="1962150">
                  <a:moveTo>
                    <a:pt x="3276600" y="0"/>
                  </a:moveTo>
                  <a:lnTo>
                    <a:pt x="3275648" y="68580"/>
                  </a:lnTo>
                  <a:lnTo>
                    <a:pt x="3272790" y="137160"/>
                  </a:lnTo>
                  <a:lnTo>
                    <a:pt x="3268028" y="204788"/>
                  </a:lnTo>
                  <a:lnTo>
                    <a:pt x="3260407" y="273367"/>
                  </a:lnTo>
                  <a:lnTo>
                    <a:pt x="3251835" y="340995"/>
                  </a:lnTo>
                  <a:lnTo>
                    <a:pt x="3240405" y="407670"/>
                  </a:lnTo>
                  <a:lnTo>
                    <a:pt x="3228022" y="474345"/>
                  </a:lnTo>
                  <a:lnTo>
                    <a:pt x="3212782" y="541020"/>
                  </a:lnTo>
                  <a:lnTo>
                    <a:pt x="3196590" y="606742"/>
                  </a:lnTo>
                  <a:lnTo>
                    <a:pt x="3177540" y="671512"/>
                  </a:lnTo>
                  <a:lnTo>
                    <a:pt x="3157538" y="735330"/>
                  </a:lnTo>
                  <a:lnTo>
                    <a:pt x="3134678" y="798195"/>
                  </a:lnTo>
                  <a:lnTo>
                    <a:pt x="3110865" y="860108"/>
                  </a:lnTo>
                  <a:lnTo>
                    <a:pt x="3085148" y="921067"/>
                  </a:lnTo>
                  <a:lnTo>
                    <a:pt x="3057525" y="981075"/>
                  </a:lnTo>
                  <a:lnTo>
                    <a:pt x="3027998" y="1040130"/>
                  </a:lnTo>
                  <a:lnTo>
                    <a:pt x="2996565" y="1097280"/>
                  </a:lnTo>
                  <a:lnTo>
                    <a:pt x="2964180" y="1153478"/>
                  </a:lnTo>
                  <a:lnTo>
                    <a:pt x="2928938" y="1207770"/>
                  </a:lnTo>
                  <a:lnTo>
                    <a:pt x="2893695" y="1261110"/>
                  </a:lnTo>
                  <a:lnTo>
                    <a:pt x="2855595" y="1312545"/>
                  </a:lnTo>
                  <a:lnTo>
                    <a:pt x="2816543" y="1363028"/>
                  </a:lnTo>
                  <a:lnTo>
                    <a:pt x="2776538" y="1411605"/>
                  </a:lnTo>
                  <a:lnTo>
                    <a:pt x="2734628" y="1458278"/>
                  </a:lnTo>
                  <a:lnTo>
                    <a:pt x="2691765" y="1503045"/>
                  </a:lnTo>
                  <a:lnTo>
                    <a:pt x="2646998" y="1545908"/>
                  </a:lnTo>
                  <a:lnTo>
                    <a:pt x="2601278" y="1587818"/>
                  </a:lnTo>
                  <a:lnTo>
                    <a:pt x="2554605" y="1626870"/>
                  </a:lnTo>
                  <a:lnTo>
                    <a:pt x="2506028" y="1664018"/>
                  </a:lnTo>
                  <a:lnTo>
                    <a:pt x="2457450" y="1699260"/>
                  </a:lnTo>
                  <a:lnTo>
                    <a:pt x="2406968" y="1732597"/>
                  </a:lnTo>
                  <a:lnTo>
                    <a:pt x="2356485" y="1764030"/>
                  </a:lnTo>
                  <a:lnTo>
                    <a:pt x="2305050" y="1792605"/>
                  </a:lnTo>
                  <a:lnTo>
                    <a:pt x="2251710" y="1819275"/>
                  </a:lnTo>
                  <a:lnTo>
                    <a:pt x="2198370" y="1844040"/>
                  </a:lnTo>
                  <a:lnTo>
                    <a:pt x="2145030" y="1865947"/>
                  </a:lnTo>
                  <a:lnTo>
                    <a:pt x="2089785" y="1885950"/>
                  </a:lnTo>
                  <a:lnTo>
                    <a:pt x="2034540" y="1904047"/>
                  </a:lnTo>
                  <a:lnTo>
                    <a:pt x="1979295" y="1919288"/>
                  </a:lnTo>
                  <a:lnTo>
                    <a:pt x="1923097" y="1932622"/>
                  </a:lnTo>
                  <a:lnTo>
                    <a:pt x="1865947" y="1943100"/>
                  </a:lnTo>
                  <a:lnTo>
                    <a:pt x="1809750" y="1951672"/>
                  </a:lnTo>
                  <a:lnTo>
                    <a:pt x="1752600" y="1957388"/>
                  </a:lnTo>
                  <a:lnTo>
                    <a:pt x="1695450" y="1961197"/>
                  </a:lnTo>
                  <a:lnTo>
                    <a:pt x="1638300" y="1962150"/>
                  </a:lnTo>
                  <a:lnTo>
                    <a:pt x="1581150" y="1961197"/>
                  </a:lnTo>
                  <a:lnTo>
                    <a:pt x="1524000" y="1957388"/>
                  </a:lnTo>
                  <a:lnTo>
                    <a:pt x="1466850" y="1951672"/>
                  </a:lnTo>
                  <a:lnTo>
                    <a:pt x="1410653" y="1943100"/>
                  </a:lnTo>
                  <a:lnTo>
                    <a:pt x="1353503" y="1932622"/>
                  </a:lnTo>
                  <a:lnTo>
                    <a:pt x="1297305" y="1919288"/>
                  </a:lnTo>
                  <a:lnTo>
                    <a:pt x="1242060" y="1904047"/>
                  </a:lnTo>
                  <a:lnTo>
                    <a:pt x="1186815" y="1885950"/>
                  </a:lnTo>
                  <a:lnTo>
                    <a:pt x="1131570" y="1865947"/>
                  </a:lnTo>
                  <a:lnTo>
                    <a:pt x="1078230" y="1844040"/>
                  </a:lnTo>
                  <a:lnTo>
                    <a:pt x="1024890" y="1819275"/>
                  </a:lnTo>
                  <a:lnTo>
                    <a:pt x="971550" y="1792605"/>
                  </a:lnTo>
                  <a:lnTo>
                    <a:pt x="920115" y="1764030"/>
                  </a:lnTo>
                  <a:lnTo>
                    <a:pt x="869633" y="1732597"/>
                  </a:lnTo>
                  <a:lnTo>
                    <a:pt x="819150" y="1699260"/>
                  </a:lnTo>
                  <a:lnTo>
                    <a:pt x="770572" y="1664018"/>
                  </a:lnTo>
                  <a:lnTo>
                    <a:pt x="721995" y="1626870"/>
                  </a:lnTo>
                  <a:lnTo>
                    <a:pt x="675322" y="1587818"/>
                  </a:lnTo>
                  <a:lnTo>
                    <a:pt x="629603" y="1545908"/>
                  </a:lnTo>
                  <a:lnTo>
                    <a:pt x="584835" y="1503045"/>
                  </a:lnTo>
                  <a:lnTo>
                    <a:pt x="541972" y="1458278"/>
                  </a:lnTo>
                  <a:lnTo>
                    <a:pt x="500062" y="1411605"/>
                  </a:lnTo>
                  <a:lnTo>
                    <a:pt x="460058" y="1363028"/>
                  </a:lnTo>
                  <a:lnTo>
                    <a:pt x="421005" y="1312545"/>
                  </a:lnTo>
                  <a:lnTo>
                    <a:pt x="382905" y="1261110"/>
                  </a:lnTo>
                  <a:lnTo>
                    <a:pt x="347662" y="1207770"/>
                  </a:lnTo>
                  <a:lnTo>
                    <a:pt x="312420" y="1153478"/>
                  </a:lnTo>
                  <a:lnTo>
                    <a:pt x="280035" y="1097280"/>
                  </a:lnTo>
                  <a:lnTo>
                    <a:pt x="248603" y="1040130"/>
                  </a:lnTo>
                  <a:lnTo>
                    <a:pt x="219075" y="981075"/>
                  </a:lnTo>
                  <a:lnTo>
                    <a:pt x="191453" y="921067"/>
                  </a:lnTo>
                  <a:lnTo>
                    <a:pt x="165735" y="860108"/>
                  </a:lnTo>
                  <a:lnTo>
                    <a:pt x="141922" y="798195"/>
                  </a:lnTo>
                  <a:lnTo>
                    <a:pt x="119062" y="735330"/>
                  </a:lnTo>
                  <a:lnTo>
                    <a:pt x="99060" y="671512"/>
                  </a:lnTo>
                  <a:lnTo>
                    <a:pt x="80010" y="606742"/>
                  </a:lnTo>
                  <a:lnTo>
                    <a:pt x="63817" y="541020"/>
                  </a:lnTo>
                  <a:lnTo>
                    <a:pt x="48577" y="474345"/>
                  </a:lnTo>
                  <a:lnTo>
                    <a:pt x="36195" y="407670"/>
                  </a:lnTo>
                  <a:lnTo>
                    <a:pt x="24765" y="340995"/>
                  </a:lnTo>
                  <a:lnTo>
                    <a:pt x="16192" y="273367"/>
                  </a:lnTo>
                  <a:lnTo>
                    <a:pt x="8573" y="204788"/>
                  </a:lnTo>
                  <a:lnTo>
                    <a:pt x="3810" y="137160"/>
                  </a:lnTo>
                  <a:lnTo>
                    <a:pt x="952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EE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62200" y="2247900"/>
              <a:ext cx="3276600" cy="1962150"/>
            </a:xfrm>
            <a:custGeom>
              <a:avLst/>
              <a:gdLst/>
              <a:ahLst/>
              <a:cxnLst/>
              <a:rect l="l" t="t" r="r" b="b"/>
              <a:pathLst>
                <a:path w="3276600" h="1962150">
                  <a:moveTo>
                    <a:pt x="3276600" y="0"/>
                  </a:moveTo>
                  <a:lnTo>
                    <a:pt x="3275648" y="68580"/>
                  </a:lnTo>
                  <a:lnTo>
                    <a:pt x="3272790" y="137160"/>
                  </a:lnTo>
                  <a:lnTo>
                    <a:pt x="3268028" y="204788"/>
                  </a:lnTo>
                  <a:lnTo>
                    <a:pt x="3260407" y="273367"/>
                  </a:lnTo>
                  <a:lnTo>
                    <a:pt x="3251835" y="340995"/>
                  </a:lnTo>
                  <a:lnTo>
                    <a:pt x="3240405" y="407670"/>
                  </a:lnTo>
                  <a:lnTo>
                    <a:pt x="3228022" y="474345"/>
                  </a:lnTo>
                  <a:lnTo>
                    <a:pt x="3212782" y="541020"/>
                  </a:lnTo>
                  <a:lnTo>
                    <a:pt x="3196590" y="606742"/>
                  </a:lnTo>
                  <a:lnTo>
                    <a:pt x="3177540" y="671512"/>
                  </a:lnTo>
                  <a:lnTo>
                    <a:pt x="3157538" y="735330"/>
                  </a:lnTo>
                  <a:lnTo>
                    <a:pt x="3134678" y="798195"/>
                  </a:lnTo>
                  <a:lnTo>
                    <a:pt x="3110865" y="860108"/>
                  </a:lnTo>
                  <a:lnTo>
                    <a:pt x="3085148" y="921067"/>
                  </a:lnTo>
                  <a:lnTo>
                    <a:pt x="3057525" y="981075"/>
                  </a:lnTo>
                  <a:lnTo>
                    <a:pt x="3027998" y="1040130"/>
                  </a:lnTo>
                  <a:lnTo>
                    <a:pt x="2996565" y="1097280"/>
                  </a:lnTo>
                  <a:lnTo>
                    <a:pt x="2964180" y="1153478"/>
                  </a:lnTo>
                  <a:lnTo>
                    <a:pt x="2928938" y="1207770"/>
                  </a:lnTo>
                  <a:lnTo>
                    <a:pt x="2893695" y="1261110"/>
                  </a:lnTo>
                  <a:lnTo>
                    <a:pt x="2855595" y="1312545"/>
                  </a:lnTo>
                  <a:lnTo>
                    <a:pt x="2816543" y="1363028"/>
                  </a:lnTo>
                  <a:lnTo>
                    <a:pt x="2776538" y="1411605"/>
                  </a:lnTo>
                  <a:lnTo>
                    <a:pt x="2734628" y="1458278"/>
                  </a:lnTo>
                  <a:lnTo>
                    <a:pt x="2691765" y="1503045"/>
                  </a:lnTo>
                  <a:lnTo>
                    <a:pt x="2646998" y="1545908"/>
                  </a:lnTo>
                  <a:lnTo>
                    <a:pt x="2601278" y="1587818"/>
                  </a:lnTo>
                  <a:lnTo>
                    <a:pt x="2554605" y="1626870"/>
                  </a:lnTo>
                  <a:lnTo>
                    <a:pt x="2506028" y="1664018"/>
                  </a:lnTo>
                  <a:lnTo>
                    <a:pt x="2457450" y="1699260"/>
                  </a:lnTo>
                  <a:lnTo>
                    <a:pt x="2406968" y="1732597"/>
                  </a:lnTo>
                  <a:lnTo>
                    <a:pt x="2356485" y="1764030"/>
                  </a:lnTo>
                  <a:lnTo>
                    <a:pt x="2305050" y="1792605"/>
                  </a:lnTo>
                  <a:lnTo>
                    <a:pt x="2251710" y="1819275"/>
                  </a:lnTo>
                  <a:lnTo>
                    <a:pt x="2198370" y="1844040"/>
                  </a:lnTo>
                  <a:lnTo>
                    <a:pt x="2145030" y="1865947"/>
                  </a:lnTo>
                  <a:lnTo>
                    <a:pt x="2089785" y="1885950"/>
                  </a:lnTo>
                  <a:lnTo>
                    <a:pt x="2034540" y="1904047"/>
                  </a:lnTo>
                  <a:lnTo>
                    <a:pt x="1979295" y="1919288"/>
                  </a:lnTo>
                  <a:lnTo>
                    <a:pt x="1923097" y="1932622"/>
                  </a:lnTo>
                  <a:lnTo>
                    <a:pt x="1865947" y="1943100"/>
                  </a:lnTo>
                  <a:lnTo>
                    <a:pt x="1809750" y="1951672"/>
                  </a:lnTo>
                  <a:lnTo>
                    <a:pt x="1752600" y="1957388"/>
                  </a:lnTo>
                  <a:lnTo>
                    <a:pt x="1695450" y="1961197"/>
                  </a:lnTo>
                  <a:lnTo>
                    <a:pt x="1638300" y="1962150"/>
                  </a:lnTo>
                  <a:lnTo>
                    <a:pt x="1581150" y="1961197"/>
                  </a:lnTo>
                  <a:lnTo>
                    <a:pt x="1524000" y="1957388"/>
                  </a:lnTo>
                  <a:lnTo>
                    <a:pt x="1466850" y="1951672"/>
                  </a:lnTo>
                  <a:lnTo>
                    <a:pt x="1410653" y="1943100"/>
                  </a:lnTo>
                  <a:lnTo>
                    <a:pt x="1353503" y="1932622"/>
                  </a:lnTo>
                  <a:lnTo>
                    <a:pt x="1297305" y="1919288"/>
                  </a:lnTo>
                  <a:lnTo>
                    <a:pt x="1242060" y="1904047"/>
                  </a:lnTo>
                  <a:lnTo>
                    <a:pt x="1186815" y="1885950"/>
                  </a:lnTo>
                  <a:lnTo>
                    <a:pt x="1131570" y="1865947"/>
                  </a:lnTo>
                  <a:lnTo>
                    <a:pt x="1078230" y="1844040"/>
                  </a:lnTo>
                  <a:lnTo>
                    <a:pt x="1024890" y="1819275"/>
                  </a:lnTo>
                  <a:lnTo>
                    <a:pt x="971550" y="1792605"/>
                  </a:lnTo>
                  <a:lnTo>
                    <a:pt x="920115" y="1764030"/>
                  </a:lnTo>
                  <a:lnTo>
                    <a:pt x="869633" y="1732597"/>
                  </a:lnTo>
                  <a:lnTo>
                    <a:pt x="819150" y="1699260"/>
                  </a:lnTo>
                  <a:lnTo>
                    <a:pt x="770572" y="1664018"/>
                  </a:lnTo>
                  <a:lnTo>
                    <a:pt x="721995" y="1626870"/>
                  </a:lnTo>
                  <a:lnTo>
                    <a:pt x="675322" y="1587818"/>
                  </a:lnTo>
                  <a:lnTo>
                    <a:pt x="629603" y="1545908"/>
                  </a:lnTo>
                  <a:lnTo>
                    <a:pt x="584835" y="1503045"/>
                  </a:lnTo>
                  <a:lnTo>
                    <a:pt x="541972" y="1458278"/>
                  </a:lnTo>
                  <a:lnTo>
                    <a:pt x="500062" y="1411605"/>
                  </a:lnTo>
                  <a:lnTo>
                    <a:pt x="460058" y="1363028"/>
                  </a:lnTo>
                  <a:lnTo>
                    <a:pt x="421005" y="1312545"/>
                  </a:lnTo>
                  <a:lnTo>
                    <a:pt x="382905" y="1261110"/>
                  </a:lnTo>
                  <a:lnTo>
                    <a:pt x="347662" y="1207770"/>
                  </a:lnTo>
                  <a:lnTo>
                    <a:pt x="312420" y="1153478"/>
                  </a:lnTo>
                  <a:lnTo>
                    <a:pt x="280035" y="1097280"/>
                  </a:lnTo>
                  <a:lnTo>
                    <a:pt x="248603" y="1040130"/>
                  </a:lnTo>
                  <a:lnTo>
                    <a:pt x="219075" y="981075"/>
                  </a:lnTo>
                  <a:lnTo>
                    <a:pt x="191453" y="921067"/>
                  </a:lnTo>
                  <a:lnTo>
                    <a:pt x="165735" y="860108"/>
                  </a:lnTo>
                  <a:lnTo>
                    <a:pt x="141922" y="798195"/>
                  </a:lnTo>
                  <a:lnTo>
                    <a:pt x="119062" y="735330"/>
                  </a:lnTo>
                  <a:lnTo>
                    <a:pt x="99060" y="671512"/>
                  </a:lnTo>
                  <a:lnTo>
                    <a:pt x="80010" y="606742"/>
                  </a:lnTo>
                  <a:lnTo>
                    <a:pt x="63817" y="541020"/>
                  </a:lnTo>
                  <a:lnTo>
                    <a:pt x="48577" y="474345"/>
                  </a:lnTo>
                  <a:lnTo>
                    <a:pt x="36195" y="407670"/>
                  </a:lnTo>
                  <a:lnTo>
                    <a:pt x="24765" y="340995"/>
                  </a:lnTo>
                  <a:lnTo>
                    <a:pt x="16192" y="273367"/>
                  </a:lnTo>
                  <a:lnTo>
                    <a:pt x="8573" y="204788"/>
                  </a:lnTo>
                  <a:lnTo>
                    <a:pt x="3810" y="137160"/>
                  </a:lnTo>
                  <a:lnTo>
                    <a:pt x="952" y="68580"/>
                  </a:ln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36220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63880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2636520" y="3314700"/>
              <a:ext cx="1902142" cy="895350"/>
            </a:xfrm>
            <a:custGeom>
              <a:avLst/>
              <a:gdLst/>
              <a:ahLst/>
              <a:cxnLst/>
              <a:rect l="l" t="t" r="r" b="b"/>
              <a:pathLst>
                <a:path w="1902142" h="895350">
                  <a:moveTo>
                    <a:pt x="383858" y="505778"/>
                  </a:moveTo>
                  <a:lnTo>
                    <a:pt x="366712" y="489585"/>
                  </a:lnTo>
                  <a:lnTo>
                    <a:pt x="349567" y="474345"/>
                  </a:lnTo>
                  <a:lnTo>
                    <a:pt x="333375" y="458153"/>
                  </a:lnTo>
                  <a:lnTo>
                    <a:pt x="316230" y="441960"/>
                  </a:lnTo>
                  <a:lnTo>
                    <a:pt x="300038" y="424815"/>
                  </a:lnTo>
                  <a:lnTo>
                    <a:pt x="283845" y="408622"/>
                  </a:lnTo>
                  <a:lnTo>
                    <a:pt x="267652" y="391478"/>
                  </a:lnTo>
                  <a:lnTo>
                    <a:pt x="251460" y="374333"/>
                  </a:lnTo>
                  <a:lnTo>
                    <a:pt x="236220" y="356235"/>
                  </a:lnTo>
                  <a:lnTo>
                    <a:pt x="220980" y="339090"/>
                  </a:lnTo>
                  <a:lnTo>
                    <a:pt x="205740" y="320992"/>
                  </a:lnTo>
                  <a:lnTo>
                    <a:pt x="190500" y="301942"/>
                  </a:lnTo>
                  <a:lnTo>
                    <a:pt x="175260" y="283845"/>
                  </a:lnTo>
                  <a:lnTo>
                    <a:pt x="160972" y="264795"/>
                  </a:lnTo>
                  <a:lnTo>
                    <a:pt x="146685" y="245745"/>
                  </a:lnTo>
                  <a:lnTo>
                    <a:pt x="132397" y="226695"/>
                  </a:lnTo>
                  <a:lnTo>
                    <a:pt x="118110" y="207645"/>
                  </a:lnTo>
                  <a:lnTo>
                    <a:pt x="104775" y="187642"/>
                  </a:lnTo>
                  <a:lnTo>
                    <a:pt x="90488" y="167640"/>
                  </a:lnTo>
                  <a:lnTo>
                    <a:pt x="77152" y="147638"/>
                  </a:lnTo>
                  <a:lnTo>
                    <a:pt x="63817" y="127635"/>
                  </a:lnTo>
                  <a:lnTo>
                    <a:pt x="51435" y="107633"/>
                  </a:lnTo>
                  <a:lnTo>
                    <a:pt x="38100" y="86678"/>
                  </a:lnTo>
                  <a:lnTo>
                    <a:pt x="25717" y="65722"/>
                  </a:lnTo>
                  <a:lnTo>
                    <a:pt x="14288" y="44767"/>
                  </a:lnTo>
                  <a:lnTo>
                    <a:pt x="1905" y="22860"/>
                  </a:lnTo>
                  <a:lnTo>
                    <a:pt x="0" y="7620"/>
                  </a:lnTo>
                  <a:lnTo>
                    <a:pt x="43815" y="4762"/>
                  </a:lnTo>
                  <a:lnTo>
                    <a:pt x="87630" y="2858"/>
                  </a:lnTo>
                  <a:lnTo>
                    <a:pt x="132397" y="953"/>
                  </a:lnTo>
                  <a:lnTo>
                    <a:pt x="176212" y="0"/>
                  </a:lnTo>
                  <a:lnTo>
                    <a:pt x="220980" y="0"/>
                  </a:lnTo>
                  <a:lnTo>
                    <a:pt x="265747" y="0"/>
                  </a:lnTo>
                  <a:lnTo>
                    <a:pt x="309562" y="953"/>
                  </a:lnTo>
                  <a:lnTo>
                    <a:pt x="354330" y="2858"/>
                  </a:lnTo>
                  <a:lnTo>
                    <a:pt x="398145" y="4762"/>
                  </a:lnTo>
                  <a:lnTo>
                    <a:pt x="441960" y="7620"/>
                  </a:lnTo>
                  <a:lnTo>
                    <a:pt x="485775" y="11430"/>
                  </a:lnTo>
                  <a:lnTo>
                    <a:pt x="529590" y="15240"/>
                  </a:lnTo>
                  <a:lnTo>
                    <a:pt x="573405" y="20003"/>
                  </a:lnTo>
                  <a:lnTo>
                    <a:pt x="617220" y="24765"/>
                  </a:lnTo>
                  <a:lnTo>
                    <a:pt x="660083" y="30480"/>
                  </a:lnTo>
                  <a:lnTo>
                    <a:pt x="702945" y="37147"/>
                  </a:lnTo>
                  <a:lnTo>
                    <a:pt x="744855" y="43815"/>
                  </a:lnTo>
                  <a:lnTo>
                    <a:pt x="786765" y="51435"/>
                  </a:lnTo>
                  <a:lnTo>
                    <a:pt x="828675" y="59055"/>
                  </a:lnTo>
                  <a:lnTo>
                    <a:pt x="869633" y="68580"/>
                  </a:lnTo>
                  <a:lnTo>
                    <a:pt x="910590" y="77153"/>
                  </a:lnTo>
                  <a:lnTo>
                    <a:pt x="950595" y="87630"/>
                  </a:lnTo>
                  <a:lnTo>
                    <a:pt x="990600" y="97155"/>
                  </a:lnTo>
                  <a:lnTo>
                    <a:pt x="1029652" y="108585"/>
                  </a:lnTo>
                  <a:lnTo>
                    <a:pt x="1068705" y="120015"/>
                  </a:lnTo>
                  <a:lnTo>
                    <a:pt x="1106805" y="132397"/>
                  </a:lnTo>
                  <a:lnTo>
                    <a:pt x="1143952" y="144780"/>
                  </a:lnTo>
                  <a:lnTo>
                    <a:pt x="1181100" y="157162"/>
                  </a:lnTo>
                  <a:lnTo>
                    <a:pt x="1217295" y="171450"/>
                  </a:lnTo>
                  <a:lnTo>
                    <a:pt x="1253490" y="184785"/>
                  </a:lnTo>
                  <a:lnTo>
                    <a:pt x="1287780" y="199072"/>
                  </a:lnTo>
                  <a:lnTo>
                    <a:pt x="1322070" y="214312"/>
                  </a:lnTo>
                  <a:lnTo>
                    <a:pt x="1355408" y="229553"/>
                  </a:lnTo>
                  <a:lnTo>
                    <a:pt x="1387792" y="245745"/>
                  </a:lnTo>
                  <a:lnTo>
                    <a:pt x="1420177" y="261938"/>
                  </a:lnTo>
                  <a:lnTo>
                    <a:pt x="1450658" y="279083"/>
                  </a:lnTo>
                  <a:lnTo>
                    <a:pt x="1481138" y="296228"/>
                  </a:lnTo>
                  <a:lnTo>
                    <a:pt x="1510665" y="314325"/>
                  </a:lnTo>
                  <a:lnTo>
                    <a:pt x="1538288" y="331470"/>
                  </a:lnTo>
                  <a:lnTo>
                    <a:pt x="1565910" y="350520"/>
                  </a:lnTo>
                  <a:lnTo>
                    <a:pt x="1592580" y="368617"/>
                  </a:lnTo>
                  <a:lnTo>
                    <a:pt x="1618297" y="388620"/>
                  </a:lnTo>
                  <a:lnTo>
                    <a:pt x="1643062" y="407670"/>
                  </a:lnTo>
                  <a:lnTo>
                    <a:pt x="1666875" y="427672"/>
                  </a:lnTo>
                  <a:lnTo>
                    <a:pt x="1689735" y="447675"/>
                  </a:lnTo>
                  <a:lnTo>
                    <a:pt x="1710690" y="467678"/>
                  </a:lnTo>
                  <a:lnTo>
                    <a:pt x="1731645" y="488633"/>
                  </a:lnTo>
                  <a:lnTo>
                    <a:pt x="1751647" y="509588"/>
                  </a:lnTo>
                  <a:lnTo>
                    <a:pt x="1769745" y="531495"/>
                  </a:lnTo>
                  <a:lnTo>
                    <a:pt x="1787842" y="552450"/>
                  </a:lnTo>
                  <a:lnTo>
                    <a:pt x="1804035" y="574358"/>
                  </a:lnTo>
                  <a:lnTo>
                    <a:pt x="1819275" y="596265"/>
                  </a:lnTo>
                  <a:lnTo>
                    <a:pt x="1833562" y="619125"/>
                  </a:lnTo>
                  <a:lnTo>
                    <a:pt x="1846897" y="641033"/>
                  </a:lnTo>
                  <a:lnTo>
                    <a:pt x="1858327" y="663892"/>
                  </a:lnTo>
                  <a:lnTo>
                    <a:pt x="1869758" y="686753"/>
                  </a:lnTo>
                  <a:lnTo>
                    <a:pt x="1879282" y="709612"/>
                  </a:lnTo>
                  <a:lnTo>
                    <a:pt x="1887855" y="732472"/>
                  </a:lnTo>
                  <a:lnTo>
                    <a:pt x="1895475" y="755333"/>
                  </a:lnTo>
                  <a:lnTo>
                    <a:pt x="1902142" y="778192"/>
                  </a:lnTo>
                  <a:lnTo>
                    <a:pt x="1884045" y="794385"/>
                  </a:lnTo>
                  <a:lnTo>
                    <a:pt x="1863090" y="802005"/>
                  </a:lnTo>
                  <a:lnTo>
                    <a:pt x="1843088" y="809625"/>
                  </a:lnTo>
                  <a:lnTo>
                    <a:pt x="1822132" y="817245"/>
                  </a:lnTo>
                  <a:lnTo>
                    <a:pt x="1802130" y="823912"/>
                  </a:lnTo>
                  <a:lnTo>
                    <a:pt x="1781175" y="830580"/>
                  </a:lnTo>
                  <a:lnTo>
                    <a:pt x="1760220" y="837247"/>
                  </a:lnTo>
                  <a:lnTo>
                    <a:pt x="1739265" y="842962"/>
                  </a:lnTo>
                  <a:lnTo>
                    <a:pt x="1718310" y="848678"/>
                  </a:lnTo>
                  <a:lnTo>
                    <a:pt x="1697355" y="854392"/>
                  </a:lnTo>
                  <a:lnTo>
                    <a:pt x="1676400" y="859155"/>
                  </a:lnTo>
                  <a:lnTo>
                    <a:pt x="1655445" y="863917"/>
                  </a:lnTo>
                  <a:lnTo>
                    <a:pt x="1634490" y="868680"/>
                  </a:lnTo>
                  <a:lnTo>
                    <a:pt x="1613535" y="872490"/>
                  </a:lnTo>
                  <a:lnTo>
                    <a:pt x="1591627" y="876300"/>
                  </a:lnTo>
                  <a:lnTo>
                    <a:pt x="1570672" y="880110"/>
                  </a:lnTo>
                  <a:lnTo>
                    <a:pt x="1549718" y="882967"/>
                  </a:lnTo>
                  <a:lnTo>
                    <a:pt x="1527810" y="885825"/>
                  </a:lnTo>
                  <a:lnTo>
                    <a:pt x="1506855" y="887730"/>
                  </a:lnTo>
                  <a:lnTo>
                    <a:pt x="1484947" y="889635"/>
                  </a:lnTo>
                  <a:lnTo>
                    <a:pt x="1463992" y="891540"/>
                  </a:lnTo>
                  <a:lnTo>
                    <a:pt x="1443038" y="893445"/>
                  </a:lnTo>
                  <a:lnTo>
                    <a:pt x="1421130" y="894397"/>
                  </a:lnTo>
                  <a:lnTo>
                    <a:pt x="1400175" y="895350"/>
                  </a:lnTo>
                  <a:lnTo>
                    <a:pt x="1378268" y="895350"/>
                  </a:lnTo>
                  <a:lnTo>
                    <a:pt x="1356360" y="895350"/>
                  </a:lnTo>
                  <a:lnTo>
                    <a:pt x="1335405" y="895350"/>
                  </a:lnTo>
                  <a:lnTo>
                    <a:pt x="1313497" y="894397"/>
                  </a:lnTo>
                  <a:lnTo>
                    <a:pt x="1292542" y="893445"/>
                  </a:lnTo>
                  <a:lnTo>
                    <a:pt x="1270635" y="892492"/>
                  </a:lnTo>
                  <a:lnTo>
                    <a:pt x="1249680" y="890588"/>
                  </a:lnTo>
                  <a:lnTo>
                    <a:pt x="1228725" y="888683"/>
                  </a:lnTo>
                  <a:lnTo>
                    <a:pt x="1206818" y="886778"/>
                  </a:lnTo>
                  <a:lnTo>
                    <a:pt x="1185862" y="883920"/>
                  </a:lnTo>
                  <a:lnTo>
                    <a:pt x="1163955" y="881062"/>
                  </a:lnTo>
                  <a:lnTo>
                    <a:pt x="1143000" y="877253"/>
                  </a:lnTo>
                  <a:lnTo>
                    <a:pt x="1122045" y="873442"/>
                  </a:lnTo>
                  <a:lnTo>
                    <a:pt x="1101090" y="869633"/>
                  </a:lnTo>
                  <a:lnTo>
                    <a:pt x="1079182" y="865822"/>
                  </a:lnTo>
                  <a:lnTo>
                    <a:pt x="1058227" y="861060"/>
                  </a:lnTo>
                  <a:lnTo>
                    <a:pt x="1037272" y="856297"/>
                  </a:lnTo>
                  <a:lnTo>
                    <a:pt x="1016317" y="850583"/>
                  </a:lnTo>
                  <a:lnTo>
                    <a:pt x="995362" y="844867"/>
                  </a:lnTo>
                  <a:lnTo>
                    <a:pt x="974408" y="839153"/>
                  </a:lnTo>
                  <a:lnTo>
                    <a:pt x="953452" y="832485"/>
                  </a:lnTo>
                  <a:lnTo>
                    <a:pt x="933450" y="825817"/>
                  </a:lnTo>
                  <a:lnTo>
                    <a:pt x="912495" y="819150"/>
                  </a:lnTo>
                  <a:lnTo>
                    <a:pt x="891540" y="812483"/>
                  </a:lnTo>
                  <a:lnTo>
                    <a:pt x="871538" y="804862"/>
                  </a:lnTo>
                  <a:lnTo>
                    <a:pt x="850583" y="796290"/>
                  </a:lnTo>
                  <a:lnTo>
                    <a:pt x="830580" y="788670"/>
                  </a:lnTo>
                  <a:lnTo>
                    <a:pt x="810577" y="780097"/>
                  </a:lnTo>
                  <a:lnTo>
                    <a:pt x="790575" y="771525"/>
                  </a:lnTo>
                  <a:lnTo>
                    <a:pt x="770572" y="762000"/>
                  </a:lnTo>
                  <a:lnTo>
                    <a:pt x="750570" y="752475"/>
                  </a:lnTo>
                  <a:lnTo>
                    <a:pt x="730567" y="742950"/>
                  </a:lnTo>
                  <a:lnTo>
                    <a:pt x="710565" y="732472"/>
                  </a:lnTo>
                  <a:lnTo>
                    <a:pt x="691515" y="721995"/>
                  </a:lnTo>
                  <a:lnTo>
                    <a:pt x="671512" y="711517"/>
                  </a:lnTo>
                  <a:lnTo>
                    <a:pt x="652462" y="700088"/>
                  </a:lnTo>
                  <a:lnTo>
                    <a:pt x="633412" y="689610"/>
                  </a:lnTo>
                  <a:lnTo>
                    <a:pt x="613410" y="677228"/>
                  </a:lnTo>
                  <a:lnTo>
                    <a:pt x="595312" y="665797"/>
                  </a:lnTo>
                  <a:lnTo>
                    <a:pt x="576262" y="653415"/>
                  </a:lnTo>
                  <a:lnTo>
                    <a:pt x="557212" y="641033"/>
                  </a:lnTo>
                  <a:lnTo>
                    <a:pt x="539115" y="628650"/>
                  </a:lnTo>
                  <a:lnTo>
                    <a:pt x="520065" y="615315"/>
                  </a:lnTo>
                  <a:lnTo>
                    <a:pt x="501967" y="601980"/>
                  </a:lnTo>
                  <a:lnTo>
                    <a:pt x="483870" y="587692"/>
                  </a:lnTo>
                  <a:lnTo>
                    <a:pt x="465772" y="574358"/>
                  </a:lnTo>
                  <a:lnTo>
                    <a:pt x="447675" y="560070"/>
                  </a:lnTo>
                  <a:lnTo>
                    <a:pt x="430530" y="545783"/>
                  </a:lnTo>
                  <a:lnTo>
                    <a:pt x="412433" y="530542"/>
                  </a:lnTo>
                  <a:lnTo>
                    <a:pt x="395288" y="515303"/>
                  </a:lnTo>
                  <a:close/>
                </a:path>
              </a:pathLst>
            </a:custGeom>
            <a:solidFill>
              <a:srgbClr val="F9D2C0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362200" y="2247900"/>
              <a:ext cx="3276600" cy="1962150"/>
            </a:xfrm>
            <a:custGeom>
              <a:avLst/>
              <a:gdLst/>
              <a:ahLst/>
              <a:cxnLst/>
              <a:rect l="l" t="t" r="r" b="b"/>
              <a:pathLst>
                <a:path w="3276600" h="1962150">
                  <a:moveTo>
                    <a:pt x="3276600" y="0"/>
                  </a:moveTo>
                  <a:lnTo>
                    <a:pt x="3275648" y="68580"/>
                  </a:lnTo>
                  <a:lnTo>
                    <a:pt x="3272790" y="137160"/>
                  </a:lnTo>
                  <a:lnTo>
                    <a:pt x="3268028" y="204788"/>
                  </a:lnTo>
                  <a:lnTo>
                    <a:pt x="3260407" y="273367"/>
                  </a:lnTo>
                  <a:lnTo>
                    <a:pt x="3251835" y="340995"/>
                  </a:lnTo>
                  <a:lnTo>
                    <a:pt x="3240405" y="407670"/>
                  </a:lnTo>
                  <a:lnTo>
                    <a:pt x="3228022" y="474345"/>
                  </a:lnTo>
                  <a:lnTo>
                    <a:pt x="3212782" y="541020"/>
                  </a:lnTo>
                  <a:lnTo>
                    <a:pt x="3196590" y="606742"/>
                  </a:lnTo>
                  <a:lnTo>
                    <a:pt x="3177540" y="671512"/>
                  </a:lnTo>
                  <a:lnTo>
                    <a:pt x="3157538" y="735330"/>
                  </a:lnTo>
                  <a:lnTo>
                    <a:pt x="3134678" y="798195"/>
                  </a:lnTo>
                  <a:lnTo>
                    <a:pt x="3110865" y="860108"/>
                  </a:lnTo>
                  <a:lnTo>
                    <a:pt x="3085148" y="921067"/>
                  </a:lnTo>
                  <a:lnTo>
                    <a:pt x="3057525" y="981075"/>
                  </a:lnTo>
                  <a:lnTo>
                    <a:pt x="3027998" y="1040130"/>
                  </a:lnTo>
                  <a:lnTo>
                    <a:pt x="2996565" y="1097280"/>
                  </a:lnTo>
                  <a:lnTo>
                    <a:pt x="2964180" y="1153478"/>
                  </a:lnTo>
                  <a:lnTo>
                    <a:pt x="2928938" y="1207770"/>
                  </a:lnTo>
                  <a:lnTo>
                    <a:pt x="2893695" y="1261110"/>
                  </a:lnTo>
                  <a:lnTo>
                    <a:pt x="2855595" y="1312545"/>
                  </a:lnTo>
                  <a:lnTo>
                    <a:pt x="2816543" y="1363028"/>
                  </a:lnTo>
                  <a:lnTo>
                    <a:pt x="2776538" y="1411605"/>
                  </a:lnTo>
                  <a:lnTo>
                    <a:pt x="2734628" y="1458278"/>
                  </a:lnTo>
                  <a:lnTo>
                    <a:pt x="2691765" y="1503045"/>
                  </a:lnTo>
                  <a:lnTo>
                    <a:pt x="2646998" y="1545908"/>
                  </a:lnTo>
                  <a:lnTo>
                    <a:pt x="2601278" y="1587818"/>
                  </a:lnTo>
                  <a:lnTo>
                    <a:pt x="2554605" y="1626870"/>
                  </a:lnTo>
                  <a:lnTo>
                    <a:pt x="2506028" y="1664018"/>
                  </a:lnTo>
                  <a:lnTo>
                    <a:pt x="2457450" y="1699260"/>
                  </a:lnTo>
                  <a:lnTo>
                    <a:pt x="2406968" y="1732597"/>
                  </a:lnTo>
                  <a:lnTo>
                    <a:pt x="2356485" y="1764030"/>
                  </a:lnTo>
                  <a:lnTo>
                    <a:pt x="2305050" y="1792605"/>
                  </a:lnTo>
                  <a:lnTo>
                    <a:pt x="2251710" y="1819275"/>
                  </a:lnTo>
                  <a:lnTo>
                    <a:pt x="2198370" y="1844040"/>
                  </a:lnTo>
                  <a:lnTo>
                    <a:pt x="2145030" y="1865947"/>
                  </a:lnTo>
                  <a:lnTo>
                    <a:pt x="2089785" y="1885950"/>
                  </a:lnTo>
                  <a:lnTo>
                    <a:pt x="2034540" y="1904047"/>
                  </a:lnTo>
                  <a:lnTo>
                    <a:pt x="1979295" y="1919288"/>
                  </a:lnTo>
                  <a:lnTo>
                    <a:pt x="1923097" y="1932622"/>
                  </a:lnTo>
                  <a:lnTo>
                    <a:pt x="1865947" y="1943100"/>
                  </a:lnTo>
                  <a:lnTo>
                    <a:pt x="1809750" y="1951672"/>
                  </a:lnTo>
                  <a:lnTo>
                    <a:pt x="1752600" y="1957388"/>
                  </a:lnTo>
                  <a:lnTo>
                    <a:pt x="1695450" y="1961197"/>
                  </a:lnTo>
                  <a:lnTo>
                    <a:pt x="1638300" y="1962150"/>
                  </a:lnTo>
                  <a:lnTo>
                    <a:pt x="1581150" y="1961197"/>
                  </a:lnTo>
                  <a:lnTo>
                    <a:pt x="1524000" y="1957388"/>
                  </a:lnTo>
                  <a:lnTo>
                    <a:pt x="1466850" y="1951672"/>
                  </a:lnTo>
                  <a:lnTo>
                    <a:pt x="1410653" y="1943100"/>
                  </a:lnTo>
                  <a:lnTo>
                    <a:pt x="1353503" y="1932622"/>
                  </a:lnTo>
                  <a:lnTo>
                    <a:pt x="1297305" y="1919288"/>
                  </a:lnTo>
                  <a:lnTo>
                    <a:pt x="1242060" y="1904047"/>
                  </a:lnTo>
                  <a:lnTo>
                    <a:pt x="1186815" y="1885950"/>
                  </a:lnTo>
                  <a:lnTo>
                    <a:pt x="1131570" y="1865947"/>
                  </a:lnTo>
                  <a:lnTo>
                    <a:pt x="1078230" y="1844040"/>
                  </a:lnTo>
                  <a:lnTo>
                    <a:pt x="1024890" y="1819275"/>
                  </a:lnTo>
                  <a:lnTo>
                    <a:pt x="971550" y="1792605"/>
                  </a:lnTo>
                  <a:lnTo>
                    <a:pt x="920115" y="1764030"/>
                  </a:lnTo>
                  <a:lnTo>
                    <a:pt x="869633" y="1732597"/>
                  </a:lnTo>
                  <a:lnTo>
                    <a:pt x="819150" y="1699260"/>
                  </a:lnTo>
                  <a:lnTo>
                    <a:pt x="770572" y="1664018"/>
                  </a:lnTo>
                  <a:lnTo>
                    <a:pt x="721995" y="1626870"/>
                  </a:lnTo>
                  <a:lnTo>
                    <a:pt x="675322" y="1587818"/>
                  </a:lnTo>
                  <a:lnTo>
                    <a:pt x="629603" y="1545908"/>
                  </a:lnTo>
                  <a:lnTo>
                    <a:pt x="584835" y="1503045"/>
                  </a:lnTo>
                  <a:lnTo>
                    <a:pt x="541972" y="1458278"/>
                  </a:lnTo>
                  <a:lnTo>
                    <a:pt x="500062" y="1411605"/>
                  </a:lnTo>
                  <a:lnTo>
                    <a:pt x="460058" y="1363028"/>
                  </a:lnTo>
                  <a:lnTo>
                    <a:pt x="421005" y="1312545"/>
                  </a:lnTo>
                  <a:lnTo>
                    <a:pt x="382905" y="1261110"/>
                  </a:lnTo>
                  <a:lnTo>
                    <a:pt x="347662" y="1207770"/>
                  </a:lnTo>
                  <a:lnTo>
                    <a:pt x="312420" y="1153478"/>
                  </a:lnTo>
                  <a:lnTo>
                    <a:pt x="280035" y="1097280"/>
                  </a:lnTo>
                  <a:lnTo>
                    <a:pt x="248603" y="1040130"/>
                  </a:lnTo>
                  <a:lnTo>
                    <a:pt x="219075" y="981075"/>
                  </a:lnTo>
                  <a:lnTo>
                    <a:pt x="191453" y="921067"/>
                  </a:lnTo>
                  <a:lnTo>
                    <a:pt x="165735" y="860108"/>
                  </a:lnTo>
                  <a:lnTo>
                    <a:pt x="141922" y="798195"/>
                  </a:lnTo>
                  <a:lnTo>
                    <a:pt x="119062" y="735330"/>
                  </a:lnTo>
                  <a:lnTo>
                    <a:pt x="99060" y="671512"/>
                  </a:lnTo>
                  <a:lnTo>
                    <a:pt x="80010" y="606742"/>
                  </a:lnTo>
                  <a:lnTo>
                    <a:pt x="63817" y="541020"/>
                  </a:lnTo>
                  <a:lnTo>
                    <a:pt x="48577" y="474345"/>
                  </a:lnTo>
                  <a:lnTo>
                    <a:pt x="36195" y="407670"/>
                  </a:lnTo>
                  <a:lnTo>
                    <a:pt x="24765" y="340995"/>
                  </a:lnTo>
                  <a:lnTo>
                    <a:pt x="16192" y="273367"/>
                  </a:lnTo>
                  <a:lnTo>
                    <a:pt x="8573" y="204788"/>
                  </a:lnTo>
                  <a:lnTo>
                    <a:pt x="3810" y="137160"/>
                  </a:lnTo>
                  <a:lnTo>
                    <a:pt x="952" y="68580"/>
                  </a:ln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162050" y="3314700"/>
              <a:ext cx="3390900" cy="1790700"/>
            </a:xfrm>
            <a:prstGeom prst="ellipse">
              <a:avLst/>
            </a:prstGeom>
            <a:noFill/>
            <a:ln w="20955">
              <a:solidFill>
                <a:srgbClr val="2F4B9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428750" y="4114800"/>
              <a:ext cx="1181100" cy="762000"/>
            </a:xfrm>
            <a:prstGeom prst="ellipse">
              <a:avLst/>
            </a:prstGeom>
            <a:solidFill>
              <a:srgbClr val="CBD6F0"/>
            </a:solidFill>
            <a:ln w="19050">
              <a:solidFill>
                <a:srgbClr val="2F4B9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61636" y="2540318"/>
              <a:ext cx="477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NP 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99270" y="3741896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NP 完全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7198" y="396906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56995" y="44072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</p:grpSp>
      <p:grpSp>
        <p:nvGrpSpPr>
          <p:cNvPr id="33" name="venn-eq"/>
          <p:cNvGrpSpPr/>
          <p:nvPr/>
        </p:nvGrpSpPr>
        <p:grpSpPr>
          <a:xfrm>
            <a:off x="6210300" y="1524000"/>
            <a:ext cx="5448300" cy="3733800"/>
            <a:chOff x="6210300" y="1524000"/>
            <a:chExt cx="5448300" cy="3733800"/>
          </a:xfrm>
        </p:grpSpPr>
        <p:sp>
          <p:nvSpPr>
            <p:cNvPr id="23" name="Rectangle 23"/>
            <p:cNvSpPr/>
            <p:nvPr/>
          </p:nvSpPr>
          <p:spPr>
            <a:xfrm>
              <a:off x="6210300" y="1524000"/>
              <a:ext cx="5448300" cy="3733800"/>
            </a:xfrm>
            <a:prstGeom prst="roundRect">
              <a:avLst>
                <a:gd name="adj" fmla="val 35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3942" y="1683068"/>
              <a:ext cx="820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若 P = NP</a:t>
              </a:r>
            </a:p>
          </p:txBody>
        </p:sp>
        <p:sp>
          <p:nvSpPr>
            <p:cNvPr id="25" name="Polygon 25"/>
            <p:cNvSpPr/>
            <p:nvPr/>
          </p:nvSpPr>
          <p:spPr>
            <a:xfrm>
              <a:off x="6781800" y="2247900"/>
              <a:ext cx="4305300" cy="2762250"/>
            </a:xfrm>
            <a:custGeom>
              <a:avLst/>
              <a:gdLst/>
              <a:ahLst/>
              <a:cxnLst/>
              <a:rect l="l" t="t" r="r" b="b"/>
              <a:pathLst>
                <a:path w="4305300" h="2762250">
                  <a:moveTo>
                    <a:pt x="4305300" y="0"/>
                  </a:moveTo>
                  <a:lnTo>
                    <a:pt x="4304348" y="96202"/>
                  </a:lnTo>
                  <a:lnTo>
                    <a:pt x="4299585" y="192405"/>
                  </a:lnTo>
                  <a:lnTo>
                    <a:pt x="4293870" y="288608"/>
                  </a:lnTo>
                  <a:lnTo>
                    <a:pt x="4284345" y="384810"/>
                  </a:lnTo>
                  <a:lnTo>
                    <a:pt x="4272915" y="480060"/>
                  </a:lnTo>
                  <a:lnTo>
                    <a:pt x="4258627" y="574358"/>
                  </a:lnTo>
                  <a:lnTo>
                    <a:pt x="4241482" y="668655"/>
                  </a:lnTo>
                  <a:lnTo>
                    <a:pt x="4221480" y="761047"/>
                  </a:lnTo>
                  <a:lnTo>
                    <a:pt x="4199573" y="853440"/>
                  </a:lnTo>
                  <a:lnTo>
                    <a:pt x="4175760" y="944880"/>
                  </a:lnTo>
                  <a:lnTo>
                    <a:pt x="4148138" y="1034415"/>
                  </a:lnTo>
                  <a:lnTo>
                    <a:pt x="4119562" y="1123950"/>
                  </a:lnTo>
                  <a:lnTo>
                    <a:pt x="4087177" y="1210628"/>
                  </a:lnTo>
                  <a:lnTo>
                    <a:pt x="4052888" y="1296353"/>
                  </a:lnTo>
                  <a:lnTo>
                    <a:pt x="4016693" y="1381125"/>
                  </a:lnTo>
                  <a:lnTo>
                    <a:pt x="3978593" y="1463992"/>
                  </a:lnTo>
                  <a:lnTo>
                    <a:pt x="3937635" y="1544955"/>
                  </a:lnTo>
                  <a:lnTo>
                    <a:pt x="3893820" y="1624012"/>
                  </a:lnTo>
                  <a:lnTo>
                    <a:pt x="3849052" y="1700212"/>
                  </a:lnTo>
                  <a:lnTo>
                    <a:pt x="3801427" y="1775460"/>
                  </a:lnTo>
                  <a:lnTo>
                    <a:pt x="3752850" y="1847850"/>
                  </a:lnTo>
                  <a:lnTo>
                    <a:pt x="3701415" y="1919288"/>
                  </a:lnTo>
                  <a:lnTo>
                    <a:pt x="3648075" y="1986915"/>
                  </a:lnTo>
                  <a:lnTo>
                    <a:pt x="3592830" y="2052638"/>
                  </a:lnTo>
                  <a:lnTo>
                    <a:pt x="3536632" y="2116455"/>
                  </a:lnTo>
                  <a:lnTo>
                    <a:pt x="3477577" y="2176462"/>
                  </a:lnTo>
                  <a:lnTo>
                    <a:pt x="3417570" y="2234565"/>
                  </a:lnTo>
                  <a:lnTo>
                    <a:pt x="3356610" y="2289810"/>
                  </a:lnTo>
                  <a:lnTo>
                    <a:pt x="3293745" y="2342198"/>
                  </a:lnTo>
                  <a:lnTo>
                    <a:pt x="3228975" y="2391728"/>
                  </a:lnTo>
                  <a:lnTo>
                    <a:pt x="3163252" y="2439352"/>
                  </a:lnTo>
                  <a:lnTo>
                    <a:pt x="3096577" y="2483168"/>
                  </a:lnTo>
                  <a:lnTo>
                    <a:pt x="3027998" y="2523172"/>
                  </a:lnTo>
                  <a:lnTo>
                    <a:pt x="2959418" y="2561272"/>
                  </a:lnTo>
                  <a:lnTo>
                    <a:pt x="2888932" y="2595562"/>
                  </a:lnTo>
                  <a:lnTo>
                    <a:pt x="2817495" y="2626995"/>
                  </a:lnTo>
                  <a:lnTo>
                    <a:pt x="2746057" y="2655570"/>
                  </a:lnTo>
                  <a:lnTo>
                    <a:pt x="2673668" y="2680335"/>
                  </a:lnTo>
                  <a:lnTo>
                    <a:pt x="2600325" y="2702243"/>
                  </a:lnTo>
                  <a:lnTo>
                    <a:pt x="2526030" y="2720340"/>
                  </a:lnTo>
                  <a:lnTo>
                    <a:pt x="2452688" y="2735580"/>
                  </a:lnTo>
                  <a:lnTo>
                    <a:pt x="2377440" y="2747010"/>
                  </a:lnTo>
                  <a:lnTo>
                    <a:pt x="2303145" y="2755582"/>
                  </a:lnTo>
                  <a:lnTo>
                    <a:pt x="2227898" y="2760345"/>
                  </a:lnTo>
                  <a:lnTo>
                    <a:pt x="2152650" y="2762250"/>
                  </a:lnTo>
                  <a:lnTo>
                    <a:pt x="2077403" y="2760345"/>
                  </a:lnTo>
                  <a:lnTo>
                    <a:pt x="2002155" y="2755582"/>
                  </a:lnTo>
                  <a:lnTo>
                    <a:pt x="1927860" y="2747010"/>
                  </a:lnTo>
                  <a:lnTo>
                    <a:pt x="1852612" y="2735580"/>
                  </a:lnTo>
                  <a:lnTo>
                    <a:pt x="1779270" y="2720340"/>
                  </a:lnTo>
                  <a:lnTo>
                    <a:pt x="1704975" y="2702243"/>
                  </a:lnTo>
                  <a:lnTo>
                    <a:pt x="1631632" y="2680335"/>
                  </a:lnTo>
                  <a:lnTo>
                    <a:pt x="1559243" y="2655570"/>
                  </a:lnTo>
                  <a:lnTo>
                    <a:pt x="1487805" y="2626995"/>
                  </a:lnTo>
                  <a:lnTo>
                    <a:pt x="1416368" y="2595562"/>
                  </a:lnTo>
                  <a:lnTo>
                    <a:pt x="1345882" y="2561272"/>
                  </a:lnTo>
                  <a:lnTo>
                    <a:pt x="1277303" y="2523172"/>
                  </a:lnTo>
                  <a:lnTo>
                    <a:pt x="1208722" y="2483168"/>
                  </a:lnTo>
                  <a:lnTo>
                    <a:pt x="1142047" y="2439352"/>
                  </a:lnTo>
                  <a:lnTo>
                    <a:pt x="1076325" y="2391728"/>
                  </a:lnTo>
                  <a:lnTo>
                    <a:pt x="1011555" y="2342198"/>
                  </a:lnTo>
                  <a:lnTo>
                    <a:pt x="948690" y="2289810"/>
                  </a:lnTo>
                  <a:lnTo>
                    <a:pt x="887730" y="2234565"/>
                  </a:lnTo>
                  <a:lnTo>
                    <a:pt x="827722" y="2176462"/>
                  </a:lnTo>
                  <a:lnTo>
                    <a:pt x="768668" y="2116455"/>
                  </a:lnTo>
                  <a:lnTo>
                    <a:pt x="712470" y="2052638"/>
                  </a:lnTo>
                  <a:lnTo>
                    <a:pt x="657225" y="1986915"/>
                  </a:lnTo>
                  <a:lnTo>
                    <a:pt x="603885" y="1919288"/>
                  </a:lnTo>
                  <a:lnTo>
                    <a:pt x="552450" y="1847850"/>
                  </a:lnTo>
                  <a:lnTo>
                    <a:pt x="503872" y="1775460"/>
                  </a:lnTo>
                  <a:lnTo>
                    <a:pt x="456247" y="1700212"/>
                  </a:lnTo>
                  <a:lnTo>
                    <a:pt x="411480" y="1624012"/>
                  </a:lnTo>
                  <a:lnTo>
                    <a:pt x="367665" y="1544955"/>
                  </a:lnTo>
                  <a:lnTo>
                    <a:pt x="326707" y="1463992"/>
                  </a:lnTo>
                  <a:lnTo>
                    <a:pt x="288607" y="1381125"/>
                  </a:lnTo>
                  <a:lnTo>
                    <a:pt x="252412" y="1296353"/>
                  </a:lnTo>
                  <a:lnTo>
                    <a:pt x="218122" y="1210628"/>
                  </a:lnTo>
                  <a:lnTo>
                    <a:pt x="185738" y="1123950"/>
                  </a:lnTo>
                  <a:lnTo>
                    <a:pt x="157162" y="1034415"/>
                  </a:lnTo>
                  <a:lnTo>
                    <a:pt x="129540" y="944880"/>
                  </a:lnTo>
                  <a:lnTo>
                    <a:pt x="105728" y="853440"/>
                  </a:lnTo>
                  <a:lnTo>
                    <a:pt x="83820" y="761047"/>
                  </a:lnTo>
                  <a:lnTo>
                    <a:pt x="63818" y="668655"/>
                  </a:lnTo>
                  <a:lnTo>
                    <a:pt x="46672" y="574358"/>
                  </a:lnTo>
                  <a:lnTo>
                    <a:pt x="32385" y="480060"/>
                  </a:lnTo>
                  <a:lnTo>
                    <a:pt x="20955" y="384810"/>
                  </a:lnTo>
                  <a:lnTo>
                    <a:pt x="11430" y="288608"/>
                  </a:lnTo>
                  <a:lnTo>
                    <a:pt x="5715" y="192405"/>
                  </a:lnTo>
                  <a:lnTo>
                    <a:pt x="953" y="96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EE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781800" y="2247900"/>
              <a:ext cx="4305300" cy="2762250"/>
            </a:xfrm>
            <a:custGeom>
              <a:avLst/>
              <a:gdLst/>
              <a:ahLst/>
              <a:cxnLst/>
              <a:rect l="l" t="t" r="r" b="b"/>
              <a:pathLst>
                <a:path w="4305300" h="2762250">
                  <a:moveTo>
                    <a:pt x="4305300" y="0"/>
                  </a:moveTo>
                  <a:lnTo>
                    <a:pt x="4304348" y="96202"/>
                  </a:lnTo>
                  <a:lnTo>
                    <a:pt x="4299585" y="192405"/>
                  </a:lnTo>
                  <a:lnTo>
                    <a:pt x="4293870" y="288608"/>
                  </a:lnTo>
                  <a:lnTo>
                    <a:pt x="4284345" y="384810"/>
                  </a:lnTo>
                  <a:lnTo>
                    <a:pt x="4272915" y="480060"/>
                  </a:lnTo>
                  <a:lnTo>
                    <a:pt x="4258627" y="574358"/>
                  </a:lnTo>
                  <a:lnTo>
                    <a:pt x="4241482" y="668655"/>
                  </a:lnTo>
                  <a:lnTo>
                    <a:pt x="4221480" y="761047"/>
                  </a:lnTo>
                  <a:lnTo>
                    <a:pt x="4199573" y="853440"/>
                  </a:lnTo>
                  <a:lnTo>
                    <a:pt x="4175760" y="944880"/>
                  </a:lnTo>
                  <a:lnTo>
                    <a:pt x="4148138" y="1034415"/>
                  </a:lnTo>
                  <a:lnTo>
                    <a:pt x="4119562" y="1123950"/>
                  </a:lnTo>
                  <a:lnTo>
                    <a:pt x="4087177" y="1210628"/>
                  </a:lnTo>
                  <a:lnTo>
                    <a:pt x="4052888" y="1296353"/>
                  </a:lnTo>
                  <a:lnTo>
                    <a:pt x="4016693" y="1381125"/>
                  </a:lnTo>
                  <a:lnTo>
                    <a:pt x="3978593" y="1463992"/>
                  </a:lnTo>
                  <a:lnTo>
                    <a:pt x="3937635" y="1544955"/>
                  </a:lnTo>
                  <a:lnTo>
                    <a:pt x="3893820" y="1624012"/>
                  </a:lnTo>
                  <a:lnTo>
                    <a:pt x="3849052" y="1700212"/>
                  </a:lnTo>
                  <a:lnTo>
                    <a:pt x="3801427" y="1775460"/>
                  </a:lnTo>
                  <a:lnTo>
                    <a:pt x="3752850" y="1847850"/>
                  </a:lnTo>
                  <a:lnTo>
                    <a:pt x="3701415" y="1919288"/>
                  </a:lnTo>
                  <a:lnTo>
                    <a:pt x="3648075" y="1986915"/>
                  </a:lnTo>
                  <a:lnTo>
                    <a:pt x="3592830" y="2052638"/>
                  </a:lnTo>
                  <a:lnTo>
                    <a:pt x="3536632" y="2116455"/>
                  </a:lnTo>
                  <a:lnTo>
                    <a:pt x="3477577" y="2176462"/>
                  </a:lnTo>
                  <a:lnTo>
                    <a:pt x="3417570" y="2234565"/>
                  </a:lnTo>
                  <a:lnTo>
                    <a:pt x="3356610" y="2289810"/>
                  </a:lnTo>
                  <a:lnTo>
                    <a:pt x="3293745" y="2342198"/>
                  </a:lnTo>
                  <a:lnTo>
                    <a:pt x="3228975" y="2391728"/>
                  </a:lnTo>
                  <a:lnTo>
                    <a:pt x="3163252" y="2439352"/>
                  </a:lnTo>
                  <a:lnTo>
                    <a:pt x="3096577" y="2483168"/>
                  </a:lnTo>
                  <a:lnTo>
                    <a:pt x="3027998" y="2523172"/>
                  </a:lnTo>
                  <a:lnTo>
                    <a:pt x="2959418" y="2561272"/>
                  </a:lnTo>
                  <a:lnTo>
                    <a:pt x="2888932" y="2595562"/>
                  </a:lnTo>
                  <a:lnTo>
                    <a:pt x="2817495" y="2626995"/>
                  </a:lnTo>
                  <a:lnTo>
                    <a:pt x="2746057" y="2655570"/>
                  </a:lnTo>
                  <a:lnTo>
                    <a:pt x="2673668" y="2680335"/>
                  </a:lnTo>
                  <a:lnTo>
                    <a:pt x="2600325" y="2702243"/>
                  </a:lnTo>
                  <a:lnTo>
                    <a:pt x="2526030" y="2720340"/>
                  </a:lnTo>
                  <a:lnTo>
                    <a:pt x="2452688" y="2735580"/>
                  </a:lnTo>
                  <a:lnTo>
                    <a:pt x="2377440" y="2747010"/>
                  </a:lnTo>
                  <a:lnTo>
                    <a:pt x="2303145" y="2755582"/>
                  </a:lnTo>
                  <a:lnTo>
                    <a:pt x="2227898" y="2760345"/>
                  </a:lnTo>
                  <a:lnTo>
                    <a:pt x="2152650" y="2762250"/>
                  </a:lnTo>
                  <a:lnTo>
                    <a:pt x="2077403" y="2760345"/>
                  </a:lnTo>
                  <a:lnTo>
                    <a:pt x="2002155" y="2755582"/>
                  </a:lnTo>
                  <a:lnTo>
                    <a:pt x="1927860" y="2747010"/>
                  </a:lnTo>
                  <a:lnTo>
                    <a:pt x="1852612" y="2735580"/>
                  </a:lnTo>
                  <a:lnTo>
                    <a:pt x="1779270" y="2720340"/>
                  </a:lnTo>
                  <a:lnTo>
                    <a:pt x="1704975" y="2702243"/>
                  </a:lnTo>
                  <a:lnTo>
                    <a:pt x="1631632" y="2680335"/>
                  </a:lnTo>
                  <a:lnTo>
                    <a:pt x="1559243" y="2655570"/>
                  </a:lnTo>
                  <a:lnTo>
                    <a:pt x="1487805" y="2626995"/>
                  </a:lnTo>
                  <a:lnTo>
                    <a:pt x="1416368" y="2595562"/>
                  </a:lnTo>
                  <a:lnTo>
                    <a:pt x="1345882" y="2561272"/>
                  </a:lnTo>
                  <a:lnTo>
                    <a:pt x="1277303" y="2523172"/>
                  </a:lnTo>
                  <a:lnTo>
                    <a:pt x="1208722" y="2483168"/>
                  </a:lnTo>
                  <a:lnTo>
                    <a:pt x="1142047" y="2439352"/>
                  </a:lnTo>
                  <a:lnTo>
                    <a:pt x="1076325" y="2391728"/>
                  </a:lnTo>
                  <a:lnTo>
                    <a:pt x="1011555" y="2342198"/>
                  </a:lnTo>
                  <a:lnTo>
                    <a:pt x="948690" y="2289810"/>
                  </a:lnTo>
                  <a:lnTo>
                    <a:pt x="887730" y="2234565"/>
                  </a:lnTo>
                  <a:lnTo>
                    <a:pt x="827722" y="2176462"/>
                  </a:lnTo>
                  <a:lnTo>
                    <a:pt x="768668" y="2116455"/>
                  </a:lnTo>
                  <a:lnTo>
                    <a:pt x="712470" y="2052638"/>
                  </a:lnTo>
                  <a:lnTo>
                    <a:pt x="657225" y="1986915"/>
                  </a:lnTo>
                  <a:lnTo>
                    <a:pt x="603885" y="1919288"/>
                  </a:lnTo>
                  <a:lnTo>
                    <a:pt x="552450" y="1847850"/>
                  </a:lnTo>
                  <a:lnTo>
                    <a:pt x="503872" y="1775460"/>
                  </a:lnTo>
                  <a:lnTo>
                    <a:pt x="456247" y="1700212"/>
                  </a:lnTo>
                  <a:lnTo>
                    <a:pt x="411480" y="1624012"/>
                  </a:lnTo>
                  <a:lnTo>
                    <a:pt x="367665" y="1544955"/>
                  </a:lnTo>
                  <a:lnTo>
                    <a:pt x="326707" y="1463992"/>
                  </a:lnTo>
                  <a:lnTo>
                    <a:pt x="288607" y="1381125"/>
                  </a:lnTo>
                  <a:lnTo>
                    <a:pt x="252412" y="1296353"/>
                  </a:lnTo>
                  <a:lnTo>
                    <a:pt x="218122" y="1210628"/>
                  </a:lnTo>
                  <a:lnTo>
                    <a:pt x="185738" y="1123950"/>
                  </a:lnTo>
                  <a:lnTo>
                    <a:pt x="157162" y="1034415"/>
                  </a:lnTo>
                  <a:lnTo>
                    <a:pt x="129540" y="944880"/>
                  </a:lnTo>
                  <a:lnTo>
                    <a:pt x="105728" y="853440"/>
                  </a:lnTo>
                  <a:lnTo>
                    <a:pt x="83820" y="761047"/>
                  </a:lnTo>
                  <a:lnTo>
                    <a:pt x="63818" y="668655"/>
                  </a:lnTo>
                  <a:lnTo>
                    <a:pt x="46672" y="574358"/>
                  </a:lnTo>
                  <a:lnTo>
                    <a:pt x="32385" y="480060"/>
                  </a:lnTo>
                  <a:lnTo>
                    <a:pt x="20955" y="384810"/>
                  </a:lnTo>
                  <a:lnTo>
                    <a:pt x="11430" y="288608"/>
                  </a:lnTo>
                  <a:lnTo>
                    <a:pt x="5715" y="192405"/>
                  </a:lnTo>
                  <a:lnTo>
                    <a:pt x="953" y="96202"/>
                  </a:ln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78180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08710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429500" y="3219450"/>
              <a:ext cx="3009900" cy="1409700"/>
            </a:xfrm>
            <a:prstGeom prst="ellipse">
              <a:avLst/>
            </a:prstGeom>
            <a:solidFill>
              <a:srgbClr val="F9D2C0"/>
            </a:solidFill>
            <a:ln w="20955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95586" y="2616518"/>
              <a:ext cx="477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NP 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45317" y="3721418"/>
              <a:ext cx="578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P = NP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40593" y="3996214"/>
              <a:ext cx="787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NP 完全</a:t>
              </a:r>
            </a:p>
          </p:txBody>
        </p:sp>
      </p:grpSp>
      <p:grpSp>
        <p:nvGrpSpPr>
          <p:cNvPr id="39" name="note-neq"/>
          <p:cNvGrpSpPr/>
          <p:nvPr/>
        </p:nvGrpSpPr>
        <p:grpSpPr>
          <a:xfrm>
            <a:off x="533400" y="5391150"/>
            <a:ext cx="5448300" cy="971550"/>
            <a:chOff x="533400" y="5391150"/>
            <a:chExt cx="5448300" cy="971550"/>
          </a:xfrm>
        </p:grpSpPr>
        <p:sp>
          <p:nvSpPr>
            <p:cNvPr id="34" name="Rectangle 34"/>
            <p:cNvSpPr/>
            <p:nvPr/>
          </p:nvSpPr>
          <p:spPr>
            <a:xfrm>
              <a:off x="533400" y="5391150"/>
              <a:ext cx="54483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5054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" y="5505450"/>
              <a:ext cx="88392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3583" y="5555456"/>
              <a:ext cx="680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若 P ≠ NP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285" y="5860256"/>
              <a:ext cx="4555998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⊆ NP，NP 完全 = NP ∩ NP 难，P 与 NP 完全不相交。NP 中还有既不属于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P、也不是 NP 完全的问题（Ladner 定理）。</a:t>
              </a:r>
            </a:p>
          </p:txBody>
        </p:sp>
      </p:grpSp>
      <p:grpSp>
        <p:nvGrpSpPr>
          <p:cNvPr id="45" name="note-eq"/>
          <p:cNvGrpSpPr/>
          <p:nvPr/>
        </p:nvGrpSpPr>
        <p:grpSpPr>
          <a:xfrm>
            <a:off x="6210300" y="5391150"/>
            <a:ext cx="5448300" cy="971550"/>
            <a:chOff x="6210300" y="5391150"/>
            <a:chExt cx="5448300" cy="971550"/>
          </a:xfrm>
        </p:grpSpPr>
        <p:sp>
          <p:nvSpPr>
            <p:cNvPr id="40" name="Rectangle 40"/>
            <p:cNvSpPr/>
            <p:nvPr/>
          </p:nvSpPr>
          <p:spPr>
            <a:xfrm>
              <a:off x="6210300" y="5391150"/>
              <a:ext cx="54483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19825" y="55054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38900" y="5505450"/>
              <a:ext cx="83343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15718" y="5555456"/>
              <a:ext cx="680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 P = NP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33185" y="5860256"/>
              <a:ext cx="474091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P、NP、NP 完全三类重合（严格说要除去“全部答否”“全部答是”两个平凡问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题）。停机问题等 NP 难问题仍不属于 NP。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40425" cy="3351847"/>
            <a:chOff x="667512" y="1835468"/>
            <a:chExt cx="584042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18173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完全性证明实例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30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以恰好覆盖为已知 NPC 问题，证明子集和问题是 NP 完全的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恰好覆盖问题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27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子集和问题属于 NP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构造：每个子集编码成一个二进制数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175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正确性、例子与子集和 ≤ₚ 0/1 背包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1810" cy="909257"/>
            <a:chOff x="520446" y="342900"/>
            <a:chExt cx="7901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1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恰好覆盖问题：选出的子集互不相交，并集正好是 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240280"/>
            <a:chOff x="533400" y="1524000"/>
            <a:chExt cx="4760595" cy="22402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给定有穷集 A = {a₁, a₂, …, aₙ} 和 A 的子集的集合 W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{S₁, S₂, …, Sₘ}。设 U ⊆ W，如果 U 中的集合两两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不相交，且并集等于 A，则称 U 是 A 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恰好覆盖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问：当前实例是否存在这样的 U？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3188494"/>
              <a:ext cx="38447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恰好覆盖问题是 NP 完全的，本部分把它作为已知的 NPC 问题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L′。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939540"/>
            <a:ext cx="4760595" cy="2088832"/>
            <a:chOff x="533400" y="3939540"/>
            <a:chExt cx="4760595" cy="2088832"/>
          </a:xfrm>
        </p:grpSpPr>
        <p:sp>
          <p:nvSpPr>
            <p:cNvPr id="15" name="Rectangle 15"/>
            <p:cNvSpPr/>
            <p:nvPr/>
          </p:nvSpPr>
          <p:spPr>
            <a:xfrm>
              <a:off x="533400" y="3939540"/>
              <a:ext cx="476059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7289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131945"/>
              <a:ext cx="46196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23" y="4165282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33310" y="4170998"/>
              <a:ext cx="2937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S₄ 改为 {3,5}，不存在恰好覆盖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3905" y="449294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83" y="4531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702" y="4505325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 5 只在 S₄ 中，必须选 S₄，于是 S₂（含 3）不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3905" y="505301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583" y="50913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4702" y="5065395"/>
              <a:ext cx="2388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 1 只剩 S₁ = {1,2} 可选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3905" y="535590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9583" y="53942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4702" y="5367338"/>
              <a:ext cx="38970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 4 只在 S₂、S₃ 中：S₂ 已排除，S₃ = {2,4}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在 2 上相交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5598795" y="1524000"/>
            <a:ext cx="6059805" cy="4504372"/>
            <a:chOff x="5598795" y="1524000"/>
            <a:chExt cx="6059805" cy="4504372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4504372"/>
            </a:xfrm>
            <a:prstGeom prst="roundRect">
              <a:avLst>
                <a:gd name="adj" fmla="val 29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608320" y="1657350"/>
              <a:ext cx="47625" cy="42376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29300" y="1716405"/>
              <a:ext cx="4619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1670" y="1750695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98704" y="1756410"/>
              <a:ext cx="3764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{1,2,3,4,5}，W = {S₁, S₂, S₃, S₄}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22442" y="2090738"/>
              <a:ext cx="5345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= {1,2}，S₂ = {1,3,4}，S₃ = {2,4}，S₄ = {2,5}。列出每个子集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含哪些元素：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29300" y="2627948"/>
              <a:ext cx="563689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78588" y="2752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53566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444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04274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29151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4029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37362" y="315801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21715" y="31580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46593" y="31580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29300" y="3434715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29300" y="3439478"/>
              <a:ext cx="56368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37362" y="35637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49428" y="3449002"/>
              <a:ext cx="9058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21715" y="35637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700135" y="3449002"/>
              <a:ext cx="9058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72423" y="35637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625012" y="3449002"/>
              <a:ext cx="9058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97300" y="35637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29300" y="3840480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37362" y="39695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46593" y="39695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97300" y="39695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29300" y="4246245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9300" y="4251008"/>
              <a:ext cx="56368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37362" y="43753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S₄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775258" y="4260532"/>
              <a:ext cx="9058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46593" y="43753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550842" y="4260532"/>
              <a:ext cx="9058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922178" y="43753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29300" y="2627948"/>
              <a:ext cx="56368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835140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760970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685848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610725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536555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23585" y="4762024"/>
              <a:ext cx="4419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绿色两行 {S₂, S₄} 让每个元素恰好出现一次，是 A 的恰好覆盖。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79283" cy="909257"/>
            <a:chOff x="520446" y="342900"/>
            <a:chExt cx="54792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792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子集和问题，以及它属于 NP 的证明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335405"/>
            <a:chOff x="533400" y="1524000"/>
            <a:chExt cx="5193982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给定正整数集合 X = {x₁, x₂, …, xₙ} 及正整数 N，问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是否存在 X 的子集 T，使得 T 中的元素之和等于 N？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049905"/>
            <a:ext cx="5193982" cy="1701165"/>
            <a:chOff x="533400" y="3049905"/>
            <a:chExt cx="5193982" cy="1701165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6160" y="32951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636645"/>
              <a:ext cx="18280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{3, 5, 6, 7}：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034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3971925"/>
              <a:ext cx="2998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15：取 T = {3, 5, 7}，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答是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3700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307205"/>
              <a:ext cx="288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4：没有子集的和为 4，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答否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941570"/>
            <a:ext cx="5193982" cy="1316355"/>
            <a:chOff x="533400" y="4941570"/>
            <a:chExt cx="5193982" cy="1316355"/>
          </a:xfrm>
        </p:grpSpPr>
        <p:sp>
          <p:nvSpPr>
            <p:cNvPr id="24" name="Rectangle 24"/>
            <p:cNvSpPr/>
            <p:nvPr/>
          </p:nvSpPr>
          <p:spPr>
            <a:xfrm>
              <a:off x="533400" y="494157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2950" y="5151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158" y="5186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330" y="552831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求证子集和问题是 NP 完全的。按两步法：先证子集和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∈ NP，再证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恰好覆盖 ≤ₚ 子集和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3" name="c2-code-1"/>
          <p:cNvGrpSpPr/>
          <p:nvPr/>
        </p:nvGrpSpPr>
        <p:grpSpPr>
          <a:xfrm>
            <a:off x="6032182" y="1524000"/>
            <a:ext cx="5626418" cy="2566988"/>
            <a:chOff x="6032182" y="1524000"/>
            <a:chExt cx="5626418" cy="2566988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2566988"/>
            </a:xfrm>
            <a:prstGeom prst="roundRect">
              <a:avLst>
                <a:gd name="adj" fmla="val 37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0580" y="1675924"/>
              <a:ext cx="2280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步（补充）：子集和的不确定算法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51232" y="2581275"/>
              <a:ext cx="5588318" cy="2295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59056" y="1940719"/>
              <a:ext cx="3686810" cy="20857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SUBSETSUM(X, n, N)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 ← 0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 do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 ← choice(0:1) 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猜 xᵢ 是否放入 T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c = 1 then s ← s + xᵢ endif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 = N then success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else failure endif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SUBSETSUM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032182" y="4281488"/>
            <a:ext cx="5626418" cy="1976438"/>
            <a:chOff x="6032182" y="4281488"/>
            <a:chExt cx="5626418" cy="1976438"/>
          </a:xfrm>
        </p:grpSpPr>
        <p:sp>
          <p:nvSpPr>
            <p:cNvPr id="34" name="Rectangle 34"/>
            <p:cNvSpPr/>
            <p:nvPr/>
          </p:nvSpPr>
          <p:spPr>
            <a:xfrm>
              <a:off x="6032182" y="4281488"/>
              <a:ext cx="5626418" cy="1976438"/>
            </a:xfrm>
            <a:prstGeom prst="roundRect">
              <a:avLst>
                <a:gd name="adj" fmla="val 6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41708" y="4414838"/>
              <a:ext cx="47625" cy="17097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79832" y="44910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0041" y="4526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85548" y="493109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43662" y="4868228"/>
              <a:ext cx="3849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存在和为 N 的子集 ⇔ 存在一组选择使 s = N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85548" y="526637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43662" y="5203508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猜想 n 次，O(n)；验证做 n 次加法和一次比较，每次加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法的时间与数的位数成正比，总时间是输入长度的多项式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3356" y="5821204"/>
              <a:ext cx="1990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所以子集和问题属于 NP。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8104" cy="909257"/>
            <a:chOff x="520446" y="342900"/>
            <a:chExt cx="8458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8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步的构造：把每个子集 Sⱼ 编码成一个二进制数 xⱼ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627487" cy="541592"/>
            <a:chOff x="526161" y="1547336"/>
            <a:chExt cx="10627487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6274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给定恰好覆盖实例 A = {a₁, …, aₙ}、W = {S₁, …, Sₘ}，构造子集和实例 X = {x₁, …, xₘ} 和 N，让 Sⱼ 对应 xⱼ，A 对应 N。从 W 中选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Sⱼ 恰好覆盖 A，相当于从 X 中选 xⱼ 使和等于 N。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2213610"/>
            <a:ext cx="4588464" cy="2279809"/>
            <a:chOff x="533400" y="2213610"/>
            <a:chExt cx="4588464" cy="2279809"/>
          </a:xfrm>
        </p:grpSpPr>
        <p:sp>
          <p:nvSpPr>
            <p:cNvPr id="9" name="Rectangle 9"/>
            <p:cNvSpPr/>
            <p:nvPr/>
          </p:nvSpPr>
          <p:spPr>
            <a:xfrm>
              <a:off x="666750" y="235648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136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874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00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4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70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738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48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2450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513171"/>
              <a:ext cx="4175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 = ⌈log₂(m+1)⌉，每个 xⱼ 和 N 都表示成 nk 位的二进制数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831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99911"/>
              <a:ext cx="4127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 nk 位从左到右分成 n 段，每段 k 位，第 i 段对应元素 aᵢ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419475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686651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每段的最右位为 1，其余位为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006215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xⱼ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73391"/>
              <a:ext cx="366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aᵢ ∈ Sⱼ，第 i 段的最右位为 1；否则第 i 段全为 0</a:t>
              </a:r>
            </a:p>
          </p:txBody>
        </p:sp>
      </p:grpSp>
      <p:grpSp>
        <p:nvGrpSpPr>
          <p:cNvPr id="51" name="c1-cells-2"/>
          <p:cNvGrpSpPr/>
          <p:nvPr/>
        </p:nvGrpSpPr>
        <p:grpSpPr>
          <a:xfrm>
            <a:off x="527685" y="4708208"/>
            <a:ext cx="5374005" cy="1167764"/>
            <a:chOff x="527685" y="4708208"/>
            <a:chExt cx="5374005" cy="1167764"/>
          </a:xfrm>
        </p:grpSpPr>
        <p:sp>
          <p:nvSpPr>
            <p:cNvPr id="27" name="TextBox 27"/>
            <p:cNvSpPr txBox="1"/>
            <p:nvPr/>
          </p:nvSpPr>
          <p:spPr>
            <a:xfrm>
              <a:off x="527685" y="507825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0580" y="4957762"/>
              <a:ext cx="126777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85086" y="507825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0…01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98358" y="4957762"/>
              <a:ext cx="126777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52863" y="507825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0…01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66135" y="4957762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51249" y="5078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33912" y="4957762"/>
              <a:ext cx="126777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88418" y="507825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0…01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90214" y="47082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1426845" y="486251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657991" y="47082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2694622" y="486251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93546" y="47082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230178" y="486251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561546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xⱼ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30580" y="5494972"/>
              <a:ext cx="126777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85086" y="561546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0…01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98358" y="5494972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552863" y="561546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0…00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66135" y="5494972"/>
              <a:ext cx="126777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951249" y="56154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633912" y="5494972"/>
              <a:ext cx="126777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88418" y="561546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0…01</a:t>
              </a:r>
            </a:p>
          </p:txBody>
        </p:sp>
      </p:grpSp>
      <p:grpSp>
        <p:nvGrpSpPr>
          <p:cNvPr id="53" name="c1-text-3"/>
          <p:cNvGrpSpPr/>
          <p:nvPr/>
        </p:nvGrpSpPr>
        <p:grpSpPr>
          <a:xfrm>
            <a:off x="527685" y="6070759"/>
            <a:ext cx="3696299" cy="220028"/>
            <a:chOff x="527685" y="6070759"/>
            <a:chExt cx="3696299" cy="220028"/>
          </a:xfrm>
        </p:grpSpPr>
        <p:sp>
          <p:nvSpPr>
            <p:cNvPr id="52" name="TextBox 52"/>
            <p:cNvSpPr txBox="1"/>
            <p:nvPr/>
          </p:nvSpPr>
          <p:spPr>
            <a:xfrm>
              <a:off x="527685" y="6070759"/>
              <a:ext cx="3696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示意：每格是一段 k 位；图中 a₁、aₙ ∈ Sⱼ，a₂ ∉ Sⱼ。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789420" y="2204085"/>
            <a:ext cx="4869180" cy="1731645"/>
            <a:chOff x="6789420" y="2204085"/>
            <a:chExt cx="4869180" cy="1731645"/>
          </a:xfrm>
        </p:grpSpPr>
        <p:sp>
          <p:nvSpPr>
            <p:cNvPr id="54" name="Rectangle 54"/>
            <p:cNvSpPr/>
            <p:nvPr/>
          </p:nvSpPr>
          <p:spPr>
            <a:xfrm>
              <a:off x="6789420" y="2204085"/>
              <a:ext cx="4869180" cy="1731645"/>
            </a:xfrm>
            <a:prstGeom prst="roundRect">
              <a:avLst>
                <a:gd name="adj" fmla="val 770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81825" y="23964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65264" y="2430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写成数值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formula23"/>
                <p:cNvSpPr txBox="1">
                  <a:spLocks noGrp="1"/>
                </p:cNvSpPr>
                <p:nvPr/>
              </p:nvSpPr>
              <p:spPr>
                <a:xfrm>
                  <a:off x="6981825" y="2730818"/>
                  <a:ext cx="448437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formula24"/>
                <p:cNvSpPr txBox="1">
                  <a:spLocks noGrp="1"/>
                </p:cNvSpPr>
                <p:nvPr/>
              </p:nvSpPr>
              <p:spPr>
                <a:xfrm>
                  <a:off x="6981825" y="3160395"/>
                  <a:ext cx="448437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sub>
                          <m:sup/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5" name="c2-card-2"/>
          <p:cNvGrpSpPr/>
          <p:nvPr/>
        </p:nvGrpSpPr>
        <p:grpSpPr>
          <a:xfrm>
            <a:off x="6789420" y="4110990"/>
            <a:ext cx="4869180" cy="1209675"/>
            <a:chOff x="6789420" y="4110990"/>
            <a:chExt cx="4869180" cy="1209675"/>
          </a:xfrm>
        </p:grpSpPr>
        <p:sp>
          <p:nvSpPr>
            <p:cNvPr id="60" name="Rectangle 60"/>
            <p:cNvSpPr/>
            <p:nvPr/>
          </p:nvSpPr>
          <p:spPr>
            <a:xfrm>
              <a:off x="6789420" y="4110990"/>
              <a:ext cx="486918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98945" y="424434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19925" y="43033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03364" y="43376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构造时间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13067" y="4659630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共写出 m + 1 个数，每个 nk 位，k = O(log m)，总时间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O(mn log m)，是多项式时间。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789420" y="5495925"/>
            <a:ext cx="4869180" cy="750570"/>
            <a:chOff x="6789420" y="5495925"/>
            <a:chExt cx="4869180" cy="750570"/>
          </a:xfrm>
        </p:grpSpPr>
        <p:sp>
          <p:nvSpPr>
            <p:cNvPr id="66" name="Rectangle 66"/>
            <p:cNvSpPr/>
            <p:nvPr/>
          </p:nvSpPr>
          <p:spPr>
            <a:xfrm>
              <a:off x="6789420" y="5495925"/>
              <a:ext cx="4869180" cy="750570"/>
            </a:xfrm>
            <a:prstGeom prst="roundRect">
              <a:avLst>
                <a:gd name="adj" fmla="val 1522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994208" y="5771198"/>
              <a:ext cx="200026" cy="200026"/>
              <a:chOff x="6994208" y="577119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94208" y="57711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094220" y="58378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083108" y="58712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296912" y="5652135"/>
              <a:ext cx="40085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思考：为什么每段需要 k 位，每段 1 位行不行？答案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见两页后。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0078" cy="909257"/>
            <a:chOff x="520446" y="342900"/>
            <a:chExt cx="61800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00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构造举例：n = 4，m = 3，每段 k = 2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237738" cy="293370"/>
            <a:chOff x="525780" y="1548765"/>
            <a:chExt cx="1123773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237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实例：A = {a₁, a₂, a₃, a₄} = {2, 3, 5, 8}，S₁ = {a₁, a₂}，S₂ = {a₁, a₃, a₄}，S₃ = {a₂}。S₂ ∪ S₃ 是 A 的恰好覆盖。</a:t>
              </a:r>
            </a:p>
          </p:txBody>
        </p:sp>
      </p:grpSp>
      <p:grpSp>
        <p:nvGrpSpPr>
          <p:cNvPr id="62" name="c1-cells-1"/>
          <p:cNvGrpSpPr/>
          <p:nvPr/>
        </p:nvGrpSpPr>
        <p:grpSpPr>
          <a:xfrm>
            <a:off x="526923" y="2003107"/>
            <a:ext cx="4441317" cy="2611755"/>
            <a:chOff x="526923" y="2003107"/>
            <a:chExt cx="4441317" cy="2611755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35981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36332" y="2268855"/>
              <a:ext cx="958215" cy="340042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09452" y="235981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93595" y="2268855"/>
              <a:ext cx="958215" cy="340042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66714" y="235981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51810" y="2268855"/>
              <a:ext cx="958215" cy="340042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24929" y="235981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10025" y="2268855"/>
              <a:ext cx="958215" cy="340042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83144" y="235981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8476" y="20031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77340" y="2173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85738" y="20031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34602" y="2173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43953" y="20031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492818" y="2173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02168" y="20031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51032" y="2173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28608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6332" y="2769870"/>
              <a:ext cx="958215" cy="34004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09452" y="28608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093595" y="2769870"/>
              <a:ext cx="958215" cy="34004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66714" y="28608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51810" y="2769870"/>
              <a:ext cx="958215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24929" y="28608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10025" y="2769870"/>
              <a:ext cx="958215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83144" y="28608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6923" y="33628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6332" y="3271838"/>
              <a:ext cx="958215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09452" y="33628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093595" y="3271838"/>
              <a:ext cx="958215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466714" y="33628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051810" y="3271838"/>
              <a:ext cx="958215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424929" y="33628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010025" y="3271838"/>
              <a:ext cx="958215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383144" y="33628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6923" y="38638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36332" y="3772852"/>
              <a:ext cx="958215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509452" y="38638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093595" y="3772852"/>
              <a:ext cx="958215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466714" y="38638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51810" y="3772852"/>
              <a:ext cx="958215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24929" y="38638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10025" y="3772852"/>
              <a:ext cx="958215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383144" y="38638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6923" y="43648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x₂+x₃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36332" y="4274820"/>
              <a:ext cx="958215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09452" y="43648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093595" y="4274820"/>
              <a:ext cx="958215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466714" y="43648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051810" y="4274820"/>
              <a:ext cx="958215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24929" y="43648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010025" y="4274820"/>
              <a:ext cx="958215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383144" y="43648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69" name="c1-callout-2"/>
          <p:cNvGrpSpPr/>
          <p:nvPr/>
        </p:nvGrpSpPr>
        <p:grpSpPr>
          <a:xfrm>
            <a:off x="533400" y="4794885"/>
            <a:ext cx="5626418" cy="1497330"/>
            <a:chOff x="533400" y="4794885"/>
            <a:chExt cx="5626418" cy="1497330"/>
          </a:xfrm>
        </p:grpSpPr>
        <p:sp>
          <p:nvSpPr>
            <p:cNvPr id="63" name="Rectangle 63"/>
            <p:cNvSpPr/>
            <p:nvPr/>
          </p:nvSpPr>
          <p:spPr>
            <a:xfrm>
              <a:off x="533400" y="4794885"/>
              <a:ext cx="5626418" cy="1497330"/>
            </a:xfrm>
            <a:prstGeom prst="roundRect">
              <a:avLst>
                <a:gd name="adj" fmla="val 76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443538"/>
              <a:ext cx="200026" cy="200025"/>
              <a:chOff x="738188" y="544353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4435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54879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55991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5312569"/>
              <a:ext cx="44418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f(i, j) = 01（aᵢ ∈ Sⱼ）或 00（否则），j = 0 表示 A 本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身，N = f(1,0)f(2,0)f(3,0)f(4,0)。</a:t>
              </a:r>
            </a:p>
          </p:txBody>
        </p:sp>
      </p:grpSp>
      <p:grpSp>
        <p:nvGrpSpPr>
          <p:cNvPr id="97" name="c2-table-1"/>
          <p:cNvGrpSpPr/>
          <p:nvPr/>
        </p:nvGrpSpPr>
        <p:grpSpPr>
          <a:xfrm>
            <a:off x="6459284" y="1954530"/>
            <a:ext cx="5199316" cy="2401824"/>
            <a:chOff x="6459284" y="1954530"/>
            <a:chExt cx="5199316" cy="2401824"/>
          </a:xfrm>
        </p:grpSpPr>
        <p:sp>
          <p:nvSpPr>
            <p:cNvPr id="70" name="Rectangle 70"/>
            <p:cNvSpPr/>
            <p:nvPr/>
          </p:nvSpPr>
          <p:spPr>
            <a:xfrm>
              <a:off x="6464618" y="1954530"/>
              <a:ext cx="519398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08317" y="208311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72703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538650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十进制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39803" y="25069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59622" y="250698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01010101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366221" y="25069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64618" y="27984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64618" y="280320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95797" y="29317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59622" y="293179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01010000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66221" y="29317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64618" y="3223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95797" y="3356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59622" y="335661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01000101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925050" y="3237548"/>
              <a:ext cx="17240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366221" y="3356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464618" y="36471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464618" y="365188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095797" y="37804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59622" y="378047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00010000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9925050" y="3661410"/>
              <a:ext cx="172402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1366221" y="378047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464618" y="1954530"/>
              <a:ext cx="519398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921942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910762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459284" y="4150995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⌈log₂(m+1)⌉ = ⌈log₂4⌉ = 2</a:t>
              </a:r>
            </a:p>
          </p:txBody>
        </p:sp>
      </p:grpSp>
      <p:grpSp>
        <p:nvGrpSpPr>
          <p:cNvPr id="107" name="c2-card-2"/>
          <p:cNvGrpSpPr/>
          <p:nvPr/>
        </p:nvGrpSpPr>
        <p:grpSpPr>
          <a:xfrm>
            <a:off x="6464618" y="4495800"/>
            <a:ext cx="5193982" cy="1797368"/>
            <a:chOff x="6464618" y="4495800"/>
            <a:chExt cx="5193982" cy="1797368"/>
          </a:xfrm>
        </p:grpSpPr>
        <p:sp>
          <p:nvSpPr>
            <p:cNvPr id="98" name="Rectangle 98"/>
            <p:cNvSpPr/>
            <p:nvPr/>
          </p:nvSpPr>
          <p:spPr>
            <a:xfrm>
              <a:off x="6464618" y="4495800"/>
              <a:ext cx="5193982" cy="1797368"/>
            </a:xfrm>
            <a:prstGeom prst="roundRect">
              <a:avLst>
                <a:gd name="adj" fmla="val 7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474142" y="4629150"/>
              <a:ext cx="47625" cy="15306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700838" y="46939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72275" y="47282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检验所有子集和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6708458" y="511397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865048" y="5054441"/>
              <a:ext cx="26811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单个：80，69，16；三个：165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708458" y="54321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865048" y="5371624"/>
              <a:ext cx="26199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两个：149，96，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69 + 16 = 85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694742" y="5686425"/>
              <a:ext cx="4439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x₂ + x₃ = N，对应唯一的恰好覆盖 {S₂, S₃}。aᵢ 的取值 2、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3、5、8 不影响构造。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正确性：每段 k 位保证相加时不向上一段进位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89855" cy="2315051"/>
            <a:chOff x="533400" y="1533525"/>
            <a:chExt cx="5189855" cy="231505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1213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95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2393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是恰好覆盖 ⇒ 有子集和为 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46342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T = {xⱼ | Sⱼ ∈ U}。每个 aᵢ 恰好在 U 的一个集合中，T 中各数第 i 段加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起来恰为 1，不产生进位，总和等于 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359342"/>
              <a:ext cx="2416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有子集和为 N ⇒ 存在恰好覆盖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627471"/>
              <a:ext cx="4776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最多 m 个数，每段最多加出 m &lt; 2ᵏ，不会向上一段进位。所以每段的和必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须恰为 1，即每个 aᵢ 恰好属于一个被选中的 Sⱼ，这些 Sⱼ 构成恰好覆盖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15372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420904"/>
              <a:ext cx="46626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构造是多项式时间的，两个方向都成立，恰好覆盖 ≤ₚ 子集和。又因子集和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 NP，子集和问题是 NP 完全的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017645"/>
            <a:ext cx="5410200" cy="978218"/>
            <a:chOff x="533400" y="4017645"/>
            <a:chExt cx="5410200" cy="978218"/>
          </a:xfrm>
        </p:grpSpPr>
        <p:sp>
          <p:nvSpPr>
            <p:cNvPr id="21" name="Rectangle 21"/>
            <p:cNvSpPr/>
            <p:nvPr/>
          </p:nvSpPr>
          <p:spPr>
            <a:xfrm>
              <a:off x="533400" y="401764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406265"/>
              <a:ext cx="200026" cy="200025"/>
              <a:chOff x="738188" y="4406265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4062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44507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45618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163377"/>
              <a:ext cx="448856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对照上一页：x₂ = 01|00|01|01，x₃ = 00|01|00|00，逐段相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加得 01|01|01|01 = N，每个元素恰好被选中的一个集合覆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盖。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170170"/>
            <a:ext cx="5410200" cy="815340"/>
            <a:chOff x="533400" y="5170170"/>
            <a:chExt cx="5410200" cy="815340"/>
          </a:xfrm>
        </p:grpSpPr>
        <p:sp>
          <p:nvSpPr>
            <p:cNvPr id="28" name="Rectangle 28"/>
            <p:cNvSpPr/>
            <p:nvPr/>
          </p:nvSpPr>
          <p:spPr>
            <a:xfrm>
              <a:off x="533400" y="5170170"/>
              <a:ext cx="5410200" cy="815340"/>
            </a:xfrm>
            <a:prstGeom prst="roundRect">
              <a:avLst>
                <a:gd name="adj" fmla="val 140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477828"/>
              <a:ext cx="200026" cy="200026"/>
              <a:chOff x="738188" y="547782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4778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544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5778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359718"/>
              <a:ext cx="43085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 = ⌈log₂(m+1)⌉ 保证 2ᵏ ≥ m + 1 &gt; m。k 取得更大也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正确，只是数更长；取够用的最小值即可。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248400" y="1524000"/>
            <a:ext cx="5410200" cy="4461510"/>
            <a:chOff x="6248400" y="1524000"/>
            <a:chExt cx="5410200" cy="446151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4461510"/>
            </a:xfrm>
            <a:prstGeom prst="roundRect">
              <a:avLst>
                <a:gd name="adj" fmla="val 29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4194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62597" y="175641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每段只用 1 位会答错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2090738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{a₁, a₂, a₃, a₄}，S₁ = {a₃, a₄}，S₂ = {a₂, a₄}，S₃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{a₂, a₃, a₄}。a₁ 不在任何子集中，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不存在恰好覆盖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78905" y="2627948"/>
              <a:ext cx="498729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7403" y="27522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5306" y="2752249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每段 1 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84785" y="2752249"/>
              <a:ext cx="914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每段 k = 2 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6790" y="315801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17024" y="315801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= 15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35218" y="315801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01010101 = 85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8905" y="343471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8905" y="343947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95718" y="35637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58487" y="3563779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 = 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76681" y="3563779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00000101 = 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78905" y="3840480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5718" y="39695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58487" y="396954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0101 = 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35218" y="396954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00010001 = 17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78905" y="424624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8905" y="425100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5718" y="43753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58487" y="4375309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= 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35218" y="4375309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00010101 = 21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8905" y="2627948"/>
              <a:ext cx="498729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693342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413558" y="26279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6487478" y="482155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43497" y="4765358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位：3 + 5 + 7 = 15 = N，a₄ 段加出 3 发生进位，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错误地答</a:t>
              </a:r>
              <a:br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87478" y="538162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43497" y="5325428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位：子集和为 5, 17, 21, 22, 26, 38, 43，都不等于 85，</a:t>
              </a:r>
              <a:br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正确答否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17623" cy="909257"/>
            <a:chOff x="520446" y="342900"/>
            <a:chExt cx="51176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176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思考题解答：子集和 ≤ₚ 0/1 背包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118354" cy="2536126"/>
            <a:chOff x="533400" y="1533525"/>
            <a:chExt cx="5118354" cy="253612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802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2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61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1818322"/>
              <a:ext cx="47045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给定子集和实例 X = {x₁, …, xₙ} 和 N，令重量 wᵢ = xᵢ、效益值 pᵢ = xᵢ，容量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N，要求的效益值也取 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3102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565082"/>
              <a:ext cx="3060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Σwᵢ ≤ N 且 Σpᵢ ≥ N ⇔ 选中的 xᵢ 之和恰好等于 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863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11848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只把数复制一遍，线性时间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416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670935"/>
              <a:ext cx="46779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背包判定问题属于 NP（猜选法，验证重量和效益），又有子集和 ≤ₚ 0/1 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包，所以它是 NP 完全的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231005"/>
            <a:ext cx="5410200" cy="1471612"/>
            <a:chOff x="533400" y="4231005"/>
            <a:chExt cx="5410200" cy="1471612"/>
          </a:xfrm>
        </p:grpSpPr>
        <p:sp>
          <p:nvSpPr>
            <p:cNvPr id="25" name="Rectangle 25"/>
            <p:cNvSpPr/>
            <p:nvPr/>
          </p:nvSpPr>
          <p:spPr>
            <a:xfrm>
              <a:off x="533400" y="4231005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364355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4119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44448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48053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7448" y="4752499"/>
              <a:ext cx="3149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只限重量 ≤ 85：只选物品 1（80）也满足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2000" y="50901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7448" y="5037296"/>
              <a:ext cx="3338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只限效益 ≥ 85：选物品 1、2（149）也满足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53749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5322094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两个条件同时成立，才逼出选中的和恰为 85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243447" y="1524000"/>
            <a:ext cx="5415153" cy="2552414"/>
            <a:chOff x="6243447" y="1524000"/>
            <a:chExt cx="5415153" cy="2552414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4373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05579" y="1641157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重量 ≤ 85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68657" y="1641157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效益 ≥ 85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3079" y="2023110"/>
              <a:ext cx="1028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{1}、{2}、{3}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97970" y="2023110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80、69、16，✓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06303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40411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55935" y="2404110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149，✗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19013" y="2404110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149，✓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3079" y="278511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3}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94807" y="278511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96，✗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57884" y="2785110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96，✓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3059430"/>
              <a:ext cx="18649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316706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3}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41970" y="3059430"/>
              <a:ext cx="19545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94807" y="3167062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85，✓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115550" y="3059430"/>
              <a:ext cx="153352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657884" y="3167062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85，✓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3079" y="3548062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3}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55935" y="354806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165，✗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19013" y="354806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165，✓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12768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10126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3447" y="3885724"/>
              <a:ext cx="5353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例：由上一例 X = {80, 69, 16}、N = 85 得 wᵢ = pᵢ = (80, 69, 16)，M = 85，效益值 85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6248400" y="4202430"/>
            <a:ext cx="5410200" cy="1500188"/>
            <a:chOff x="6248400" y="4202430"/>
            <a:chExt cx="5410200" cy="1500188"/>
          </a:xfrm>
        </p:grpSpPr>
        <p:sp>
          <p:nvSpPr>
            <p:cNvPr id="69" name="Rectangle 69"/>
            <p:cNvSpPr/>
            <p:nvPr/>
          </p:nvSpPr>
          <p:spPr>
            <a:xfrm>
              <a:off x="6248400" y="4202430"/>
              <a:ext cx="5410200" cy="1500188"/>
            </a:xfrm>
            <a:prstGeom prst="roundRect">
              <a:avLst>
                <a:gd name="adj" fmla="val 761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4852988"/>
              <a:ext cx="200026" cy="200026"/>
              <a:chOff x="6453188" y="485298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4852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19863" y="4930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6273" y="4745831"/>
              <a:ext cx="4434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只有选物品 2、3 时两个条件同时满足，对应子集和 69 + 16 =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85。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5" name="Rectangle 7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1273" y="6039326"/>
              <a:ext cx="7777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0/1 背包是 NP 完全的：除非 P = NP，它没有多项式时间算法，第 6 章的 O(nM) 只是伪多项式时间。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60892" cy="909257"/>
            <a:chOff x="520446" y="342900"/>
            <a:chExt cx="25608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6297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在每秒 10⁹ 次的计算机上，O(n²) 算法处理 n = 10⁵ 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多久？O(2ⁿ) 算法处理 n = 50 呢？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 10¹⁰ 次运算，10 秒；后者 2⁵⁰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1.13×10¹⁵ 次，约 1.13×10⁶ 秒，约 13 天。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67201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L₁ ≤ₚ L₂，L₁ 是 NPC，L₂ ∈ NP。能得出什么？若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还知道 L₂ ∈ P 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可得 L₂ 是 NPC；若 L₂ ∈ P，则 L₁ ∈ P，进而 P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3674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P ⊆ NP？NP 是“非 P”的意思吗？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520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确定算法是 choice 集合只有一个元素的不确定算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法。NP 的 N 指不确定（Nondeterministic），不是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“非”。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3372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(x₁ ∨ ¬x₂) ∧ (¬x₁ ∨ x₂) ∧ (x₁ ∨ x₂) 可满足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可满足。前两个子式要求 x₁ = x₂，第三个要求至少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一个为真，取 x₁ = x₂ = 1。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89506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对照复习：第 1 题见第 4–6 页，第 2 题见第 25 页，第 3 题见第 32–33 页，第 4 题见第 34–35 页。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60892" cy="909257"/>
            <a:chOff x="520446" y="342900"/>
            <a:chExt cx="25608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793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877" y="407194"/>
              <a:ext cx="2467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 · NP 完全性证明实例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137410"/>
            <a:chOff x="533400" y="1524000"/>
            <a:chExt cx="5410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5757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恰好覆盖实例 n = 3，S₁ = {a₁, a₂}，S₂ = {a₃}，S₃ =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{a₂, a₃}。按本章构造，k、N、x₁、x₂、x₃ 各是多少？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46762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 = 2；N = 010101 = 21，x₁ = 010100 = 20，x₂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000001 = 1，x₃ = 000101 = 5。x₁ + x₂ = 21，对应恰好覆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 {S₁, S₂}。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5410200" cy="1594485"/>
            <a:chOff x="533400" y="3847148"/>
            <a:chExt cx="5410200" cy="1594485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50101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背包的 O(nM) 动态规划为什么不算多项式时间算法？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4743926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输入中 M 只占约 log₂M 位，nM 相对输入长度是指数级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的，属于伪多项式时间。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594485"/>
            <a:chOff x="6248400" y="1524000"/>
            <a:chExt cx="5410200" cy="15944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2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9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44996" y="2100739"/>
              <a:ext cx="4111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要证明问题 L 是 NPC，证出 L ≤ₚ SAT 可以吗？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44996" y="2420779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不可以。它只能说明 L ∈ NP；还必须把一个已知 NPC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问题归约到 L。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04222"/>
            <a:ext cx="5410200" cy="2137410"/>
            <a:chOff x="6248400" y="3304222"/>
            <a:chExt cx="5410200" cy="2137410"/>
          </a:xfrm>
        </p:grpSpPr>
        <p:sp>
          <p:nvSpPr>
            <p:cNvPr id="25" name="Rectangle 25"/>
            <p:cNvSpPr/>
            <p:nvPr/>
          </p:nvSpPr>
          <p:spPr>
            <a:xfrm>
              <a:off x="6248400" y="3304222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2235" y="350805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9722" y="354377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4996" y="3880961"/>
              <a:ext cx="3240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 ≠ NP，有没有 NPC 问题属于 P？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4996" y="4201001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没有。若某个 NPC 问题属于 P，由 NPC 的意义可得 P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NP，矛盾。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1" name="Rectangle 3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04084"/>
              <a:ext cx="8052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对照复习：第 1 题见第 42–44 页，第 2 题见第 33 页，第 3 题见第 23 页，第 4 题见第 32 页。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7157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204" y="407194"/>
              <a:ext cx="9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第9章 NP 完全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428875"/>
            <a:chOff x="533400" y="1524000"/>
            <a:chExt cx="6059805" cy="2428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538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010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061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82090" y="205406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多项式时间内用确定算法可解的判定问题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32960" y="20540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排序、最短路径的判定版本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5598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2090" y="2459831"/>
              <a:ext cx="27139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多项式时间内用不确定算法可解（能猜能验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证）的判定问题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2960" y="2559844"/>
              <a:ext cx="1782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最大团判定、SAT、子集和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16563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2090" y="3165634"/>
              <a:ext cx="2773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 NP，且 SAT（任一 NPC 问题）≤ₚ 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2960" y="3065621"/>
              <a:ext cx="1668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SAT、恰好覆盖、子集和、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23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711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671411"/>
              <a:ext cx="396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82090" y="3671411"/>
              <a:ext cx="189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SAT（任一 NPC 问题）≤ₚ 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2960" y="3671411"/>
              <a:ext cx="1726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NPC 问题、停机问题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77315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28185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128135"/>
            <a:ext cx="6059805" cy="1511618"/>
            <a:chOff x="533400" y="4128135"/>
            <a:chExt cx="6059805" cy="1511618"/>
          </a:xfrm>
        </p:grpSpPr>
        <p:sp>
          <p:nvSpPr>
            <p:cNvPr id="32" name="Rectangle 32"/>
            <p:cNvSpPr/>
            <p:nvPr/>
          </p:nvSpPr>
          <p:spPr>
            <a:xfrm>
              <a:off x="533400" y="4128135"/>
              <a:ext cx="6059805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61485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3905" y="432054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3341" y="435483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473297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4676775"/>
              <a:ext cx="51829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最大团回溯法的运算量与时间（第 4 页）；提速后一天可解的顶点数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5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52930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5236845"/>
              <a:ext cx="5059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备注“NP ⊂ 非 P 问题”（第 25 页）；EVAL 的时间（第 36 页）</a:t>
              </a:r>
            </a:p>
          </p:txBody>
        </p:sp>
      </p:grpSp>
      <p:grpSp>
        <p:nvGrpSpPr>
          <p:cNvPr id="59" name="c2-bullets-1"/>
          <p:cNvGrpSpPr/>
          <p:nvPr/>
        </p:nvGrpSpPr>
        <p:grpSpPr>
          <a:xfrm>
            <a:off x="6897052" y="1534478"/>
            <a:ext cx="4580763" cy="2860548"/>
            <a:chOff x="6897052" y="1534478"/>
            <a:chExt cx="4580763" cy="2860548"/>
          </a:xfrm>
        </p:grpSpPr>
        <p:sp>
          <p:nvSpPr>
            <p:cNvPr id="41" name="Ellipse 41"/>
            <p:cNvSpPr/>
            <p:nvPr/>
          </p:nvSpPr>
          <p:spPr>
            <a:xfrm>
              <a:off x="6897052" y="153447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2731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7849" y="154590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多项式时间算法是好算法；问题复杂性指最好算法的复杂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7052" y="21021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52731" y="2141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7849" y="21145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优化问题与其判定问题可以多项式时间互相转换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897052" y="241363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52731" y="24520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77849" y="242601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不确定算法分猜想、验证两阶段，时间按二进制输入长度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97052" y="298227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52731" y="30206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77849" y="2993708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 是第一个 NPC 问题（Cook 定理），由它归约出其他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NPC 问题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7052" y="35499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52731" y="35893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77849" y="3562350"/>
              <a:ext cx="2457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 NPC 问题属于 P ⇔ P = NP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97052" y="386143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52731" y="38998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77849" y="387381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归约的目的：用复杂度不降低、但应用范围更广的问题的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算法，代替应用范围小的一类问题的算法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10092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 L 是 NPC 分两步：L ∈ NP；已知 NPC 问题 ≤ₚ L。复习时把恰好覆盖到子集和的构造手算一遍，并说清每段 k 位的理由。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8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第9章 NP 完全问题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9">
  <a:themeElements>
    <a:clrScheme name="algo_ch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2026-09-23T06:10:48Z</dcterms:created>
  <dcterms:modified xsi:type="dcterms:W3CDTF">2026-09-23T06:10:48Z</dcterms:modified>
  <cp:category/>
  <cp:contentStatus/>
</cp:coreProperties>
</file>