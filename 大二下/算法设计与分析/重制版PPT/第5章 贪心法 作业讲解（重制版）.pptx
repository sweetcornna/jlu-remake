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</p:sldIdLst>
  <p:sldSz cx="12192000" cy="6858000" type="screen16x9"/>
  <p:notesSz cx="6858000" cy="9144000"/>
  <p:defaultTextStyle>
    <a:defPPr>
      <a:defRPr lang="zh-CN"/>
    </a:defPPr>
    <a:lvl1pPr marL="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algo_hw5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zh-CN" smtClean="0"/>
              <a:t>1/27/13</a:t>
            </a:fld>
            <a:endParaRPr lang="zh-C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Masters/_rels/slideMaster1.xml.rels><?xml version='1.0' encoding='UTF-8' standalone='yes'?>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algo_hw5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zh-CN" smtClean="0"/>
              <a:t>1/27/13</a:t>
            </a:fld>
            <a:endParaRPr 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lang="zh-CN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 lang="zh-CN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 lang="zh-CN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 lang="zh-CN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fa2fac3608ef2073.png"/>
</Relationships>
</file>

<file path=ppt/slides/_rels/slide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f9115bc4458ee756.png"/>
</Relationships>
</file>

<file path=ppt/slides/_rels/slide1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211dcfc6722000f0.png"/>
</Relationships>
</file>

<file path=ppt/slides/_rels/slide2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over-hero"/>
          <p:cNvPicPr>
            <a:picLocks noChangeAspect="1"/>
          </p:cNvPicPr>
          <p:nvPr/>
        </p:nvPicPr>
        <p:blipFill>
          <a:blip r:embed="rId2"/>
          <a:srcRect l="5556" t="0" r="5555" b="0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over-scrim"/>
          <p:cNvSpPr/>
          <p:nvPr/>
        </p:nvSpPr>
        <p:spPr>
          <a:xfrm>
            <a:off x="0" y="0"/>
            <a:ext cx="7620000" cy="6858000"/>
          </a:xfrm>
          <a:prstGeom prst="rect">
            <a:avLst/>
          </a:prstGeom>
          <a:gradFill>
            <a:gsLst>
              <a:gs pos="0">
                <a:srgbClr val="FFFFFF">
                  <a:alpha val="97000"/>
                </a:srgbClr>
              </a:gs>
              <a:gs pos="58000">
                <a:srgbClr val="FFFFFF">
                  <a:alpha val="85000"/>
                </a:srgbClr>
              </a:gs>
              <a:gs pos="100000">
                <a:srgbClr val="FFFFFF">
                  <a:alpha val="0"/>
                </a:srgbClr>
              </a:gs>
            </a:gsLst>
            <a:lin ang="0" scaled="1"/>
          </a:gradFill>
          <a:ln>
            <a:noFill/>
          </a:ln>
        </p:spPr>
      </p:sp>
      <p:grpSp>
        <p:nvGrpSpPr>
          <p:cNvPr id="17" name="cover-title"/>
          <p:cNvGrpSpPr/>
          <p:nvPr/>
        </p:nvGrpSpPr>
        <p:grpSpPr>
          <a:xfrm>
            <a:off x="666750" y="1619250"/>
            <a:ext cx="4838167" cy="3437763"/>
            <a:chOff x="666750" y="1619250"/>
            <a:chExt cx="4838167" cy="3437763"/>
          </a:xfrm>
        </p:grpSpPr>
        <p:sp>
          <p:nvSpPr>
            <p:cNvPr id="4" name="Rectangle 4"/>
            <p:cNvSpPr/>
            <p:nvPr/>
          </p:nvSpPr>
          <p:spPr>
            <a:xfrm>
              <a:off x="685800" y="1619250"/>
              <a:ext cx="2596515" cy="3429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783747" y="1718310"/>
              <a:ext cx="240062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算法设计与分析 · 第5章作业讲解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666750" y="2407920"/>
              <a:ext cx="4174030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贪心法 作业讲解</a:t>
              </a:r>
            </a:p>
          </p:txBody>
        </p:sp>
        <p:sp>
          <p:nvSpPr>
            <p:cNvPr id="7" name="Rectangle 7"/>
            <p:cNvSpPr/>
            <p:nvPr/>
          </p:nvSpPr>
          <p:spPr>
            <a:xfrm>
              <a:off x="685800" y="3147060"/>
              <a:ext cx="990600" cy="5715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76656" y="3467100"/>
              <a:ext cx="482826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 道题：举反例、跑算法、用交换论证证最优</a:t>
              </a:r>
            </a:p>
          </p:txBody>
        </p:sp>
        <p:sp>
          <p:nvSpPr>
            <p:cNvPr id="9" name="Ellipse 9"/>
            <p:cNvSpPr/>
            <p:nvPr/>
          </p:nvSpPr>
          <p:spPr>
            <a:xfrm>
              <a:off x="709612" y="3976688"/>
              <a:ext cx="66675" cy="6667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69442" y="3921442"/>
              <a:ext cx="221273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反例与子集选择（题1、6）</a:t>
              </a:r>
            </a:p>
          </p:txBody>
        </p:sp>
        <p:sp>
          <p:nvSpPr>
            <p:cNvPr id="11" name="Ellipse 11"/>
            <p:cNvSpPr/>
            <p:nvPr/>
          </p:nvSpPr>
          <p:spPr>
            <a:xfrm>
              <a:off x="709612" y="4267200"/>
              <a:ext cx="66675" cy="6667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869442" y="4211955"/>
              <a:ext cx="194921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作业调度（题2、3、4）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709612" y="4557712"/>
              <a:ext cx="66675" cy="6667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869442" y="4502468"/>
              <a:ext cx="221273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排序与交换论证（题5、7）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709612" y="4848225"/>
              <a:ext cx="66675" cy="6667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869442" y="4792980"/>
              <a:ext cx="167661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自测 6 题与更正汇总</a:t>
              </a:r>
            </a:p>
          </p:txBody>
        </p:sp>
      </p:grpSp>
      <p:grpSp>
        <p:nvGrpSpPr>
          <p:cNvPr id="19" name="cover-credit"/>
          <p:cNvGrpSpPr/>
          <p:nvPr/>
        </p:nvGrpSpPr>
        <p:grpSpPr>
          <a:xfrm>
            <a:off x="680466" y="6192202"/>
            <a:ext cx="4774197" cy="205359"/>
            <a:chOff x="680466" y="6192202"/>
            <a:chExt cx="4774197" cy="205359"/>
          </a:xfrm>
        </p:grpSpPr>
        <p:sp>
          <p:nvSpPr>
            <p:cNvPr id="18" name="TextBox 18"/>
            <p:cNvSpPr txBox="1"/>
            <p:nvPr/>
          </p:nvSpPr>
          <p:spPr>
            <a:xfrm>
              <a:off x="680466" y="6192202"/>
              <a:ext cx="477419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重制讲义 · 自学复习版｜据吉林大学《算法设计与分析》第5章作业讲解整理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2772156" cy="909257"/>
            <a:chOff x="520446" y="342900"/>
            <a:chExt cx="2772156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246822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31966" y="407194"/>
              <a:ext cx="105064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第5章 作业讲解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277215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本次作业讲解路线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6" name="c1-agenda-1"/>
          <p:cNvGrpSpPr/>
          <p:nvPr/>
        </p:nvGrpSpPr>
        <p:grpSpPr>
          <a:xfrm>
            <a:off x="521970" y="1515428"/>
            <a:ext cx="6287453" cy="3689317"/>
            <a:chOff x="521970" y="1515428"/>
            <a:chExt cx="6287453" cy="3689317"/>
          </a:xfrm>
        </p:grpSpPr>
        <p:sp>
          <p:nvSpPr>
            <p:cNvPr id="7" name="TextBox 7"/>
            <p:cNvSpPr txBox="1"/>
            <p:nvPr/>
          </p:nvSpPr>
          <p:spPr>
            <a:xfrm>
              <a:off x="521970" y="1515428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01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065086" y="1551622"/>
              <a:ext cx="134950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解题前的准备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066990" y="1868329"/>
              <a:ext cx="498420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7 题总览，本章的量度标准，贪心题的三种问法与交换论证的写法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1073468" y="2181225"/>
              <a:ext cx="57359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521970" y="2286952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02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065086" y="2323148"/>
              <a:ext cx="157162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反例与子集选择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066990" y="2639854"/>
              <a:ext cx="487219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题1 0/1 背包按 pᵢ/wᵢ 贪心不一定最优，题6 装载问题轻者先装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1073468" y="2953702"/>
              <a:ext cx="57359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521970" y="3058478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03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065086" y="3094673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作业调度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066990" y="3412331"/>
              <a:ext cx="520577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题2 定理5.3 推广到不同处理时间，题3 JS 插入法，题4 FJS 集合树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1073468" y="3725228"/>
              <a:ext cx="57359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521970" y="3830955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04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065086" y="3867150"/>
              <a:ext cx="157162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排序与交换论证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066990" y="4183856"/>
              <a:ext cx="445864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题5 磁带存储按 fᵢ/lᵢ 排序，题7 顾客服务按服务时间排序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1073468" y="4497705"/>
              <a:ext cx="57359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521970" y="4602480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05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065086" y="4638675"/>
              <a:ext cx="112737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自测与小结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066990" y="4955381"/>
              <a:ext cx="340753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6 道自测题，7 题结论表，原讲解的更正汇总</a:t>
              </a:r>
            </a:p>
          </p:txBody>
        </p:sp>
      </p:grpSp>
      <p:grpSp>
        <p:nvGrpSpPr>
          <p:cNvPr id="39" name="c2-card-1"/>
          <p:cNvGrpSpPr/>
          <p:nvPr/>
        </p:nvGrpSpPr>
        <p:grpSpPr>
          <a:xfrm>
            <a:off x="7114222" y="1524000"/>
            <a:ext cx="4544378" cy="3630930"/>
            <a:chOff x="7114222" y="1524000"/>
            <a:chExt cx="4544378" cy="3630930"/>
          </a:xfrm>
        </p:grpSpPr>
        <p:sp>
          <p:nvSpPr>
            <p:cNvPr id="27" name="Rectangle 27"/>
            <p:cNvSpPr/>
            <p:nvPr/>
          </p:nvSpPr>
          <p:spPr>
            <a:xfrm>
              <a:off x="7114222" y="1524000"/>
              <a:ext cx="4544378" cy="3630930"/>
            </a:xfrm>
            <a:prstGeom prst="roundRect">
              <a:avLst>
                <a:gd name="adj" fmla="val 367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7123748" y="1657350"/>
              <a:ext cx="47625" cy="3364230"/>
            </a:xfrm>
            <a:prstGeom prst="roundRect">
              <a:avLst>
                <a:gd name="adj" fmla="val 50000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7361872" y="1733550"/>
              <a:ext cx="778192" cy="257175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443229" y="1769269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学习目标</a:t>
              </a:r>
            </a:p>
          </p:txBody>
        </p:sp>
        <p:sp>
          <p:nvSpPr>
            <p:cNvPr id="31" name="Ellipse 31"/>
            <p:cNvSpPr/>
            <p:nvPr/>
          </p:nvSpPr>
          <p:spPr>
            <a:xfrm>
              <a:off x="7367588" y="2173605"/>
              <a:ext cx="64770" cy="6477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7525702" y="2110740"/>
              <a:ext cx="3634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对给定的贪心策略构造反例，并用穷举说明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真正的最优解</a:t>
              </a:r>
            </a:p>
          </p:txBody>
        </p:sp>
        <p:sp>
          <p:nvSpPr>
            <p:cNvPr id="33" name="Ellipse 33"/>
            <p:cNvSpPr/>
            <p:nvPr/>
          </p:nvSpPr>
          <p:spPr>
            <a:xfrm>
              <a:off x="7367588" y="2794635"/>
              <a:ext cx="64770" cy="6477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7525702" y="2731770"/>
              <a:ext cx="375856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手工执行 JS 与 FJS，写出 J 数组、F 数组和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集合树每一步的变化</a:t>
              </a:r>
            </a:p>
          </p:txBody>
        </p:sp>
        <p:sp>
          <p:nvSpPr>
            <p:cNvPr id="35" name="Ellipse 35"/>
            <p:cNvSpPr/>
            <p:nvPr/>
          </p:nvSpPr>
          <p:spPr>
            <a:xfrm>
              <a:off x="7367588" y="3415665"/>
              <a:ext cx="64770" cy="6477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7525702" y="3352800"/>
              <a:ext cx="3634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用交换论证证明贪心解最优，说清换谁、为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什么仍可行、目标值为什么不变差</a:t>
              </a:r>
            </a:p>
          </p:txBody>
        </p:sp>
        <p:sp>
          <p:nvSpPr>
            <p:cNvPr id="37" name="Ellipse 37"/>
            <p:cNvSpPr/>
            <p:nvPr/>
          </p:nvSpPr>
          <p:spPr>
            <a:xfrm>
              <a:off x="7367588" y="4036695"/>
              <a:ext cx="64770" cy="6477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525702" y="3973830"/>
              <a:ext cx="3634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写出排序型贪心的算法描述并分析时间复杂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度</a:t>
              </a:r>
            </a:p>
          </p:txBody>
        </p:sp>
      </p:grpSp>
      <p:grpSp>
        <p:nvGrpSpPr>
          <p:cNvPr id="4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0" name="TextBox 40"/>
            <p:cNvSpPr txBox="1"/>
            <p:nvPr/>
          </p:nvSpPr>
          <p:spPr>
            <a:xfrm>
              <a:off x="528447" y="6581299"/>
              <a:ext cx="242418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算法设计与分析 · 第5章 贪心法 作业讲解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884468" cy="909257"/>
            <a:chOff x="520446" y="342900"/>
            <a:chExt cx="7884468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246822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31966" y="407194"/>
              <a:ext cx="105064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第5章 作业讲解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88446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 题总览：两道举反例，两道跑算法，四处要证最优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64" name="c1-table-1"/>
          <p:cNvGrpSpPr/>
          <p:nvPr/>
        </p:nvGrpSpPr>
        <p:grpSpPr>
          <a:xfrm>
            <a:off x="533400" y="1524000"/>
            <a:ext cx="11125200" cy="3590925"/>
            <a:chOff x="533400" y="1524000"/>
            <a:chExt cx="11125200" cy="359092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11125200" cy="448628"/>
            </a:xfrm>
            <a:prstGeom prst="rect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774141" y="1659731"/>
              <a:ext cx="18526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题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2913024" y="165973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问题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5917209" y="165973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结论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919364" y="165973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方法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9972091" y="1659731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关键答案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810542" y="2108359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308925" y="2108359"/>
              <a:ext cx="251150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0/1 背包按 pᵢ/wᵢ 非增次序装入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4993005" y="1982152"/>
              <a:ext cx="2205990" cy="429578"/>
            </a:xfrm>
            <a:prstGeom prst="rect">
              <a:avLst/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5091303" y="2108359"/>
              <a:ext cx="109853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✗ 不一定最优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316343" y="2108359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举反例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9096566" y="2108359"/>
              <a:ext cx="188060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 = 6：贪心 7，最优 11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533400" y="2416492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533400" y="2421255"/>
              <a:ext cx="11125200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810542" y="2556986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308925" y="2556986"/>
              <a:ext cx="288197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定理5.3 推广到处理时间 tᵢ 各不相同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5091303" y="2556986"/>
              <a:ext cx="75390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✓ 仍成立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316343" y="2556986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交换论证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9096566" y="2556986"/>
              <a:ext cx="208071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可行排列逐步换成期限升序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533400" y="2866072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810542" y="3005614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308925" y="3005614"/>
              <a:ext cx="196513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JS 求解 n = 7 的作业调度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5091303" y="3005614"/>
              <a:ext cx="138756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J = {3, 4, 6, 7}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316343" y="3005614"/>
              <a:ext cx="9865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执行算法5.4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9096566" y="3005614"/>
              <a:ext cx="59882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效益 74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533400" y="3314700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533400" y="3319462"/>
              <a:ext cx="11125200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810542" y="3454241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1308925" y="3454241"/>
              <a:ext cx="206527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FJS 求解 n = 7 的作业调度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5091303" y="3454241"/>
              <a:ext cx="164245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J = {1, 3, 4, 6, 7}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7316343" y="3454241"/>
              <a:ext cx="9865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执行算法5.5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8998268" y="3328988"/>
              <a:ext cx="2650808" cy="429578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9096566" y="3454241"/>
              <a:ext cx="69359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效益 115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533400" y="3763328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810542" y="3903821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1308925" y="3903821"/>
              <a:ext cx="162880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磁带存储使 ERT 最小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5091303" y="3903821"/>
              <a:ext cx="140869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按 fᵢ/lᵢ 非增最优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7316343" y="3903821"/>
              <a:ext cx="124499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反例 + 相邻交换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9096566" y="3903821"/>
              <a:ext cx="222718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按 lᵢ、按 fᵢ 排都不一定最优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533400" y="4211955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7" name="Rectangle 47"/>
            <p:cNvSpPr/>
            <p:nvPr/>
          </p:nvSpPr>
          <p:spPr>
            <a:xfrm>
              <a:off x="533400" y="4216718"/>
              <a:ext cx="11125200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810542" y="4352449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1308925" y="4352449"/>
              <a:ext cx="208071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装载问题使集装箱个数最多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5091303" y="4352449"/>
              <a:ext cx="92621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✓ 轻者先装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7316343" y="4352449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交换论证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9096566" y="4352449"/>
              <a:ext cx="87395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O(n log n)</a:t>
              </a:r>
            </a:p>
          </p:txBody>
        </p:sp>
        <p:sp>
          <p:nvSpPr>
            <p:cNvPr id="53" name="Rectangle 53"/>
            <p:cNvSpPr/>
            <p:nvPr/>
          </p:nvSpPr>
          <p:spPr>
            <a:xfrm>
              <a:off x="533400" y="4660582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810542" y="4801076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1308925" y="4801076"/>
              <a:ext cx="188255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 个顾客总等待时间最少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5091303" y="4801076"/>
              <a:ext cx="144315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✓ 服务时间短者先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7316343" y="4801076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相邻交换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9096566" y="4801076"/>
              <a:ext cx="87395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O(n log n)</a:t>
              </a:r>
            </a:p>
          </p:txBody>
        </p:sp>
        <p:sp>
          <p:nvSpPr>
            <p:cNvPr id="59" name="Rectangle 59"/>
            <p:cNvSpPr/>
            <p:nvPr/>
          </p:nvSpPr>
          <p:spPr>
            <a:xfrm>
              <a:off x="533400" y="1524000"/>
              <a:ext cx="11125200" cy="359092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60" name="Rectangle 60"/>
            <p:cNvSpPr/>
            <p:nvPr/>
          </p:nvSpPr>
          <p:spPr>
            <a:xfrm>
              <a:off x="1196340" y="1524000"/>
              <a:ext cx="9525" cy="35909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1" name="Rectangle 61"/>
            <p:cNvSpPr/>
            <p:nvPr/>
          </p:nvSpPr>
          <p:spPr>
            <a:xfrm>
              <a:off x="4978718" y="1524000"/>
              <a:ext cx="9525" cy="35909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2" name="Rectangle 62"/>
            <p:cNvSpPr/>
            <p:nvPr/>
          </p:nvSpPr>
          <p:spPr>
            <a:xfrm>
              <a:off x="7203758" y="1524000"/>
              <a:ext cx="9525" cy="35909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3" name="Rectangle 63"/>
            <p:cNvSpPr/>
            <p:nvPr/>
          </p:nvSpPr>
          <p:spPr>
            <a:xfrm>
              <a:off x="8983980" y="1524000"/>
              <a:ext cx="9525" cy="35909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71" name="takeaway"/>
          <p:cNvGrpSpPr/>
          <p:nvPr/>
        </p:nvGrpSpPr>
        <p:grpSpPr>
          <a:xfrm>
            <a:off x="533400" y="5579745"/>
            <a:ext cx="11125200" cy="782955"/>
            <a:chOff x="533400" y="5579745"/>
            <a:chExt cx="11125200" cy="782955"/>
          </a:xfrm>
        </p:grpSpPr>
        <p:sp>
          <p:nvSpPr>
            <p:cNvPr id="65" name="Rectangle 65"/>
            <p:cNvSpPr/>
            <p:nvPr/>
          </p:nvSpPr>
          <p:spPr>
            <a:xfrm>
              <a:off x="533400" y="5579745"/>
              <a:ext cx="11125200" cy="782955"/>
            </a:xfrm>
            <a:prstGeom prst="roundRect">
              <a:avLst>
                <a:gd name="adj" fmla="val 14599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69" name="Group 69"/>
            <p:cNvGrpSpPr/>
            <p:nvPr/>
          </p:nvGrpSpPr>
          <p:grpSpPr>
            <a:xfrm>
              <a:off x="738188" y="5871210"/>
              <a:ext cx="200026" cy="200025"/>
              <a:chOff x="738188" y="5871210"/>
              <a:chExt cx="200026" cy="200025"/>
            </a:xfrm>
          </p:grpSpPr>
          <p:sp>
            <p:nvSpPr>
              <p:cNvPr id="66" name="Freeform 66"/>
              <p:cNvSpPr/>
              <p:nvPr/>
            </p:nvSpPr>
            <p:spPr>
              <a:xfrm>
                <a:off x="738188" y="5871210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67" name="Freeform 67"/>
              <p:cNvSpPr/>
              <p:nvPr/>
            </p:nvSpPr>
            <p:spPr>
              <a:xfrm>
                <a:off x="777926" y="5915660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68" name="Freeform 68"/>
              <p:cNvSpPr/>
              <p:nvPr/>
            </p:nvSpPr>
            <p:spPr>
              <a:xfrm>
                <a:off x="812642" y="6026786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70" name="TextBox 70"/>
            <p:cNvSpPr txBox="1"/>
            <p:nvPr/>
          </p:nvSpPr>
          <p:spPr>
            <a:xfrm>
              <a:off x="1040130" y="5728335"/>
              <a:ext cx="990219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题3、题4 是同一个问题的两种实现：JS 把 J 按期限插入数组，FJS 用并查集直接找空时间片。两者选中的作业集合一</a:t>
              </a:r>
              <a:br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定相同（题4 的数据交给 JS 也得到 {1, 3, 4, 6, 7}）。</a:t>
              </a:r>
            </a:p>
          </p:txBody>
        </p:sp>
      </p:grpSp>
      <p:grpSp>
        <p:nvGrpSpPr>
          <p:cNvPr id="74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2" name="TextBox 72"/>
            <p:cNvSpPr txBox="1"/>
            <p:nvPr/>
          </p:nvSpPr>
          <p:spPr>
            <a:xfrm>
              <a:off x="528447" y="6581299"/>
              <a:ext cx="242418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算法设计与分析 · 第5章 贪心法 作业讲解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578090" cy="909257"/>
            <a:chOff x="520446" y="342900"/>
            <a:chExt cx="7578090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246822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31966" y="407194"/>
              <a:ext cx="105064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第5章 作业讲解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578090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回顾：每道贪心题先定量度标准，再看它是否最优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49" name="c1-table-1"/>
          <p:cNvGrpSpPr/>
          <p:nvPr/>
        </p:nvGrpSpPr>
        <p:grpSpPr>
          <a:xfrm>
            <a:off x="533400" y="1524000"/>
            <a:ext cx="6276022" cy="3011805"/>
            <a:chOff x="533400" y="1524000"/>
            <a:chExt cx="6276022" cy="301180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6276022" cy="430530"/>
            </a:xfrm>
            <a:prstGeom prst="rect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056322" y="1655445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问题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2562225" y="1655445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目标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4158044" y="1655445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量度标准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5708904" y="1655445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贪心最优？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38746" y="2085022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分数背包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2019872" y="2085022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效益最大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3651504" y="2085022"/>
              <a:ext cx="86029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pᵢ/wᵢ 非增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5533644" y="2085022"/>
              <a:ext cx="81183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✓ 定理5.1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533400" y="2379345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533400" y="2384108"/>
              <a:ext cx="6276022" cy="43053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638746" y="2515552"/>
              <a:ext cx="666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0/1 背包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2019872" y="2515552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效益最大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3651504" y="2515552"/>
              <a:ext cx="86029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pᵢ/wᵢ 非增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5437822" y="2393632"/>
              <a:ext cx="1362075" cy="411480"/>
            </a:xfrm>
            <a:prstGeom prst="rect">
              <a:avLst/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5533644" y="2515552"/>
              <a:ext cx="47259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✗ 题1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533400" y="2809875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38746" y="2946082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作业调度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2019872" y="2946082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效益最大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3651504" y="2946082"/>
              <a:ext cx="155493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pᵢ 非增 + 可行性检验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5533644" y="2946082"/>
              <a:ext cx="81183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✓ 定理5.2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533400" y="3239452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533400" y="3244215"/>
              <a:ext cx="6276022" cy="43053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638746" y="337566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装载问题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2019872" y="337566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箱数最多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3651504" y="3375660"/>
              <a:ext cx="59375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wᵢ 非降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5533644" y="3375660"/>
              <a:ext cx="47259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✓ 题6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533400" y="3669982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638746" y="380619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磁带存储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2019872" y="3806190"/>
              <a:ext cx="66812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ERT 最小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3651504" y="3806190"/>
              <a:ext cx="78760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fᵢ/lᵢ 非增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5533644" y="3806190"/>
              <a:ext cx="47259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✓ 题5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533400" y="4100512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0" name="Rectangle 40"/>
            <p:cNvSpPr/>
            <p:nvPr/>
          </p:nvSpPr>
          <p:spPr>
            <a:xfrm>
              <a:off x="533400" y="4105275"/>
              <a:ext cx="6276022" cy="43053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638746" y="4235768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顾客服务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2019872" y="4235768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总等待最少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3651504" y="4235768"/>
              <a:ext cx="56144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tᵢ 非降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5533644" y="4235768"/>
              <a:ext cx="47259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✓ 题7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533400" y="1524000"/>
              <a:ext cx="6276022" cy="3010852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6" name="Rectangle 46"/>
            <p:cNvSpPr/>
            <p:nvPr/>
          </p:nvSpPr>
          <p:spPr>
            <a:xfrm>
              <a:off x="1909762" y="1524000"/>
              <a:ext cx="9525" cy="301085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7" name="Rectangle 47"/>
            <p:cNvSpPr/>
            <p:nvPr/>
          </p:nvSpPr>
          <p:spPr>
            <a:xfrm>
              <a:off x="3541395" y="1524000"/>
              <a:ext cx="9525" cy="301085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8" name="Rectangle 48"/>
            <p:cNvSpPr/>
            <p:nvPr/>
          </p:nvSpPr>
          <p:spPr>
            <a:xfrm>
              <a:off x="5423535" y="1524000"/>
              <a:ext cx="9525" cy="301085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58" name="c1-card-2"/>
          <p:cNvGrpSpPr/>
          <p:nvPr/>
        </p:nvGrpSpPr>
        <p:grpSpPr>
          <a:xfrm>
            <a:off x="533400" y="4720590"/>
            <a:ext cx="6276022" cy="1603058"/>
            <a:chOff x="533400" y="4720590"/>
            <a:chExt cx="6276022" cy="1603058"/>
          </a:xfrm>
        </p:grpSpPr>
        <p:sp>
          <p:nvSpPr>
            <p:cNvPr id="50" name="Rectangle 50"/>
            <p:cNvSpPr/>
            <p:nvPr/>
          </p:nvSpPr>
          <p:spPr>
            <a:xfrm>
              <a:off x="533400" y="4720590"/>
              <a:ext cx="6276022" cy="1603058"/>
            </a:xfrm>
            <a:prstGeom prst="roundRect">
              <a:avLst>
                <a:gd name="adj" fmla="val 8318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51" name="Rectangle 51"/>
            <p:cNvSpPr/>
            <p:nvPr/>
          </p:nvSpPr>
          <p:spPr>
            <a:xfrm>
              <a:off x="542925" y="4853940"/>
              <a:ext cx="47625" cy="1336358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52" name="Rectangle 52"/>
            <p:cNvSpPr/>
            <p:nvPr/>
          </p:nvSpPr>
          <p:spPr>
            <a:xfrm>
              <a:off x="775335" y="4924425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865543" y="496014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读表</a:t>
              </a:r>
            </a:p>
          </p:txBody>
        </p:sp>
        <p:sp>
          <p:nvSpPr>
            <p:cNvPr id="54" name="Ellipse 54"/>
            <p:cNvSpPr/>
            <p:nvPr/>
          </p:nvSpPr>
          <p:spPr>
            <a:xfrm>
              <a:off x="782955" y="5357812"/>
              <a:ext cx="60960" cy="6096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939546" y="5297329"/>
              <a:ext cx="5289423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同一个量度标准放到不同问题上结论可以相反：pᵢ/wᵢ 对分数背包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最优，对 0/1 背包不一定</a:t>
              </a:r>
            </a:p>
          </p:txBody>
        </p:sp>
        <p:sp>
          <p:nvSpPr>
            <p:cNvPr id="56" name="Ellipse 56"/>
            <p:cNvSpPr/>
            <p:nvPr/>
          </p:nvSpPr>
          <p:spPr>
            <a:xfrm>
              <a:off x="782955" y="5949315"/>
              <a:ext cx="60960" cy="6096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939546" y="5888831"/>
              <a:ext cx="464056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说“最优”要给出证明；说“不一定最优”，一组反例就够</a:t>
              </a:r>
            </a:p>
          </p:txBody>
        </p:sp>
      </p:grpSp>
      <p:grpSp>
        <p:nvGrpSpPr>
          <p:cNvPr id="72" name="c2-card-1"/>
          <p:cNvGrpSpPr/>
          <p:nvPr/>
        </p:nvGrpSpPr>
        <p:grpSpPr>
          <a:xfrm>
            <a:off x="7114222" y="1524000"/>
            <a:ext cx="4544378" cy="3068002"/>
            <a:chOff x="7114222" y="1524000"/>
            <a:chExt cx="4544378" cy="3068002"/>
          </a:xfrm>
        </p:grpSpPr>
        <p:sp>
          <p:nvSpPr>
            <p:cNvPr id="59" name="Rectangle 59"/>
            <p:cNvSpPr/>
            <p:nvPr/>
          </p:nvSpPr>
          <p:spPr>
            <a:xfrm>
              <a:off x="7114222" y="1524000"/>
              <a:ext cx="4544378" cy="3068002"/>
            </a:xfrm>
            <a:prstGeom prst="roundRect">
              <a:avLst>
                <a:gd name="adj" fmla="val 434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60" name="Rectangle 60"/>
            <p:cNvSpPr/>
            <p:nvPr/>
          </p:nvSpPr>
          <p:spPr>
            <a:xfrm>
              <a:off x="7123748" y="1657350"/>
              <a:ext cx="47625" cy="2801302"/>
            </a:xfrm>
            <a:prstGeom prst="roundRect">
              <a:avLst>
                <a:gd name="adj" fmla="val 50000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61" name="Rectangle 61"/>
            <p:cNvSpPr/>
            <p:nvPr/>
          </p:nvSpPr>
          <p:spPr>
            <a:xfrm>
              <a:off x="7356158" y="1727835"/>
              <a:ext cx="778192" cy="257175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7437514" y="1763554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作业调度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8241411" y="1767364"/>
              <a:ext cx="135260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本次作业的记号</a:t>
              </a:r>
            </a:p>
          </p:txBody>
        </p:sp>
        <p:sp>
          <p:nvSpPr>
            <p:cNvPr id="64" name="Ellipse 64"/>
            <p:cNvSpPr/>
            <p:nvPr/>
          </p:nvSpPr>
          <p:spPr>
            <a:xfrm>
              <a:off x="7363777" y="2179320"/>
              <a:ext cx="60960" cy="6096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7520368" y="2119789"/>
              <a:ext cx="3720465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作业 i 有效益 pᵢ、期限 dᵢ；单位时间作业占 1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个时间片</a:t>
              </a:r>
            </a:p>
          </p:txBody>
        </p:sp>
        <p:sp>
          <p:nvSpPr>
            <p:cNvPr id="66" name="Ellipse 66"/>
            <p:cNvSpPr/>
            <p:nvPr/>
          </p:nvSpPr>
          <p:spPr>
            <a:xfrm>
              <a:off x="7363777" y="2770823"/>
              <a:ext cx="60960" cy="6096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67" name="TextBox 67"/>
            <p:cNvSpPr txBox="1"/>
            <p:nvPr/>
          </p:nvSpPr>
          <p:spPr>
            <a:xfrm>
              <a:off x="7520368" y="2711291"/>
              <a:ext cx="3747516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J 可行：J 中作业存在一种处理次序，每个作业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都在期限内完成</a:t>
              </a:r>
            </a:p>
          </p:txBody>
        </p:sp>
        <p:sp>
          <p:nvSpPr>
            <p:cNvPr id="68" name="Ellipse 68"/>
            <p:cNvSpPr/>
            <p:nvPr/>
          </p:nvSpPr>
          <p:spPr>
            <a:xfrm>
              <a:off x="7363777" y="3362325"/>
              <a:ext cx="60960" cy="6096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69" name="TextBox 69"/>
            <p:cNvSpPr txBox="1"/>
            <p:nvPr/>
          </p:nvSpPr>
          <p:spPr>
            <a:xfrm>
              <a:off x="7520368" y="3302794"/>
              <a:ext cx="371144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定理5.3：J 可行当且仅当按期限升序处理不误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期</a:t>
              </a:r>
            </a:p>
          </p:txBody>
        </p:sp>
        <p:sp>
          <p:nvSpPr>
            <p:cNvPr id="70" name="Ellipse 70"/>
            <p:cNvSpPr/>
            <p:nvPr/>
          </p:nvSpPr>
          <p:spPr>
            <a:xfrm>
              <a:off x="7363777" y="3953828"/>
              <a:ext cx="60960" cy="6096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71" name="TextBox 71"/>
            <p:cNvSpPr txBox="1"/>
            <p:nvPr/>
          </p:nvSpPr>
          <p:spPr>
            <a:xfrm>
              <a:off x="7520368" y="3894296"/>
              <a:ext cx="3666363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JS（算法5.4）按期限有序地插入 J；FJS（算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法5.5）用集合树找空时间片</a:t>
              </a:r>
            </a:p>
          </p:txBody>
        </p:sp>
      </p:grpSp>
      <p:grpSp>
        <p:nvGrpSpPr>
          <p:cNvPr id="78" name="c2-card-2"/>
          <p:cNvGrpSpPr/>
          <p:nvPr/>
        </p:nvGrpSpPr>
        <p:grpSpPr>
          <a:xfrm>
            <a:off x="7114222" y="4776788"/>
            <a:ext cx="4544378" cy="1545908"/>
            <a:chOff x="7114222" y="4776788"/>
            <a:chExt cx="4544378" cy="1545908"/>
          </a:xfrm>
        </p:grpSpPr>
        <p:sp>
          <p:nvSpPr>
            <p:cNvPr id="73" name="Rectangle 73"/>
            <p:cNvSpPr/>
            <p:nvPr/>
          </p:nvSpPr>
          <p:spPr>
            <a:xfrm>
              <a:off x="7114222" y="4776788"/>
              <a:ext cx="4544378" cy="1545908"/>
            </a:xfrm>
            <a:prstGeom prst="roundRect">
              <a:avLst>
                <a:gd name="adj" fmla="val 862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74" name="Rectangle 74"/>
            <p:cNvSpPr/>
            <p:nvPr/>
          </p:nvSpPr>
          <p:spPr>
            <a:xfrm>
              <a:off x="7123748" y="4910138"/>
              <a:ext cx="47625" cy="1279208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75" name="Rectangle 75"/>
            <p:cNvSpPr/>
            <p:nvPr/>
          </p:nvSpPr>
          <p:spPr>
            <a:xfrm>
              <a:off x="7356158" y="4980622"/>
              <a:ext cx="778192" cy="257175"/>
            </a:xfrm>
            <a:prstGeom prst="roundRect">
              <a:avLst>
                <a:gd name="adj" fmla="val 50000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76" name="TextBox 76"/>
            <p:cNvSpPr txBox="1"/>
            <p:nvPr/>
          </p:nvSpPr>
          <p:spPr>
            <a:xfrm>
              <a:off x="7437514" y="5016341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92400E"/>
                  </a:solidFill>
                  <a:latin typeface="+mn-lt"/>
                  <a:ea typeface="+mn-ea"/>
                  <a:cs typeface="+mn-cs"/>
                </a:rPr>
                <a:t>编号约定</a:t>
              </a: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7348918" y="5354479"/>
              <a:ext cx="3873754" cy="8216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JS 和 FJS 都要求作业已按 p₁ ≥ p₂ ≥ … ≥ pₙ 编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号。题3、题4 的作业没有排好，先排序；下文仍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写原来的作业编号。</a:t>
              </a:r>
            </a:p>
          </p:txBody>
        </p:sp>
      </p:grpSp>
      <p:grpSp>
        <p:nvGrpSpPr>
          <p:cNvPr id="8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9" name="TextBox 79"/>
            <p:cNvSpPr txBox="1"/>
            <p:nvPr/>
          </p:nvSpPr>
          <p:spPr>
            <a:xfrm>
              <a:off x="528447" y="6581299"/>
              <a:ext cx="242418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算法设计与分析 · 第5章 贪心法 作业讲解</a:t>
              </a:r>
            </a:p>
          </p:txBody>
        </p:sp>
        <p:sp>
          <p:nvSpPr>
            <p:cNvPr id="80" name="TextBox 80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548247" cy="909257"/>
            <a:chOff x="520446" y="342900"/>
            <a:chExt cx="6548247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246822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31966" y="407194"/>
              <a:ext cx="105064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第5章 作业讲解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54824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三种问法，三种写法：证最优都用交换论证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7" name="c1-table-1"/>
          <p:cNvGrpSpPr/>
          <p:nvPr/>
        </p:nvGrpSpPr>
        <p:grpSpPr>
          <a:xfrm>
            <a:off x="533400" y="1524000"/>
            <a:ext cx="5626418" cy="2475548"/>
            <a:chOff x="533400" y="1524000"/>
            <a:chExt cx="5626418" cy="2475548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626418" cy="448628"/>
            </a:xfrm>
            <a:prstGeom prst="rect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086129" y="165973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问法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2324379" y="165973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题号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3716338" y="1659731"/>
              <a:ext cx="173609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答案里必须出现的内容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41223" y="2221706"/>
              <a:ext cx="121914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证明不一定最优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2104263" y="2221706"/>
              <a:ext cx="56435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1、5①②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3116770" y="2108359"/>
              <a:ext cx="2776474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一组具体数据，贪心解和更优解的目标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值都算出来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533400" y="2643188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533400" y="2647950"/>
              <a:ext cx="5626418" cy="675322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41223" y="2897029"/>
              <a:ext cx="104683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手工执行算法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2104263" y="2897029"/>
              <a:ext cx="37481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3、4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3116770" y="2783681"/>
              <a:ext cx="2662682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排序结果，每一步的 J 数组或 F 数组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与集合树，最终解与效益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533400" y="3319462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542925" y="3333750"/>
              <a:ext cx="1443990" cy="656272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41223" y="3572351"/>
              <a:ext cx="104683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证明贪心最优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2104263" y="3459004"/>
              <a:ext cx="606298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2、5③、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6、7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3116770" y="3459004"/>
              <a:ext cx="2776474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量度标准，交换论证，算法描述与复杂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度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533400" y="1524000"/>
              <a:ext cx="5626418" cy="2475548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25" name="Rectangle 25"/>
            <p:cNvSpPr/>
            <p:nvPr/>
          </p:nvSpPr>
          <p:spPr>
            <a:xfrm>
              <a:off x="1991678" y="1524000"/>
              <a:ext cx="9525" cy="247554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3004185" y="1524000"/>
              <a:ext cx="9525" cy="247554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38" name="c1-card-2"/>
          <p:cNvGrpSpPr/>
          <p:nvPr/>
        </p:nvGrpSpPr>
        <p:grpSpPr>
          <a:xfrm>
            <a:off x="533400" y="4190048"/>
            <a:ext cx="5626418" cy="1681162"/>
            <a:chOff x="533400" y="4190048"/>
            <a:chExt cx="5626418" cy="1681162"/>
          </a:xfrm>
        </p:grpSpPr>
        <p:sp>
          <p:nvSpPr>
            <p:cNvPr id="28" name="Rectangle 28"/>
            <p:cNvSpPr/>
            <p:nvPr/>
          </p:nvSpPr>
          <p:spPr>
            <a:xfrm>
              <a:off x="533400" y="4190048"/>
              <a:ext cx="5626418" cy="1681162"/>
            </a:xfrm>
            <a:prstGeom prst="roundRect">
              <a:avLst>
                <a:gd name="adj" fmla="val 7932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9" name="Rectangle 29"/>
            <p:cNvSpPr/>
            <p:nvPr/>
          </p:nvSpPr>
          <p:spPr>
            <a:xfrm>
              <a:off x="542925" y="4323398"/>
              <a:ext cx="47625" cy="1414462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30" name="Rectangle 30"/>
            <p:cNvSpPr/>
            <p:nvPr/>
          </p:nvSpPr>
          <p:spPr>
            <a:xfrm>
              <a:off x="781050" y="4399598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871258" y="4435316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易错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382078" y="4434840"/>
              <a:ext cx="1630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交换后要查两件事</a:t>
              </a:r>
            </a:p>
          </p:txBody>
        </p:sp>
        <p:sp>
          <p:nvSpPr>
            <p:cNvPr id="33" name="Ellipse 33"/>
            <p:cNvSpPr/>
            <p:nvPr/>
          </p:nvSpPr>
          <p:spPr>
            <a:xfrm>
              <a:off x="786765" y="4858702"/>
              <a:ext cx="64770" cy="6477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944880" y="4795838"/>
              <a:ext cx="42557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约束仍满足：换进来的元素不能让解变得不可行</a:t>
              </a:r>
            </a:p>
          </p:txBody>
        </p:sp>
        <p:sp>
          <p:nvSpPr>
            <p:cNvPr id="35" name="Ellipse 35"/>
            <p:cNvSpPr/>
            <p:nvPr/>
          </p:nvSpPr>
          <p:spPr>
            <a:xfrm>
              <a:off x="786765" y="5193983"/>
              <a:ext cx="64770" cy="6477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944880" y="5131118"/>
              <a:ext cx="46596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目标值不变差：写出交换前后的差值，说明它的符号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774573" y="5462111"/>
              <a:ext cx="328691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只写其中一件是这类证明最常见的丢分点。</a:t>
              </a:r>
            </a:p>
          </p:txBody>
        </p:sp>
      </p:grpSp>
      <p:grpSp>
        <p:nvGrpSpPr>
          <p:cNvPr id="60" name="c2-steps-1"/>
          <p:cNvGrpSpPr/>
          <p:nvPr/>
        </p:nvGrpSpPr>
        <p:grpSpPr>
          <a:xfrm>
            <a:off x="6464618" y="1533525"/>
            <a:ext cx="5162738" cy="3179730"/>
            <a:chOff x="6464618" y="1533525"/>
            <a:chExt cx="5162738" cy="3179730"/>
          </a:xfrm>
        </p:grpSpPr>
        <p:sp>
          <p:nvSpPr>
            <p:cNvPr id="39" name="Rectangle 39"/>
            <p:cNvSpPr/>
            <p:nvPr/>
          </p:nvSpPr>
          <p:spPr>
            <a:xfrm>
              <a:off x="6597968" y="1676400"/>
              <a:ext cx="19050" cy="260318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0" name="Ellipse 40"/>
            <p:cNvSpPr/>
            <p:nvPr/>
          </p:nvSpPr>
          <p:spPr>
            <a:xfrm>
              <a:off x="6464618" y="1533525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6558241" y="16073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42" name="Ellipse 42"/>
            <p:cNvSpPr/>
            <p:nvPr/>
          </p:nvSpPr>
          <p:spPr>
            <a:xfrm>
              <a:off x="6464618" y="2184082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6558241" y="225790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44" name="Ellipse 44"/>
            <p:cNvSpPr/>
            <p:nvPr/>
          </p:nvSpPr>
          <p:spPr>
            <a:xfrm>
              <a:off x="6464618" y="2834640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6558241" y="290845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46" name="Ellipse 46"/>
            <p:cNvSpPr/>
            <p:nvPr/>
          </p:nvSpPr>
          <p:spPr>
            <a:xfrm>
              <a:off x="6464618" y="3486150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6558241" y="355996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48" name="Ellipse 48"/>
            <p:cNvSpPr/>
            <p:nvPr/>
          </p:nvSpPr>
          <p:spPr>
            <a:xfrm>
              <a:off x="6464618" y="4136708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6558241" y="421052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6876098" y="156781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取对照解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6877241" y="1861661"/>
              <a:ext cx="475011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设 O 是一个最优解（题2 是任一可行排列），与贪心解 G 比较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6876098" y="2218372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找第一处不同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6877241" y="2512219"/>
              <a:ext cx="397616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第一个不一致的位置，或第一个只在一方出现的元素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6876098" y="2868930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交换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6877241" y="3162776"/>
              <a:ext cx="219125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 O 在这一处换成 G 的选择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6876098" y="3520440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验证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6877241" y="3813334"/>
              <a:ext cx="349629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换后仍可行，目标值不变差，与 G 的差异变少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6876098" y="4170998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收尾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6877241" y="4463891"/>
              <a:ext cx="345337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有限次交换后 O 变成 G，所以 G 与 O 一样好</a:t>
              </a:r>
            </a:p>
          </p:txBody>
        </p:sp>
      </p:grpSp>
      <p:grpSp>
        <p:nvGrpSpPr>
          <p:cNvPr id="67" name="c2-callout-2"/>
          <p:cNvGrpSpPr/>
          <p:nvPr/>
        </p:nvGrpSpPr>
        <p:grpSpPr>
          <a:xfrm>
            <a:off x="6464618" y="4892040"/>
            <a:ext cx="5193982" cy="979170"/>
            <a:chOff x="6464618" y="4892040"/>
            <a:chExt cx="5193982" cy="979170"/>
          </a:xfrm>
        </p:grpSpPr>
        <p:sp>
          <p:nvSpPr>
            <p:cNvPr id="61" name="Rectangle 61"/>
            <p:cNvSpPr/>
            <p:nvPr/>
          </p:nvSpPr>
          <p:spPr>
            <a:xfrm>
              <a:off x="6464618" y="4892040"/>
              <a:ext cx="5193982" cy="979170"/>
            </a:xfrm>
            <a:prstGeom prst="roundRect">
              <a:avLst>
                <a:gd name="adj" fmla="val 11673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65" name="Group 65"/>
            <p:cNvGrpSpPr/>
            <p:nvPr/>
          </p:nvGrpSpPr>
          <p:grpSpPr>
            <a:xfrm>
              <a:off x="6669405" y="5281613"/>
              <a:ext cx="200026" cy="200025"/>
              <a:chOff x="6669405" y="5281613"/>
              <a:chExt cx="200026" cy="200025"/>
            </a:xfrm>
          </p:grpSpPr>
          <p:sp>
            <p:nvSpPr>
              <p:cNvPr id="62" name="Freeform 62"/>
              <p:cNvSpPr/>
              <p:nvPr/>
            </p:nvSpPr>
            <p:spPr>
              <a:xfrm>
                <a:off x="6669405" y="5281613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63" name="Freeform 63"/>
              <p:cNvSpPr/>
              <p:nvPr/>
            </p:nvSpPr>
            <p:spPr>
              <a:xfrm>
                <a:off x="6709144" y="5326063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64" name="Freeform 64"/>
              <p:cNvSpPr/>
              <p:nvPr/>
            </p:nvSpPr>
            <p:spPr>
              <a:xfrm>
                <a:off x="6743859" y="5437188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66" name="TextBox 66"/>
            <p:cNvSpPr txBox="1"/>
            <p:nvPr/>
          </p:nvSpPr>
          <p:spPr>
            <a:xfrm>
              <a:off x="6971348" y="5138738"/>
              <a:ext cx="428244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题5、题7 交换的是相邻两个元素，差值只和这两个</a:t>
              </a:r>
              <a:br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元素有关，最好算。</a:t>
              </a:r>
            </a:p>
          </p:txBody>
        </p:sp>
      </p:grpSp>
      <p:grpSp>
        <p:nvGrpSpPr>
          <p:cNvPr id="70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8" name="TextBox 68"/>
            <p:cNvSpPr txBox="1"/>
            <p:nvPr/>
          </p:nvSpPr>
          <p:spPr>
            <a:xfrm>
              <a:off x="528447" y="6581299"/>
              <a:ext cx="242418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算法设计与分析 · 第5章 贪心法 作业讲解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2F4B9A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8EDF8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01</a:t>
              </a:r>
            </a:p>
          </p:txBody>
        </p:sp>
      </p:grpSp>
      <p:grpSp>
        <p:nvGrpSpPr>
          <p:cNvPr id="14" name="section-title"/>
          <p:cNvGrpSpPr/>
          <p:nvPr/>
        </p:nvGrpSpPr>
        <p:grpSpPr>
          <a:xfrm>
            <a:off x="667512" y="1835468"/>
            <a:ext cx="6321933" cy="2928937"/>
            <a:chOff x="667512" y="1835468"/>
            <a:chExt cx="6321933" cy="292893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第一部分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3429000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反例与子集选择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582528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解是 n 个物品的一个子集：贪心有时差一截，有时正好最优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553802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题1 0/1 背包按 pᵢ/wᵢ 非增次序装入，证明不一定得到最优解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608266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题6 装载问题：怎样装使集装箱个数最多，给出量度标准、证明、算法与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复杂度</a:t>
              </a:r>
            </a:p>
          </p:txBody>
        </p:sp>
      </p:grpSp>
      <p:grpSp>
        <p:nvGrpSpPr>
          <p:cNvPr id="1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5" name="TextBox 15"/>
            <p:cNvSpPr txBox="1"/>
            <p:nvPr/>
          </p:nvSpPr>
          <p:spPr>
            <a:xfrm>
              <a:off x="528447" y="6581299"/>
              <a:ext cx="242418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算法设计与分析 · 第5章 贪心法 作业讲解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9106549" cy="909257"/>
            <a:chOff x="520446" y="342900"/>
            <a:chExt cx="9106549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14588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6156" y="407194"/>
              <a:ext cx="22881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第5章 作业讲解 · 反例与子集选择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910654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题1：按 pᵢ/wᵢ 装到效益 7 就停，先装物品1、3 能拿到 11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3" name="c1-card-1"/>
          <p:cNvGrpSpPr/>
          <p:nvPr/>
        </p:nvGrpSpPr>
        <p:grpSpPr>
          <a:xfrm>
            <a:off x="533400" y="1524000"/>
            <a:ext cx="5951220" cy="1163955"/>
            <a:chOff x="533400" y="1524000"/>
            <a:chExt cx="5951220" cy="116395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951220" cy="1163955"/>
            </a:xfrm>
            <a:prstGeom prst="roundRect">
              <a:avLst>
                <a:gd name="adj" fmla="val 1145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897255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52475" y="1704975"/>
              <a:ext cx="530542" cy="23812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42295" y="1737836"/>
              <a:ext cx="34994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第1题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45998" y="2045494"/>
              <a:ext cx="531590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0/1 背包按 pᵢ/wᵢ 非增次序装入，能装就装，证明不一定得到最优解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47141" y="2342198"/>
              <a:ext cx="440668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思路：要证“不一定”，给一组数据，让贪心解比另一个可行解差即可。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formula7"/>
              <p:cNvSpPr txBox="1">
                <a:spLocks noGrp="1"/>
              </p:cNvSpPr>
              <p:nvPr/>
            </p:nvSpPr>
            <p:spPr>
              <a:xfrm>
                <a:off x="533400" y="2852738"/>
                <a:ext cx="5951220" cy="53435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func>
                        <m:funcPr/>
                        <m:fName>
                          <m:r>
                            <m:rPr>
                              <m:sty m:val="p"/>
                            </m:rP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max</m:t>
                          </m:r>
                        </m:fName>
                        <m:e>
                          <m:nary>
                            <m:naryPr>
                              <m:chr m:val="∑"/>
                              <m:limLoc m:val="undOvr"/>
                              <m:grow m:val="off"/>
                              <m:subHide m:val="off"/>
                              <m:supHide m:val="off"/>
                              <m:ctrlPr>
                                <a:rPr lang="zh-CN" sz="12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naryPr>
                            <m:sub>
                              <m:r>
                                <a:rPr lang="zh-CN" sz="12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i</m:t>
                              </m:r>
                              <m:r>
                                <m:rPr>
                                  <m:sty m:val="p"/>
                                </m:rPr>
                                <a:rPr lang="zh-CN" sz="12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=</m:t>
                              </m:r>
                              <m:r>
                                <a:rPr lang="zh-CN" sz="12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zh-CN" sz="12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n</m:t>
                              </m:r>
                            </m:sup>
                            <m:e>
                              <m:sSub>
                                <m:e>
                                  <m:r>
                                    <a:rPr lang="zh-CN" sz="12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p</m:t>
                                  </m:r>
                                </m:e>
                                <m:sub>
                                  <m:r>
                                    <a:rPr lang="zh-CN" sz="12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i</m:t>
                                  </m:r>
                                </m:sub>
                              </m:sSub>
                              <m:sSub>
                                <m:e>
                                  <m:r>
                                    <a:rPr lang="zh-CN" sz="12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x</m:t>
                                  </m:r>
                                </m:e>
                                <m:sub>
                                  <m:r>
                                    <a:rPr lang="zh-CN" sz="12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i</m:t>
                                  </m:r>
                                </m:sub>
                              </m:sSub>
                            </m:e>
                          </m:nary>
                        </m:e>
                      </m:func>
                      <m:r>
                        <m:rPr>
                          <m:sty m:val="p"/>
                        </m:rPr>
                        <a:rPr lang="zh-CN" sz="12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,</m:t>
                      </m:r>
                      <m:r>
                        <a:rPr lang="zh-CN" sz="12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 xml:space="preserve"> </m:t>
                      </m:r>
                      <m:nary>
                        <m:naryPr>
                          <m:chr m:val="∑"/>
                          <m:limLoc m:val="undOvr"/>
                          <m:grow m:val="off"/>
                          <m:subHide m:val="off"/>
                          <m:supHide m:val="off"/>
                          <m:ctrlP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naryPr>
                        <m:sub>
                          <m: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i</m:t>
                          </m:r>
                          <m:r>
                            <m:rPr>
                              <m:sty m:val="p"/>
                            </m:rP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=</m:t>
                          </m:r>
                          <m: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sub>
                        <m:sup>
                          <m: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n</m:t>
                          </m:r>
                        </m:sup>
                        <m:e>
                          <m:sSub>
                            <m:e>
                              <m:r>
                                <a:rPr lang="zh-CN" sz="12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w</m:t>
                              </m:r>
                            </m:e>
                            <m:sub>
                              <m:r>
                                <a:rPr lang="zh-CN" sz="12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i</m:t>
                              </m:r>
                            </m:sub>
                          </m:sSub>
                          <m:sSub>
                            <m:e>
                              <m:r>
                                <a:rPr lang="zh-CN" sz="12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x</m:t>
                              </m:r>
                            </m:e>
                            <m:sub>
                              <m:r>
                                <a:rPr lang="zh-CN" sz="12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i</m:t>
                              </m:r>
                            </m:sub>
                          </m:sSub>
                        </m:e>
                      </m:nary>
                      <m:r>
                        <m:rPr>
                          <m:sty m:val="p"/>
                        </m:rPr>
                        <a:rPr lang="zh-CN" sz="12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≤</m:t>
                      </m:r>
                      <m:r>
                        <a:rPr lang="zh-CN" sz="12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M</m:t>
                      </m:r>
                      <m:r>
                        <m:rPr>
                          <m:sty m:val="p"/>
                        </m:rPr>
                        <a:rPr lang="zh-CN" sz="12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,</m:t>
                      </m:r>
                      <m:r>
                        <a:rPr lang="zh-CN" sz="12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 xml:space="preserve"> </m:t>
                      </m:r>
                      <m:sSub>
                        <m:e>
                          <m: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x</m:t>
                          </m:r>
                        </m:e>
                        <m:sub>
                          <m: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i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zh-CN" sz="12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∈</m:t>
                      </m:r>
                      <m:d>
                        <m:dPr>
                          <m:begChr m:val="{"/>
                          <m:sepChr m:val=""/>
                          <m:endChr m:val="}"/>
                          <m:grow m:val="on"/>
                          <m:ctrlP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0</m:t>
                          </m:r>
                          <m:r>
                            <m:rPr>
                              <m:sty m:val="p"/>
                            </m:rP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,</m:t>
                          </m:r>
                          <m: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e>
                      </m:d>
                    </m:oMath>
                  </m:oMathPara>
                </a14:m>
              </a:p>
            </p:txBody>
          </p:sp>
        </mc:Choice>
      </mc:AlternateContent>
      <p:grpSp>
        <p:nvGrpSpPr>
          <p:cNvPr id="32" name="c1-steps-3"/>
          <p:cNvGrpSpPr/>
          <p:nvPr/>
        </p:nvGrpSpPr>
        <p:grpSpPr>
          <a:xfrm>
            <a:off x="533400" y="3561398"/>
            <a:ext cx="5428259" cy="2149411"/>
            <a:chOff x="533400" y="3561398"/>
            <a:chExt cx="5428259" cy="2149411"/>
          </a:xfrm>
        </p:grpSpPr>
        <p:sp>
          <p:nvSpPr>
            <p:cNvPr id="15" name="Rectangle 15"/>
            <p:cNvSpPr/>
            <p:nvPr/>
          </p:nvSpPr>
          <p:spPr>
            <a:xfrm>
              <a:off x="666750" y="3704272"/>
              <a:ext cx="19050" cy="165925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6" name="Ellipse 16"/>
            <p:cNvSpPr/>
            <p:nvPr/>
          </p:nvSpPr>
          <p:spPr>
            <a:xfrm>
              <a:off x="533400" y="3561398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27024" y="363521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8" name="Ellipse 18"/>
            <p:cNvSpPr/>
            <p:nvPr/>
          </p:nvSpPr>
          <p:spPr>
            <a:xfrm>
              <a:off x="533400" y="4113848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627024" y="418766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0" name="Ellipse 20"/>
            <p:cNvSpPr/>
            <p:nvPr/>
          </p:nvSpPr>
          <p:spPr>
            <a:xfrm>
              <a:off x="533400" y="4667250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27024" y="474106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2" name="Ellipse 22"/>
            <p:cNvSpPr/>
            <p:nvPr/>
          </p:nvSpPr>
          <p:spPr>
            <a:xfrm>
              <a:off x="533400" y="5219700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27024" y="529351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946023" y="3591401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给数据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947166" y="3846195"/>
              <a:ext cx="451109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 = 3，M = 6，(p₁, p₂, p₃) = (3, 4, 8)，(w₁, w₂, w₃) = (1, 2, 5)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946023" y="4144804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排序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947166" y="4399598"/>
              <a:ext cx="306385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比值 pᵢ/wᵢ = (3, 2, 1.6)，考虑次序为 1, 2, 3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946023" y="4697254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贪心执行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947166" y="4952048"/>
              <a:ext cx="501449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装物品1（剩 5），装物品2（剩 3），物品3 重 5 装不下；解 (1, 1, 0)，效益 7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946023" y="5250656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更优解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947166" y="5505450"/>
              <a:ext cx="365125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(1, 0, 1) 重 6 ≤ M，效益 11 &gt; 7，贪心解不是最优。证毕</a:t>
              </a:r>
            </a:p>
          </p:txBody>
        </p:sp>
      </p:grpSp>
      <p:grpSp>
        <p:nvGrpSpPr>
          <p:cNvPr id="74" name="c2-table-1"/>
          <p:cNvGrpSpPr/>
          <p:nvPr/>
        </p:nvGrpSpPr>
        <p:grpSpPr>
          <a:xfrm>
            <a:off x="6789420" y="1524000"/>
            <a:ext cx="4869180" cy="1906905"/>
            <a:chOff x="6789420" y="1524000"/>
            <a:chExt cx="4869180" cy="1906905"/>
          </a:xfrm>
        </p:grpSpPr>
        <p:sp>
          <p:nvSpPr>
            <p:cNvPr id="33" name="Rectangle 33"/>
            <p:cNvSpPr/>
            <p:nvPr/>
          </p:nvSpPr>
          <p:spPr>
            <a:xfrm>
              <a:off x="6789420" y="1524000"/>
              <a:ext cx="4869180" cy="381000"/>
            </a:xfrm>
            <a:prstGeom prst="rect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6977062" y="1641157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物品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7650193" y="1641157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pᵢ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8205899" y="1641157"/>
              <a:ext cx="20361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wᵢ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8783541" y="1641157"/>
              <a:ext cx="44850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pᵢ/wᵢ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9810750" y="1641157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贪心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0931842" y="1641157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最优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7077598" y="2023110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7692952" y="2023110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8263499" y="2023110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8963587" y="2023110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9913229" y="2023110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11034322" y="2023110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6789420" y="2282190"/>
              <a:ext cx="486918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7" name="Rectangle 47"/>
            <p:cNvSpPr/>
            <p:nvPr/>
          </p:nvSpPr>
          <p:spPr>
            <a:xfrm>
              <a:off x="6789420" y="2286952"/>
              <a:ext cx="4869180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7077598" y="2404110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7692952" y="2404110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8263499" y="2404110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8963587" y="2404110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9913229" y="2404110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11034322" y="2404110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54" name="Rectangle 54"/>
            <p:cNvSpPr/>
            <p:nvPr/>
          </p:nvSpPr>
          <p:spPr>
            <a:xfrm>
              <a:off x="6789420" y="2663190"/>
              <a:ext cx="486918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7077598" y="2785110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7692952" y="2785110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8263499" y="2785110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8885844" y="2785110"/>
              <a:ext cx="24389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1.6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9913229" y="2785110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11034322" y="2785110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61" name="Rectangle 61"/>
            <p:cNvSpPr/>
            <p:nvPr/>
          </p:nvSpPr>
          <p:spPr>
            <a:xfrm>
              <a:off x="6789420" y="3045142"/>
              <a:ext cx="486918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2" name="Rectangle 62"/>
            <p:cNvSpPr/>
            <p:nvPr/>
          </p:nvSpPr>
          <p:spPr>
            <a:xfrm>
              <a:off x="6789420" y="3049905"/>
              <a:ext cx="4869180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6977062" y="3167062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合计</a:t>
              </a:r>
            </a:p>
          </p:txBody>
        </p:sp>
        <p:sp>
          <p:nvSpPr>
            <p:cNvPr id="64" name="Rectangle 64"/>
            <p:cNvSpPr/>
            <p:nvPr/>
          </p:nvSpPr>
          <p:spPr>
            <a:xfrm>
              <a:off x="9425940" y="3059430"/>
              <a:ext cx="1063942" cy="361950"/>
            </a:xfrm>
            <a:prstGeom prst="rect">
              <a:avLst/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9598724" y="3167062"/>
              <a:ext cx="71742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重 3 效益 7</a:t>
              </a:r>
            </a:p>
          </p:txBody>
        </p:sp>
        <p:sp>
          <p:nvSpPr>
            <p:cNvPr id="66" name="Rectangle 66"/>
            <p:cNvSpPr/>
            <p:nvPr/>
          </p:nvSpPr>
          <p:spPr>
            <a:xfrm>
              <a:off x="10507980" y="3059430"/>
              <a:ext cx="1141095" cy="361950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67" name="TextBox 67"/>
            <p:cNvSpPr txBox="1"/>
            <p:nvPr/>
          </p:nvSpPr>
          <p:spPr>
            <a:xfrm>
              <a:off x="10680944" y="3167062"/>
              <a:ext cx="79516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重 6 效益 11</a:t>
              </a:r>
            </a:p>
          </p:txBody>
        </p:sp>
        <p:sp>
          <p:nvSpPr>
            <p:cNvPr id="68" name="Rectangle 68"/>
            <p:cNvSpPr/>
            <p:nvPr/>
          </p:nvSpPr>
          <p:spPr>
            <a:xfrm>
              <a:off x="6789420" y="1524000"/>
              <a:ext cx="4869180" cy="190690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69" name="Rectangle 69"/>
            <p:cNvSpPr/>
            <p:nvPr/>
          </p:nvSpPr>
          <p:spPr>
            <a:xfrm>
              <a:off x="7454265" y="1524000"/>
              <a:ext cx="9525" cy="190690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0" name="Rectangle 70"/>
            <p:cNvSpPr/>
            <p:nvPr/>
          </p:nvSpPr>
          <p:spPr>
            <a:xfrm>
              <a:off x="8010525" y="1524000"/>
              <a:ext cx="9525" cy="190690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1" name="Rectangle 71"/>
            <p:cNvSpPr/>
            <p:nvPr/>
          </p:nvSpPr>
          <p:spPr>
            <a:xfrm>
              <a:off x="8595360" y="1524000"/>
              <a:ext cx="9525" cy="190690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2" name="Rectangle 72"/>
            <p:cNvSpPr/>
            <p:nvPr/>
          </p:nvSpPr>
          <p:spPr>
            <a:xfrm>
              <a:off x="9411652" y="1524000"/>
              <a:ext cx="9525" cy="190690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3" name="Rectangle 73"/>
            <p:cNvSpPr/>
            <p:nvPr/>
          </p:nvSpPr>
          <p:spPr>
            <a:xfrm>
              <a:off x="10493692" y="1524000"/>
              <a:ext cx="9525" cy="190690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110" name="c2-cells-2"/>
          <p:cNvGrpSpPr/>
          <p:nvPr/>
        </p:nvGrpSpPr>
        <p:grpSpPr>
          <a:xfrm>
            <a:off x="6784086" y="3595688"/>
            <a:ext cx="4874514" cy="1254918"/>
            <a:chOff x="6784086" y="3595688"/>
            <a:chExt cx="4874514" cy="1254918"/>
          </a:xfrm>
        </p:grpSpPr>
        <p:sp>
          <p:nvSpPr>
            <p:cNvPr id="75" name="TextBox 75"/>
            <p:cNvSpPr txBox="1"/>
            <p:nvPr/>
          </p:nvSpPr>
          <p:spPr>
            <a:xfrm>
              <a:off x="6784086" y="3708082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贪心</a:t>
              </a:r>
            </a:p>
          </p:txBody>
        </p:sp>
        <p:sp>
          <p:nvSpPr>
            <p:cNvPr id="76" name="Rectangle 76"/>
            <p:cNvSpPr/>
            <p:nvPr/>
          </p:nvSpPr>
          <p:spPr>
            <a:xfrm>
              <a:off x="7189470" y="3595688"/>
              <a:ext cx="744855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2F4B9A"/>
              </a:solidFill>
            </a:ln>
          </p:spPr>
        </p:sp>
        <p:sp>
          <p:nvSpPr>
            <p:cNvPr id="77" name="TextBox 77"/>
            <p:cNvSpPr txBox="1"/>
            <p:nvPr/>
          </p:nvSpPr>
          <p:spPr>
            <a:xfrm>
              <a:off x="7515748" y="3708082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78" name="Rectangle 78"/>
            <p:cNvSpPr/>
            <p:nvPr/>
          </p:nvSpPr>
          <p:spPr>
            <a:xfrm>
              <a:off x="7934325" y="3595688"/>
              <a:ext cx="744855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2F4B9A"/>
              </a:solidFill>
            </a:ln>
          </p:spPr>
        </p:sp>
        <p:sp>
          <p:nvSpPr>
            <p:cNvPr id="79" name="TextBox 79"/>
            <p:cNvSpPr txBox="1"/>
            <p:nvPr/>
          </p:nvSpPr>
          <p:spPr>
            <a:xfrm>
              <a:off x="8260603" y="3708082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80" name="Rectangle 80"/>
            <p:cNvSpPr/>
            <p:nvPr/>
          </p:nvSpPr>
          <p:spPr>
            <a:xfrm>
              <a:off x="8679180" y="3595688"/>
              <a:ext cx="744855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2F4B9A"/>
              </a:solidFill>
            </a:ln>
          </p:spPr>
        </p:sp>
        <p:sp>
          <p:nvSpPr>
            <p:cNvPr id="81" name="TextBox 81"/>
            <p:cNvSpPr txBox="1"/>
            <p:nvPr/>
          </p:nvSpPr>
          <p:spPr>
            <a:xfrm>
              <a:off x="9005458" y="3708082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82" name="Rectangle 82"/>
            <p:cNvSpPr/>
            <p:nvPr/>
          </p:nvSpPr>
          <p:spPr>
            <a:xfrm>
              <a:off x="9424035" y="3595688"/>
              <a:ext cx="744855" cy="356235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2F4B9A"/>
              </a:solidFill>
            </a:ln>
          </p:spPr>
        </p:sp>
        <p:sp>
          <p:nvSpPr>
            <p:cNvPr id="83" name="Rectangle 83"/>
            <p:cNvSpPr/>
            <p:nvPr/>
          </p:nvSpPr>
          <p:spPr>
            <a:xfrm>
              <a:off x="10168890" y="3595688"/>
              <a:ext cx="744855" cy="356235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2F4B9A"/>
              </a:solidFill>
            </a:ln>
          </p:spPr>
        </p:sp>
        <p:sp>
          <p:nvSpPr>
            <p:cNvPr id="84" name="Rectangle 84"/>
            <p:cNvSpPr/>
            <p:nvPr/>
          </p:nvSpPr>
          <p:spPr>
            <a:xfrm>
              <a:off x="10913745" y="3595688"/>
              <a:ext cx="744855" cy="356235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2F4B9A"/>
              </a:solidFill>
            </a:ln>
          </p:spPr>
        </p:sp>
        <p:sp>
          <p:nvSpPr>
            <p:cNvPr id="85" name="TextBox 85"/>
            <p:cNvSpPr txBox="1"/>
            <p:nvPr/>
          </p:nvSpPr>
          <p:spPr>
            <a:xfrm>
              <a:off x="7526778" y="4005739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86" name="TextBox 86"/>
            <p:cNvSpPr txBox="1"/>
            <p:nvPr/>
          </p:nvSpPr>
          <p:spPr>
            <a:xfrm>
              <a:off x="8271633" y="4005739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87" name="TextBox 87"/>
            <p:cNvSpPr txBox="1"/>
            <p:nvPr/>
          </p:nvSpPr>
          <p:spPr>
            <a:xfrm>
              <a:off x="9016488" y="4005739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88" name="TextBox 88"/>
            <p:cNvSpPr txBox="1"/>
            <p:nvPr/>
          </p:nvSpPr>
          <p:spPr>
            <a:xfrm>
              <a:off x="9761343" y="4005739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89" name="TextBox 89"/>
            <p:cNvSpPr txBox="1"/>
            <p:nvPr/>
          </p:nvSpPr>
          <p:spPr>
            <a:xfrm>
              <a:off x="10506198" y="4005739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90" name="TextBox 90"/>
            <p:cNvSpPr txBox="1"/>
            <p:nvPr/>
          </p:nvSpPr>
          <p:spPr>
            <a:xfrm>
              <a:off x="11251053" y="4005739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91" name="TextBox 91"/>
            <p:cNvSpPr txBox="1"/>
            <p:nvPr/>
          </p:nvSpPr>
          <p:spPr>
            <a:xfrm>
              <a:off x="6784086" y="4391025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最优</a:t>
              </a:r>
            </a:p>
          </p:txBody>
        </p:sp>
        <p:sp>
          <p:nvSpPr>
            <p:cNvPr id="92" name="Rectangle 92"/>
            <p:cNvSpPr/>
            <p:nvPr/>
          </p:nvSpPr>
          <p:spPr>
            <a:xfrm>
              <a:off x="7189470" y="4278630"/>
              <a:ext cx="744855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2F4B9A"/>
              </a:solidFill>
            </a:ln>
          </p:spPr>
        </p:sp>
        <p:sp>
          <p:nvSpPr>
            <p:cNvPr id="93" name="TextBox 93"/>
            <p:cNvSpPr txBox="1"/>
            <p:nvPr/>
          </p:nvSpPr>
          <p:spPr>
            <a:xfrm>
              <a:off x="7515748" y="4391025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94" name="Rectangle 94"/>
            <p:cNvSpPr/>
            <p:nvPr/>
          </p:nvSpPr>
          <p:spPr>
            <a:xfrm>
              <a:off x="7934325" y="4278630"/>
              <a:ext cx="744855" cy="356235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95" name="TextBox 95"/>
            <p:cNvSpPr txBox="1"/>
            <p:nvPr/>
          </p:nvSpPr>
          <p:spPr>
            <a:xfrm>
              <a:off x="8260603" y="4391025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96" name="Rectangle 96"/>
            <p:cNvSpPr/>
            <p:nvPr/>
          </p:nvSpPr>
          <p:spPr>
            <a:xfrm>
              <a:off x="8679180" y="4278630"/>
              <a:ext cx="744855" cy="356235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97" name="TextBox 97"/>
            <p:cNvSpPr txBox="1"/>
            <p:nvPr/>
          </p:nvSpPr>
          <p:spPr>
            <a:xfrm>
              <a:off x="9005458" y="4391025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98" name="Rectangle 98"/>
            <p:cNvSpPr/>
            <p:nvPr/>
          </p:nvSpPr>
          <p:spPr>
            <a:xfrm>
              <a:off x="9424035" y="4278630"/>
              <a:ext cx="744855" cy="356235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99" name="TextBox 99"/>
            <p:cNvSpPr txBox="1"/>
            <p:nvPr/>
          </p:nvSpPr>
          <p:spPr>
            <a:xfrm>
              <a:off x="9750313" y="4391025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00" name="Rectangle 100"/>
            <p:cNvSpPr/>
            <p:nvPr/>
          </p:nvSpPr>
          <p:spPr>
            <a:xfrm>
              <a:off x="10168890" y="4278630"/>
              <a:ext cx="744855" cy="356235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101" name="TextBox 101"/>
            <p:cNvSpPr txBox="1"/>
            <p:nvPr/>
          </p:nvSpPr>
          <p:spPr>
            <a:xfrm>
              <a:off x="10495168" y="4391025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02" name="Rectangle 102"/>
            <p:cNvSpPr/>
            <p:nvPr/>
          </p:nvSpPr>
          <p:spPr>
            <a:xfrm>
              <a:off x="10913745" y="4278630"/>
              <a:ext cx="744855" cy="356235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103" name="TextBox 103"/>
            <p:cNvSpPr txBox="1"/>
            <p:nvPr/>
          </p:nvSpPr>
          <p:spPr>
            <a:xfrm>
              <a:off x="11240023" y="4391025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04" name="TextBox 104"/>
            <p:cNvSpPr txBox="1"/>
            <p:nvPr/>
          </p:nvSpPr>
          <p:spPr>
            <a:xfrm>
              <a:off x="7526778" y="4688681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05" name="TextBox 105"/>
            <p:cNvSpPr txBox="1"/>
            <p:nvPr/>
          </p:nvSpPr>
          <p:spPr>
            <a:xfrm>
              <a:off x="8271633" y="4688681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06" name="TextBox 106"/>
            <p:cNvSpPr txBox="1"/>
            <p:nvPr/>
          </p:nvSpPr>
          <p:spPr>
            <a:xfrm>
              <a:off x="9016488" y="4688681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07" name="TextBox 107"/>
            <p:cNvSpPr txBox="1"/>
            <p:nvPr/>
          </p:nvSpPr>
          <p:spPr>
            <a:xfrm>
              <a:off x="9761343" y="4688681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108" name="TextBox 108"/>
            <p:cNvSpPr txBox="1"/>
            <p:nvPr/>
          </p:nvSpPr>
          <p:spPr>
            <a:xfrm>
              <a:off x="10506198" y="4688681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109" name="TextBox 109"/>
            <p:cNvSpPr txBox="1"/>
            <p:nvPr/>
          </p:nvSpPr>
          <p:spPr>
            <a:xfrm>
              <a:off x="11251053" y="4688681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</p:grpSp>
      <p:grpSp>
        <p:nvGrpSpPr>
          <p:cNvPr id="117" name="c2-callout-3"/>
          <p:cNvGrpSpPr/>
          <p:nvPr/>
        </p:nvGrpSpPr>
        <p:grpSpPr>
          <a:xfrm>
            <a:off x="6789420" y="4980622"/>
            <a:ext cx="4869180" cy="726758"/>
            <a:chOff x="6789420" y="4980622"/>
            <a:chExt cx="4869180" cy="726758"/>
          </a:xfrm>
        </p:grpSpPr>
        <p:sp>
          <p:nvSpPr>
            <p:cNvPr id="111" name="Rectangle 111"/>
            <p:cNvSpPr/>
            <p:nvPr/>
          </p:nvSpPr>
          <p:spPr>
            <a:xfrm>
              <a:off x="6789420" y="4980622"/>
              <a:ext cx="4869180" cy="726758"/>
            </a:xfrm>
            <a:prstGeom prst="roundRect">
              <a:avLst>
                <a:gd name="adj" fmla="val 15727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115" name="Group 115"/>
            <p:cNvGrpSpPr/>
            <p:nvPr/>
          </p:nvGrpSpPr>
          <p:grpSpPr>
            <a:xfrm>
              <a:off x="6994208" y="5244465"/>
              <a:ext cx="200026" cy="200026"/>
              <a:chOff x="6994208" y="5244465"/>
              <a:chExt cx="200026" cy="200026"/>
            </a:xfrm>
          </p:grpSpPr>
          <p:sp>
            <p:nvSpPr>
              <p:cNvPr id="112" name="Freeform 112"/>
              <p:cNvSpPr/>
              <p:nvPr/>
            </p:nvSpPr>
            <p:spPr>
              <a:xfrm>
                <a:off x="6994208" y="5244465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113" name="Freeform 113"/>
              <p:cNvSpPr/>
              <p:nvPr/>
            </p:nvSpPr>
            <p:spPr>
              <a:xfrm>
                <a:off x="7094220" y="531114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114" name="Freeform 114"/>
              <p:cNvSpPr/>
              <p:nvPr/>
            </p:nvSpPr>
            <p:spPr>
              <a:xfrm>
                <a:off x="7083108" y="5344478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116" name="TextBox 116"/>
            <p:cNvSpPr txBox="1"/>
            <p:nvPr/>
          </p:nvSpPr>
          <p:spPr>
            <a:xfrm>
              <a:off x="7297293" y="5137309"/>
              <a:ext cx="3938778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格子是背包的 6 个重量单位。贪心装了物品2 后剩 3 个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单位，放不下物品3，也再没有东西可装。</a:t>
              </a:r>
            </a:p>
          </p:txBody>
        </p:sp>
      </p:grpSp>
      <p:grpSp>
        <p:nvGrpSpPr>
          <p:cNvPr id="124" name="takeaway"/>
          <p:cNvGrpSpPr/>
          <p:nvPr/>
        </p:nvGrpSpPr>
        <p:grpSpPr>
          <a:xfrm>
            <a:off x="533400" y="5895022"/>
            <a:ext cx="11125200" cy="467678"/>
            <a:chOff x="533400" y="5895022"/>
            <a:chExt cx="11125200" cy="467678"/>
          </a:xfrm>
        </p:grpSpPr>
        <p:sp>
          <p:nvSpPr>
            <p:cNvPr id="118" name="Rectangle 118"/>
            <p:cNvSpPr/>
            <p:nvPr/>
          </p:nvSpPr>
          <p:spPr>
            <a:xfrm>
              <a:off x="533400" y="5895022"/>
              <a:ext cx="11125200" cy="467678"/>
            </a:xfrm>
            <a:prstGeom prst="roundRect">
              <a:avLst>
                <a:gd name="adj" fmla="val 24440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122" name="Group 122"/>
            <p:cNvGrpSpPr/>
            <p:nvPr/>
          </p:nvGrpSpPr>
          <p:grpSpPr>
            <a:xfrm>
              <a:off x="726129" y="6024681"/>
              <a:ext cx="224134" cy="192560"/>
              <a:chOff x="726129" y="6024681"/>
              <a:chExt cx="224134" cy="192560"/>
            </a:xfrm>
          </p:grpSpPr>
          <p:sp>
            <p:nvSpPr>
              <p:cNvPr id="119" name="Freeform 119"/>
              <p:cNvSpPr/>
              <p:nvPr/>
            </p:nvSpPr>
            <p:spPr>
              <a:xfrm>
                <a:off x="838200" y="6095048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120" name="Freeform 120"/>
              <p:cNvSpPr/>
              <p:nvPr/>
            </p:nvSpPr>
            <p:spPr>
              <a:xfrm>
                <a:off x="726129" y="6024681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121" name="Freeform 121"/>
              <p:cNvSpPr/>
              <p:nvPr/>
            </p:nvSpPr>
            <p:spPr>
              <a:xfrm>
                <a:off x="838200" y="6172836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123" name="TextBox 123"/>
            <p:cNvSpPr txBox="1"/>
            <p:nvPr/>
          </p:nvSpPr>
          <p:spPr>
            <a:xfrm>
              <a:off x="1041273" y="6039326"/>
              <a:ext cx="824092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分数背包可以再装 3/5 个物品3，得 7 + 4.8 = 11.8，贪心最优；0/1 背包不许拆开，剩下的容量就浪费了。</a:t>
              </a:r>
            </a:p>
          </p:txBody>
        </p:sp>
      </p:grpSp>
      <p:grpSp>
        <p:nvGrpSpPr>
          <p:cNvPr id="12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25" name="TextBox 125"/>
            <p:cNvSpPr txBox="1"/>
            <p:nvPr/>
          </p:nvSpPr>
          <p:spPr>
            <a:xfrm>
              <a:off x="528447" y="6581299"/>
              <a:ext cx="242418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算法设计与分析 · 第5章 贪心法 作业讲解</a:t>
              </a:r>
            </a:p>
          </p:txBody>
        </p:sp>
        <p:sp>
          <p:nvSpPr>
            <p:cNvPr id="126" name="TextBox 126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665627" cy="909257"/>
            <a:chOff x="520446" y="342900"/>
            <a:chExt cx="7665627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14588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6156" y="407194"/>
              <a:ext cx="22881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第5章 作业讲解 · 反例与子集选择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66562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题1 复核：穷举 8 个子集，“装满就最优”也不成立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62" name="c1-table-1"/>
          <p:cNvGrpSpPr/>
          <p:nvPr/>
        </p:nvGrpSpPr>
        <p:grpSpPr>
          <a:xfrm>
            <a:off x="527685" y="1524000"/>
            <a:ext cx="4874895" cy="4335304"/>
            <a:chOff x="527685" y="1524000"/>
            <a:chExt cx="4874895" cy="4335304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4869180" cy="448628"/>
            </a:xfrm>
            <a:prstGeom prst="rect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797096" y="1659731"/>
              <a:ext cx="111662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(x₁, x₂, x₃)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2462492" y="165973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总重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3390227" y="165973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效益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4538942" y="165973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可行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946363" y="2108359"/>
              <a:ext cx="81808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(0, 0, 0)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2587419" y="2108359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3515154" y="2108359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4625099" y="2108359"/>
              <a:ext cx="18526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✓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533400" y="2416492"/>
              <a:ext cx="486918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533400" y="2421255"/>
              <a:ext cx="4869180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946363" y="2556986"/>
              <a:ext cx="81808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(1, 0, 0)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2587419" y="2556986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3515154" y="2556986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4625099" y="2556986"/>
              <a:ext cx="18526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✓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533400" y="2866072"/>
              <a:ext cx="486918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946363" y="3005614"/>
              <a:ext cx="81808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(0, 1, 0)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2587419" y="3005614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3515154" y="3005614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4625099" y="3005614"/>
              <a:ext cx="18526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✓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533400" y="3314700"/>
              <a:ext cx="486918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8" name="Rectangle 28"/>
            <p:cNvSpPr/>
            <p:nvPr/>
          </p:nvSpPr>
          <p:spPr>
            <a:xfrm>
              <a:off x="533400" y="3319462"/>
              <a:ext cx="4869180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946363" y="3454241"/>
              <a:ext cx="81808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(1, 1, 0)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2587419" y="3454241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3515154" y="3454241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4043362" y="3328988"/>
              <a:ext cx="1349692" cy="429578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4340781" y="3454241"/>
              <a:ext cx="75390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✓ 贪心解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533400" y="3763328"/>
              <a:ext cx="486918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946363" y="3903821"/>
              <a:ext cx="81808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(0, 0, 1)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2587419" y="3903821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3515154" y="3903821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4625099" y="3903821"/>
              <a:ext cx="18526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✓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533400" y="4211955"/>
              <a:ext cx="486918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0" name="Rectangle 40"/>
            <p:cNvSpPr/>
            <p:nvPr/>
          </p:nvSpPr>
          <p:spPr>
            <a:xfrm>
              <a:off x="533400" y="4216718"/>
              <a:ext cx="4869180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946363" y="4352449"/>
              <a:ext cx="81808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(1, 0, 1)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2587419" y="4352449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3467768" y="4352449"/>
              <a:ext cx="2024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11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4043362" y="4226242"/>
              <a:ext cx="1349692" cy="429578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4426938" y="4352449"/>
              <a:ext cx="58158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✓ 最优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533400" y="4660582"/>
              <a:ext cx="486918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946363" y="4801076"/>
              <a:ext cx="81808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(0, 1, 1)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2587419" y="4801076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3467768" y="4801076"/>
              <a:ext cx="2024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12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4426938" y="4801076"/>
              <a:ext cx="58158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✗ 超重</a:t>
              </a:r>
            </a:p>
          </p:txBody>
        </p:sp>
        <p:sp>
          <p:nvSpPr>
            <p:cNvPr id="51" name="Rectangle 51"/>
            <p:cNvSpPr/>
            <p:nvPr/>
          </p:nvSpPr>
          <p:spPr>
            <a:xfrm>
              <a:off x="533400" y="5110162"/>
              <a:ext cx="486918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2" name="Rectangle 52"/>
            <p:cNvSpPr/>
            <p:nvPr/>
          </p:nvSpPr>
          <p:spPr>
            <a:xfrm>
              <a:off x="533400" y="5114925"/>
              <a:ext cx="4869180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946363" y="5249704"/>
              <a:ext cx="81808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(1, 1, 1)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2587419" y="5249704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3467768" y="5249704"/>
              <a:ext cx="2024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15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4426938" y="5249704"/>
              <a:ext cx="58158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✗ 超重</a:t>
              </a:r>
            </a:p>
          </p:txBody>
        </p:sp>
        <p:sp>
          <p:nvSpPr>
            <p:cNvPr id="57" name="Rectangle 57"/>
            <p:cNvSpPr/>
            <p:nvPr/>
          </p:nvSpPr>
          <p:spPr>
            <a:xfrm>
              <a:off x="533400" y="1524000"/>
              <a:ext cx="4869180" cy="4039552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58" name="Rectangle 58"/>
            <p:cNvSpPr/>
            <p:nvPr/>
          </p:nvSpPr>
          <p:spPr>
            <a:xfrm>
              <a:off x="2172652" y="1524000"/>
              <a:ext cx="9525" cy="403955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9" name="Rectangle 59"/>
            <p:cNvSpPr/>
            <p:nvPr/>
          </p:nvSpPr>
          <p:spPr>
            <a:xfrm>
              <a:off x="3100388" y="1524000"/>
              <a:ext cx="9525" cy="403955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0" name="Rectangle 60"/>
            <p:cNvSpPr/>
            <p:nvPr/>
          </p:nvSpPr>
          <p:spPr>
            <a:xfrm>
              <a:off x="4029075" y="1524000"/>
              <a:ext cx="9525" cy="403955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527685" y="5639276"/>
              <a:ext cx="186424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M = 6，脚本穷举 2³ 个子集</a:t>
              </a:r>
            </a:p>
          </p:txBody>
        </p:sp>
      </p:grpSp>
      <p:grpSp>
        <p:nvGrpSpPr>
          <p:cNvPr id="70" name="c2-card-1"/>
          <p:cNvGrpSpPr/>
          <p:nvPr/>
        </p:nvGrpSpPr>
        <p:grpSpPr>
          <a:xfrm>
            <a:off x="5707380" y="1524000"/>
            <a:ext cx="5951220" cy="2813685"/>
            <a:chOff x="5707380" y="1524000"/>
            <a:chExt cx="5951220" cy="2813685"/>
          </a:xfrm>
        </p:grpSpPr>
        <p:sp>
          <p:nvSpPr>
            <p:cNvPr id="63" name="Rectangle 63"/>
            <p:cNvSpPr/>
            <p:nvPr/>
          </p:nvSpPr>
          <p:spPr>
            <a:xfrm>
              <a:off x="5707380" y="1524000"/>
              <a:ext cx="5951220" cy="2813685"/>
            </a:xfrm>
            <a:prstGeom prst="roundRect">
              <a:avLst>
                <a:gd name="adj" fmla="val 473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64" name="Rectangle 64"/>
            <p:cNvSpPr/>
            <p:nvPr/>
          </p:nvSpPr>
          <p:spPr>
            <a:xfrm>
              <a:off x="5716905" y="1657350"/>
              <a:ext cx="47625" cy="2546985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65" name="Rectangle 65"/>
            <p:cNvSpPr/>
            <p:nvPr/>
          </p:nvSpPr>
          <p:spPr>
            <a:xfrm>
              <a:off x="5955030" y="1733550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6045238" y="176926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6556058" y="1768792"/>
              <a:ext cx="489285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原讲解：“所装入的物品能装满背包时，显然为最优解”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5947410" y="2129790"/>
              <a:ext cx="5282565" cy="11506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这句话不成立。反例：M = 10，p = (12, 9, 9, 4)，w = (6,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5, 5, 4)，比值 (2, 1.8, 1.8, 1)。贪心装物品1 后，物品2、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 都装不下，再装物品4，恰好装满，效益 16；装物品2、3 同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样装满，效益 18。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5947410" y="3322320"/>
              <a:ext cx="5158740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正确的说法：按比值次序</a:t>
              </a:r>
              <a:r>
                <a:rPr lang="zh-CN" sz="15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连续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装入前若干件、中途没有跳过任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何物品且恰好装满时，贪心解等于分数背包的最优值，才一定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最优。</a:t>
              </a:r>
            </a:p>
          </p:txBody>
        </p:sp>
      </p:grpSp>
      <p:grpSp>
        <p:nvGrpSpPr>
          <p:cNvPr id="78" name="c2-card-2"/>
          <p:cNvGrpSpPr/>
          <p:nvPr/>
        </p:nvGrpSpPr>
        <p:grpSpPr>
          <a:xfrm>
            <a:off x="5707380" y="4528185"/>
            <a:ext cx="5951220" cy="1651635"/>
            <a:chOff x="5707380" y="4528185"/>
            <a:chExt cx="5951220" cy="1651635"/>
          </a:xfrm>
        </p:grpSpPr>
        <p:sp>
          <p:nvSpPr>
            <p:cNvPr id="71" name="Rectangle 71"/>
            <p:cNvSpPr/>
            <p:nvPr/>
          </p:nvSpPr>
          <p:spPr>
            <a:xfrm>
              <a:off x="5707380" y="4528185"/>
              <a:ext cx="5951220" cy="1651635"/>
            </a:xfrm>
            <a:prstGeom prst="roundRect">
              <a:avLst>
                <a:gd name="adj" fmla="val 8074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72" name="Rectangle 72"/>
            <p:cNvSpPr/>
            <p:nvPr/>
          </p:nvSpPr>
          <p:spPr>
            <a:xfrm>
              <a:off x="5916930" y="4737735"/>
              <a:ext cx="1399222" cy="257175"/>
            </a:xfrm>
            <a:prstGeom prst="roundRect">
              <a:avLst>
                <a:gd name="adj" fmla="val 50000"/>
              </a:avLst>
            </a:prstGeom>
            <a:solidFill>
              <a:srgbClr val="243B7A"/>
            </a:solidFill>
            <a:ln>
              <a:noFill/>
            </a:ln>
          </p:spPr>
        </p:sp>
        <p:sp>
          <p:nvSpPr>
            <p:cNvPr id="73" name="TextBox 73"/>
            <p:cNvSpPr txBox="1"/>
            <p:nvPr/>
          </p:nvSpPr>
          <p:spPr>
            <a:xfrm>
              <a:off x="5979925" y="4773454"/>
              <a:ext cx="127228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那 0/1 背包怎么求</a:t>
              </a:r>
            </a:p>
          </p:txBody>
        </p:sp>
        <p:sp>
          <p:nvSpPr>
            <p:cNvPr id="74" name="Ellipse 74"/>
            <p:cNvSpPr/>
            <p:nvPr/>
          </p:nvSpPr>
          <p:spPr>
            <a:xfrm>
              <a:off x="5922645" y="5177790"/>
              <a:ext cx="64770" cy="6477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75" name="TextBox 75"/>
            <p:cNvSpPr txBox="1"/>
            <p:nvPr/>
          </p:nvSpPr>
          <p:spPr>
            <a:xfrm>
              <a:off x="6080760" y="5114925"/>
              <a:ext cx="419519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第6章 动态规划、第7章 回溯法都能求出最优解</a:t>
              </a:r>
            </a:p>
          </p:txBody>
        </p:sp>
        <p:sp>
          <p:nvSpPr>
            <p:cNvPr id="76" name="Ellipse 76"/>
            <p:cNvSpPr/>
            <p:nvPr/>
          </p:nvSpPr>
          <p:spPr>
            <a:xfrm>
              <a:off x="5922645" y="5513070"/>
              <a:ext cx="64770" cy="6477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77" name="TextBox 77"/>
            <p:cNvSpPr txBox="1"/>
            <p:nvPr/>
          </p:nvSpPr>
          <p:spPr>
            <a:xfrm>
              <a:off x="6080760" y="5450205"/>
              <a:ext cx="503491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脚本随机核对 7.9 万个“前缀恰好装满”的实例，贪心全部等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于穷举最优值</a:t>
              </a:r>
            </a:p>
          </p:txBody>
        </p:sp>
      </p:grpSp>
      <p:grpSp>
        <p:nvGrpSpPr>
          <p:cNvPr id="8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9" name="TextBox 79"/>
            <p:cNvSpPr txBox="1"/>
            <p:nvPr/>
          </p:nvSpPr>
          <p:spPr>
            <a:xfrm>
              <a:off x="528447" y="6581299"/>
              <a:ext cx="242418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算法设计与分析 · 第5章 贪心法 作业讲解</a:t>
              </a:r>
            </a:p>
          </p:txBody>
        </p:sp>
        <p:sp>
          <p:nvSpPr>
            <p:cNvPr id="80" name="TextBox 80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806178" cy="909257"/>
            <a:chOff x="520446" y="342900"/>
            <a:chExt cx="8806178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14588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6156" y="407194"/>
              <a:ext cx="22881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第5章 作业讲解 · 反例与子集选择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80617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题6：目标只数个数，轻的箱子先装；证法一逐位改最优解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3" name="c1-card-1"/>
          <p:cNvGrpSpPr/>
          <p:nvPr/>
        </p:nvGrpSpPr>
        <p:grpSpPr>
          <a:xfrm>
            <a:off x="533400" y="1524000"/>
            <a:ext cx="5626418" cy="1357312"/>
            <a:chOff x="533400" y="1524000"/>
            <a:chExt cx="5626418" cy="1357312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626418" cy="1357312"/>
            </a:xfrm>
            <a:prstGeom prst="roundRect">
              <a:avLst>
                <a:gd name="adj" fmla="val 9825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090612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52475" y="1704975"/>
              <a:ext cx="530542" cy="23812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42295" y="1737836"/>
              <a:ext cx="34994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第6题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45998" y="2045494"/>
              <a:ext cx="51079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轮船载重 C，集装箱 i 重 wᵢ，没有体积限制，怎样装使箱数最多？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47141" y="2342198"/>
              <a:ext cx="4911280" cy="3987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22"/>
                </a:lnSpc>
              </a:pPr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思路：每只箱子对目标的贡献都是 1，占用载重越少越划算，量度标准取 wᵢ 非降，</a:t>
              </a:r>
              <a:br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即轻者先装。</a:t>
              </a:r>
            </a:p>
          </p:txBody>
        </p:sp>
      </p:grpSp>
      <p:grpSp>
        <p:nvGrpSpPr>
          <p:cNvPr id="35" name="c1-steps-2"/>
          <p:cNvGrpSpPr/>
          <p:nvPr/>
        </p:nvGrpSpPr>
        <p:grpSpPr>
          <a:xfrm>
            <a:off x="533400" y="3055620"/>
            <a:ext cx="5211699" cy="2895219"/>
            <a:chOff x="533400" y="3055620"/>
            <a:chExt cx="5211699" cy="2895219"/>
          </a:xfrm>
        </p:grpSpPr>
        <p:sp>
          <p:nvSpPr>
            <p:cNvPr id="14" name="Rectangle 14"/>
            <p:cNvSpPr/>
            <p:nvPr/>
          </p:nvSpPr>
          <p:spPr>
            <a:xfrm>
              <a:off x="666750" y="3198495"/>
              <a:ext cx="19050" cy="240506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5" name="Ellipse 15"/>
            <p:cNvSpPr/>
            <p:nvPr/>
          </p:nvSpPr>
          <p:spPr>
            <a:xfrm>
              <a:off x="533400" y="3055620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27024" y="312943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7" name="Ellipse 17"/>
            <p:cNvSpPr/>
            <p:nvPr/>
          </p:nvSpPr>
          <p:spPr>
            <a:xfrm>
              <a:off x="533400" y="3801428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627024" y="387524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9" name="Ellipse 19"/>
            <p:cNvSpPr/>
            <p:nvPr/>
          </p:nvSpPr>
          <p:spPr>
            <a:xfrm>
              <a:off x="533400" y="4354830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27024" y="442864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1" name="Ellipse 21"/>
            <p:cNvSpPr/>
            <p:nvPr/>
          </p:nvSpPr>
          <p:spPr>
            <a:xfrm>
              <a:off x="533400" y="4907280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27024" y="498109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23" name="Ellipse 23"/>
            <p:cNvSpPr/>
            <p:nvPr/>
          </p:nvSpPr>
          <p:spPr>
            <a:xfrm>
              <a:off x="533400" y="5460682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27024" y="553450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946023" y="3085624"/>
              <a:ext cx="104683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编号与贪心解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947166" y="3340418"/>
              <a:ext cx="4797933" cy="3987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22"/>
                </a:lnSpc>
              </a:pPr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按 w₁ ≤ w₂ ≤ … ≤ wₙ 编号，贪心解 X = (1, …, 1, 0, …, 0)，j 是第一个 0 的位置</a:t>
              </a:r>
              <a:br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（全装得下时显然最优）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946023" y="3832384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比较最优解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947166" y="4087178"/>
              <a:ext cx="36355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设最优解 Y ≠ X，第一个不同的位置是 k，则 k &lt; j，yₖ = 0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946023" y="4384834"/>
              <a:ext cx="5200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构造 Z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947166" y="4639628"/>
              <a:ext cx="29931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令 yₖ = 1，再取一个 m ≥ j 且 yₘ = 1，令 yₘ = 0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946023" y="4938236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验证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947166" y="5193030"/>
              <a:ext cx="478286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总重变化 wₖ − wₘ ≤ 0，Z 可行；箱数不变，Z 也最优，与 X 的公共前缀变长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946023" y="5491639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收尾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947166" y="5745480"/>
              <a:ext cx="474272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重复到前 j − 1 位全为 1，此时 m ≥ j 处已没有 1，Y = X，贪心解最优。证毕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36" name="formula14"/>
              <p:cNvSpPr txBox="1">
                <a:spLocks noGrp="1"/>
              </p:cNvSpPr>
              <p:nvPr/>
            </p:nvSpPr>
            <p:spPr>
              <a:xfrm>
                <a:off x="6464618" y="1524000"/>
                <a:ext cx="5193982" cy="53435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func>
                        <m:funcPr/>
                        <m:fName>
                          <m:r>
                            <m:rPr>
                              <m:sty m:val="p"/>
                            </m:rP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max</m:t>
                          </m:r>
                        </m:fName>
                        <m:e>
                          <m:nary>
                            <m:naryPr>
                              <m:chr m:val="∑"/>
                              <m:limLoc m:val="undOvr"/>
                              <m:grow m:val="off"/>
                              <m:subHide m:val="off"/>
                              <m:supHide m:val="off"/>
                              <m:ctrlPr>
                                <a:rPr lang="zh-CN" sz="12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naryPr>
                            <m:sub>
                              <m:r>
                                <a:rPr lang="zh-CN" sz="12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i</m:t>
                              </m:r>
                              <m:r>
                                <m:rPr>
                                  <m:sty m:val="p"/>
                                </m:rPr>
                                <a:rPr lang="zh-CN" sz="12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=</m:t>
                              </m:r>
                              <m:r>
                                <a:rPr lang="zh-CN" sz="12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zh-CN" sz="12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n</m:t>
                              </m:r>
                            </m:sup>
                            <m:e>
                              <m:sSub>
                                <m:e>
                                  <m:r>
                                    <a:rPr lang="zh-CN" sz="12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x</m:t>
                                  </m:r>
                                </m:e>
                                <m:sub>
                                  <m:r>
                                    <a:rPr lang="zh-CN" sz="12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i</m:t>
                                  </m:r>
                                </m:sub>
                              </m:sSub>
                            </m:e>
                          </m:nary>
                        </m:e>
                      </m:func>
                      <m:r>
                        <m:rPr>
                          <m:sty m:val="p"/>
                        </m:rPr>
                        <a:rPr lang="zh-CN" sz="12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,</m:t>
                      </m:r>
                      <m:r>
                        <a:rPr lang="zh-CN" sz="12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 xml:space="preserve"> </m:t>
                      </m:r>
                      <m:nary>
                        <m:naryPr>
                          <m:chr m:val="∑"/>
                          <m:limLoc m:val="undOvr"/>
                          <m:grow m:val="off"/>
                          <m:subHide m:val="off"/>
                          <m:supHide m:val="off"/>
                          <m:ctrlP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naryPr>
                        <m:sub>
                          <m: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i</m:t>
                          </m:r>
                          <m:r>
                            <m:rPr>
                              <m:sty m:val="p"/>
                            </m:rP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=</m:t>
                          </m:r>
                          <m: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sub>
                        <m:sup>
                          <m: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n</m:t>
                          </m:r>
                        </m:sup>
                        <m:e>
                          <m:sSub>
                            <m:e>
                              <m:r>
                                <a:rPr lang="zh-CN" sz="12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w</m:t>
                              </m:r>
                            </m:e>
                            <m:sub>
                              <m:r>
                                <a:rPr lang="zh-CN" sz="12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i</m:t>
                              </m:r>
                            </m:sub>
                          </m:sSub>
                          <m:sSub>
                            <m:e>
                              <m:r>
                                <a:rPr lang="zh-CN" sz="12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x</m:t>
                              </m:r>
                            </m:e>
                            <m:sub>
                              <m:r>
                                <a:rPr lang="zh-CN" sz="12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i</m:t>
                              </m:r>
                            </m:sub>
                          </m:sSub>
                        </m:e>
                      </m:nary>
                      <m:r>
                        <m:rPr>
                          <m:sty m:val="p"/>
                        </m:rPr>
                        <a:rPr lang="zh-CN" sz="12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≤</m:t>
                      </m:r>
                      <m:r>
                        <a:rPr lang="zh-CN" sz="12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C</m:t>
                      </m:r>
                      <m:r>
                        <m:rPr>
                          <m:sty m:val="p"/>
                        </m:rPr>
                        <a:rPr lang="zh-CN" sz="12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,</m:t>
                      </m:r>
                      <m:r>
                        <a:rPr lang="zh-CN" sz="12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 xml:space="preserve"> </m:t>
                      </m:r>
                      <m:sSub>
                        <m:e>
                          <m: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x</m:t>
                          </m:r>
                        </m:e>
                        <m:sub>
                          <m: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i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zh-CN" sz="12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∈</m:t>
                      </m:r>
                      <m:d>
                        <m:dPr>
                          <m:begChr m:val="{"/>
                          <m:sepChr m:val=""/>
                          <m:endChr m:val="}"/>
                          <m:grow m:val="on"/>
                          <m:ctrlP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0</m:t>
                          </m:r>
                          <m:r>
                            <m:rPr>
                              <m:sty m:val="p"/>
                            </m:rP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,</m:t>
                          </m:r>
                          <m: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e>
                      </m:d>
                    </m:oMath>
                  </m:oMathPara>
                </a14:m>
              </a:p>
            </p:txBody>
          </p:sp>
        </mc:Choice>
      </mc:AlternateContent>
      <p:grpSp>
        <p:nvGrpSpPr>
          <p:cNvPr id="109" name="c2-cells-2"/>
          <p:cNvGrpSpPr/>
          <p:nvPr/>
        </p:nvGrpSpPr>
        <p:grpSpPr>
          <a:xfrm>
            <a:off x="6459284" y="2267426"/>
            <a:ext cx="5199316" cy="2464118"/>
            <a:chOff x="6459284" y="2267426"/>
            <a:chExt cx="5199316" cy="2464118"/>
          </a:xfrm>
        </p:grpSpPr>
        <p:sp>
          <p:nvSpPr>
            <p:cNvPr id="37" name="TextBox 37"/>
            <p:cNvSpPr txBox="1"/>
            <p:nvPr/>
          </p:nvSpPr>
          <p:spPr>
            <a:xfrm>
              <a:off x="6459284" y="2621280"/>
              <a:ext cx="969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X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6675120" y="2508885"/>
              <a:ext cx="711518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2F4B9A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6985206" y="2621280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7386638" y="2508885"/>
              <a:ext cx="711518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2F4B9A"/>
              </a:solidFill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7696723" y="2621280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8099108" y="2508885"/>
              <a:ext cx="711518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2F4B9A"/>
              </a:solidFill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8409193" y="2621280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8810625" y="2508885"/>
              <a:ext cx="711518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2F4B9A"/>
              </a:solidFill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9120711" y="2621280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9523095" y="2508885"/>
              <a:ext cx="711518" cy="356235"/>
            </a:xfrm>
            <a:prstGeom prst="rect">
              <a:avLst/>
            </a:prstGeom>
            <a:solidFill>
              <a:srgbClr val="FDECEA"/>
            </a:solidFill>
            <a:ln w="15240">
              <a:solidFill>
                <a:srgbClr val="B42318"/>
              </a:solidFill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9832228" y="2621280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10234612" y="2508885"/>
              <a:ext cx="711518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2F4B9A"/>
              </a:solidFill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10544698" y="2621280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10947082" y="2508885"/>
              <a:ext cx="711518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2F4B9A"/>
              </a:solidFill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11256216" y="2621280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6996236" y="2918936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7707753" y="2918936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8420223" y="2918936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9131741" y="2918936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9843258" y="2918936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10555728" y="2918936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11267246" y="2918936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9856229" y="2267426"/>
              <a:ext cx="44297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8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j</a:t>
              </a:r>
            </a:p>
          </p:txBody>
        </p:sp>
        <p:sp>
          <p:nvSpPr>
            <p:cNvPr id="60" name="Freeform 60"/>
            <p:cNvSpPr/>
            <p:nvPr/>
          </p:nvSpPr>
          <p:spPr>
            <a:xfrm>
              <a:off x="9840278" y="2413635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76200"/>
                  </a:moveTo>
                  <a:lnTo>
                    <a:pt x="0" y="0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C2410C"/>
            </a:solidFill>
            <a:ln>
              <a:noFill/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6459284" y="3304223"/>
              <a:ext cx="969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Y</a:t>
              </a:r>
            </a:p>
          </p:txBody>
        </p:sp>
        <p:sp>
          <p:nvSpPr>
            <p:cNvPr id="62" name="Rectangle 62"/>
            <p:cNvSpPr/>
            <p:nvPr/>
          </p:nvSpPr>
          <p:spPr>
            <a:xfrm>
              <a:off x="6675120" y="3191828"/>
              <a:ext cx="711518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2F4B9A"/>
              </a:solidFill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6985206" y="3304223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64" name="Rectangle 64"/>
            <p:cNvSpPr/>
            <p:nvPr/>
          </p:nvSpPr>
          <p:spPr>
            <a:xfrm>
              <a:off x="7386638" y="3191828"/>
              <a:ext cx="711518" cy="356235"/>
            </a:xfrm>
            <a:prstGeom prst="rect">
              <a:avLst/>
            </a:prstGeom>
            <a:solidFill>
              <a:srgbClr val="FDECEA"/>
            </a:solidFill>
            <a:ln w="15240">
              <a:solidFill>
                <a:srgbClr val="B42318"/>
              </a:solidFill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7696723" y="3304223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66" name="Rectangle 66"/>
            <p:cNvSpPr/>
            <p:nvPr/>
          </p:nvSpPr>
          <p:spPr>
            <a:xfrm>
              <a:off x="8099108" y="3191828"/>
              <a:ext cx="711518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2F4B9A"/>
              </a:solidFill>
            </a:ln>
          </p:spPr>
        </p:sp>
        <p:sp>
          <p:nvSpPr>
            <p:cNvPr id="67" name="TextBox 67"/>
            <p:cNvSpPr txBox="1"/>
            <p:nvPr/>
          </p:nvSpPr>
          <p:spPr>
            <a:xfrm>
              <a:off x="8409193" y="3304223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68" name="Rectangle 68"/>
            <p:cNvSpPr/>
            <p:nvPr/>
          </p:nvSpPr>
          <p:spPr>
            <a:xfrm>
              <a:off x="8810625" y="3191828"/>
              <a:ext cx="711518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2F4B9A"/>
              </a:solidFill>
            </a:ln>
          </p:spPr>
        </p:sp>
        <p:sp>
          <p:nvSpPr>
            <p:cNvPr id="69" name="TextBox 69"/>
            <p:cNvSpPr txBox="1"/>
            <p:nvPr/>
          </p:nvSpPr>
          <p:spPr>
            <a:xfrm>
              <a:off x="9120711" y="3304223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70" name="Rectangle 70"/>
            <p:cNvSpPr/>
            <p:nvPr/>
          </p:nvSpPr>
          <p:spPr>
            <a:xfrm>
              <a:off x="9523095" y="3191828"/>
              <a:ext cx="711518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2F4B9A"/>
              </a:solidFill>
            </a:ln>
          </p:spPr>
        </p:sp>
        <p:sp>
          <p:nvSpPr>
            <p:cNvPr id="71" name="TextBox 71"/>
            <p:cNvSpPr txBox="1"/>
            <p:nvPr/>
          </p:nvSpPr>
          <p:spPr>
            <a:xfrm>
              <a:off x="9832228" y="3304223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72" name="Rectangle 72"/>
            <p:cNvSpPr/>
            <p:nvPr/>
          </p:nvSpPr>
          <p:spPr>
            <a:xfrm>
              <a:off x="10234612" y="3191828"/>
              <a:ext cx="711518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2F4B9A"/>
              </a:solidFill>
            </a:ln>
          </p:spPr>
        </p:sp>
        <p:sp>
          <p:nvSpPr>
            <p:cNvPr id="73" name="TextBox 73"/>
            <p:cNvSpPr txBox="1"/>
            <p:nvPr/>
          </p:nvSpPr>
          <p:spPr>
            <a:xfrm>
              <a:off x="10544698" y="3304223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74" name="Rectangle 74"/>
            <p:cNvSpPr/>
            <p:nvPr/>
          </p:nvSpPr>
          <p:spPr>
            <a:xfrm>
              <a:off x="10947082" y="3191828"/>
              <a:ext cx="711518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2F4B9A"/>
              </a:solidFill>
            </a:ln>
          </p:spPr>
        </p:sp>
        <p:sp>
          <p:nvSpPr>
            <p:cNvPr id="75" name="TextBox 75"/>
            <p:cNvSpPr txBox="1"/>
            <p:nvPr/>
          </p:nvSpPr>
          <p:spPr>
            <a:xfrm>
              <a:off x="11256216" y="3304223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6996236" y="3601879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7707753" y="3601879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8420223" y="3601879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9131741" y="3601879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80" name="TextBox 80"/>
            <p:cNvSpPr txBox="1"/>
            <p:nvPr/>
          </p:nvSpPr>
          <p:spPr>
            <a:xfrm>
              <a:off x="9843258" y="3601879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81" name="TextBox 81"/>
            <p:cNvSpPr txBox="1"/>
            <p:nvPr/>
          </p:nvSpPr>
          <p:spPr>
            <a:xfrm>
              <a:off x="10555728" y="3601879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82" name="TextBox 82"/>
            <p:cNvSpPr txBox="1"/>
            <p:nvPr/>
          </p:nvSpPr>
          <p:spPr>
            <a:xfrm>
              <a:off x="11267246" y="3601879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83" name="Freeform 83"/>
            <p:cNvSpPr/>
            <p:nvPr/>
          </p:nvSpPr>
          <p:spPr>
            <a:xfrm>
              <a:off x="7704772" y="3748088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0"/>
                  </a:moveTo>
                  <a:lnTo>
                    <a:pt x="76200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C2410C"/>
            </a:solidFill>
            <a:ln>
              <a:noFill/>
            </a:ln>
          </p:spPr>
        </p:sp>
        <p:sp>
          <p:nvSpPr>
            <p:cNvPr id="84" name="TextBox 84"/>
            <p:cNvSpPr txBox="1"/>
            <p:nvPr/>
          </p:nvSpPr>
          <p:spPr>
            <a:xfrm>
              <a:off x="7706235" y="3878104"/>
              <a:ext cx="73274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8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k</a:t>
              </a:r>
            </a:p>
          </p:txBody>
        </p:sp>
        <p:sp>
          <p:nvSpPr>
            <p:cNvPr id="85" name="Freeform 85"/>
            <p:cNvSpPr/>
            <p:nvPr/>
          </p:nvSpPr>
          <p:spPr>
            <a:xfrm>
              <a:off x="10552748" y="3748088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0"/>
                  </a:moveTo>
                  <a:lnTo>
                    <a:pt x="76200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C2410C"/>
            </a:solidFill>
            <a:ln>
              <a:noFill/>
            </a:ln>
          </p:spPr>
        </p:sp>
        <p:sp>
          <p:nvSpPr>
            <p:cNvPr id="86" name="TextBox 86"/>
            <p:cNvSpPr txBox="1"/>
            <p:nvPr/>
          </p:nvSpPr>
          <p:spPr>
            <a:xfrm>
              <a:off x="10542620" y="3878104"/>
              <a:ext cx="96456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8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m</a:t>
              </a:r>
            </a:p>
          </p:txBody>
        </p:sp>
        <p:sp>
          <p:nvSpPr>
            <p:cNvPr id="87" name="TextBox 87"/>
            <p:cNvSpPr txBox="1"/>
            <p:nvPr/>
          </p:nvSpPr>
          <p:spPr>
            <a:xfrm>
              <a:off x="6459284" y="4272915"/>
              <a:ext cx="969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Z</a:t>
              </a:r>
            </a:p>
          </p:txBody>
        </p:sp>
        <p:sp>
          <p:nvSpPr>
            <p:cNvPr id="88" name="Rectangle 88"/>
            <p:cNvSpPr/>
            <p:nvPr/>
          </p:nvSpPr>
          <p:spPr>
            <a:xfrm>
              <a:off x="6675120" y="4159568"/>
              <a:ext cx="711518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2F4B9A"/>
              </a:solidFill>
            </a:ln>
          </p:spPr>
        </p:sp>
        <p:sp>
          <p:nvSpPr>
            <p:cNvPr id="89" name="TextBox 89"/>
            <p:cNvSpPr txBox="1"/>
            <p:nvPr/>
          </p:nvSpPr>
          <p:spPr>
            <a:xfrm>
              <a:off x="6985206" y="4272915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90" name="Rectangle 90"/>
            <p:cNvSpPr/>
            <p:nvPr/>
          </p:nvSpPr>
          <p:spPr>
            <a:xfrm>
              <a:off x="7386638" y="4159568"/>
              <a:ext cx="711518" cy="356235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91" name="TextBox 91"/>
            <p:cNvSpPr txBox="1"/>
            <p:nvPr/>
          </p:nvSpPr>
          <p:spPr>
            <a:xfrm>
              <a:off x="7696723" y="4272915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92" name="Rectangle 92"/>
            <p:cNvSpPr/>
            <p:nvPr/>
          </p:nvSpPr>
          <p:spPr>
            <a:xfrm>
              <a:off x="8099108" y="4159568"/>
              <a:ext cx="711518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2F4B9A"/>
              </a:solidFill>
            </a:ln>
          </p:spPr>
        </p:sp>
        <p:sp>
          <p:nvSpPr>
            <p:cNvPr id="93" name="TextBox 93"/>
            <p:cNvSpPr txBox="1"/>
            <p:nvPr/>
          </p:nvSpPr>
          <p:spPr>
            <a:xfrm>
              <a:off x="8409193" y="4272915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94" name="Rectangle 94"/>
            <p:cNvSpPr/>
            <p:nvPr/>
          </p:nvSpPr>
          <p:spPr>
            <a:xfrm>
              <a:off x="8810625" y="4159568"/>
              <a:ext cx="711518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2F4B9A"/>
              </a:solidFill>
            </a:ln>
          </p:spPr>
        </p:sp>
        <p:sp>
          <p:nvSpPr>
            <p:cNvPr id="95" name="TextBox 95"/>
            <p:cNvSpPr txBox="1"/>
            <p:nvPr/>
          </p:nvSpPr>
          <p:spPr>
            <a:xfrm>
              <a:off x="9120711" y="4272915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96" name="Rectangle 96"/>
            <p:cNvSpPr/>
            <p:nvPr/>
          </p:nvSpPr>
          <p:spPr>
            <a:xfrm>
              <a:off x="9523095" y="4159568"/>
              <a:ext cx="711518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2F4B9A"/>
              </a:solidFill>
            </a:ln>
          </p:spPr>
        </p:sp>
        <p:sp>
          <p:nvSpPr>
            <p:cNvPr id="97" name="TextBox 97"/>
            <p:cNvSpPr txBox="1"/>
            <p:nvPr/>
          </p:nvSpPr>
          <p:spPr>
            <a:xfrm>
              <a:off x="9832228" y="4272915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98" name="Rectangle 98"/>
            <p:cNvSpPr/>
            <p:nvPr/>
          </p:nvSpPr>
          <p:spPr>
            <a:xfrm>
              <a:off x="10234612" y="4159568"/>
              <a:ext cx="711518" cy="356235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99" name="TextBox 99"/>
            <p:cNvSpPr txBox="1"/>
            <p:nvPr/>
          </p:nvSpPr>
          <p:spPr>
            <a:xfrm>
              <a:off x="10544698" y="4272915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100" name="Rectangle 100"/>
            <p:cNvSpPr/>
            <p:nvPr/>
          </p:nvSpPr>
          <p:spPr>
            <a:xfrm>
              <a:off x="10947082" y="4159568"/>
              <a:ext cx="711518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2F4B9A"/>
              </a:solidFill>
            </a:ln>
          </p:spPr>
        </p:sp>
        <p:sp>
          <p:nvSpPr>
            <p:cNvPr id="101" name="TextBox 101"/>
            <p:cNvSpPr txBox="1"/>
            <p:nvPr/>
          </p:nvSpPr>
          <p:spPr>
            <a:xfrm>
              <a:off x="11256216" y="4272915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102" name="TextBox 102"/>
            <p:cNvSpPr txBox="1"/>
            <p:nvPr/>
          </p:nvSpPr>
          <p:spPr>
            <a:xfrm>
              <a:off x="6996236" y="4569619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03" name="TextBox 103"/>
            <p:cNvSpPr txBox="1"/>
            <p:nvPr/>
          </p:nvSpPr>
          <p:spPr>
            <a:xfrm>
              <a:off x="7707753" y="4569619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04" name="TextBox 104"/>
            <p:cNvSpPr txBox="1"/>
            <p:nvPr/>
          </p:nvSpPr>
          <p:spPr>
            <a:xfrm>
              <a:off x="8420223" y="4569619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05" name="TextBox 105"/>
            <p:cNvSpPr txBox="1"/>
            <p:nvPr/>
          </p:nvSpPr>
          <p:spPr>
            <a:xfrm>
              <a:off x="9131741" y="4569619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106" name="TextBox 106"/>
            <p:cNvSpPr txBox="1"/>
            <p:nvPr/>
          </p:nvSpPr>
          <p:spPr>
            <a:xfrm>
              <a:off x="9843258" y="4569619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107" name="TextBox 107"/>
            <p:cNvSpPr txBox="1"/>
            <p:nvPr/>
          </p:nvSpPr>
          <p:spPr>
            <a:xfrm>
              <a:off x="10555728" y="4569619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108" name="TextBox 108"/>
            <p:cNvSpPr txBox="1"/>
            <p:nvPr/>
          </p:nvSpPr>
          <p:spPr>
            <a:xfrm>
              <a:off x="11267246" y="4569619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</p:grpSp>
      <p:grpSp>
        <p:nvGrpSpPr>
          <p:cNvPr id="116" name="c2-callout-3"/>
          <p:cNvGrpSpPr/>
          <p:nvPr/>
        </p:nvGrpSpPr>
        <p:grpSpPr>
          <a:xfrm>
            <a:off x="6464618" y="4861560"/>
            <a:ext cx="5193982" cy="1085850"/>
            <a:chOff x="6464618" y="4861560"/>
            <a:chExt cx="5193982" cy="1085850"/>
          </a:xfrm>
        </p:grpSpPr>
        <p:sp>
          <p:nvSpPr>
            <p:cNvPr id="110" name="Rectangle 110"/>
            <p:cNvSpPr/>
            <p:nvPr/>
          </p:nvSpPr>
          <p:spPr>
            <a:xfrm>
              <a:off x="6464618" y="4861560"/>
              <a:ext cx="5193982" cy="1085850"/>
            </a:xfrm>
            <a:prstGeom prst="roundRect">
              <a:avLst>
                <a:gd name="adj" fmla="val 10526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114" name="Group 114"/>
            <p:cNvGrpSpPr/>
            <p:nvPr/>
          </p:nvGrpSpPr>
          <p:grpSpPr>
            <a:xfrm>
              <a:off x="6669405" y="5305425"/>
              <a:ext cx="200026" cy="200026"/>
              <a:chOff x="6669405" y="5305425"/>
              <a:chExt cx="200026" cy="200026"/>
            </a:xfrm>
          </p:grpSpPr>
          <p:sp>
            <p:nvSpPr>
              <p:cNvPr id="111" name="Freeform 111"/>
              <p:cNvSpPr/>
              <p:nvPr/>
            </p:nvSpPr>
            <p:spPr>
              <a:xfrm>
                <a:off x="6669405" y="5305425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112" name="Freeform 112"/>
              <p:cNvSpPr/>
              <p:nvPr/>
            </p:nvSpPr>
            <p:spPr>
              <a:xfrm>
                <a:off x="6769418" y="537210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113" name="Freeform 113"/>
              <p:cNvSpPr/>
              <p:nvPr/>
            </p:nvSpPr>
            <p:spPr>
              <a:xfrm>
                <a:off x="6758305" y="5405438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115" name="TextBox 115"/>
            <p:cNvSpPr txBox="1"/>
            <p:nvPr/>
          </p:nvSpPr>
          <p:spPr>
            <a:xfrm>
              <a:off x="6972491" y="5081111"/>
              <a:ext cx="4272026" cy="7179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Y 在 k 处少装一只轻箱、在 m 处多装一只重箱。Z 把两处对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调，个数不变，总重只会变轻。X 的 1 全在前面：第 j 只装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不下，后面更重的也装不下。</a:t>
              </a:r>
            </a:p>
          </p:txBody>
        </p:sp>
      </p:grpSp>
      <p:grpSp>
        <p:nvGrpSpPr>
          <p:cNvPr id="11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17" name="TextBox 117"/>
            <p:cNvSpPr txBox="1"/>
            <p:nvPr/>
          </p:nvSpPr>
          <p:spPr>
            <a:xfrm>
              <a:off x="528447" y="6581299"/>
              <a:ext cx="242418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算法设计与分析 · 第5章 贪心法 作业讲解</a:t>
              </a:r>
            </a:p>
          </p:txBody>
        </p:sp>
        <p:sp>
          <p:nvSpPr>
            <p:cNvPr id="118" name="TextBox 118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9149459" cy="909257"/>
            <a:chOff x="520446" y="342900"/>
            <a:chExt cx="9149459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14588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6156" y="407194"/>
              <a:ext cx="22881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第5章 作业讲解 · 反例与子集选择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914945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题6：提示里的四个问题都有确定答案，证法二换元素也一样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6" name="c1-table-1"/>
          <p:cNvGrpSpPr/>
          <p:nvPr/>
        </p:nvGrpSpPr>
        <p:grpSpPr>
          <a:xfrm>
            <a:off x="527685" y="1524000"/>
            <a:ext cx="5632133" cy="3086577"/>
            <a:chOff x="527685" y="1524000"/>
            <a:chExt cx="5632133" cy="3086577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626418" cy="430530"/>
            </a:xfrm>
            <a:prstGeom prst="rect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998982" y="1655445"/>
              <a:ext cx="9814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证法一的提示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4135755" y="1655445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回答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638746" y="2191702"/>
              <a:ext cx="137158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k &lt; j 一定成立吗？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2551366" y="2085022"/>
              <a:ext cx="3083052" cy="4480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成立。若 k ≥ j，Y 的前 j − 1 位全为 1 且 yₖ =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1，总重 ≥ w₁ + … + wⱼ₋₁ + wⱼ &gt; C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533400" y="2592705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533400" y="2597468"/>
              <a:ext cx="5626418" cy="64389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638746" y="2835592"/>
              <a:ext cx="17197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一定能找到 yₘ = 1 吗？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2551366" y="2728912"/>
              <a:ext cx="3258312" cy="4480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能。Y 最优，至少装 j − 1 只；前 j − 1 位里 yₖ =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0，至多 j − 2 只，其余必在 m ≥ j 处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533400" y="3236595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38746" y="3372802"/>
              <a:ext cx="113379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Z 满足约束吗？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2551366" y="3372802"/>
              <a:ext cx="302498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满足。k &lt; j ≤ m，wₖ ≤ wₘ，换后总重不增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533400" y="3666172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533400" y="3670935"/>
              <a:ext cx="5626418" cy="64389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38746" y="3802380"/>
              <a:ext cx="1526667" cy="4480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前 j − 1 位全为 1 后，</a:t>
              </a:r>
              <a:br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还有 yₘ = 1 吗？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2551366" y="3802380"/>
              <a:ext cx="2999232" cy="4480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没有。否则总重 ≥ w₁ + … + wⱼ₋₁ + wₘ ≥ w₁</a:t>
              </a:r>
              <a:br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… + wⱼ &gt; C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533400" y="1524000"/>
              <a:ext cx="5626418" cy="279082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2441258" y="1524000"/>
              <a:ext cx="9525" cy="27908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527685" y="4390549"/>
              <a:ext cx="380952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wⱼ 装不下说明 w₁ + … + wⱼ &gt; C，四个回答都用到这一句</a:t>
              </a:r>
            </a:p>
          </p:txBody>
        </p:sp>
      </p:grpSp>
      <p:grpSp>
        <p:nvGrpSpPr>
          <p:cNvPr id="32" name="c1-card-2"/>
          <p:cNvGrpSpPr/>
          <p:nvPr/>
        </p:nvGrpSpPr>
        <p:grpSpPr>
          <a:xfrm>
            <a:off x="533400" y="4752022"/>
            <a:ext cx="5626418" cy="1587818"/>
            <a:chOff x="533400" y="4752022"/>
            <a:chExt cx="5626418" cy="1587818"/>
          </a:xfrm>
        </p:grpSpPr>
        <p:sp>
          <p:nvSpPr>
            <p:cNvPr id="27" name="Rectangle 27"/>
            <p:cNvSpPr/>
            <p:nvPr/>
          </p:nvSpPr>
          <p:spPr>
            <a:xfrm>
              <a:off x="533400" y="4752022"/>
              <a:ext cx="5626418" cy="1587818"/>
            </a:xfrm>
            <a:prstGeom prst="roundRect">
              <a:avLst>
                <a:gd name="adj" fmla="val 8398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542925" y="4885372"/>
              <a:ext cx="47625" cy="1321118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775335" y="4955858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865543" y="4991576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说明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68096" y="5328761"/>
              <a:ext cx="4964811" cy="8216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原讲解把贪心解写成 (1, …, 1, xⱼ, 0, …, 0)，这是分数背包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的写法。装载问题 xᵢ 只取 0 或 1，j 又是第一个 0 的位置，所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以 xⱼ = 0。</a:t>
              </a:r>
            </a:p>
          </p:txBody>
        </p:sp>
      </p:grpSp>
      <p:grpSp>
        <p:nvGrpSpPr>
          <p:cNvPr id="58" name="c2-steps-1"/>
          <p:cNvGrpSpPr/>
          <p:nvPr/>
        </p:nvGrpSpPr>
        <p:grpSpPr>
          <a:xfrm>
            <a:off x="6464618" y="1533525"/>
            <a:ext cx="4753356" cy="3873246"/>
            <a:chOff x="6464618" y="1533525"/>
            <a:chExt cx="4753356" cy="3873246"/>
          </a:xfrm>
        </p:grpSpPr>
        <p:sp>
          <p:nvSpPr>
            <p:cNvPr id="33" name="Rectangle 33"/>
            <p:cNvSpPr/>
            <p:nvPr/>
          </p:nvSpPr>
          <p:spPr>
            <a:xfrm>
              <a:off x="6597968" y="1676400"/>
              <a:ext cx="19050" cy="310419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4" name="Ellipse 34"/>
            <p:cNvSpPr/>
            <p:nvPr/>
          </p:nvSpPr>
          <p:spPr>
            <a:xfrm>
              <a:off x="6464618" y="1533525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6558241" y="16073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6" name="Ellipse 36"/>
            <p:cNvSpPr/>
            <p:nvPr/>
          </p:nvSpPr>
          <p:spPr>
            <a:xfrm>
              <a:off x="6464618" y="2154555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6558241" y="222837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38" name="Ellipse 38"/>
            <p:cNvSpPr/>
            <p:nvPr/>
          </p:nvSpPr>
          <p:spPr>
            <a:xfrm>
              <a:off x="6464618" y="2775585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6558241" y="284940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40" name="Ellipse 40"/>
            <p:cNvSpPr/>
            <p:nvPr/>
          </p:nvSpPr>
          <p:spPr>
            <a:xfrm>
              <a:off x="6464618" y="3395662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6558241" y="346948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42" name="Ellipse 42"/>
            <p:cNvSpPr/>
            <p:nvPr/>
          </p:nvSpPr>
          <p:spPr>
            <a:xfrm>
              <a:off x="6464618" y="4016692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6558241" y="409051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44" name="Ellipse 44"/>
            <p:cNvSpPr/>
            <p:nvPr/>
          </p:nvSpPr>
          <p:spPr>
            <a:xfrm>
              <a:off x="6464618" y="4637722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6558241" y="471154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6876479" y="1566386"/>
              <a:ext cx="39679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设定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6877622" y="1846898"/>
              <a:ext cx="358856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J = {1, …, j − 1} 是贪心解，I 是最优解，|I| ≥ |J|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6876479" y="2187416"/>
              <a:ext cx="79823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取 a 与 b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6877622" y="2467927"/>
              <a:ext cx="359755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 是 J − I 中最小的编号，b 是 I − J 中最大的编号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6876479" y="2808446"/>
              <a:ext cx="46609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 &lt; b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6877622" y="3088957"/>
              <a:ext cx="289933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 ∉ J 推出 b ≥ j &gt; a，所以 w(a) ≤ w(b)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6876479" y="3429476"/>
              <a:ext cx="94973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 一定存在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6877622" y="3709988"/>
              <a:ext cx="278953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|I| ≥ |J| 且 J − I 非空，所以 I − J 非空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6876479" y="4049554"/>
              <a:ext cx="39679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替换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6877622" y="4330065"/>
              <a:ext cx="378241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I′ = I − {b} ∪ {a}，总重不增，个数不变，I′ 仍最优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6876479" y="4670584"/>
              <a:ext cx="39679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收尾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6877622" y="4951095"/>
              <a:ext cx="4340352" cy="4556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4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替换到 J ⊆ I 时 I 不会再多出 b：否则 I ⊇ {1, …, j − 1, b}，总重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&gt; C。所以 |I| = |J|</a:t>
              </a:r>
            </a:p>
          </p:txBody>
        </p:sp>
      </p:grpSp>
      <p:grpSp>
        <p:nvGrpSpPr>
          <p:cNvPr id="65" name="c2-callout-2"/>
          <p:cNvGrpSpPr/>
          <p:nvPr/>
        </p:nvGrpSpPr>
        <p:grpSpPr>
          <a:xfrm>
            <a:off x="6464618" y="5583555"/>
            <a:ext cx="5193982" cy="756285"/>
            <a:chOff x="6464618" y="5583555"/>
            <a:chExt cx="5193982" cy="756285"/>
          </a:xfrm>
        </p:grpSpPr>
        <p:sp>
          <p:nvSpPr>
            <p:cNvPr id="59" name="Rectangle 59"/>
            <p:cNvSpPr/>
            <p:nvPr/>
          </p:nvSpPr>
          <p:spPr>
            <a:xfrm>
              <a:off x="6464618" y="5583555"/>
              <a:ext cx="5193982" cy="756285"/>
            </a:xfrm>
            <a:prstGeom prst="roundRect">
              <a:avLst>
                <a:gd name="adj" fmla="val 15113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63" name="Group 63"/>
            <p:cNvGrpSpPr/>
            <p:nvPr/>
          </p:nvGrpSpPr>
          <p:grpSpPr>
            <a:xfrm>
              <a:off x="6669405" y="5861685"/>
              <a:ext cx="200026" cy="200026"/>
              <a:chOff x="6669405" y="5861685"/>
              <a:chExt cx="200026" cy="200026"/>
            </a:xfrm>
          </p:grpSpPr>
          <p:sp>
            <p:nvSpPr>
              <p:cNvPr id="60" name="Freeform 60"/>
              <p:cNvSpPr/>
              <p:nvPr/>
            </p:nvSpPr>
            <p:spPr>
              <a:xfrm>
                <a:off x="6669405" y="5861685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61" name="Freeform 61"/>
              <p:cNvSpPr/>
              <p:nvPr/>
            </p:nvSpPr>
            <p:spPr>
              <a:xfrm>
                <a:off x="6769418" y="592836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62" name="Freeform 62"/>
              <p:cNvSpPr/>
              <p:nvPr/>
            </p:nvSpPr>
            <p:spPr>
              <a:xfrm>
                <a:off x="6758305" y="5961698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64" name="TextBox 64"/>
            <p:cNvSpPr txBox="1"/>
            <p:nvPr/>
          </p:nvSpPr>
          <p:spPr>
            <a:xfrm>
              <a:off x="6971729" y="5730716"/>
              <a:ext cx="4324604" cy="541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更正：原讲解提示写“a &lt; b 即 W(a) &lt; W(b)”。重量可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以相同，只能得到 W(a) ≤ W(b)，证明照样成立。</a:t>
              </a:r>
            </a:p>
          </p:txBody>
        </p:sp>
      </p:grpSp>
      <p:grpSp>
        <p:nvGrpSpPr>
          <p:cNvPr id="6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6" name="TextBox 66"/>
            <p:cNvSpPr txBox="1"/>
            <p:nvPr/>
          </p:nvSpPr>
          <p:spPr>
            <a:xfrm>
              <a:off x="528447" y="6581299"/>
              <a:ext cx="242418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算法设计与分析 · 第5章 贪心法 作业讲解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9685503" cy="909257"/>
            <a:chOff x="520446" y="342900"/>
            <a:chExt cx="9685503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14588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6156" y="407194"/>
              <a:ext cx="22881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第5章 作业讲解 · 反例与子集选择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968550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题6 算法：排序后从轻到重装，第一只装不下就停，O(n log n)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1" name="c1-code-1"/>
          <p:cNvGrpSpPr/>
          <p:nvPr/>
        </p:nvGrpSpPr>
        <p:grpSpPr>
          <a:xfrm>
            <a:off x="533400" y="1524000"/>
            <a:ext cx="6059805" cy="2327910"/>
            <a:chOff x="533400" y="1524000"/>
            <a:chExt cx="6059805" cy="232791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6059805" cy="2327910"/>
            </a:xfrm>
            <a:prstGeom prst="roundRect">
              <a:avLst>
                <a:gd name="adj" fmla="val 4092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61797" y="1675924"/>
              <a:ext cx="119725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装载问题的贪心算法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552450" y="2909888"/>
              <a:ext cx="6021705" cy="202882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661035" y="1937861"/>
              <a:ext cx="3709670" cy="1843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98"/>
                </a:lnSpc>
              </a:pP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procedure LOADING(W, C, n, X)</a:t>
              </a:r>
              <a:br/>
              <a:r>
                <a:rPr lang="zh-CN" sz="11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W(1..n) 已按 W(1) &lt;= W(2) &lt;= ... &lt;= W(n) 排序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for i &lt;- 1 to n do X(i) &lt;- 0 repeat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cu &lt;- C                  </a:t>
              </a:r>
              <a:r>
                <a:rPr lang="zh-CN" sz="11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剩余载重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for i &lt;- 1 to n do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if W(i) &gt; cu then exit endif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X(i) &lt;- 1; cu &lt;- cu - W(i)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repeat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end LOADING</a:t>
              </a:r>
            </a:p>
          </p:txBody>
        </p:sp>
      </p:grpSp>
      <p:grpSp>
        <p:nvGrpSpPr>
          <p:cNvPr id="28" name="c1-table-2"/>
          <p:cNvGrpSpPr/>
          <p:nvPr/>
        </p:nvGrpSpPr>
        <p:grpSpPr>
          <a:xfrm>
            <a:off x="527685" y="4042410"/>
            <a:ext cx="6065520" cy="2091214"/>
            <a:chOff x="527685" y="4042410"/>
            <a:chExt cx="6065520" cy="2091214"/>
          </a:xfrm>
        </p:grpSpPr>
        <p:sp>
          <p:nvSpPr>
            <p:cNvPr id="12" name="Rectangle 12"/>
            <p:cNvSpPr/>
            <p:nvPr/>
          </p:nvSpPr>
          <p:spPr>
            <a:xfrm>
              <a:off x="533400" y="4042410"/>
              <a:ext cx="6059805" cy="448628"/>
            </a:xfrm>
            <a:prstGeom prst="rect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2171979" y="417814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步骤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5201882" y="417814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时间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41223" y="4626769"/>
              <a:ext cx="259765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按重量排序（堆排序或归并排序）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4276916" y="4626769"/>
              <a:ext cx="87395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O(n log n)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533400" y="4934902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8" name="Rectangle 18"/>
            <p:cNvSpPr/>
            <p:nvPr/>
          </p:nvSpPr>
          <p:spPr>
            <a:xfrm>
              <a:off x="533400" y="4939665"/>
              <a:ext cx="6059805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641223" y="5075396"/>
              <a:ext cx="136312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 置 0、逐只装载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276916" y="5075396"/>
              <a:ext cx="43821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O(n)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533400" y="5384482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41223" y="5524024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合计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4178618" y="5398770"/>
              <a:ext cx="2405062" cy="429578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4276916" y="5524024"/>
              <a:ext cx="87395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O(n log n)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533400" y="4042410"/>
              <a:ext cx="6059805" cy="1795462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26" name="Rectangle 26"/>
            <p:cNvSpPr/>
            <p:nvPr/>
          </p:nvSpPr>
          <p:spPr>
            <a:xfrm>
              <a:off x="4164330" y="4042410"/>
              <a:ext cx="9525" cy="179546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527685" y="5913596"/>
              <a:ext cx="208856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输入已按重量排好时只需 O(n)</a:t>
              </a:r>
            </a:p>
          </p:txBody>
        </p:sp>
      </p:grpSp>
      <p:grpSp>
        <p:nvGrpSpPr>
          <p:cNvPr id="31" name="c2-image-1"/>
          <p:cNvGrpSpPr/>
          <p:nvPr/>
        </p:nvGrpSpPr>
        <p:grpSpPr>
          <a:xfrm>
            <a:off x="7078028" y="1524000"/>
            <a:ext cx="4399598" cy="3614262"/>
            <a:chOff x="7078028" y="1524000"/>
            <a:chExt cx="4399598" cy="3614262"/>
          </a:xfrm>
        </p:grpSpPr>
        <p:pic>
          <p:nvPicPr>
            <p:cNvPr id="29" name="Image 29"/>
            <p:cNvPicPr>
              <a:picLocks noChangeAspect="1"/>
            </p:cNvPicPr>
            <p:nvPr/>
          </p:nvPicPr>
          <p:blipFill>
            <a:blip r:embed="rId2"/>
            <a:srcRect l="16664" t="0" r="16665" b="0"/>
            <a:stretch>
              <a:fillRect/>
            </a:stretch>
          </p:blipFill>
          <p:spPr>
            <a:xfrm>
              <a:off x="7078028" y="1524000"/>
              <a:ext cx="4399598" cy="3299460"/>
            </a:xfrm>
            <a:prstGeom prst="roundRect">
              <a:avLst>
                <a:gd name="adj" fmla="val 4041"/>
              </a:avLst>
            </a:prstGeom>
          </p:spPr>
        </p:pic>
        <p:sp>
          <p:nvSpPr>
            <p:cNvPr id="30" name="TextBox 30"/>
            <p:cNvSpPr txBox="1"/>
            <p:nvPr/>
          </p:nvSpPr>
          <p:spPr>
            <a:xfrm>
              <a:off x="8066392" y="4918234"/>
              <a:ext cx="242382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最小的箱子先上船，大箱子留在码头</a:t>
              </a:r>
            </a:p>
          </p:txBody>
        </p:sp>
      </p:grpSp>
      <p:grpSp>
        <p:nvGrpSpPr>
          <p:cNvPr id="38" name="c2-callout-2"/>
          <p:cNvGrpSpPr/>
          <p:nvPr/>
        </p:nvGrpSpPr>
        <p:grpSpPr>
          <a:xfrm>
            <a:off x="6898005" y="5303520"/>
            <a:ext cx="4760595" cy="1059180"/>
            <a:chOff x="6898005" y="5303520"/>
            <a:chExt cx="4760595" cy="1059180"/>
          </a:xfrm>
        </p:grpSpPr>
        <p:sp>
          <p:nvSpPr>
            <p:cNvPr id="32" name="Rectangle 32"/>
            <p:cNvSpPr/>
            <p:nvPr/>
          </p:nvSpPr>
          <p:spPr>
            <a:xfrm>
              <a:off x="6898005" y="5303520"/>
              <a:ext cx="4760595" cy="1059180"/>
            </a:xfrm>
            <a:prstGeom prst="roundRect">
              <a:avLst>
                <a:gd name="adj" fmla="val 10791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36" name="Group 36"/>
            <p:cNvGrpSpPr/>
            <p:nvPr/>
          </p:nvGrpSpPr>
          <p:grpSpPr>
            <a:xfrm>
              <a:off x="7102793" y="5733098"/>
              <a:ext cx="200026" cy="200025"/>
              <a:chOff x="7102793" y="5733098"/>
              <a:chExt cx="200026" cy="200025"/>
            </a:xfrm>
          </p:grpSpPr>
          <p:sp>
            <p:nvSpPr>
              <p:cNvPr id="33" name="Freeform 33"/>
              <p:cNvSpPr/>
              <p:nvPr/>
            </p:nvSpPr>
            <p:spPr>
              <a:xfrm>
                <a:off x="7102793" y="5733098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34" name="Freeform 34"/>
              <p:cNvSpPr/>
              <p:nvPr/>
            </p:nvSpPr>
            <p:spPr>
              <a:xfrm>
                <a:off x="7142531" y="5777548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35" name="Freeform 35"/>
              <p:cNvSpPr/>
              <p:nvPr/>
            </p:nvSpPr>
            <p:spPr>
              <a:xfrm>
                <a:off x="7177247" y="5888673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37" name="TextBox 37"/>
            <p:cNvSpPr txBox="1"/>
            <p:nvPr/>
          </p:nvSpPr>
          <p:spPr>
            <a:xfrm>
              <a:off x="7404735" y="5452110"/>
              <a:ext cx="3901440" cy="8458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 6 行可以直接 exit：后面的箱子更重，也装</a:t>
              </a:r>
              <a:br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不下。0/1 背包的贪心装不下时还要接着试后</a:t>
              </a:r>
              <a:br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面的物品。</a:t>
              </a:r>
            </a:p>
          </p:txBody>
        </p:sp>
      </p:grpSp>
      <p:grpSp>
        <p:nvGrpSpPr>
          <p:cNvPr id="4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39" name="TextBox 39"/>
            <p:cNvSpPr txBox="1"/>
            <p:nvPr/>
          </p:nvSpPr>
          <p:spPr>
            <a:xfrm>
              <a:off x="528447" y="6581299"/>
              <a:ext cx="242418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算法设计与分析 · 第5章 贪心法 作业讲解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10308631" cy="909257"/>
            <a:chOff x="520446" y="342900"/>
            <a:chExt cx="10308631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14588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6156" y="407194"/>
              <a:ext cx="22881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第5章 作业讲解 · 反例与子集选择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1030863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题6 复核：C = 80 的 7 只箱子，轻者先装 4 只，穷举最多也是 4 只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57" name="c1-table-1"/>
          <p:cNvGrpSpPr/>
          <p:nvPr/>
        </p:nvGrpSpPr>
        <p:grpSpPr>
          <a:xfrm>
            <a:off x="527685" y="1524000"/>
            <a:ext cx="5956935" cy="2988469"/>
            <a:chOff x="527685" y="1524000"/>
            <a:chExt cx="5956935" cy="2988469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951220" cy="448628"/>
            </a:xfrm>
            <a:prstGeom prst="rect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850862" y="165973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次序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842414" y="165973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箱号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2833967" y="165973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重量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3826472" y="165973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累计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4818024" y="165973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剩余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5809577" y="165973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动作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973420" y="2108359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967342" y="2108359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3198688" y="2108359"/>
              <a:ext cx="2024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4190241" y="2108359"/>
              <a:ext cx="2024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5182746" y="2108359"/>
              <a:ext cx="2024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70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5895734" y="2108359"/>
              <a:ext cx="18526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装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533400" y="2416492"/>
              <a:ext cx="595122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533400" y="2421255"/>
              <a:ext cx="5951220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973420" y="2556986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967342" y="2556986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3198688" y="2556986"/>
              <a:ext cx="2024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15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4190241" y="2556986"/>
              <a:ext cx="2024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25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5182746" y="2556986"/>
              <a:ext cx="2024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55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5895734" y="2556986"/>
              <a:ext cx="18526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装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533400" y="2866072"/>
              <a:ext cx="595122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973420" y="3005614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967342" y="3005614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3198688" y="3005614"/>
              <a:ext cx="2024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20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4190241" y="3005614"/>
              <a:ext cx="2024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45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5182746" y="3005614"/>
              <a:ext cx="2024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35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5895734" y="3005614"/>
              <a:ext cx="18526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装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533400" y="3314700"/>
              <a:ext cx="595122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6" name="Rectangle 36"/>
            <p:cNvSpPr/>
            <p:nvPr/>
          </p:nvSpPr>
          <p:spPr>
            <a:xfrm>
              <a:off x="533400" y="3319462"/>
              <a:ext cx="5951220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973420" y="3454241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1967342" y="3454241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3198688" y="3454241"/>
              <a:ext cx="2024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25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4190241" y="3454241"/>
              <a:ext cx="2024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70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5182746" y="3454241"/>
              <a:ext cx="2024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5895734" y="3454241"/>
              <a:ext cx="18526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装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533400" y="3763328"/>
              <a:ext cx="595122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973420" y="3903821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1967342" y="3903821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2526982" y="3777615"/>
              <a:ext cx="972502" cy="429578"/>
            </a:xfrm>
            <a:prstGeom prst="rect">
              <a:avLst/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3198688" y="3903821"/>
              <a:ext cx="2024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30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5182746" y="3903821"/>
              <a:ext cx="2024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5895734" y="3903821"/>
              <a:ext cx="18526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停</a:t>
              </a: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533400" y="1524000"/>
              <a:ext cx="5951220" cy="2692718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51" name="Rectangle 51"/>
            <p:cNvSpPr/>
            <p:nvPr/>
          </p:nvSpPr>
          <p:spPr>
            <a:xfrm>
              <a:off x="1520190" y="1524000"/>
              <a:ext cx="9525" cy="269271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2" name="Rectangle 52"/>
            <p:cNvSpPr/>
            <p:nvPr/>
          </p:nvSpPr>
          <p:spPr>
            <a:xfrm>
              <a:off x="2512695" y="1524000"/>
              <a:ext cx="9525" cy="269271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3" name="Rectangle 53"/>
            <p:cNvSpPr/>
            <p:nvPr/>
          </p:nvSpPr>
          <p:spPr>
            <a:xfrm>
              <a:off x="3504248" y="1524000"/>
              <a:ext cx="9525" cy="269271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4" name="Rectangle 54"/>
            <p:cNvSpPr/>
            <p:nvPr/>
          </p:nvSpPr>
          <p:spPr>
            <a:xfrm>
              <a:off x="4495800" y="1524000"/>
              <a:ext cx="9525" cy="269271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5" name="Rectangle 55"/>
            <p:cNvSpPr/>
            <p:nvPr/>
          </p:nvSpPr>
          <p:spPr>
            <a:xfrm>
              <a:off x="5488305" y="1524000"/>
              <a:ext cx="9525" cy="269271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527685" y="4292441"/>
              <a:ext cx="299050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w = (40, 15, 30, 25, 10, 50, 20)，C = 80</a:t>
              </a:r>
            </a:p>
          </p:txBody>
        </p:sp>
      </p:grpSp>
      <p:grpSp>
        <p:nvGrpSpPr>
          <p:cNvPr id="64" name="c1-callout-2"/>
          <p:cNvGrpSpPr/>
          <p:nvPr/>
        </p:nvGrpSpPr>
        <p:grpSpPr>
          <a:xfrm>
            <a:off x="533400" y="4658678"/>
            <a:ext cx="5951220" cy="782955"/>
            <a:chOff x="533400" y="4658678"/>
            <a:chExt cx="5951220" cy="782955"/>
          </a:xfrm>
        </p:grpSpPr>
        <p:sp>
          <p:nvSpPr>
            <p:cNvPr id="58" name="Rectangle 58"/>
            <p:cNvSpPr/>
            <p:nvPr/>
          </p:nvSpPr>
          <p:spPr>
            <a:xfrm>
              <a:off x="533400" y="4658678"/>
              <a:ext cx="5951220" cy="782955"/>
            </a:xfrm>
            <a:prstGeom prst="roundRect">
              <a:avLst>
                <a:gd name="adj" fmla="val 14599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62" name="Group 62"/>
            <p:cNvGrpSpPr/>
            <p:nvPr/>
          </p:nvGrpSpPr>
          <p:grpSpPr>
            <a:xfrm>
              <a:off x="738188" y="4950143"/>
              <a:ext cx="200026" cy="200026"/>
              <a:chOff x="738188" y="4950143"/>
              <a:chExt cx="200026" cy="200026"/>
            </a:xfrm>
          </p:grpSpPr>
          <p:sp>
            <p:nvSpPr>
              <p:cNvPr id="59" name="Freeform 59"/>
              <p:cNvSpPr/>
              <p:nvPr/>
            </p:nvSpPr>
            <p:spPr>
              <a:xfrm>
                <a:off x="738188" y="4950143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60" name="Freeform 60"/>
              <p:cNvSpPr/>
              <p:nvPr/>
            </p:nvSpPr>
            <p:spPr>
              <a:xfrm>
                <a:off x="838200" y="501681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61" name="Freeform 61"/>
              <p:cNvSpPr/>
              <p:nvPr/>
            </p:nvSpPr>
            <p:spPr>
              <a:xfrm>
                <a:off x="827088" y="5050155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63" name="TextBox 63"/>
            <p:cNvSpPr txBox="1"/>
            <p:nvPr/>
          </p:nvSpPr>
          <p:spPr>
            <a:xfrm>
              <a:off x="1040130" y="4807268"/>
              <a:ext cx="498729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箱3 重 30 &gt; 剩余 10，后面的箱1（40）、箱6（50）更重，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不用再试。</a:t>
              </a:r>
            </a:p>
          </p:txBody>
        </p:sp>
      </p:grpSp>
      <p:grpSp>
        <p:nvGrpSpPr>
          <p:cNvPr id="86" name="c2-table-1"/>
          <p:cNvGrpSpPr/>
          <p:nvPr/>
        </p:nvGrpSpPr>
        <p:grpSpPr>
          <a:xfrm>
            <a:off x="6789420" y="1524000"/>
            <a:ext cx="4869180" cy="1795462"/>
            <a:chOff x="6789420" y="1524000"/>
            <a:chExt cx="4869180" cy="1795462"/>
          </a:xfrm>
        </p:grpSpPr>
        <p:sp>
          <p:nvSpPr>
            <p:cNvPr id="65" name="Rectangle 65"/>
            <p:cNvSpPr/>
            <p:nvPr/>
          </p:nvSpPr>
          <p:spPr>
            <a:xfrm>
              <a:off x="6789420" y="1524000"/>
              <a:ext cx="4869180" cy="448628"/>
            </a:xfrm>
            <a:prstGeom prst="rect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7438352" y="165973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装法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9386214" y="165973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箱子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10993082" y="165973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个数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6897243" y="2108359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轻者先装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8552688" y="2108359"/>
              <a:ext cx="90898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5、2、7、4</a:t>
              </a:r>
            </a:p>
          </p:txBody>
        </p:sp>
        <p:sp>
          <p:nvSpPr>
            <p:cNvPr id="71" name="Rectangle 71"/>
            <p:cNvSpPr/>
            <p:nvPr/>
          </p:nvSpPr>
          <p:spPr>
            <a:xfrm>
              <a:off x="10694670" y="1982152"/>
              <a:ext cx="954405" cy="429578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72" name="TextBox 72"/>
            <p:cNvSpPr txBox="1"/>
            <p:nvPr/>
          </p:nvSpPr>
          <p:spPr>
            <a:xfrm>
              <a:off x="10792968" y="2108359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73" name="Rectangle 73"/>
            <p:cNvSpPr/>
            <p:nvPr/>
          </p:nvSpPr>
          <p:spPr>
            <a:xfrm>
              <a:off x="6789420" y="2416492"/>
              <a:ext cx="486918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4" name="Rectangle 74"/>
            <p:cNvSpPr/>
            <p:nvPr/>
          </p:nvSpPr>
          <p:spPr>
            <a:xfrm>
              <a:off x="6789420" y="2421255"/>
              <a:ext cx="4869180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75" name="TextBox 75"/>
            <p:cNvSpPr txBox="1"/>
            <p:nvPr/>
          </p:nvSpPr>
          <p:spPr>
            <a:xfrm>
              <a:off x="6897243" y="2556986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重者先装</a:t>
              </a: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8552688" y="2556986"/>
              <a:ext cx="168439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6、3（50 + 30 = 80）</a:t>
              </a:r>
            </a:p>
          </p:txBody>
        </p:sp>
        <p:sp>
          <p:nvSpPr>
            <p:cNvPr id="77" name="Rectangle 77"/>
            <p:cNvSpPr/>
            <p:nvPr/>
          </p:nvSpPr>
          <p:spPr>
            <a:xfrm>
              <a:off x="10694670" y="2430780"/>
              <a:ext cx="954405" cy="429578"/>
            </a:xfrm>
            <a:prstGeom prst="rect">
              <a:avLst/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78" name="TextBox 78"/>
            <p:cNvSpPr txBox="1"/>
            <p:nvPr/>
          </p:nvSpPr>
          <p:spPr>
            <a:xfrm>
              <a:off x="10792968" y="2556986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79" name="Rectangle 79"/>
            <p:cNvSpPr/>
            <p:nvPr/>
          </p:nvSpPr>
          <p:spPr>
            <a:xfrm>
              <a:off x="6789420" y="2866072"/>
              <a:ext cx="486918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0" name="TextBox 80"/>
            <p:cNvSpPr txBox="1"/>
            <p:nvPr/>
          </p:nvSpPr>
          <p:spPr>
            <a:xfrm>
              <a:off x="6897243" y="3005614"/>
              <a:ext cx="118210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穷举 2⁷ 个子集</a:t>
              </a:r>
            </a:p>
          </p:txBody>
        </p:sp>
        <p:sp>
          <p:nvSpPr>
            <p:cNvPr id="81" name="TextBox 81"/>
            <p:cNvSpPr txBox="1"/>
            <p:nvPr/>
          </p:nvSpPr>
          <p:spPr>
            <a:xfrm>
              <a:off x="8552688" y="3005614"/>
              <a:ext cx="72805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最多 4 只</a:t>
              </a:r>
            </a:p>
          </p:txBody>
        </p:sp>
        <p:sp>
          <p:nvSpPr>
            <p:cNvPr id="82" name="TextBox 82"/>
            <p:cNvSpPr txBox="1"/>
            <p:nvPr/>
          </p:nvSpPr>
          <p:spPr>
            <a:xfrm>
              <a:off x="10792968" y="3005614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83" name="Rectangle 83"/>
            <p:cNvSpPr/>
            <p:nvPr/>
          </p:nvSpPr>
          <p:spPr>
            <a:xfrm>
              <a:off x="6789420" y="1524000"/>
              <a:ext cx="4869180" cy="1795462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84" name="Rectangle 84"/>
            <p:cNvSpPr/>
            <p:nvPr/>
          </p:nvSpPr>
          <p:spPr>
            <a:xfrm>
              <a:off x="8440102" y="1524000"/>
              <a:ext cx="9525" cy="179546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5" name="Rectangle 85"/>
            <p:cNvSpPr/>
            <p:nvPr/>
          </p:nvSpPr>
          <p:spPr>
            <a:xfrm>
              <a:off x="10680382" y="1524000"/>
              <a:ext cx="9525" cy="179546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93" name="c2-card-2"/>
          <p:cNvGrpSpPr/>
          <p:nvPr/>
        </p:nvGrpSpPr>
        <p:grpSpPr>
          <a:xfrm>
            <a:off x="6789420" y="3509962"/>
            <a:ext cx="4869180" cy="1931670"/>
            <a:chOff x="6789420" y="3509962"/>
            <a:chExt cx="4869180" cy="1931670"/>
          </a:xfrm>
        </p:grpSpPr>
        <p:sp>
          <p:nvSpPr>
            <p:cNvPr id="87" name="Rectangle 87"/>
            <p:cNvSpPr/>
            <p:nvPr/>
          </p:nvSpPr>
          <p:spPr>
            <a:xfrm>
              <a:off x="6789420" y="3509962"/>
              <a:ext cx="4869180" cy="1931670"/>
            </a:xfrm>
            <a:prstGeom prst="roundRect">
              <a:avLst>
                <a:gd name="adj" fmla="val 690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8" name="Rectangle 88"/>
            <p:cNvSpPr/>
            <p:nvPr/>
          </p:nvSpPr>
          <p:spPr>
            <a:xfrm>
              <a:off x="6798945" y="3643312"/>
              <a:ext cx="47625" cy="1664970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89" name="Ellipse 89"/>
            <p:cNvSpPr/>
            <p:nvPr/>
          </p:nvSpPr>
          <p:spPr>
            <a:xfrm>
              <a:off x="7042785" y="3807143"/>
              <a:ext cx="64770" cy="6477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90" name="TextBox 90"/>
            <p:cNvSpPr txBox="1"/>
            <p:nvPr/>
          </p:nvSpPr>
          <p:spPr>
            <a:xfrm>
              <a:off x="7200900" y="3744278"/>
              <a:ext cx="383476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脚本另随机生成 5000 组（n ≤ 8），轻者先装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的箱数都等于穷举最大值</a:t>
              </a:r>
            </a:p>
          </p:txBody>
        </p:sp>
        <p:sp>
          <p:nvSpPr>
            <p:cNvPr id="91" name="Ellipse 91"/>
            <p:cNvSpPr/>
            <p:nvPr/>
          </p:nvSpPr>
          <p:spPr>
            <a:xfrm>
              <a:off x="7042785" y="4428172"/>
              <a:ext cx="64770" cy="6477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92" name="TextBox 92"/>
            <p:cNvSpPr txBox="1"/>
            <p:nvPr/>
          </p:nvSpPr>
          <p:spPr>
            <a:xfrm>
              <a:off x="7200900" y="4365308"/>
              <a:ext cx="38633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 只最轻的箱子共重 100 &gt; 80，任何 5 只都超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重，所以 4 只就是上界</a:t>
              </a:r>
            </a:p>
          </p:txBody>
        </p:sp>
      </p:grpSp>
      <p:grpSp>
        <p:nvGrpSpPr>
          <p:cNvPr id="99" name="takeaway"/>
          <p:cNvGrpSpPr/>
          <p:nvPr/>
        </p:nvGrpSpPr>
        <p:grpSpPr>
          <a:xfrm>
            <a:off x="533400" y="5829300"/>
            <a:ext cx="11125200" cy="533400"/>
            <a:chOff x="533400" y="5829300"/>
            <a:chExt cx="11125200" cy="533400"/>
          </a:xfrm>
        </p:grpSpPr>
        <p:sp>
          <p:nvSpPr>
            <p:cNvPr id="94" name="Rectangle 94"/>
            <p:cNvSpPr/>
            <p:nvPr/>
          </p:nvSpPr>
          <p:spPr>
            <a:xfrm>
              <a:off x="533400" y="5829300"/>
              <a:ext cx="11125200" cy="533400"/>
            </a:xfrm>
            <a:prstGeom prst="roundRect">
              <a:avLst>
                <a:gd name="adj" fmla="val 21429"/>
              </a:avLst>
            </a:prstGeom>
            <a:solidFill>
              <a:srgbClr val="2F4B9A"/>
            </a:solidFill>
            <a:ln>
              <a:noFill/>
            </a:ln>
          </p:spPr>
        </p:sp>
        <p:grpSp>
          <p:nvGrpSpPr>
            <p:cNvPr id="97" name="Group 97"/>
            <p:cNvGrpSpPr/>
            <p:nvPr/>
          </p:nvGrpSpPr>
          <p:grpSpPr>
            <a:xfrm>
              <a:off x="738188" y="5995990"/>
              <a:ext cx="200023" cy="200023"/>
              <a:chOff x="738188" y="5995990"/>
              <a:chExt cx="200023" cy="200023"/>
            </a:xfrm>
          </p:grpSpPr>
          <p:sp>
            <p:nvSpPr>
              <p:cNvPr id="95" name="Freeform 95"/>
              <p:cNvSpPr/>
              <p:nvPr/>
            </p:nvSpPr>
            <p:spPr>
              <a:xfrm>
                <a:off x="738188" y="5995990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96" name="Freeform 96"/>
              <p:cNvSpPr/>
              <p:nvPr/>
            </p:nvSpPr>
            <p:spPr>
              <a:xfrm>
                <a:off x="871538" y="606266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98" name="TextBox 98"/>
            <p:cNvSpPr txBox="1"/>
            <p:nvPr/>
          </p:nvSpPr>
          <p:spPr>
            <a:xfrm>
              <a:off x="1040130" y="5991225"/>
              <a:ext cx="1049540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目标若改成“装载总重量最大”，轻者先装不再最优（见自测第2题）：那是 0/1 背包的特例，按重量贪心会浪费载重。</a:t>
              </a:r>
            </a:p>
          </p:txBody>
        </p:sp>
      </p:grpSp>
      <p:grpSp>
        <p:nvGrpSpPr>
          <p:cNvPr id="10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00" name="TextBox 100"/>
            <p:cNvSpPr txBox="1"/>
            <p:nvPr/>
          </p:nvSpPr>
          <p:spPr>
            <a:xfrm>
              <a:off x="528447" y="6581299"/>
              <a:ext cx="242418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算法设计与分析 · 第5章 贪心法 作业讲解</a:t>
              </a:r>
            </a:p>
          </p:txBody>
        </p:sp>
        <p:sp>
          <p:nvSpPr>
            <p:cNvPr id="101" name="TextBox 101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2F4B9A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8EDF8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02</a:t>
              </a:r>
            </a:p>
          </p:txBody>
        </p:sp>
      </p:grpSp>
      <p:grpSp>
        <p:nvGrpSpPr>
          <p:cNvPr id="16" name="section-title"/>
          <p:cNvGrpSpPr/>
          <p:nvPr/>
        </p:nvGrpSpPr>
        <p:grpSpPr>
          <a:xfrm>
            <a:off x="667512" y="1835468"/>
            <a:ext cx="6293358" cy="3283267"/>
            <a:chOff x="667512" y="1835468"/>
            <a:chExt cx="6293358" cy="328326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第二部分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1975104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作业调度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579196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先把可行性判定推广到不同处理时间，再手工执行两种算法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496252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题2 证明作业处理时间 tᵢ 各不相同时，定理5.3 仍成立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454742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题3 n = 7，用 JS（算法5.4）求解，写出 J 的变化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605409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题4 n = 7，用 FJS（算法5.5）求解，写出集合树的变化、最优解和效益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值</a:t>
              </a:r>
            </a:p>
          </p:txBody>
        </p:sp>
      </p:grpSp>
      <p:grpSp>
        <p:nvGrpSpPr>
          <p:cNvPr id="1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7" name="TextBox 17"/>
            <p:cNvSpPr txBox="1"/>
            <p:nvPr/>
          </p:nvSpPr>
          <p:spPr>
            <a:xfrm>
              <a:off x="528447" y="6581299"/>
              <a:ext cx="242418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算法设计与分析 · 第5章 贪心法 作业讲解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806178" cy="909257"/>
            <a:chOff x="520446" y="342900"/>
            <a:chExt cx="8806178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987868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8957" y="407194"/>
              <a:ext cx="18358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第5章 作业讲解 · 作业调度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80617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题2：把任一可行排列逐步换成期限升序，每一步都不误期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3" name="c1-card-1"/>
          <p:cNvGrpSpPr/>
          <p:nvPr/>
        </p:nvGrpSpPr>
        <p:grpSpPr>
          <a:xfrm>
            <a:off x="533400" y="1524000"/>
            <a:ext cx="6059805" cy="1382078"/>
            <a:chOff x="533400" y="1524000"/>
            <a:chExt cx="6059805" cy="1382078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6059805" cy="1382078"/>
            </a:xfrm>
            <a:prstGeom prst="roundRect">
              <a:avLst>
                <a:gd name="adj" fmla="val 964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115378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52475" y="1704975"/>
              <a:ext cx="530542" cy="23812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42295" y="1737836"/>
              <a:ext cx="34994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第2题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45998" y="2045494"/>
              <a:ext cx="5253888" cy="4684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25"/>
                </a:lnSpc>
              </a:pPr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作业 i 处理时间 tᵢ &gt; 0、期限 dᵢ ≥ tᵢ，证明 J 可行当且仅当按期限升序</a:t>
              </a:r>
              <a:br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σ = i₁…iₖ 处理不误期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47141" y="2561273"/>
              <a:ext cx="473885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思路：“⇐”直接成立；“⇒”取一个可行排列 σ′ = r₁…rₖ，把它一步步换成 σ。</a:t>
              </a:r>
            </a:p>
          </p:txBody>
        </p:sp>
      </p:grpSp>
      <p:grpSp>
        <p:nvGrpSpPr>
          <p:cNvPr id="35" name="c1-steps-2"/>
          <p:cNvGrpSpPr/>
          <p:nvPr/>
        </p:nvGrpSpPr>
        <p:grpSpPr>
          <a:xfrm>
            <a:off x="533400" y="3080385"/>
            <a:ext cx="5826176" cy="3282886"/>
            <a:chOff x="533400" y="3080385"/>
            <a:chExt cx="5826176" cy="3282886"/>
          </a:xfrm>
        </p:grpSpPr>
        <p:sp>
          <p:nvSpPr>
            <p:cNvPr id="14" name="Rectangle 14"/>
            <p:cNvSpPr/>
            <p:nvPr/>
          </p:nvSpPr>
          <p:spPr>
            <a:xfrm>
              <a:off x="666750" y="3223260"/>
              <a:ext cx="19050" cy="279177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5" name="Ellipse 15"/>
            <p:cNvSpPr/>
            <p:nvPr/>
          </p:nvSpPr>
          <p:spPr>
            <a:xfrm>
              <a:off x="533400" y="3080385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27024" y="315420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7" name="Ellipse 17"/>
            <p:cNvSpPr/>
            <p:nvPr/>
          </p:nvSpPr>
          <p:spPr>
            <a:xfrm>
              <a:off x="533400" y="3633788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627024" y="370760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9" name="Ellipse 19"/>
            <p:cNvSpPr/>
            <p:nvPr/>
          </p:nvSpPr>
          <p:spPr>
            <a:xfrm>
              <a:off x="533400" y="4379595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27024" y="445341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1" name="Ellipse 21"/>
            <p:cNvSpPr/>
            <p:nvPr/>
          </p:nvSpPr>
          <p:spPr>
            <a:xfrm>
              <a:off x="533400" y="5126355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27024" y="520017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23" name="Ellipse 23"/>
            <p:cNvSpPr/>
            <p:nvPr/>
          </p:nvSpPr>
          <p:spPr>
            <a:xfrm>
              <a:off x="533400" y="5873115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27024" y="594693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946023" y="3111341"/>
              <a:ext cx="68368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记号与 ⇐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947166" y="3365182"/>
              <a:ext cx="541241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T(m) = t(r₁) + … + t(rₘ) 是 σ′ 第 m 位的完成时刻。σ 不误期时它本身就是可行次序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946023" y="3663791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找交换位置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947166" y="3918585"/>
              <a:ext cx="5291328" cy="3987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22"/>
                </a:lnSpc>
              </a:pPr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σ′ ≠ σ 时取第一个不同的位置 a：σ′ 在 a 位是作业 x，σ 在 a 位是作业 y，y 在 σ′ 的第 b</a:t>
              </a:r>
              <a:br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位（b &gt; a）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946023" y="4410551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关键不等式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947166" y="4665345"/>
              <a:ext cx="5211318" cy="3987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22"/>
                </a:lnSpc>
              </a:pPr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两个排列 a 位以后是同一批作业，y 的期限在其中最小，所以 d(y) ≤ d(x)，也 ≤ 夹在中</a:t>
              </a:r>
              <a:br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间的任一作业 z 的期限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946023" y="5157311"/>
              <a:ext cx="89175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交换 x 与 y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947166" y="5411152"/>
              <a:ext cx="5071301" cy="3987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22"/>
                </a:lnSpc>
              </a:pPr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y 提前完成；x 的新完成时刻就是原来的 T(b) ≤ d(y) ≤ d(x)；z 的完成时刻 ≤ T(b) ≤</a:t>
              </a:r>
              <a:br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d(y) ≤ d(z)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946023" y="5903119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收尾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947166" y="6157912"/>
              <a:ext cx="505689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每换一次，与 σ 相同的前缀至少增长 1，至多 k − 1 次得到 σ，全程不误期。证毕</a:t>
              </a:r>
            </a:p>
          </p:txBody>
        </p:sp>
      </p:grpSp>
      <p:grpSp>
        <p:nvGrpSpPr>
          <p:cNvPr id="72" name="c2-cells-1"/>
          <p:cNvGrpSpPr/>
          <p:nvPr/>
        </p:nvGrpSpPr>
        <p:grpSpPr>
          <a:xfrm>
            <a:off x="6892671" y="1524000"/>
            <a:ext cx="4765929" cy="1815941"/>
            <a:chOff x="6892671" y="1524000"/>
            <a:chExt cx="4765929" cy="1815941"/>
          </a:xfrm>
        </p:grpSpPr>
        <p:sp>
          <p:nvSpPr>
            <p:cNvPr id="36" name="TextBox 36"/>
            <p:cNvSpPr txBox="1"/>
            <p:nvPr/>
          </p:nvSpPr>
          <p:spPr>
            <a:xfrm>
              <a:off x="6892671" y="1636395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105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σ′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7431405" y="1524000"/>
              <a:ext cx="845820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2F4B9A"/>
              </a:solidFill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804903" y="1636395"/>
              <a:ext cx="969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8276272" y="1524000"/>
              <a:ext cx="845820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2F4B9A"/>
              </a:solidFill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8650723" y="1636395"/>
              <a:ext cx="969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9122092" y="1524000"/>
              <a:ext cx="845820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2F4B9A"/>
              </a:solidFill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9496543" y="1636395"/>
              <a:ext cx="969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9967912" y="1524000"/>
              <a:ext cx="845820" cy="356235"/>
            </a:xfrm>
            <a:prstGeom prst="rect">
              <a:avLst/>
            </a:prstGeom>
            <a:solidFill>
              <a:srgbClr val="FDECEA"/>
            </a:solidFill>
            <a:ln w="15240">
              <a:solidFill>
                <a:srgbClr val="B42318"/>
              </a:solidFill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10341411" y="1636395"/>
              <a:ext cx="969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B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10812780" y="1524000"/>
              <a:ext cx="845820" cy="356235"/>
            </a:xfrm>
            <a:prstGeom prst="rect">
              <a:avLst/>
            </a:prstGeom>
            <a:solidFill>
              <a:srgbClr val="FDECEA"/>
            </a:solidFill>
            <a:ln w="15240">
              <a:solidFill>
                <a:srgbClr val="B42318"/>
              </a:solidFill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11187231" y="1636395"/>
              <a:ext cx="969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B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7818243" y="1934051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8664063" y="1934051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9509883" y="1934051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10354751" y="1934051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11200571" y="1934051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52" name="Freeform 52"/>
            <p:cNvSpPr/>
            <p:nvPr/>
          </p:nvSpPr>
          <p:spPr>
            <a:xfrm>
              <a:off x="10351770" y="2080260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0"/>
                  </a:moveTo>
                  <a:lnTo>
                    <a:pt x="76200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C2410C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10067316" y="2210276"/>
              <a:ext cx="645107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B：5 ≤ d = 5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6892671" y="2605088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交换后</a:t>
              </a:r>
            </a:p>
          </p:txBody>
        </p:sp>
        <p:sp>
          <p:nvSpPr>
            <p:cNvPr id="55" name="Rectangle 55"/>
            <p:cNvSpPr/>
            <p:nvPr/>
          </p:nvSpPr>
          <p:spPr>
            <a:xfrm>
              <a:off x="7431405" y="2491740"/>
              <a:ext cx="845820" cy="356235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7804903" y="2605088"/>
              <a:ext cx="969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B</a:t>
              </a:r>
            </a:p>
          </p:txBody>
        </p:sp>
        <p:sp>
          <p:nvSpPr>
            <p:cNvPr id="57" name="Rectangle 57"/>
            <p:cNvSpPr/>
            <p:nvPr/>
          </p:nvSpPr>
          <p:spPr>
            <a:xfrm>
              <a:off x="8276272" y="2491740"/>
              <a:ext cx="845820" cy="356235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8650723" y="2605088"/>
              <a:ext cx="969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B</a:t>
              </a:r>
            </a:p>
          </p:txBody>
        </p:sp>
        <p:sp>
          <p:nvSpPr>
            <p:cNvPr id="59" name="Rectangle 59"/>
            <p:cNvSpPr/>
            <p:nvPr/>
          </p:nvSpPr>
          <p:spPr>
            <a:xfrm>
              <a:off x="9122092" y="2491740"/>
              <a:ext cx="845820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2F4B9A"/>
              </a:solidFill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9496543" y="2605088"/>
              <a:ext cx="969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</a:t>
              </a:r>
            </a:p>
          </p:txBody>
        </p:sp>
        <p:sp>
          <p:nvSpPr>
            <p:cNvPr id="61" name="Rectangle 61"/>
            <p:cNvSpPr/>
            <p:nvPr/>
          </p:nvSpPr>
          <p:spPr>
            <a:xfrm>
              <a:off x="9967912" y="2491740"/>
              <a:ext cx="845820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2F4B9A"/>
              </a:solidFill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10341411" y="2605088"/>
              <a:ext cx="969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</a:t>
              </a:r>
            </a:p>
          </p:txBody>
        </p:sp>
        <p:sp>
          <p:nvSpPr>
            <p:cNvPr id="63" name="Rectangle 63"/>
            <p:cNvSpPr/>
            <p:nvPr/>
          </p:nvSpPr>
          <p:spPr>
            <a:xfrm>
              <a:off x="10812780" y="2491740"/>
              <a:ext cx="845820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2F4B9A"/>
              </a:solidFill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11187231" y="2605088"/>
              <a:ext cx="969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7818243" y="2901791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8664063" y="2901791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9509883" y="2901791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10354751" y="2901791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11200571" y="2901791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70" name="Freeform 70"/>
            <p:cNvSpPr/>
            <p:nvPr/>
          </p:nvSpPr>
          <p:spPr>
            <a:xfrm>
              <a:off x="10351770" y="3048000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0"/>
                  </a:moveTo>
                  <a:lnTo>
                    <a:pt x="76200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C2410C"/>
            </a:solidFill>
            <a:ln>
              <a:noFill/>
            </a:ln>
          </p:spPr>
        </p:sp>
        <p:sp>
          <p:nvSpPr>
            <p:cNvPr id="71" name="TextBox 71"/>
            <p:cNvSpPr txBox="1"/>
            <p:nvPr/>
          </p:nvSpPr>
          <p:spPr>
            <a:xfrm>
              <a:off x="9932624" y="3178016"/>
              <a:ext cx="914491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C 推迟到 4，d = 6</a:t>
              </a:r>
            </a:p>
          </p:txBody>
        </p:sp>
      </p:grpSp>
      <p:grpSp>
        <p:nvGrpSpPr>
          <p:cNvPr id="79" name="c2-callout-2"/>
          <p:cNvGrpSpPr/>
          <p:nvPr/>
        </p:nvGrpSpPr>
        <p:grpSpPr>
          <a:xfrm>
            <a:off x="6898005" y="3479482"/>
            <a:ext cx="4760595" cy="937260"/>
            <a:chOff x="6898005" y="3479482"/>
            <a:chExt cx="4760595" cy="937260"/>
          </a:xfrm>
        </p:grpSpPr>
        <p:sp>
          <p:nvSpPr>
            <p:cNvPr id="73" name="Rectangle 73"/>
            <p:cNvSpPr/>
            <p:nvPr/>
          </p:nvSpPr>
          <p:spPr>
            <a:xfrm>
              <a:off x="6898005" y="3479482"/>
              <a:ext cx="4760595" cy="937260"/>
            </a:xfrm>
            <a:prstGeom prst="roundRect">
              <a:avLst>
                <a:gd name="adj" fmla="val 12195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77" name="Group 77"/>
            <p:cNvGrpSpPr/>
            <p:nvPr/>
          </p:nvGrpSpPr>
          <p:grpSpPr>
            <a:xfrm>
              <a:off x="7102793" y="3848100"/>
              <a:ext cx="200026" cy="200025"/>
              <a:chOff x="7102793" y="3848100"/>
              <a:chExt cx="200026" cy="200025"/>
            </a:xfrm>
          </p:grpSpPr>
          <p:sp>
            <p:nvSpPr>
              <p:cNvPr id="74" name="Freeform 74"/>
              <p:cNvSpPr/>
              <p:nvPr/>
            </p:nvSpPr>
            <p:spPr>
              <a:xfrm>
                <a:off x="7102793" y="3848100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75" name="Freeform 75"/>
              <p:cNvSpPr/>
              <p:nvPr/>
            </p:nvSpPr>
            <p:spPr>
              <a:xfrm>
                <a:off x="7142531" y="3892550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76" name="Freeform 76"/>
              <p:cNvSpPr/>
              <p:nvPr/>
            </p:nvSpPr>
            <p:spPr>
              <a:xfrm>
                <a:off x="7177247" y="4003676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78" name="TextBox 78"/>
            <p:cNvSpPr txBox="1"/>
            <p:nvPr/>
          </p:nvSpPr>
          <p:spPr>
            <a:xfrm>
              <a:off x="7405878" y="3624739"/>
              <a:ext cx="3849370" cy="7179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例：A(t = 1, d = 8)、C(t = 2, d = 6)、B(t = 2, d =</a:t>
              </a:r>
              <a:br/>
              <a:r>
                <a:rPr lang="zh-CN" sz="12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5)。B 比 A 长，交换后中间的 C 被推迟 1，但不晚于</a:t>
              </a:r>
              <a:br/>
              <a:r>
                <a:rPr lang="zh-CN" sz="12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原来 B 的完成时刻 5 ≤ d(B) ≤ d(C)。</a:t>
              </a:r>
            </a:p>
          </p:txBody>
        </p:sp>
      </p:grpSp>
      <p:grpSp>
        <p:nvGrpSpPr>
          <p:cNvPr id="88" name="c2-card-3"/>
          <p:cNvGrpSpPr/>
          <p:nvPr/>
        </p:nvGrpSpPr>
        <p:grpSpPr>
          <a:xfrm>
            <a:off x="6898005" y="4581525"/>
            <a:ext cx="4760595" cy="1778318"/>
            <a:chOff x="6898005" y="4581525"/>
            <a:chExt cx="4760595" cy="1778318"/>
          </a:xfrm>
        </p:grpSpPr>
        <p:sp>
          <p:nvSpPr>
            <p:cNvPr id="80" name="Rectangle 80"/>
            <p:cNvSpPr/>
            <p:nvPr/>
          </p:nvSpPr>
          <p:spPr>
            <a:xfrm>
              <a:off x="6898005" y="4581525"/>
              <a:ext cx="4760595" cy="1778318"/>
            </a:xfrm>
            <a:prstGeom prst="roundRect">
              <a:avLst>
                <a:gd name="adj" fmla="val 749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1" name="Rectangle 81"/>
            <p:cNvSpPr/>
            <p:nvPr/>
          </p:nvSpPr>
          <p:spPr>
            <a:xfrm>
              <a:off x="6907530" y="4714875"/>
              <a:ext cx="47625" cy="1511618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82" name="Rectangle 82"/>
            <p:cNvSpPr/>
            <p:nvPr/>
          </p:nvSpPr>
          <p:spPr>
            <a:xfrm>
              <a:off x="7117080" y="4762500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83" name="TextBox 83"/>
            <p:cNvSpPr txBox="1"/>
            <p:nvPr/>
          </p:nvSpPr>
          <p:spPr>
            <a:xfrm>
              <a:off x="7208799" y="4795361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</a:t>
              </a:r>
            </a:p>
          </p:txBody>
        </p:sp>
        <p:sp>
          <p:nvSpPr>
            <p:cNvPr id="84" name="Ellipse 84"/>
            <p:cNvSpPr/>
            <p:nvPr/>
          </p:nvSpPr>
          <p:spPr>
            <a:xfrm>
              <a:off x="7126605" y="5154930"/>
              <a:ext cx="57150" cy="571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85" name="TextBox 85"/>
            <p:cNvSpPr txBox="1"/>
            <p:nvPr/>
          </p:nvSpPr>
          <p:spPr>
            <a:xfrm>
              <a:off x="7282053" y="5103019"/>
              <a:ext cx="3963162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原讲解写 d(rₖ) ≥ Σⱼ tⱼ，把 tⱼ 当成了第 j 个作业的时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间；求和的应是排在前面的作业的时间 t(rⱼ)</a:t>
              </a:r>
            </a:p>
          </p:txBody>
        </p:sp>
        <p:sp>
          <p:nvSpPr>
            <p:cNvPr id="86" name="Ellipse 86"/>
            <p:cNvSpPr/>
            <p:nvPr/>
          </p:nvSpPr>
          <p:spPr>
            <a:xfrm>
              <a:off x="7126605" y="5682615"/>
              <a:ext cx="57150" cy="571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87" name="TextBox 87"/>
            <p:cNvSpPr txBox="1"/>
            <p:nvPr/>
          </p:nvSpPr>
          <p:spPr>
            <a:xfrm>
              <a:off x="7282053" y="5630704"/>
              <a:ext cx="39499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J 只有 k 个作业，σ′ = r₁…rₙ、d(iₙ) 中的 n 应为 k</a:t>
              </a:r>
            </a:p>
          </p:txBody>
        </p:sp>
      </p:grpSp>
      <p:grpSp>
        <p:nvGrpSpPr>
          <p:cNvPr id="9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89" name="TextBox 89"/>
            <p:cNvSpPr txBox="1"/>
            <p:nvPr/>
          </p:nvSpPr>
          <p:spPr>
            <a:xfrm>
              <a:off x="528447" y="6581299"/>
              <a:ext cx="242418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算法设计与分析 · 第5章 贪心法 作业讲解</a:t>
              </a:r>
            </a:p>
          </p:txBody>
        </p:sp>
        <p:sp>
          <p:nvSpPr>
            <p:cNvPr id="90" name="TextBox 9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227749" cy="909257"/>
            <a:chOff x="520446" y="342900"/>
            <a:chExt cx="8227749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987868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8957" y="407194"/>
              <a:ext cx="18358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第5章 作业讲解 · 作业调度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22774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题2 复核：定理照样成立，但按效益贪心不再保证最优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47" name="c1-table-1"/>
          <p:cNvGrpSpPr/>
          <p:nvPr/>
        </p:nvGrpSpPr>
        <p:grpSpPr>
          <a:xfrm>
            <a:off x="533400" y="1524000"/>
            <a:ext cx="5193982" cy="1795462"/>
            <a:chOff x="533400" y="1524000"/>
            <a:chExt cx="5193982" cy="1795462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193982" cy="448628"/>
            </a:xfrm>
            <a:prstGeom prst="rect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96557" y="165973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位置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374769" y="1659731"/>
              <a:ext cx="61088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σ′ 作业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2305329" y="165973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完成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2990177" y="165973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期限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3669830" y="1659731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交换后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4521797" y="165973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完成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5205692" y="165973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期限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19115" y="2108359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623665" y="2108359"/>
              <a:ext cx="11309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2430257" y="2108359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3115104" y="2108359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3878232" y="2108359"/>
              <a:ext cx="11309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646724" y="2108359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5330619" y="2108359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533400" y="2416492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3" name="Rectangle 23"/>
            <p:cNvSpPr/>
            <p:nvPr/>
          </p:nvSpPr>
          <p:spPr>
            <a:xfrm>
              <a:off x="533400" y="2421255"/>
              <a:ext cx="5193982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819115" y="2556986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623665" y="2556986"/>
              <a:ext cx="11309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2430257" y="2556986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3115104" y="2556986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3878232" y="2556986"/>
              <a:ext cx="11309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4367212" y="2430780"/>
              <a:ext cx="665798" cy="429578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4646724" y="2556986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5330619" y="2556986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533400" y="2866072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819115" y="3005614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1623665" y="3005614"/>
              <a:ext cx="11309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2430257" y="3005614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3115104" y="3005614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3878232" y="3005614"/>
              <a:ext cx="11309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4646724" y="3005614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5330619" y="3005614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533400" y="1524000"/>
              <a:ext cx="5193982" cy="1795462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1" name="Rectangle 41"/>
            <p:cNvSpPr/>
            <p:nvPr/>
          </p:nvSpPr>
          <p:spPr>
            <a:xfrm>
              <a:off x="1213485" y="1524000"/>
              <a:ext cx="9525" cy="179546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2" name="Rectangle 42"/>
            <p:cNvSpPr/>
            <p:nvPr/>
          </p:nvSpPr>
          <p:spPr>
            <a:xfrm>
              <a:off x="2136458" y="1524000"/>
              <a:ext cx="9525" cy="179546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3" name="Rectangle 43"/>
            <p:cNvSpPr/>
            <p:nvPr/>
          </p:nvSpPr>
          <p:spPr>
            <a:xfrm>
              <a:off x="2821305" y="1524000"/>
              <a:ext cx="9525" cy="179546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4" name="Rectangle 44"/>
            <p:cNvSpPr/>
            <p:nvPr/>
          </p:nvSpPr>
          <p:spPr>
            <a:xfrm>
              <a:off x="3506152" y="1524000"/>
              <a:ext cx="9525" cy="179546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5" name="Rectangle 45"/>
            <p:cNvSpPr/>
            <p:nvPr/>
          </p:nvSpPr>
          <p:spPr>
            <a:xfrm>
              <a:off x="4352925" y="1524000"/>
              <a:ext cx="9525" cy="179546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6" name="Rectangle 46"/>
            <p:cNvSpPr/>
            <p:nvPr/>
          </p:nvSpPr>
          <p:spPr>
            <a:xfrm>
              <a:off x="5037772" y="1524000"/>
              <a:ext cx="9525" cy="179546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56" name="c1-card-2"/>
          <p:cNvGrpSpPr/>
          <p:nvPr/>
        </p:nvGrpSpPr>
        <p:grpSpPr>
          <a:xfrm>
            <a:off x="533400" y="3509962"/>
            <a:ext cx="5193982" cy="2836545"/>
            <a:chOff x="533400" y="3509962"/>
            <a:chExt cx="5193982" cy="2836545"/>
          </a:xfrm>
        </p:grpSpPr>
        <p:sp>
          <p:nvSpPr>
            <p:cNvPr id="48" name="Rectangle 48"/>
            <p:cNvSpPr/>
            <p:nvPr/>
          </p:nvSpPr>
          <p:spPr>
            <a:xfrm>
              <a:off x="533400" y="3509962"/>
              <a:ext cx="5193982" cy="2836545"/>
            </a:xfrm>
            <a:prstGeom prst="roundRect">
              <a:avLst>
                <a:gd name="adj" fmla="val 470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9" name="Rectangle 49"/>
            <p:cNvSpPr/>
            <p:nvPr/>
          </p:nvSpPr>
          <p:spPr>
            <a:xfrm>
              <a:off x="542925" y="3643312"/>
              <a:ext cx="47625" cy="2569845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50" name="Ellipse 50"/>
            <p:cNvSpPr/>
            <p:nvPr/>
          </p:nvSpPr>
          <p:spPr>
            <a:xfrm>
              <a:off x="786765" y="3807143"/>
              <a:ext cx="64770" cy="6477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944880" y="3744278"/>
              <a:ext cx="43205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例中 a = 1、b = 3，只换一次就得到期限升序 B, C,</a:t>
              </a:r>
              <a:br/>
              <a:r>
                <a:rPr lang="en-US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52" name="Ellipse 52"/>
            <p:cNvSpPr/>
            <p:nvPr/>
          </p:nvSpPr>
          <p:spPr>
            <a:xfrm>
              <a:off x="786765" y="4428172"/>
              <a:ext cx="64770" cy="6477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944880" y="4365308"/>
              <a:ext cx="42062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交换后 A 的完成时刻 5 恰是原来 B 的完成时刻，5</a:t>
              </a:r>
              <a:br/>
              <a:r>
                <a:rPr lang="en-US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≤ d(B) = 5 ≤ d(A) = 8</a:t>
              </a:r>
            </a:p>
          </p:txBody>
        </p:sp>
        <p:sp>
          <p:nvSpPr>
            <p:cNvPr id="54" name="Ellipse 54"/>
            <p:cNvSpPr/>
            <p:nvPr/>
          </p:nvSpPr>
          <p:spPr>
            <a:xfrm>
              <a:off x="786765" y="5049202"/>
              <a:ext cx="64770" cy="6477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944880" y="4986338"/>
              <a:ext cx="429196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脚本随机生成 2 万组（k ≤ 6，tᵢ 1~5）：存在可行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排列与期限升序可行完全一致，没有反例</a:t>
              </a:r>
            </a:p>
          </p:txBody>
        </p:sp>
      </p:grpSp>
      <p:grpSp>
        <p:nvGrpSpPr>
          <p:cNvPr id="63" name="c2-card-1"/>
          <p:cNvGrpSpPr/>
          <p:nvPr/>
        </p:nvGrpSpPr>
        <p:grpSpPr>
          <a:xfrm>
            <a:off x="6032182" y="1524000"/>
            <a:ext cx="5626418" cy="1335405"/>
            <a:chOff x="6032182" y="1524000"/>
            <a:chExt cx="5626418" cy="1335405"/>
          </a:xfrm>
        </p:grpSpPr>
        <p:sp>
          <p:nvSpPr>
            <p:cNvPr id="57" name="Rectangle 57"/>
            <p:cNvSpPr/>
            <p:nvPr/>
          </p:nvSpPr>
          <p:spPr>
            <a:xfrm>
              <a:off x="6032182" y="1524000"/>
              <a:ext cx="5626418" cy="1335405"/>
            </a:xfrm>
            <a:prstGeom prst="roundRect">
              <a:avLst>
                <a:gd name="adj" fmla="val 998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58" name="Rectangle 58"/>
            <p:cNvSpPr/>
            <p:nvPr/>
          </p:nvSpPr>
          <p:spPr>
            <a:xfrm>
              <a:off x="6041708" y="1657350"/>
              <a:ext cx="47625" cy="1068705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59" name="Rectangle 59"/>
            <p:cNvSpPr/>
            <p:nvPr/>
          </p:nvSpPr>
          <p:spPr>
            <a:xfrm>
              <a:off x="6279832" y="1733550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6370041" y="176926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补充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6879908" y="1768792"/>
              <a:ext cx="30441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可行性定理成立，不等于贪心最优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6272212" y="2129790"/>
              <a:ext cx="478726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作业 A(p = 10, t = 3, d = 3)、B(p = 6, t = 1, d = 2)、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C(p = 6, t = 2, d = 3)：</a:t>
              </a:r>
            </a:p>
          </p:txBody>
        </p:sp>
      </p:grpSp>
      <p:grpSp>
        <p:nvGrpSpPr>
          <p:cNvPr id="91" name="c2-table-2"/>
          <p:cNvGrpSpPr/>
          <p:nvPr/>
        </p:nvGrpSpPr>
        <p:grpSpPr>
          <a:xfrm>
            <a:off x="6026467" y="3049905"/>
            <a:ext cx="5632133" cy="2091214"/>
            <a:chOff x="6026467" y="3049905"/>
            <a:chExt cx="5632133" cy="2091214"/>
          </a:xfrm>
        </p:grpSpPr>
        <p:sp>
          <p:nvSpPr>
            <p:cNvPr id="64" name="Rectangle 64"/>
            <p:cNvSpPr/>
            <p:nvPr/>
          </p:nvSpPr>
          <p:spPr>
            <a:xfrm>
              <a:off x="6032182" y="3049905"/>
              <a:ext cx="5626418" cy="448628"/>
            </a:xfrm>
            <a:prstGeom prst="rect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6302972" y="3185636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试加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7312711" y="3185636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期限升序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8888146" y="3185636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完成时刻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10692092" y="3185636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结果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6140006" y="3634264"/>
              <a:ext cx="11809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7040118" y="3634264"/>
              <a:ext cx="11309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8503158" y="3634264"/>
              <a:ext cx="40066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 ≤ 3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10190988" y="3634264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收下</a:t>
              </a:r>
            </a:p>
          </p:txBody>
        </p:sp>
        <p:sp>
          <p:nvSpPr>
            <p:cNvPr id="73" name="Rectangle 73"/>
            <p:cNvSpPr/>
            <p:nvPr/>
          </p:nvSpPr>
          <p:spPr>
            <a:xfrm>
              <a:off x="6032182" y="3942398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4" name="Rectangle 74"/>
            <p:cNvSpPr/>
            <p:nvPr/>
          </p:nvSpPr>
          <p:spPr>
            <a:xfrm>
              <a:off x="6032182" y="3947160"/>
              <a:ext cx="5626418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75" name="TextBox 75"/>
            <p:cNvSpPr txBox="1"/>
            <p:nvPr/>
          </p:nvSpPr>
          <p:spPr>
            <a:xfrm>
              <a:off x="6140006" y="4082891"/>
              <a:ext cx="11809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</a:t>
              </a: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7040118" y="4082891"/>
              <a:ext cx="36798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B, A</a:t>
              </a: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8503158" y="4082891"/>
              <a:ext cx="6418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1, 4 &gt; 3</a:t>
              </a:r>
            </a:p>
          </p:txBody>
        </p:sp>
        <p:sp>
          <p:nvSpPr>
            <p:cNvPr id="78" name="Rectangle 78"/>
            <p:cNvSpPr/>
            <p:nvPr/>
          </p:nvSpPr>
          <p:spPr>
            <a:xfrm>
              <a:off x="10092690" y="3956685"/>
              <a:ext cx="1556385" cy="429578"/>
            </a:xfrm>
            <a:prstGeom prst="rect">
              <a:avLst/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79" name="TextBox 79"/>
            <p:cNvSpPr txBox="1"/>
            <p:nvPr/>
          </p:nvSpPr>
          <p:spPr>
            <a:xfrm>
              <a:off x="10190988" y="408289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舍弃</a:t>
              </a:r>
            </a:p>
          </p:txBody>
        </p:sp>
        <p:sp>
          <p:nvSpPr>
            <p:cNvPr id="80" name="Rectangle 80"/>
            <p:cNvSpPr/>
            <p:nvPr/>
          </p:nvSpPr>
          <p:spPr>
            <a:xfrm>
              <a:off x="6032182" y="4391978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1" name="TextBox 81"/>
            <p:cNvSpPr txBox="1"/>
            <p:nvPr/>
          </p:nvSpPr>
          <p:spPr>
            <a:xfrm>
              <a:off x="6140006" y="4531519"/>
              <a:ext cx="11809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</a:t>
              </a:r>
            </a:p>
          </p:txBody>
        </p:sp>
        <p:sp>
          <p:nvSpPr>
            <p:cNvPr id="82" name="TextBox 82"/>
            <p:cNvSpPr txBox="1"/>
            <p:nvPr/>
          </p:nvSpPr>
          <p:spPr>
            <a:xfrm>
              <a:off x="7040118" y="4531519"/>
              <a:ext cx="36798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A, C</a:t>
              </a:r>
            </a:p>
          </p:txBody>
        </p:sp>
        <p:sp>
          <p:nvSpPr>
            <p:cNvPr id="83" name="TextBox 83"/>
            <p:cNvSpPr txBox="1"/>
            <p:nvPr/>
          </p:nvSpPr>
          <p:spPr>
            <a:xfrm>
              <a:off x="8503158" y="4531519"/>
              <a:ext cx="6418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3, 5 &gt; 3</a:t>
              </a:r>
            </a:p>
          </p:txBody>
        </p:sp>
        <p:sp>
          <p:nvSpPr>
            <p:cNvPr id="84" name="Rectangle 84"/>
            <p:cNvSpPr/>
            <p:nvPr/>
          </p:nvSpPr>
          <p:spPr>
            <a:xfrm>
              <a:off x="10092690" y="4406265"/>
              <a:ext cx="1556385" cy="429578"/>
            </a:xfrm>
            <a:prstGeom prst="rect">
              <a:avLst/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85" name="TextBox 85"/>
            <p:cNvSpPr txBox="1"/>
            <p:nvPr/>
          </p:nvSpPr>
          <p:spPr>
            <a:xfrm>
              <a:off x="10190988" y="4531519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舍弃</a:t>
              </a:r>
            </a:p>
          </p:txBody>
        </p:sp>
        <p:sp>
          <p:nvSpPr>
            <p:cNvPr id="86" name="Rectangle 86"/>
            <p:cNvSpPr/>
            <p:nvPr/>
          </p:nvSpPr>
          <p:spPr>
            <a:xfrm>
              <a:off x="6032182" y="3049905"/>
              <a:ext cx="5626418" cy="1795462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87" name="Rectangle 87"/>
            <p:cNvSpPr/>
            <p:nvPr/>
          </p:nvSpPr>
          <p:spPr>
            <a:xfrm>
              <a:off x="6927532" y="3049905"/>
              <a:ext cx="9525" cy="179546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8" name="Rectangle 88"/>
            <p:cNvSpPr/>
            <p:nvPr/>
          </p:nvSpPr>
          <p:spPr>
            <a:xfrm>
              <a:off x="8390572" y="3049905"/>
              <a:ext cx="9525" cy="179546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9" name="Rectangle 89"/>
            <p:cNvSpPr/>
            <p:nvPr/>
          </p:nvSpPr>
          <p:spPr>
            <a:xfrm>
              <a:off x="10078402" y="3049905"/>
              <a:ext cx="9525" cy="179546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90" name="TextBox 90"/>
            <p:cNvSpPr txBox="1"/>
            <p:nvPr/>
          </p:nvSpPr>
          <p:spPr>
            <a:xfrm>
              <a:off x="6026467" y="4921091"/>
              <a:ext cx="439896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按效益贪心得 {A}，效益 10；{B, C} 依次在 1、3 完成，效益 12</a:t>
              </a:r>
            </a:p>
          </p:txBody>
        </p:sp>
      </p:grpSp>
      <p:grpSp>
        <p:nvGrpSpPr>
          <p:cNvPr id="98" name="c2-callout-3"/>
          <p:cNvGrpSpPr/>
          <p:nvPr/>
        </p:nvGrpSpPr>
        <p:grpSpPr>
          <a:xfrm>
            <a:off x="6032182" y="5287328"/>
            <a:ext cx="5626418" cy="1059180"/>
            <a:chOff x="6032182" y="5287328"/>
            <a:chExt cx="5626418" cy="1059180"/>
          </a:xfrm>
        </p:grpSpPr>
        <p:sp>
          <p:nvSpPr>
            <p:cNvPr id="92" name="Rectangle 92"/>
            <p:cNvSpPr/>
            <p:nvPr/>
          </p:nvSpPr>
          <p:spPr>
            <a:xfrm>
              <a:off x="6032182" y="5287328"/>
              <a:ext cx="5626418" cy="1059180"/>
            </a:xfrm>
            <a:prstGeom prst="roundRect">
              <a:avLst>
                <a:gd name="adj" fmla="val 10791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96" name="Group 96"/>
            <p:cNvGrpSpPr/>
            <p:nvPr/>
          </p:nvGrpSpPr>
          <p:grpSpPr>
            <a:xfrm>
              <a:off x="6236970" y="5716905"/>
              <a:ext cx="200026" cy="200026"/>
              <a:chOff x="6236970" y="5716905"/>
              <a:chExt cx="200026" cy="200026"/>
            </a:xfrm>
          </p:grpSpPr>
          <p:sp>
            <p:nvSpPr>
              <p:cNvPr id="93" name="Freeform 93"/>
              <p:cNvSpPr/>
              <p:nvPr/>
            </p:nvSpPr>
            <p:spPr>
              <a:xfrm>
                <a:off x="6236970" y="5716905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94" name="Freeform 94"/>
              <p:cNvSpPr/>
              <p:nvPr/>
            </p:nvSpPr>
            <p:spPr>
              <a:xfrm>
                <a:off x="6336983" y="578358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95" name="Freeform 95"/>
              <p:cNvSpPr/>
              <p:nvPr/>
            </p:nvSpPr>
            <p:spPr>
              <a:xfrm>
                <a:off x="6325870" y="5816918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97" name="TextBox 97"/>
            <p:cNvSpPr txBox="1"/>
            <p:nvPr/>
          </p:nvSpPr>
          <p:spPr>
            <a:xfrm>
              <a:off x="6538912" y="5435918"/>
              <a:ext cx="4587240" cy="8458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时间片相同时每个作业占一格，定理5.2 保证按效益贪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心最优；时长不同后，长作业会挤掉两个短作业，问题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带上了 0/1 背包的味道。</a:t>
              </a:r>
            </a:p>
          </p:txBody>
        </p:sp>
      </p:grpSp>
      <p:grpSp>
        <p:nvGrpSpPr>
          <p:cNvPr id="10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99" name="TextBox 99"/>
            <p:cNvSpPr txBox="1"/>
            <p:nvPr/>
          </p:nvSpPr>
          <p:spPr>
            <a:xfrm>
              <a:off x="528447" y="6581299"/>
              <a:ext cx="242418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算法设计与分析 · 第5章 贪心法 作业讲解</a:t>
              </a:r>
            </a:p>
          </p:txBody>
        </p:sp>
        <p:sp>
          <p:nvSpPr>
            <p:cNvPr id="100" name="TextBox 10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10187689" cy="909257"/>
            <a:chOff x="520446" y="342900"/>
            <a:chExt cx="10187689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987868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8957" y="407194"/>
              <a:ext cx="18358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第5章 作业讲解 · 作业调度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1018768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题3：JS 依次收下作业 7、3、4、6，J = {3, 4, 6, 7}，效益 74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3" name="c1-card-1"/>
          <p:cNvGrpSpPr/>
          <p:nvPr/>
        </p:nvGrpSpPr>
        <p:grpSpPr>
          <a:xfrm>
            <a:off x="533400" y="1524000"/>
            <a:ext cx="5626418" cy="1838325"/>
            <a:chOff x="533400" y="1524000"/>
            <a:chExt cx="5626418" cy="183832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626418" cy="1838325"/>
            </a:xfrm>
            <a:prstGeom prst="roundRect">
              <a:avLst>
                <a:gd name="adj" fmla="val 725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571625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81050" y="1733550"/>
              <a:ext cx="576262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68679" y="1769269"/>
              <a:ext cx="4000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第3题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73430" y="2110740"/>
              <a:ext cx="4756785" cy="5505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 = 7，p = (3, 5, 20, 18, 1, 6, 30)，d = (1, 3, 4,</a:t>
              </a:r>
              <a:br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3, 2, 1, 2)，用 JS（算法5.4）求解并写出 J 的变化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74573" y="2718911"/>
              <a:ext cx="4865370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思路：先按效益降序排好；J 始终按期限升序保存，新作业从尾部往</a:t>
              </a:r>
              <a:br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前找插入位置。</a:t>
              </a:r>
            </a:p>
          </p:txBody>
        </p:sp>
      </p:grpSp>
      <p:grpSp>
        <p:nvGrpSpPr>
          <p:cNvPr id="58" name="c1-table-2"/>
          <p:cNvGrpSpPr/>
          <p:nvPr/>
        </p:nvGrpSpPr>
        <p:grpSpPr>
          <a:xfrm>
            <a:off x="533400" y="3552825"/>
            <a:ext cx="5626418" cy="1795462"/>
            <a:chOff x="533400" y="3552825"/>
            <a:chExt cx="5626418" cy="1795462"/>
          </a:xfrm>
        </p:grpSpPr>
        <p:sp>
          <p:nvSpPr>
            <p:cNvPr id="14" name="Rectangle 14"/>
            <p:cNvSpPr/>
            <p:nvPr/>
          </p:nvSpPr>
          <p:spPr>
            <a:xfrm>
              <a:off x="533400" y="3552825"/>
              <a:ext cx="5626418" cy="448628"/>
            </a:xfrm>
            <a:prstGeom prst="rect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59511" y="3687604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考虑次序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978307" y="3687604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2670775" y="3687604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3363242" y="3687604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4009037" y="3687604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607207" y="3687604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5206330" y="3687604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5804500" y="3687604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41223" y="4137184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作业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980677" y="4137184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2673144" y="4137184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3365612" y="4137184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4011407" y="4137184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4609577" y="4137184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5208699" y="4137184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5806869" y="4137184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533400" y="4445318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533400" y="4450080"/>
              <a:ext cx="5626418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41223" y="458581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效益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1933291" y="4585811"/>
              <a:ext cx="2024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30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2625758" y="4585811"/>
              <a:ext cx="2024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20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3318226" y="4585811"/>
              <a:ext cx="2024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18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4011407" y="4585811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4609577" y="4585811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5208699" y="4585811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5806869" y="4585811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533400" y="4893945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641223" y="5034439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期限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1980677" y="5034439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2673144" y="5034439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3365612" y="5034439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4011407" y="5034439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4609577" y="5034439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5208699" y="5034439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5806869" y="5034439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533400" y="3552825"/>
              <a:ext cx="5626418" cy="1795462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51" name="Rectangle 51"/>
            <p:cNvSpPr/>
            <p:nvPr/>
          </p:nvSpPr>
          <p:spPr>
            <a:xfrm>
              <a:off x="1684020" y="3552825"/>
              <a:ext cx="9525" cy="179546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2" name="Rectangle 52"/>
            <p:cNvSpPr/>
            <p:nvPr/>
          </p:nvSpPr>
          <p:spPr>
            <a:xfrm>
              <a:off x="2376488" y="3552825"/>
              <a:ext cx="9525" cy="179546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3" name="Rectangle 53"/>
            <p:cNvSpPr/>
            <p:nvPr/>
          </p:nvSpPr>
          <p:spPr>
            <a:xfrm>
              <a:off x="3068955" y="3552825"/>
              <a:ext cx="9525" cy="179546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4" name="Rectangle 54"/>
            <p:cNvSpPr/>
            <p:nvPr/>
          </p:nvSpPr>
          <p:spPr>
            <a:xfrm>
              <a:off x="3760470" y="3552825"/>
              <a:ext cx="9525" cy="179546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5" name="Rectangle 55"/>
            <p:cNvSpPr/>
            <p:nvPr/>
          </p:nvSpPr>
          <p:spPr>
            <a:xfrm>
              <a:off x="4359592" y="3552825"/>
              <a:ext cx="9525" cy="179546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6" name="Rectangle 56"/>
            <p:cNvSpPr/>
            <p:nvPr/>
          </p:nvSpPr>
          <p:spPr>
            <a:xfrm>
              <a:off x="4957762" y="3552825"/>
              <a:ext cx="9525" cy="179546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7" name="Rectangle 57"/>
            <p:cNvSpPr/>
            <p:nvPr/>
          </p:nvSpPr>
          <p:spPr>
            <a:xfrm>
              <a:off x="5556885" y="3552825"/>
              <a:ext cx="9525" cy="179546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64" name="c1-callout-3"/>
          <p:cNvGrpSpPr/>
          <p:nvPr/>
        </p:nvGrpSpPr>
        <p:grpSpPr>
          <a:xfrm>
            <a:off x="533400" y="5538788"/>
            <a:ext cx="5626418" cy="782955"/>
            <a:chOff x="533400" y="5538788"/>
            <a:chExt cx="5626418" cy="782955"/>
          </a:xfrm>
        </p:grpSpPr>
        <p:sp>
          <p:nvSpPr>
            <p:cNvPr id="59" name="Rectangle 59"/>
            <p:cNvSpPr/>
            <p:nvPr/>
          </p:nvSpPr>
          <p:spPr>
            <a:xfrm>
              <a:off x="533400" y="5538788"/>
              <a:ext cx="5626418" cy="782955"/>
            </a:xfrm>
            <a:prstGeom prst="roundRect">
              <a:avLst>
                <a:gd name="adj" fmla="val 14599"/>
              </a:avLst>
            </a:prstGeom>
            <a:solidFill>
              <a:srgbClr val="2F4B9A"/>
            </a:solidFill>
            <a:ln>
              <a:noFill/>
            </a:ln>
          </p:spPr>
        </p:sp>
        <p:grpSp>
          <p:nvGrpSpPr>
            <p:cNvPr id="62" name="Group 62"/>
            <p:cNvGrpSpPr/>
            <p:nvPr/>
          </p:nvGrpSpPr>
          <p:grpSpPr>
            <a:xfrm>
              <a:off x="738188" y="5830255"/>
              <a:ext cx="200023" cy="200023"/>
              <a:chOff x="738188" y="5830255"/>
              <a:chExt cx="200023" cy="200023"/>
            </a:xfrm>
          </p:grpSpPr>
          <p:sp>
            <p:nvSpPr>
              <p:cNvPr id="60" name="Freeform 60"/>
              <p:cNvSpPr/>
              <p:nvPr/>
            </p:nvSpPr>
            <p:spPr>
              <a:xfrm>
                <a:off x="738188" y="5830255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61" name="Freeform 61"/>
              <p:cNvSpPr/>
              <p:nvPr/>
            </p:nvSpPr>
            <p:spPr>
              <a:xfrm>
                <a:off x="871538" y="589692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63" name="TextBox 63"/>
            <p:cNvSpPr txBox="1"/>
            <p:nvPr/>
          </p:nvSpPr>
          <p:spPr>
            <a:xfrm>
              <a:off x="1040130" y="5687378"/>
              <a:ext cx="464439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结果 J = {3, 4, 6, 7}，处理次序 6, 7, 4, 3，效益 20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+ 18 + 6 + 30 = 74。</a:t>
              </a:r>
            </a:p>
          </p:txBody>
        </p:sp>
      </p:grpSp>
      <p:grpSp>
        <p:nvGrpSpPr>
          <p:cNvPr id="111" name="c2-cells-1"/>
          <p:cNvGrpSpPr/>
          <p:nvPr/>
        </p:nvGrpSpPr>
        <p:grpSpPr>
          <a:xfrm>
            <a:off x="6458141" y="1524000"/>
            <a:ext cx="4391787" cy="3038189"/>
            <a:chOff x="6458141" y="1524000"/>
            <a:chExt cx="4391787" cy="3038189"/>
          </a:xfrm>
        </p:grpSpPr>
        <p:sp>
          <p:nvSpPr>
            <p:cNvPr id="65" name="TextBox 65"/>
            <p:cNvSpPr txBox="1"/>
            <p:nvPr/>
          </p:nvSpPr>
          <p:spPr>
            <a:xfrm>
              <a:off x="6458141" y="1654016"/>
              <a:ext cx="61088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① 作业7</a:t>
              </a:r>
            </a:p>
          </p:txBody>
        </p:sp>
        <p:sp>
          <p:nvSpPr>
            <p:cNvPr id="66" name="Rectangle 66"/>
            <p:cNvSpPr/>
            <p:nvPr/>
          </p:nvSpPr>
          <p:spPr>
            <a:xfrm>
              <a:off x="7161848" y="1524000"/>
              <a:ext cx="922020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2F4B9A"/>
              </a:solidFill>
            </a:ln>
          </p:spPr>
        </p:sp>
        <p:sp>
          <p:nvSpPr>
            <p:cNvPr id="67" name="TextBox 67"/>
            <p:cNvSpPr txBox="1"/>
            <p:nvPr/>
          </p:nvSpPr>
          <p:spPr>
            <a:xfrm>
              <a:off x="7566625" y="1654016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68" name="Rectangle 68"/>
            <p:cNvSpPr/>
            <p:nvPr/>
          </p:nvSpPr>
          <p:spPr>
            <a:xfrm>
              <a:off x="8083868" y="1524000"/>
              <a:ext cx="922020" cy="419100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2F4B9A"/>
              </a:solidFill>
            </a:ln>
          </p:spPr>
        </p:sp>
        <p:sp>
          <p:nvSpPr>
            <p:cNvPr id="69" name="Rectangle 69"/>
            <p:cNvSpPr/>
            <p:nvPr/>
          </p:nvSpPr>
          <p:spPr>
            <a:xfrm>
              <a:off x="9005888" y="1524000"/>
              <a:ext cx="922020" cy="419100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2F4B9A"/>
              </a:solidFill>
            </a:ln>
          </p:spPr>
        </p:sp>
        <p:sp>
          <p:nvSpPr>
            <p:cNvPr id="70" name="Rectangle 70"/>
            <p:cNvSpPr/>
            <p:nvPr/>
          </p:nvSpPr>
          <p:spPr>
            <a:xfrm>
              <a:off x="9927908" y="1524000"/>
              <a:ext cx="922020" cy="419100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2F4B9A"/>
              </a:solidFill>
            </a:ln>
          </p:spPr>
        </p:sp>
        <p:sp>
          <p:nvSpPr>
            <p:cNvPr id="71" name="TextBox 71"/>
            <p:cNvSpPr txBox="1"/>
            <p:nvPr/>
          </p:nvSpPr>
          <p:spPr>
            <a:xfrm>
              <a:off x="7581624" y="1999774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8503644" y="1999774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9425664" y="1999774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10347684" y="1999774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6458141" y="2444591"/>
              <a:ext cx="61088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② 作业3</a:t>
              </a:r>
            </a:p>
          </p:txBody>
        </p:sp>
        <p:sp>
          <p:nvSpPr>
            <p:cNvPr id="76" name="Rectangle 76"/>
            <p:cNvSpPr/>
            <p:nvPr/>
          </p:nvSpPr>
          <p:spPr>
            <a:xfrm>
              <a:off x="7161848" y="2314575"/>
              <a:ext cx="922020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2F4B9A"/>
              </a:solidFill>
            </a:ln>
          </p:spPr>
        </p:sp>
        <p:sp>
          <p:nvSpPr>
            <p:cNvPr id="77" name="TextBox 77"/>
            <p:cNvSpPr txBox="1"/>
            <p:nvPr/>
          </p:nvSpPr>
          <p:spPr>
            <a:xfrm>
              <a:off x="7566625" y="2444591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78" name="Rectangle 78"/>
            <p:cNvSpPr/>
            <p:nvPr/>
          </p:nvSpPr>
          <p:spPr>
            <a:xfrm>
              <a:off x="8083868" y="2314575"/>
              <a:ext cx="922020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2F4B9A"/>
              </a:solidFill>
            </a:ln>
          </p:spPr>
        </p:sp>
        <p:sp>
          <p:nvSpPr>
            <p:cNvPr id="79" name="TextBox 79"/>
            <p:cNvSpPr txBox="1"/>
            <p:nvPr/>
          </p:nvSpPr>
          <p:spPr>
            <a:xfrm>
              <a:off x="8488645" y="2444591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80" name="Rectangle 80"/>
            <p:cNvSpPr/>
            <p:nvPr/>
          </p:nvSpPr>
          <p:spPr>
            <a:xfrm>
              <a:off x="9005888" y="2314575"/>
              <a:ext cx="922020" cy="419100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2F4B9A"/>
              </a:solidFill>
            </a:ln>
          </p:spPr>
        </p:sp>
        <p:sp>
          <p:nvSpPr>
            <p:cNvPr id="81" name="Rectangle 81"/>
            <p:cNvSpPr/>
            <p:nvPr/>
          </p:nvSpPr>
          <p:spPr>
            <a:xfrm>
              <a:off x="9927908" y="2314575"/>
              <a:ext cx="922020" cy="419100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2F4B9A"/>
              </a:solidFill>
            </a:ln>
          </p:spPr>
        </p:sp>
        <p:sp>
          <p:nvSpPr>
            <p:cNvPr id="82" name="TextBox 82"/>
            <p:cNvSpPr txBox="1"/>
            <p:nvPr/>
          </p:nvSpPr>
          <p:spPr>
            <a:xfrm>
              <a:off x="7581624" y="279034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83" name="TextBox 83"/>
            <p:cNvSpPr txBox="1"/>
            <p:nvPr/>
          </p:nvSpPr>
          <p:spPr>
            <a:xfrm>
              <a:off x="8503644" y="279034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84" name="TextBox 84"/>
            <p:cNvSpPr txBox="1"/>
            <p:nvPr/>
          </p:nvSpPr>
          <p:spPr>
            <a:xfrm>
              <a:off x="9425664" y="279034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85" name="TextBox 85"/>
            <p:cNvSpPr txBox="1"/>
            <p:nvPr/>
          </p:nvSpPr>
          <p:spPr>
            <a:xfrm>
              <a:off x="10347684" y="279034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86" name="TextBox 86"/>
            <p:cNvSpPr txBox="1"/>
            <p:nvPr/>
          </p:nvSpPr>
          <p:spPr>
            <a:xfrm>
              <a:off x="6458141" y="3235166"/>
              <a:ext cx="61088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③ 作业4</a:t>
              </a:r>
            </a:p>
          </p:txBody>
        </p:sp>
        <p:sp>
          <p:nvSpPr>
            <p:cNvPr id="87" name="Rectangle 87"/>
            <p:cNvSpPr/>
            <p:nvPr/>
          </p:nvSpPr>
          <p:spPr>
            <a:xfrm>
              <a:off x="7161848" y="3105150"/>
              <a:ext cx="922020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2F4B9A"/>
              </a:solidFill>
            </a:ln>
          </p:spPr>
        </p:sp>
        <p:sp>
          <p:nvSpPr>
            <p:cNvPr id="88" name="TextBox 88"/>
            <p:cNvSpPr txBox="1"/>
            <p:nvPr/>
          </p:nvSpPr>
          <p:spPr>
            <a:xfrm>
              <a:off x="7566625" y="3235166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89" name="Rectangle 89"/>
            <p:cNvSpPr/>
            <p:nvPr/>
          </p:nvSpPr>
          <p:spPr>
            <a:xfrm>
              <a:off x="8083868" y="3105150"/>
              <a:ext cx="922020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2F4B9A"/>
              </a:solidFill>
            </a:ln>
          </p:spPr>
        </p:sp>
        <p:sp>
          <p:nvSpPr>
            <p:cNvPr id="90" name="TextBox 90"/>
            <p:cNvSpPr txBox="1"/>
            <p:nvPr/>
          </p:nvSpPr>
          <p:spPr>
            <a:xfrm>
              <a:off x="8488645" y="3235166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91" name="Rectangle 91"/>
            <p:cNvSpPr/>
            <p:nvPr/>
          </p:nvSpPr>
          <p:spPr>
            <a:xfrm>
              <a:off x="9005888" y="3105150"/>
              <a:ext cx="922020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2F4B9A"/>
              </a:solidFill>
            </a:ln>
          </p:spPr>
        </p:sp>
        <p:sp>
          <p:nvSpPr>
            <p:cNvPr id="92" name="TextBox 92"/>
            <p:cNvSpPr txBox="1"/>
            <p:nvPr/>
          </p:nvSpPr>
          <p:spPr>
            <a:xfrm>
              <a:off x="9410665" y="3235166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93" name="Rectangle 93"/>
            <p:cNvSpPr/>
            <p:nvPr/>
          </p:nvSpPr>
          <p:spPr>
            <a:xfrm>
              <a:off x="9927908" y="3105150"/>
              <a:ext cx="922020" cy="419100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2F4B9A"/>
              </a:solidFill>
            </a:ln>
          </p:spPr>
        </p:sp>
        <p:sp>
          <p:nvSpPr>
            <p:cNvPr id="94" name="TextBox 94"/>
            <p:cNvSpPr txBox="1"/>
            <p:nvPr/>
          </p:nvSpPr>
          <p:spPr>
            <a:xfrm>
              <a:off x="7581624" y="3580924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95" name="TextBox 95"/>
            <p:cNvSpPr txBox="1"/>
            <p:nvPr/>
          </p:nvSpPr>
          <p:spPr>
            <a:xfrm>
              <a:off x="8503644" y="3580924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96" name="TextBox 96"/>
            <p:cNvSpPr txBox="1"/>
            <p:nvPr/>
          </p:nvSpPr>
          <p:spPr>
            <a:xfrm>
              <a:off x="9425664" y="3580924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97" name="TextBox 97"/>
            <p:cNvSpPr txBox="1"/>
            <p:nvPr/>
          </p:nvSpPr>
          <p:spPr>
            <a:xfrm>
              <a:off x="10347684" y="3580924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98" name="TextBox 98"/>
            <p:cNvSpPr txBox="1"/>
            <p:nvPr/>
          </p:nvSpPr>
          <p:spPr>
            <a:xfrm>
              <a:off x="6458141" y="4025741"/>
              <a:ext cx="61088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④ 作业6</a:t>
              </a:r>
            </a:p>
          </p:txBody>
        </p:sp>
        <p:sp>
          <p:nvSpPr>
            <p:cNvPr id="99" name="Rectangle 99"/>
            <p:cNvSpPr/>
            <p:nvPr/>
          </p:nvSpPr>
          <p:spPr>
            <a:xfrm>
              <a:off x="7161848" y="3895725"/>
              <a:ext cx="922020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2F4B9A"/>
              </a:solidFill>
            </a:ln>
          </p:spPr>
        </p:sp>
        <p:sp>
          <p:nvSpPr>
            <p:cNvPr id="100" name="TextBox 100"/>
            <p:cNvSpPr txBox="1"/>
            <p:nvPr/>
          </p:nvSpPr>
          <p:spPr>
            <a:xfrm>
              <a:off x="7566625" y="4025741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101" name="Rectangle 101"/>
            <p:cNvSpPr/>
            <p:nvPr/>
          </p:nvSpPr>
          <p:spPr>
            <a:xfrm>
              <a:off x="8083868" y="3895725"/>
              <a:ext cx="922020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2F4B9A"/>
              </a:solidFill>
            </a:ln>
          </p:spPr>
        </p:sp>
        <p:sp>
          <p:nvSpPr>
            <p:cNvPr id="102" name="TextBox 102"/>
            <p:cNvSpPr txBox="1"/>
            <p:nvPr/>
          </p:nvSpPr>
          <p:spPr>
            <a:xfrm>
              <a:off x="8488645" y="4025741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103" name="Rectangle 103"/>
            <p:cNvSpPr/>
            <p:nvPr/>
          </p:nvSpPr>
          <p:spPr>
            <a:xfrm>
              <a:off x="9005888" y="3895725"/>
              <a:ext cx="922020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2F4B9A"/>
              </a:solidFill>
            </a:ln>
          </p:spPr>
        </p:sp>
        <p:sp>
          <p:nvSpPr>
            <p:cNvPr id="104" name="TextBox 104"/>
            <p:cNvSpPr txBox="1"/>
            <p:nvPr/>
          </p:nvSpPr>
          <p:spPr>
            <a:xfrm>
              <a:off x="9410665" y="4025741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105" name="Rectangle 105"/>
            <p:cNvSpPr/>
            <p:nvPr/>
          </p:nvSpPr>
          <p:spPr>
            <a:xfrm>
              <a:off x="9927908" y="3895725"/>
              <a:ext cx="922020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2F4B9A"/>
              </a:solidFill>
            </a:ln>
          </p:spPr>
        </p:sp>
        <p:sp>
          <p:nvSpPr>
            <p:cNvPr id="106" name="TextBox 106"/>
            <p:cNvSpPr txBox="1"/>
            <p:nvPr/>
          </p:nvSpPr>
          <p:spPr>
            <a:xfrm>
              <a:off x="10332685" y="4025741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07" name="TextBox 107"/>
            <p:cNvSpPr txBox="1"/>
            <p:nvPr/>
          </p:nvSpPr>
          <p:spPr>
            <a:xfrm>
              <a:off x="7581624" y="43714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08" name="TextBox 108"/>
            <p:cNvSpPr txBox="1"/>
            <p:nvPr/>
          </p:nvSpPr>
          <p:spPr>
            <a:xfrm>
              <a:off x="8503644" y="43714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09" name="TextBox 109"/>
            <p:cNvSpPr txBox="1"/>
            <p:nvPr/>
          </p:nvSpPr>
          <p:spPr>
            <a:xfrm>
              <a:off x="9425664" y="43714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10" name="TextBox 110"/>
            <p:cNvSpPr txBox="1"/>
            <p:nvPr/>
          </p:nvSpPr>
          <p:spPr>
            <a:xfrm>
              <a:off x="10347684" y="43714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</p:grpSp>
      <p:grpSp>
        <p:nvGrpSpPr>
          <p:cNvPr id="120" name="c2-bullets-2"/>
          <p:cNvGrpSpPr/>
          <p:nvPr/>
        </p:nvGrpSpPr>
        <p:grpSpPr>
          <a:xfrm>
            <a:off x="6474142" y="4726781"/>
            <a:ext cx="4776979" cy="1409510"/>
            <a:chOff x="6474142" y="4726781"/>
            <a:chExt cx="4776979" cy="1409510"/>
          </a:xfrm>
        </p:grpSpPr>
        <p:sp>
          <p:nvSpPr>
            <p:cNvPr id="112" name="Ellipse 112"/>
            <p:cNvSpPr/>
            <p:nvPr/>
          </p:nvSpPr>
          <p:spPr>
            <a:xfrm>
              <a:off x="6474142" y="4778692"/>
              <a:ext cx="57150" cy="571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13" name="TextBox 113"/>
            <p:cNvSpPr txBox="1"/>
            <p:nvPr/>
          </p:nvSpPr>
          <p:spPr>
            <a:xfrm>
              <a:off x="6629591" y="4726781"/>
              <a:ext cx="374354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作业3（d = 4）比尾部作业7 的期限大，接在尾部</a:t>
              </a:r>
            </a:p>
          </p:txBody>
        </p:sp>
        <p:sp>
          <p:nvSpPr>
            <p:cNvPr id="114" name="Ellipse 114"/>
            <p:cNvSpPr/>
            <p:nvPr/>
          </p:nvSpPr>
          <p:spPr>
            <a:xfrm>
              <a:off x="6474142" y="5084445"/>
              <a:ext cx="57150" cy="571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15" name="TextBox 115"/>
            <p:cNvSpPr txBox="1"/>
            <p:nvPr/>
          </p:nvSpPr>
          <p:spPr>
            <a:xfrm>
              <a:off x="6629591" y="5032534"/>
              <a:ext cx="357123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作业4（d = 3）比作业3 的期限小，插到它前面</a:t>
              </a:r>
            </a:p>
          </p:txBody>
        </p:sp>
        <p:sp>
          <p:nvSpPr>
            <p:cNvPr id="116" name="Ellipse 116"/>
            <p:cNvSpPr/>
            <p:nvPr/>
          </p:nvSpPr>
          <p:spPr>
            <a:xfrm>
              <a:off x="6474142" y="5390198"/>
              <a:ext cx="57150" cy="571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17" name="TextBox 117"/>
            <p:cNvSpPr txBox="1"/>
            <p:nvPr/>
          </p:nvSpPr>
          <p:spPr>
            <a:xfrm>
              <a:off x="6629591" y="5338286"/>
              <a:ext cx="418294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作业6（d = 1）一直前移到最前，第 m 位的期限恰为 m</a:t>
              </a:r>
            </a:p>
          </p:txBody>
        </p:sp>
        <p:sp>
          <p:nvSpPr>
            <p:cNvPr id="118" name="Ellipse 118"/>
            <p:cNvSpPr/>
            <p:nvPr/>
          </p:nvSpPr>
          <p:spPr>
            <a:xfrm>
              <a:off x="6474142" y="5696902"/>
              <a:ext cx="57150" cy="571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19" name="TextBox 119"/>
            <p:cNvSpPr txBox="1"/>
            <p:nvPr/>
          </p:nvSpPr>
          <p:spPr>
            <a:xfrm>
              <a:off x="6629591" y="5644039"/>
              <a:ext cx="4621530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作业2、1、5：4 个时间片已满，最大期限是 4，插入哪个都会误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期，舍弃</a:t>
              </a:r>
            </a:p>
          </p:txBody>
        </p:sp>
      </p:grpSp>
      <p:grpSp>
        <p:nvGrpSpPr>
          <p:cNvPr id="12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21" name="TextBox 121"/>
            <p:cNvSpPr txBox="1"/>
            <p:nvPr/>
          </p:nvSpPr>
          <p:spPr>
            <a:xfrm>
              <a:off x="528447" y="6581299"/>
              <a:ext cx="242418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算法设计与分析 · 第5章 贪心法 作业讲解</a:t>
              </a:r>
            </a:p>
          </p:txBody>
        </p:sp>
        <p:sp>
          <p:nvSpPr>
            <p:cNvPr id="122" name="TextBox 122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9271324" cy="909257"/>
            <a:chOff x="520446" y="342900"/>
            <a:chExt cx="927132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987868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8957" y="407194"/>
              <a:ext cx="18358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第5章 作业讲解 · 作业调度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927132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题3 复核：逐步跟踪 r 的回退，穷举 128 个子集最优也是 74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2" name="c1-code-1"/>
          <p:cNvGrpSpPr/>
          <p:nvPr/>
        </p:nvGrpSpPr>
        <p:grpSpPr>
          <a:xfrm>
            <a:off x="533400" y="1524000"/>
            <a:ext cx="5193982" cy="3143250"/>
            <a:chOff x="533400" y="1524000"/>
            <a:chExt cx="5193982" cy="314325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193982" cy="3143250"/>
            </a:xfrm>
            <a:prstGeom prst="roundRect">
              <a:avLst>
                <a:gd name="adj" fmla="val 3030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61797" y="1675924"/>
              <a:ext cx="72017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算法5.4 JS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552450" y="2602230"/>
              <a:ext cx="5155882" cy="176212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0" name="Rectangle 10"/>
            <p:cNvSpPr/>
            <p:nvPr/>
          </p:nvSpPr>
          <p:spPr>
            <a:xfrm>
              <a:off x="552450" y="3129915"/>
              <a:ext cx="5155882" cy="176212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661797" y="1935956"/>
              <a:ext cx="3021838" cy="26576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88"/>
                </a:lnSpc>
              </a:pP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procedure JS(D, J, n, k)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D(0) &lt;- J(0) &lt;- 0; k &lt;- 1; J(1) &lt;- 1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for i &lt;- 2 to n do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r &lt;- k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while D(J(r)) &gt; D(i) and D(J(r)) &lt;&gt; r do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r &lt;- r - 1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repeat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if D(J(r)) &lt;= D(i) and D(i) &gt; r then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for l &lt;- k to r+1 by -1 do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J(l+1) &lt;- J(l)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repeat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J(r+1) &lt;- i; k &lt;- k + 1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endif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repeat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end JS</a:t>
              </a:r>
            </a:p>
          </p:txBody>
        </p:sp>
      </p:grpSp>
      <p:grpSp>
        <p:nvGrpSpPr>
          <p:cNvPr id="19" name="c1-callout-2"/>
          <p:cNvGrpSpPr/>
          <p:nvPr/>
        </p:nvGrpSpPr>
        <p:grpSpPr>
          <a:xfrm>
            <a:off x="533400" y="4832032"/>
            <a:ext cx="5193982" cy="1107758"/>
            <a:chOff x="533400" y="4832032"/>
            <a:chExt cx="5193982" cy="1107758"/>
          </a:xfrm>
        </p:grpSpPr>
        <p:sp>
          <p:nvSpPr>
            <p:cNvPr id="13" name="Rectangle 13"/>
            <p:cNvSpPr/>
            <p:nvPr/>
          </p:nvSpPr>
          <p:spPr>
            <a:xfrm>
              <a:off x="533400" y="4832032"/>
              <a:ext cx="5193982" cy="1107758"/>
            </a:xfrm>
            <a:prstGeom prst="roundRect">
              <a:avLst>
                <a:gd name="adj" fmla="val 10318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17" name="Group 17"/>
            <p:cNvGrpSpPr/>
            <p:nvPr/>
          </p:nvGrpSpPr>
          <p:grpSpPr>
            <a:xfrm>
              <a:off x="738188" y="5286375"/>
              <a:ext cx="200026" cy="200026"/>
              <a:chOff x="738188" y="5286375"/>
              <a:chExt cx="200026" cy="200026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738188" y="5286375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15" name="Freeform 15"/>
              <p:cNvSpPr/>
              <p:nvPr/>
            </p:nvSpPr>
            <p:spPr>
              <a:xfrm>
                <a:off x="838200" y="535305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16" name="Freeform 16"/>
              <p:cNvSpPr/>
              <p:nvPr/>
            </p:nvSpPr>
            <p:spPr>
              <a:xfrm>
                <a:off x="827088" y="5386388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18" name="TextBox 18"/>
            <p:cNvSpPr txBox="1"/>
            <p:nvPr/>
          </p:nvSpPr>
          <p:spPr>
            <a:xfrm>
              <a:off x="1041273" y="5180171"/>
              <a:ext cx="3906266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D(0) = J(0) = 0 是哨兵：作业6 的 r 一路退到 0 时，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D(J(0)) = 0 ≤ 1，循环一定停下，作业6 插在位置 1。</a:t>
              </a:r>
            </a:p>
          </p:txBody>
        </p:sp>
      </p:grpSp>
      <p:grpSp>
        <p:nvGrpSpPr>
          <p:cNvPr id="70" name="c2-table-1"/>
          <p:cNvGrpSpPr/>
          <p:nvPr/>
        </p:nvGrpSpPr>
        <p:grpSpPr>
          <a:xfrm>
            <a:off x="6032182" y="1524000"/>
            <a:ext cx="5626418" cy="2856548"/>
            <a:chOff x="6032182" y="1524000"/>
            <a:chExt cx="5626418" cy="2856548"/>
          </a:xfrm>
        </p:grpSpPr>
        <p:sp>
          <p:nvSpPr>
            <p:cNvPr id="20" name="Rectangle 20"/>
            <p:cNvSpPr/>
            <p:nvPr/>
          </p:nvSpPr>
          <p:spPr>
            <a:xfrm>
              <a:off x="6032182" y="1524000"/>
              <a:ext cx="5626418" cy="381000"/>
            </a:xfrm>
            <a:prstGeom prst="rect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195060" y="1641157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作业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829948" y="1641157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d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383377" y="1641157"/>
              <a:ext cx="56087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r 的取值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9063990" y="1641157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判定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0878621" y="1641157"/>
              <a:ext cx="969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J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126861" y="2023110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745986" y="2023110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195566" y="2023110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8321421" y="2023110"/>
              <a:ext cx="169981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 ≤ 4 且 4 &gt; 1，插在位置 2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0290239" y="2023110"/>
              <a:ext cx="28630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7, 3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6032182" y="2282190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6032182" y="2286952"/>
              <a:ext cx="5626418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126861" y="2404110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745986" y="2404110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7195566" y="2404110"/>
              <a:ext cx="32870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 → 1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8321421" y="2404110"/>
              <a:ext cx="169981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 ≤ 3 且 3 &gt; 1，插在位置 2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10290239" y="2404110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7, 4, 3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6032182" y="2663190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6126861" y="2878455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745986" y="2878455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7195566" y="2785110"/>
              <a:ext cx="650748" cy="3920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70"/>
                </a:lnSpc>
              </a:pPr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 → 2 → 1 →</a:t>
              </a:r>
              <a:br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8321421" y="2878455"/>
              <a:ext cx="169981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 ≤ 1 且 1 &gt; 0，插在位置 1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10290239" y="2878455"/>
              <a:ext cx="68208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6, 7, 4, 3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6032182" y="3231832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5" name="Rectangle 45"/>
            <p:cNvSpPr/>
            <p:nvPr/>
          </p:nvSpPr>
          <p:spPr>
            <a:xfrm>
              <a:off x="6032182" y="3236595"/>
              <a:ext cx="5626418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6126861" y="3353752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6745986" y="3353752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7195566" y="3353752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8236268" y="3246120"/>
              <a:ext cx="1950720" cy="361950"/>
            </a:xfrm>
            <a:prstGeom prst="rect">
              <a:avLst/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8321421" y="3353752"/>
              <a:ext cx="151752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D(J(4)) = 4 &gt; 3，舍弃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10290239" y="3353752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不变</a:t>
              </a:r>
            </a:p>
          </p:txBody>
        </p:sp>
        <p:sp>
          <p:nvSpPr>
            <p:cNvPr id="52" name="Rectangle 52"/>
            <p:cNvSpPr/>
            <p:nvPr/>
          </p:nvSpPr>
          <p:spPr>
            <a:xfrm>
              <a:off x="6032182" y="3612832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6126861" y="3734752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6745986" y="3734752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7195566" y="3734752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8321421" y="3734752"/>
              <a:ext cx="75276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 &gt; 1，舍弃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10290239" y="3734752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不变</a:t>
              </a:r>
            </a:p>
          </p:txBody>
        </p:sp>
        <p:sp>
          <p:nvSpPr>
            <p:cNvPr id="58" name="Rectangle 58"/>
            <p:cNvSpPr/>
            <p:nvPr/>
          </p:nvSpPr>
          <p:spPr>
            <a:xfrm>
              <a:off x="6032182" y="3993832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9" name="Rectangle 59"/>
            <p:cNvSpPr/>
            <p:nvPr/>
          </p:nvSpPr>
          <p:spPr>
            <a:xfrm>
              <a:off x="6032182" y="3998595"/>
              <a:ext cx="5626418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6126861" y="4116705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6745986" y="4116705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7195566" y="4116705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8321421" y="4116705"/>
              <a:ext cx="75276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 &gt; 2，舍弃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10290239" y="4116705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不变</a:t>
              </a:r>
            </a:p>
          </p:txBody>
        </p:sp>
        <p:sp>
          <p:nvSpPr>
            <p:cNvPr id="65" name="Rectangle 65"/>
            <p:cNvSpPr/>
            <p:nvPr/>
          </p:nvSpPr>
          <p:spPr>
            <a:xfrm>
              <a:off x="6032182" y="1524000"/>
              <a:ext cx="5626418" cy="2856548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66" name="Rectangle 66"/>
            <p:cNvSpPr/>
            <p:nvPr/>
          </p:nvSpPr>
          <p:spPr>
            <a:xfrm>
              <a:off x="6646545" y="1524000"/>
              <a:ext cx="9525" cy="285654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7" name="Rectangle 67"/>
            <p:cNvSpPr/>
            <p:nvPr/>
          </p:nvSpPr>
          <p:spPr>
            <a:xfrm>
              <a:off x="7096125" y="1524000"/>
              <a:ext cx="9525" cy="285654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8" name="Rectangle 68"/>
            <p:cNvSpPr/>
            <p:nvPr/>
          </p:nvSpPr>
          <p:spPr>
            <a:xfrm>
              <a:off x="8221980" y="1524000"/>
              <a:ext cx="9525" cy="285654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9" name="Rectangle 69"/>
            <p:cNvSpPr/>
            <p:nvPr/>
          </p:nvSpPr>
          <p:spPr>
            <a:xfrm>
              <a:off x="10190798" y="1524000"/>
              <a:ext cx="9525" cy="285654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79" name="c2-card-2"/>
          <p:cNvGrpSpPr/>
          <p:nvPr/>
        </p:nvGrpSpPr>
        <p:grpSpPr>
          <a:xfrm>
            <a:off x="6032182" y="4545330"/>
            <a:ext cx="5626418" cy="1395412"/>
            <a:chOff x="6032182" y="4545330"/>
            <a:chExt cx="5626418" cy="1395412"/>
          </a:xfrm>
        </p:grpSpPr>
        <p:sp>
          <p:nvSpPr>
            <p:cNvPr id="71" name="Rectangle 71"/>
            <p:cNvSpPr/>
            <p:nvPr/>
          </p:nvSpPr>
          <p:spPr>
            <a:xfrm>
              <a:off x="6032182" y="4545330"/>
              <a:ext cx="5626418" cy="1395412"/>
            </a:xfrm>
            <a:prstGeom prst="roundRect">
              <a:avLst>
                <a:gd name="adj" fmla="val 955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72" name="Rectangle 72"/>
            <p:cNvSpPr/>
            <p:nvPr/>
          </p:nvSpPr>
          <p:spPr>
            <a:xfrm>
              <a:off x="6041708" y="4678680"/>
              <a:ext cx="47625" cy="1128712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73" name="Ellipse 73"/>
            <p:cNvSpPr/>
            <p:nvPr/>
          </p:nvSpPr>
          <p:spPr>
            <a:xfrm>
              <a:off x="6260782" y="4799648"/>
              <a:ext cx="57150" cy="571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74" name="TextBox 74"/>
            <p:cNvSpPr txBox="1"/>
            <p:nvPr/>
          </p:nvSpPr>
          <p:spPr>
            <a:xfrm>
              <a:off x="6416230" y="4746784"/>
              <a:ext cx="488682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 = 4 时 D(J(4)) = 4 = r，while 立即停：位置 4 以前都已排满</a:t>
              </a:r>
            </a:p>
          </p:txBody>
        </p:sp>
        <p:sp>
          <p:nvSpPr>
            <p:cNvPr id="75" name="Ellipse 75"/>
            <p:cNvSpPr/>
            <p:nvPr/>
          </p:nvSpPr>
          <p:spPr>
            <a:xfrm>
              <a:off x="6260782" y="5084445"/>
              <a:ext cx="57150" cy="571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76" name="TextBox 76"/>
            <p:cNvSpPr txBox="1"/>
            <p:nvPr/>
          </p:nvSpPr>
          <p:spPr>
            <a:xfrm>
              <a:off x="6416230" y="5032534"/>
              <a:ext cx="4605274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脚本穷举 2⁷ 个子集，最优效益 74，最优集合 {3, 4, 6, 7}，与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JS 一致</a:t>
              </a:r>
            </a:p>
          </p:txBody>
        </p:sp>
        <p:sp>
          <p:nvSpPr>
            <p:cNvPr id="77" name="Ellipse 77"/>
            <p:cNvSpPr/>
            <p:nvPr/>
          </p:nvSpPr>
          <p:spPr>
            <a:xfrm>
              <a:off x="6260782" y="5612130"/>
              <a:ext cx="57150" cy="571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78" name="TextBox 78"/>
            <p:cNvSpPr txBox="1"/>
            <p:nvPr/>
          </p:nvSpPr>
          <p:spPr>
            <a:xfrm>
              <a:off x="6416230" y="5560219"/>
              <a:ext cx="498035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按 while D(J(r)) &gt; max(D(i), r) 的写法执行，每一步结果相同</a:t>
              </a:r>
            </a:p>
          </p:txBody>
        </p:sp>
      </p:grpSp>
      <p:grpSp>
        <p:nvGrpSpPr>
          <p:cNvPr id="8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80" name="TextBox 80"/>
            <p:cNvSpPr txBox="1"/>
            <p:nvPr/>
          </p:nvSpPr>
          <p:spPr>
            <a:xfrm>
              <a:off x="528447" y="6581299"/>
              <a:ext cx="242418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算法设计与分析 · 第5章 贪心法 作业讲解</a:t>
              </a:r>
            </a:p>
          </p:txBody>
        </p:sp>
        <p:sp>
          <p:nvSpPr>
            <p:cNvPr id="81" name="TextBox 81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9094841" cy="909257"/>
            <a:chOff x="520446" y="342900"/>
            <a:chExt cx="9094841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987868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8957" y="407194"/>
              <a:ext cx="18358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第5章 作业讲解 · 作业调度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909484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题4：FJS 先排序、定 b = 6，再按效益从高到低找空时间片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3" name="c1-card-1"/>
          <p:cNvGrpSpPr/>
          <p:nvPr/>
        </p:nvGrpSpPr>
        <p:grpSpPr>
          <a:xfrm>
            <a:off x="533400" y="1524000"/>
            <a:ext cx="5410200" cy="1644968"/>
            <a:chOff x="533400" y="1524000"/>
            <a:chExt cx="5410200" cy="1644968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1644968"/>
            </a:xfrm>
            <a:prstGeom prst="roundRect">
              <a:avLst>
                <a:gd name="adj" fmla="val 810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378268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58190" y="1710690"/>
              <a:ext cx="530542" cy="23812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48010" y="1743551"/>
              <a:ext cx="34994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第4题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51332" y="2054542"/>
              <a:ext cx="4578144" cy="4954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22"/>
                </a:lnSpc>
              </a:pPr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 = 7，p = (40, 12, 30, 20, 7, 15, 10)，d = (2, 4, 4,</a:t>
              </a:r>
              <a:br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3, 2, 1, 6)，用 FJS（算法5.5）求最优解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52475" y="2599849"/>
              <a:ext cx="4669790" cy="4276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35"/>
                </a:lnSpc>
              </a:pPr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思路：时间片 1~b 各是一个结点。F(根) 记这棵树能用的最晚空时间片，F</a:t>
              </a:r>
              <a:br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= 0 表示没有空位。</a:t>
              </a:r>
            </a:p>
          </p:txBody>
        </p:sp>
      </p:grpSp>
      <p:grpSp>
        <p:nvGrpSpPr>
          <p:cNvPr id="58" name="c1-table-2"/>
          <p:cNvGrpSpPr/>
          <p:nvPr/>
        </p:nvGrpSpPr>
        <p:grpSpPr>
          <a:xfrm>
            <a:off x="533400" y="3339465"/>
            <a:ext cx="5410200" cy="1600200"/>
            <a:chOff x="533400" y="3339465"/>
            <a:chExt cx="5410200" cy="1600200"/>
          </a:xfrm>
        </p:grpSpPr>
        <p:sp>
          <p:nvSpPr>
            <p:cNvPr id="14" name="Rectangle 14"/>
            <p:cNvSpPr/>
            <p:nvPr/>
          </p:nvSpPr>
          <p:spPr>
            <a:xfrm>
              <a:off x="533400" y="3339465"/>
              <a:ext cx="5410200" cy="400050"/>
            </a:xfrm>
            <a:prstGeom prst="rect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46201" y="3460909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考虑次序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842414" y="346090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2478684" y="346090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3114954" y="346090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3750271" y="346090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386541" y="346090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5022811" y="346090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5617171" y="346090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30555" y="386095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作业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844487" y="3860959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2480757" y="3860959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3117027" y="3860959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3752345" y="3860959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4388615" y="3860959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5024885" y="3860959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5619245" y="3860959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533400" y="413480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533400" y="4139565"/>
              <a:ext cx="5410200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30555" y="426100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效益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1803024" y="4261009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40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2439294" y="4261009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30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3075564" y="4261009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20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3710882" y="4261009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15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4347152" y="4261009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12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4983422" y="4261009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5619245" y="4261009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533400" y="453485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630555" y="466105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期限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1844487" y="4661059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2480757" y="4661059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3117027" y="4661059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3752345" y="4661059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4388615" y="4661059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5024885" y="4661059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5619245" y="4661059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533400" y="3339465"/>
              <a:ext cx="5410200" cy="160020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51" name="Rectangle 51"/>
            <p:cNvSpPr/>
            <p:nvPr/>
          </p:nvSpPr>
          <p:spPr>
            <a:xfrm>
              <a:off x="1569720" y="3339465"/>
              <a:ext cx="9525" cy="16002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2" name="Rectangle 52"/>
            <p:cNvSpPr/>
            <p:nvPr/>
          </p:nvSpPr>
          <p:spPr>
            <a:xfrm>
              <a:off x="2205038" y="3339465"/>
              <a:ext cx="9525" cy="16002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3" name="Rectangle 53"/>
            <p:cNvSpPr/>
            <p:nvPr/>
          </p:nvSpPr>
          <p:spPr>
            <a:xfrm>
              <a:off x="2841308" y="3339465"/>
              <a:ext cx="9525" cy="16002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4" name="Rectangle 54"/>
            <p:cNvSpPr/>
            <p:nvPr/>
          </p:nvSpPr>
          <p:spPr>
            <a:xfrm>
              <a:off x="3477578" y="3339465"/>
              <a:ext cx="9525" cy="16002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5" name="Rectangle 55"/>
            <p:cNvSpPr/>
            <p:nvPr/>
          </p:nvSpPr>
          <p:spPr>
            <a:xfrm>
              <a:off x="4112895" y="3339465"/>
              <a:ext cx="9525" cy="16002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6" name="Rectangle 56"/>
            <p:cNvSpPr/>
            <p:nvPr/>
          </p:nvSpPr>
          <p:spPr>
            <a:xfrm>
              <a:off x="4749165" y="3339465"/>
              <a:ext cx="9525" cy="16002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7" name="Rectangle 57"/>
            <p:cNvSpPr/>
            <p:nvPr/>
          </p:nvSpPr>
          <p:spPr>
            <a:xfrm>
              <a:off x="5385435" y="3339465"/>
              <a:ext cx="9525" cy="16002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65" name="c1-callout-3"/>
          <p:cNvGrpSpPr/>
          <p:nvPr/>
        </p:nvGrpSpPr>
        <p:grpSpPr>
          <a:xfrm>
            <a:off x="533400" y="5109210"/>
            <a:ext cx="5410200" cy="1214438"/>
            <a:chOff x="533400" y="5109210"/>
            <a:chExt cx="5410200" cy="1214438"/>
          </a:xfrm>
        </p:grpSpPr>
        <p:sp>
          <p:nvSpPr>
            <p:cNvPr id="59" name="Rectangle 59"/>
            <p:cNvSpPr/>
            <p:nvPr/>
          </p:nvSpPr>
          <p:spPr>
            <a:xfrm>
              <a:off x="533400" y="5109210"/>
              <a:ext cx="5410200" cy="1214438"/>
            </a:xfrm>
            <a:prstGeom prst="roundRect">
              <a:avLst>
                <a:gd name="adj" fmla="val 9412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63" name="Group 63"/>
            <p:cNvGrpSpPr/>
            <p:nvPr/>
          </p:nvGrpSpPr>
          <p:grpSpPr>
            <a:xfrm>
              <a:off x="738188" y="5615940"/>
              <a:ext cx="200026" cy="200025"/>
              <a:chOff x="738188" y="5615940"/>
              <a:chExt cx="200026" cy="200025"/>
            </a:xfrm>
          </p:grpSpPr>
          <p:sp>
            <p:nvSpPr>
              <p:cNvPr id="60" name="Freeform 60"/>
              <p:cNvSpPr/>
              <p:nvPr/>
            </p:nvSpPr>
            <p:spPr>
              <a:xfrm>
                <a:off x="738188" y="5615940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61" name="Freeform 61"/>
              <p:cNvSpPr/>
              <p:nvPr/>
            </p:nvSpPr>
            <p:spPr>
              <a:xfrm>
                <a:off x="777926" y="5660390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62" name="Freeform 62"/>
              <p:cNvSpPr/>
              <p:nvPr/>
            </p:nvSpPr>
            <p:spPr>
              <a:xfrm>
                <a:off x="812642" y="5771516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64" name="TextBox 64"/>
            <p:cNvSpPr txBox="1"/>
            <p:nvPr/>
          </p:nvSpPr>
          <p:spPr>
            <a:xfrm>
              <a:off x="1040892" y="5373052"/>
              <a:ext cx="4505706" cy="7612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b = min{n, max dᵢ} = min{7, 6} = 6，结点 0~6 初始 F(i)</a:t>
              </a:r>
              <a:br/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= i、PARENT(i) = −1。第 12 行后新根的 F 等于 F(l)：新根</a:t>
              </a:r>
              <a:br/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是 l 时 F(l) 没变，是 j 时刚赋了值。</a:t>
              </a:r>
            </a:p>
          </p:txBody>
        </p:sp>
      </p:grpSp>
      <p:grpSp>
        <p:nvGrpSpPr>
          <p:cNvPr id="71" name="c2-code-1"/>
          <p:cNvGrpSpPr/>
          <p:nvPr/>
        </p:nvGrpSpPr>
        <p:grpSpPr>
          <a:xfrm>
            <a:off x="6248400" y="1524000"/>
            <a:ext cx="5410200" cy="3143250"/>
            <a:chOff x="6248400" y="1524000"/>
            <a:chExt cx="5410200" cy="3143250"/>
          </a:xfrm>
        </p:grpSpPr>
        <p:sp>
          <p:nvSpPr>
            <p:cNvPr id="66" name="Rectangle 66"/>
            <p:cNvSpPr/>
            <p:nvPr/>
          </p:nvSpPr>
          <p:spPr>
            <a:xfrm>
              <a:off x="6248400" y="1524000"/>
              <a:ext cx="5410200" cy="3143250"/>
            </a:xfrm>
            <a:prstGeom prst="roundRect">
              <a:avLst>
                <a:gd name="adj" fmla="val 3030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67" name="TextBox 67"/>
            <p:cNvSpPr txBox="1"/>
            <p:nvPr/>
          </p:nvSpPr>
          <p:spPr>
            <a:xfrm>
              <a:off x="6376797" y="1675924"/>
              <a:ext cx="800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算法5.5 FJS</a:t>
              </a:r>
            </a:p>
          </p:txBody>
        </p:sp>
        <p:sp>
          <p:nvSpPr>
            <p:cNvPr id="68" name="Rectangle 68"/>
            <p:cNvSpPr/>
            <p:nvPr/>
          </p:nvSpPr>
          <p:spPr>
            <a:xfrm>
              <a:off x="6267450" y="3129915"/>
              <a:ext cx="5372100" cy="176212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69" name="Rectangle 69"/>
            <p:cNvSpPr/>
            <p:nvPr/>
          </p:nvSpPr>
          <p:spPr>
            <a:xfrm>
              <a:off x="6267450" y="3481388"/>
              <a:ext cx="5372100" cy="176212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70" name="TextBox 70"/>
            <p:cNvSpPr txBox="1"/>
            <p:nvPr/>
          </p:nvSpPr>
          <p:spPr>
            <a:xfrm>
              <a:off x="6376797" y="1935956"/>
              <a:ext cx="2063496" cy="26576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88"/>
                </a:lnSpc>
              </a:pP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procedure FJS(D, n, b, J, k)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for i &lt;- 0 to b do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F(i) &lt;- i; PARENT(i) &lt;- -1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repeat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k &lt;- 0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for i &lt;- 1 to n do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j &lt;- FIND(min(n, D(i)))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if F(j) &lt;&gt; 0 then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k &lt;- k + 1; J(k) &lt;- i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l &lt;- FIND(F(j) - 1)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call UNION(l, j)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F(j) &lt;- F(l)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endif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repeat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end FJS</a:t>
              </a:r>
            </a:p>
          </p:txBody>
        </p:sp>
      </p:grpSp>
      <p:grpSp>
        <p:nvGrpSpPr>
          <p:cNvPr id="79" name="c2-card-2"/>
          <p:cNvGrpSpPr/>
          <p:nvPr/>
        </p:nvGrpSpPr>
        <p:grpSpPr>
          <a:xfrm>
            <a:off x="6248400" y="4837748"/>
            <a:ext cx="5410200" cy="1485900"/>
            <a:chOff x="6248400" y="4837748"/>
            <a:chExt cx="5410200" cy="1485900"/>
          </a:xfrm>
        </p:grpSpPr>
        <p:sp>
          <p:nvSpPr>
            <p:cNvPr id="72" name="Rectangle 72"/>
            <p:cNvSpPr/>
            <p:nvPr/>
          </p:nvSpPr>
          <p:spPr>
            <a:xfrm>
              <a:off x="6248400" y="4837748"/>
              <a:ext cx="5410200" cy="1485900"/>
            </a:xfrm>
            <a:prstGeom prst="roundRect">
              <a:avLst>
                <a:gd name="adj" fmla="val 8974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73" name="Rectangle 73"/>
            <p:cNvSpPr/>
            <p:nvPr/>
          </p:nvSpPr>
          <p:spPr>
            <a:xfrm>
              <a:off x="6435090" y="5024438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243B7A"/>
            </a:solidFill>
            <a:ln>
              <a:noFill/>
            </a:ln>
          </p:spPr>
        </p:sp>
        <p:sp>
          <p:nvSpPr>
            <p:cNvPr id="74" name="TextBox 74"/>
            <p:cNvSpPr txBox="1"/>
            <p:nvPr/>
          </p:nvSpPr>
          <p:spPr>
            <a:xfrm>
              <a:off x="6527762" y="5057299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规则</a:t>
              </a:r>
            </a:p>
          </p:txBody>
        </p:sp>
        <p:sp>
          <p:nvSpPr>
            <p:cNvPr id="75" name="Ellipse 75"/>
            <p:cNvSpPr/>
            <p:nvPr/>
          </p:nvSpPr>
          <p:spPr>
            <a:xfrm>
              <a:off x="6443662" y="5424488"/>
              <a:ext cx="59055" cy="5905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76" name="TextBox 76"/>
            <p:cNvSpPr txBox="1"/>
            <p:nvPr/>
          </p:nvSpPr>
          <p:spPr>
            <a:xfrm>
              <a:off x="6599682" y="5368290"/>
              <a:ext cx="464286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UNION 按结点数加权：少的挂到多的下面，一样多时第二个参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数挂到第一个下面</a:t>
              </a:r>
            </a:p>
          </p:txBody>
        </p:sp>
        <p:sp>
          <p:nvSpPr>
            <p:cNvPr id="77" name="Ellipse 77"/>
            <p:cNvSpPr/>
            <p:nvPr/>
          </p:nvSpPr>
          <p:spPr>
            <a:xfrm>
              <a:off x="6443662" y="5981700"/>
              <a:ext cx="59055" cy="5905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78" name="TextBox 78"/>
            <p:cNvSpPr txBox="1"/>
            <p:nvPr/>
          </p:nvSpPr>
          <p:spPr>
            <a:xfrm>
              <a:off x="6599682" y="5925502"/>
              <a:ext cx="371703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FIND 带路径压缩：途经的结点直接改挂到根上</a:t>
              </a:r>
            </a:p>
          </p:txBody>
        </p:sp>
      </p:grpSp>
      <p:grpSp>
        <p:nvGrpSpPr>
          <p:cNvPr id="8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80" name="TextBox 80"/>
            <p:cNvSpPr txBox="1"/>
            <p:nvPr/>
          </p:nvSpPr>
          <p:spPr>
            <a:xfrm>
              <a:off x="528447" y="6581299"/>
              <a:ext cx="242418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算法设计与分析 · 第5章 贪心法 作业讲解</a:t>
              </a:r>
            </a:p>
          </p:txBody>
        </p:sp>
        <p:sp>
          <p:nvSpPr>
            <p:cNvPr id="81" name="TextBox 81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11035594" cy="909257"/>
            <a:chOff x="520446" y="342900"/>
            <a:chExt cx="1103559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987868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8957" y="407194"/>
              <a:ext cx="18358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第5章 作业讲解 · 作业调度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1103559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题4 执行：收下作业 1、3、4、6、7，J = {1, 3, 4, 6, 7}，效益 115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70" name="c1-table-1"/>
          <p:cNvGrpSpPr/>
          <p:nvPr/>
        </p:nvGrpSpPr>
        <p:grpSpPr>
          <a:xfrm>
            <a:off x="528447" y="1524000"/>
            <a:ext cx="5415153" cy="3315366"/>
            <a:chOff x="528447" y="1524000"/>
            <a:chExt cx="5415153" cy="3315366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381000"/>
            </a:xfrm>
            <a:prstGeom prst="rect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711517" y="1641157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作业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353073" y="1641157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d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762227" y="1641157"/>
              <a:ext cx="78846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j = FIND(d)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2868145" y="1641157"/>
              <a:ext cx="30827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F(j)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3415437" y="1641157"/>
              <a:ext cx="126918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l = FIND(F(j) − 1)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5201602" y="1641157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结果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812053" y="2023110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355017" y="2023110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2112254" y="2023110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2978077" y="2023110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005824" y="2023110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4847654" y="2023110"/>
              <a:ext cx="69622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收下，片 2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533400" y="2282190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533400" y="2286952"/>
              <a:ext cx="5410200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812053" y="2404110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355017" y="2404110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2112254" y="2404110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2978077" y="2404110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4005824" y="2404110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4847654" y="2404110"/>
              <a:ext cx="69622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收下，片 4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533400" y="2663190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812053" y="2785110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355017" y="2785110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2112254" y="2785110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2978077" y="2785110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4005824" y="2785110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4847654" y="2785110"/>
              <a:ext cx="69622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收下，片 3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533400" y="304514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6" name="Rectangle 36"/>
            <p:cNvSpPr/>
            <p:nvPr/>
          </p:nvSpPr>
          <p:spPr>
            <a:xfrm>
              <a:off x="533400" y="3049905"/>
              <a:ext cx="5410200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812053" y="3167062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1355017" y="3167062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2112254" y="3167062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2978077" y="3167062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4005824" y="3167062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4847654" y="3167062"/>
              <a:ext cx="69622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收下，片 1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533400" y="342614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812053" y="3548062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1355017" y="3548062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2112254" y="3548062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2978077" y="3548062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4847654" y="3548062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舍弃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533400" y="380714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0" name="Rectangle 50"/>
            <p:cNvSpPr/>
            <p:nvPr/>
          </p:nvSpPr>
          <p:spPr>
            <a:xfrm>
              <a:off x="533400" y="3811905"/>
              <a:ext cx="5410200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812053" y="3930015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1355017" y="3930015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2112254" y="3930015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2978077" y="3930015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4005824" y="3930015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4847654" y="3930015"/>
              <a:ext cx="69622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收下，片 6</a:t>
              </a:r>
            </a:p>
          </p:txBody>
        </p:sp>
        <p:sp>
          <p:nvSpPr>
            <p:cNvPr id="57" name="Rectangle 57"/>
            <p:cNvSpPr/>
            <p:nvPr/>
          </p:nvSpPr>
          <p:spPr>
            <a:xfrm>
              <a:off x="533400" y="4189095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812053" y="4311015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1355017" y="4311015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2112254" y="4311015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2978077" y="4311015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4847654" y="4311015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舍弃</a:t>
              </a:r>
            </a:p>
          </p:txBody>
        </p:sp>
        <p:sp>
          <p:nvSpPr>
            <p:cNvPr id="63" name="Rectangle 63"/>
            <p:cNvSpPr/>
            <p:nvPr/>
          </p:nvSpPr>
          <p:spPr>
            <a:xfrm>
              <a:off x="533400" y="1524000"/>
              <a:ext cx="5410200" cy="3050858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64" name="Rectangle 64"/>
            <p:cNvSpPr/>
            <p:nvPr/>
          </p:nvSpPr>
          <p:spPr>
            <a:xfrm>
              <a:off x="1178242" y="1524000"/>
              <a:ext cx="9525" cy="305085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5" name="Rectangle 65"/>
            <p:cNvSpPr/>
            <p:nvPr/>
          </p:nvSpPr>
          <p:spPr>
            <a:xfrm>
              <a:off x="1610678" y="1524000"/>
              <a:ext cx="9525" cy="305085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6" name="Rectangle 66"/>
            <p:cNvSpPr/>
            <p:nvPr/>
          </p:nvSpPr>
          <p:spPr>
            <a:xfrm>
              <a:off x="2692718" y="1524000"/>
              <a:ext cx="9525" cy="305085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7" name="Rectangle 67"/>
            <p:cNvSpPr/>
            <p:nvPr/>
          </p:nvSpPr>
          <p:spPr>
            <a:xfrm>
              <a:off x="3342322" y="1524000"/>
              <a:ext cx="9525" cy="305085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8" name="Rectangle 68"/>
            <p:cNvSpPr/>
            <p:nvPr/>
          </p:nvSpPr>
          <p:spPr>
            <a:xfrm>
              <a:off x="4748212" y="1524000"/>
              <a:ext cx="9525" cy="305085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9" name="TextBox 69"/>
            <p:cNvSpPr txBox="1"/>
            <p:nvPr/>
          </p:nvSpPr>
          <p:spPr>
            <a:xfrm>
              <a:off x="528447" y="4648676"/>
              <a:ext cx="329465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作业2 从 4 出发，FIND 沿 4 → 3 → 1 找到根 1，F(1) = 0</a:t>
              </a:r>
            </a:p>
          </p:txBody>
        </p:sp>
      </p:grpSp>
      <p:grpSp>
        <p:nvGrpSpPr>
          <p:cNvPr id="76" name="c1-callout-2"/>
          <p:cNvGrpSpPr/>
          <p:nvPr/>
        </p:nvGrpSpPr>
        <p:grpSpPr>
          <a:xfrm>
            <a:off x="533400" y="4965382"/>
            <a:ext cx="5410200" cy="1386840"/>
            <a:chOff x="533400" y="4965382"/>
            <a:chExt cx="5410200" cy="1386840"/>
          </a:xfrm>
        </p:grpSpPr>
        <p:sp>
          <p:nvSpPr>
            <p:cNvPr id="71" name="Rectangle 71"/>
            <p:cNvSpPr/>
            <p:nvPr/>
          </p:nvSpPr>
          <p:spPr>
            <a:xfrm>
              <a:off x="533400" y="4965382"/>
              <a:ext cx="5410200" cy="1386840"/>
            </a:xfrm>
            <a:prstGeom prst="roundRect">
              <a:avLst>
                <a:gd name="adj" fmla="val 8242"/>
              </a:avLst>
            </a:prstGeom>
            <a:solidFill>
              <a:srgbClr val="2F4B9A"/>
            </a:solidFill>
            <a:ln>
              <a:noFill/>
            </a:ln>
          </p:spPr>
        </p:sp>
        <p:grpSp>
          <p:nvGrpSpPr>
            <p:cNvPr id="74" name="Group 74"/>
            <p:cNvGrpSpPr/>
            <p:nvPr/>
          </p:nvGrpSpPr>
          <p:grpSpPr>
            <a:xfrm>
              <a:off x="738188" y="5558792"/>
              <a:ext cx="200023" cy="200023"/>
              <a:chOff x="738188" y="5558792"/>
              <a:chExt cx="200023" cy="200023"/>
            </a:xfrm>
          </p:grpSpPr>
          <p:sp>
            <p:nvSpPr>
              <p:cNvPr id="72" name="Freeform 72"/>
              <p:cNvSpPr/>
              <p:nvPr/>
            </p:nvSpPr>
            <p:spPr>
              <a:xfrm>
                <a:off x="738188" y="5558792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73" name="Freeform 73"/>
              <p:cNvSpPr/>
              <p:nvPr/>
            </p:nvSpPr>
            <p:spPr>
              <a:xfrm>
                <a:off x="871538" y="562546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75" name="TextBox 75"/>
            <p:cNvSpPr txBox="1"/>
            <p:nvPr/>
          </p:nvSpPr>
          <p:spPr>
            <a:xfrm>
              <a:off x="1041273" y="5452586"/>
              <a:ext cx="4458970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最优解 J = {1, 3, 4, 6, 7}，按时间片 1~6 依次处理作业 6、</a:t>
              </a:r>
              <a:br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1、4、3、（空）、7，效益 40 + 30 + 20 + 15 + 10 = 115。</a:t>
              </a:r>
            </a:p>
          </p:txBody>
        </p:sp>
      </p:grpSp>
      <p:grpSp>
        <p:nvGrpSpPr>
          <p:cNvPr id="165" name="c2-table-1"/>
          <p:cNvGrpSpPr/>
          <p:nvPr/>
        </p:nvGrpSpPr>
        <p:grpSpPr>
          <a:xfrm>
            <a:off x="6243447" y="1524000"/>
            <a:ext cx="5415153" cy="3315366"/>
            <a:chOff x="6243447" y="1524000"/>
            <a:chExt cx="5415153" cy="3315366"/>
          </a:xfrm>
        </p:grpSpPr>
        <p:sp>
          <p:nvSpPr>
            <p:cNvPr id="77" name="Rectangle 77"/>
            <p:cNvSpPr/>
            <p:nvPr/>
          </p:nvSpPr>
          <p:spPr>
            <a:xfrm>
              <a:off x="6248400" y="1524000"/>
              <a:ext cx="5410200" cy="381000"/>
            </a:xfrm>
            <a:prstGeom prst="rect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78" name="TextBox 78"/>
            <p:cNvSpPr txBox="1"/>
            <p:nvPr/>
          </p:nvSpPr>
          <p:spPr>
            <a:xfrm>
              <a:off x="6455092" y="1641157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之后</a:t>
              </a:r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7113552" y="1641157"/>
              <a:ext cx="35567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F(0)</a:t>
              </a:r>
            </a:p>
          </p:txBody>
        </p:sp>
        <p:sp>
          <p:nvSpPr>
            <p:cNvPr id="80" name="TextBox 80"/>
            <p:cNvSpPr txBox="1"/>
            <p:nvPr/>
          </p:nvSpPr>
          <p:spPr>
            <a:xfrm>
              <a:off x="7786017" y="1641157"/>
              <a:ext cx="35567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F(1)</a:t>
              </a:r>
            </a:p>
          </p:txBody>
        </p:sp>
        <p:sp>
          <p:nvSpPr>
            <p:cNvPr id="81" name="TextBox 81"/>
            <p:cNvSpPr txBox="1"/>
            <p:nvPr/>
          </p:nvSpPr>
          <p:spPr>
            <a:xfrm>
              <a:off x="8457529" y="1641157"/>
              <a:ext cx="35567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F(2)</a:t>
              </a:r>
            </a:p>
          </p:txBody>
        </p:sp>
        <p:sp>
          <p:nvSpPr>
            <p:cNvPr id="82" name="TextBox 82"/>
            <p:cNvSpPr txBox="1"/>
            <p:nvPr/>
          </p:nvSpPr>
          <p:spPr>
            <a:xfrm>
              <a:off x="9129042" y="1641157"/>
              <a:ext cx="35567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F(3)</a:t>
              </a:r>
            </a:p>
          </p:txBody>
        </p:sp>
        <p:sp>
          <p:nvSpPr>
            <p:cNvPr id="83" name="TextBox 83"/>
            <p:cNvSpPr txBox="1"/>
            <p:nvPr/>
          </p:nvSpPr>
          <p:spPr>
            <a:xfrm>
              <a:off x="9801507" y="1641157"/>
              <a:ext cx="35567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F(4)</a:t>
              </a:r>
            </a:p>
          </p:txBody>
        </p:sp>
        <p:sp>
          <p:nvSpPr>
            <p:cNvPr id="84" name="TextBox 84"/>
            <p:cNvSpPr txBox="1"/>
            <p:nvPr/>
          </p:nvSpPr>
          <p:spPr>
            <a:xfrm>
              <a:off x="10473019" y="1641157"/>
              <a:ext cx="35567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F(5)</a:t>
              </a:r>
            </a:p>
          </p:txBody>
        </p:sp>
        <p:sp>
          <p:nvSpPr>
            <p:cNvPr id="85" name="TextBox 85"/>
            <p:cNvSpPr txBox="1"/>
            <p:nvPr/>
          </p:nvSpPr>
          <p:spPr>
            <a:xfrm>
              <a:off x="11144532" y="1641157"/>
              <a:ext cx="35567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F(6)</a:t>
              </a:r>
            </a:p>
          </p:txBody>
        </p:sp>
        <p:sp>
          <p:nvSpPr>
            <p:cNvPr id="86" name="TextBox 86"/>
            <p:cNvSpPr txBox="1"/>
            <p:nvPr/>
          </p:nvSpPr>
          <p:spPr>
            <a:xfrm>
              <a:off x="6343079" y="202311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初始</a:t>
              </a:r>
            </a:p>
          </p:txBody>
        </p:sp>
        <p:sp>
          <p:nvSpPr>
            <p:cNvPr id="87" name="TextBox 87"/>
            <p:cNvSpPr txBox="1"/>
            <p:nvPr/>
          </p:nvSpPr>
          <p:spPr>
            <a:xfrm>
              <a:off x="7247182" y="2023110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88" name="TextBox 88"/>
            <p:cNvSpPr txBox="1"/>
            <p:nvPr/>
          </p:nvSpPr>
          <p:spPr>
            <a:xfrm>
              <a:off x="7919647" y="2023110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89" name="TextBox 89"/>
            <p:cNvSpPr txBox="1"/>
            <p:nvPr/>
          </p:nvSpPr>
          <p:spPr>
            <a:xfrm>
              <a:off x="8591159" y="2023110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90" name="TextBox 90"/>
            <p:cNvSpPr txBox="1"/>
            <p:nvPr/>
          </p:nvSpPr>
          <p:spPr>
            <a:xfrm>
              <a:off x="9262672" y="2023110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91" name="TextBox 91"/>
            <p:cNvSpPr txBox="1"/>
            <p:nvPr/>
          </p:nvSpPr>
          <p:spPr>
            <a:xfrm>
              <a:off x="9935137" y="2023110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92" name="TextBox 92"/>
            <p:cNvSpPr txBox="1"/>
            <p:nvPr/>
          </p:nvSpPr>
          <p:spPr>
            <a:xfrm>
              <a:off x="10606649" y="2023110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93" name="TextBox 93"/>
            <p:cNvSpPr txBox="1"/>
            <p:nvPr/>
          </p:nvSpPr>
          <p:spPr>
            <a:xfrm>
              <a:off x="11278162" y="2023110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94" name="Rectangle 94"/>
            <p:cNvSpPr/>
            <p:nvPr/>
          </p:nvSpPr>
          <p:spPr>
            <a:xfrm>
              <a:off x="6248400" y="2282190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95" name="Rectangle 95"/>
            <p:cNvSpPr/>
            <p:nvPr/>
          </p:nvSpPr>
          <p:spPr>
            <a:xfrm>
              <a:off x="6248400" y="2286952"/>
              <a:ext cx="5410200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96" name="TextBox 96"/>
            <p:cNvSpPr txBox="1"/>
            <p:nvPr/>
          </p:nvSpPr>
          <p:spPr>
            <a:xfrm>
              <a:off x="6343079" y="2404110"/>
              <a:ext cx="37500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作业1</a:t>
              </a:r>
            </a:p>
          </p:txBody>
        </p:sp>
        <p:sp>
          <p:nvSpPr>
            <p:cNvPr id="97" name="TextBox 97"/>
            <p:cNvSpPr txBox="1"/>
            <p:nvPr/>
          </p:nvSpPr>
          <p:spPr>
            <a:xfrm>
              <a:off x="7247182" y="2404110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98" name="TextBox 98"/>
            <p:cNvSpPr txBox="1"/>
            <p:nvPr/>
          </p:nvSpPr>
          <p:spPr>
            <a:xfrm>
              <a:off x="7919647" y="2404110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99" name="Rectangle 99"/>
            <p:cNvSpPr/>
            <p:nvPr/>
          </p:nvSpPr>
          <p:spPr>
            <a:xfrm>
              <a:off x="8308658" y="2296478"/>
              <a:ext cx="652462" cy="361950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00" name="TextBox 100"/>
            <p:cNvSpPr txBox="1"/>
            <p:nvPr/>
          </p:nvSpPr>
          <p:spPr>
            <a:xfrm>
              <a:off x="8591159" y="2404110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01" name="TextBox 101"/>
            <p:cNvSpPr txBox="1"/>
            <p:nvPr/>
          </p:nvSpPr>
          <p:spPr>
            <a:xfrm>
              <a:off x="9262672" y="2404110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02" name="TextBox 102"/>
            <p:cNvSpPr txBox="1"/>
            <p:nvPr/>
          </p:nvSpPr>
          <p:spPr>
            <a:xfrm>
              <a:off x="9935137" y="2404110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103" name="TextBox 103"/>
            <p:cNvSpPr txBox="1"/>
            <p:nvPr/>
          </p:nvSpPr>
          <p:spPr>
            <a:xfrm>
              <a:off x="10606649" y="2404110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104" name="TextBox 104"/>
            <p:cNvSpPr txBox="1"/>
            <p:nvPr/>
          </p:nvSpPr>
          <p:spPr>
            <a:xfrm>
              <a:off x="11278162" y="2404110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105" name="Rectangle 105"/>
            <p:cNvSpPr/>
            <p:nvPr/>
          </p:nvSpPr>
          <p:spPr>
            <a:xfrm>
              <a:off x="6248400" y="2663190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06" name="TextBox 106"/>
            <p:cNvSpPr txBox="1"/>
            <p:nvPr/>
          </p:nvSpPr>
          <p:spPr>
            <a:xfrm>
              <a:off x="6343079" y="2785110"/>
              <a:ext cx="37500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作业3</a:t>
              </a:r>
            </a:p>
          </p:txBody>
        </p:sp>
        <p:sp>
          <p:nvSpPr>
            <p:cNvPr id="107" name="TextBox 107"/>
            <p:cNvSpPr txBox="1"/>
            <p:nvPr/>
          </p:nvSpPr>
          <p:spPr>
            <a:xfrm>
              <a:off x="7247182" y="2785110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108" name="TextBox 108"/>
            <p:cNvSpPr txBox="1"/>
            <p:nvPr/>
          </p:nvSpPr>
          <p:spPr>
            <a:xfrm>
              <a:off x="7919647" y="2785110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09" name="TextBox 109"/>
            <p:cNvSpPr txBox="1"/>
            <p:nvPr/>
          </p:nvSpPr>
          <p:spPr>
            <a:xfrm>
              <a:off x="8591159" y="2785110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10" name="TextBox 110"/>
            <p:cNvSpPr txBox="1"/>
            <p:nvPr/>
          </p:nvSpPr>
          <p:spPr>
            <a:xfrm>
              <a:off x="9262672" y="2785110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11" name="Rectangle 111"/>
            <p:cNvSpPr/>
            <p:nvPr/>
          </p:nvSpPr>
          <p:spPr>
            <a:xfrm>
              <a:off x="9652635" y="2677478"/>
              <a:ext cx="652462" cy="361950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12" name="TextBox 112"/>
            <p:cNvSpPr txBox="1"/>
            <p:nvPr/>
          </p:nvSpPr>
          <p:spPr>
            <a:xfrm>
              <a:off x="9935137" y="2785110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13" name="TextBox 113"/>
            <p:cNvSpPr txBox="1"/>
            <p:nvPr/>
          </p:nvSpPr>
          <p:spPr>
            <a:xfrm>
              <a:off x="10606649" y="2785110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114" name="TextBox 114"/>
            <p:cNvSpPr txBox="1"/>
            <p:nvPr/>
          </p:nvSpPr>
          <p:spPr>
            <a:xfrm>
              <a:off x="11278162" y="2785110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115" name="Rectangle 115"/>
            <p:cNvSpPr/>
            <p:nvPr/>
          </p:nvSpPr>
          <p:spPr>
            <a:xfrm>
              <a:off x="6248400" y="304514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16" name="Rectangle 116"/>
            <p:cNvSpPr/>
            <p:nvPr/>
          </p:nvSpPr>
          <p:spPr>
            <a:xfrm>
              <a:off x="6248400" y="3049905"/>
              <a:ext cx="5410200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17" name="TextBox 117"/>
            <p:cNvSpPr txBox="1"/>
            <p:nvPr/>
          </p:nvSpPr>
          <p:spPr>
            <a:xfrm>
              <a:off x="6343079" y="3167062"/>
              <a:ext cx="37500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作业4</a:t>
              </a:r>
            </a:p>
          </p:txBody>
        </p:sp>
        <p:sp>
          <p:nvSpPr>
            <p:cNvPr id="118" name="TextBox 118"/>
            <p:cNvSpPr txBox="1"/>
            <p:nvPr/>
          </p:nvSpPr>
          <p:spPr>
            <a:xfrm>
              <a:off x="7247182" y="3167062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119" name="TextBox 119"/>
            <p:cNvSpPr txBox="1"/>
            <p:nvPr/>
          </p:nvSpPr>
          <p:spPr>
            <a:xfrm>
              <a:off x="7919647" y="3167062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20" name="TextBox 120"/>
            <p:cNvSpPr txBox="1"/>
            <p:nvPr/>
          </p:nvSpPr>
          <p:spPr>
            <a:xfrm>
              <a:off x="8591159" y="3167062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21" name="Rectangle 121"/>
            <p:cNvSpPr/>
            <p:nvPr/>
          </p:nvSpPr>
          <p:spPr>
            <a:xfrm>
              <a:off x="8981122" y="3059430"/>
              <a:ext cx="652462" cy="361950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22" name="TextBox 122"/>
            <p:cNvSpPr txBox="1"/>
            <p:nvPr/>
          </p:nvSpPr>
          <p:spPr>
            <a:xfrm>
              <a:off x="9262672" y="3167062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23" name="TextBox 123"/>
            <p:cNvSpPr txBox="1"/>
            <p:nvPr/>
          </p:nvSpPr>
          <p:spPr>
            <a:xfrm>
              <a:off x="9935137" y="3167062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24" name="TextBox 124"/>
            <p:cNvSpPr txBox="1"/>
            <p:nvPr/>
          </p:nvSpPr>
          <p:spPr>
            <a:xfrm>
              <a:off x="10606649" y="3167062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125" name="TextBox 125"/>
            <p:cNvSpPr txBox="1"/>
            <p:nvPr/>
          </p:nvSpPr>
          <p:spPr>
            <a:xfrm>
              <a:off x="11278162" y="3167062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126" name="Rectangle 126"/>
            <p:cNvSpPr/>
            <p:nvPr/>
          </p:nvSpPr>
          <p:spPr>
            <a:xfrm>
              <a:off x="6248400" y="342614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27" name="TextBox 127"/>
            <p:cNvSpPr txBox="1"/>
            <p:nvPr/>
          </p:nvSpPr>
          <p:spPr>
            <a:xfrm>
              <a:off x="6343079" y="3548062"/>
              <a:ext cx="37500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作业6</a:t>
              </a:r>
            </a:p>
          </p:txBody>
        </p:sp>
        <p:sp>
          <p:nvSpPr>
            <p:cNvPr id="128" name="TextBox 128"/>
            <p:cNvSpPr txBox="1"/>
            <p:nvPr/>
          </p:nvSpPr>
          <p:spPr>
            <a:xfrm>
              <a:off x="7247182" y="3548062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129" name="Rectangle 129"/>
            <p:cNvSpPr/>
            <p:nvPr/>
          </p:nvSpPr>
          <p:spPr>
            <a:xfrm>
              <a:off x="7637145" y="3440430"/>
              <a:ext cx="652462" cy="361950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30" name="TextBox 130"/>
            <p:cNvSpPr txBox="1"/>
            <p:nvPr/>
          </p:nvSpPr>
          <p:spPr>
            <a:xfrm>
              <a:off x="7919647" y="3548062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131" name="TextBox 131"/>
            <p:cNvSpPr txBox="1"/>
            <p:nvPr/>
          </p:nvSpPr>
          <p:spPr>
            <a:xfrm>
              <a:off x="8591159" y="3548062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32" name="TextBox 132"/>
            <p:cNvSpPr txBox="1"/>
            <p:nvPr/>
          </p:nvSpPr>
          <p:spPr>
            <a:xfrm>
              <a:off x="9262672" y="3548062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33" name="TextBox 133"/>
            <p:cNvSpPr txBox="1"/>
            <p:nvPr/>
          </p:nvSpPr>
          <p:spPr>
            <a:xfrm>
              <a:off x="9935137" y="3548062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34" name="TextBox 134"/>
            <p:cNvSpPr txBox="1"/>
            <p:nvPr/>
          </p:nvSpPr>
          <p:spPr>
            <a:xfrm>
              <a:off x="10606649" y="3548062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135" name="TextBox 135"/>
            <p:cNvSpPr txBox="1"/>
            <p:nvPr/>
          </p:nvSpPr>
          <p:spPr>
            <a:xfrm>
              <a:off x="11278162" y="3548062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136" name="Rectangle 136"/>
            <p:cNvSpPr/>
            <p:nvPr/>
          </p:nvSpPr>
          <p:spPr>
            <a:xfrm>
              <a:off x="6248400" y="380714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37" name="Rectangle 137"/>
            <p:cNvSpPr/>
            <p:nvPr/>
          </p:nvSpPr>
          <p:spPr>
            <a:xfrm>
              <a:off x="6248400" y="3811905"/>
              <a:ext cx="5410200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38" name="TextBox 138"/>
            <p:cNvSpPr txBox="1"/>
            <p:nvPr/>
          </p:nvSpPr>
          <p:spPr>
            <a:xfrm>
              <a:off x="6343079" y="3930015"/>
              <a:ext cx="37500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作业2</a:t>
              </a:r>
            </a:p>
          </p:txBody>
        </p:sp>
        <p:sp>
          <p:nvSpPr>
            <p:cNvPr id="139" name="TextBox 139"/>
            <p:cNvSpPr txBox="1"/>
            <p:nvPr/>
          </p:nvSpPr>
          <p:spPr>
            <a:xfrm>
              <a:off x="7247182" y="3930015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140" name="TextBox 140"/>
            <p:cNvSpPr txBox="1"/>
            <p:nvPr/>
          </p:nvSpPr>
          <p:spPr>
            <a:xfrm>
              <a:off x="7919647" y="3930015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141" name="TextBox 141"/>
            <p:cNvSpPr txBox="1"/>
            <p:nvPr/>
          </p:nvSpPr>
          <p:spPr>
            <a:xfrm>
              <a:off x="8591159" y="3930015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42" name="TextBox 142"/>
            <p:cNvSpPr txBox="1"/>
            <p:nvPr/>
          </p:nvSpPr>
          <p:spPr>
            <a:xfrm>
              <a:off x="9262672" y="3930015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43" name="TextBox 143"/>
            <p:cNvSpPr txBox="1"/>
            <p:nvPr/>
          </p:nvSpPr>
          <p:spPr>
            <a:xfrm>
              <a:off x="9935137" y="3930015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44" name="TextBox 144"/>
            <p:cNvSpPr txBox="1"/>
            <p:nvPr/>
          </p:nvSpPr>
          <p:spPr>
            <a:xfrm>
              <a:off x="10606649" y="3930015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145" name="TextBox 145"/>
            <p:cNvSpPr txBox="1"/>
            <p:nvPr/>
          </p:nvSpPr>
          <p:spPr>
            <a:xfrm>
              <a:off x="11278162" y="3930015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146" name="Rectangle 146"/>
            <p:cNvSpPr/>
            <p:nvPr/>
          </p:nvSpPr>
          <p:spPr>
            <a:xfrm>
              <a:off x="6248400" y="4189095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47" name="TextBox 147"/>
            <p:cNvSpPr txBox="1"/>
            <p:nvPr/>
          </p:nvSpPr>
          <p:spPr>
            <a:xfrm>
              <a:off x="6343079" y="4311015"/>
              <a:ext cx="37500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作业7</a:t>
              </a:r>
            </a:p>
          </p:txBody>
        </p:sp>
        <p:sp>
          <p:nvSpPr>
            <p:cNvPr id="148" name="TextBox 148"/>
            <p:cNvSpPr txBox="1"/>
            <p:nvPr/>
          </p:nvSpPr>
          <p:spPr>
            <a:xfrm>
              <a:off x="7247182" y="4311015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149" name="TextBox 149"/>
            <p:cNvSpPr txBox="1"/>
            <p:nvPr/>
          </p:nvSpPr>
          <p:spPr>
            <a:xfrm>
              <a:off x="7919647" y="4311015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150" name="TextBox 150"/>
            <p:cNvSpPr txBox="1"/>
            <p:nvPr/>
          </p:nvSpPr>
          <p:spPr>
            <a:xfrm>
              <a:off x="8591159" y="4311015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51" name="TextBox 151"/>
            <p:cNvSpPr txBox="1"/>
            <p:nvPr/>
          </p:nvSpPr>
          <p:spPr>
            <a:xfrm>
              <a:off x="9262672" y="4311015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52" name="TextBox 152"/>
            <p:cNvSpPr txBox="1"/>
            <p:nvPr/>
          </p:nvSpPr>
          <p:spPr>
            <a:xfrm>
              <a:off x="9935137" y="4311015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53" name="TextBox 153"/>
            <p:cNvSpPr txBox="1"/>
            <p:nvPr/>
          </p:nvSpPr>
          <p:spPr>
            <a:xfrm>
              <a:off x="10606649" y="4311015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154" name="Rectangle 154"/>
            <p:cNvSpPr/>
            <p:nvPr/>
          </p:nvSpPr>
          <p:spPr>
            <a:xfrm>
              <a:off x="10996612" y="4203382"/>
              <a:ext cx="652462" cy="361950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55" name="TextBox 155"/>
            <p:cNvSpPr txBox="1"/>
            <p:nvPr/>
          </p:nvSpPr>
          <p:spPr>
            <a:xfrm>
              <a:off x="11278162" y="4311015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156" name="Rectangle 156"/>
            <p:cNvSpPr/>
            <p:nvPr/>
          </p:nvSpPr>
          <p:spPr>
            <a:xfrm>
              <a:off x="6248400" y="1524000"/>
              <a:ext cx="5410200" cy="3050858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157" name="Rectangle 157"/>
            <p:cNvSpPr/>
            <p:nvPr/>
          </p:nvSpPr>
          <p:spPr>
            <a:xfrm>
              <a:off x="6951345" y="1524000"/>
              <a:ext cx="9525" cy="305085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58" name="Rectangle 158"/>
            <p:cNvSpPr/>
            <p:nvPr/>
          </p:nvSpPr>
          <p:spPr>
            <a:xfrm>
              <a:off x="7622858" y="1524000"/>
              <a:ext cx="9525" cy="305085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59" name="Rectangle 159"/>
            <p:cNvSpPr/>
            <p:nvPr/>
          </p:nvSpPr>
          <p:spPr>
            <a:xfrm>
              <a:off x="8294370" y="1524000"/>
              <a:ext cx="9525" cy="305085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60" name="Rectangle 160"/>
            <p:cNvSpPr/>
            <p:nvPr/>
          </p:nvSpPr>
          <p:spPr>
            <a:xfrm>
              <a:off x="8966835" y="1524000"/>
              <a:ext cx="9525" cy="305085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61" name="Rectangle 161"/>
            <p:cNvSpPr/>
            <p:nvPr/>
          </p:nvSpPr>
          <p:spPr>
            <a:xfrm>
              <a:off x="9638348" y="1524000"/>
              <a:ext cx="9525" cy="305085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62" name="Rectangle 162"/>
            <p:cNvSpPr/>
            <p:nvPr/>
          </p:nvSpPr>
          <p:spPr>
            <a:xfrm>
              <a:off x="10309860" y="1524000"/>
              <a:ext cx="9525" cy="305085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63" name="Rectangle 163"/>
            <p:cNvSpPr/>
            <p:nvPr/>
          </p:nvSpPr>
          <p:spPr>
            <a:xfrm>
              <a:off x="10982325" y="1524000"/>
              <a:ext cx="9525" cy="305085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64" name="TextBox 164"/>
            <p:cNvSpPr txBox="1"/>
            <p:nvPr/>
          </p:nvSpPr>
          <p:spPr>
            <a:xfrm>
              <a:off x="6243447" y="4648676"/>
              <a:ext cx="285014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橙色是本步赋过值的 F(j)；只有根的 F 会被读取</a:t>
              </a:r>
            </a:p>
          </p:txBody>
        </p:sp>
      </p:grpSp>
      <p:grpSp>
        <p:nvGrpSpPr>
          <p:cNvPr id="171" name="c2-card-2"/>
          <p:cNvGrpSpPr/>
          <p:nvPr/>
        </p:nvGrpSpPr>
        <p:grpSpPr>
          <a:xfrm>
            <a:off x="6248400" y="4965382"/>
            <a:ext cx="5410200" cy="1386840"/>
            <a:chOff x="6248400" y="4965382"/>
            <a:chExt cx="5410200" cy="1386840"/>
          </a:xfrm>
        </p:grpSpPr>
        <p:sp>
          <p:nvSpPr>
            <p:cNvPr id="166" name="Rectangle 166"/>
            <p:cNvSpPr/>
            <p:nvPr/>
          </p:nvSpPr>
          <p:spPr>
            <a:xfrm>
              <a:off x="6248400" y="4965382"/>
              <a:ext cx="5410200" cy="1386840"/>
            </a:xfrm>
            <a:prstGeom prst="roundRect">
              <a:avLst>
                <a:gd name="adj" fmla="val 9615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67" name="Rectangle 167"/>
            <p:cNvSpPr/>
            <p:nvPr/>
          </p:nvSpPr>
          <p:spPr>
            <a:xfrm>
              <a:off x="6257925" y="5098732"/>
              <a:ext cx="47625" cy="1120140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168" name="Rectangle 168"/>
            <p:cNvSpPr/>
            <p:nvPr/>
          </p:nvSpPr>
          <p:spPr>
            <a:xfrm>
              <a:off x="6467475" y="5146358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69" name="TextBox 169"/>
            <p:cNvSpPr txBox="1"/>
            <p:nvPr/>
          </p:nvSpPr>
          <p:spPr>
            <a:xfrm>
              <a:off x="6560147" y="5179219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</a:t>
              </a:r>
            </a:p>
          </p:txBody>
        </p:sp>
        <p:sp>
          <p:nvSpPr>
            <p:cNvPr id="170" name="TextBox 170"/>
            <p:cNvSpPr txBox="1"/>
            <p:nvPr/>
          </p:nvSpPr>
          <p:spPr>
            <a:xfrm>
              <a:off x="6460998" y="5486876"/>
              <a:ext cx="4808474" cy="7351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原讲解在舍弃作业2 时把 F(4) 改成 1，后面的表沿用。FJS 舍弃作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业时不修改 F，F(4) 仍是 3。结点 4 已不是根，它的 F 不会再被读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到，最优解和效益不受影响。</a:t>
              </a:r>
            </a:p>
          </p:txBody>
        </p:sp>
      </p:grpSp>
      <p:grpSp>
        <p:nvGrpSpPr>
          <p:cNvPr id="174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72" name="TextBox 172"/>
            <p:cNvSpPr txBox="1"/>
            <p:nvPr/>
          </p:nvSpPr>
          <p:spPr>
            <a:xfrm>
              <a:off x="528447" y="6581299"/>
              <a:ext cx="242418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算法设计与分析 · 第5章 贪心法 作业讲解</a:t>
              </a:r>
            </a:p>
          </p:txBody>
        </p:sp>
        <p:sp>
          <p:nvSpPr>
            <p:cNvPr id="173" name="TextBox 173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854625" cy="909257"/>
            <a:chOff x="520446" y="342900"/>
            <a:chExt cx="6854625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987868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8957" y="407194"/>
              <a:ext cx="18358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第5章 作业讲解 · 作业调度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85462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题4 集合树：每收下一个作业就把两棵树合并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4" name="c1-graph-1"/>
          <p:cNvGrpSpPr/>
          <p:nvPr/>
        </p:nvGrpSpPr>
        <p:grpSpPr>
          <a:xfrm>
            <a:off x="731520" y="1556385"/>
            <a:ext cx="3213735" cy="1263015"/>
            <a:chOff x="731520" y="1556385"/>
            <a:chExt cx="3213735" cy="1263015"/>
          </a:xfrm>
        </p:grpSpPr>
        <p:sp>
          <p:nvSpPr>
            <p:cNvPr id="7" name="Freeform 7"/>
            <p:cNvSpPr/>
            <p:nvPr/>
          </p:nvSpPr>
          <p:spPr>
            <a:xfrm>
              <a:off x="1514475" y="2334578"/>
              <a:ext cx="9525" cy="170498"/>
            </a:xfrm>
            <a:custGeom>
              <a:avLst/>
              <a:gdLst/>
              <a:ahLst/>
              <a:cxnLst/>
              <a:rect l="l" t="t" r="r" b="b"/>
              <a:pathLst>
                <a:path w="9525" h="170498">
                  <a:moveTo>
                    <a:pt x="0" y="170498"/>
                  </a:moveTo>
                  <a:lnTo>
                    <a:pt x="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8" name="Freeform 8"/>
            <p:cNvSpPr/>
            <p:nvPr/>
          </p:nvSpPr>
          <p:spPr>
            <a:xfrm>
              <a:off x="1466850" y="2239328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0"/>
                  </a:moveTo>
                  <a:lnTo>
                    <a:pt x="95250" y="95250"/>
                  </a:lnTo>
                  <a:lnTo>
                    <a:pt x="0" y="9525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9" name="Ellipse 9"/>
            <p:cNvSpPr/>
            <p:nvPr/>
          </p:nvSpPr>
          <p:spPr>
            <a:xfrm>
              <a:off x="731520" y="1925002"/>
              <a:ext cx="304800" cy="3048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2F4B9A"/>
              </a:solidFill>
            </a:ln>
          </p:spPr>
        </p:sp>
        <p:sp>
          <p:nvSpPr>
            <p:cNvPr id="10" name="Ellipse 10"/>
            <p:cNvSpPr/>
            <p:nvPr/>
          </p:nvSpPr>
          <p:spPr>
            <a:xfrm>
              <a:off x="1362075" y="1925002"/>
              <a:ext cx="304800" cy="304800"/>
            </a:xfrm>
            <a:prstGeom prst="ellipse">
              <a:avLst/>
            </a:prstGeom>
            <a:solidFill>
              <a:srgbClr val="2F4B9A"/>
            </a:solidFill>
            <a:ln w="17145">
              <a:solidFill>
                <a:srgbClr val="2F4B9A"/>
              </a:solidFill>
            </a:ln>
          </p:spPr>
        </p:sp>
        <p:sp>
          <p:nvSpPr>
            <p:cNvPr id="11" name="Ellipse 11"/>
            <p:cNvSpPr/>
            <p:nvPr/>
          </p:nvSpPr>
          <p:spPr>
            <a:xfrm>
              <a:off x="1362075" y="2514600"/>
              <a:ext cx="304800" cy="3048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2F4B9A"/>
              </a:solidFill>
            </a:ln>
          </p:spPr>
        </p:sp>
        <p:sp>
          <p:nvSpPr>
            <p:cNvPr id="12" name="Ellipse 12"/>
            <p:cNvSpPr/>
            <p:nvPr/>
          </p:nvSpPr>
          <p:spPr>
            <a:xfrm>
              <a:off x="1993582" y="1925002"/>
              <a:ext cx="304800" cy="3048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2F4B9A"/>
              </a:solidFill>
            </a:ln>
          </p:spPr>
        </p:sp>
        <p:sp>
          <p:nvSpPr>
            <p:cNvPr id="13" name="Ellipse 13"/>
            <p:cNvSpPr/>
            <p:nvPr/>
          </p:nvSpPr>
          <p:spPr>
            <a:xfrm>
              <a:off x="2554605" y="1925002"/>
              <a:ext cx="304800" cy="3048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2F4B9A"/>
              </a:solidFill>
            </a:ln>
          </p:spPr>
        </p:sp>
        <p:sp>
          <p:nvSpPr>
            <p:cNvPr id="14" name="Ellipse 14"/>
            <p:cNvSpPr/>
            <p:nvPr/>
          </p:nvSpPr>
          <p:spPr>
            <a:xfrm>
              <a:off x="3114675" y="1925002"/>
              <a:ext cx="304800" cy="3048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2F4B9A"/>
              </a:solidFill>
            </a:ln>
          </p:spPr>
        </p:sp>
        <p:sp>
          <p:nvSpPr>
            <p:cNvPr id="15" name="Ellipse 15"/>
            <p:cNvSpPr/>
            <p:nvPr/>
          </p:nvSpPr>
          <p:spPr>
            <a:xfrm>
              <a:off x="3640455" y="1925002"/>
              <a:ext cx="304800" cy="3048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2F4B9A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837771" y="2011680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468326" y="2011680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468326" y="2602230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2099833" y="2011680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2660856" y="2011680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3220926" y="2011680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3746706" y="2011680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624001" y="1556385"/>
              <a:ext cx="1323998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① 作业1：UNION(1, 2)</a:t>
              </a:r>
            </a:p>
          </p:txBody>
        </p:sp>
      </p:grpSp>
      <p:grpSp>
        <p:nvGrpSpPr>
          <p:cNvPr id="48" name="c1-graph-2"/>
          <p:cNvGrpSpPr/>
          <p:nvPr/>
        </p:nvGrpSpPr>
        <p:grpSpPr>
          <a:xfrm>
            <a:off x="871538" y="3569970"/>
            <a:ext cx="2898457" cy="1780222"/>
            <a:chOff x="871538" y="3569970"/>
            <a:chExt cx="2898457" cy="1780222"/>
          </a:xfrm>
        </p:grpSpPr>
        <p:sp>
          <p:nvSpPr>
            <p:cNvPr id="25" name="Freeform 25"/>
            <p:cNvSpPr/>
            <p:nvPr/>
          </p:nvSpPr>
          <p:spPr>
            <a:xfrm>
              <a:off x="1152525" y="4247198"/>
              <a:ext cx="438150" cy="335280"/>
            </a:xfrm>
            <a:custGeom>
              <a:avLst/>
              <a:gdLst/>
              <a:ahLst/>
              <a:cxnLst/>
              <a:rect l="l" t="t" r="r" b="b"/>
              <a:pathLst>
                <a:path w="438150" h="335280">
                  <a:moveTo>
                    <a:pt x="0" y="335280"/>
                  </a:moveTo>
                  <a:lnTo>
                    <a:pt x="43815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6" name="Freeform 26"/>
            <p:cNvSpPr/>
            <p:nvPr/>
          </p:nvSpPr>
          <p:spPr>
            <a:xfrm>
              <a:off x="1562100" y="4190048"/>
              <a:ext cx="104775" cy="95250"/>
            </a:xfrm>
            <a:custGeom>
              <a:avLst/>
              <a:gdLst/>
              <a:ahLst/>
              <a:cxnLst/>
              <a:rect l="l" t="t" r="r" b="b"/>
              <a:pathLst>
                <a:path w="104775" h="95250">
                  <a:moveTo>
                    <a:pt x="104775" y="0"/>
                  </a:moveTo>
                  <a:lnTo>
                    <a:pt x="58102" y="95250"/>
                  </a:lnTo>
                  <a:lnTo>
                    <a:pt x="0" y="20003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27" name="Freeform 27"/>
            <p:cNvSpPr/>
            <p:nvPr/>
          </p:nvSpPr>
          <p:spPr>
            <a:xfrm>
              <a:off x="1639252" y="4333875"/>
              <a:ext cx="69533" cy="195262"/>
            </a:xfrm>
            <a:custGeom>
              <a:avLst/>
              <a:gdLst/>
              <a:ahLst/>
              <a:cxnLst/>
              <a:rect l="l" t="t" r="r" b="b"/>
              <a:pathLst>
                <a:path w="69533" h="195262">
                  <a:moveTo>
                    <a:pt x="0" y="195262"/>
                  </a:moveTo>
                  <a:lnTo>
                    <a:pt x="69533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8" name="Freeform 28"/>
            <p:cNvSpPr/>
            <p:nvPr/>
          </p:nvSpPr>
          <p:spPr>
            <a:xfrm>
              <a:off x="1664018" y="4243388"/>
              <a:ext cx="89535" cy="105728"/>
            </a:xfrm>
            <a:custGeom>
              <a:avLst/>
              <a:gdLst/>
              <a:ahLst/>
              <a:cxnLst/>
              <a:rect l="l" t="t" r="r" b="b"/>
              <a:pathLst>
                <a:path w="89535" h="105728">
                  <a:moveTo>
                    <a:pt x="77153" y="0"/>
                  </a:moveTo>
                  <a:lnTo>
                    <a:pt x="89535" y="105728"/>
                  </a:lnTo>
                  <a:lnTo>
                    <a:pt x="0" y="74295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29" name="Freeform 29"/>
            <p:cNvSpPr/>
            <p:nvPr/>
          </p:nvSpPr>
          <p:spPr>
            <a:xfrm>
              <a:off x="1926908" y="4311968"/>
              <a:ext cx="136207" cy="230505"/>
            </a:xfrm>
            <a:custGeom>
              <a:avLst/>
              <a:gdLst/>
              <a:ahLst/>
              <a:cxnLst/>
              <a:rect l="l" t="t" r="r" b="b"/>
              <a:pathLst>
                <a:path w="136207" h="230505">
                  <a:moveTo>
                    <a:pt x="136207" y="230505"/>
                  </a:moveTo>
                  <a:lnTo>
                    <a:pt x="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30" name="Freeform 30"/>
            <p:cNvSpPr/>
            <p:nvPr/>
          </p:nvSpPr>
          <p:spPr>
            <a:xfrm>
              <a:off x="1878330" y="4230052"/>
              <a:ext cx="89535" cy="106680"/>
            </a:xfrm>
            <a:custGeom>
              <a:avLst/>
              <a:gdLst/>
              <a:ahLst/>
              <a:cxnLst/>
              <a:rect l="l" t="t" r="r" b="b"/>
              <a:pathLst>
                <a:path w="89535" h="106680">
                  <a:moveTo>
                    <a:pt x="0" y="0"/>
                  </a:moveTo>
                  <a:lnTo>
                    <a:pt x="89535" y="58102"/>
                  </a:lnTo>
                  <a:lnTo>
                    <a:pt x="7620" y="10668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31" name="Freeform 31"/>
            <p:cNvSpPr/>
            <p:nvPr/>
          </p:nvSpPr>
          <p:spPr>
            <a:xfrm>
              <a:off x="2145982" y="4938712"/>
              <a:ext cx="9525" cy="97155"/>
            </a:xfrm>
            <a:custGeom>
              <a:avLst/>
              <a:gdLst/>
              <a:ahLst/>
              <a:cxnLst/>
              <a:rect l="l" t="t" r="r" b="b"/>
              <a:pathLst>
                <a:path w="9525" h="97155">
                  <a:moveTo>
                    <a:pt x="0" y="97155"/>
                  </a:moveTo>
                  <a:lnTo>
                    <a:pt x="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32" name="Freeform 32"/>
            <p:cNvSpPr/>
            <p:nvPr/>
          </p:nvSpPr>
          <p:spPr>
            <a:xfrm>
              <a:off x="2098358" y="4843462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0"/>
                  </a:moveTo>
                  <a:lnTo>
                    <a:pt x="95250" y="95250"/>
                  </a:lnTo>
                  <a:lnTo>
                    <a:pt x="0" y="9525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33" name="Ellipse 33"/>
            <p:cNvSpPr/>
            <p:nvPr/>
          </p:nvSpPr>
          <p:spPr>
            <a:xfrm>
              <a:off x="1643062" y="3938588"/>
              <a:ext cx="304800" cy="304800"/>
            </a:xfrm>
            <a:prstGeom prst="ellipse">
              <a:avLst/>
            </a:prstGeom>
            <a:solidFill>
              <a:srgbClr val="2F4B9A"/>
            </a:solidFill>
            <a:ln w="17145">
              <a:solidFill>
                <a:srgbClr val="2F4B9A"/>
              </a:solidFill>
            </a:ln>
          </p:spPr>
        </p:sp>
        <p:sp>
          <p:nvSpPr>
            <p:cNvPr id="34" name="Ellipse 34"/>
            <p:cNvSpPr/>
            <p:nvPr/>
          </p:nvSpPr>
          <p:spPr>
            <a:xfrm>
              <a:off x="871538" y="4529138"/>
              <a:ext cx="304800" cy="3048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2F4B9A"/>
              </a:solidFill>
            </a:ln>
          </p:spPr>
        </p:sp>
        <p:sp>
          <p:nvSpPr>
            <p:cNvPr id="35" name="Ellipse 35"/>
            <p:cNvSpPr/>
            <p:nvPr/>
          </p:nvSpPr>
          <p:spPr>
            <a:xfrm>
              <a:off x="1432560" y="4529138"/>
              <a:ext cx="304800" cy="3048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2F4B9A"/>
              </a:solidFill>
            </a:ln>
          </p:spPr>
        </p:sp>
        <p:sp>
          <p:nvSpPr>
            <p:cNvPr id="36" name="Ellipse 36"/>
            <p:cNvSpPr/>
            <p:nvPr/>
          </p:nvSpPr>
          <p:spPr>
            <a:xfrm>
              <a:off x="1993582" y="4529138"/>
              <a:ext cx="304800" cy="3048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2F4B9A"/>
              </a:solidFill>
            </a:ln>
          </p:spPr>
        </p:sp>
        <p:sp>
          <p:nvSpPr>
            <p:cNvPr id="37" name="Ellipse 37"/>
            <p:cNvSpPr/>
            <p:nvPr/>
          </p:nvSpPr>
          <p:spPr>
            <a:xfrm>
              <a:off x="1993582" y="5045392"/>
              <a:ext cx="304800" cy="3048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2F4B9A"/>
              </a:solidFill>
            </a:ln>
          </p:spPr>
        </p:sp>
        <p:sp>
          <p:nvSpPr>
            <p:cNvPr id="38" name="Ellipse 38"/>
            <p:cNvSpPr/>
            <p:nvPr/>
          </p:nvSpPr>
          <p:spPr>
            <a:xfrm>
              <a:off x="2834640" y="3938588"/>
              <a:ext cx="304800" cy="3048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2F4B9A"/>
              </a:solidFill>
            </a:ln>
          </p:spPr>
        </p:sp>
        <p:sp>
          <p:nvSpPr>
            <p:cNvPr id="39" name="Ellipse 39"/>
            <p:cNvSpPr/>
            <p:nvPr/>
          </p:nvSpPr>
          <p:spPr>
            <a:xfrm>
              <a:off x="3465195" y="3938588"/>
              <a:ext cx="304800" cy="3048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2F4B9A"/>
              </a:solidFill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1749313" y="4026218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977788" y="4615815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1538811" y="4615815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2099833" y="4615815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2099833" y="5132070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2940891" y="4026218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3571446" y="4026218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1624001" y="3569970"/>
              <a:ext cx="1323998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④ 作业6：UNION(0, 1)</a:t>
              </a:r>
            </a:p>
          </p:txBody>
        </p:sp>
      </p:grpSp>
      <p:grpSp>
        <p:nvGrpSpPr>
          <p:cNvPr id="68" name="c2-graph-1"/>
          <p:cNvGrpSpPr/>
          <p:nvPr/>
        </p:nvGrpSpPr>
        <p:grpSpPr>
          <a:xfrm>
            <a:off x="4541520" y="1556385"/>
            <a:ext cx="3108960" cy="1263015"/>
            <a:chOff x="4541520" y="1556385"/>
            <a:chExt cx="3108960" cy="1263015"/>
          </a:xfrm>
        </p:grpSpPr>
        <p:sp>
          <p:nvSpPr>
            <p:cNvPr id="49" name="Freeform 49"/>
            <p:cNvSpPr/>
            <p:nvPr/>
          </p:nvSpPr>
          <p:spPr>
            <a:xfrm>
              <a:off x="5324475" y="2334578"/>
              <a:ext cx="9525" cy="170498"/>
            </a:xfrm>
            <a:custGeom>
              <a:avLst/>
              <a:gdLst/>
              <a:ahLst/>
              <a:cxnLst/>
              <a:rect l="l" t="t" r="r" b="b"/>
              <a:pathLst>
                <a:path w="9525" h="170498">
                  <a:moveTo>
                    <a:pt x="0" y="170498"/>
                  </a:moveTo>
                  <a:lnTo>
                    <a:pt x="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50" name="Freeform 50"/>
            <p:cNvSpPr/>
            <p:nvPr/>
          </p:nvSpPr>
          <p:spPr>
            <a:xfrm>
              <a:off x="5276850" y="2239328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0"/>
                  </a:moveTo>
                  <a:lnTo>
                    <a:pt x="95250" y="95250"/>
                  </a:lnTo>
                  <a:lnTo>
                    <a:pt x="0" y="9525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51" name="Freeform 51"/>
            <p:cNvSpPr/>
            <p:nvPr/>
          </p:nvSpPr>
          <p:spPr>
            <a:xfrm>
              <a:off x="6096000" y="2334578"/>
              <a:ext cx="9525" cy="170498"/>
            </a:xfrm>
            <a:custGeom>
              <a:avLst/>
              <a:gdLst/>
              <a:ahLst/>
              <a:cxnLst/>
              <a:rect l="l" t="t" r="r" b="b"/>
              <a:pathLst>
                <a:path w="9525" h="170498">
                  <a:moveTo>
                    <a:pt x="0" y="170498"/>
                  </a:moveTo>
                  <a:lnTo>
                    <a:pt x="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52" name="Freeform 52"/>
            <p:cNvSpPr/>
            <p:nvPr/>
          </p:nvSpPr>
          <p:spPr>
            <a:xfrm>
              <a:off x="6048375" y="2239328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0"/>
                  </a:moveTo>
                  <a:lnTo>
                    <a:pt x="95250" y="95250"/>
                  </a:lnTo>
                  <a:lnTo>
                    <a:pt x="0" y="9525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53" name="Ellipse 53"/>
            <p:cNvSpPr/>
            <p:nvPr/>
          </p:nvSpPr>
          <p:spPr>
            <a:xfrm>
              <a:off x="4541520" y="1925002"/>
              <a:ext cx="304800" cy="3048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2F4B9A"/>
              </a:solidFill>
            </a:ln>
          </p:spPr>
        </p:sp>
        <p:sp>
          <p:nvSpPr>
            <p:cNvPr id="54" name="Ellipse 54"/>
            <p:cNvSpPr/>
            <p:nvPr/>
          </p:nvSpPr>
          <p:spPr>
            <a:xfrm>
              <a:off x="5172075" y="1925002"/>
              <a:ext cx="304800" cy="304800"/>
            </a:xfrm>
            <a:prstGeom prst="ellipse">
              <a:avLst/>
            </a:prstGeom>
            <a:solidFill>
              <a:srgbClr val="2F4B9A"/>
            </a:solidFill>
            <a:ln w="17145">
              <a:solidFill>
                <a:srgbClr val="2F4B9A"/>
              </a:solidFill>
            </a:ln>
          </p:spPr>
        </p:sp>
        <p:sp>
          <p:nvSpPr>
            <p:cNvPr id="55" name="Ellipse 55"/>
            <p:cNvSpPr/>
            <p:nvPr/>
          </p:nvSpPr>
          <p:spPr>
            <a:xfrm>
              <a:off x="5172075" y="2514600"/>
              <a:ext cx="304800" cy="3048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2F4B9A"/>
              </a:solidFill>
            </a:ln>
          </p:spPr>
        </p:sp>
        <p:sp>
          <p:nvSpPr>
            <p:cNvPr id="56" name="Ellipse 56"/>
            <p:cNvSpPr/>
            <p:nvPr/>
          </p:nvSpPr>
          <p:spPr>
            <a:xfrm>
              <a:off x="5943600" y="1925002"/>
              <a:ext cx="304800" cy="304800"/>
            </a:xfrm>
            <a:prstGeom prst="ellipse">
              <a:avLst/>
            </a:prstGeom>
            <a:solidFill>
              <a:srgbClr val="2F4B9A"/>
            </a:solidFill>
            <a:ln w="17145">
              <a:solidFill>
                <a:srgbClr val="2F4B9A"/>
              </a:solidFill>
            </a:ln>
          </p:spPr>
        </p:sp>
        <p:sp>
          <p:nvSpPr>
            <p:cNvPr id="57" name="Ellipse 57"/>
            <p:cNvSpPr/>
            <p:nvPr/>
          </p:nvSpPr>
          <p:spPr>
            <a:xfrm>
              <a:off x="5943600" y="2514600"/>
              <a:ext cx="304800" cy="3048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2F4B9A"/>
              </a:solidFill>
            </a:ln>
          </p:spPr>
        </p:sp>
        <p:sp>
          <p:nvSpPr>
            <p:cNvPr id="58" name="Ellipse 58"/>
            <p:cNvSpPr/>
            <p:nvPr/>
          </p:nvSpPr>
          <p:spPr>
            <a:xfrm>
              <a:off x="6715125" y="1925002"/>
              <a:ext cx="304800" cy="3048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2F4B9A"/>
              </a:solidFill>
            </a:ln>
          </p:spPr>
        </p:sp>
        <p:sp>
          <p:nvSpPr>
            <p:cNvPr id="59" name="Ellipse 59"/>
            <p:cNvSpPr/>
            <p:nvPr/>
          </p:nvSpPr>
          <p:spPr>
            <a:xfrm>
              <a:off x="7345680" y="1925002"/>
              <a:ext cx="304800" cy="3048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2F4B9A"/>
              </a:solidFill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4647771" y="2011680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5278326" y="2011680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5278326" y="2602230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6049851" y="2011680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6049851" y="2602230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6821376" y="2011680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7451931" y="2011680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5434001" y="1556385"/>
              <a:ext cx="1323998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② 作业3：UNION(3, 4)</a:t>
              </a:r>
            </a:p>
          </p:txBody>
        </p:sp>
      </p:grpSp>
      <p:grpSp>
        <p:nvGrpSpPr>
          <p:cNvPr id="92" name="c2-graph-2"/>
          <p:cNvGrpSpPr/>
          <p:nvPr/>
        </p:nvGrpSpPr>
        <p:grpSpPr>
          <a:xfrm>
            <a:off x="4612005" y="3569970"/>
            <a:ext cx="3178493" cy="1263968"/>
            <a:chOff x="4612005" y="3569970"/>
            <a:chExt cx="3178493" cy="1263968"/>
          </a:xfrm>
        </p:grpSpPr>
        <p:sp>
          <p:nvSpPr>
            <p:cNvPr id="69" name="Freeform 69"/>
            <p:cNvSpPr/>
            <p:nvPr/>
          </p:nvSpPr>
          <p:spPr>
            <a:xfrm>
              <a:off x="4902518" y="4223385"/>
              <a:ext cx="622935" cy="374333"/>
            </a:xfrm>
            <a:custGeom>
              <a:avLst/>
              <a:gdLst/>
              <a:ahLst/>
              <a:cxnLst/>
              <a:rect l="l" t="t" r="r" b="b"/>
              <a:pathLst>
                <a:path w="622935" h="374333">
                  <a:moveTo>
                    <a:pt x="0" y="374333"/>
                  </a:moveTo>
                  <a:lnTo>
                    <a:pt x="622935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70" name="Freeform 70"/>
            <p:cNvSpPr/>
            <p:nvPr/>
          </p:nvSpPr>
          <p:spPr>
            <a:xfrm>
              <a:off x="5500688" y="4174808"/>
              <a:ext cx="105728" cy="89535"/>
            </a:xfrm>
            <a:custGeom>
              <a:avLst/>
              <a:gdLst/>
              <a:ahLst/>
              <a:cxnLst/>
              <a:rect l="l" t="t" r="r" b="b"/>
              <a:pathLst>
                <a:path w="105728" h="89535">
                  <a:moveTo>
                    <a:pt x="105728" y="0"/>
                  </a:moveTo>
                  <a:lnTo>
                    <a:pt x="48578" y="89535"/>
                  </a:lnTo>
                  <a:lnTo>
                    <a:pt x="0" y="762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71" name="Freeform 71"/>
            <p:cNvSpPr/>
            <p:nvPr/>
          </p:nvSpPr>
          <p:spPr>
            <a:xfrm>
              <a:off x="5477828" y="4311968"/>
              <a:ext cx="136207" cy="230505"/>
            </a:xfrm>
            <a:custGeom>
              <a:avLst/>
              <a:gdLst/>
              <a:ahLst/>
              <a:cxnLst/>
              <a:rect l="l" t="t" r="r" b="b"/>
              <a:pathLst>
                <a:path w="136207" h="230505">
                  <a:moveTo>
                    <a:pt x="0" y="230505"/>
                  </a:moveTo>
                  <a:lnTo>
                    <a:pt x="136207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72" name="Freeform 72"/>
            <p:cNvSpPr/>
            <p:nvPr/>
          </p:nvSpPr>
          <p:spPr>
            <a:xfrm>
              <a:off x="5573078" y="4230052"/>
              <a:ext cx="89535" cy="106680"/>
            </a:xfrm>
            <a:custGeom>
              <a:avLst/>
              <a:gdLst/>
              <a:ahLst/>
              <a:cxnLst/>
              <a:rect l="l" t="t" r="r" b="b"/>
              <a:pathLst>
                <a:path w="89535" h="106680">
                  <a:moveTo>
                    <a:pt x="89535" y="0"/>
                  </a:moveTo>
                  <a:lnTo>
                    <a:pt x="81915" y="106680"/>
                  </a:lnTo>
                  <a:lnTo>
                    <a:pt x="0" y="58102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73" name="Freeform 73"/>
            <p:cNvSpPr/>
            <p:nvPr/>
          </p:nvSpPr>
          <p:spPr>
            <a:xfrm>
              <a:off x="5855970" y="4323398"/>
              <a:ext cx="100012" cy="211455"/>
            </a:xfrm>
            <a:custGeom>
              <a:avLst/>
              <a:gdLst/>
              <a:ahLst/>
              <a:cxnLst/>
              <a:rect l="l" t="t" r="r" b="b"/>
              <a:pathLst>
                <a:path w="100012" h="211455">
                  <a:moveTo>
                    <a:pt x="100012" y="211455"/>
                  </a:moveTo>
                  <a:lnTo>
                    <a:pt x="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74" name="Freeform 74"/>
            <p:cNvSpPr/>
            <p:nvPr/>
          </p:nvSpPr>
          <p:spPr>
            <a:xfrm>
              <a:off x="5813108" y="4237672"/>
              <a:ext cx="85725" cy="106680"/>
            </a:xfrm>
            <a:custGeom>
              <a:avLst/>
              <a:gdLst/>
              <a:ahLst/>
              <a:cxnLst/>
              <a:rect l="l" t="t" r="r" b="b"/>
              <a:pathLst>
                <a:path w="85725" h="106680">
                  <a:moveTo>
                    <a:pt x="1905" y="0"/>
                  </a:moveTo>
                  <a:lnTo>
                    <a:pt x="85725" y="65723"/>
                  </a:lnTo>
                  <a:lnTo>
                    <a:pt x="0" y="10668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75" name="Freeform 75"/>
            <p:cNvSpPr/>
            <p:nvPr/>
          </p:nvSpPr>
          <p:spPr>
            <a:xfrm>
              <a:off x="5961698" y="4231005"/>
              <a:ext cx="559118" cy="361950"/>
            </a:xfrm>
            <a:custGeom>
              <a:avLst/>
              <a:gdLst/>
              <a:ahLst/>
              <a:cxnLst/>
              <a:rect l="l" t="t" r="r" b="b"/>
              <a:pathLst>
                <a:path w="559118" h="361950">
                  <a:moveTo>
                    <a:pt x="559118" y="361950"/>
                  </a:moveTo>
                  <a:lnTo>
                    <a:pt x="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76" name="Freeform 76"/>
            <p:cNvSpPr/>
            <p:nvPr/>
          </p:nvSpPr>
          <p:spPr>
            <a:xfrm>
              <a:off x="5881688" y="4179570"/>
              <a:ext cx="105728" cy="91440"/>
            </a:xfrm>
            <a:custGeom>
              <a:avLst/>
              <a:gdLst/>
              <a:ahLst/>
              <a:cxnLst/>
              <a:rect l="l" t="t" r="r" b="b"/>
              <a:pathLst>
                <a:path w="105728" h="91440">
                  <a:moveTo>
                    <a:pt x="0" y="0"/>
                  </a:moveTo>
                  <a:lnTo>
                    <a:pt x="105728" y="11430"/>
                  </a:lnTo>
                  <a:lnTo>
                    <a:pt x="53340" y="9144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77" name="Ellipse 77"/>
            <p:cNvSpPr/>
            <p:nvPr/>
          </p:nvSpPr>
          <p:spPr>
            <a:xfrm>
              <a:off x="5593080" y="3938588"/>
              <a:ext cx="304800" cy="304800"/>
            </a:xfrm>
            <a:prstGeom prst="ellipse">
              <a:avLst/>
            </a:prstGeom>
            <a:solidFill>
              <a:srgbClr val="2F4B9A"/>
            </a:solidFill>
            <a:ln w="17145">
              <a:solidFill>
                <a:srgbClr val="2F4B9A"/>
              </a:solidFill>
            </a:ln>
          </p:spPr>
        </p:sp>
        <p:sp>
          <p:nvSpPr>
            <p:cNvPr id="78" name="Ellipse 78"/>
            <p:cNvSpPr/>
            <p:nvPr/>
          </p:nvSpPr>
          <p:spPr>
            <a:xfrm>
              <a:off x="4612005" y="4529138"/>
              <a:ext cx="304800" cy="3048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2F4B9A"/>
              </a:solidFill>
            </a:ln>
          </p:spPr>
        </p:sp>
        <p:sp>
          <p:nvSpPr>
            <p:cNvPr id="79" name="Ellipse 79"/>
            <p:cNvSpPr/>
            <p:nvPr/>
          </p:nvSpPr>
          <p:spPr>
            <a:xfrm>
              <a:off x="5242560" y="4529138"/>
              <a:ext cx="304800" cy="3048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2F4B9A"/>
              </a:solidFill>
            </a:ln>
          </p:spPr>
        </p:sp>
        <p:sp>
          <p:nvSpPr>
            <p:cNvPr id="80" name="Ellipse 80"/>
            <p:cNvSpPr/>
            <p:nvPr/>
          </p:nvSpPr>
          <p:spPr>
            <a:xfrm>
              <a:off x="5873115" y="4529138"/>
              <a:ext cx="304800" cy="3048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2F4B9A"/>
              </a:solidFill>
            </a:ln>
          </p:spPr>
        </p:sp>
        <p:sp>
          <p:nvSpPr>
            <p:cNvPr id="81" name="Ellipse 81"/>
            <p:cNvSpPr/>
            <p:nvPr/>
          </p:nvSpPr>
          <p:spPr>
            <a:xfrm>
              <a:off x="6504622" y="4529138"/>
              <a:ext cx="304800" cy="304800"/>
            </a:xfrm>
            <a:prstGeom prst="ellipse">
              <a:avLst/>
            </a:prstGeom>
            <a:solidFill>
              <a:srgbClr val="F26B3A"/>
            </a:solidFill>
            <a:ln w="17145">
              <a:solidFill>
                <a:srgbClr val="F26B3A"/>
              </a:solidFill>
            </a:ln>
          </p:spPr>
        </p:sp>
        <p:sp>
          <p:nvSpPr>
            <p:cNvPr id="82" name="Ellipse 82"/>
            <p:cNvSpPr/>
            <p:nvPr/>
          </p:nvSpPr>
          <p:spPr>
            <a:xfrm>
              <a:off x="6995160" y="3938588"/>
              <a:ext cx="304800" cy="3048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2F4B9A"/>
              </a:solidFill>
            </a:ln>
          </p:spPr>
        </p:sp>
        <p:sp>
          <p:nvSpPr>
            <p:cNvPr id="83" name="Ellipse 83"/>
            <p:cNvSpPr/>
            <p:nvPr/>
          </p:nvSpPr>
          <p:spPr>
            <a:xfrm>
              <a:off x="7485698" y="3938588"/>
              <a:ext cx="304800" cy="3048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2F4B9A"/>
              </a:solidFill>
            </a:ln>
          </p:spPr>
        </p:sp>
        <p:sp>
          <p:nvSpPr>
            <p:cNvPr id="84" name="TextBox 84"/>
            <p:cNvSpPr txBox="1"/>
            <p:nvPr/>
          </p:nvSpPr>
          <p:spPr>
            <a:xfrm>
              <a:off x="5699331" y="4026218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85" name="TextBox 85"/>
            <p:cNvSpPr txBox="1"/>
            <p:nvPr/>
          </p:nvSpPr>
          <p:spPr>
            <a:xfrm>
              <a:off x="4718256" y="4615815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86" name="TextBox 86"/>
            <p:cNvSpPr txBox="1"/>
            <p:nvPr/>
          </p:nvSpPr>
          <p:spPr>
            <a:xfrm>
              <a:off x="5348811" y="4615815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87" name="TextBox 87"/>
            <p:cNvSpPr txBox="1"/>
            <p:nvPr/>
          </p:nvSpPr>
          <p:spPr>
            <a:xfrm>
              <a:off x="5979366" y="4615815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88" name="TextBox 88"/>
            <p:cNvSpPr txBox="1"/>
            <p:nvPr/>
          </p:nvSpPr>
          <p:spPr>
            <a:xfrm>
              <a:off x="6610873" y="4615815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89" name="TextBox 89"/>
            <p:cNvSpPr txBox="1"/>
            <p:nvPr/>
          </p:nvSpPr>
          <p:spPr>
            <a:xfrm>
              <a:off x="7101411" y="4026218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90" name="TextBox 90"/>
            <p:cNvSpPr txBox="1"/>
            <p:nvPr/>
          </p:nvSpPr>
          <p:spPr>
            <a:xfrm>
              <a:off x="7591948" y="4026218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91" name="TextBox 91"/>
            <p:cNvSpPr txBox="1"/>
            <p:nvPr/>
          </p:nvSpPr>
          <p:spPr>
            <a:xfrm>
              <a:off x="5383826" y="3569970"/>
              <a:ext cx="1424348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⑤ 作业2 舍弃，4 压缩到根</a:t>
              </a:r>
            </a:p>
          </p:txBody>
        </p:sp>
      </p:grpSp>
      <p:grpSp>
        <p:nvGrpSpPr>
          <p:cNvPr id="114" name="c3-graph-1"/>
          <p:cNvGrpSpPr/>
          <p:nvPr/>
        </p:nvGrpSpPr>
        <p:grpSpPr>
          <a:xfrm>
            <a:off x="8351520" y="1556385"/>
            <a:ext cx="2968942" cy="1779270"/>
            <a:chOff x="8351520" y="1556385"/>
            <a:chExt cx="2968942" cy="1779270"/>
          </a:xfrm>
        </p:grpSpPr>
        <p:sp>
          <p:nvSpPr>
            <p:cNvPr id="93" name="Freeform 93"/>
            <p:cNvSpPr/>
            <p:nvPr/>
          </p:nvSpPr>
          <p:spPr>
            <a:xfrm>
              <a:off x="8994458" y="2309812"/>
              <a:ext cx="100012" cy="211455"/>
            </a:xfrm>
            <a:custGeom>
              <a:avLst/>
              <a:gdLst/>
              <a:ahLst/>
              <a:cxnLst/>
              <a:rect l="l" t="t" r="r" b="b"/>
              <a:pathLst>
                <a:path w="100012" h="211455">
                  <a:moveTo>
                    <a:pt x="0" y="211455"/>
                  </a:moveTo>
                  <a:lnTo>
                    <a:pt x="100012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94" name="Freeform 94"/>
            <p:cNvSpPr/>
            <p:nvPr/>
          </p:nvSpPr>
          <p:spPr>
            <a:xfrm>
              <a:off x="9051608" y="2223135"/>
              <a:ext cx="85725" cy="106680"/>
            </a:xfrm>
            <a:custGeom>
              <a:avLst/>
              <a:gdLst/>
              <a:ahLst/>
              <a:cxnLst/>
              <a:rect l="l" t="t" r="r" b="b"/>
              <a:pathLst>
                <a:path w="85725" h="106680">
                  <a:moveTo>
                    <a:pt x="83820" y="0"/>
                  </a:moveTo>
                  <a:lnTo>
                    <a:pt x="85725" y="106680"/>
                  </a:lnTo>
                  <a:lnTo>
                    <a:pt x="0" y="65723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95" name="Freeform 95"/>
            <p:cNvSpPr/>
            <p:nvPr/>
          </p:nvSpPr>
          <p:spPr>
            <a:xfrm>
              <a:off x="9315450" y="2309812"/>
              <a:ext cx="100012" cy="211455"/>
            </a:xfrm>
            <a:custGeom>
              <a:avLst/>
              <a:gdLst/>
              <a:ahLst/>
              <a:cxnLst/>
              <a:rect l="l" t="t" r="r" b="b"/>
              <a:pathLst>
                <a:path w="100012" h="211455">
                  <a:moveTo>
                    <a:pt x="100012" y="211455"/>
                  </a:moveTo>
                  <a:lnTo>
                    <a:pt x="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96" name="Freeform 96"/>
            <p:cNvSpPr/>
            <p:nvPr/>
          </p:nvSpPr>
          <p:spPr>
            <a:xfrm>
              <a:off x="9272588" y="2223135"/>
              <a:ext cx="85725" cy="106680"/>
            </a:xfrm>
            <a:custGeom>
              <a:avLst/>
              <a:gdLst/>
              <a:ahLst/>
              <a:cxnLst/>
              <a:rect l="l" t="t" r="r" b="b"/>
              <a:pathLst>
                <a:path w="85725" h="106680">
                  <a:moveTo>
                    <a:pt x="1905" y="0"/>
                  </a:moveTo>
                  <a:lnTo>
                    <a:pt x="85725" y="65723"/>
                  </a:lnTo>
                  <a:lnTo>
                    <a:pt x="0" y="10668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97" name="Freeform 97"/>
            <p:cNvSpPr/>
            <p:nvPr/>
          </p:nvSpPr>
          <p:spPr>
            <a:xfrm>
              <a:off x="9484995" y="2924175"/>
              <a:ext cx="9525" cy="97155"/>
            </a:xfrm>
            <a:custGeom>
              <a:avLst/>
              <a:gdLst/>
              <a:ahLst/>
              <a:cxnLst/>
              <a:rect l="l" t="t" r="r" b="b"/>
              <a:pathLst>
                <a:path w="9525" h="97155">
                  <a:moveTo>
                    <a:pt x="0" y="97155"/>
                  </a:moveTo>
                  <a:lnTo>
                    <a:pt x="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98" name="Freeform 98"/>
            <p:cNvSpPr/>
            <p:nvPr/>
          </p:nvSpPr>
          <p:spPr>
            <a:xfrm>
              <a:off x="9437370" y="282892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0"/>
                  </a:moveTo>
                  <a:lnTo>
                    <a:pt x="95250" y="95250"/>
                  </a:lnTo>
                  <a:lnTo>
                    <a:pt x="0" y="9525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99" name="Ellipse 99"/>
            <p:cNvSpPr/>
            <p:nvPr/>
          </p:nvSpPr>
          <p:spPr>
            <a:xfrm>
              <a:off x="8351520" y="1925002"/>
              <a:ext cx="304800" cy="3048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2F4B9A"/>
              </a:solidFill>
            </a:ln>
          </p:spPr>
        </p:sp>
        <p:sp>
          <p:nvSpPr>
            <p:cNvPr id="100" name="Ellipse 100"/>
            <p:cNvSpPr/>
            <p:nvPr/>
          </p:nvSpPr>
          <p:spPr>
            <a:xfrm>
              <a:off x="9052560" y="1925002"/>
              <a:ext cx="304800" cy="304800"/>
            </a:xfrm>
            <a:prstGeom prst="ellipse">
              <a:avLst/>
            </a:prstGeom>
            <a:solidFill>
              <a:srgbClr val="2F4B9A"/>
            </a:solidFill>
            <a:ln w="17145">
              <a:solidFill>
                <a:srgbClr val="2F4B9A"/>
              </a:solidFill>
            </a:ln>
          </p:spPr>
        </p:sp>
        <p:sp>
          <p:nvSpPr>
            <p:cNvPr id="101" name="Ellipse 101"/>
            <p:cNvSpPr/>
            <p:nvPr/>
          </p:nvSpPr>
          <p:spPr>
            <a:xfrm>
              <a:off x="8772525" y="2514600"/>
              <a:ext cx="304800" cy="3048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2F4B9A"/>
              </a:solidFill>
            </a:ln>
          </p:spPr>
        </p:sp>
        <p:sp>
          <p:nvSpPr>
            <p:cNvPr id="102" name="Ellipse 102"/>
            <p:cNvSpPr/>
            <p:nvPr/>
          </p:nvSpPr>
          <p:spPr>
            <a:xfrm>
              <a:off x="9332595" y="2514600"/>
              <a:ext cx="304800" cy="3048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2F4B9A"/>
              </a:solidFill>
            </a:ln>
          </p:spPr>
        </p:sp>
        <p:sp>
          <p:nvSpPr>
            <p:cNvPr id="103" name="Ellipse 103"/>
            <p:cNvSpPr/>
            <p:nvPr/>
          </p:nvSpPr>
          <p:spPr>
            <a:xfrm>
              <a:off x="9332595" y="3030855"/>
              <a:ext cx="304800" cy="3048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2F4B9A"/>
              </a:solidFill>
            </a:ln>
          </p:spPr>
        </p:sp>
        <p:sp>
          <p:nvSpPr>
            <p:cNvPr id="104" name="Ellipse 104"/>
            <p:cNvSpPr/>
            <p:nvPr/>
          </p:nvSpPr>
          <p:spPr>
            <a:xfrm>
              <a:off x="10314622" y="1925002"/>
              <a:ext cx="304800" cy="3048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2F4B9A"/>
              </a:solidFill>
            </a:ln>
          </p:spPr>
        </p:sp>
        <p:sp>
          <p:nvSpPr>
            <p:cNvPr id="105" name="Ellipse 105"/>
            <p:cNvSpPr/>
            <p:nvPr/>
          </p:nvSpPr>
          <p:spPr>
            <a:xfrm>
              <a:off x="11015662" y="1925002"/>
              <a:ext cx="304800" cy="3048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2F4B9A"/>
              </a:solidFill>
            </a:ln>
          </p:spPr>
        </p:sp>
        <p:sp>
          <p:nvSpPr>
            <p:cNvPr id="106" name="TextBox 106"/>
            <p:cNvSpPr txBox="1"/>
            <p:nvPr/>
          </p:nvSpPr>
          <p:spPr>
            <a:xfrm>
              <a:off x="8457771" y="2011680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107" name="TextBox 107"/>
            <p:cNvSpPr txBox="1"/>
            <p:nvPr/>
          </p:nvSpPr>
          <p:spPr>
            <a:xfrm>
              <a:off x="9158811" y="2011680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08" name="TextBox 108"/>
            <p:cNvSpPr txBox="1"/>
            <p:nvPr/>
          </p:nvSpPr>
          <p:spPr>
            <a:xfrm>
              <a:off x="8878776" y="2602230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09" name="TextBox 109"/>
            <p:cNvSpPr txBox="1"/>
            <p:nvPr/>
          </p:nvSpPr>
          <p:spPr>
            <a:xfrm>
              <a:off x="9438846" y="2602230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10" name="TextBox 110"/>
            <p:cNvSpPr txBox="1"/>
            <p:nvPr/>
          </p:nvSpPr>
          <p:spPr>
            <a:xfrm>
              <a:off x="9438846" y="3118485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111" name="TextBox 111"/>
            <p:cNvSpPr txBox="1"/>
            <p:nvPr/>
          </p:nvSpPr>
          <p:spPr>
            <a:xfrm>
              <a:off x="10420873" y="2011680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112" name="TextBox 112"/>
            <p:cNvSpPr txBox="1"/>
            <p:nvPr/>
          </p:nvSpPr>
          <p:spPr>
            <a:xfrm>
              <a:off x="11121913" y="2011680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113" name="TextBox 113"/>
            <p:cNvSpPr txBox="1"/>
            <p:nvPr/>
          </p:nvSpPr>
          <p:spPr>
            <a:xfrm>
              <a:off x="9244001" y="1556385"/>
              <a:ext cx="1323998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③ 作业4：UNION(1, 3)</a:t>
              </a:r>
            </a:p>
          </p:txBody>
        </p:sp>
      </p:grpSp>
      <p:grpSp>
        <p:nvGrpSpPr>
          <p:cNvPr id="140" name="c3-graph-2"/>
          <p:cNvGrpSpPr/>
          <p:nvPr/>
        </p:nvGrpSpPr>
        <p:grpSpPr>
          <a:xfrm>
            <a:off x="8351520" y="3569970"/>
            <a:ext cx="2758440" cy="1263968"/>
            <a:chOff x="8351520" y="3569970"/>
            <a:chExt cx="2758440" cy="1263968"/>
          </a:xfrm>
        </p:grpSpPr>
        <p:sp>
          <p:nvSpPr>
            <p:cNvPr id="115" name="Freeform 115"/>
            <p:cNvSpPr/>
            <p:nvPr/>
          </p:nvSpPr>
          <p:spPr>
            <a:xfrm>
              <a:off x="8636318" y="4238625"/>
              <a:ext cx="498157" cy="349567"/>
            </a:xfrm>
            <a:custGeom>
              <a:avLst/>
              <a:gdLst/>
              <a:ahLst/>
              <a:cxnLst/>
              <a:rect l="l" t="t" r="r" b="b"/>
              <a:pathLst>
                <a:path w="498157" h="349567">
                  <a:moveTo>
                    <a:pt x="0" y="349567"/>
                  </a:moveTo>
                  <a:lnTo>
                    <a:pt x="498157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16" name="Freeform 116"/>
            <p:cNvSpPr/>
            <p:nvPr/>
          </p:nvSpPr>
          <p:spPr>
            <a:xfrm>
              <a:off x="9106852" y="4184332"/>
              <a:ext cx="105728" cy="93345"/>
            </a:xfrm>
            <a:custGeom>
              <a:avLst/>
              <a:gdLst/>
              <a:ahLst/>
              <a:cxnLst/>
              <a:rect l="l" t="t" r="r" b="b"/>
              <a:pathLst>
                <a:path w="105728" h="93345">
                  <a:moveTo>
                    <a:pt x="105728" y="0"/>
                  </a:moveTo>
                  <a:lnTo>
                    <a:pt x="55245" y="93345"/>
                  </a:lnTo>
                  <a:lnTo>
                    <a:pt x="0" y="1524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17" name="Freeform 117"/>
            <p:cNvSpPr/>
            <p:nvPr/>
          </p:nvSpPr>
          <p:spPr>
            <a:xfrm>
              <a:off x="9134475" y="4323398"/>
              <a:ext cx="100012" cy="211455"/>
            </a:xfrm>
            <a:custGeom>
              <a:avLst/>
              <a:gdLst/>
              <a:ahLst/>
              <a:cxnLst/>
              <a:rect l="l" t="t" r="r" b="b"/>
              <a:pathLst>
                <a:path w="100012" h="211455">
                  <a:moveTo>
                    <a:pt x="0" y="211455"/>
                  </a:moveTo>
                  <a:lnTo>
                    <a:pt x="100012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18" name="Freeform 118"/>
            <p:cNvSpPr/>
            <p:nvPr/>
          </p:nvSpPr>
          <p:spPr>
            <a:xfrm>
              <a:off x="9191625" y="4237672"/>
              <a:ext cx="85725" cy="106680"/>
            </a:xfrm>
            <a:custGeom>
              <a:avLst/>
              <a:gdLst/>
              <a:ahLst/>
              <a:cxnLst/>
              <a:rect l="l" t="t" r="r" b="b"/>
              <a:pathLst>
                <a:path w="85725" h="106680">
                  <a:moveTo>
                    <a:pt x="83820" y="0"/>
                  </a:moveTo>
                  <a:lnTo>
                    <a:pt x="85725" y="106680"/>
                  </a:lnTo>
                  <a:lnTo>
                    <a:pt x="0" y="65723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19" name="Freeform 119"/>
            <p:cNvSpPr/>
            <p:nvPr/>
          </p:nvSpPr>
          <p:spPr>
            <a:xfrm>
              <a:off x="9455468" y="4323398"/>
              <a:ext cx="100965" cy="211455"/>
            </a:xfrm>
            <a:custGeom>
              <a:avLst/>
              <a:gdLst/>
              <a:ahLst/>
              <a:cxnLst/>
              <a:rect l="l" t="t" r="r" b="b"/>
              <a:pathLst>
                <a:path w="100965" h="211455">
                  <a:moveTo>
                    <a:pt x="100965" y="211455"/>
                  </a:moveTo>
                  <a:lnTo>
                    <a:pt x="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20" name="Freeform 120"/>
            <p:cNvSpPr/>
            <p:nvPr/>
          </p:nvSpPr>
          <p:spPr>
            <a:xfrm>
              <a:off x="9412605" y="4237672"/>
              <a:ext cx="85725" cy="106680"/>
            </a:xfrm>
            <a:custGeom>
              <a:avLst/>
              <a:gdLst/>
              <a:ahLst/>
              <a:cxnLst/>
              <a:rect l="l" t="t" r="r" b="b"/>
              <a:pathLst>
                <a:path w="85725" h="106680">
                  <a:moveTo>
                    <a:pt x="1905" y="0"/>
                  </a:moveTo>
                  <a:lnTo>
                    <a:pt x="85725" y="65723"/>
                  </a:lnTo>
                  <a:lnTo>
                    <a:pt x="0" y="10668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21" name="Freeform 121"/>
            <p:cNvSpPr/>
            <p:nvPr/>
          </p:nvSpPr>
          <p:spPr>
            <a:xfrm>
              <a:off x="9555480" y="4238625"/>
              <a:ext cx="498157" cy="349567"/>
            </a:xfrm>
            <a:custGeom>
              <a:avLst/>
              <a:gdLst/>
              <a:ahLst/>
              <a:cxnLst/>
              <a:rect l="l" t="t" r="r" b="b"/>
              <a:pathLst>
                <a:path w="498157" h="349567">
                  <a:moveTo>
                    <a:pt x="498157" y="349567"/>
                  </a:moveTo>
                  <a:lnTo>
                    <a:pt x="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22" name="Freeform 122"/>
            <p:cNvSpPr/>
            <p:nvPr/>
          </p:nvSpPr>
          <p:spPr>
            <a:xfrm>
              <a:off x="9477375" y="4184332"/>
              <a:ext cx="105728" cy="93345"/>
            </a:xfrm>
            <a:custGeom>
              <a:avLst/>
              <a:gdLst/>
              <a:ahLst/>
              <a:cxnLst/>
              <a:rect l="l" t="t" r="r" b="b"/>
              <a:pathLst>
                <a:path w="105728" h="93345">
                  <a:moveTo>
                    <a:pt x="0" y="0"/>
                  </a:moveTo>
                  <a:lnTo>
                    <a:pt x="105728" y="15240"/>
                  </a:lnTo>
                  <a:lnTo>
                    <a:pt x="51435" y="93345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23" name="Freeform 123"/>
            <p:cNvSpPr/>
            <p:nvPr/>
          </p:nvSpPr>
          <p:spPr>
            <a:xfrm>
              <a:off x="10957560" y="4348162"/>
              <a:ext cx="9525" cy="171450"/>
            </a:xfrm>
            <a:custGeom>
              <a:avLst/>
              <a:gdLst/>
              <a:ahLst/>
              <a:cxnLst/>
              <a:rect l="l" t="t" r="r" b="b"/>
              <a:pathLst>
                <a:path w="9525" h="171450">
                  <a:moveTo>
                    <a:pt x="0" y="171450"/>
                  </a:moveTo>
                  <a:lnTo>
                    <a:pt x="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24" name="Freeform 124"/>
            <p:cNvSpPr/>
            <p:nvPr/>
          </p:nvSpPr>
          <p:spPr>
            <a:xfrm>
              <a:off x="10909935" y="4252912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0"/>
                  </a:moveTo>
                  <a:lnTo>
                    <a:pt x="95250" y="95250"/>
                  </a:lnTo>
                  <a:lnTo>
                    <a:pt x="0" y="9525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25" name="Ellipse 125"/>
            <p:cNvSpPr/>
            <p:nvPr/>
          </p:nvSpPr>
          <p:spPr>
            <a:xfrm>
              <a:off x="9192578" y="3938588"/>
              <a:ext cx="304800" cy="304800"/>
            </a:xfrm>
            <a:prstGeom prst="ellipse">
              <a:avLst/>
            </a:prstGeom>
            <a:solidFill>
              <a:srgbClr val="2F4B9A"/>
            </a:solidFill>
            <a:ln w="17145">
              <a:solidFill>
                <a:srgbClr val="2F4B9A"/>
              </a:solidFill>
            </a:ln>
          </p:spPr>
        </p:sp>
        <p:sp>
          <p:nvSpPr>
            <p:cNvPr id="126" name="Ellipse 126"/>
            <p:cNvSpPr/>
            <p:nvPr/>
          </p:nvSpPr>
          <p:spPr>
            <a:xfrm>
              <a:off x="8351520" y="4529138"/>
              <a:ext cx="304800" cy="3048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2F4B9A"/>
              </a:solidFill>
            </a:ln>
          </p:spPr>
        </p:sp>
        <p:sp>
          <p:nvSpPr>
            <p:cNvPr id="127" name="Ellipse 127"/>
            <p:cNvSpPr/>
            <p:nvPr/>
          </p:nvSpPr>
          <p:spPr>
            <a:xfrm>
              <a:off x="8912542" y="4529138"/>
              <a:ext cx="304800" cy="3048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2F4B9A"/>
              </a:solidFill>
            </a:ln>
          </p:spPr>
        </p:sp>
        <p:sp>
          <p:nvSpPr>
            <p:cNvPr id="128" name="Ellipse 128"/>
            <p:cNvSpPr/>
            <p:nvPr/>
          </p:nvSpPr>
          <p:spPr>
            <a:xfrm>
              <a:off x="9473565" y="4529138"/>
              <a:ext cx="304800" cy="3048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2F4B9A"/>
              </a:solidFill>
            </a:ln>
          </p:spPr>
        </p:sp>
        <p:sp>
          <p:nvSpPr>
            <p:cNvPr id="129" name="Ellipse 129"/>
            <p:cNvSpPr/>
            <p:nvPr/>
          </p:nvSpPr>
          <p:spPr>
            <a:xfrm>
              <a:off x="10033635" y="4529138"/>
              <a:ext cx="304800" cy="3048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2F4B9A"/>
              </a:solidFill>
            </a:ln>
          </p:spPr>
        </p:sp>
        <p:sp>
          <p:nvSpPr>
            <p:cNvPr id="130" name="Ellipse 130"/>
            <p:cNvSpPr/>
            <p:nvPr/>
          </p:nvSpPr>
          <p:spPr>
            <a:xfrm>
              <a:off x="10805160" y="3938588"/>
              <a:ext cx="304800" cy="304800"/>
            </a:xfrm>
            <a:prstGeom prst="ellipse">
              <a:avLst/>
            </a:prstGeom>
            <a:solidFill>
              <a:srgbClr val="2F4B9A"/>
            </a:solidFill>
            <a:ln w="17145">
              <a:solidFill>
                <a:srgbClr val="2F4B9A"/>
              </a:solidFill>
            </a:ln>
          </p:spPr>
        </p:sp>
        <p:sp>
          <p:nvSpPr>
            <p:cNvPr id="131" name="Ellipse 131"/>
            <p:cNvSpPr/>
            <p:nvPr/>
          </p:nvSpPr>
          <p:spPr>
            <a:xfrm>
              <a:off x="10805160" y="4529138"/>
              <a:ext cx="304800" cy="3048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2F4B9A"/>
              </a:solidFill>
            </a:ln>
          </p:spPr>
        </p:sp>
        <p:sp>
          <p:nvSpPr>
            <p:cNvPr id="132" name="TextBox 132"/>
            <p:cNvSpPr txBox="1"/>
            <p:nvPr/>
          </p:nvSpPr>
          <p:spPr>
            <a:xfrm>
              <a:off x="9298828" y="4026218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33" name="TextBox 133"/>
            <p:cNvSpPr txBox="1"/>
            <p:nvPr/>
          </p:nvSpPr>
          <p:spPr>
            <a:xfrm>
              <a:off x="8457771" y="4615815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134" name="TextBox 134"/>
            <p:cNvSpPr txBox="1"/>
            <p:nvPr/>
          </p:nvSpPr>
          <p:spPr>
            <a:xfrm>
              <a:off x="9018793" y="4615815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35" name="TextBox 135"/>
            <p:cNvSpPr txBox="1"/>
            <p:nvPr/>
          </p:nvSpPr>
          <p:spPr>
            <a:xfrm>
              <a:off x="9579816" y="4615815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36" name="TextBox 136"/>
            <p:cNvSpPr txBox="1"/>
            <p:nvPr/>
          </p:nvSpPr>
          <p:spPr>
            <a:xfrm>
              <a:off x="10139886" y="4615815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137" name="TextBox 137"/>
            <p:cNvSpPr txBox="1"/>
            <p:nvPr/>
          </p:nvSpPr>
          <p:spPr>
            <a:xfrm>
              <a:off x="10911411" y="4026218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138" name="TextBox 138"/>
            <p:cNvSpPr txBox="1"/>
            <p:nvPr/>
          </p:nvSpPr>
          <p:spPr>
            <a:xfrm>
              <a:off x="10911411" y="4615815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139" name="TextBox 139"/>
            <p:cNvSpPr txBox="1"/>
            <p:nvPr/>
          </p:nvSpPr>
          <p:spPr>
            <a:xfrm>
              <a:off x="9244001" y="3569970"/>
              <a:ext cx="1323998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⑥ 作业7：UNION(5, 6)</a:t>
              </a:r>
            </a:p>
          </p:txBody>
        </p:sp>
      </p:grpSp>
      <p:grpSp>
        <p:nvGrpSpPr>
          <p:cNvPr id="147" name="takeaway"/>
          <p:cNvGrpSpPr/>
          <p:nvPr/>
        </p:nvGrpSpPr>
        <p:grpSpPr>
          <a:xfrm>
            <a:off x="533400" y="5633085"/>
            <a:ext cx="11125200" cy="729615"/>
            <a:chOff x="533400" y="5633085"/>
            <a:chExt cx="11125200" cy="729615"/>
          </a:xfrm>
        </p:grpSpPr>
        <p:sp>
          <p:nvSpPr>
            <p:cNvPr id="141" name="Rectangle 141"/>
            <p:cNvSpPr/>
            <p:nvPr/>
          </p:nvSpPr>
          <p:spPr>
            <a:xfrm>
              <a:off x="533400" y="5633085"/>
              <a:ext cx="11125200" cy="729615"/>
            </a:xfrm>
            <a:prstGeom prst="roundRect">
              <a:avLst>
                <a:gd name="adj" fmla="val 15666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145" name="Group 145"/>
            <p:cNvGrpSpPr/>
            <p:nvPr/>
          </p:nvGrpSpPr>
          <p:grpSpPr>
            <a:xfrm>
              <a:off x="738188" y="5897880"/>
              <a:ext cx="200026" cy="200025"/>
              <a:chOff x="738188" y="5897880"/>
              <a:chExt cx="200026" cy="200025"/>
            </a:xfrm>
          </p:grpSpPr>
          <p:sp>
            <p:nvSpPr>
              <p:cNvPr id="142" name="Freeform 142"/>
              <p:cNvSpPr/>
              <p:nvPr/>
            </p:nvSpPr>
            <p:spPr>
              <a:xfrm>
                <a:off x="738188" y="5897880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143" name="Freeform 143"/>
              <p:cNvSpPr/>
              <p:nvPr/>
            </p:nvSpPr>
            <p:spPr>
              <a:xfrm>
                <a:off x="777926" y="5942330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144" name="Freeform 144"/>
              <p:cNvSpPr/>
              <p:nvPr/>
            </p:nvSpPr>
            <p:spPr>
              <a:xfrm>
                <a:off x="812642" y="6053456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146" name="TextBox 146"/>
            <p:cNvSpPr txBox="1"/>
            <p:nvPr/>
          </p:nvSpPr>
          <p:spPr>
            <a:xfrm>
              <a:off x="1040892" y="5779770"/>
              <a:ext cx="9914954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深色结点是根。作业5（d = 2）找到根 1，F(1) = 0，舍弃，树不再变化。最后根 1 的树含结点 0~4，时间片 1~4 全满；根 5 的 F =</a:t>
              </a:r>
              <a:br/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5，时间片 5 仍空。</a:t>
              </a:r>
            </a:p>
          </p:txBody>
        </p:sp>
      </p:grpSp>
      <p:grpSp>
        <p:nvGrpSpPr>
          <p:cNvPr id="150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48" name="TextBox 148"/>
            <p:cNvSpPr txBox="1"/>
            <p:nvPr/>
          </p:nvSpPr>
          <p:spPr>
            <a:xfrm>
              <a:off x="528447" y="6581299"/>
              <a:ext cx="242418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算法设计与分析 · 第5章 贪心法 作业讲解</a:t>
              </a:r>
            </a:p>
          </p:txBody>
        </p:sp>
        <p:sp>
          <p:nvSpPr>
            <p:cNvPr id="149" name="TextBox 149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866608" cy="909257"/>
            <a:chOff x="520446" y="342900"/>
            <a:chExt cx="8866608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987868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8957" y="407194"/>
              <a:ext cx="18358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第5章 作业讲解 · 作业调度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86660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题4 复核：穷举与 JS 都给出 {1, 3, 4, 6, 7}，效益 115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6" name="c1-table-1"/>
          <p:cNvGrpSpPr/>
          <p:nvPr/>
        </p:nvGrpSpPr>
        <p:grpSpPr>
          <a:xfrm>
            <a:off x="533400" y="1524000"/>
            <a:ext cx="5410200" cy="2470785"/>
            <a:chOff x="533400" y="1524000"/>
            <a:chExt cx="5410200" cy="247078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448628"/>
            </a:xfrm>
            <a:prstGeom prst="rect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459078" y="1659731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核对项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4250334" y="165973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结果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641223" y="2108359"/>
              <a:ext cx="198305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FJS 每步的 F 与 PARENT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3021520" y="2108359"/>
              <a:ext cx="225303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脚本逐步模拟，与上两页一致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533400" y="241649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533400" y="2421255"/>
              <a:ext cx="5410200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641223" y="2556986"/>
              <a:ext cx="118210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穷举 2⁷ 个子集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2923222" y="2430780"/>
              <a:ext cx="3010852" cy="429578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3021520" y="2556986"/>
              <a:ext cx="285612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最优效益 115，集合 {1, 3, 4, 6, 7}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533400" y="286607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641223" y="3005614"/>
              <a:ext cx="131447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同一数据交给 JS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3021520" y="3005614"/>
              <a:ext cx="250402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J = (6, 1, 4, 3, 7)，集合相同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533400" y="3314700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533400" y="3319462"/>
              <a:ext cx="5410200" cy="675322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41223" y="3567589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时间片分配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3021520" y="3454241"/>
              <a:ext cx="2443226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作业6→1，作业1→2，作业4→3，作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业3→4，作业7→6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533400" y="1524000"/>
              <a:ext cx="5410200" cy="247078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25" name="Rectangle 25"/>
            <p:cNvSpPr/>
            <p:nvPr/>
          </p:nvSpPr>
          <p:spPr>
            <a:xfrm>
              <a:off x="2908935" y="1524000"/>
              <a:ext cx="9525" cy="247078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32" name="c1-card-2"/>
          <p:cNvGrpSpPr/>
          <p:nvPr/>
        </p:nvGrpSpPr>
        <p:grpSpPr>
          <a:xfrm>
            <a:off x="533400" y="4185285"/>
            <a:ext cx="5410200" cy="2076450"/>
            <a:chOff x="533400" y="4185285"/>
            <a:chExt cx="5410200" cy="2076450"/>
          </a:xfrm>
        </p:grpSpPr>
        <p:sp>
          <p:nvSpPr>
            <p:cNvPr id="27" name="Rectangle 27"/>
            <p:cNvSpPr/>
            <p:nvPr/>
          </p:nvSpPr>
          <p:spPr>
            <a:xfrm>
              <a:off x="533400" y="4185285"/>
              <a:ext cx="5410200" cy="2076450"/>
            </a:xfrm>
            <a:prstGeom prst="roundRect">
              <a:avLst>
                <a:gd name="adj" fmla="val 6422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542925" y="4318635"/>
              <a:ext cx="47625" cy="1809750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781050" y="4394835"/>
              <a:ext cx="1474470" cy="257175"/>
            </a:xfrm>
            <a:prstGeom prst="roundRect">
              <a:avLst>
                <a:gd name="adj" fmla="val 50000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842189" y="4430554"/>
              <a:ext cx="135219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92400E"/>
                  </a:solidFill>
                  <a:latin typeface="+mn-lt"/>
                  <a:ea typeface="+mn-ea"/>
                  <a:cs typeface="+mn-cs"/>
                </a:rPr>
                <a:t>为什么作业2 被舍弃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73430" y="4772025"/>
              <a:ext cx="4730115" cy="11506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作业2 的期限是 4，时间片 1~4 已被作业 6、1、4、3 占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满，它们的效益 15、40、20、30 都比 12 大。作业7 的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期限是 6，能用时间片 6，所以效益更低的它反而被收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下。</a:t>
              </a:r>
            </a:p>
          </p:txBody>
        </p:sp>
      </p:grpSp>
      <p:grpSp>
        <p:nvGrpSpPr>
          <p:cNvPr id="52" name="c2-compare-1"/>
          <p:cNvGrpSpPr/>
          <p:nvPr/>
        </p:nvGrpSpPr>
        <p:grpSpPr>
          <a:xfrm>
            <a:off x="6248400" y="1524000"/>
            <a:ext cx="5410200" cy="2274570"/>
            <a:chOff x="6248400" y="1524000"/>
            <a:chExt cx="5410200" cy="2274570"/>
          </a:xfrm>
        </p:grpSpPr>
        <p:sp>
          <p:nvSpPr>
            <p:cNvPr id="33" name="Rectangle 33"/>
            <p:cNvSpPr/>
            <p:nvPr/>
          </p:nvSpPr>
          <p:spPr>
            <a:xfrm>
              <a:off x="6248400" y="1524000"/>
              <a:ext cx="2495550" cy="2274570"/>
            </a:xfrm>
            <a:prstGeom prst="roundRect">
              <a:avLst>
                <a:gd name="adj" fmla="val 5863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6450330" y="1758315"/>
              <a:ext cx="165347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JS（题3 的做法）</a:t>
              </a:r>
            </a:p>
          </p:txBody>
        </p:sp>
        <p:sp>
          <p:nvSpPr>
            <p:cNvPr id="35" name="Ellipse 35"/>
            <p:cNvSpPr/>
            <p:nvPr/>
          </p:nvSpPr>
          <p:spPr>
            <a:xfrm>
              <a:off x="6463665" y="2175510"/>
              <a:ext cx="64770" cy="6477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6621780" y="2112645"/>
              <a:ext cx="170116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J 按期限有序存在数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组里</a:t>
              </a:r>
            </a:p>
          </p:txBody>
        </p:sp>
        <p:sp>
          <p:nvSpPr>
            <p:cNvPr id="37" name="Ellipse 37"/>
            <p:cNvSpPr/>
            <p:nvPr/>
          </p:nvSpPr>
          <p:spPr>
            <a:xfrm>
              <a:off x="6463665" y="2796540"/>
              <a:ext cx="64770" cy="6477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6621780" y="2733675"/>
              <a:ext cx="1630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插入时要后移元素</a:t>
              </a:r>
            </a:p>
          </p:txBody>
        </p:sp>
        <p:sp>
          <p:nvSpPr>
            <p:cNvPr id="39" name="Ellipse 39"/>
            <p:cNvSpPr/>
            <p:nvPr/>
          </p:nvSpPr>
          <p:spPr>
            <a:xfrm>
              <a:off x="6463665" y="3131820"/>
              <a:ext cx="64770" cy="6477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6621780" y="3068955"/>
              <a:ext cx="109394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最坏 O(n²)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9163050" y="1524000"/>
              <a:ext cx="2495550" cy="2274570"/>
            </a:xfrm>
            <a:prstGeom prst="roundRect">
              <a:avLst>
                <a:gd name="adj" fmla="val 586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2" name="Rectangle 42"/>
            <p:cNvSpPr/>
            <p:nvPr/>
          </p:nvSpPr>
          <p:spPr>
            <a:xfrm>
              <a:off x="9172575" y="1657350"/>
              <a:ext cx="47625" cy="2007870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9403080" y="1758315"/>
              <a:ext cx="119260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FJS（本题）</a:t>
              </a:r>
            </a:p>
          </p:txBody>
        </p:sp>
        <p:sp>
          <p:nvSpPr>
            <p:cNvPr id="44" name="Ellipse 44"/>
            <p:cNvSpPr/>
            <p:nvPr/>
          </p:nvSpPr>
          <p:spPr>
            <a:xfrm>
              <a:off x="9416415" y="2175510"/>
              <a:ext cx="64770" cy="6477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9574530" y="2112645"/>
              <a:ext cx="188309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时间片 0~b 组成森林</a:t>
              </a:r>
            </a:p>
          </p:txBody>
        </p:sp>
        <p:sp>
          <p:nvSpPr>
            <p:cNvPr id="46" name="Ellipse 46"/>
            <p:cNvSpPr/>
            <p:nvPr/>
          </p:nvSpPr>
          <p:spPr>
            <a:xfrm>
              <a:off x="9416415" y="2510790"/>
              <a:ext cx="64770" cy="6477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9574530" y="2447925"/>
              <a:ext cx="177736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每次两次 FIND、一次</a:t>
              </a:r>
              <a:br/>
              <a:r>
                <a:rPr lang="en-US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UNION</a:t>
              </a:r>
            </a:p>
          </p:txBody>
        </p:sp>
        <p:sp>
          <p:nvSpPr>
            <p:cNvPr id="48" name="Ellipse 48"/>
            <p:cNvSpPr/>
            <p:nvPr/>
          </p:nvSpPr>
          <p:spPr>
            <a:xfrm>
              <a:off x="9416415" y="3131820"/>
              <a:ext cx="64770" cy="6477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9574530" y="3068955"/>
              <a:ext cx="175831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O(n·α(n))，接近线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性</a:t>
              </a:r>
            </a:p>
          </p:txBody>
        </p:sp>
        <p:sp>
          <p:nvSpPr>
            <p:cNvPr id="50" name="Ellipse 50"/>
            <p:cNvSpPr/>
            <p:nvPr/>
          </p:nvSpPr>
          <p:spPr>
            <a:xfrm>
              <a:off x="8791575" y="2499360"/>
              <a:ext cx="323850" cy="323850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8861915" y="2595562"/>
              <a:ext cx="1831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VS</a:t>
              </a:r>
            </a:p>
          </p:txBody>
        </p:sp>
      </p:grpSp>
      <p:grpSp>
        <p:nvGrpSpPr>
          <p:cNvPr id="63" name="c2-card-2"/>
          <p:cNvGrpSpPr/>
          <p:nvPr/>
        </p:nvGrpSpPr>
        <p:grpSpPr>
          <a:xfrm>
            <a:off x="6248400" y="3989070"/>
            <a:ext cx="5410200" cy="2272665"/>
            <a:chOff x="6248400" y="3989070"/>
            <a:chExt cx="5410200" cy="2272665"/>
          </a:xfrm>
        </p:grpSpPr>
        <p:sp>
          <p:nvSpPr>
            <p:cNvPr id="53" name="Rectangle 53"/>
            <p:cNvSpPr/>
            <p:nvPr/>
          </p:nvSpPr>
          <p:spPr>
            <a:xfrm>
              <a:off x="6248400" y="3989070"/>
              <a:ext cx="5410200" cy="2272665"/>
            </a:xfrm>
            <a:prstGeom prst="roundRect">
              <a:avLst>
                <a:gd name="adj" fmla="val 5868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54" name="Rectangle 54"/>
            <p:cNvSpPr/>
            <p:nvPr/>
          </p:nvSpPr>
          <p:spPr>
            <a:xfrm>
              <a:off x="6257925" y="4122420"/>
              <a:ext cx="47625" cy="2005965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55" name="Rectangle 55"/>
            <p:cNvSpPr/>
            <p:nvPr/>
          </p:nvSpPr>
          <p:spPr>
            <a:xfrm>
              <a:off x="6496050" y="4198620"/>
              <a:ext cx="1204912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6565557" y="4234339"/>
              <a:ext cx="10668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两种算法的差别</a:t>
              </a:r>
            </a:p>
          </p:txBody>
        </p:sp>
        <p:sp>
          <p:nvSpPr>
            <p:cNvPr id="57" name="Ellipse 57"/>
            <p:cNvSpPr/>
            <p:nvPr/>
          </p:nvSpPr>
          <p:spPr>
            <a:xfrm>
              <a:off x="6501765" y="4638675"/>
              <a:ext cx="64770" cy="6477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6659880" y="4575810"/>
              <a:ext cx="442531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FJS 给作业分配的是“期限往前最晚的空时间片”，JS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数组里的位置只表示处理先后</a:t>
              </a:r>
            </a:p>
          </p:txBody>
        </p:sp>
        <p:sp>
          <p:nvSpPr>
            <p:cNvPr id="59" name="Ellipse 59"/>
            <p:cNvSpPr/>
            <p:nvPr/>
          </p:nvSpPr>
          <p:spPr>
            <a:xfrm>
              <a:off x="6501765" y="5259705"/>
              <a:ext cx="64770" cy="6477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6659880" y="5196840"/>
              <a:ext cx="450151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两者都先按效益排序，这一步 O(n log n) 相同；差别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只在找位置的代价</a:t>
              </a:r>
            </a:p>
          </p:txBody>
        </p:sp>
        <p:sp>
          <p:nvSpPr>
            <p:cNvPr id="61" name="Ellipse 61"/>
            <p:cNvSpPr/>
            <p:nvPr/>
          </p:nvSpPr>
          <p:spPr>
            <a:xfrm>
              <a:off x="6501765" y="5880735"/>
              <a:ext cx="64770" cy="6477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6659880" y="5817870"/>
              <a:ext cx="36499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贪心策略没变，所以选中的作业集合相同</a:t>
              </a:r>
            </a:p>
          </p:txBody>
        </p:sp>
      </p:grpSp>
      <p:grpSp>
        <p:nvGrpSpPr>
          <p:cNvPr id="66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4" name="TextBox 64"/>
            <p:cNvSpPr txBox="1"/>
            <p:nvPr/>
          </p:nvSpPr>
          <p:spPr>
            <a:xfrm>
              <a:off x="528447" y="6581299"/>
              <a:ext cx="242418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算法设计与分析 · 第5章 贪心法 作业讲解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2F4B9A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8EDF8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03</a:t>
              </a:r>
            </a:p>
          </p:txBody>
        </p:sp>
      </p:grpSp>
      <p:grpSp>
        <p:nvGrpSpPr>
          <p:cNvPr id="14" name="section-title"/>
          <p:cNvGrpSpPr/>
          <p:nvPr/>
        </p:nvGrpSpPr>
        <p:grpSpPr>
          <a:xfrm>
            <a:off x="667512" y="1835468"/>
            <a:ext cx="6736461" cy="2643187"/>
            <a:chOff x="667512" y="1835468"/>
            <a:chExt cx="6736461" cy="264318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第三部分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3429000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排序与交换论证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626952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解是 n 个元素的一种排列：交换相邻的逆序对，看目标值怎么变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649719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题5 磁带存储：按 lᵢ 非降、按 fᵢ 非增都不一定最优，按 fᵢ/lᵢ 非增最优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581063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题7 n 个顾客排队服务：给出贪心策略并证明，写出算法与复杂度</a:t>
              </a:r>
            </a:p>
          </p:txBody>
        </p:sp>
      </p:grpSp>
      <p:grpSp>
        <p:nvGrpSpPr>
          <p:cNvPr id="1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5" name="TextBox 15"/>
            <p:cNvSpPr txBox="1"/>
            <p:nvPr/>
          </p:nvSpPr>
          <p:spPr>
            <a:xfrm>
              <a:off x="528447" y="6581299"/>
              <a:ext cx="242418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算法设计与分析 · 第5章 贪心法 作业讲解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859386" cy="909257"/>
            <a:chOff x="520446" y="342900"/>
            <a:chExt cx="8859386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14588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6156" y="407194"/>
              <a:ext cx="22881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第5章 作业讲解 · 排序与交换论证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85938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题5①②：两个程序就能说明按长度、按频率排都不一定最优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3" name="c1-card-1"/>
          <p:cNvGrpSpPr/>
          <p:nvPr/>
        </p:nvGrpSpPr>
        <p:grpSpPr>
          <a:xfrm>
            <a:off x="533400" y="1524000"/>
            <a:ext cx="5410200" cy="1464945"/>
            <a:chOff x="533400" y="1524000"/>
            <a:chExt cx="5410200" cy="146494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1464945"/>
            </a:xfrm>
            <a:prstGeom prst="roundRect">
              <a:avLst>
                <a:gd name="adj" fmla="val 910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198245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63905" y="1716405"/>
              <a:ext cx="553402" cy="247650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52630" y="1750695"/>
              <a:ext cx="37500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第5题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57047" y="2072640"/>
              <a:ext cx="4773597" cy="4954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22"/>
                </a:lnSpc>
              </a:pPr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长 lᵢ、检索频率 fᵢ 的 n 个程序按 i₁, i₂, …, iₙ 存入磁带，期</a:t>
              </a:r>
              <a:br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望检索时间如下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58190" y="2620804"/>
              <a:ext cx="381848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思路：①② 各给两个程序的反例；③ 用相邻交换证明最优。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formula20"/>
              <p:cNvSpPr txBox="1">
                <a:spLocks noGrp="1"/>
              </p:cNvSpPr>
              <p:nvPr/>
            </p:nvSpPr>
            <p:spPr>
              <a:xfrm>
                <a:off x="533400" y="3164205"/>
                <a:ext cx="5410200" cy="6286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r>
                        <m:rPr>
                          <m:sty m:val="p"/>
                        </m:rPr>
                        <a:rPr lang="zh-CN" sz="15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ERT</m:t>
                      </m:r>
                      <m:r>
                        <m:rPr>
                          <m:sty m:val="p"/>
                        </m:rPr>
                        <a:rPr lang="zh-CN" sz="15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f>
                        <m:fPr>
                          <m:type m:val="bar"/>
                          <m:ctrlP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nary>
                            <m:naryPr>
                              <m:chr m:val="∑"/>
                              <m:limLoc m:val="undOvr"/>
                              <m:grow m:val="off"/>
                              <m:subHide m:val="off"/>
                              <m:supHide m:val="off"/>
                              <m:ctrlP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naryPr>
                            <m:sub>
                              <m: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j</m:t>
                              </m:r>
                              <m:r>
                                <m:rPr>
                                  <m:sty m:val="p"/>
                                </m:rP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=</m:t>
                              </m:r>
                              <m: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n</m:t>
                              </m:r>
                            </m:sup>
                            <m:e>
                              <m:sSub>
                                <m:e>
                                  <m:r>
                                    <a:rPr lang="zh-CN" sz="15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f</m:t>
                                  </m:r>
                                </m:e>
                                <m:sub>
                                  <m:sSub>
                                    <m:e>
                                      <m:r>
                                        <a:rPr lang="zh-CN" sz="150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i</m:t>
                                      </m:r>
                                    </m:e>
                                    <m:sub>
                                      <m:r>
                                        <a:rPr lang="zh-CN" sz="150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j</m:t>
                                      </m:r>
                                    </m:sub>
                                  </m:sSub>
                                </m:sub>
                              </m:sSub>
                              <m:nary>
                                <m:naryPr>
                                  <m:chr m:val="∑"/>
                                  <m:limLoc m:val="undOvr"/>
                                  <m:grow m:val="off"/>
                                  <m:subHide m:val="off"/>
                                  <m:supHide m:val="off"/>
                                  <m:ctrlPr>
                                    <a:rPr lang="zh-CN" sz="15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naryPr>
                                <m:sub>
                                  <m:r>
                                    <a:rPr lang="zh-CN" sz="15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k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zh-CN" sz="15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=</m:t>
                                  </m:r>
                                  <m:r>
                                    <a:rPr lang="zh-CN" sz="15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zh-CN" sz="15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j</m:t>
                                  </m:r>
                                </m:sup>
                                <m:e>
                                  <m:sSub>
                                    <m:e>
                                      <m:r>
                                        <a:rPr lang="zh-CN" sz="150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l</m:t>
                                      </m:r>
                                    </m:e>
                                    <m:sub>
                                      <m:sSub>
                                        <m:e>
                                          <m:r>
                                            <a:rPr lang="zh-CN" sz="1500" dirty="0">
                                              <a:solidFill>
                                                <a:srgbClr val="1F2937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  <m:t>i</m:t>
                                          </m:r>
                                        </m:e>
                                        <m:sub>
                                          <m:r>
                                            <a:rPr lang="zh-CN" sz="1500" dirty="0">
                                              <a:solidFill>
                                                <a:srgbClr val="1F2937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  <m:t>k</m:t>
                                          </m:r>
                                        </m:sub>
                                      </m:sSub>
                                    </m:sub>
                                  </m:sSub>
                                </m:e>
                              </m:nary>
                            </m:e>
                          </m:nary>
                        </m:num>
                        <m:den>
                          <m:nary>
                            <m:naryPr>
                              <m:chr m:val="∑"/>
                              <m:limLoc m:val="undOvr"/>
                              <m:grow m:val="off"/>
                              <m:subHide m:val="off"/>
                              <m:supHide m:val="off"/>
                              <m:ctrlP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naryPr>
                            <m:sub>
                              <m: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i</m:t>
                              </m:r>
                              <m:r>
                                <m:rPr>
                                  <m:sty m:val="p"/>
                                </m:rP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=</m:t>
                              </m:r>
                              <m: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n</m:t>
                              </m:r>
                            </m:sup>
                            <m:e>
                              <m:sSub>
                                <m:e>
                                  <m:r>
                                    <a:rPr lang="zh-CN" sz="15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f</m:t>
                                  </m:r>
                                </m:e>
                                <m:sub>
                                  <m:r>
                                    <a:rPr lang="zh-CN" sz="15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i</m:t>
                                  </m:r>
                                </m:sub>
                              </m:sSub>
                            </m:e>
                          </m:nary>
                        </m:den>
                      </m:f>
                    </m:oMath>
                  </m:oMathPara>
                </a14:m>
              </a:p>
            </p:txBody>
          </p:sp>
        </mc:Choice>
      </mc:AlternateContent>
      <p:grpSp>
        <p:nvGrpSpPr>
          <p:cNvPr id="21" name="c1-callout-3"/>
          <p:cNvGrpSpPr/>
          <p:nvPr/>
        </p:nvGrpSpPr>
        <p:grpSpPr>
          <a:xfrm>
            <a:off x="533400" y="3967162"/>
            <a:ext cx="5410200" cy="729615"/>
            <a:chOff x="533400" y="3967162"/>
            <a:chExt cx="5410200" cy="729615"/>
          </a:xfrm>
        </p:grpSpPr>
        <p:sp>
          <p:nvSpPr>
            <p:cNvPr id="15" name="Rectangle 15"/>
            <p:cNvSpPr/>
            <p:nvPr/>
          </p:nvSpPr>
          <p:spPr>
            <a:xfrm>
              <a:off x="533400" y="3967162"/>
              <a:ext cx="5410200" cy="729615"/>
            </a:xfrm>
            <a:prstGeom prst="roundRect">
              <a:avLst>
                <a:gd name="adj" fmla="val 15666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19" name="Group 19"/>
            <p:cNvGrpSpPr/>
            <p:nvPr/>
          </p:nvGrpSpPr>
          <p:grpSpPr>
            <a:xfrm>
              <a:off x="738188" y="4231958"/>
              <a:ext cx="200026" cy="200026"/>
              <a:chOff x="738188" y="4231958"/>
              <a:chExt cx="200026" cy="200026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738188" y="4231958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17" name="Freeform 17"/>
              <p:cNvSpPr/>
              <p:nvPr/>
            </p:nvSpPr>
            <p:spPr>
              <a:xfrm>
                <a:off x="838200" y="429863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18" name="Freeform 18"/>
              <p:cNvSpPr/>
              <p:nvPr/>
            </p:nvSpPr>
            <p:spPr>
              <a:xfrm>
                <a:off x="827088" y="4331970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20" name="TextBox 20"/>
            <p:cNvSpPr txBox="1"/>
            <p:nvPr/>
          </p:nvSpPr>
          <p:spPr>
            <a:xfrm>
              <a:off x="1040892" y="4113848"/>
              <a:ext cx="4437126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读第 j 个程序要先走过前面 j 个程序的长度，频率就是它的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权重。两组反例的 Σfᵢ = 1，分母可以不写。</a:t>
              </a:r>
            </a:p>
          </p:txBody>
        </p:sp>
      </p:grpSp>
      <p:grpSp>
        <p:nvGrpSpPr>
          <p:cNvPr id="26" name="c1-card-4"/>
          <p:cNvGrpSpPr/>
          <p:nvPr/>
        </p:nvGrpSpPr>
        <p:grpSpPr>
          <a:xfrm>
            <a:off x="533400" y="4872038"/>
            <a:ext cx="5410200" cy="1466850"/>
            <a:chOff x="533400" y="4872038"/>
            <a:chExt cx="5410200" cy="1466850"/>
          </a:xfrm>
        </p:grpSpPr>
        <p:sp>
          <p:nvSpPr>
            <p:cNvPr id="22" name="Rectangle 22"/>
            <p:cNvSpPr/>
            <p:nvPr/>
          </p:nvSpPr>
          <p:spPr>
            <a:xfrm>
              <a:off x="533400" y="4872038"/>
              <a:ext cx="5410200" cy="1466850"/>
            </a:xfrm>
            <a:prstGeom prst="roundRect">
              <a:avLst>
                <a:gd name="adj" fmla="val 9091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3" name="Rectangle 23"/>
            <p:cNvSpPr/>
            <p:nvPr/>
          </p:nvSpPr>
          <p:spPr>
            <a:xfrm>
              <a:off x="725805" y="5064442"/>
              <a:ext cx="1143000" cy="247650"/>
            </a:xfrm>
            <a:prstGeom prst="roundRect">
              <a:avLst>
                <a:gd name="adj" fmla="val 50000"/>
              </a:avLst>
            </a:prstGeom>
            <a:solidFill>
              <a:srgbClr val="243B7A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97242" y="5098733"/>
              <a:ext cx="100012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两个程序的差值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18947" y="5420678"/>
              <a:ext cx="4702874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ERT(1, 2) − ERT(2, 1) = (f₂l₁ − f₁l₂)/Σfᵢ。① 中 0.6×10 −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0.4×12 = 1.2，② 中 0.4×2 − 0.6×1 = 0.2，都为正，所以次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序 2, 1 更好。③ 的交换公式就是这个式子的推广。</a:t>
              </a:r>
            </a:p>
          </p:txBody>
        </p:sp>
      </p:grpSp>
      <p:grpSp>
        <p:nvGrpSpPr>
          <p:cNvPr id="49" name="c2-table-1"/>
          <p:cNvGrpSpPr/>
          <p:nvPr/>
        </p:nvGrpSpPr>
        <p:grpSpPr>
          <a:xfrm>
            <a:off x="6243066" y="1524000"/>
            <a:ext cx="5415534" cy="1496949"/>
            <a:chOff x="6243066" y="1524000"/>
            <a:chExt cx="5415534" cy="1496949"/>
          </a:xfrm>
        </p:grpSpPr>
        <p:sp>
          <p:nvSpPr>
            <p:cNvPr id="27" name="Rectangle 27"/>
            <p:cNvSpPr/>
            <p:nvPr/>
          </p:nvSpPr>
          <p:spPr>
            <a:xfrm>
              <a:off x="6248400" y="1524000"/>
              <a:ext cx="5410200" cy="405765"/>
            </a:xfrm>
            <a:prstGeom prst="rect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010679" y="164830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①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8094066" y="1648301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次序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9554248" y="1648301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算式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1082449" y="1648301"/>
              <a:ext cx="28743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ERT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6348412" y="2054066"/>
              <a:ext cx="89798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 = (10, 12)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971472" y="2054066"/>
              <a:ext cx="30544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1, 2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8728710" y="2054066"/>
              <a:ext cx="136086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 × 0.4 + 22 × 0.6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10802302" y="1939290"/>
              <a:ext cx="846772" cy="386715"/>
            </a:xfrm>
            <a:prstGeom prst="rect">
              <a:avLst/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10892790" y="2054066"/>
              <a:ext cx="3431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17.2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6248400" y="2330768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8" name="Rectangle 38"/>
            <p:cNvSpPr/>
            <p:nvPr/>
          </p:nvSpPr>
          <p:spPr>
            <a:xfrm>
              <a:off x="6248400" y="2335530"/>
              <a:ext cx="5410200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6348412" y="2459831"/>
              <a:ext cx="111170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 = (0.4, 0.6)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7971472" y="2459831"/>
              <a:ext cx="30544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2, 1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8728710" y="2459831"/>
              <a:ext cx="136086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12 × 0.6 + 22 × 0.4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10802302" y="2345055"/>
              <a:ext cx="846772" cy="386715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10892790" y="2459831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16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6248400" y="1524000"/>
              <a:ext cx="5410200" cy="121729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5" name="Rectangle 45"/>
            <p:cNvSpPr/>
            <p:nvPr/>
          </p:nvSpPr>
          <p:spPr>
            <a:xfrm>
              <a:off x="7866698" y="1524000"/>
              <a:ext cx="9525" cy="121729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6" name="Rectangle 46"/>
            <p:cNvSpPr/>
            <p:nvPr/>
          </p:nvSpPr>
          <p:spPr>
            <a:xfrm>
              <a:off x="8623935" y="1524000"/>
              <a:ext cx="9525" cy="121729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7" name="Rectangle 47"/>
            <p:cNvSpPr/>
            <p:nvPr/>
          </p:nvSpPr>
          <p:spPr>
            <a:xfrm>
              <a:off x="10788015" y="1524000"/>
              <a:ext cx="9525" cy="121729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6243066" y="2815590"/>
              <a:ext cx="20885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按 lᵢ 非降是次序 1, 2，反而更差</a:t>
              </a:r>
            </a:p>
          </p:txBody>
        </p:sp>
      </p:grpSp>
      <p:grpSp>
        <p:nvGrpSpPr>
          <p:cNvPr id="72" name="c2-table-2"/>
          <p:cNvGrpSpPr/>
          <p:nvPr/>
        </p:nvGrpSpPr>
        <p:grpSpPr>
          <a:xfrm>
            <a:off x="6243066" y="3154680"/>
            <a:ext cx="5415534" cy="1496949"/>
            <a:chOff x="6243066" y="3154680"/>
            <a:chExt cx="5415534" cy="1496949"/>
          </a:xfrm>
        </p:grpSpPr>
        <p:sp>
          <p:nvSpPr>
            <p:cNvPr id="50" name="Rectangle 50"/>
            <p:cNvSpPr/>
            <p:nvPr/>
          </p:nvSpPr>
          <p:spPr>
            <a:xfrm>
              <a:off x="6248400" y="3154680"/>
              <a:ext cx="5410200" cy="405765"/>
            </a:xfrm>
            <a:prstGeom prst="rect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7010679" y="327898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②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8094066" y="3278981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次序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9554248" y="3278981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算式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11082449" y="3278981"/>
              <a:ext cx="28743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ERT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6348412" y="3684746"/>
              <a:ext cx="72383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 = (2, 1)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7971472" y="3684746"/>
              <a:ext cx="30544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1, 2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8728710" y="3684746"/>
              <a:ext cx="119500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 × 0.6 + 3 × 0.4</a:t>
              </a:r>
            </a:p>
          </p:txBody>
        </p:sp>
        <p:sp>
          <p:nvSpPr>
            <p:cNvPr id="58" name="Rectangle 58"/>
            <p:cNvSpPr/>
            <p:nvPr/>
          </p:nvSpPr>
          <p:spPr>
            <a:xfrm>
              <a:off x="10802302" y="3569970"/>
              <a:ext cx="846772" cy="386715"/>
            </a:xfrm>
            <a:prstGeom prst="rect">
              <a:avLst/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10892790" y="3684746"/>
              <a:ext cx="2602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2.4</a:t>
              </a:r>
            </a:p>
          </p:txBody>
        </p:sp>
        <p:sp>
          <p:nvSpPr>
            <p:cNvPr id="60" name="Rectangle 60"/>
            <p:cNvSpPr/>
            <p:nvPr/>
          </p:nvSpPr>
          <p:spPr>
            <a:xfrm>
              <a:off x="6248400" y="3961448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1" name="Rectangle 61"/>
            <p:cNvSpPr/>
            <p:nvPr/>
          </p:nvSpPr>
          <p:spPr>
            <a:xfrm>
              <a:off x="6248400" y="3966210"/>
              <a:ext cx="5410200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6348412" y="4090511"/>
              <a:ext cx="111170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 = (0.6, 0.4)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7971472" y="4090511"/>
              <a:ext cx="30544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2, 1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8728710" y="4090511"/>
              <a:ext cx="119500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 × 0.4 + 3 × 0.6</a:t>
              </a:r>
            </a:p>
          </p:txBody>
        </p:sp>
        <p:sp>
          <p:nvSpPr>
            <p:cNvPr id="65" name="Rectangle 65"/>
            <p:cNvSpPr/>
            <p:nvPr/>
          </p:nvSpPr>
          <p:spPr>
            <a:xfrm>
              <a:off x="10802302" y="3975735"/>
              <a:ext cx="846772" cy="386715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10892790" y="4090511"/>
              <a:ext cx="2602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2.2</a:t>
              </a:r>
            </a:p>
          </p:txBody>
        </p:sp>
        <p:sp>
          <p:nvSpPr>
            <p:cNvPr id="67" name="Rectangle 67"/>
            <p:cNvSpPr/>
            <p:nvPr/>
          </p:nvSpPr>
          <p:spPr>
            <a:xfrm>
              <a:off x="6248400" y="3154680"/>
              <a:ext cx="5410200" cy="121729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68" name="Rectangle 68"/>
            <p:cNvSpPr/>
            <p:nvPr/>
          </p:nvSpPr>
          <p:spPr>
            <a:xfrm>
              <a:off x="7866698" y="3154680"/>
              <a:ext cx="9525" cy="121729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9" name="Rectangle 69"/>
            <p:cNvSpPr/>
            <p:nvPr/>
          </p:nvSpPr>
          <p:spPr>
            <a:xfrm>
              <a:off x="8623935" y="3154680"/>
              <a:ext cx="9525" cy="121729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0" name="Rectangle 70"/>
            <p:cNvSpPr/>
            <p:nvPr/>
          </p:nvSpPr>
          <p:spPr>
            <a:xfrm>
              <a:off x="10788015" y="3154680"/>
              <a:ext cx="9525" cy="121729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1" name="TextBox 71"/>
            <p:cNvSpPr txBox="1"/>
            <p:nvPr/>
          </p:nvSpPr>
          <p:spPr>
            <a:xfrm>
              <a:off x="6243066" y="4446270"/>
              <a:ext cx="212386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按 fᵢ 非增是次序 1, 2，反而更差</a:t>
              </a:r>
            </a:p>
          </p:txBody>
        </p:sp>
      </p:grpSp>
      <p:grpSp>
        <p:nvGrpSpPr>
          <p:cNvPr id="79" name="c2-callout-3"/>
          <p:cNvGrpSpPr/>
          <p:nvPr/>
        </p:nvGrpSpPr>
        <p:grpSpPr>
          <a:xfrm>
            <a:off x="6248400" y="4785360"/>
            <a:ext cx="5410200" cy="1552575"/>
            <a:chOff x="6248400" y="4785360"/>
            <a:chExt cx="5410200" cy="1552575"/>
          </a:xfrm>
        </p:grpSpPr>
        <p:sp>
          <p:nvSpPr>
            <p:cNvPr id="73" name="Rectangle 73"/>
            <p:cNvSpPr/>
            <p:nvPr/>
          </p:nvSpPr>
          <p:spPr>
            <a:xfrm>
              <a:off x="6248400" y="4785360"/>
              <a:ext cx="5410200" cy="1552575"/>
            </a:xfrm>
            <a:prstGeom prst="roundRect">
              <a:avLst>
                <a:gd name="adj" fmla="val 7362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77" name="Group 77"/>
            <p:cNvGrpSpPr/>
            <p:nvPr/>
          </p:nvGrpSpPr>
          <p:grpSpPr>
            <a:xfrm>
              <a:off x="6453188" y="5462588"/>
              <a:ext cx="200026" cy="200025"/>
              <a:chOff x="6453188" y="5462588"/>
              <a:chExt cx="200026" cy="200025"/>
            </a:xfrm>
          </p:grpSpPr>
          <p:sp>
            <p:nvSpPr>
              <p:cNvPr id="74" name="Freeform 74"/>
              <p:cNvSpPr/>
              <p:nvPr/>
            </p:nvSpPr>
            <p:spPr>
              <a:xfrm>
                <a:off x="6453188" y="5462588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75" name="Freeform 75"/>
              <p:cNvSpPr/>
              <p:nvPr/>
            </p:nvSpPr>
            <p:spPr>
              <a:xfrm>
                <a:off x="6492926" y="5507038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76" name="Freeform 76"/>
              <p:cNvSpPr/>
              <p:nvPr/>
            </p:nvSpPr>
            <p:spPr>
              <a:xfrm>
                <a:off x="6527642" y="5618163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78" name="TextBox 78"/>
            <p:cNvSpPr txBox="1"/>
            <p:nvPr/>
          </p:nvSpPr>
          <p:spPr>
            <a:xfrm>
              <a:off x="6755892" y="5219700"/>
              <a:ext cx="4197096" cy="7612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两组里更优的次序都是 fᵢ/lᵢ 大的先放：① 中 0.6/12 =</a:t>
              </a:r>
              <a:br/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0.05 &gt; 0.4/10 = 0.04，② 中 0.4/1 = 0.4 &gt; 0.6/2 =</a:t>
              </a:r>
              <a:br/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0.3。</a:t>
              </a:r>
            </a:p>
          </p:txBody>
        </p:sp>
      </p:grpSp>
      <p:grpSp>
        <p:nvGrpSpPr>
          <p:cNvPr id="8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80" name="TextBox 80"/>
            <p:cNvSpPr txBox="1"/>
            <p:nvPr/>
          </p:nvSpPr>
          <p:spPr>
            <a:xfrm>
              <a:off x="528447" y="6581299"/>
              <a:ext cx="242418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算法设计与分析 · 第5章 贪心法 作业讲解</a:t>
              </a:r>
            </a:p>
          </p:txBody>
        </p:sp>
        <p:sp>
          <p:nvSpPr>
            <p:cNvPr id="81" name="TextBox 81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488206" cy="909257"/>
            <a:chOff x="520446" y="342900"/>
            <a:chExt cx="8488206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14588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6156" y="407194"/>
              <a:ext cx="22881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第5章 作业讲解 · 排序与交换论证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48820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题5③：相邻两个程序若比值逆序，交换后 ERT 严格变小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32" name="c1-steps-1"/>
          <p:cNvGrpSpPr/>
          <p:nvPr/>
        </p:nvGrpSpPr>
        <p:grpSpPr>
          <a:xfrm>
            <a:off x="533400" y="1533525"/>
            <a:ext cx="5888822" cy="3661886"/>
            <a:chOff x="533400" y="1533525"/>
            <a:chExt cx="5888822" cy="3661886"/>
          </a:xfrm>
        </p:grpSpPr>
        <p:sp>
          <p:nvSpPr>
            <p:cNvPr id="7" name="Rectangle 7"/>
            <p:cNvSpPr/>
            <p:nvPr/>
          </p:nvSpPr>
          <p:spPr>
            <a:xfrm>
              <a:off x="666750" y="1676400"/>
              <a:ext cx="19050" cy="293465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" name="Ellipse 8"/>
            <p:cNvSpPr/>
            <p:nvPr/>
          </p:nvSpPr>
          <p:spPr>
            <a:xfrm>
              <a:off x="533400" y="1533525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27024" y="16073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533400" y="2120265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627024" y="219408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533400" y="2707005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627024" y="278082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533400" y="3294698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627024" y="336851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533400" y="3881438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27024" y="395525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18" name="Ellipse 18"/>
            <p:cNvSpPr/>
            <p:nvPr/>
          </p:nvSpPr>
          <p:spPr>
            <a:xfrm>
              <a:off x="533400" y="4468178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627024" y="454199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945642" y="1564957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贪心次序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946785" y="1833086"/>
              <a:ext cx="418190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i₁, …, iₙ 满足 fᵢ₁/lᵢ₁ ≥ … ≥ fᵢₙ/lᵢₙ，期望检索时间记为 ERT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45642" y="2152650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取最优解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46785" y="2419826"/>
              <a:ext cx="305579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设最优次序 j₁, …, jₙ 的期望检索时间为 ERT′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945642" y="2739390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相邻逆序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946785" y="3006566"/>
              <a:ext cx="46690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若某处相邻的 u = jₖ、v = jₖ₊₁ 满足 fᵤ/lᵤ &lt; fᵥ/lᵥ，交换二者得 ERT″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945642" y="3326130"/>
              <a:ext cx="5589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算差值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946785" y="3593306"/>
              <a:ext cx="475168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其余程序的检索时间都不变，ERT′ − ERT″ = (fᵥ·lᵤ − fᵤ·lᵥ)/Σfᵢ &gt; 0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945642" y="3912870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矛盾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946785" y="4180999"/>
              <a:ext cx="547543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ERT″ &lt; ERT′ 与 ERT′ 最优矛盾，所以最优次序没有相邻逆序，按 fᵢ/lᵢ 非增排列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945642" y="4499610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比值相等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946785" y="4767739"/>
              <a:ext cx="5295646" cy="4276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3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它与贪心次序只差比值相等的程序的先后，交换这些程序差值为 0，故 ERT = ERT′。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证毕</a:t>
              </a:r>
            </a:p>
          </p:txBody>
        </p:sp>
      </p:grpSp>
      <p:grpSp>
        <p:nvGrpSpPr>
          <p:cNvPr id="44" name="c2-card-1"/>
          <p:cNvGrpSpPr/>
          <p:nvPr/>
        </p:nvGrpSpPr>
        <p:grpSpPr>
          <a:xfrm>
            <a:off x="6789420" y="1524000"/>
            <a:ext cx="4869180" cy="2117408"/>
            <a:chOff x="6789420" y="1524000"/>
            <a:chExt cx="4869180" cy="2117408"/>
          </a:xfrm>
        </p:grpSpPr>
        <p:sp>
          <p:nvSpPr>
            <p:cNvPr id="33" name="Rectangle 33"/>
            <p:cNvSpPr/>
            <p:nvPr/>
          </p:nvSpPr>
          <p:spPr>
            <a:xfrm>
              <a:off x="6789420" y="1524000"/>
              <a:ext cx="4869180" cy="2117408"/>
            </a:xfrm>
            <a:prstGeom prst="roundRect">
              <a:avLst>
                <a:gd name="adj" fmla="val 6298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4" name="Rectangle 34"/>
            <p:cNvSpPr/>
            <p:nvPr/>
          </p:nvSpPr>
          <p:spPr>
            <a:xfrm>
              <a:off x="6798945" y="1657350"/>
              <a:ext cx="47625" cy="1850708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35" name="Rectangle 35"/>
            <p:cNvSpPr/>
            <p:nvPr/>
          </p:nvSpPr>
          <p:spPr>
            <a:xfrm>
              <a:off x="7019925" y="1716405"/>
              <a:ext cx="876300" cy="247650"/>
            </a:xfrm>
            <a:prstGeom prst="roundRect">
              <a:avLst>
                <a:gd name="adj" fmla="val 50000"/>
              </a:avLst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7099364" y="1750695"/>
              <a:ext cx="71742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差值怎么来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7013067" y="2072640"/>
              <a:ext cx="220330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设 u 前面的程序总长为 S：</a:t>
              </a:r>
            </a:p>
          </p:txBody>
        </p:sp>
        <p:sp>
          <p:nvSpPr>
            <p:cNvPr id="38" name="Ellipse 38"/>
            <p:cNvSpPr/>
            <p:nvPr/>
          </p:nvSpPr>
          <p:spPr>
            <a:xfrm>
              <a:off x="7028498" y="2431732"/>
              <a:ext cx="59055" cy="5905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184517" y="2375535"/>
              <a:ext cx="302549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交换前：u 为 S + lᵤ，v 为 S + lᵤ + lᵥ</a:t>
              </a:r>
            </a:p>
          </p:txBody>
        </p:sp>
        <p:sp>
          <p:nvSpPr>
            <p:cNvPr id="40" name="Ellipse 40"/>
            <p:cNvSpPr/>
            <p:nvPr/>
          </p:nvSpPr>
          <p:spPr>
            <a:xfrm>
              <a:off x="7028498" y="2734627"/>
              <a:ext cx="59055" cy="5905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7184517" y="2678430"/>
              <a:ext cx="302549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交换后：v 为 S + lᵥ，u 为 S + lᵥ + lᵤ</a:t>
              </a:r>
            </a:p>
          </p:txBody>
        </p:sp>
        <p:sp>
          <p:nvSpPr>
            <p:cNvPr id="42" name="Ellipse 42"/>
            <p:cNvSpPr/>
            <p:nvPr/>
          </p:nvSpPr>
          <p:spPr>
            <a:xfrm>
              <a:off x="7028498" y="3036570"/>
              <a:ext cx="59055" cy="5905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7184517" y="2980372"/>
              <a:ext cx="402564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相减：fᵤ·lᵤ + fᵥ·lᵤ − fᵥ·lᵥ − fᵤ·lᵥ 中只剩 fᵥ·lᵤ −</a:t>
              </a:r>
              <a:br/>
              <a:r>
                <a:rPr lang="en-US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fᵤ·lᵥ</a:t>
              </a:r>
            </a:p>
          </p:txBody>
        </p:sp>
      </p:grpSp>
      <p:grpSp>
        <p:nvGrpSpPr>
          <p:cNvPr id="50" name="c2-card-2"/>
          <p:cNvGrpSpPr/>
          <p:nvPr/>
        </p:nvGrpSpPr>
        <p:grpSpPr>
          <a:xfrm>
            <a:off x="6789420" y="3815715"/>
            <a:ext cx="4869180" cy="1724025"/>
            <a:chOff x="6789420" y="3815715"/>
            <a:chExt cx="4869180" cy="1724025"/>
          </a:xfrm>
        </p:grpSpPr>
        <p:sp>
          <p:nvSpPr>
            <p:cNvPr id="45" name="Rectangle 45"/>
            <p:cNvSpPr/>
            <p:nvPr/>
          </p:nvSpPr>
          <p:spPr>
            <a:xfrm>
              <a:off x="6789420" y="3815715"/>
              <a:ext cx="4869180" cy="1724025"/>
            </a:xfrm>
            <a:prstGeom prst="roundRect">
              <a:avLst>
                <a:gd name="adj" fmla="val 7735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6" name="Rectangle 46"/>
            <p:cNvSpPr/>
            <p:nvPr/>
          </p:nvSpPr>
          <p:spPr>
            <a:xfrm>
              <a:off x="6798945" y="3949065"/>
              <a:ext cx="47625" cy="1457325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47" name="Rectangle 47"/>
            <p:cNvSpPr/>
            <p:nvPr/>
          </p:nvSpPr>
          <p:spPr>
            <a:xfrm>
              <a:off x="7019925" y="4008120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7111365" y="404241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7013067" y="4365308"/>
              <a:ext cx="4128516" cy="103555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原讲解算出差值 &gt; 0 后写“即有 ERT″ ≤ ERT′，显然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ERT″ 也是最优解”。差值严格大于 0 说明 ERT″ 比最优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值还小，应当直接得出矛盾；真正需要单独说明的是比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值相等的程序，交换它们 ERT 不变。</a:t>
              </a:r>
            </a:p>
          </p:txBody>
        </p:sp>
      </p:grpSp>
      <p:grpSp>
        <p:nvGrpSpPr>
          <p:cNvPr id="56" name="takeaway"/>
          <p:cNvGrpSpPr/>
          <p:nvPr/>
        </p:nvGrpSpPr>
        <p:grpSpPr>
          <a:xfrm>
            <a:off x="533400" y="5874068"/>
            <a:ext cx="11125200" cy="488632"/>
            <a:chOff x="533400" y="5874068"/>
            <a:chExt cx="11125200" cy="488632"/>
          </a:xfrm>
        </p:grpSpPr>
        <p:sp>
          <p:nvSpPr>
            <p:cNvPr id="51" name="Rectangle 51"/>
            <p:cNvSpPr/>
            <p:nvPr/>
          </p:nvSpPr>
          <p:spPr>
            <a:xfrm>
              <a:off x="533400" y="5874068"/>
              <a:ext cx="11125200" cy="488632"/>
            </a:xfrm>
            <a:prstGeom prst="roundRect">
              <a:avLst>
                <a:gd name="adj" fmla="val 23392"/>
              </a:avLst>
            </a:prstGeom>
            <a:solidFill>
              <a:srgbClr val="2F4B9A"/>
            </a:solidFill>
            <a:ln>
              <a:noFill/>
            </a:ln>
          </p:spPr>
        </p:sp>
        <p:grpSp>
          <p:nvGrpSpPr>
            <p:cNvPr id="54" name="Group 54"/>
            <p:cNvGrpSpPr/>
            <p:nvPr/>
          </p:nvGrpSpPr>
          <p:grpSpPr>
            <a:xfrm>
              <a:off x="738188" y="6017897"/>
              <a:ext cx="200023" cy="200023"/>
              <a:chOff x="738188" y="6017897"/>
              <a:chExt cx="200023" cy="200023"/>
            </a:xfrm>
          </p:grpSpPr>
          <p:sp>
            <p:nvSpPr>
              <p:cNvPr id="52" name="Freeform 52"/>
              <p:cNvSpPr/>
              <p:nvPr/>
            </p:nvSpPr>
            <p:spPr>
              <a:xfrm>
                <a:off x="738188" y="6017897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53" name="Freeform 53"/>
              <p:cNvSpPr/>
              <p:nvPr/>
            </p:nvSpPr>
            <p:spPr>
              <a:xfrm>
                <a:off x="871538" y="608457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55" name="TextBox 55"/>
            <p:cNvSpPr txBox="1"/>
            <p:nvPr/>
          </p:nvSpPr>
          <p:spPr>
            <a:xfrm>
              <a:off x="1040892" y="6023610"/>
              <a:ext cx="772845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fᵤ/lᵤ &lt; fᵥ/lᵥ 两边乘 lᵤ·lᵥ（都为正）就是 fᵤ·lᵥ &lt; fᵥ·lᵤ，差值的符号直接由比值的大小决定。</a:t>
              </a:r>
            </a:p>
          </p:txBody>
        </p:sp>
      </p:grpSp>
      <p:grpSp>
        <p:nvGrpSpPr>
          <p:cNvPr id="5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7" name="TextBox 57"/>
            <p:cNvSpPr txBox="1"/>
            <p:nvPr/>
          </p:nvSpPr>
          <p:spPr>
            <a:xfrm>
              <a:off x="528447" y="6581299"/>
              <a:ext cx="242418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算法设计与分析 · 第5章 贪心法 作业讲解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9594008" cy="909257"/>
            <a:chOff x="520446" y="342900"/>
            <a:chExt cx="9594008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14588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6156" y="407194"/>
              <a:ext cx="22881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第5章 作业讲解 · 排序与交换论证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959400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题5 复核：4 个程序排 24 种，按 fᵢ/lᵢ 非增正好是最小的 8.1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36" name="c1-table-1"/>
          <p:cNvGrpSpPr/>
          <p:nvPr/>
        </p:nvGrpSpPr>
        <p:grpSpPr>
          <a:xfrm>
            <a:off x="533400" y="1524000"/>
            <a:ext cx="6492240" cy="1720215"/>
            <a:chOff x="533400" y="1524000"/>
            <a:chExt cx="6492240" cy="172021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6492240" cy="430530"/>
            </a:xfrm>
            <a:prstGeom prst="rect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016318" y="1655445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程序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2409471" y="1655445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3662961" y="1655445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4960266" y="1655445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302338" y="1655445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38746" y="2085022"/>
              <a:ext cx="15637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lᵢ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2411692" y="2085022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3665182" y="2085022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4962487" y="2085022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304559" y="2085022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533400" y="2379345"/>
              <a:ext cx="649224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533400" y="2384108"/>
              <a:ext cx="6492240" cy="43053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38746" y="2515552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fᵢ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2322843" y="2515552"/>
              <a:ext cx="27874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0.2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3576333" y="2515552"/>
              <a:ext cx="27874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0.3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4873638" y="2515552"/>
              <a:ext cx="27874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0.4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215710" y="2515552"/>
              <a:ext cx="27874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0.1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533400" y="2809875"/>
              <a:ext cx="649224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38746" y="2946082"/>
              <a:ext cx="43624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fᵢ/lᵢ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2278418" y="2946082"/>
              <a:ext cx="36758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0.04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3531908" y="2946082"/>
              <a:ext cx="36758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0.15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4784788" y="2946082"/>
              <a:ext cx="45643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0.067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126861" y="2946082"/>
              <a:ext cx="45643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0.025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533400" y="1524000"/>
              <a:ext cx="6492240" cy="172021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2" name="Rectangle 32"/>
            <p:cNvSpPr/>
            <p:nvPr/>
          </p:nvSpPr>
          <p:spPr>
            <a:xfrm>
              <a:off x="1830705" y="1524000"/>
              <a:ext cx="9525" cy="172021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3084195" y="1524000"/>
              <a:ext cx="9525" cy="172021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4" name="Rectangle 34"/>
            <p:cNvSpPr/>
            <p:nvPr/>
          </p:nvSpPr>
          <p:spPr>
            <a:xfrm>
              <a:off x="4337685" y="1524000"/>
              <a:ext cx="9525" cy="172021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5" name="Rectangle 35"/>
            <p:cNvSpPr/>
            <p:nvPr/>
          </p:nvSpPr>
          <p:spPr>
            <a:xfrm>
              <a:off x="5678805" y="1524000"/>
              <a:ext cx="9525" cy="172021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63" name="c1-table-2"/>
          <p:cNvGrpSpPr/>
          <p:nvPr/>
        </p:nvGrpSpPr>
        <p:grpSpPr>
          <a:xfrm>
            <a:off x="527685" y="3429952"/>
            <a:ext cx="6497955" cy="2015967"/>
            <a:chOff x="527685" y="3429952"/>
            <a:chExt cx="6497955" cy="2015967"/>
          </a:xfrm>
        </p:grpSpPr>
        <p:sp>
          <p:nvSpPr>
            <p:cNvPr id="37" name="Rectangle 37"/>
            <p:cNvSpPr/>
            <p:nvPr/>
          </p:nvSpPr>
          <p:spPr>
            <a:xfrm>
              <a:off x="533400" y="3429952"/>
              <a:ext cx="6492240" cy="430530"/>
            </a:xfrm>
            <a:prstGeom prst="rect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949642" y="3561398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策略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2118360" y="3561398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次序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4326255" y="3561398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算式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6417343" y="3561398"/>
              <a:ext cx="30790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ERT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638746" y="3990975"/>
              <a:ext cx="53034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lᵢ 非降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1807464" y="3990975"/>
              <a:ext cx="77952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2, 4, 1, 3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2976182" y="3990975"/>
              <a:ext cx="252420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0.3×2 + 0.1×6 + 0.2×11 + 0.4×17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6222302" y="3990975"/>
              <a:ext cx="36758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10.2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533400" y="4285298"/>
              <a:ext cx="649224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7" name="Rectangle 47"/>
            <p:cNvSpPr/>
            <p:nvPr/>
          </p:nvSpPr>
          <p:spPr>
            <a:xfrm>
              <a:off x="533400" y="4290060"/>
              <a:ext cx="6492240" cy="43053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638746" y="4421505"/>
              <a:ext cx="57275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fᵢ 非增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1807464" y="4421505"/>
              <a:ext cx="77952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3, 2, 1, 4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2976182" y="4421505"/>
              <a:ext cx="252420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0.4×6 + 0.3×8 + 0.2×13 + 0.1×17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6222302" y="4421505"/>
              <a:ext cx="27874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9.1</a:t>
              </a:r>
            </a:p>
          </p:txBody>
        </p:sp>
        <p:sp>
          <p:nvSpPr>
            <p:cNvPr id="52" name="Rectangle 52"/>
            <p:cNvSpPr/>
            <p:nvPr/>
          </p:nvSpPr>
          <p:spPr>
            <a:xfrm>
              <a:off x="533400" y="4715828"/>
              <a:ext cx="649224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638746" y="4852035"/>
              <a:ext cx="81021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fᵢ/lᵢ 非增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1807464" y="4852035"/>
              <a:ext cx="77952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2, 3, 1, 4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2976182" y="4852035"/>
              <a:ext cx="252420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0.3×2 + 0.4×8 + 0.2×13 + 0.1×17</a:t>
              </a:r>
            </a:p>
          </p:txBody>
        </p:sp>
        <p:sp>
          <p:nvSpPr>
            <p:cNvPr id="56" name="Rectangle 56"/>
            <p:cNvSpPr/>
            <p:nvPr/>
          </p:nvSpPr>
          <p:spPr>
            <a:xfrm>
              <a:off x="6126480" y="4730115"/>
              <a:ext cx="889635" cy="411480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6222302" y="4852035"/>
              <a:ext cx="27874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8.1</a:t>
              </a:r>
            </a:p>
          </p:txBody>
        </p:sp>
        <p:sp>
          <p:nvSpPr>
            <p:cNvPr id="58" name="Rectangle 58"/>
            <p:cNvSpPr/>
            <p:nvPr/>
          </p:nvSpPr>
          <p:spPr>
            <a:xfrm>
              <a:off x="533400" y="3429952"/>
              <a:ext cx="6492240" cy="172021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59" name="Rectangle 59"/>
            <p:cNvSpPr/>
            <p:nvPr/>
          </p:nvSpPr>
          <p:spPr>
            <a:xfrm>
              <a:off x="1697355" y="3429952"/>
              <a:ext cx="9525" cy="172021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0" name="Rectangle 60"/>
            <p:cNvSpPr/>
            <p:nvPr/>
          </p:nvSpPr>
          <p:spPr>
            <a:xfrm>
              <a:off x="2866072" y="3429952"/>
              <a:ext cx="9525" cy="172021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1" name="Rectangle 61"/>
            <p:cNvSpPr/>
            <p:nvPr/>
          </p:nvSpPr>
          <p:spPr>
            <a:xfrm>
              <a:off x="6112192" y="3429952"/>
              <a:ext cx="9525" cy="172021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527685" y="5225891"/>
              <a:ext cx="399863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Σfᵢ = 1；乘号后是该程序的检索位置（前面程序长度之和）</a:t>
              </a:r>
            </a:p>
          </p:txBody>
        </p:sp>
      </p:grpSp>
      <p:grpSp>
        <p:nvGrpSpPr>
          <p:cNvPr id="70" name="c1-callout-3"/>
          <p:cNvGrpSpPr/>
          <p:nvPr/>
        </p:nvGrpSpPr>
        <p:grpSpPr>
          <a:xfrm>
            <a:off x="533400" y="5587365"/>
            <a:ext cx="6492240" cy="756285"/>
            <a:chOff x="533400" y="5587365"/>
            <a:chExt cx="6492240" cy="756285"/>
          </a:xfrm>
        </p:grpSpPr>
        <p:sp>
          <p:nvSpPr>
            <p:cNvPr id="64" name="Rectangle 64"/>
            <p:cNvSpPr/>
            <p:nvPr/>
          </p:nvSpPr>
          <p:spPr>
            <a:xfrm>
              <a:off x="533400" y="5587365"/>
              <a:ext cx="6492240" cy="756285"/>
            </a:xfrm>
            <a:prstGeom prst="roundRect">
              <a:avLst>
                <a:gd name="adj" fmla="val 15113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68" name="Group 68"/>
            <p:cNvGrpSpPr/>
            <p:nvPr/>
          </p:nvGrpSpPr>
          <p:grpSpPr>
            <a:xfrm>
              <a:off x="738188" y="5865495"/>
              <a:ext cx="200026" cy="200026"/>
              <a:chOff x="738188" y="5865495"/>
              <a:chExt cx="200026" cy="200026"/>
            </a:xfrm>
          </p:grpSpPr>
          <p:sp>
            <p:nvSpPr>
              <p:cNvPr id="65" name="Freeform 65"/>
              <p:cNvSpPr/>
              <p:nvPr/>
            </p:nvSpPr>
            <p:spPr>
              <a:xfrm>
                <a:off x="738188" y="5865495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66" name="Freeform 66"/>
              <p:cNvSpPr/>
              <p:nvPr/>
            </p:nvSpPr>
            <p:spPr>
              <a:xfrm>
                <a:off x="838200" y="593217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67" name="Freeform 67"/>
              <p:cNvSpPr/>
              <p:nvPr/>
            </p:nvSpPr>
            <p:spPr>
              <a:xfrm>
                <a:off x="827088" y="5965508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69" name="TextBox 69"/>
            <p:cNvSpPr txBox="1"/>
            <p:nvPr/>
          </p:nvSpPr>
          <p:spPr>
            <a:xfrm>
              <a:off x="1040511" y="5734526"/>
              <a:ext cx="5289423" cy="541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按 fᵢ 非增时最长的程序3（l = 6）排第一，后面三个程序都要多走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6；程序2 只有 2 长、频率 0.3，比值最大，先放它最划算。</a:t>
              </a:r>
            </a:p>
          </p:txBody>
        </p:sp>
      </p:grpSp>
      <p:grpSp>
        <p:nvGrpSpPr>
          <p:cNvPr id="81" name="c2-card-1"/>
          <p:cNvGrpSpPr/>
          <p:nvPr/>
        </p:nvGrpSpPr>
        <p:grpSpPr>
          <a:xfrm>
            <a:off x="7330440" y="1524000"/>
            <a:ext cx="4328160" cy="2457450"/>
            <a:chOff x="7330440" y="1524000"/>
            <a:chExt cx="4328160" cy="2457450"/>
          </a:xfrm>
        </p:grpSpPr>
        <p:sp>
          <p:nvSpPr>
            <p:cNvPr id="71" name="Rectangle 71"/>
            <p:cNvSpPr/>
            <p:nvPr/>
          </p:nvSpPr>
          <p:spPr>
            <a:xfrm>
              <a:off x="7330440" y="1524000"/>
              <a:ext cx="4328160" cy="2457450"/>
            </a:xfrm>
            <a:prstGeom prst="roundRect">
              <a:avLst>
                <a:gd name="adj" fmla="val 542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72" name="Rectangle 72"/>
            <p:cNvSpPr/>
            <p:nvPr/>
          </p:nvSpPr>
          <p:spPr>
            <a:xfrm>
              <a:off x="7339965" y="1657350"/>
              <a:ext cx="47625" cy="2190750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73" name="Rectangle 73"/>
            <p:cNvSpPr/>
            <p:nvPr/>
          </p:nvSpPr>
          <p:spPr>
            <a:xfrm>
              <a:off x="7572375" y="1727835"/>
              <a:ext cx="778192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74" name="TextBox 74"/>
            <p:cNvSpPr txBox="1"/>
            <p:nvPr/>
          </p:nvSpPr>
          <p:spPr>
            <a:xfrm>
              <a:off x="7654684" y="1763554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脚本核对</a:t>
              </a:r>
            </a:p>
          </p:txBody>
        </p:sp>
        <p:sp>
          <p:nvSpPr>
            <p:cNvPr id="75" name="Ellipse 75"/>
            <p:cNvSpPr/>
            <p:nvPr/>
          </p:nvSpPr>
          <p:spPr>
            <a:xfrm>
              <a:off x="7579995" y="2161222"/>
              <a:ext cx="60960" cy="6096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76" name="TextBox 76"/>
            <p:cNvSpPr txBox="1"/>
            <p:nvPr/>
          </p:nvSpPr>
          <p:spPr>
            <a:xfrm>
              <a:off x="7736586" y="2100739"/>
              <a:ext cx="3413887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穷举 24 种次序：最小 8.1（次序 2, 3, 1,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4），最大 13.3</a:t>
              </a:r>
            </a:p>
          </p:txBody>
        </p:sp>
        <p:sp>
          <p:nvSpPr>
            <p:cNvPr id="77" name="Ellipse 77"/>
            <p:cNvSpPr/>
            <p:nvPr/>
          </p:nvSpPr>
          <p:spPr>
            <a:xfrm>
              <a:off x="7579995" y="2752725"/>
              <a:ext cx="60960" cy="6096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78" name="TextBox 78"/>
            <p:cNvSpPr txBox="1"/>
            <p:nvPr/>
          </p:nvSpPr>
          <p:spPr>
            <a:xfrm>
              <a:off x="7736586" y="2692241"/>
              <a:ext cx="3287649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随机 5000 组（n ≤ 6）：按 fᵢ/lᵢ 非增的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ERT 都等于穷举最小值</a:t>
              </a:r>
            </a:p>
          </p:txBody>
        </p:sp>
        <p:sp>
          <p:nvSpPr>
            <p:cNvPr id="79" name="Ellipse 79"/>
            <p:cNvSpPr/>
            <p:nvPr/>
          </p:nvSpPr>
          <p:spPr>
            <a:xfrm>
              <a:off x="7579995" y="3344228"/>
              <a:ext cx="60960" cy="6096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80" name="TextBox 80"/>
            <p:cNvSpPr txBox="1"/>
            <p:nvPr/>
          </p:nvSpPr>
          <p:spPr>
            <a:xfrm>
              <a:off x="7736586" y="3283744"/>
              <a:ext cx="3467989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随机 2000 次相邻交换，差值都等于 (fᵥ·lᵤ</a:t>
              </a:r>
              <a:br/>
              <a:r>
                <a:rPr lang="el-GR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− fᵤ·lᵥ)/Σfᵢ</a:t>
              </a:r>
            </a:p>
          </p:txBody>
        </p:sp>
      </p:grpSp>
      <p:grpSp>
        <p:nvGrpSpPr>
          <p:cNvPr id="90" name="c2-card-2"/>
          <p:cNvGrpSpPr/>
          <p:nvPr/>
        </p:nvGrpSpPr>
        <p:grpSpPr>
          <a:xfrm>
            <a:off x="7330440" y="4167188"/>
            <a:ext cx="4328160" cy="2176462"/>
            <a:chOff x="7330440" y="4167188"/>
            <a:chExt cx="4328160" cy="2176462"/>
          </a:xfrm>
        </p:grpSpPr>
        <p:sp>
          <p:nvSpPr>
            <p:cNvPr id="82" name="Rectangle 82"/>
            <p:cNvSpPr/>
            <p:nvPr/>
          </p:nvSpPr>
          <p:spPr>
            <a:xfrm>
              <a:off x="7330440" y="4167188"/>
              <a:ext cx="4328160" cy="2176462"/>
            </a:xfrm>
            <a:prstGeom prst="roundRect">
              <a:avLst>
                <a:gd name="adj" fmla="val 6127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83" name="Rectangle 83"/>
            <p:cNvSpPr/>
            <p:nvPr/>
          </p:nvSpPr>
          <p:spPr>
            <a:xfrm>
              <a:off x="7534275" y="4371022"/>
              <a:ext cx="778192" cy="257175"/>
            </a:xfrm>
            <a:prstGeom prst="roundRect">
              <a:avLst>
                <a:gd name="adj" fmla="val 50000"/>
              </a:avLst>
            </a:prstGeom>
            <a:solidFill>
              <a:srgbClr val="243B7A"/>
            </a:solidFill>
            <a:ln>
              <a:noFill/>
            </a:ln>
          </p:spPr>
        </p:sp>
        <p:sp>
          <p:nvSpPr>
            <p:cNvPr id="84" name="TextBox 84"/>
            <p:cNvSpPr txBox="1"/>
            <p:nvPr/>
          </p:nvSpPr>
          <p:spPr>
            <a:xfrm>
              <a:off x="7616584" y="4406741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两个特例</a:t>
              </a:r>
            </a:p>
          </p:txBody>
        </p:sp>
        <p:sp>
          <p:nvSpPr>
            <p:cNvPr id="85" name="Ellipse 85"/>
            <p:cNvSpPr/>
            <p:nvPr/>
          </p:nvSpPr>
          <p:spPr>
            <a:xfrm>
              <a:off x="7541895" y="4804410"/>
              <a:ext cx="60960" cy="6096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86" name="TextBox 86"/>
            <p:cNvSpPr txBox="1"/>
            <p:nvPr/>
          </p:nvSpPr>
          <p:spPr>
            <a:xfrm>
              <a:off x="7698486" y="4743926"/>
              <a:ext cx="3467989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所有 fᵢ 相等：比值非增就是 lᵢ 非降，短程</a:t>
              </a:r>
              <a:br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序先放</a:t>
              </a:r>
            </a:p>
          </p:txBody>
        </p:sp>
        <p:sp>
          <p:nvSpPr>
            <p:cNvPr id="87" name="Ellipse 87"/>
            <p:cNvSpPr/>
            <p:nvPr/>
          </p:nvSpPr>
          <p:spPr>
            <a:xfrm>
              <a:off x="7541895" y="5395912"/>
              <a:ext cx="60960" cy="6096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88" name="TextBox 88"/>
            <p:cNvSpPr txBox="1"/>
            <p:nvPr/>
          </p:nvSpPr>
          <p:spPr>
            <a:xfrm>
              <a:off x="7698486" y="5335429"/>
              <a:ext cx="3467989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所有 lᵢ 相等：比值非增就是 fᵢ 非增，常用</a:t>
              </a:r>
              <a:br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的先放</a:t>
              </a:r>
            </a:p>
          </p:txBody>
        </p:sp>
        <p:sp>
          <p:nvSpPr>
            <p:cNvPr id="89" name="TextBox 89"/>
            <p:cNvSpPr txBox="1"/>
            <p:nvPr/>
          </p:nvSpPr>
          <p:spPr>
            <a:xfrm>
              <a:off x="7528179" y="5923598"/>
              <a:ext cx="314614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①② 的反例正是这两个特例不成立时出现的。</a:t>
              </a:r>
            </a:p>
          </p:txBody>
        </p:sp>
      </p:grpSp>
      <p:grpSp>
        <p:nvGrpSpPr>
          <p:cNvPr id="9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91" name="TextBox 91"/>
            <p:cNvSpPr txBox="1"/>
            <p:nvPr/>
          </p:nvSpPr>
          <p:spPr>
            <a:xfrm>
              <a:off x="528447" y="6581299"/>
              <a:ext cx="242418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算法设计与分析 · 第5章 贪心法 作业讲解</a:t>
              </a:r>
            </a:p>
          </p:txBody>
        </p:sp>
        <p:sp>
          <p:nvSpPr>
            <p:cNvPr id="92" name="TextBox 92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806178" cy="909257"/>
            <a:chOff x="520446" y="342900"/>
            <a:chExt cx="8806178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14588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6156" y="407194"/>
              <a:ext cx="22881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第5章 作业讲解 · 排序与交换论证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80617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题7：服务时间短的先服务，交换相邻逆序总等待只减不增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3" name="c1-card-1"/>
          <p:cNvGrpSpPr/>
          <p:nvPr/>
        </p:nvGrpSpPr>
        <p:grpSpPr>
          <a:xfrm>
            <a:off x="533400" y="1524000"/>
            <a:ext cx="6059805" cy="1382078"/>
            <a:chOff x="533400" y="1524000"/>
            <a:chExt cx="6059805" cy="1382078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6059805" cy="1382078"/>
            </a:xfrm>
            <a:prstGeom prst="roundRect">
              <a:avLst>
                <a:gd name="adj" fmla="val 964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115378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52475" y="1704975"/>
              <a:ext cx="530542" cy="23812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42295" y="1737836"/>
              <a:ext cx="34994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第7题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45998" y="2045494"/>
              <a:ext cx="5298592" cy="4684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25"/>
                </a:lnSpc>
              </a:pPr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 个顾客同时等待服务，顾客 i 需要 tᵢ，从时刻 0 开始，怎样安排使总等</a:t>
              </a:r>
              <a:br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待时间最少？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47141" y="2561273"/>
              <a:ext cx="502862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思路：排在第 j 位的顾客要被后面 n − j 个人等，越靠前的服务时间被等得越多。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formula27"/>
              <p:cNvSpPr txBox="1">
                <a:spLocks noGrp="1"/>
              </p:cNvSpPr>
              <p:nvPr/>
            </p:nvSpPr>
            <p:spPr>
              <a:xfrm>
                <a:off x="533400" y="3070860"/>
                <a:ext cx="6059805" cy="5972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r>
                        <m:rPr>
                          <m:sty m:val="p"/>
                        </m:rPr>
                        <a:rPr lang="zh-CN" sz="14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time</m:t>
                      </m:r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f</m:t>
                          </m:r>
                        </m:e>
                      </m:d>
                      <m:r>
                        <m:rPr>
                          <m:sty m:val="p"/>
                        </m:rPr>
                        <a:rPr lang="zh-CN" sz="14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nary>
                        <m:naryPr>
                          <m:chr m:val="∑"/>
                          <m:limLoc m:val="undOvr"/>
                          <m:grow m:val="off"/>
                          <m:subHide m:val="off"/>
                          <m:supHide m:val="off"/>
                          <m:ctrlP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naryPr>
                        <m:sub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j</m:t>
                          </m:r>
                          <m:r>
                            <m:rPr>
                              <m:sty m:val="p"/>
                            </m:rP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=</m:t>
                          </m:r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sub>
                        <m:sup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n</m:t>
                          </m:r>
                        </m:sup>
                        <m:e>
                          <m:d>
                            <m:dPr>
                              <m:begChr m:val="("/>
                              <m:sepChr m:val=""/>
                              <m:endChr m:val=")"/>
                              <m:grow m:val="on"/>
                              <m:ctrlP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n</m:t>
                              </m:r>
                              <m:r>
                                <m:rPr>
                                  <m:sty m:val="p"/>
                                </m:rP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−</m:t>
                              </m:r>
                              <m: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j</m:t>
                              </m:r>
                            </m:e>
                          </m:d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 xml:space="preserve"> </m:t>
                          </m:r>
                          <m:sSub>
                            <m:e>
                              <m: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t</m:t>
                              </m:r>
                            </m:e>
                            <m:sub>
                              <m:sSub>
                                <m:e>
                                  <m:r>
                                    <a:rPr lang="zh-CN" sz="14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i</m:t>
                                  </m:r>
                                </m:e>
                                <m:sub>
                                  <m:r>
                                    <a:rPr lang="zh-CN" sz="14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j</m:t>
                                  </m:r>
                                </m:sub>
                              </m:sSub>
                            </m:sub>
                          </m:sSub>
                        </m:e>
                      </m:nary>
                    </m:oMath>
                  </m:oMathPara>
                </a14:m>
              </a:p>
            </p:txBody>
          </p:sp>
        </mc:Choice>
      </mc:AlternateContent>
      <p:grpSp>
        <p:nvGrpSpPr>
          <p:cNvPr id="32" name="c1-steps-3"/>
          <p:cNvGrpSpPr/>
          <p:nvPr/>
        </p:nvGrpSpPr>
        <p:grpSpPr>
          <a:xfrm>
            <a:off x="533400" y="3842385"/>
            <a:ext cx="5645086" cy="2342769"/>
            <a:chOff x="533400" y="3842385"/>
            <a:chExt cx="5645086" cy="2342769"/>
          </a:xfrm>
        </p:grpSpPr>
        <p:sp>
          <p:nvSpPr>
            <p:cNvPr id="15" name="Rectangle 15"/>
            <p:cNvSpPr/>
            <p:nvPr/>
          </p:nvSpPr>
          <p:spPr>
            <a:xfrm>
              <a:off x="666750" y="3985260"/>
              <a:ext cx="19050" cy="185261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6" name="Ellipse 16"/>
            <p:cNvSpPr/>
            <p:nvPr/>
          </p:nvSpPr>
          <p:spPr>
            <a:xfrm>
              <a:off x="533400" y="3842385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27024" y="391620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8" name="Ellipse 18"/>
            <p:cNvSpPr/>
            <p:nvPr/>
          </p:nvSpPr>
          <p:spPr>
            <a:xfrm>
              <a:off x="533400" y="4395788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627024" y="446960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0" name="Ellipse 20"/>
            <p:cNvSpPr/>
            <p:nvPr/>
          </p:nvSpPr>
          <p:spPr>
            <a:xfrm>
              <a:off x="533400" y="4948238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27024" y="502205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2" name="Ellipse 22"/>
            <p:cNvSpPr/>
            <p:nvPr/>
          </p:nvSpPr>
          <p:spPr>
            <a:xfrm>
              <a:off x="533400" y="5694998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27024" y="576881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946023" y="3873341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目标函数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947166" y="4127182"/>
              <a:ext cx="400383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次序 i₁, …, iₙ 下第 k 位等待 tᵢ₁ + … + tᵢₖ₋₁，合起来就是上式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946023" y="4425791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量度标准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947166" y="4680585"/>
              <a:ext cx="405330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系数 n − j 随 j 递减，所以按 tᵢ 非降排序，短的先服务，记为 f*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946023" y="4979194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交换论证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947166" y="5233988"/>
              <a:ext cx="5231320" cy="3987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22"/>
                </a:lnSpc>
              </a:pPr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最优解 g 中若相邻的 u 在 v 前且 tᵤ &gt; tᵥ，交换得 g*，只有这两人的等待变：time(g) −</a:t>
              </a:r>
              <a:br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time(g*) = tᵤ − tᵥ &gt; 0，矛盾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946023" y="5725954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结论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947166" y="5979795"/>
              <a:ext cx="404623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最优解没有相邻逆序，t 相等的交换不改变总等待，所以 f* 最优</a:t>
              </a:r>
            </a:p>
          </p:txBody>
        </p:sp>
      </p:grpSp>
      <p:grpSp>
        <p:nvGrpSpPr>
          <p:cNvPr id="35" name="c2-image-1"/>
          <p:cNvGrpSpPr/>
          <p:nvPr/>
        </p:nvGrpSpPr>
        <p:grpSpPr>
          <a:xfrm>
            <a:off x="7452360" y="1524000"/>
            <a:ext cx="3650932" cy="3021044"/>
            <a:chOff x="7452360" y="1524000"/>
            <a:chExt cx="3650932" cy="3021044"/>
          </a:xfrm>
        </p:grpSpPr>
        <p:pic>
          <p:nvPicPr>
            <p:cNvPr id="33" name="Image 33"/>
            <p:cNvPicPr>
              <a:picLocks noChangeAspect="1"/>
            </p:cNvPicPr>
            <p:nvPr/>
          </p:nvPicPr>
          <p:blipFill>
            <a:blip r:embed="rId2"/>
            <a:srcRect l="16670" t="0" r="16669" b="0"/>
            <a:stretch>
              <a:fillRect/>
            </a:stretch>
          </p:blipFill>
          <p:spPr>
            <a:xfrm>
              <a:off x="7452360" y="1524000"/>
              <a:ext cx="3650932" cy="2738438"/>
            </a:xfrm>
            <a:prstGeom prst="roundRect">
              <a:avLst>
                <a:gd name="adj" fmla="val 4869"/>
              </a:avLst>
            </a:prstGeom>
          </p:spPr>
        </p:pic>
        <p:sp>
          <p:nvSpPr>
            <p:cNvPr id="34" name="TextBox 34"/>
            <p:cNvSpPr txBox="1"/>
            <p:nvPr/>
          </p:nvSpPr>
          <p:spPr>
            <a:xfrm>
              <a:off x="7558291" y="4354354"/>
              <a:ext cx="344002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只买一瓶牛奶的顾客排在推满车的顾客前面，大家等得都少</a:t>
              </a:r>
            </a:p>
          </p:txBody>
        </p:sp>
      </p:grpSp>
      <p:grpSp>
        <p:nvGrpSpPr>
          <p:cNvPr id="44" name="c2-card-2"/>
          <p:cNvGrpSpPr/>
          <p:nvPr/>
        </p:nvGrpSpPr>
        <p:grpSpPr>
          <a:xfrm>
            <a:off x="6898005" y="4691062"/>
            <a:ext cx="4760595" cy="1671638"/>
            <a:chOff x="6898005" y="4691062"/>
            <a:chExt cx="4760595" cy="1671638"/>
          </a:xfrm>
        </p:grpSpPr>
        <p:sp>
          <p:nvSpPr>
            <p:cNvPr id="36" name="Rectangle 36"/>
            <p:cNvSpPr/>
            <p:nvPr/>
          </p:nvSpPr>
          <p:spPr>
            <a:xfrm>
              <a:off x="6898005" y="4691062"/>
              <a:ext cx="4760595" cy="1671638"/>
            </a:xfrm>
            <a:prstGeom prst="roundRect">
              <a:avLst>
                <a:gd name="adj" fmla="val 797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7" name="Rectangle 37"/>
            <p:cNvSpPr/>
            <p:nvPr/>
          </p:nvSpPr>
          <p:spPr>
            <a:xfrm>
              <a:off x="6907530" y="4824412"/>
              <a:ext cx="47625" cy="1404938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38" name="Rectangle 38"/>
            <p:cNvSpPr/>
            <p:nvPr/>
          </p:nvSpPr>
          <p:spPr>
            <a:xfrm>
              <a:off x="7117080" y="4872038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208799" y="4904899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</a:t>
              </a:r>
            </a:p>
          </p:txBody>
        </p:sp>
        <p:sp>
          <p:nvSpPr>
            <p:cNvPr id="40" name="Ellipse 40"/>
            <p:cNvSpPr/>
            <p:nvPr/>
          </p:nvSpPr>
          <p:spPr>
            <a:xfrm>
              <a:off x="7126605" y="5264468"/>
              <a:ext cx="57150" cy="571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7282053" y="5211604"/>
              <a:ext cx="3922522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原讲解写 time(f) = Σᵢ₌₁ⁿ (n − i)tᵢⱼ，下标混用，应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为上面的 Σⱼ (n − j)·tᵢⱼ</a:t>
              </a:r>
            </a:p>
          </p:txBody>
        </p:sp>
        <p:sp>
          <p:nvSpPr>
            <p:cNvPr id="42" name="Ellipse 42"/>
            <p:cNvSpPr/>
            <p:nvPr/>
          </p:nvSpPr>
          <p:spPr>
            <a:xfrm>
              <a:off x="7126605" y="5792152"/>
              <a:ext cx="57150" cy="571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7282053" y="5739289"/>
              <a:ext cx="3930650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原讲解说 time(g) − time(g*) = tᵢ − tᵢ₊₁ ≥ 0；tᵢ₊₁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&lt; tᵢ 时差值严格为正，最优解里不会出现这种逆序</a:t>
              </a:r>
            </a:p>
          </p:txBody>
        </p:sp>
      </p:grpSp>
      <p:grpSp>
        <p:nvGrpSpPr>
          <p:cNvPr id="4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5" name="TextBox 45"/>
            <p:cNvSpPr txBox="1"/>
            <p:nvPr/>
          </p:nvSpPr>
          <p:spPr>
            <a:xfrm>
              <a:off x="528447" y="6581299"/>
              <a:ext cx="242418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算法设计与分析 · 第5章 贪心法 作业讲解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595974" cy="909257"/>
            <a:chOff x="520446" y="342900"/>
            <a:chExt cx="659597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14588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6156" y="407194"/>
              <a:ext cx="22881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第5章 作业讲解 · 排序与交换论证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59597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题7 算法：排序后按公式累加，O(n log n)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1" name="c1-code-1"/>
          <p:cNvGrpSpPr/>
          <p:nvPr/>
        </p:nvGrpSpPr>
        <p:grpSpPr>
          <a:xfrm>
            <a:off x="533400" y="1524000"/>
            <a:ext cx="5626418" cy="1922145"/>
            <a:chOff x="533400" y="1524000"/>
            <a:chExt cx="5626418" cy="192214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626418" cy="1922145"/>
            </a:xfrm>
            <a:prstGeom prst="roundRect">
              <a:avLst>
                <a:gd name="adj" fmla="val 4955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61797" y="1675924"/>
              <a:ext cx="93339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最少总等待时间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552450" y="2707005"/>
              <a:ext cx="5588318" cy="202882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661035" y="1937861"/>
              <a:ext cx="3709670" cy="14373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98"/>
                </a:lnSpc>
              </a:pP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procedure MINWAIT(t, n, total)</a:t>
              </a:r>
              <a:br/>
              <a:r>
                <a:rPr lang="zh-CN" sz="11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t(1..n) 已按 t(1) &lt;= t(2) &lt;= ... &lt;= t(n) 排序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total &lt;- 0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for i &lt;- 1 to n-1 do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total &lt;- total + (n-i) * t(i)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repeat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end MINWAIT</a:t>
              </a:r>
            </a:p>
          </p:txBody>
        </p:sp>
      </p:grpSp>
      <p:grpSp>
        <p:nvGrpSpPr>
          <p:cNvPr id="27" name="c1-table-2"/>
          <p:cNvGrpSpPr/>
          <p:nvPr/>
        </p:nvGrpSpPr>
        <p:grpSpPr>
          <a:xfrm>
            <a:off x="533400" y="3631882"/>
            <a:ext cx="5626418" cy="1720215"/>
            <a:chOff x="533400" y="3631882"/>
            <a:chExt cx="5626418" cy="1720215"/>
          </a:xfrm>
        </p:grpSpPr>
        <p:sp>
          <p:nvSpPr>
            <p:cNvPr id="12" name="Rectangle 12"/>
            <p:cNvSpPr/>
            <p:nvPr/>
          </p:nvSpPr>
          <p:spPr>
            <a:xfrm>
              <a:off x="533400" y="3631882"/>
              <a:ext cx="5626418" cy="430530"/>
            </a:xfrm>
            <a:prstGeom prst="rect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2053590" y="3762375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步骤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4867275" y="3762375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时间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38746" y="4192905"/>
              <a:ext cx="11430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按服务时间排序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4014407" y="4192905"/>
              <a:ext cx="81937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O(n log n)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533400" y="4487228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8" name="Rectangle 18"/>
            <p:cNvSpPr/>
            <p:nvPr/>
          </p:nvSpPr>
          <p:spPr>
            <a:xfrm>
              <a:off x="533400" y="4491990"/>
              <a:ext cx="5626418" cy="43053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638746" y="4623435"/>
              <a:ext cx="141713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按 Σ(n − i)tᵢ 累加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014407" y="4623435"/>
              <a:ext cx="41087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O(n)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533400" y="4916805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38746" y="5053012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合计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3918585" y="4931092"/>
              <a:ext cx="2231708" cy="411480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4014407" y="5053012"/>
              <a:ext cx="81937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O(n log n)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533400" y="3631882"/>
              <a:ext cx="5626418" cy="172021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26" name="Rectangle 26"/>
            <p:cNvSpPr/>
            <p:nvPr/>
          </p:nvSpPr>
          <p:spPr>
            <a:xfrm>
              <a:off x="3904298" y="3631882"/>
              <a:ext cx="9525" cy="172021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34" name="c1-callout-3"/>
          <p:cNvGrpSpPr/>
          <p:nvPr/>
        </p:nvGrpSpPr>
        <p:grpSpPr>
          <a:xfrm>
            <a:off x="533400" y="5537835"/>
            <a:ext cx="5626418" cy="756285"/>
            <a:chOff x="533400" y="5537835"/>
            <a:chExt cx="5626418" cy="756285"/>
          </a:xfrm>
        </p:grpSpPr>
        <p:sp>
          <p:nvSpPr>
            <p:cNvPr id="28" name="Rectangle 28"/>
            <p:cNvSpPr/>
            <p:nvPr/>
          </p:nvSpPr>
          <p:spPr>
            <a:xfrm>
              <a:off x="533400" y="5537835"/>
              <a:ext cx="5626418" cy="756285"/>
            </a:xfrm>
            <a:prstGeom prst="roundRect">
              <a:avLst>
                <a:gd name="adj" fmla="val 15113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32" name="Group 32"/>
            <p:cNvGrpSpPr/>
            <p:nvPr/>
          </p:nvGrpSpPr>
          <p:grpSpPr>
            <a:xfrm>
              <a:off x="738188" y="5815965"/>
              <a:ext cx="200026" cy="200025"/>
              <a:chOff x="738188" y="5815965"/>
              <a:chExt cx="200026" cy="200025"/>
            </a:xfrm>
          </p:grpSpPr>
          <p:sp>
            <p:nvSpPr>
              <p:cNvPr id="29" name="Freeform 29"/>
              <p:cNvSpPr/>
              <p:nvPr/>
            </p:nvSpPr>
            <p:spPr>
              <a:xfrm>
                <a:off x="738188" y="5815965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30" name="Freeform 30"/>
              <p:cNvSpPr/>
              <p:nvPr/>
            </p:nvSpPr>
            <p:spPr>
              <a:xfrm>
                <a:off x="777926" y="5860415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31" name="Freeform 31"/>
              <p:cNvSpPr/>
              <p:nvPr/>
            </p:nvSpPr>
            <p:spPr>
              <a:xfrm>
                <a:off x="812642" y="5971541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33" name="TextBox 33"/>
            <p:cNvSpPr txBox="1"/>
            <p:nvPr/>
          </p:nvSpPr>
          <p:spPr>
            <a:xfrm>
              <a:off x="1040511" y="5684996"/>
              <a:ext cx="4730369" cy="541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排序后的数组本身就是服务次序；i = n 的系数是 0，循环到</a:t>
              </a:r>
              <a:br/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n − 1 即可。</a:t>
              </a:r>
            </a:p>
          </p:txBody>
        </p:sp>
      </p:grpSp>
      <p:grpSp>
        <p:nvGrpSpPr>
          <p:cNvPr id="92" name="c2-table-1"/>
          <p:cNvGrpSpPr/>
          <p:nvPr/>
        </p:nvGrpSpPr>
        <p:grpSpPr>
          <a:xfrm>
            <a:off x="6458902" y="1524000"/>
            <a:ext cx="5199698" cy="3306604"/>
            <a:chOff x="6458902" y="1524000"/>
            <a:chExt cx="5199698" cy="3306604"/>
          </a:xfrm>
        </p:grpSpPr>
        <p:sp>
          <p:nvSpPr>
            <p:cNvPr id="35" name="Rectangle 35"/>
            <p:cNvSpPr/>
            <p:nvPr/>
          </p:nvSpPr>
          <p:spPr>
            <a:xfrm>
              <a:off x="6464618" y="1524000"/>
              <a:ext cx="5193982" cy="430530"/>
            </a:xfrm>
            <a:prstGeom prst="rect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6740842" y="1655445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位次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7627620" y="1655445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顾客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8518832" y="1655445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tᵢ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9273540" y="1655445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等待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10160317" y="1655445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系数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11047095" y="1655445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贡献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6855741" y="2085022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7744739" y="2085022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8567699" y="2085022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9390659" y="2085022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10277437" y="2085022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11164214" y="2085022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6464618" y="2379345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9" name="Rectangle 49"/>
            <p:cNvSpPr/>
            <p:nvPr/>
          </p:nvSpPr>
          <p:spPr>
            <a:xfrm>
              <a:off x="6464618" y="2384108"/>
              <a:ext cx="5193982" cy="43053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6855741" y="2515552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7744739" y="2515552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8567699" y="2515552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9390659" y="2515552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10277437" y="2515552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11164214" y="2515552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  <p:sp>
          <p:nvSpPr>
            <p:cNvPr id="56" name="Rectangle 56"/>
            <p:cNvSpPr/>
            <p:nvPr/>
          </p:nvSpPr>
          <p:spPr>
            <a:xfrm>
              <a:off x="6464618" y="2809875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6855741" y="2946082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7744739" y="2946082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8567699" y="2946082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9390659" y="2946082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10277437" y="2946082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11119790" y="2946082"/>
              <a:ext cx="1898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  <p:sp>
          <p:nvSpPr>
            <p:cNvPr id="63" name="Rectangle 63"/>
            <p:cNvSpPr/>
            <p:nvPr/>
          </p:nvSpPr>
          <p:spPr>
            <a:xfrm>
              <a:off x="6464618" y="3239452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4" name="Rectangle 64"/>
            <p:cNvSpPr/>
            <p:nvPr/>
          </p:nvSpPr>
          <p:spPr>
            <a:xfrm>
              <a:off x="6464618" y="3244215"/>
              <a:ext cx="5193982" cy="43053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6855741" y="3375660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7744739" y="3375660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8567699" y="3375660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9346235" y="3375660"/>
              <a:ext cx="1898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10277437" y="3375660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11164214" y="3375660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71" name="Rectangle 71"/>
            <p:cNvSpPr/>
            <p:nvPr/>
          </p:nvSpPr>
          <p:spPr>
            <a:xfrm>
              <a:off x="6464618" y="3669982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2" name="TextBox 72"/>
            <p:cNvSpPr txBox="1"/>
            <p:nvPr/>
          </p:nvSpPr>
          <p:spPr>
            <a:xfrm>
              <a:off x="6855741" y="3806190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7744739" y="3806190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8567699" y="3806190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9346235" y="3806190"/>
              <a:ext cx="1898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16</a:t>
              </a: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10277437" y="3806190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11164214" y="3806190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78" name="Rectangle 78"/>
            <p:cNvSpPr/>
            <p:nvPr/>
          </p:nvSpPr>
          <p:spPr>
            <a:xfrm>
              <a:off x="6464618" y="4100512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9" name="Rectangle 79"/>
            <p:cNvSpPr/>
            <p:nvPr/>
          </p:nvSpPr>
          <p:spPr>
            <a:xfrm>
              <a:off x="6464618" y="4105275"/>
              <a:ext cx="5193982" cy="43053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80" name="TextBox 80"/>
            <p:cNvSpPr txBox="1"/>
            <p:nvPr/>
          </p:nvSpPr>
          <p:spPr>
            <a:xfrm>
              <a:off x="6740842" y="4235768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合计</a:t>
              </a:r>
            </a:p>
          </p:txBody>
        </p:sp>
        <p:sp>
          <p:nvSpPr>
            <p:cNvPr id="81" name="Rectangle 81"/>
            <p:cNvSpPr/>
            <p:nvPr/>
          </p:nvSpPr>
          <p:spPr>
            <a:xfrm>
              <a:off x="9006840" y="4114800"/>
              <a:ext cx="867728" cy="411480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82" name="TextBox 82"/>
            <p:cNvSpPr txBox="1"/>
            <p:nvPr/>
          </p:nvSpPr>
          <p:spPr>
            <a:xfrm>
              <a:off x="9346235" y="4235768"/>
              <a:ext cx="1898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33</a:t>
              </a:r>
            </a:p>
          </p:txBody>
        </p:sp>
        <p:sp>
          <p:nvSpPr>
            <p:cNvPr id="83" name="Rectangle 83"/>
            <p:cNvSpPr/>
            <p:nvPr/>
          </p:nvSpPr>
          <p:spPr>
            <a:xfrm>
              <a:off x="10781348" y="4114800"/>
              <a:ext cx="867728" cy="411480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84" name="TextBox 84"/>
            <p:cNvSpPr txBox="1"/>
            <p:nvPr/>
          </p:nvSpPr>
          <p:spPr>
            <a:xfrm>
              <a:off x="11119790" y="4235768"/>
              <a:ext cx="1898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33</a:t>
              </a:r>
            </a:p>
          </p:txBody>
        </p:sp>
        <p:sp>
          <p:nvSpPr>
            <p:cNvPr id="85" name="Rectangle 85"/>
            <p:cNvSpPr/>
            <p:nvPr/>
          </p:nvSpPr>
          <p:spPr>
            <a:xfrm>
              <a:off x="6464618" y="1524000"/>
              <a:ext cx="5193982" cy="3010852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86" name="Rectangle 86"/>
            <p:cNvSpPr/>
            <p:nvPr/>
          </p:nvSpPr>
          <p:spPr>
            <a:xfrm>
              <a:off x="7347585" y="1524000"/>
              <a:ext cx="9525" cy="301085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7" name="Rectangle 87"/>
            <p:cNvSpPr/>
            <p:nvPr/>
          </p:nvSpPr>
          <p:spPr>
            <a:xfrm>
              <a:off x="8234362" y="1524000"/>
              <a:ext cx="9525" cy="301085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8" name="Rectangle 88"/>
            <p:cNvSpPr/>
            <p:nvPr/>
          </p:nvSpPr>
          <p:spPr>
            <a:xfrm>
              <a:off x="8992552" y="1524000"/>
              <a:ext cx="9525" cy="301085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9" name="Rectangle 89"/>
            <p:cNvSpPr/>
            <p:nvPr/>
          </p:nvSpPr>
          <p:spPr>
            <a:xfrm>
              <a:off x="9879330" y="1524000"/>
              <a:ext cx="9525" cy="301085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90" name="Rectangle 90"/>
            <p:cNvSpPr/>
            <p:nvPr/>
          </p:nvSpPr>
          <p:spPr>
            <a:xfrm>
              <a:off x="10767060" y="1524000"/>
              <a:ext cx="9525" cy="301085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91" name="TextBox 91"/>
            <p:cNvSpPr txBox="1"/>
            <p:nvPr/>
          </p:nvSpPr>
          <p:spPr>
            <a:xfrm>
              <a:off x="6458902" y="4610576"/>
              <a:ext cx="185087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t = (5, 2, 8, 3, 6)，n = 5</a:t>
              </a:r>
            </a:p>
          </p:txBody>
        </p:sp>
      </p:grpSp>
      <p:grpSp>
        <p:nvGrpSpPr>
          <p:cNvPr id="99" name="c2-card-2"/>
          <p:cNvGrpSpPr/>
          <p:nvPr/>
        </p:nvGrpSpPr>
        <p:grpSpPr>
          <a:xfrm>
            <a:off x="6464618" y="4972050"/>
            <a:ext cx="5193982" cy="1322070"/>
            <a:chOff x="6464618" y="4972050"/>
            <a:chExt cx="5193982" cy="1322070"/>
          </a:xfrm>
        </p:grpSpPr>
        <p:sp>
          <p:nvSpPr>
            <p:cNvPr id="93" name="Rectangle 93"/>
            <p:cNvSpPr/>
            <p:nvPr/>
          </p:nvSpPr>
          <p:spPr>
            <a:xfrm>
              <a:off x="6464618" y="4972050"/>
              <a:ext cx="5193982" cy="1322070"/>
            </a:xfrm>
            <a:prstGeom prst="roundRect">
              <a:avLst>
                <a:gd name="adj" fmla="val 1008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94" name="Rectangle 94"/>
            <p:cNvSpPr/>
            <p:nvPr/>
          </p:nvSpPr>
          <p:spPr>
            <a:xfrm>
              <a:off x="6474142" y="5105400"/>
              <a:ext cx="47625" cy="1055370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95" name="Ellipse 95"/>
            <p:cNvSpPr/>
            <p:nvPr/>
          </p:nvSpPr>
          <p:spPr>
            <a:xfrm>
              <a:off x="6714172" y="5259705"/>
              <a:ext cx="60960" cy="6096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96" name="TextBox 96"/>
            <p:cNvSpPr txBox="1"/>
            <p:nvPr/>
          </p:nvSpPr>
          <p:spPr>
            <a:xfrm>
              <a:off x="6870764" y="5199221"/>
              <a:ext cx="418668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按等待时间相加与按公式 Σ(n − i)tᵢ 算，都是 33</a:t>
              </a:r>
            </a:p>
          </p:txBody>
        </p:sp>
        <p:sp>
          <p:nvSpPr>
            <p:cNvPr id="97" name="Ellipse 97"/>
            <p:cNvSpPr/>
            <p:nvPr/>
          </p:nvSpPr>
          <p:spPr>
            <a:xfrm>
              <a:off x="6714172" y="5579745"/>
              <a:ext cx="60960" cy="6096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98" name="TextBox 98"/>
            <p:cNvSpPr txBox="1"/>
            <p:nvPr/>
          </p:nvSpPr>
          <p:spPr>
            <a:xfrm>
              <a:off x="6870764" y="5519261"/>
              <a:ext cx="425246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原顺序 1, 2, 3, 4, 5 的总等待是 0 + 5 + 7 + 15 + 18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= 45</a:t>
              </a:r>
            </a:p>
          </p:txBody>
        </p:sp>
      </p:grpSp>
      <p:grpSp>
        <p:nvGrpSpPr>
          <p:cNvPr id="10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00" name="TextBox 100"/>
            <p:cNvSpPr txBox="1"/>
            <p:nvPr/>
          </p:nvSpPr>
          <p:spPr>
            <a:xfrm>
              <a:off x="528447" y="6581299"/>
              <a:ext cx="242418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算法设计与分析 · 第5章 贪心法 作业讲解</a:t>
              </a:r>
            </a:p>
          </p:txBody>
        </p:sp>
        <p:sp>
          <p:nvSpPr>
            <p:cNvPr id="101" name="TextBox 101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964945" cy="909257"/>
            <a:chOff x="520446" y="342900"/>
            <a:chExt cx="8964945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14588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6156" y="407194"/>
              <a:ext cx="22881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第5章 作业讲解 · 排序与交换论证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96494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题7 复核：从原顺序交换 4 次相邻逆序，45 降到最优的 33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43" name="c1-table-1"/>
          <p:cNvGrpSpPr/>
          <p:nvPr/>
        </p:nvGrpSpPr>
        <p:grpSpPr>
          <a:xfrm>
            <a:off x="527685" y="1524000"/>
            <a:ext cx="5956935" cy="2988469"/>
            <a:chOff x="527685" y="1524000"/>
            <a:chExt cx="5956935" cy="2988469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951220" cy="448628"/>
            </a:xfrm>
            <a:prstGeom prst="rect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949922" y="165973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交换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2271217" y="1659731"/>
              <a:ext cx="104683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服务时间序列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4341774" y="165973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减少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5565305" y="1659731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总等待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41223" y="2108359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原顺序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2258294" y="2108359"/>
              <a:ext cx="107268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5, 2, 8, 3, 6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5729003" y="2108359"/>
              <a:ext cx="2024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45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533400" y="2416492"/>
              <a:ext cx="595122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6" name="Rectangle 16"/>
            <p:cNvSpPr/>
            <p:nvPr/>
          </p:nvSpPr>
          <p:spPr>
            <a:xfrm>
              <a:off x="533400" y="2421255"/>
              <a:ext cx="5951220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41223" y="2556986"/>
              <a:ext cx="49284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 与 2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2258294" y="2556986"/>
              <a:ext cx="107268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2, 5, 8, 3, 6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4173769" y="2556986"/>
              <a:ext cx="69359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5 − 2 = 3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5729003" y="2556986"/>
              <a:ext cx="2024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42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533400" y="2866072"/>
              <a:ext cx="595122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41223" y="3005614"/>
              <a:ext cx="49284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 与 3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2258294" y="3005614"/>
              <a:ext cx="107268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2, 5, 3, 8, 6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4173769" y="3005614"/>
              <a:ext cx="69359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8 − 3 = 5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5729003" y="3005614"/>
              <a:ext cx="2024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37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533400" y="3314700"/>
              <a:ext cx="595122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7" name="Rectangle 27"/>
            <p:cNvSpPr/>
            <p:nvPr/>
          </p:nvSpPr>
          <p:spPr>
            <a:xfrm>
              <a:off x="533400" y="3319462"/>
              <a:ext cx="5951220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41223" y="3454241"/>
              <a:ext cx="49284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 与 6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2258294" y="3454241"/>
              <a:ext cx="107268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2, 5, 3, 6, 8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4173769" y="3454241"/>
              <a:ext cx="69359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8 − 6 = 2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5729003" y="3454241"/>
              <a:ext cx="2024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35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533400" y="3763328"/>
              <a:ext cx="595122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41223" y="3903821"/>
              <a:ext cx="49284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 与 3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2258294" y="3903821"/>
              <a:ext cx="107268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2, 3, 5, 6, 8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4173769" y="3903821"/>
              <a:ext cx="69359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5 − 3 = 2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5184458" y="3777615"/>
              <a:ext cx="1290638" cy="429578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5729003" y="3903821"/>
              <a:ext cx="2024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33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533400" y="1524000"/>
              <a:ext cx="5951220" cy="2692718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9" name="Rectangle 39"/>
            <p:cNvSpPr/>
            <p:nvPr/>
          </p:nvSpPr>
          <p:spPr>
            <a:xfrm>
              <a:off x="1719262" y="1524000"/>
              <a:ext cx="9525" cy="269271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0" name="Rectangle 40"/>
            <p:cNvSpPr/>
            <p:nvPr/>
          </p:nvSpPr>
          <p:spPr>
            <a:xfrm>
              <a:off x="3861435" y="1524000"/>
              <a:ext cx="9525" cy="269271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1" name="Rectangle 41"/>
            <p:cNvSpPr/>
            <p:nvPr/>
          </p:nvSpPr>
          <p:spPr>
            <a:xfrm>
              <a:off x="5170170" y="1524000"/>
              <a:ext cx="9525" cy="269271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527685" y="4292441"/>
              <a:ext cx="415772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每次减少量正好是 tᵤ − tᵥ；交换次数等于原序列的逆序对数 4</a:t>
              </a:r>
            </a:p>
          </p:txBody>
        </p:sp>
      </p:grpSp>
      <p:grpSp>
        <p:nvGrpSpPr>
          <p:cNvPr id="50" name="c1-callout-2"/>
          <p:cNvGrpSpPr/>
          <p:nvPr/>
        </p:nvGrpSpPr>
        <p:grpSpPr>
          <a:xfrm>
            <a:off x="533400" y="4658678"/>
            <a:ext cx="5951220" cy="1059180"/>
            <a:chOff x="533400" y="4658678"/>
            <a:chExt cx="5951220" cy="1059180"/>
          </a:xfrm>
        </p:grpSpPr>
        <p:sp>
          <p:nvSpPr>
            <p:cNvPr id="44" name="Rectangle 44"/>
            <p:cNvSpPr/>
            <p:nvPr/>
          </p:nvSpPr>
          <p:spPr>
            <a:xfrm>
              <a:off x="533400" y="4658678"/>
              <a:ext cx="5951220" cy="1059180"/>
            </a:xfrm>
            <a:prstGeom prst="roundRect">
              <a:avLst>
                <a:gd name="adj" fmla="val 10791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48" name="Group 48"/>
            <p:cNvGrpSpPr/>
            <p:nvPr/>
          </p:nvGrpSpPr>
          <p:grpSpPr>
            <a:xfrm>
              <a:off x="738188" y="5088255"/>
              <a:ext cx="200026" cy="200026"/>
              <a:chOff x="738188" y="5088255"/>
              <a:chExt cx="200026" cy="200026"/>
            </a:xfrm>
          </p:grpSpPr>
          <p:sp>
            <p:nvSpPr>
              <p:cNvPr id="45" name="Freeform 45"/>
              <p:cNvSpPr/>
              <p:nvPr/>
            </p:nvSpPr>
            <p:spPr>
              <a:xfrm>
                <a:off x="738188" y="5088255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46" name="Freeform 46"/>
              <p:cNvSpPr/>
              <p:nvPr/>
            </p:nvSpPr>
            <p:spPr>
              <a:xfrm>
                <a:off x="838200" y="515493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47" name="Freeform 47"/>
              <p:cNvSpPr/>
              <p:nvPr/>
            </p:nvSpPr>
            <p:spPr>
              <a:xfrm>
                <a:off x="827088" y="5188268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49" name="TextBox 49"/>
            <p:cNvSpPr txBox="1"/>
            <p:nvPr/>
          </p:nvSpPr>
          <p:spPr>
            <a:xfrm>
              <a:off x="1040130" y="4807268"/>
              <a:ext cx="5006340" cy="8458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每次相邻交换恰好消去一个逆序对，n 个元素至多 n(n −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1)/2 个逆序对，所以原讲解说“至多 n(n − 1)/2 次交换”是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对的。</a:t>
              </a:r>
            </a:p>
          </p:txBody>
        </p:sp>
      </p:grpSp>
      <p:grpSp>
        <p:nvGrpSpPr>
          <p:cNvPr id="59" name="c2-card-1"/>
          <p:cNvGrpSpPr/>
          <p:nvPr/>
        </p:nvGrpSpPr>
        <p:grpSpPr>
          <a:xfrm>
            <a:off x="6789420" y="1524000"/>
            <a:ext cx="4869180" cy="1937385"/>
            <a:chOff x="6789420" y="1524000"/>
            <a:chExt cx="4869180" cy="1937385"/>
          </a:xfrm>
        </p:grpSpPr>
        <p:sp>
          <p:nvSpPr>
            <p:cNvPr id="51" name="Rectangle 51"/>
            <p:cNvSpPr/>
            <p:nvPr/>
          </p:nvSpPr>
          <p:spPr>
            <a:xfrm>
              <a:off x="6789420" y="1524000"/>
              <a:ext cx="4869180" cy="1937385"/>
            </a:xfrm>
            <a:prstGeom prst="roundRect">
              <a:avLst>
                <a:gd name="adj" fmla="val 688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52" name="Rectangle 52"/>
            <p:cNvSpPr/>
            <p:nvPr/>
          </p:nvSpPr>
          <p:spPr>
            <a:xfrm>
              <a:off x="6798945" y="1657350"/>
              <a:ext cx="47625" cy="1670685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53" name="Rectangle 53"/>
            <p:cNvSpPr/>
            <p:nvPr/>
          </p:nvSpPr>
          <p:spPr>
            <a:xfrm>
              <a:off x="7037070" y="1733550"/>
              <a:ext cx="778192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7119379" y="1769269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脚本核对</a:t>
              </a:r>
            </a:p>
          </p:txBody>
        </p:sp>
        <p:sp>
          <p:nvSpPr>
            <p:cNvPr id="55" name="Ellipse 55"/>
            <p:cNvSpPr/>
            <p:nvPr/>
          </p:nvSpPr>
          <p:spPr>
            <a:xfrm>
              <a:off x="7042785" y="2173605"/>
              <a:ext cx="64770" cy="6477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7200900" y="2110740"/>
              <a:ext cx="366007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穷举 5! = 120 种次序：最小 33，最大 63</a:t>
              </a:r>
            </a:p>
          </p:txBody>
        </p:sp>
        <p:sp>
          <p:nvSpPr>
            <p:cNvPr id="57" name="Ellipse 57"/>
            <p:cNvSpPr/>
            <p:nvPr/>
          </p:nvSpPr>
          <p:spPr>
            <a:xfrm>
              <a:off x="7042785" y="2508885"/>
              <a:ext cx="64770" cy="6477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7200900" y="2446020"/>
              <a:ext cx="3882390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随机 2000 组（n ≤ 7）：每次交换都减少 tᵤ −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tᵥ，交换次数 ≤ n(n − 1)/2，结果等于穷举最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小值</a:t>
              </a:r>
            </a:p>
          </p:txBody>
        </p:sp>
      </p:grpSp>
      <p:grpSp>
        <p:nvGrpSpPr>
          <p:cNvPr id="64" name="c2-card-2"/>
          <p:cNvGrpSpPr/>
          <p:nvPr/>
        </p:nvGrpSpPr>
        <p:grpSpPr>
          <a:xfrm>
            <a:off x="6789420" y="3651885"/>
            <a:ext cx="4869180" cy="2065972"/>
            <a:chOff x="6789420" y="3651885"/>
            <a:chExt cx="4869180" cy="2065972"/>
          </a:xfrm>
        </p:grpSpPr>
        <p:sp>
          <p:nvSpPr>
            <p:cNvPr id="60" name="Rectangle 60"/>
            <p:cNvSpPr/>
            <p:nvPr/>
          </p:nvSpPr>
          <p:spPr>
            <a:xfrm>
              <a:off x="6789420" y="3651885"/>
              <a:ext cx="4869180" cy="2065972"/>
            </a:xfrm>
            <a:prstGeom prst="roundRect">
              <a:avLst>
                <a:gd name="adj" fmla="val 6455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61" name="Rectangle 61"/>
            <p:cNvSpPr/>
            <p:nvPr/>
          </p:nvSpPr>
          <p:spPr>
            <a:xfrm>
              <a:off x="6998970" y="3861435"/>
              <a:ext cx="1047750" cy="257175"/>
            </a:xfrm>
            <a:prstGeom prst="roundRect">
              <a:avLst>
                <a:gd name="adj" fmla="val 50000"/>
              </a:avLst>
            </a:prstGeom>
            <a:solidFill>
              <a:srgbClr val="243B7A"/>
            </a:solidFill>
            <a:ln>
              <a:noFill/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7072911" y="3897154"/>
              <a:ext cx="89986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与题5 的关系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6991350" y="4238625"/>
              <a:ext cx="4206240" cy="11506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题5 的 ERT 用的是读完第 j 个程序的时刻，本题用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的是开始服务的时刻，两者只差常数 Σtᵢ。取所有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fᵢ 相等，题5 就变成本题：按 lᵢ（这里是 tᵢ）非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降排序。</a:t>
              </a:r>
            </a:p>
          </p:txBody>
        </p:sp>
      </p:grpSp>
      <p:grpSp>
        <p:nvGrpSpPr>
          <p:cNvPr id="6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5" name="TextBox 65"/>
            <p:cNvSpPr txBox="1"/>
            <p:nvPr/>
          </p:nvSpPr>
          <p:spPr>
            <a:xfrm>
              <a:off x="528447" y="6581299"/>
              <a:ext cx="242418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算法设计与分析 · 第5章 贪心法 作业讲解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861685" cy="909257"/>
            <a:chOff x="520446" y="342900"/>
            <a:chExt cx="5861685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551498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52183" y="40719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自测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86168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自测：把本次作业的套路用到新数据上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2" name="c1-card-1"/>
          <p:cNvGrpSpPr/>
          <p:nvPr/>
        </p:nvGrpSpPr>
        <p:grpSpPr>
          <a:xfrm>
            <a:off x="533400" y="1524000"/>
            <a:ext cx="3505200" cy="2223135"/>
            <a:chOff x="533400" y="1524000"/>
            <a:chExt cx="3505200" cy="222313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3505200" cy="2223135"/>
            </a:xfrm>
            <a:prstGeom prst="roundRect">
              <a:avLst>
                <a:gd name="adj" fmla="val 5998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742950" y="1733550"/>
              <a:ext cx="403860" cy="257175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830437" y="1769269"/>
              <a:ext cx="22888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Q1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35330" y="2110740"/>
              <a:ext cx="2820829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分数背包按 pᵢ/wᵢ 贪心最优，为</a:t>
              </a:r>
              <a:br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什么 0/1 背包不行？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35330" y="2731770"/>
              <a:ext cx="2872740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0/1 背包不能只装一部分，剩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余容量可能浪费。题1 中剩下 3 个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单位，物品3 重 5 装不下</a:t>
              </a:r>
            </a:p>
          </p:txBody>
        </p:sp>
      </p:grpSp>
      <p:grpSp>
        <p:nvGrpSpPr>
          <p:cNvPr id="18" name="c1-card-2"/>
          <p:cNvGrpSpPr/>
          <p:nvPr/>
        </p:nvGrpSpPr>
        <p:grpSpPr>
          <a:xfrm>
            <a:off x="533400" y="3937635"/>
            <a:ext cx="3505200" cy="1937385"/>
            <a:chOff x="533400" y="3937635"/>
            <a:chExt cx="3505200" cy="1937385"/>
          </a:xfrm>
        </p:grpSpPr>
        <p:sp>
          <p:nvSpPr>
            <p:cNvPr id="13" name="Rectangle 13"/>
            <p:cNvSpPr/>
            <p:nvPr/>
          </p:nvSpPr>
          <p:spPr>
            <a:xfrm>
              <a:off x="533400" y="3937635"/>
              <a:ext cx="3505200" cy="1937385"/>
            </a:xfrm>
            <a:prstGeom prst="roundRect">
              <a:avLst>
                <a:gd name="adj" fmla="val 6883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4" name="Rectangle 14"/>
            <p:cNvSpPr/>
            <p:nvPr/>
          </p:nvSpPr>
          <p:spPr>
            <a:xfrm>
              <a:off x="742950" y="4147185"/>
              <a:ext cx="403860" cy="257175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830437" y="4182904"/>
              <a:ext cx="22888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Q4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35330" y="4524375"/>
              <a:ext cx="289941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FJS 中找到的根 j 满足 F(j) = 0，</a:t>
              </a:r>
              <a:br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说明什么？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35330" y="5145405"/>
              <a:ext cx="2872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这个作业期限以前的时间片已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全被占用，舍弃它</a:t>
              </a:r>
            </a:p>
          </p:txBody>
        </p:sp>
      </p:grpSp>
      <p:grpSp>
        <p:nvGrpSpPr>
          <p:cNvPr id="24" name="c2-card-1"/>
          <p:cNvGrpSpPr/>
          <p:nvPr/>
        </p:nvGrpSpPr>
        <p:grpSpPr>
          <a:xfrm>
            <a:off x="4343400" y="1524000"/>
            <a:ext cx="3505200" cy="2223135"/>
            <a:chOff x="4343400" y="1524000"/>
            <a:chExt cx="3505200" cy="2223135"/>
          </a:xfrm>
        </p:grpSpPr>
        <p:sp>
          <p:nvSpPr>
            <p:cNvPr id="19" name="Rectangle 19"/>
            <p:cNvSpPr/>
            <p:nvPr/>
          </p:nvSpPr>
          <p:spPr>
            <a:xfrm>
              <a:off x="4343400" y="1524000"/>
              <a:ext cx="3505200" cy="2223135"/>
            </a:xfrm>
            <a:prstGeom prst="roundRect">
              <a:avLst>
                <a:gd name="adj" fmla="val 5998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4552950" y="1733550"/>
              <a:ext cx="403860" cy="257175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4640437" y="1769269"/>
              <a:ext cx="22888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Q2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545330" y="2110740"/>
              <a:ext cx="2601754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装载问题改成“使装载总重量最</a:t>
              </a:r>
              <a:br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大”，轻者先装还最优吗？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4545330" y="2731770"/>
              <a:ext cx="2967990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不一定：C = 10，w = (3, 4,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10)，轻者先装得 7，只装第三只得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</p:grpSp>
      <p:grpSp>
        <p:nvGrpSpPr>
          <p:cNvPr id="30" name="c2-card-2"/>
          <p:cNvGrpSpPr/>
          <p:nvPr/>
        </p:nvGrpSpPr>
        <p:grpSpPr>
          <a:xfrm>
            <a:off x="4343400" y="3937635"/>
            <a:ext cx="3505200" cy="1937385"/>
            <a:chOff x="4343400" y="3937635"/>
            <a:chExt cx="3505200" cy="1937385"/>
          </a:xfrm>
        </p:grpSpPr>
        <p:sp>
          <p:nvSpPr>
            <p:cNvPr id="25" name="Rectangle 25"/>
            <p:cNvSpPr/>
            <p:nvPr/>
          </p:nvSpPr>
          <p:spPr>
            <a:xfrm>
              <a:off x="4343400" y="3937635"/>
              <a:ext cx="3505200" cy="1937385"/>
            </a:xfrm>
            <a:prstGeom prst="roundRect">
              <a:avLst>
                <a:gd name="adj" fmla="val 6883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4552950" y="4147185"/>
              <a:ext cx="403860" cy="257175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4640437" y="4182904"/>
              <a:ext cx="22888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Q5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4545330" y="4524375"/>
              <a:ext cx="2831782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磁带题中所有 fᵢ 相等时，最优的</a:t>
              </a:r>
              <a:br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存放次序是什么？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4545330" y="5145405"/>
              <a:ext cx="292036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按 lᵢ 非降：fᵢ/lᵢ 非增等价于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lᵢ 非降</a:t>
              </a:r>
            </a:p>
          </p:txBody>
        </p:sp>
      </p:grpSp>
      <p:grpSp>
        <p:nvGrpSpPr>
          <p:cNvPr id="36" name="c3-card-1"/>
          <p:cNvGrpSpPr/>
          <p:nvPr/>
        </p:nvGrpSpPr>
        <p:grpSpPr>
          <a:xfrm>
            <a:off x="8153400" y="1524000"/>
            <a:ext cx="3505200" cy="2223135"/>
            <a:chOff x="8153400" y="1524000"/>
            <a:chExt cx="3505200" cy="2223135"/>
          </a:xfrm>
        </p:grpSpPr>
        <p:sp>
          <p:nvSpPr>
            <p:cNvPr id="31" name="Rectangle 31"/>
            <p:cNvSpPr/>
            <p:nvPr/>
          </p:nvSpPr>
          <p:spPr>
            <a:xfrm>
              <a:off x="8153400" y="1524000"/>
              <a:ext cx="3505200" cy="2223135"/>
            </a:xfrm>
            <a:prstGeom prst="roundRect">
              <a:avLst>
                <a:gd name="adj" fmla="val 5998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8362950" y="1733550"/>
              <a:ext cx="403860" cy="257175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8450437" y="1769269"/>
              <a:ext cx="22888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Q3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8355330" y="2110740"/>
              <a:ext cx="2858929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单位时间作业 p = (10, 8, 6)，d</a:t>
              </a:r>
              <a:br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= (1, 1, 2)，贪心结果是什么？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8355330" y="2731770"/>
              <a:ext cx="2920365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收下作业1；作业2 与作业1 争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时间片 1，舍弃；收下作业3。J =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{1, 3}，效益 16</a:t>
              </a:r>
            </a:p>
          </p:txBody>
        </p:sp>
      </p:grpSp>
      <p:grpSp>
        <p:nvGrpSpPr>
          <p:cNvPr id="42" name="c3-card-2"/>
          <p:cNvGrpSpPr/>
          <p:nvPr/>
        </p:nvGrpSpPr>
        <p:grpSpPr>
          <a:xfrm>
            <a:off x="8153400" y="3937635"/>
            <a:ext cx="3505200" cy="1937385"/>
            <a:chOff x="8153400" y="3937635"/>
            <a:chExt cx="3505200" cy="1937385"/>
          </a:xfrm>
        </p:grpSpPr>
        <p:sp>
          <p:nvSpPr>
            <p:cNvPr id="37" name="Rectangle 37"/>
            <p:cNvSpPr/>
            <p:nvPr/>
          </p:nvSpPr>
          <p:spPr>
            <a:xfrm>
              <a:off x="8153400" y="3937635"/>
              <a:ext cx="3505200" cy="1937385"/>
            </a:xfrm>
            <a:prstGeom prst="roundRect">
              <a:avLst>
                <a:gd name="adj" fmla="val 6883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8" name="Rectangle 38"/>
            <p:cNvSpPr/>
            <p:nvPr/>
          </p:nvSpPr>
          <p:spPr>
            <a:xfrm>
              <a:off x="8362950" y="4147185"/>
              <a:ext cx="403860" cy="257175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8450437" y="4182904"/>
              <a:ext cx="22888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Q6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8355330" y="4524375"/>
              <a:ext cx="2808923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 个顾客 t = (4, 1, 3)，最少总</a:t>
              </a:r>
              <a:br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等待是多少？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8355330" y="5145405"/>
              <a:ext cx="293941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按 1, 3, 4 服务，等待 0、1、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4，总和 5</a:t>
              </a:r>
            </a:p>
          </p:txBody>
        </p:sp>
      </p:grpSp>
      <p:grpSp>
        <p:nvGrpSpPr>
          <p:cNvPr id="45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3" name="TextBox 43"/>
            <p:cNvSpPr txBox="1"/>
            <p:nvPr/>
          </p:nvSpPr>
          <p:spPr>
            <a:xfrm>
              <a:off x="528447" y="6581299"/>
              <a:ext cx="242418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算法设计与分析 · 第5章 贪心法 作业讲解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4794939" cy="909257"/>
            <a:chOff x="520446" y="342900"/>
            <a:chExt cx="4794939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246822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31966" y="407194"/>
              <a:ext cx="105064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第5章 作业讲解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479493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小结：7 题的结论、方法与更正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41" name="c1-table-1"/>
          <p:cNvGrpSpPr/>
          <p:nvPr/>
        </p:nvGrpSpPr>
        <p:grpSpPr>
          <a:xfrm>
            <a:off x="533400" y="1524000"/>
            <a:ext cx="5626418" cy="2669858"/>
            <a:chOff x="533400" y="1524000"/>
            <a:chExt cx="5626418" cy="2669858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626418" cy="381000"/>
            </a:xfrm>
            <a:prstGeom prst="rect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794576" y="1641157"/>
              <a:ext cx="1520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题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905952" y="1641157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结论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4169473" y="1641157"/>
              <a:ext cx="71742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一句话方法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28078" y="2023110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1218248" y="1914525"/>
              <a:ext cx="1668780" cy="361950"/>
            </a:xfrm>
            <a:prstGeom prst="rect">
              <a:avLst/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1303401" y="2023110"/>
              <a:ext cx="90117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✗ 不一定最优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2991231" y="2023110"/>
              <a:ext cx="187023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反例 M = 6：贪心 7，最优 11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533400" y="2282190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6" name="Rectangle 16"/>
            <p:cNvSpPr/>
            <p:nvPr/>
          </p:nvSpPr>
          <p:spPr>
            <a:xfrm>
              <a:off x="533400" y="2286952"/>
              <a:ext cx="5626418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28078" y="2404110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303401" y="2404110"/>
              <a:ext cx="90117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✓ 定理仍成立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2991231" y="2404110"/>
              <a:ext cx="184823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把可行排列逐步换成期限升序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533400" y="2663190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28078" y="2785110"/>
              <a:ext cx="31527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3、4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303401" y="2785110"/>
              <a:ext cx="54073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74；115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2991231" y="2785110"/>
              <a:ext cx="234856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JS 插入数组，FJS 集合树找空时间片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533400" y="3045142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533400" y="3049905"/>
              <a:ext cx="5626418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28078" y="3167062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303401" y="3167062"/>
              <a:ext cx="97185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fᵢ/lᵢ 非增最优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2991231" y="3167062"/>
              <a:ext cx="205319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相邻逆序交换差值 fᵥ·lᵤ − fᵤ·lᵥ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533400" y="3426142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628078" y="3548062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303401" y="3548062"/>
              <a:ext cx="8587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轻者先装最优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2991231" y="3548062"/>
              <a:ext cx="156552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逐位改最优解或替换元素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533400" y="3807142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4" name="Rectangle 34"/>
            <p:cNvSpPr/>
            <p:nvPr/>
          </p:nvSpPr>
          <p:spPr>
            <a:xfrm>
              <a:off x="533400" y="3811905"/>
              <a:ext cx="5626418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628078" y="3930015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1303401" y="3930015"/>
              <a:ext cx="100012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短者先服务最优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2991231" y="3930015"/>
              <a:ext cx="165740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相邻逆序交换差值 tᵤ − tᵥ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533400" y="1524000"/>
              <a:ext cx="5626418" cy="2669858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9" name="Rectangle 39"/>
            <p:cNvSpPr/>
            <p:nvPr/>
          </p:nvSpPr>
          <p:spPr>
            <a:xfrm>
              <a:off x="1203960" y="1524000"/>
              <a:ext cx="9525" cy="266985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0" name="Rectangle 40"/>
            <p:cNvSpPr/>
            <p:nvPr/>
          </p:nvSpPr>
          <p:spPr>
            <a:xfrm>
              <a:off x="2891790" y="1524000"/>
              <a:ext cx="9525" cy="266985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51" name="c1-card-2"/>
          <p:cNvGrpSpPr/>
          <p:nvPr/>
        </p:nvGrpSpPr>
        <p:grpSpPr>
          <a:xfrm>
            <a:off x="533400" y="4358640"/>
            <a:ext cx="5626418" cy="1957388"/>
            <a:chOff x="533400" y="4358640"/>
            <a:chExt cx="5626418" cy="1957388"/>
          </a:xfrm>
        </p:grpSpPr>
        <p:sp>
          <p:nvSpPr>
            <p:cNvPr id="42" name="Rectangle 42"/>
            <p:cNvSpPr/>
            <p:nvPr/>
          </p:nvSpPr>
          <p:spPr>
            <a:xfrm>
              <a:off x="533400" y="4358640"/>
              <a:ext cx="5626418" cy="1957388"/>
            </a:xfrm>
            <a:prstGeom prst="roundRect">
              <a:avLst>
                <a:gd name="adj" fmla="val 6813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3" name="Rectangle 43"/>
            <p:cNvSpPr/>
            <p:nvPr/>
          </p:nvSpPr>
          <p:spPr>
            <a:xfrm>
              <a:off x="714375" y="4539615"/>
              <a:ext cx="707708" cy="238125"/>
            </a:xfrm>
            <a:prstGeom prst="roundRect">
              <a:avLst>
                <a:gd name="adj" fmla="val 50000"/>
              </a:avLst>
            </a:prstGeom>
            <a:solidFill>
              <a:srgbClr val="243B7A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798944" y="4572476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答题要点</a:t>
              </a:r>
            </a:p>
          </p:txBody>
        </p:sp>
        <p:sp>
          <p:nvSpPr>
            <p:cNvPr id="45" name="Ellipse 45"/>
            <p:cNvSpPr/>
            <p:nvPr/>
          </p:nvSpPr>
          <p:spPr>
            <a:xfrm>
              <a:off x="723900" y="4932045"/>
              <a:ext cx="57150" cy="5715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879348" y="4879181"/>
              <a:ext cx="4889754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证最优写交换论证：换谁、换后仍可行、目标值不变差，三处都要写</a:t>
              </a:r>
              <a:br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出来</a:t>
              </a:r>
            </a:p>
          </p:txBody>
        </p:sp>
        <p:sp>
          <p:nvSpPr>
            <p:cNvPr id="47" name="Ellipse 47"/>
            <p:cNvSpPr/>
            <p:nvPr/>
          </p:nvSpPr>
          <p:spPr>
            <a:xfrm>
              <a:off x="723900" y="5459730"/>
              <a:ext cx="57150" cy="5715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879348" y="5407819"/>
              <a:ext cx="4775962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手工执行算法：先排序，逐步写出 J 数组或 F 数组与集合树，最后</a:t>
              </a:r>
              <a:br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算效益</a:t>
              </a:r>
            </a:p>
          </p:txBody>
        </p:sp>
        <p:sp>
          <p:nvSpPr>
            <p:cNvPr id="49" name="Ellipse 49"/>
            <p:cNvSpPr/>
            <p:nvPr/>
          </p:nvSpPr>
          <p:spPr>
            <a:xfrm>
              <a:off x="723900" y="5987415"/>
              <a:ext cx="57150" cy="5715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879348" y="5935504"/>
              <a:ext cx="485496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说“不一定最优”：一组数据，贪心解和更优解的目标值都算出来</a:t>
              </a:r>
            </a:p>
          </p:txBody>
        </p:sp>
      </p:grpSp>
      <p:grpSp>
        <p:nvGrpSpPr>
          <p:cNvPr id="74" name="c2-card-1"/>
          <p:cNvGrpSpPr/>
          <p:nvPr/>
        </p:nvGrpSpPr>
        <p:grpSpPr>
          <a:xfrm>
            <a:off x="6464618" y="1524000"/>
            <a:ext cx="5193982" cy="2326005"/>
            <a:chOff x="6464618" y="1524000"/>
            <a:chExt cx="5193982" cy="2326005"/>
          </a:xfrm>
        </p:grpSpPr>
        <p:sp>
          <p:nvSpPr>
            <p:cNvPr id="52" name="Rectangle 52"/>
            <p:cNvSpPr/>
            <p:nvPr/>
          </p:nvSpPr>
          <p:spPr>
            <a:xfrm>
              <a:off x="6464618" y="1524000"/>
              <a:ext cx="5193982" cy="2326005"/>
            </a:xfrm>
            <a:prstGeom prst="roundRect">
              <a:avLst>
                <a:gd name="adj" fmla="val 573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53" name="Rectangle 53"/>
            <p:cNvSpPr/>
            <p:nvPr/>
          </p:nvSpPr>
          <p:spPr>
            <a:xfrm>
              <a:off x="6474142" y="1657350"/>
              <a:ext cx="47625" cy="2059305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54" name="Rectangle 54"/>
            <p:cNvSpPr/>
            <p:nvPr/>
          </p:nvSpPr>
          <p:spPr>
            <a:xfrm>
              <a:off x="6683692" y="1704975"/>
              <a:ext cx="707708" cy="23812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6769214" y="1737836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更正汇总</a:t>
              </a:r>
            </a:p>
          </p:txBody>
        </p:sp>
        <p:sp>
          <p:nvSpPr>
            <p:cNvPr id="56" name="Ellipse 56"/>
            <p:cNvSpPr/>
            <p:nvPr/>
          </p:nvSpPr>
          <p:spPr>
            <a:xfrm>
              <a:off x="6683692" y="2033588"/>
              <a:ext cx="180975" cy="18097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6735599" y="2069211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6954393" y="2045494"/>
              <a:ext cx="460511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题1：“装满背包即最优”不成立，只有按比值连续装满才成立</a:t>
              </a:r>
            </a:p>
          </p:txBody>
        </p:sp>
        <p:sp>
          <p:nvSpPr>
            <p:cNvPr id="59" name="Ellipse 59"/>
            <p:cNvSpPr/>
            <p:nvPr/>
          </p:nvSpPr>
          <p:spPr>
            <a:xfrm>
              <a:off x="6683692" y="2319338"/>
              <a:ext cx="180975" cy="18097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6735599" y="2354008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6954393" y="2330291"/>
              <a:ext cx="390724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题2：求和应为 t(rⱼ)；σ′ = r₁…rₖ，下标 n 应为 k</a:t>
              </a:r>
            </a:p>
          </p:txBody>
        </p:sp>
        <p:sp>
          <p:nvSpPr>
            <p:cNvPr id="62" name="Ellipse 62"/>
            <p:cNvSpPr/>
            <p:nvPr/>
          </p:nvSpPr>
          <p:spPr>
            <a:xfrm>
              <a:off x="6683692" y="2604135"/>
              <a:ext cx="180975" cy="18097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6735599" y="2639758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6954393" y="2615089"/>
              <a:ext cx="381393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题4：舍弃作业2 时 F(4) 仍为 3，原讲解改成了 1</a:t>
              </a:r>
            </a:p>
          </p:txBody>
        </p:sp>
        <p:sp>
          <p:nvSpPr>
            <p:cNvPr id="65" name="Ellipse 65"/>
            <p:cNvSpPr/>
            <p:nvPr/>
          </p:nvSpPr>
          <p:spPr>
            <a:xfrm>
              <a:off x="6683692" y="2888932"/>
              <a:ext cx="180975" cy="18097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6735599" y="2924556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6954393" y="2899886"/>
              <a:ext cx="451033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题5③：差值 &gt; 0 应直接导出矛盾，比值相等的情况另行说明</a:t>
              </a:r>
            </a:p>
          </p:txBody>
        </p:sp>
        <p:sp>
          <p:nvSpPr>
            <p:cNvPr id="68" name="Ellipse 68"/>
            <p:cNvSpPr/>
            <p:nvPr/>
          </p:nvSpPr>
          <p:spPr>
            <a:xfrm>
              <a:off x="6683692" y="3173730"/>
              <a:ext cx="180975" cy="18097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69" name="TextBox 69"/>
            <p:cNvSpPr txBox="1"/>
            <p:nvPr/>
          </p:nvSpPr>
          <p:spPr>
            <a:xfrm>
              <a:off x="6735599" y="3209354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6954393" y="3184684"/>
              <a:ext cx="440760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题6：W(a) &lt; W(b) 应为 W(a) ≤ W(b)；贪心解中 xⱼ = 0</a:t>
              </a:r>
            </a:p>
          </p:txBody>
        </p:sp>
        <p:sp>
          <p:nvSpPr>
            <p:cNvPr id="71" name="Ellipse 71"/>
            <p:cNvSpPr/>
            <p:nvPr/>
          </p:nvSpPr>
          <p:spPr>
            <a:xfrm>
              <a:off x="6683692" y="3458528"/>
              <a:ext cx="180975" cy="18097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72" name="TextBox 72"/>
            <p:cNvSpPr txBox="1"/>
            <p:nvPr/>
          </p:nvSpPr>
          <p:spPr>
            <a:xfrm>
              <a:off x="6735599" y="3494151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6954393" y="3470434"/>
              <a:ext cx="42603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题7：目标函数应为 Σⱼ (n − j)·tᵢⱼ，交换差值严格为正</a:t>
              </a:r>
            </a:p>
          </p:txBody>
        </p:sp>
      </p:grpSp>
      <p:grpSp>
        <p:nvGrpSpPr>
          <p:cNvPr id="87" name="c2-card-2"/>
          <p:cNvGrpSpPr/>
          <p:nvPr/>
        </p:nvGrpSpPr>
        <p:grpSpPr>
          <a:xfrm>
            <a:off x="6464618" y="4014788"/>
            <a:ext cx="5193982" cy="2300288"/>
            <a:chOff x="6464618" y="4014788"/>
            <a:chExt cx="5193982" cy="2300288"/>
          </a:xfrm>
        </p:grpSpPr>
        <p:sp>
          <p:nvSpPr>
            <p:cNvPr id="75" name="Rectangle 75"/>
            <p:cNvSpPr/>
            <p:nvPr/>
          </p:nvSpPr>
          <p:spPr>
            <a:xfrm>
              <a:off x="6464618" y="4014788"/>
              <a:ext cx="5193982" cy="2300288"/>
            </a:xfrm>
            <a:prstGeom prst="roundRect">
              <a:avLst>
                <a:gd name="adj" fmla="val 579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76" name="Rectangle 76"/>
            <p:cNvSpPr/>
            <p:nvPr/>
          </p:nvSpPr>
          <p:spPr>
            <a:xfrm>
              <a:off x="6474142" y="4148138"/>
              <a:ext cx="47625" cy="2033588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77" name="Rectangle 77"/>
            <p:cNvSpPr/>
            <p:nvPr/>
          </p:nvSpPr>
          <p:spPr>
            <a:xfrm>
              <a:off x="6683692" y="4195762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78" name="TextBox 78"/>
            <p:cNvSpPr txBox="1"/>
            <p:nvPr/>
          </p:nvSpPr>
          <p:spPr>
            <a:xfrm>
              <a:off x="6776364" y="4228624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92400E"/>
                  </a:solidFill>
                  <a:latin typeface="+mn-lt"/>
                  <a:ea typeface="+mn-ea"/>
                  <a:cs typeface="+mn-cs"/>
                </a:rPr>
                <a:t>补充</a:t>
              </a:r>
            </a:p>
          </p:txBody>
        </p:sp>
        <p:sp>
          <p:nvSpPr>
            <p:cNvPr id="79" name="Ellipse 79"/>
            <p:cNvSpPr/>
            <p:nvPr/>
          </p:nvSpPr>
          <p:spPr>
            <a:xfrm>
              <a:off x="6693218" y="4588192"/>
              <a:ext cx="57150" cy="571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80" name="TextBox 80"/>
            <p:cNvSpPr txBox="1"/>
            <p:nvPr/>
          </p:nvSpPr>
          <p:spPr>
            <a:xfrm>
              <a:off x="6848666" y="4536281"/>
              <a:ext cx="459828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题2：处理时间不同时按效益贪心不再最优（反例 A、B、C）</a:t>
              </a:r>
            </a:p>
          </p:txBody>
        </p:sp>
        <p:sp>
          <p:nvSpPr>
            <p:cNvPr id="81" name="Ellipse 81"/>
            <p:cNvSpPr/>
            <p:nvPr/>
          </p:nvSpPr>
          <p:spPr>
            <a:xfrm>
              <a:off x="6693218" y="4873942"/>
              <a:ext cx="57150" cy="571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82" name="TextBox 82"/>
            <p:cNvSpPr txBox="1"/>
            <p:nvPr/>
          </p:nvSpPr>
          <p:spPr>
            <a:xfrm>
              <a:off x="6848666" y="4821079"/>
              <a:ext cx="28647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题6：改为总重量最大时轻者先装失效</a:t>
              </a:r>
            </a:p>
          </p:txBody>
        </p:sp>
        <p:sp>
          <p:nvSpPr>
            <p:cNvPr id="83" name="Ellipse 83"/>
            <p:cNvSpPr/>
            <p:nvPr/>
          </p:nvSpPr>
          <p:spPr>
            <a:xfrm>
              <a:off x="6693218" y="5158740"/>
              <a:ext cx="57150" cy="571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84" name="TextBox 84"/>
            <p:cNvSpPr txBox="1"/>
            <p:nvPr/>
          </p:nvSpPr>
          <p:spPr>
            <a:xfrm>
              <a:off x="6848666" y="5105876"/>
              <a:ext cx="34642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题4：同一数据交给 JS，选中的作业集合相同</a:t>
              </a:r>
            </a:p>
          </p:txBody>
        </p:sp>
        <p:sp>
          <p:nvSpPr>
            <p:cNvPr id="85" name="Ellipse 85"/>
            <p:cNvSpPr/>
            <p:nvPr/>
          </p:nvSpPr>
          <p:spPr>
            <a:xfrm>
              <a:off x="6693218" y="5443538"/>
              <a:ext cx="57150" cy="571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86" name="TextBox 86"/>
            <p:cNvSpPr txBox="1"/>
            <p:nvPr/>
          </p:nvSpPr>
          <p:spPr>
            <a:xfrm>
              <a:off x="6848666" y="5390674"/>
              <a:ext cx="413124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题5、7：fᵢ 全相等时题5 化为题7，都按长度非降排序</a:t>
              </a:r>
            </a:p>
          </p:txBody>
        </p:sp>
      </p:grpSp>
      <p:grpSp>
        <p:nvGrpSpPr>
          <p:cNvPr id="90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88" name="TextBox 88"/>
            <p:cNvSpPr txBox="1"/>
            <p:nvPr/>
          </p:nvSpPr>
          <p:spPr>
            <a:xfrm>
              <a:off x="528447" y="6581299"/>
              <a:ext cx="242418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算法设计与分析 · 第5章 贪心法 作业讲解</a:t>
              </a:r>
            </a:p>
          </p:txBody>
        </p:sp>
        <p:sp>
          <p:nvSpPr>
            <p:cNvPr id="89" name="TextBox 89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algo_hw5">
  <a:themeElements>
    <a:clrScheme name="algo_hw5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algo_hw5">
      <a:majorFont>
        <a:latin typeface="Microsoft YaHei"/>
        <a:ea typeface="Microsoft YaHei"/>
        <a:cs typeface="Microsoft YaHe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Microsoft YaHei"/>
        <a:ea typeface="Microsoft YaHei"/>
        <a:cs typeface="Microsoft YaHe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algo_hw5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30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>zh-CN</dc:language>
  <cp:lastModifiedBy/>
  <cp:revision>1</cp:revision>
  <dcterms:created xsi:type="dcterms:W3CDTF">2026-09-23T10:03:26Z</dcterms:created>
  <dcterms:modified xsi:type="dcterms:W3CDTF">2026-09-23T10:03:26Z</dcterms:modified>
  <cp:category/>
  <cp:contentStatus/>
</cp:coreProperties>
</file>