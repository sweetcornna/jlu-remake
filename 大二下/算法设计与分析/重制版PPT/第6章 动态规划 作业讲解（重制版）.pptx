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hw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hw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2d416e090a109f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e06907b64f42855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6b656b9bca190a3.png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6049747" cy="3437763"/>
            <a:chOff x="666750" y="1619250"/>
            <a:chExt cx="6049747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59651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3747" y="1718310"/>
              <a:ext cx="24006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第6章作业讲解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73943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 作业讲解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6039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道题：最优性原理、背包序偶法、检索树与三个递推式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最优性原理与多段图（题1、2）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背包问题的序偶法（题3、4）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最优二分检索树（题5、6）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312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零钱、回文与币值（题7~9）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774197" cy="205359"/>
            <a:chOff x="680466" y="6192202"/>
            <a:chExt cx="4774197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自学复习版｜据吉林大学《算法设计与分析》第6章作业讲解整理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本次作业讲解路线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解题前的准备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639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 题总览，动态规划题的答题五项，序偶法与区间填表的顺序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最优性原理与多段图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题1 最优性原理何时失效，题2 向前处理求 1 到 8 的最小成本路径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背包问题的序偶法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457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题3 让 Sⁱ 达到 2ⁱ 个序偶的最坏实例，题4 每件最多取 2 件的 0-2 背包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最优二分检索树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5185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题5 计算 W、C、R 三张表并画树，题6 证明 Knuth 优化后是 O(n²)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三个递推式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932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题7 找零钱，题8 插入字符构造回文，题9 不相邻硬币的最大币值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道自测题，9 题结论表，原讲解的更正汇总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判断一个多阶段决策问题能否用最优性原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理，并能举出反例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按“状态、递推式、边界、计算顺序、回溯”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写出一道动态规划题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用序偶法逐步求 Sⁱ，正确删去超重和被支配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的序偶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91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按区间长度填 OBST 的 W、C、R 表，并由 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表还原检索树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66700" cy="909257"/>
            <a:chOff x="520446" y="342900"/>
            <a:chExt cx="87667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667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题总览：3 道计算、1 道构造、1 道证明、4 道写递推式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7" name="c1-table-1"/>
          <p:cNvGrpSpPr/>
          <p:nvPr/>
        </p:nvGrpSpPr>
        <p:grpSpPr>
          <a:xfrm>
            <a:off x="533400" y="1524000"/>
            <a:ext cx="11125200" cy="3813810"/>
            <a:chOff x="533400" y="1524000"/>
            <a:chExt cx="11125200" cy="3813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5520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1175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2535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6523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关键答案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81782" y="1641157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本讲义的更正或补充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538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4338" y="2023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最优性原理总是成立吗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25352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11534" y="202311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不总成立：乘积路径含负权；含负长度环的最短路径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421" y="202311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补一个可算的四段图反例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286952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5381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84338" y="2404110"/>
              <a:ext cx="2314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多段图向前处理求 1 到 8 的最小成本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25352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26380" y="2296478"/>
              <a:ext cx="365188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11534" y="2404110"/>
              <a:ext cx="2216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COST(1) = 15，路径 1 → 2 → 5 → 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83421" y="2404110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 7 条路径全枚举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663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5381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84338" y="2785110"/>
              <a:ext cx="1813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0/1 背包使 |Sⁱ| = 2ⁱ 的例子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25352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11534" y="2785110"/>
              <a:ext cx="1829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 = wᵢ = 2ⁱ⁻¹，M ≥ 2ⁿ − 1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3421" y="27851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补容量条件与归纳证明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045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049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5381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84338" y="3167062"/>
              <a:ext cx="20842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0-2 背包 n = 4，M = 14，序偶法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25352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26380" y="3059430"/>
              <a:ext cx="365188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11534" y="3167062"/>
              <a:ext cx="198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(2, 0, 1, 1)，最大效益 24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83421" y="3167062"/>
              <a:ext cx="1279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S³、S⁴ 漏了 (8,5)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426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5381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84338" y="3548062"/>
              <a:ext cx="2127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OBST 求 W、C、R（0 ≤ i, j ≤ 4）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25352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11534" y="3548062"/>
              <a:ext cx="17220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C(0,4) = 39/20，根 goto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83421" y="35480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补每格候选值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8071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3811905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65381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84338" y="3930015"/>
              <a:ext cx="28005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限制在 [R(i,j−1), R(i+1,j)] 时为 O(n²)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25352" y="3930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证明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11534" y="3930015"/>
              <a:ext cx="1332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m 分组后逐项相消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83421" y="393001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题面区间上界写错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189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5381" y="4311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84338" y="431101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找零钱的最少硬币数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725352" y="4311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411534" y="4311015"/>
              <a:ext cx="1759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F(n) = min{F(n − dⱼ)} + 1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83421" y="4311015"/>
              <a:ext cx="753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漏了 dⱼ ≤ n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57009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3400" y="4574858"/>
              <a:ext cx="11125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5381" y="4692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84338" y="469201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插入最少字符构成回文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725352" y="46920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411534" y="4692015"/>
              <a:ext cx="215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相等取 n(i+1, j−1)，否则 min + 1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83421" y="4692015"/>
              <a:ext cx="914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 Ab3bd 填表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49520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5381" y="50739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84338" y="507396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不相邻硬币的最大币值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725352" y="50739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411534" y="5073968"/>
              <a:ext cx="2683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F(i) = max{cᵢ + F(i−2), F(i−1)}，得 17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83421" y="507396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补回溯代码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3400" y="1524000"/>
              <a:ext cx="11125200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84898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422458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312092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983980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8" name="Rectangle 7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1273" y="6039326"/>
              <a:ext cx="10558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每题先给题面、思路与完整解答，再用一页复核（换数据、全枚举对拍、反例）。全部数字由脚本 algo_hw6_verify.py 与暴力枚举对拍。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65726" cy="909257"/>
            <a:chOff x="520446" y="342900"/>
            <a:chExt cx="93657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657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动态规划题的答案写 5 项，计算顺序要保证用到的格子已算好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4968869" cy="2702814"/>
            <a:chOff x="533400" y="1533525"/>
            <a:chExt cx="4968869" cy="2702814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1818322"/>
              <a:ext cx="3972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用一句话说清下标的含义，如 F(x) 是凑出金额 x 的最少硬币数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1169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371725"/>
              <a:ext cx="4237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按最后一步（最后一枚硬币、根结点、是否取第 i 枚）分情况取最优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2925128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最小的子问题直接给值，递推式里下标越界的项要说明怎么处理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计算顺序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477578"/>
              <a:ext cx="4555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每个格子只依赖已算出的格子：按 x 递增、按区间长度递增或按段号递减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37761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7166" y="403098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记下每格取到最优的决策，从终点往回读出最优解</a:t>
              </a:r>
            </a:p>
          </p:txBody>
        </p:sp>
      </p:grpSp>
      <p:grpSp>
        <p:nvGrpSpPr>
          <p:cNvPr id="35" name="c1-callout-2"/>
          <p:cNvGrpSpPr/>
          <p:nvPr/>
        </p:nvGrpSpPr>
        <p:grpSpPr>
          <a:xfrm>
            <a:off x="533400" y="4397692"/>
            <a:ext cx="5410200" cy="1632585"/>
            <a:chOff x="533400" y="4397692"/>
            <a:chExt cx="5410200" cy="1632585"/>
          </a:xfrm>
        </p:grpSpPr>
        <p:sp>
          <p:nvSpPr>
            <p:cNvPr id="29" name="Rectangle 29"/>
            <p:cNvSpPr/>
            <p:nvPr/>
          </p:nvSpPr>
          <p:spPr>
            <a:xfrm>
              <a:off x="533400" y="4397692"/>
              <a:ext cx="5410200" cy="1632585"/>
            </a:xfrm>
            <a:prstGeom prst="roundRect">
              <a:avLst>
                <a:gd name="adj" fmla="val 700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26129" y="5110281"/>
              <a:ext cx="224134" cy="192560"/>
              <a:chOff x="726129" y="5110281"/>
              <a:chExt cx="224134" cy="192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38200" y="51806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6129" y="51102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2584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5007769"/>
              <a:ext cx="4467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只写递推式不写边界是本次作业最常见的失分点，题4、题7 的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原讲解都缺了一部分。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6248400" y="1524000"/>
            <a:ext cx="5410200" cy="2669858"/>
            <a:chOff x="6248400" y="1524000"/>
            <a:chExt cx="5410200" cy="2669858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42901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9528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8852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计算顺序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43079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84098" y="2023110"/>
              <a:ext cx="2254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COST(j)：结点 j 到汇点的最小成本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89198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段号从大到小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3079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84098" y="2404110"/>
              <a:ext cx="1908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 或 fᵢ(x)：只用前 i 种物品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89198" y="2404110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1, 2, …, n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3079" y="2785110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84098" y="2785110"/>
              <a:ext cx="1975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C(i,j)：键 aᵢ₊₁ … aⱼ 的最优树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89198" y="2785110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区间长度 m 递增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3079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84098" y="3167062"/>
              <a:ext cx="1157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F(x)：凑出金额 x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89198" y="3167062"/>
              <a:ext cx="9223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1, 2, …, n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3079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84098" y="3548062"/>
              <a:ext cx="1375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n(i,j)：子串 Cᵢ … Cⱼ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589198" y="3548062"/>
              <a:ext cx="5831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− i 递增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48400" y="3811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3079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84098" y="3930015"/>
              <a:ext cx="1128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F(i)：前 i 枚硬币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89198" y="3930015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2, 3, …, n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1524000"/>
              <a:ext cx="5410200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8465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48975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c2-card-2"/>
          <p:cNvGrpSpPr/>
          <p:nvPr/>
        </p:nvGrpSpPr>
        <p:grpSpPr>
          <a:xfrm>
            <a:off x="6248400" y="4358640"/>
            <a:ext cx="5410200" cy="1671638"/>
            <a:chOff x="6248400" y="4358640"/>
            <a:chExt cx="5410200" cy="1671638"/>
          </a:xfrm>
        </p:grpSpPr>
        <p:sp>
          <p:nvSpPr>
            <p:cNvPr id="70" name="Rectangle 70"/>
            <p:cNvSpPr/>
            <p:nvPr/>
          </p:nvSpPr>
          <p:spPr>
            <a:xfrm>
              <a:off x="6248400" y="435864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429375" y="45396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13944" y="45724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两个特征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438900" y="493204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94348" y="4879181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最优子结构：最优解里的子问题解也最优（题1 讨论它何时不成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立）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438900" y="545973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94348" y="5407819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重叠子问题：同一个子问题被多次用到，所以填表比直接递归省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本次两种填表工具：序偶法逐件合并，区间表按长度递增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ard-1"/>
          <p:cNvGrpSpPr/>
          <p:nvPr/>
        </p:nvGrpSpPr>
        <p:grpSpPr>
          <a:xfrm>
            <a:off x="533400" y="1524000"/>
            <a:ext cx="5626418" cy="2972752"/>
            <a:chOff x="533400" y="1524000"/>
            <a:chExt cx="5626418" cy="29727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72752"/>
            </a:xfrm>
            <a:prstGeom prst="roundRect">
              <a:avLst>
                <a:gd name="adj" fmla="val 44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7060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6969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400" y="1769269"/>
              <a:ext cx="1240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序偶法（题3、4）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06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Sⁱ：只用前 i 种物品时所有“有用”的 (P, W)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465070"/>
              <a:ext cx="1380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S⁰ = {(0, 0)}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800350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Sⁱ⁻¹ 的每个序偶加上 (pᵢ, wᵢ)，得到取第 i 种物品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的新序偶（0-2 背包再加一组 (2pᵢ, 2wᵢ)）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40804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4503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421380"/>
              <a:ext cx="36240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Sⁱ⁻¹ 合并成 Sⁱ，删去 W &gt; M 的序偶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374332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37856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3756660"/>
              <a:ext cx="45316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支配规则：Pⱼ ≤ Pₖ 且 Wⱼ ≥ Wₖ 时删去 (Pⱼ, Wⱼ)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573" y="4088606"/>
              <a:ext cx="3569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 W 升序排好后，留下的序偶 P 也严格递增。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687252"/>
            <a:ext cx="5626418" cy="1201102"/>
            <a:chOff x="533400" y="4687252"/>
            <a:chExt cx="5626418" cy="1201102"/>
          </a:xfrm>
        </p:grpSpPr>
        <p:sp>
          <p:nvSpPr>
            <p:cNvPr id="26" name="Rectangle 26"/>
            <p:cNvSpPr/>
            <p:nvPr/>
          </p:nvSpPr>
          <p:spPr>
            <a:xfrm>
              <a:off x="533400" y="4687252"/>
              <a:ext cx="5626418" cy="1201102"/>
            </a:xfrm>
            <a:prstGeom prst="roundRect">
              <a:avLst>
                <a:gd name="adj" fmla="val 95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188268"/>
              <a:ext cx="200026" cy="200025"/>
              <a:chOff x="738188" y="5188268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1882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2327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3438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045392"/>
              <a:ext cx="4168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回溯：在 Sⁿ 里取 W ≤ M 的最大 P，再逐层看它在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Sⁱ⁻¹ 里是否已存在，存在就说明第 i 种没取。</a:t>
              </a:r>
            </a:p>
          </p:txBody>
        </p:sp>
      </p:grpSp>
      <p:grpSp>
        <p:nvGrpSpPr>
          <p:cNvPr id="83" name="c2-cells-1"/>
          <p:cNvGrpSpPr/>
          <p:nvPr/>
        </p:nvGrpSpPr>
        <p:grpSpPr>
          <a:xfrm>
            <a:off x="6458522" y="1524000"/>
            <a:ext cx="4973383" cy="2326957"/>
            <a:chOff x="6458522" y="1524000"/>
            <a:chExt cx="4973383" cy="2326957"/>
          </a:xfrm>
        </p:grpSpPr>
        <p:sp>
          <p:nvSpPr>
            <p:cNvPr id="33" name="TextBox 33"/>
            <p:cNvSpPr txBox="1"/>
            <p:nvPr/>
          </p:nvSpPr>
          <p:spPr>
            <a:xfrm>
              <a:off x="6458522" y="1659255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i=0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21805" y="15240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3007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743825" y="1524000"/>
              <a:ext cx="922020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5209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665845" y="1524000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411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587865" y="1524000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99613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509885" y="1524000"/>
              <a:ext cx="922020" cy="419100"/>
            </a:xfrm>
            <a:prstGeom prst="rect">
              <a:avLst/>
            </a:prstGeom>
            <a:solidFill>
              <a:srgbClr val="F26B3A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18153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58522" y="2078355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21805" y="19431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743825" y="19431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52093" y="20783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665845" y="1943100"/>
              <a:ext cx="922020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74113" y="20783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587865" y="1943100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996133" y="20783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509885" y="1943100"/>
              <a:ext cx="92202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918153" y="20783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58522" y="2497455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21805" y="23622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743825" y="23622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665845" y="23622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074113" y="24974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587865" y="2362200"/>
              <a:ext cx="922020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996133" y="24974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509885" y="2362200"/>
              <a:ext cx="92202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18153" y="24974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58522" y="2916555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821805" y="27813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743825" y="27813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665845" y="27813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9587865" y="27813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996133" y="29165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509885" y="2781300"/>
              <a:ext cx="922020" cy="419100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918153" y="29165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58522" y="3335655"/>
              <a:ext cx="249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i=4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821805" y="32004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743825" y="32004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8665845" y="32004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9587865" y="32004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509885" y="3200400"/>
              <a:ext cx="92202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918153" y="33356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244734" y="36747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166754" y="36747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088774" y="36747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010794" y="36747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932814" y="36747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6464618" y="4000500"/>
            <a:ext cx="5193982" cy="1887855"/>
            <a:chOff x="6464618" y="4000500"/>
            <a:chExt cx="5193982" cy="1887855"/>
          </a:xfrm>
        </p:grpSpPr>
        <p:sp>
          <p:nvSpPr>
            <p:cNvPr id="84" name="Rectangle 84"/>
            <p:cNvSpPr/>
            <p:nvPr/>
          </p:nvSpPr>
          <p:spPr>
            <a:xfrm>
              <a:off x="6464618" y="4000500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474142" y="41338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712268" y="4210050"/>
              <a:ext cx="159353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770089" y="4245769"/>
              <a:ext cx="1478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区间表（题5、6、8）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704648" y="4587240"/>
              <a:ext cx="44634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格子 (i, j) 里写的是区间长度 m = j − i，列号是 j。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C(i, j) 只用到比它短的区间，所以按 m = 0, 1, 2, 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一条对角线一条对角线地填，最后得到右上角的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C(0,n)。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407658" cy="3214687"/>
            <a:chOff x="667512" y="1835468"/>
            <a:chExt cx="6407658" cy="32146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最优性原理与多段图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先弄清最优性原理在什么条件下成立，再用它解多段图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082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对于多阶段决策问题，最优性原理总是成立的吗？若否，给出一个不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成立的例子并解释原因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281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471035"/>
              <a:ext cx="6168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对给定的 8 结点多段图，用向前处理算法求结点 1 到结点 8 的最小成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本路径及最小成本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79302" cy="909257"/>
            <a:chOff x="520446" y="342900"/>
            <a:chExt cx="101793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最优性原理与多段图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793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题1：最优性原理不总成立，路径长度按乘积算且有负权时就会失效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138238"/>
            <a:chOff x="533400" y="1524000"/>
            <a:chExt cx="5626418" cy="11382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138238"/>
            </a:xfrm>
            <a:prstGeom prst="roundRect">
              <a:avLst>
                <a:gd name="adj" fmla="val 117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15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534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630" y="175069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第1题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24750" y="175641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最优性原理总是成立吗？若否，举例并解释原因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086451"/>
              <a:ext cx="50040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思路：原理要求“子问题的最优解拼起来就是原问题的最优解”。找一个子路径变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好、整条路径反而变差的例子。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2837498"/>
            <a:ext cx="5626418" cy="1209675"/>
            <a:chOff x="533400" y="2837498"/>
            <a:chExt cx="5626418" cy="1209675"/>
          </a:xfrm>
        </p:grpSpPr>
        <p:sp>
          <p:nvSpPr>
            <p:cNvPr id="14" name="Rectangle 14"/>
            <p:cNvSpPr/>
            <p:nvPr/>
          </p:nvSpPr>
          <p:spPr>
            <a:xfrm>
              <a:off x="533400" y="2837498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297084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63905" y="302990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3343" y="306419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最优性原理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047" y="338613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无论过程的初始状态和初始决策是什么，其余的决策都必须相对于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初始决策所产生的状态构成一个最优决策序列。</a:t>
              </a:r>
            </a:p>
          </p:txBody>
        </p:sp>
      </p:grpSp>
      <p:grpSp>
        <p:nvGrpSpPr>
          <p:cNvPr id="33" name="c1-steps-3"/>
          <p:cNvGrpSpPr/>
          <p:nvPr/>
        </p:nvGrpSpPr>
        <p:grpSpPr>
          <a:xfrm>
            <a:off x="533400" y="4231005"/>
            <a:ext cx="5403215" cy="2108358"/>
            <a:chOff x="533400" y="4231005"/>
            <a:chExt cx="5403215" cy="2108358"/>
          </a:xfrm>
        </p:grpSpPr>
        <p:sp>
          <p:nvSpPr>
            <p:cNvPr id="20" name="Rectangle 20"/>
            <p:cNvSpPr/>
            <p:nvPr/>
          </p:nvSpPr>
          <p:spPr>
            <a:xfrm>
              <a:off x="666750" y="4373880"/>
              <a:ext cx="19050" cy="13811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33400" y="4231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4304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4817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4891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56121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7024" y="56859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4263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785" y="4530566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不总成立，只有问题具备最优子结构时才能用动态规划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642" y="485013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785" y="5117306"/>
              <a:ext cx="49613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多段图的路径长度定义为边权乘积，且有负权：s → a 的权是 −2，a 之后乘积越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小，整条路径反而越大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5642" y="564356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反例二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785" y="5911691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含负长度环的最短路径：绕环一圈长度就减少，最优路径不存在，也就谈不上子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路径最优</a:t>
              </a:r>
            </a:p>
          </p:txBody>
        </p:sp>
      </p:grpSp>
      <p:grpSp>
        <p:nvGrpSpPr>
          <p:cNvPr id="78" name="c2-graph-1"/>
          <p:cNvGrpSpPr/>
          <p:nvPr/>
        </p:nvGrpSpPr>
        <p:grpSpPr>
          <a:xfrm>
            <a:off x="6623685" y="1814512"/>
            <a:ext cx="4875847" cy="2019300"/>
            <a:chOff x="6623685" y="1814512"/>
            <a:chExt cx="4875847" cy="2019300"/>
          </a:xfrm>
        </p:grpSpPr>
        <p:sp>
          <p:nvSpPr>
            <p:cNvPr id="34" name="Freeform 34"/>
            <p:cNvSpPr/>
            <p:nvPr/>
          </p:nvSpPr>
          <p:spPr>
            <a:xfrm>
              <a:off x="6918960" y="2113598"/>
              <a:ext cx="1188720" cy="634365"/>
            </a:xfrm>
            <a:custGeom>
              <a:avLst/>
              <a:gdLst/>
              <a:ahLst/>
              <a:cxnLst/>
              <a:rect l="l" t="t" r="r" b="b"/>
              <a:pathLst>
                <a:path w="1188720" h="634365">
                  <a:moveTo>
                    <a:pt x="0" y="634365"/>
                  </a:moveTo>
                  <a:lnTo>
                    <a:pt x="118872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84820" y="206787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0"/>
                  </a:moveTo>
                  <a:lnTo>
                    <a:pt x="45720" y="87630"/>
                  </a:lnTo>
                  <a:lnTo>
                    <a:pt x="0" y="2858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918960" y="2900362"/>
              <a:ext cx="1188720" cy="634365"/>
            </a:xfrm>
            <a:custGeom>
              <a:avLst/>
              <a:gdLst/>
              <a:ahLst/>
              <a:cxnLst/>
              <a:rect l="l" t="t" r="r" b="b"/>
              <a:pathLst>
                <a:path w="1188720" h="634365">
                  <a:moveTo>
                    <a:pt x="0" y="0"/>
                  </a:moveTo>
                  <a:lnTo>
                    <a:pt x="1188720" y="6343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084820" y="349281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7630"/>
                  </a:moveTo>
                  <a:lnTo>
                    <a:pt x="0" y="84773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496300" y="1991678"/>
              <a:ext cx="1114425" cy="9525"/>
            </a:xfrm>
            <a:custGeom>
              <a:avLst/>
              <a:gdLst/>
              <a:ahLst/>
              <a:cxnLst/>
              <a:rect l="l" t="t" r="r" b="b"/>
              <a:pathLst>
                <a:path w="1114425" h="9525">
                  <a:moveTo>
                    <a:pt x="0" y="0"/>
                  </a:moveTo>
                  <a:lnTo>
                    <a:pt x="111442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610725" y="19440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444865" y="2109788"/>
              <a:ext cx="1255395" cy="1340168"/>
            </a:xfrm>
            <a:custGeom>
              <a:avLst/>
              <a:gdLst/>
              <a:ahLst/>
              <a:cxnLst/>
              <a:rect l="l" t="t" r="r" b="b"/>
              <a:pathLst>
                <a:path w="1255395" h="1340168">
                  <a:moveTo>
                    <a:pt x="0" y="0"/>
                  </a:moveTo>
                  <a:lnTo>
                    <a:pt x="1255395" y="13401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665018" y="3417570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101917"/>
                  </a:moveTo>
                  <a:lnTo>
                    <a:pt x="0" y="65722"/>
                  </a:lnTo>
                  <a:lnTo>
                    <a:pt x="6953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8444865" y="2198370"/>
              <a:ext cx="1255395" cy="1340168"/>
            </a:xfrm>
            <a:custGeom>
              <a:avLst/>
              <a:gdLst/>
              <a:ahLst/>
              <a:cxnLst/>
              <a:rect l="l" t="t" r="r" b="b"/>
              <a:pathLst>
                <a:path w="1255395" h="1340168">
                  <a:moveTo>
                    <a:pt x="0" y="1340168"/>
                  </a:moveTo>
                  <a:lnTo>
                    <a:pt x="12553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665018" y="2128838"/>
              <a:ext cx="100012" cy="101917"/>
            </a:xfrm>
            <a:custGeom>
              <a:avLst/>
              <a:gdLst/>
              <a:ahLst/>
              <a:cxnLst/>
              <a:rect l="l" t="t" r="r" b="b"/>
              <a:pathLst>
                <a:path w="100012" h="101917">
                  <a:moveTo>
                    <a:pt x="100012" y="0"/>
                  </a:moveTo>
                  <a:lnTo>
                    <a:pt x="69532" y="101917"/>
                  </a:lnTo>
                  <a:lnTo>
                    <a:pt x="0" y="361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8496300" y="3656648"/>
              <a:ext cx="1114425" cy="9525"/>
            </a:xfrm>
            <a:custGeom>
              <a:avLst/>
              <a:gdLst/>
              <a:ahLst/>
              <a:cxnLst/>
              <a:rect l="l" t="t" r="r" b="b"/>
              <a:pathLst>
                <a:path w="1114425" h="9525">
                  <a:moveTo>
                    <a:pt x="0" y="0"/>
                  </a:moveTo>
                  <a:lnTo>
                    <a:pt x="11144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610725" y="36090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054590" y="2085022"/>
              <a:ext cx="1068705" cy="611505"/>
            </a:xfrm>
            <a:custGeom>
              <a:avLst/>
              <a:gdLst/>
              <a:ahLst/>
              <a:cxnLst/>
              <a:rect l="l" t="t" r="r" b="b"/>
              <a:pathLst>
                <a:path w="1068705" h="611505">
                  <a:moveTo>
                    <a:pt x="0" y="0"/>
                  </a:moveTo>
                  <a:lnTo>
                    <a:pt x="1068705" y="61150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1100435" y="2655570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88583"/>
                  </a:moveTo>
                  <a:lnTo>
                    <a:pt x="0" y="81915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10054590" y="2951798"/>
              <a:ext cx="1068705" cy="611505"/>
            </a:xfrm>
            <a:custGeom>
              <a:avLst/>
              <a:gdLst/>
              <a:ahLst/>
              <a:cxnLst/>
              <a:rect l="l" t="t" r="r" b="b"/>
              <a:pathLst>
                <a:path w="1068705" h="611505">
                  <a:moveTo>
                    <a:pt x="0" y="611505"/>
                  </a:moveTo>
                  <a:lnTo>
                    <a:pt x="10687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1100435" y="2904172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0"/>
                  </a:moveTo>
                  <a:lnTo>
                    <a:pt x="46672" y="88583"/>
                  </a:lnTo>
                  <a:lnTo>
                    <a:pt x="0" y="666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623685" y="2671762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181975" y="183927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8181975" y="350424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9715500" y="1814512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715500" y="3479482"/>
              <a:ext cx="354330" cy="3543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1194732" y="2671762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26834" y="2754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285124" y="19216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85124" y="3586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799878" y="19216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99878" y="358663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97881" y="2754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454265" y="2322195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483831" y="235458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485698" y="3154680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17149" y="318611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031605" y="190595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063057" y="193833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003982" y="2728912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033548" y="2761298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877300" y="291655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908752" y="294894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000172" y="3570922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029738" y="360235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561320" y="232886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592772" y="23602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561320" y="314801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592772" y="318039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6464618" y="4299585"/>
            <a:ext cx="5193982" cy="2033588"/>
            <a:chOff x="6464618" y="4299585"/>
            <a:chExt cx="5193982" cy="2033588"/>
          </a:xfrm>
        </p:grpSpPr>
        <p:sp>
          <p:nvSpPr>
            <p:cNvPr id="79" name="Rectangle 79"/>
            <p:cNvSpPr/>
            <p:nvPr/>
          </p:nvSpPr>
          <p:spPr>
            <a:xfrm>
              <a:off x="6464618" y="4299585"/>
              <a:ext cx="5193982" cy="2033588"/>
            </a:xfrm>
            <a:prstGeom prst="roundRect">
              <a:avLst>
                <a:gd name="adj" fmla="val 65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657022" y="449199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736461" y="45262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为什么失效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50164" y="4848225"/>
              <a:ext cx="43856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全局最优 s → a → c₁ → t，乘积 −6。它的后半段 a → c₁ →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 乘积是 3，而 a 到 t 的最优是 a → c₂ → t 的 −3。最优解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没有用到子问题的最优解。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07152" cy="909257"/>
            <a:chOff x="520446" y="342900"/>
            <a:chExt cx="82071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最优性原理与多段图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071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复核：按原理递推得 −1，全枚举的最小乘积是 −6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8066" y="1524000"/>
            <a:ext cx="5631752" cy="2308479"/>
            <a:chOff x="528066" y="1524000"/>
            <a:chExt cx="5631752" cy="230847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0181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3439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2222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992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a → c₁ → 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793682" y="1939290"/>
              <a:ext cx="99345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19371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96677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全局最小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3412" y="2459831"/>
              <a:ext cx="992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a → c₂ → 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02297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96677" y="2459831"/>
              <a:ext cx="1406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后半段是 a 的“最优”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412" y="2865596"/>
              <a:ext cx="992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b → c₁ → 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02297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9929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→ b → c₂ → 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793682" y="3156585"/>
              <a:ext cx="99345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19371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96677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递推选中的路径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5626418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77939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79190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066" y="362712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四条路径全部枚举</a:t>
              </a:r>
            </a:p>
          </p:txBody>
        </p:sp>
      </p:grpSp>
      <p:grpSp>
        <p:nvGrpSpPr>
          <p:cNvPr id="43" name="c1-steps-2"/>
          <p:cNvGrpSpPr/>
          <p:nvPr/>
        </p:nvGrpSpPr>
        <p:grpSpPr>
          <a:xfrm>
            <a:off x="533400" y="3975735"/>
            <a:ext cx="5246751" cy="1521618"/>
            <a:chOff x="533400" y="3975735"/>
            <a:chExt cx="5246751" cy="1521618"/>
          </a:xfrm>
        </p:grpSpPr>
        <p:sp>
          <p:nvSpPr>
            <p:cNvPr id="34" name="Rectangle 34"/>
            <p:cNvSpPr/>
            <p:nvPr/>
          </p:nvSpPr>
          <p:spPr>
            <a:xfrm>
              <a:off x="666750" y="4118610"/>
              <a:ext cx="19050" cy="7943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533400" y="39757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7024" y="4049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33400" y="477012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7024" y="48439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5642" y="400812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照原理从后往前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6785" y="4275296"/>
              <a:ext cx="481914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COST(c₁) = COST(c₂) = 1；COST(a) = min{3·1, −3·1} = −3；COST(b)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min{2, −1} = −1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5642" y="48015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算到起点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6785" y="5069681"/>
              <a:ext cx="48333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COST(s) = min{−2·(−3), 1·(−1)} = min{6, −1} = −1，比真正的最小值 −6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</a:t>
              </a:r>
            </a:p>
          </p:txBody>
        </p:sp>
      </p:grpSp>
      <p:grpSp>
        <p:nvGrpSpPr>
          <p:cNvPr id="68" name="c2-graph-1"/>
          <p:cNvGrpSpPr/>
          <p:nvPr/>
        </p:nvGrpSpPr>
        <p:grpSpPr>
          <a:xfrm>
            <a:off x="6676072" y="1785620"/>
            <a:ext cx="4771073" cy="811847"/>
            <a:chOff x="6676072" y="1785620"/>
            <a:chExt cx="4771073" cy="811847"/>
          </a:xfrm>
        </p:grpSpPr>
        <p:sp>
          <p:nvSpPr>
            <p:cNvPr id="44" name="Freeform 44"/>
            <p:cNvSpPr/>
            <p:nvPr/>
          </p:nvSpPr>
          <p:spPr>
            <a:xfrm>
              <a:off x="6990398" y="2173605"/>
              <a:ext cx="1139190" cy="9525"/>
            </a:xfrm>
            <a:custGeom>
              <a:avLst/>
              <a:gdLst/>
              <a:ahLst/>
              <a:cxnLst/>
              <a:rect l="l" t="t" r="r" b="b"/>
              <a:pathLst>
                <a:path w="1139190" h="9525">
                  <a:moveTo>
                    <a:pt x="0" y="0"/>
                  </a:moveTo>
                  <a:lnTo>
                    <a:pt x="11391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129588" y="21259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519160" y="2266950"/>
              <a:ext cx="1110615" cy="295592"/>
            </a:xfrm>
            <a:custGeom>
              <a:avLst/>
              <a:gdLst/>
              <a:ahLst/>
              <a:cxnLst/>
              <a:rect l="l" t="t" r="r" b="b"/>
              <a:pathLst>
                <a:path w="1110615" h="295592">
                  <a:moveTo>
                    <a:pt x="0" y="0"/>
                  </a:moveTo>
                  <a:cubicBezTo>
                    <a:pt x="396240" y="277495"/>
                    <a:pt x="766445" y="295592"/>
                    <a:pt x="1110615" y="5429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603105" y="2266950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0"/>
                  </a:moveTo>
                  <a:lnTo>
                    <a:pt x="54292" y="93345"/>
                  </a:lnTo>
                  <a:lnTo>
                    <a:pt x="0" y="152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597265" y="1785620"/>
              <a:ext cx="1110615" cy="295592"/>
            </a:xfrm>
            <a:custGeom>
              <a:avLst/>
              <a:gdLst/>
              <a:ahLst/>
              <a:cxnLst/>
              <a:rect l="l" t="t" r="r" b="b"/>
              <a:pathLst>
                <a:path w="1110615" h="295592">
                  <a:moveTo>
                    <a:pt x="1110615" y="295592"/>
                  </a:moveTo>
                  <a:cubicBezTo>
                    <a:pt x="714375" y="18098"/>
                    <a:pt x="344170" y="0"/>
                    <a:pt x="0" y="241300"/>
                  </a:cubicBez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519160" y="1987868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0" y="93345"/>
                  </a:moveTo>
                  <a:lnTo>
                    <a:pt x="50483" y="0"/>
                  </a:lnTo>
                  <a:lnTo>
                    <a:pt x="105728" y="7810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003155" y="2173605"/>
              <a:ext cx="1034415" cy="9525"/>
            </a:xfrm>
            <a:custGeom>
              <a:avLst/>
              <a:gdLst/>
              <a:ahLst/>
              <a:cxnLst/>
              <a:rect l="l" t="t" r="r" b="b"/>
              <a:pathLst>
                <a:path w="1034415" h="9525">
                  <a:moveTo>
                    <a:pt x="0" y="0"/>
                  </a:moveTo>
                  <a:lnTo>
                    <a:pt x="103441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11037570" y="21259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676072" y="2021205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234362" y="20212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688830" y="20212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11142345" y="2021205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79221" y="21045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37511" y="21045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91979" y="21045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45494" y="21045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538085" y="2087880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569537" y="21202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043988" y="2388870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075439" y="242125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012555" y="1787842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042121" y="181927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498455" y="2087880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529907" y="21202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89" name="c2-table-2"/>
          <p:cNvGrpSpPr/>
          <p:nvPr/>
        </p:nvGrpSpPr>
        <p:grpSpPr>
          <a:xfrm>
            <a:off x="6459284" y="2999422"/>
            <a:ext cx="5199316" cy="1091185"/>
            <a:chOff x="6459284" y="2999422"/>
            <a:chExt cx="5199316" cy="1091185"/>
          </a:xfrm>
        </p:grpSpPr>
        <p:sp>
          <p:nvSpPr>
            <p:cNvPr id="69" name="Rectangle 69"/>
            <p:cNvSpPr/>
            <p:nvPr/>
          </p:nvSpPr>
          <p:spPr>
            <a:xfrm>
              <a:off x="6464618" y="2999422"/>
              <a:ext cx="519398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75539" y="31237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绕环圈数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178444" y="31237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829001" y="31237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521469" y="31237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254894" y="31237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15954" y="31237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564630" y="3529489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到 4 的长度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180517" y="35294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31075" y="352948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82079" y="35294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15504" y="35294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948406" y="3529489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3 − 2k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464618" y="2999422"/>
              <a:ext cx="5193982" cy="811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7897178" y="299942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8548688" y="299942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199245" y="299942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9932670" y="299942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0666095" y="2999422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459284" y="3885248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环 2 → 3 → 2 的长度是 1 − 3 = −2</a:t>
              </a:r>
            </a:p>
          </p:txBody>
        </p:sp>
      </p:grpSp>
      <p:grpSp>
        <p:nvGrpSpPr>
          <p:cNvPr id="95" name="c2-card-3"/>
          <p:cNvGrpSpPr/>
          <p:nvPr/>
        </p:nvGrpSpPr>
        <p:grpSpPr>
          <a:xfrm>
            <a:off x="6464618" y="4224338"/>
            <a:ext cx="5193982" cy="1466850"/>
            <a:chOff x="6464618" y="4224338"/>
            <a:chExt cx="5193982" cy="1466850"/>
          </a:xfrm>
        </p:grpSpPr>
        <p:sp>
          <p:nvSpPr>
            <p:cNvPr id="90" name="Rectangle 90"/>
            <p:cNvSpPr/>
            <p:nvPr/>
          </p:nvSpPr>
          <p:spPr>
            <a:xfrm>
              <a:off x="6464618" y="4224338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6474142" y="435768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695122" y="441674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774561" y="445103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成立的条件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688264" y="4772978"/>
              <a:ext cx="44885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加法路径长度、无负长度环时，把子路径换成更短的，整条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路径只会更短，原理成立。乘法遇到负数时“更小”乘上负数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反而“更大”，单调性被破坏。</a:t>
              </a:r>
            </a:p>
          </p:txBody>
        </p:sp>
      </p:grpSp>
      <p:grpSp>
        <p:nvGrpSpPr>
          <p:cNvPr id="10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6" name="Rectangle 96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1040892" y="6023610"/>
              <a:ext cx="100274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限定“简单路径”也救不了负环图：最短简单路径的子路径未必最短，问题变得和最长简单路径一样难，不能直接套动态规划。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15801" cy="909257"/>
            <a:chOff x="520446" y="342900"/>
            <a:chExt cx="99158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最优性原理与多段图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158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题2：从汇点往回算 COST，COST(1) = 15，路径 1 → 2 → 5 → 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40180"/>
            <a:chOff x="533400" y="1524000"/>
            <a:chExt cx="5410200" cy="14401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40180"/>
            </a:xfrm>
            <a:prstGeom prst="roundRect">
              <a:avLst>
                <a:gd name="adj" fmla="val 92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34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534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630" y="175069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第2题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96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用向前处理算法求结点 1 到结点 8 的最小成本路径及最小成本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389346"/>
              <a:ext cx="47124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思路：COST(i, j) 是第 i 段结点 j 到汇点的最小成本。向前处理指决策从前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往后做，所以计算要从最后一段往前填。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5"/>
              <p:cNvSpPr txBox="1">
                <a:spLocks noGrp="1"/>
              </p:cNvSpPr>
              <p:nvPr/>
            </p:nvSpPr>
            <p:spPr>
              <a:xfrm>
                <a:off x="533400" y="3139440"/>
                <a:ext cx="5410200" cy="4457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COST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begChr m:val="⟨"/>
                                  <m:sepChr m:val=""/>
                                  <m:endChr m:val="⟩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∈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COST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l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32" name="c1-steps-3"/>
          <p:cNvGrpSpPr/>
          <p:nvPr/>
        </p:nvGrpSpPr>
        <p:grpSpPr>
          <a:xfrm>
            <a:off x="533400" y="3769995"/>
            <a:ext cx="4948047" cy="2487454"/>
            <a:chOff x="533400" y="3769995"/>
            <a:chExt cx="4948047" cy="2487454"/>
          </a:xfrm>
        </p:grpSpPr>
        <p:sp>
          <p:nvSpPr>
            <p:cNvPr id="15" name="Rectangle 15"/>
            <p:cNvSpPr/>
            <p:nvPr/>
          </p:nvSpPr>
          <p:spPr>
            <a:xfrm>
              <a:off x="666750" y="391287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7699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43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3567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430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15112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2249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57378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58116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801427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边界与第 3 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069556"/>
              <a:ext cx="41278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COST(8) = 0；COST(7) = 9，COST(6) = 5，COST(5) = 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4389120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656296"/>
              <a:ext cx="45346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COST(4) = min{9+3, 5+5, 6+9} = 10；COST(3) = min{12+3, 11+9}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15；COST(2) = min{3+3, 4+5} = 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642" y="5182552"/>
              <a:ext cx="596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5450681"/>
              <a:ext cx="41359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COST(1) = min{9+6, 4+15, 7+10} = min{15, 19, 17} = 15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5642" y="57692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6785" y="6037421"/>
              <a:ext cx="3526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D(1) = 2，D(2) = 5，D(5) = 8，路径 1 → 2 → 5 → 8</a:t>
              </a:r>
            </a:p>
          </p:txBody>
        </p:sp>
      </p:grpSp>
      <p:grpSp>
        <p:nvGrpSpPr>
          <p:cNvPr id="109" name="c2-graph-1"/>
          <p:cNvGrpSpPr/>
          <p:nvPr/>
        </p:nvGrpSpPr>
        <p:grpSpPr>
          <a:xfrm>
            <a:off x="6366510" y="1633538"/>
            <a:ext cx="5173980" cy="3306126"/>
            <a:chOff x="6366510" y="1633538"/>
            <a:chExt cx="5173980" cy="3306126"/>
          </a:xfrm>
        </p:grpSpPr>
        <p:sp>
          <p:nvSpPr>
            <p:cNvPr id="33" name="Freeform 33"/>
            <p:cNvSpPr/>
            <p:nvPr/>
          </p:nvSpPr>
          <p:spPr>
            <a:xfrm>
              <a:off x="6642735" y="2105025"/>
              <a:ext cx="1247775" cy="1048703"/>
            </a:xfrm>
            <a:custGeom>
              <a:avLst/>
              <a:gdLst/>
              <a:ahLst/>
              <a:cxnLst/>
              <a:rect l="l" t="t" r="r" b="b"/>
              <a:pathLst>
                <a:path w="1247775" h="1048703">
                  <a:moveTo>
                    <a:pt x="0" y="1048703"/>
                  </a:moveTo>
                  <a:lnTo>
                    <a:pt x="124777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860030" y="2044065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0"/>
                  </a:moveTo>
                  <a:lnTo>
                    <a:pt x="61912" y="98108"/>
                  </a:lnTo>
                  <a:lnTo>
                    <a:pt x="0" y="2476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680835" y="3257550"/>
              <a:ext cx="1149668" cy="9525"/>
            </a:xfrm>
            <a:custGeom>
              <a:avLst/>
              <a:gdLst/>
              <a:ahLst/>
              <a:cxnLst/>
              <a:rect l="l" t="t" r="r" b="b"/>
              <a:pathLst>
                <a:path w="1149668" h="9525">
                  <a:moveTo>
                    <a:pt x="0" y="0"/>
                  </a:moveTo>
                  <a:lnTo>
                    <a:pt x="11496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830502" y="3209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642735" y="3361372"/>
              <a:ext cx="1247775" cy="1048703"/>
            </a:xfrm>
            <a:custGeom>
              <a:avLst/>
              <a:gdLst/>
              <a:ahLst/>
              <a:cxnLst/>
              <a:rect l="l" t="t" r="r" b="b"/>
              <a:pathLst>
                <a:path w="1247775" h="1048703">
                  <a:moveTo>
                    <a:pt x="0" y="0"/>
                  </a:moveTo>
                  <a:lnTo>
                    <a:pt x="1247775" y="10487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860030" y="4372928"/>
              <a:ext cx="103822" cy="98107"/>
            </a:xfrm>
            <a:custGeom>
              <a:avLst/>
              <a:gdLst/>
              <a:ahLst/>
              <a:cxnLst/>
              <a:rect l="l" t="t" r="r" b="b"/>
              <a:pathLst>
                <a:path w="103822" h="98107">
                  <a:moveTo>
                    <a:pt x="103822" y="98107"/>
                  </a:moveTo>
                  <a:lnTo>
                    <a:pt x="0" y="73342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249602" y="1940242"/>
              <a:ext cx="1312545" cy="9525"/>
            </a:xfrm>
            <a:custGeom>
              <a:avLst/>
              <a:gdLst/>
              <a:ahLst/>
              <a:cxnLst/>
              <a:rect l="l" t="t" r="r" b="b"/>
              <a:pathLst>
                <a:path w="1312545" h="9525">
                  <a:moveTo>
                    <a:pt x="0" y="0"/>
                  </a:moveTo>
                  <a:lnTo>
                    <a:pt x="131254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562148" y="18926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216265" y="2038350"/>
              <a:ext cx="1398270" cy="1062990"/>
            </a:xfrm>
            <a:custGeom>
              <a:avLst/>
              <a:gdLst/>
              <a:ahLst/>
              <a:cxnLst/>
              <a:rect l="l" t="t" r="r" b="b"/>
              <a:pathLst>
                <a:path w="1398270" h="1062990">
                  <a:moveTo>
                    <a:pt x="0" y="0"/>
                  </a:moveTo>
                  <a:lnTo>
                    <a:pt x="1398270" y="10629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585960" y="3064192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5248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216265" y="2095500"/>
              <a:ext cx="1398270" cy="1063942"/>
            </a:xfrm>
            <a:custGeom>
              <a:avLst/>
              <a:gdLst/>
              <a:ahLst/>
              <a:cxnLst/>
              <a:rect l="l" t="t" r="r" b="b"/>
              <a:pathLst>
                <a:path w="1398270" h="1063942">
                  <a:moveTo>
                    <a:pt x="0" y="1063942"/>
                  </a:moveTo>
                  <a:lnTo>
                    <a:pt x="1398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585960" y="203835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2000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216265" y="3355658"/>
              <a:ext cx="1398270" cy="1063942"/>
            </a:xfrm>
            <a:custGeom>
              <a:avLst/>
              <a:gdLst/>
              <a:ahLst/>
              <a:cxnLst/>
              <a:rect l="l" t="t" r="r" b="b"/>
              <a:pathLst>
                <a:path w="1398270" h="1063942">
                  <a:moveTo>
                    <a:pt x="0" y="0"/>
                  </a:moveTo>
                  <a:lnTo>
                    <a:pt x="1398270" y="10639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585960" y="438150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5247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177212" y="2154555"/>
              <a:ext cx="1501140" cy="2285048"/>
            </a:xfrm>
            <a:custGeom>
              <a:avLst/>
              <a:gdLst/>
              <a:ahLst/>
              <a:cxnLst/>
              <a:rect l="l" t="t" r="r" b="b"/>
              <a:pathLst>
                <a:path w="1501140" h="2285048">
                  <a:moveTo>
                    <a:pt x="0" y="2285048"/>
                  </a:moveTo>
                  <a:lnTo>
                    <a:pt x="150114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638348" y="2075498"/>
              <a:ext cx="91440" cy="105727"/>
            </a:xfrm>
            <a:custGeom>
              <a:avLst/>
              <a:gdLst/>
              <a:ahLst/>
              <a:cxnLst/>
              <a:rect l="l" t="t" r="r" b="b"/>
              <a:pathLst>
                <a:path w="91440" h="105727">
                  <a:moveTo>
                    <a:pt x="91440" y="0"/>
                  </a:moveTo>
                  <a:lnTo>
                    <a:pt x="79058" y="105727"/>
                  </a:lnTo>
                  <a:lnTo>
                    <a:pt x="0" y="533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8216265" y="3413760"/>
              <a:ext cx="1398270" cy="1062990"/>
            </a:xfrm>
            <a:custGeom>
              <a:avLst/>
              <a:gdLst/>
              <a:ahLst/>
              <a:cxnLst/>
              <a:rect l="l" t="t" r="r" b="b"/>
              <a:pathLst>
                <a:path w="1398270" h="1062990">
                  <a:moveTo>
                    <a:pt x="0" y="1062990"/>
                  </a:moveTo>
                  <a:lnTo>
                    <a:pt x="13982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585960" y="3355658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0"/>
                  </a:moveTo>
                  <a:lnTo>
                    <a:pt x="57150" y="95250"/>
                  </a:lnTo>
                  <a:lnTo>
                    <a:pt x="0" y="2000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8249602" y="4574858"/>
              <a:ext cx="1312545" cy="9525"/>
            </a:xfrm>
            <a:custGeom>
              <a:avLst/>
              <a:gdLst/>
              <a:ahLst/>
              <a:cxnLst/>
              <a:rect l="l" t="t" r="r" b="b"/>
              <a:pathLst>
                <a:path w="1312545" h="9525">
                  <a:moveTo>
                    <a:pt x="0" y="0"/>
                  </a:moveTo>
                  <a:lnTo>
                    <a:pt x="131254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562148" y="45272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943148" y="2044065"/>
              <a:ext cx="1247775" cy="1047750"/>
            </a:xfrm>
            <a:custGeom>
              <a:avLst/>
              <a:gdLst/>
              <a:ahLst/>
              <a:cxnLst/>
              <a:rect l="l" t="t" r="r" b="b"/>
              <a:pathLst>
                <a:path w="1247775" h="1047750">
                  <a:moveTo>
                    <a:pt x="0" y="0"/>
                  </a:moveTo>
                  <a:lnTo>
                    <a:pt x="1247775" y="104775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1160442" y="3055620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98108"/>
                  </a:moveTo>
                  <a:lnTo>
                    <a:pt x="0" y="73342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9981248" y="3257550"/>
              <a:ext cx="1149667" cy="9525"/>
            </a:xfrm>
            <a:custGeom>
              <a:avLst/>
              <a:gdLst/>
              <a:ahLst/>
              <a:cxnLst/>
              <a:rect l="l" t="t" r="r" b="b"/>
              <a:pathLst>
                <a:path w="1149667" h="9525">
                  <a:moveTo>
                    <a:pt x="0" y="0"/>
                  </a:moveTo>
                  <a:lnTo>
                    <a:pt x="11496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1130915" y="3209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943148" y="3423285"/>
              <a:ext cx="1247775" cy="1047750"/>
            </a:xfrm>
            <a:custGeom>
              <a:avLst/>
              <a:gdLst/>
              <a:ahLst/>
              <a:cxnLst/>
              <a:rect l="l" t="t" r="r" b="b"/>
              <a:pathLst>
                <a:path w="1247775" h="1047750">
                  <a:moveTo>
                    <a:pt x="0" y="1047750"/>
                  </a:moveTo>
                  <a:lnTo>
                    <a:pt x="12477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11160442" y="3361372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0"/>
                  </a:moveTo>
                  <a:lnTo>
                    <a:pt x="60960" y="98108"/>
                  </a:lnTo>
                  <a:lnTo>
                    <a:pt x="0" y="2476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6366510" y="3105150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7935278" y="178784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7935278" y="31051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7935278" y="442245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9666922" y="178784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9666922" y="31051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666922" y="442245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1235690" y="3105150"/>
              <a:ext cx="304800" cy="3048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69659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47511" y="34461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38426" y="18702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49597" y="163353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38426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16278" y="344614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38426" y="45048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16278" y="476345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70071" y="18702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81242" y="163353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70071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781242" y="34461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770071" y="45048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81242" y="476345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338839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350009" y="34461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234238" y="251269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265689" y="254508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7234238" y="317182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265689" y="3204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234238" y="383095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265689" y="386238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883968" y="1854518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915419" y="18859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883968" y="251269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915419" y="254508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675370" y="2647950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704936" y="267938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852535" y="3830955"/>
              <a:ext cx="20193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882101" y="3862388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883968" y="317182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915419" y="3204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706802" y="3965258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738254" y="399669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883968" y="4489132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915419" y="452151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10533698" y="251269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10565149" y="254508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10533698" y="317182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0565149" y="3204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0533698" y="3830955"/>
              <a:ext cx="139065" cy="160020"/>
            </a:xfrm>
            <a:prstGeom prst="roundRect">
              <a:avLst>
                <a:gd name="adj" fmla="val 273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0565149" y="386238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116" name="c2-callout-2"/>
          <p:cNvGrpSpPr/>
          <p:nvPr/>
        </p:nvGrpSpPr>
        <p:grpSpPr>
          <a:xfrm>
            <a:off x="6248400" y="5166360"/>
            <a:ext cx="5410200" cy="1084898"/>
            <a:chOff x="6248400" y="5166360"/>
            <a:chExt cx="5410200" cy="1084898"/>
          </a:xfrm>
        </p:grpSpPr>
        <p:sp>
          <p:nvSpPr>
            <p:cNvPr id="110" name="Rectangle 110"/>
            <p:cNvSpPr/>
            <p:nvPr/>
          </p:nvSpPr>
          <p:spPr>
            <a:xfrm>
              <a:off x="6248400" y="5166360"/>
              <a:ext cx="5410200" cy="1084898"/>
            </a:xfrm>
            <a:prstGeom prst="roundRect">
              <a:avLst>
                <a:gd name="adj" fmla="val 1053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6453188" y="5608320"/>
              <a:ext cx="200026" cy="200026"/>
              <a:chOff x="6453188" y="5608320"/>
              <a:chExt cx="200026" cy="200026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6453188" y="5608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6553200" y="56749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6542088" y="57083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6755892" y="5490210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结点旁的小数字是算出的 COST 值；橙色边是最小成本路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径，边上数字是成本 c(j, l)。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00093" cy="909257"/>
            <a:chOff x="520446" y="342900"/>
            <a:chExt cx="92000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最优性原理与多段图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000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复核：7 条路径全枚举，15 是唯一最小值，第二名是 17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8447" y="1524000"/>
            <a:ext cx="5956173" cy="2552414"/>
            <a:chOff x="528447" y="1524000"/>
            <a:chExt cx="5956173" cy="25524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8432" y="1641157"/>
              <a:ext cx="382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 j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52721" y="1641157"/>
              <a:ext cx="15219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 c(j,l) + COST(l)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67189" y="1641157"/>
              <a:ext cx="600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COST(j)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24705" y="1641157"/>
              <a:ext cx="308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D(j)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0512" y="2023110"/>
              <a:ext cx="5382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7、6、5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1516" y="2023110"/>
              <a:ext cx="16362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只有一条边到 8：9、5、3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03988" y="2023110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9、5、3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3463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3493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61516" y="2404110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5：12；l = 6：10；l = 7：15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84210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3463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663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3493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61516" y="2785110"/>
              <a:ext cx="1311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5：15；l = 7：20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84210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3463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451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049905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3493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61516" y="3167062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5：6；l = 6：9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2308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3463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4261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3493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61516" y="354806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2：15；l = 3：19；l = 4：17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471035" y="3440430"/>
              <a:ext cx="99250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84210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3463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595122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36207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45674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46830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8447" y="3885724"/>
              <a:ext cx="2718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D(j) 记下取到最小值的后继，回溯时顺着 D 走</a:t>
              </a:r>
            </a:p>
          </p:txBody>
        </p:sp>
      </p:grpSp>
      <p:grpSp>
        <p:nvGrpSpPr>
          <p:cNvPr id="74" name="c1-table-2"/>
          <p:cNvGrpSpPr/>
          <p:nvPr/>
        </p:nvGrpSpPr>
        <p:grpSpPr>
          <a:xfrm>
            <a:off x="528447" y="4202430"/>
            <a:ext cx="5956173" cy="2171414"/>
            <a:chOff x="528447" y="4202430"/>
            <a:chExt cx="5956173" cy="2171414"/>
          </a:xfrm>
        </p:grpSpPr>
        <p:sp>
          <p:nvSpPr>
            <p:cNvPr id="45" name="Rectangle 45"/>
            <p:cNvSpPr/>
            <p:nvPr/>
          </p:nvSpPr>
          <p:spPr>
            <a:xfrm>
              <a:off x="533400" y="4202430"/>
              <a:ext cx="595122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98270" y="43195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886075" y="43195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73880" y="43195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61685" y="43195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8078" y="470154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2 → 5 → 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945796" y="47015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03688" y="470154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3 → 5 → 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25293" y="470154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49606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4965382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8078" y="508254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4 → 6 → 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949683" y="508254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603688" y="5082540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4 → 5 → 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25293" y="508254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53416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8078" y="5464492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2 → 6 → 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949683" y="546449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603688" y="5464492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4 → 7 → 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925293" y="546449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57235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33400" y="5728335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603688" y="5845492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3 → 7 → 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925293" y="584549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4202430"/>
              <a:ext cx="595122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2551748" y="420243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3504248" y="420243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527358" y="420243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28447" y="6183154"/>
              <a:ext cx="2668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脚本深度优先枚举全部 7 条路径，按成本排序</a:t>
              </a:r>
            </a:p>
          </p:txBody>
        </p:sp>
      </p:grpSp>
      <p:grpSp>
        <p:nvGrpSpPr>
          <p:cNvPr id="77" name="c2-image-1"/>
          <p:cNvGrpSpPr/>
          <p:nvPr/>
        </p:nvGrpSpPr>
        <p:grpSpPr>
          <a:xfrm>
            <a:off x="7497402" y="1524000"/>
            <a:ext cx="3453216" cy="2630519"/>
            <a:chOff x="7497402" y="1524000"/>
            <a:chExt cx="3453216" cy="2630519"/>
          </a:xfrm>
        </p:grpSpPr>
        <p:pic>
          <p:nvPicPr>
            <p:cNvPr id="75" name="Image 75"/>
            <p:cNvPicPr>
              <a:picLocks noChangeAspect="1"/>
            </p:cNvPicPr>
            <p:nvPr/>
          </p:nvPicPr>
          <p:blipFill>
            <a:blip r:embed="rId2"/>
            <a:srcRect l="5551" t="0" r="5551" b="0"/>
            <a:stretch>
              <a:fillRect/>
            </a:stretch>
          </p:blipFill>
          <p:spPr>
            <a:xfrm>
              <a:off x="7659052" y="1524000"/>
              <a:ext cx="3130868" cy="2347912"/>
            </a:xfrm>
            <a:prstGeom prst="roundRect">
              <a:avLst>
                <a:gd name="adj" fmla="val 5679"/>
              </a:avLst>
            </a:prstGeom>
          </p:spPr>
        </p:pic>
        <p:sp>
          <p:nvSpPr>
            <p:cNvPr id="76" name="TextBox 76"/>
            <p:cNvSpPr txBox="1"/>
            <p:nvPr/>
          </p:nvSpPr>
          <p:spPr>
            <a:xfrm>
              <a:off x="7497402" y="3963829"/>
              <a:ext cx="3453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每一步只能跳到下一列的石头上，多段图的“段”就是这些列</a:t>
              </a:r>
            </a:p>
          </p:txBody>
        </p:sp>
      </p:grpSp>
      <p:grpSp>
        <p:nvGrpSpPr>
          <p:cNvPr id="84" name="c2-card-2"/>
          <p:cNvGrpSpPr/>
          <p:nvPr/>
        </p:nvGrpSpPr>
        <p:grpSpPr>
          <a:xfrm>
            <a:off x="6789420" y="4300538"/>
            <a:ext cx="4869180" cy="2034540"/>
            <a:chOff x="6789420" y="4300538"/>
            <a:chExt cx="4869180" cy="2034540"/>
          </a:xfrm>
        </p:grpSpPr>
        <p:sp>
          <p:nvSpPr>
            <p:cNvPr id="78" name="Rectangle 78"/>
            <p:cNvSpPr/>
            <p:nvPr/>
          </p:nvSpPr>
          <p:spPr>
            <a:xfrm>
              <a:off x="6789420" y="4300538"/>
              <a:ext cx="4869180" cy="2034540"/>
            </a:xfrm>
            <a:prstGeom prst="roundRect">
              <a:avLst>
                <a:gd name="adj" fmla="val 65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6798945" y="4433888"/>
              <a:ext cx="47625" cy="17678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7008495" y="448151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097116" y="451437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002018" y="4821079"/>
              <a:ext cx="4231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每条边在计算它的起点时恰好用一次，向前处理总时间 Θ(n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e)。本题 8 个结点、13 条边。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03161" y="5345430"/>
              <a:ext cx="42778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全枚举要走遍所有路径，段数多时路径数按乘法增长，动态规划只按边数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增长。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179058" cy="3214687"/>
            <a:chOff x="667512" y="1835468"/>
            <a:chExt cx="6179058" cy="32146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背包问题的序偶法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474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构造让序偶个数翻倍的最坏实例，再用序偶法手算 0-2 背包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5939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采用序偶法求 0/1 背包问题，给出一个出现最坏情况的例子，使得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|Sⁱ| = 2ⁱ，对 n 的任意取值都适用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281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471035"/>
              <a:ext cx="5520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0-2 背包：n = 4，每种最多 2 件，(p₁..p₄) = (6,3,8,4)，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(w₁..w₄) = (3,3,5,3)，M = 14，写递推式并用序偶法求最优解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84977" cy="909257"/>
            <a:chOff x="520446" y="342900"/>
            <a:chExt cx="96849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背包问题的序偶法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849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题3：取 pᵢ = wᵢ = 2ⁱ⁻¹，每一步的新序偶互不重复也互不支配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671638"/>
            <a:chOff x="533400" y="1524000"/>
            <a:chExt cx="584263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534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630" y="175069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第3题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71621" cy="495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给出一个使 |Sⁱ| = 2ⁱ（0 ≤ i ≤ n）的 0/1 背包实例，对任意 n 都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620804"/>
              <a:ext cx="52174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思路：序偶个数减少只有三个原因：P、W 都相同的重复，被支配，超重。三个都排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除掉即可。</a:t>
              </a:r>
            </a:p>
          </p:txBody>
        </p:sp>
      </p:grpSp>
      <p:grpSp>
        <p:nvGrpSpPr>
          <p:cNvPr id="35" name="c1-steps-2"/>
          <p:cNvGrpSpPr/>
          <p:nvPr/>
        </p:nvGrpSpPr>
        <p:grpSpPr>
          <a:xfrm>
            <a:off x="533400" y="3380422"/>
            <a:ext cx="5192700" cy="2867502"/>
            <a:chOff x="533400" y="3380422"/>
            <a:chExt cx="5192700" cy="2867502"/>
          </a:xfrm>
        </p:grpSpPr>
        <p:sp>
          <p:nvSpPr>
            <p:cNvPr id="14" name="Rectangle 14"/>
            <p:cNvSpPr/>
            <p:nvPr/>
          </p:nvSpPr>
          <p:spPr>
            <a:xfrm>
              <a:off x="666750" y="3523298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3804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4542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671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0409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5548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6286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14159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2154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33400" y="57283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7024" y="58021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341280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3679984"/>
              <a:ext cx="4333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(p₁, …, pₙ) = (w₁, …, wₙ) = (1, 2, 4, …, 2ⁿ⁻¹)，M ≥ 2ⁿ − 1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399954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归纳假设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785" y="4266724"/>
              <a:ext cx="32865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Sⁱ⁻¹ = {(k, k) | 0 ≤ k ≤ 2ⁱ⁻¹ − 1}，共 2ⁱ⁻¹ 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642" y="458628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新序偶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785" y="4853464"/>
              <a:ext cx="4519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每个加上 (2ⁱ⁻¹, 2ⁱ⁻¹)，得到 k = 2ⁱ⁻¹, …, 2ⁱ − 1，与旧的不重复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5642" y="517302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785" y="5441156"/>
              <a:ext cx="4779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W，W 大的 P 也大，谁也不支配谁；最大 W 为 2ⁱ − 1 ≤ M，不超重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5642" y="57597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6785" y="6027896"/>
              <a:ext cx="2427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|Sⁱ| = 2·2ⁱ⁻¹ = 2ⁱ，对任意 n 成立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680835" y="1524000"/>
            <a:ext cx="4977765" cy="1466850"/>
            <a:chOff x="6680835" y="1524000"/>
            <a:chExt cx="4977765" cy="1466850"/>
          </a:xfrm>
        </p:grpSpPr>
        <p:sp>
          <p:nvSpPr>
            <p:cNvPr id="36" name="Rectangle 36"/>
            <p:cNvSpPr/>
            <p:nvPr/>
          </p:nvSpPr>
          <p:spPr>
            <a:xfrm>
              <a:off x="6680835" y="1524000"/>
              <a:ext cx="4977765" cy="1466850"/>
            </a:xfrm>
            <a:prstGeom prst="roundRect">
              <a:avLst>
                <a:gd name="adj" fmla="val 90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73240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44678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为什么这是最坏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66382" y="2072640"/>
              <a:ext cx="42485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Sⁱ 里每个序偶对应前 i 件物品的一个取法，取法只有 2ⁱ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种，所以 |Sⁱ| ≤ 2ⁱ 总成立。达到上界时序偶法要 Θ(2ⁿ)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时间，与穷举一样。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680835" y="3166110"/>
            <a:ext cx="4977765" cy="1786890"/>
            <a:chOff x="6680835" y="3166110"/>
            <a:chExt cx="4977765" cy="1786890"/>
          </a:xfrm>
        </p:grpSpPr>
        <p:sp>
          <p:nvSpPr>
            <p:cNvPr id="41" name="Rectangle 41"/>
            <p:cNvSpPr/>
            <p:nvPr/>
          </p:nvSpPr>
          <p:spPr>
            <a:xfrm>
              <a:off x="6680835" y="3166110"/>
              <a:ext cx="497776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329946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11340" y="33585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2780" y="33928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95032" y="3397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原讲解没写的条件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19912" y="378809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75932" y="3731895"/>
              <a:ext cx="42056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容量 M 要不小于 Σwᵢ = 2ⁿ − 1，否则大的序偶被删，例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 n = 3、M = 4 时 |S³| = 5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19912" y="434816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75932" y="4291965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题面一处写 0 ≤ i &lt; n，一处写 0 ≤ i ≤ n；上面的构造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i = n 也成立，两种写法都满足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680835" y="5127308"/>
            <a:ext cx="4977765" cy="1114425"/>
            <a:chOff x="6680835" y="5127308"/>
            <a:chExt cx="4977765" cy="1114425"/>
          </a:xfrm>
        </p:grpSpPr>
        <p:sp>
          <p:nvSpPr>
            <p:cNvPr id="51" name="Rectangle 51"/>
            <p:cNvSpPr/>
            <p:nvPr/>
          </p:nvSpPr>
          <p:spPr>
            <a:xfrm>
              <a:off x="6680835" y="5127308"/>
              <a:ext cx="4977765" cy="1114425"/>
            </a:xfrm>
            <a:prstGeom prst="roundRect">
              <a:avLst>
                <a:gd name="adj" fmla="val 1025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885623" y="5584508"/>
              <a:ext cx="200026" cy="200025"/>
              <a:chOff x="6885623" y="558450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885623" y="55845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925361" y="56289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960077" y="57400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188327" y="5465445"/>
              <a:ext cx="38113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只要 pᵢ = wᵢ 且各子集的和互不相同，都能达到最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坏；2 的幂是最简单的一组。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76497" cy="909257"/>
            <a:chOff x="520446" y="342900"/>
            <a:chExt cx="87764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背包问题的序偶法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764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复核：n = 3 时 S³ 正好是 (0,0) 到 (7,7) 八个序偶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8" name="c1-cells-1"/>
          <p:cNvGrpSpPr/>
          <p:nvPr/>
        </p:nvGrpSpPr>
        <p:grpSpPr>
          <a:xfrm>
            <a:off x="527685" y="1524000"/>
            <a:ext cx="5956935" cy="2125028"/>
            <a:chOff x="527685" y="1524000"/>
            <a:chExt cx="5956935" cy="212502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5687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30580" y="1524000"/>
              <a:ext cx="706755" cy="406718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562" y="165687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37335" y="1524000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4090" y="1524000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950845" y="1524000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657600" y="1524000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64355" y="1524000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071110" y="1524000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77865" y="1524000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7685" y="223027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S¹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30580" y="2096452"/>
              <a:ext cx="706755" cy="406718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0562" y="2230279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537335" y="2096452"/>
              <a:ext cx="70675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67317" y="2230279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244090" y="2096452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50845" y="2096452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57600" y="2096452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364355" y="2096452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071110" y="2096452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77865" y="2096452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7685" y="28027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S²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0580" y="2669858"/>
              <a:ext cx="706755" cy="406718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0562" y="280273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537335" y="2669858"/>
              <a:ext cx="706755" cy="406718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667317" y="280273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244090" y="2669858"/>
              <a:ext cx="70675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74072" y="280273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(2,2)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950845" y="2669858"/>
              <a:ext cx="70675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080827" y="280273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(3,3)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657600" y="2669858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64355" y="2669858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071110" y="2669858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77865" y="2669858"/>
              <a:ext cx="706755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337613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S³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0580" y="3242310"/>
              <a:ext cx="706755" cy="406718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0562" y="337613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(0,0)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537335" y="3242310"/>
              <a:ext cx="706755" cy="406718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667317" y="337613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244090" y="3242310"/>
              <a:ext cx="706755" cy="406718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374072" y="337613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(2,2)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950845" y="3242310"/>
              <a:ext cx="706755" cy="406718"/>
            </a:xfrm>
            <a:prstGeom prst="rect">
              <a:avLst/>
            </a:prstGeom>
            <a:solidFill>
              <a:srgbClr val="E8EDF8"/>
            </a:solidFill>
            <a:ln w="15240">
              <a:solidFill>
                <a:srgbClr val="2F4B9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080827" y="337613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(3,3)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657600" y="3242310"/>
              <a:ext cx="70675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87582" y="337613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(4,4)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364355" y="3242310"/>
              <a:ext cx="70675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494337" y="337613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(5,5)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071110" y="3242310"/>
              <a:ext cx="70675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01092" y="337613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(6,6)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77865" y="3242310"/>
              <a:ext cx="706755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07847" y="337613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(7,7)</a:t>
              </a:r>
            </a:p>
          </p:txBody>
        </p:sp>
      </p:grpSp>
      <p:grpSp>
        <p:nvGrpSpPr>
          <p:cNvPr id="65" name="c1-callout-2"/>
          <p:cNvGrpSpPr/>
          <p:nvPr/>
        </p:nvGrpSpPr>
        <p:grpSpPr>
          <a:xfrm>
            <a:off x="533400" y="3834765"/>
            <a:ext cx="5951220" cy="756285"/>
            <a:chOff x="533400" y="3834765"/>
            <a:chExt cx="5951220" cy="756285"/>
          </a:xfrm>
        </p:grpSpPr>
        <p:sp>
          <p:nvSpPr>
            <p:cNvPr id="59" name="Rectangle 59"/>
            <p:cNvSpPr/>
            <p:nvPr/>
          </p:nvSpPr>
          <p:spPr>
            <a:xfrm>
              <a:off x="533400" y="3834765"/>
              <a:ext cx="595122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4112895"/>
              <a:ext cx="200026" cy="200026"/>
              <a:chOff x="738188" y="4112895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4112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4179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27088" y="4212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3981926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橙色是本步新加的序偶，数目等于上一步的全部序偶数，所以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每步翻倍。</a:t>
              </a:r>
            </a:p>
          </p:txBody>
        </p:sp>
      </p:grpSp>
      <p:grpSp>
        <p:nvGrpSpPr>
          <p:cNvPr id="69" name="c1-card-3"/>
          <p:cNvGrpSpPr/>
          <p:nvPr/>
        </p:nvGrpSpPr>
        <p:grpSpPr>
          <a:xfrm>
            <a:off x="533400" y="4775835"/>
            <a:ext cx="5951220" cy="1095375"/>
            <a:chOff x="533400" y="4775835"/>
            <a:chExt cx="5951220" cy="1095375"/>
          </a:xfrm>
        </p:grpSpPr>
        <p:sp>
          <p:nvSpPr>
            <p:cNvPr id="66" name="Rectangle 66"/>
            <p:cNvSpPr/>
            <p:nvPr/>
          </p:nvSpPr>
          <p:spPr>
            <a:xfrm>
              <a:off x="533400" y="4775835"/>
              <a:ext cx="5951220" cy="1095375"/>
            </a:xfrm>
            <a:prstGeom prst="roundRect">
              <a:avLst>
                <a:gd name="adj" fmla="val 12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42925" y="4909185"/>
              <a:ext cx="47625" cy="8286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68096" y="5003006"/>
              <a:ext cx="50755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脚本对 n = 1~12、M = 2ⁿ − 1 逐步求 Sⁱ，|Sⁱ| 都等于 2ⁱ。</a:t>
              </a:r>
            </a:p>
          </p:txBody>
        </p:sp>
      </p:grpSp>
      <p:grpSp>
        <p:nvGrpSpPr>
          <p:cNvPr id="96" name="c2-table-1"/>
          <p:cNvGrpSpPr/>
          <p:nvPr/>
        </p:nvGrpSpPr>
        <p:grpSpPr>
          <a:xfrm>
            <a:off x="6783705" y="1524000"/>
            <a:ext cx="4874895" cy="2659857"/>
            <a:chOff x="6783705" y="1524000"/>
            <a:chExt cx="4874895" cy="2659857"/>
          </a:xfrm>
        </p:grpSpPr>
        <p:sp>
          <p:nvSpPr>
            <p:cNvPr id="70" name="Rectangle 70"/>
            <p:cNvSpPr/>
            <p:nvPr/>
          </p:nvSpPr>
          <p:spPr>
            <a:xfrm>
              <a:off x="6789420" y="1524000"/>
              <a:ext cx="486918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4476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09682" y="1655445"/>
              <a:ext cx="720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|S⁰|~|S³|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372344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少掉的原因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94766" y="2085022"/>
              <a:ext cx="1876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w = (1,2,4)，M = 7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843962" y="1964055"/>
              <a:ext cx="105251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939784" y="208502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1, 2, 4, 8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11346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最坏情况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789420" y="23793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789420" y="238410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894766" y="2515552"/>
              <a:ext cx="1876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w = (1,2,4)，M = 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939784" y="251555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1, 2, 4, 5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0113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超重被删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6789420" y="28098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894766" y="2946082"/>
              <a:ext cx="1876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w = (1,1,1)，M = 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939784" y="294608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1, 2, 3, 4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011346" y="294608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和相同，序偶重复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789420" y="32394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789420" y="3244215"/>
              <a:ext cx="4869180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894766" y="3375660"/>
              <a:ext cx="130873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(1,1,1)，w =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(1,2,4)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939784" y="3482340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1, 2, 3, 4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011346" y="348234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 被 (1,1) 支配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789420" y="1524000"/>
              <a:ext cx="4869180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8829675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901238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783705" y="3963829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三种反面实例分别对应三个删除原因</a:t>
              </a:r>
            </a:p>
          </p:txBody>
        </p:sp>
      </p:grpSp>
      <p:grpSp>
        <p:nvGrpSpPr>
          <p:cNvPr id="102" name="c2-card-2"/>
          <p:cNvGrpSpPr/>
          <p:nvPr/>
        </p:nvGrpSpPr>
        <p:grpSpPr>
          <a:xfrm>
            <a:off x="6789420" y="4325302"/>
            <a:ext cx="4869180" cy="1545908"/>
            <a:chOff x="6789420" y="4325302"/>
            <a:chExt cx="4869180" cy="1545908"/>
          </a:xfrm>
        </p:grpSpPr>
        <p:sp>
          <p:nvSpPr>
            <p:cNvPr id="97" name="Rectangle 97"/>
            <p:cNvSpPr/>
            <p:nvPr/>
          </p:nvSpPr>
          <p:spPr>
            <a:xfrm>
              <a:off x="6789420" y="4325302"/>
              <a:ext cx="486918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6798945" y="445865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7031355" y="45291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121563" y="45648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024116" y="4902041"/>
              <a:ext cx="422541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个实例里 p 都是 1 而 w 越来越大：新序偶与某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个旧序偶 P 相同、W 更大，就被支配。每步只有 P 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大的那个新序偶留下，序偶只增加 1 个。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827" y="342900"/>
            <a:ext cx="11171817" cy="902684"/>
            <a:chOff x="520827" y="342900"/>
            <a:chExt cx="11171817" cy="902684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背包问题的序偶法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827" y="761524"/>
              <a:ext cx="11171817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题4：每种物品取 0、1、2 件三选一，递推式多一项 fᵢ₋₁(x − 2wᵢ) + 2pᵢ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767840"/>
            <a:chOff x="533400" y="1524000"/>
            <a:chExt cx="5951220" cy="1767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767840"/>
            </a:xfrm>
            <a:prstGeom prst="roundRect">
              <a:avLst>
                <a:gd name="adj" fmla="val 75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1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第4题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5196548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0-2 背包：n = 4，p = (6,3,8,4)，w = (3,3,5,3)，M = 14，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每种最多 2 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680335"/>
              <a:ext cx="53004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思路：设 fᵢ(x) 是只用前 i 种物品、容量为 x 时的最大效益。第 i 种取 0、1、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 件，各对应前 i − 1 种的一个子问题。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5"/>
              <p:cNvSpPr txBox="1">
                <a:spLocks noGrp="1"/>
              </p:cNvSpPr>
              <p:nvPr/>
            </p:nvSpPr>
            <p:spPr>
              <a:xfrm>
                <a:off x="533400" y="3477578"/>
                <a:ext cx="5951220" cy="9505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eqArr>
                                <m:eqArrPr>
                                  <m:baseJc m:val="center"/>
                                </m:eqArr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e>
                                  </m:d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&amp;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f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  <m:sSub>
                                        <m:e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a:rPr lang="zh-CN" sz="14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  <m:sSub>
                                    <m:e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p</m:t>
                                      </m:r>
                                    </m:e>
                                    <m:sub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rd-3"/>
          <p:cNvGrpSpPr/>
          <p:nvPr/>
        </p:nvGrpSpPr>
        <p:grpSpPr>
          <a:xfrm>
            <a:off x="533400" y="4612958"/>
            <a:ext cx="5951220" cy="1694498"/>
            <a:chOff x="533400" y="4612958"/>
            <a:chExt cx="5951220" cy="1694498"/>
          </a:xfrm>
        </p:grpSpPr>
        <p:sp>
          <p:nvSpPr>
            <p:cNvPr id="15" name="Rectangle 15"/>
            <p:cNvSpPr/>
            <p:nvPr/>
          </p:nvSpPr>
          <p:spPr>
            <a:xfrm>
              <a:off x="533400" y="4612958"/>
              <a:ext cx="5951220" cy="1694498"/>
            </a:xfrm>
            <a:prstGeom prst="roundRect">
              <a:avLst>
                <a:gd name="adj" fmla="val 7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746308"/>
              <a:ext cx="47625" cy="14277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48167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5543" y="48525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76744" y="485727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原讲解缺边界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8096" y="5208746"/>
              <a:ext cx="50549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f₀(x) = 0（x ≥ 0），f₀(x) = −∞（x &lt; 0）。x − wᵢ &lt; 0 的项取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−∞，表示放不下，这一项不参与取最大。所求为 f₄(14)。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6783705" y="1524000"/>
            <a:ext cx="4874895" cy="2446497"/>
            <a:chOff x="6783705" y="1524000"/>
            <a:chExt cx="4874895" cy="2446497"/>
          </a:xfrm>
        </p:grpSpPr>
        <p:sp>
          <p:nvSpPr>
            <p:cNvPr id="22" name="Rectangle 22"/>
            <p:cNvSpPr/>
            <p:nvPr/>
          </p:nvSpPr>
          <p:spPr>
            <a:xfrm>
              <a:off x="6789420" y="1524000"/>
              <a:ext cx="486918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26498" y="165544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39700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62843" y="1655445"/>
              <a:ext cx="232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11288" y="1655445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 1 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37155" y="1655445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 2 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05296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8856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2867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24009" y="208502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(6, 3)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705452" y="2085022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(12, 6)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89420" y="237934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89420" y="2384108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0529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8856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2867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24009" y="251555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(3, 3)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49877" y="251555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(6, 6)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89420" y="280987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0529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8856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2867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24009" y="2946082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(8, 5)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661028" y="2946082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(16, 10)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789420" y="32394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89420" y="3244215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05296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88567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28672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24009" y="337566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(4, 3)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49877" y="337566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(8, 6)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789420" y="1524000"/>
              <a:ext cx="486918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2189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4675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20305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34129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3705" y="3750469"/>
              <a:ext cx="1871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序偶写成 (效益 P, 重量 W)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789420" y="4111942"/>
            <a:ext cx="4869180" cy="2196465"/>
            <a:chOff x="6789420" y="4111942"/>
            <a:chExt cx="4869180" cy="2196465"/>
          </a:xfrm>
        </p:grpSpPr>
        <p:sp>
          <p:nvSpPr>
            <p:cNvPr id="60" name="Rectangle 60"/>
            <p:cNvSpPr/>
            <p:nvPr/>
          </p:nvSpPr>
          <p:spPr>
            <a:xfrm>
              <a:off x="6789420" y="4111942"/>
              <a:ext cx="4869180" cy="2196465"/>
            </a:xfrm>
            <a:prstGeom prst="roundRect">
              <a:avLst>
                <a:gd name="adj" fmla="val 60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798945" y="4245292"/>
              <a:ext cx="47625" cy="192976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031355" y="431577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04812" y="4351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序偶法的一步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031355" y="467582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89700" y="47161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322248" y="4688681"/>
              <a:ext cx="27074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Sⁱ⁻¹ 每个序偶加 (pᵢ, wᵢ)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031355" y="499586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89700" y="50362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22248" y="5008721"/>
              <a:ext cx="29177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Sⁱ⁻¹ 每个序偶加 (2pᵢ, 2wᵢ)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31355" y="531590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89700" y="535624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322248" y="5328761"/>
              <a:ext cx="37024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Sⁱ = Sⁱ⁻¹ ∪ A ∪ B，删去 W &gt; 14 和被支配的序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偶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25259" y="5915978"/>
              <a:ext cx="2892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Sⁱ 就是阶梯函数 fᵢ(x) 的全部跳变点。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87169" cy="909257"/>
            <a:chOff x="520446" y="342900"/>
            <a:chExt cx="84871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背包问题的序偶法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871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序偶过程（上）：S³ 里还应有 (8,5)，原讲解漏了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28447" y="1524000"/>
            <a:ext cx="11130153" cy="2162841"/>
            <a:chOff x="528447" y="1524000"/>
            <a:chExt cx="11130153" cy="216284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3933" y="1641157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67796" y="1641157"/>
              <a:ext cx="691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A：加 1 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304278" y="1641157"/>
              <a:ext cx="691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B：加 2 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370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删去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86793" y="164115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538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4338" y="202311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(6,3)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32263" y="2023110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(12,6)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57304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92834" y="2023110"/>
              <a:ext cx="1339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 (6,3) (12,6)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821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286952"/>
              <a:ext cx="1112520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5381" y="24974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84338" y="2497455"/>
              <a:ext cx="1339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(3,3) (9,6) (15,9)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32263" y="2497455"/>
              <a:ext cx="1494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(6,6) (12,9) (18,12)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57304" y="2404110"/>
              <a:ext cx="197758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(3,3) (6,6) (9,6) (12,9) 被支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92834" y="2497455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(0,0) (6,3) (12,6) (15,9) (18,12)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498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5381" y="3065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84338" y="3065145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(8,5) (14,8) (20,11) (23,14)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32263" y="306514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(16,10) (22,13)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57304" y="2971800"/>
              <a:ext cx="189757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(26,17) 等 4 个超重；(18,12)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 (20,11) 支配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107680" y="2864168"/>
              <a:ext cx="3541395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92834" y="2971800"/>
              <a:ext cx="264933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(0,0) (6,3) 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(8,5)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(12,6) (14,8) (15,9)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(16,10) (20,11) (22,13) (23,14)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11125200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084898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3532822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57862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93392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28447" y="3496151"/>
              <a:ext cx="3039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= 3 时 B 里超重的还有 (28,16) (31,19) (34,22)</a:t>
              </a:r>
            </a:p>
          </p:txBody>
        </p:sp>
      </p:grpSp>
      <p:grpSp>
        <p:nvGrpSpPr>
          <p:cNvPr id="49" name="c1-card-2"/>
          <p:cNvGrpSpPr/>
          <p:nvPr/>
        </p:nvGrpSpPr>
        <p:grpSpPr>
          <a:xfrm>
            <a:off x="533400" y="3812858"/>
            <a:ext cx="11125200" cy="1675448"/>
            <a:chOff x="533400" y="3812858"/>
            <a:chExt cx="11125200" cy="1675448"/>
          </a:xfrm>
        </p:grpSpPr>
        <p:sp>
          <p:nvSpPr>
            <p:cNvPr id="39" name="Rectangle 39"/>
            <p:cNvSpPr/>
            <p:nvPr/>
          </p:nvSpPr>
          <p:spPr>
            <a:xfrm>
              <a:off x="533400" y="3812858"/>
              <a:ext cx="11125200" cy="1675448"/>
            </a:xfrm>
            <a:prstGeom prst="roundRect">
              <a:avLst>
                <a:gd name="adj" fmla="val 7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3946208"/>
              <a:ext cx="47625" cy="14087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2475" y="399383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29894" y="402669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怎样判断支配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6608" y="4034314"/>
              <a:ext cx="58148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i = 3 为例：把 S² ∪ A ∪ B 中不超重的 11 个序偶按 W 排好，从左往右扫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5998" y="4350544"/>
              <a:ext cx="70075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(0,0) (6,3) (8,5) (12,6) (14,8) (15,9) (16,10) (20,11)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(18,12)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(22,13) (23,14)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62000" y="46882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17448" y="4635341"/>
              <a:ext cx="8582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每个序偶的 P 都要比它左边所有序偶的 P 大才留下；(18,12) 左边已有 (20,11)，花更多重量得更少效益，删去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62000" y="497300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7448" y="4920139"/>
              <a:ext cx="4297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(8,5) 左边最大的 P 是 6，8 &gt; 6，所以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(8,5) 应当保留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0" name="Rectangle 5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26129" y="5907523"/>
              <a:ext cx="224134" cy="192560"/>
              <a:chOff x="726129" y="5907523"/>
              <a:chExt cx="224134" cy="19256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38200" y="5977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6129" y="5907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38200" y="6055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5805011"/>
              <a:ext cx="98803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原讲解的 S³ 从 (6,3) 直接跳到 (12,6)，漏了 (8,5)。它表示“只装 1 件物品 3”，是只用前 3 种物品、容量为 5 时的最优装法，f₃(5) =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 就来自它。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1208" y="342900"/>
            <a:ext cx="11125916" cy="896112"/>
            <a:chOff x="521208" y="342900"/>
            <a:chExt cx="11125916" cy="896112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背包问题的序偶法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208" y="769620"/>
              <a:ext cx="111259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序偶过程（下）：S⁴ 的最后一个序偶 (24,14) 回溯出 x = (2, 0, 1, 1)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able-1"/>
          <p:cNvGrpSpPr/>
          <p:nvPr/>
        </p:nvGrpSpPr>
        <p:grpSpPr>
          <a:xfrm>
            <a:off x="528447" y="1524000"/>
            <a:ext cx="5956173" cy="2925794"/>
            <a:chOff x="528447" y="1524000"/>
            <a:chExt cx="5956173" cy="292579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108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1669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8322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A：加 (4,3)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37766" y="2023110"/>
              <a:ext cx="42724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(4,3) (10,6) (12,8) (16,9) (18,11) (19,12) (20,13) (24,14)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8322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B：加 (8,6)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37766" y="2404110"/>
              <a:ext cx="266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(8,6) (14,9) (16,11) (20,12) (22,14)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37766" y="2785110"/>
              <a:ext cx="12964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中 2 个、B 中 5 个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951220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26040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被支配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37766" y="3167062"/>
              <a:ext cx="424453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S³ 的 (15,9) (16,10) (23,14)，以及 A、B 中除 (16,9)、(24,14) 外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的全部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128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82809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S⁴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852612" y="3627120"/>
              <a:ext cx="4622482" cy="5486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937766" y="3734752"/>
              <a:ext cx="3756136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(0,0) (6,3) 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(8,5)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(12,6) (14,8) (16,9) (20,11) (22,13)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(24,14)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951220" cy="2661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38325" y="1524000"/>
              <a:ext cx="9525" cy="2661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8447" y="4259104"/>
              <a:ext cx="20316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 = 4：候选按 W 排序后逐个比较 P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575810"/>
            <a:ext cx="5951220" cy="1403032"/>
            <a:chOff x="533400" y="4575810"/>
            <a:chExt cx="5951220" cy="1403032"/>
          </a:xfrm>
        </p:grpSpPr>
        <p:sp>
          <p:nvSpPr>
            <p:cNvPr id="31" name="Rectangle 31"/>
            <p:cNvSpPr/>
            <p:nvPr/>
          </p:nvSpPr>
          <p:spPr>
            <a:xfrm>
              <a:off x="533400" y="4575810"/>
              <a:ext cx="595122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70916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52475" y="47567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5147" y="47896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18450" y="4796314"/>
              <a:ext cx="1904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S³、S⁴ 漏了序偶 (8,5)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5998" y="5113496"/>
              <a:ext cx="528802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原讲解的 S³、S⁴ 都没有 (8,5)。它是只取 1 件物品 3，W = 5 的序偶里 P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最大，没有被支配。漏掉它不影响本题结论：最优序偶 (24,14) 的回溯路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径不经过它。</a:t>
              </a:r>
            </a:p>
          </p:txBody>
        </p:sp>
      </p:grpSp>
      <p:grpSp>
        <p:nvGrpSpPr>
          <p:cNvPr id="59" name="c2-steps-1"/>
          <p:cNvGrpSpPr/>
          <p:nvPr/>
        </p:nvGrpSpPr>
        <p:grpSpPr>
          <a:xfrm>
            <a:off x="6789420" y="1533525"/>
            <a:ext cx="4421600" cy="2702814"/>
            <a:chOff x="6789420" y="1533525"/>
            <a:chExt cx="4421600" cy="2702814"/>
          </a:xfrm>
        </p:grpSpPr>
        <p:sp>
          <p:nvSpPr>
            <p:cNvPr id="38" name="Rectangle 38"/>
            <p:cNvSpPr/>
            <p:nvPr/>
          </p:nvSpPr>
          <p:spPr>
            <a:xfrm>
              <a:off x="6922770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78942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8304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8942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8304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8942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8304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78942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8304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89420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83044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02043" y="15644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03186" y="1818322"/>
              <a:ext cx="3039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S⁴ 中 W ≤ 14 的最大 P：(24,14)，最大效益 24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02043" y="211693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03186" y="2371725"/>
              <a:ext cx="4007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(24,14) 不在 S³；(24,14) − (4,3) = (20,11) ∈ S³，x₄ = 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02043" y="267033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03186" y="2925128"/>
              <a:ext cx="3397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(20,11) 不在 S²；减 (8,5) 得 (12,6) ∈ S²，x₃ = 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02043" y="322278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03186" y="3477578"/>
              <a:ext cx="1376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(12,6) ∈ S¹，x₂ = 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02043" y="3776186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03186" y="4030980"/>
              <a:ext cx="18058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(12,6) = 2 × (6,3)，x₁ = 2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789420" y="4397692"/>
            <a:ext cx="4869180" cy="1581150"/>
            <a:chOff x="6789420" y="4397692"/>
            <a:chExt cx="4869180" cy="1581150"/>
          </a:xfrm>
        </p:grpSpPr>
        <p:sp>
          <p:nvSpPr>
            <p:cNvPr id="60" name="Rectangle 60"/>
            <p:cNvSpPr/>
            <p:nvPr/>
          </p:nvSpPr>
          <p:spPr>
            <a:xfrm>
              <a:off x="6789420" y="4397692"/>
              <a:ext cx="4869180" cy="1581150"/>
            </a:xfrm>
            <a:prstGeom prst="roundRect">
              <a:avLst>
                <a:gd name="adj" fmla="val 84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798945" y="4531042"/>
              <a:ext cx="47625" cy="13144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02018" y="4600099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最优解 x = (2, 0, 1, 1)：重量 2·3 + 5 + 3 = 14，效益 2·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+ 8 + 4 = 24，与原讲解一致。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49791" cy="909257"/>
            <a:chOff x="520446" y="342900"/>
            <a:chExt cx="96497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背包问题的序偶法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497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复核：fᵢ(x) 表的最后一格是 24，3⁴ 种取法中最优解唯一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2" name="c1-table-1"/>
          <p:cNvGrpSpPr/>
          <p:nvPr/>
        </p:nvGrpSpPr>
        <p:grpSpPr>
          <a:xfrm>
            <a:off x="528066" y="1524000"/>
            <a:ext cx="11130534" cy="2401824"/>
            <a:chOff x="528066" y="1524000"/>
            <a:chExt cx="11130534" cy="240182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833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6843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9232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1621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40101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6398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8787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55578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67096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61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91083" y="16525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55955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7472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79942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91460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02977" y="165258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1755" y="207645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f₁(x)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065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9454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18434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42322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6620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90097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13375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24892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36410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48880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60397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1915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84385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95902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07420" y="20764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2367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237267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81755" y="250126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f₂(x)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7065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94547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18434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42322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26620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90097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13375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24892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36410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48880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60397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71915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84385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95902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07420" y="250126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27927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81755" y="292608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f₃(x)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770659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394547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018434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64232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266209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637722" y="2807018"/>
              <a:ext cx="604838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890097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513375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24892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36410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48880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360397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71915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784385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95902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207420" y="292608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3400" y="32165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33400" y="322135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81755" y="334994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f₄(x)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770659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394547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018434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642322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266209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890097" y="334994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513375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224892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936410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648880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360397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071915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784385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495902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0956608" y="3230880"/>
              <a:ext cx="692468" cy="4057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1207420" y="334994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33400" y="1524000"/>
              <a:ext cx="1112520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150495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212788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275177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337566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399954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462343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524732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95884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67131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7382828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09434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880681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951833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022985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10942320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528066" y="3720465"/>
              <a:ext cx="5144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按递推式逐格计算；每行的值在 Sⁱ 的 W 处跳变，例如 f₃(5) = 8 对应序偶 (8,5)</a:t>
              </a:r>
            </a:p>
          </p:txBody>
        </p:sp>
      </p:grpSp>
      <p:grpSp>
        <p:nvGrpSpPr>
          <p:cNvPr id="133" name="c1-compare-2"/>
          <p:cNvGrpSpPr/>
          <p:nvPr/>
        </p:nvGrpSpPr>
        <p:grpSpPr>
          <a:xfrm>
            <a:off x="533400" y="4065270"/>
            <a:ext cx="11125200" cy="1623060"/>
            <a:chOff x="533400" y="4065270"/>
            <a:chExt cx="11125200" cy="1623060"/>
          </a:xfrm>
        </p:grpSpPr>
        <p:sp>
          <p:nvSpPr>
            <p:cNvPr id="113" name="Rectangle 113"/>
            <p:cNvSpPr/>
            <p:nvPr/>
          </p:nvSpPr>
          <p:spPr>
            <a:xfrm>
              <a:off x="533400" y="4065270"/>
              <a:ext cx="5074920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542925" y="4198620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62381" y="428672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二维表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777240" y="468249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33831" y="462200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 fᵢ(x) 全部 4 × 15 = 60 格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777240" y="499967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933831" y="4940141"/>
              <a:ext cx="23796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每格比较三项，Θ(nM) 时间</a:t>
              </a:r>
            </a:p>
          </p:txBody>
        </p:sp>
        <p:sp>
          <p:nvSpPr>
            <p:cNvPr id="120" name="Ellipse 120"/>
            <p:cNvSpPr/>
            <p:nvPr/>
          </p:nvSpPr>
          <p:spPr>
            <a:xfrm>
              <a:off x="777240" y="531780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933831" y="5257324"/>
              <a:ext cx="23197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很大（如 10⁹）时存不下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6583680" y="4065270"/>
              <a:ext cx="5074920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593205" y="4198620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812661" y="428672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序偶法</a:t>
              </a:r>
            </a:p>
          </p:txBody>
        </p:sp>
        <p:sp>
          <p:nvSpPr>
            <p:cNvPr id="125" name="Ellipse 125"/>
            <p:cNvSpPr/>
            <p:nvPr/>
          </p:nvSpPr>
          <p:spPr>
            <a:xfrm>
              <a:off x="6827520" y="468249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6984111" y="4622006"/>
              <a:ext cx="30021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只存阶梯的跳变点：S⁴ 共 9 个序偶</a:t>
              </a:r>
            </a:p>
          </p:txBody>
        </p:sp>
        <p:sp>
          <p:nvSpPr>
            <p:cNvPr id="127" name="Ellipse 127"/>
            <p:cNvSpPr/>
            <p:nvPr/>
          </p:nvSpPr>
          <p:spPr>
            <a:xfrm>
              <a:off x="6827520" y="499967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6984111" y="4940141"/>
              <a:ext cx="26633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时间与 |Sⁱ| 成正比，和 M 无关</a:t>
              </a:r>
            </a:p>
          </p:txBody>
        </p:sp>
        <p:sp>
          <p:nvSpPr>
            <p:cNvPr id="129" name="Ellipse 129"/>
            <p:cNvSpPr/>
            <p:nvPr/>
          </p:nvSpPr>
          <p:spPr>
            <a:xfrm>
              <a:off x="6827520" y="531780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984111" y="5257324"/>
              <a:ext cx="27558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|Sⁱ| = 2ⁱ，就是题3 的情形</a:t>
              </a:r>
            </a:p>
          </p:txBody>
        </p:sp>
        <p:sp>
          <p:nvSpPr>
            <p:cNvPr id="131" name="Ellipse 131"/>
            <p:cNvSpPr/>
            <p:nvPr/>
          </p:nvSpPr>
          <p:spPr>
            <a:xfrm>
              <a:off x="5655945" y="4435792"/>
              <a:ext cx="880110" cy="88011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5695264" y="481536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同一个递推式</a:t>
              </a:r>
            </a:p>
          </p:txBody>
        </p:sp>
      </p:grpSp>
      <p:grpSp>
        <p:nvGrpSpPr>
          <p:cNvPr id="14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134" name="Rectangle 13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38" name="Group 138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6" name="Freeform 136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39" name="TextBox 139"/>
            <p:cNvSpPr txBox="1"/>
            <p:nvPr/>
          </p:nvSpPr>
          <p:spPr>
            <a:xfrm>
              <a:off x="1040511" y="6011704"/>
              <a:ext cx="101937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暴力枚举 3⁴ = 81 种取法：前三名是 24 (2,0,1,1)、23 (2,1,1,0)、22 (1,0,2,0) 与 (1,0,1,2)，24 只有一种取法。</a:t>
              </a:r>
            </a:p>
          </p:txBody>
        </p:sp>
      </p:grpSp>
      <p:grpSp>
        <p:nvGrpSpPr>
          <p:cNvPr id="1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1" name="TextBox 141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264783" cy="3538537"/>
            <a:chOff x="667512" y="1835468"/>
            <a:chExt cx="6264783" cy="353853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最优二分检索树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84225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按区间长度填 W、C、R 三张表，再证明 Knuth 优化把时间降到</a:t>
              </a:r>
              <a:br/>
              <a:r>
                <a:rPr lang="en-US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6025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标识符集 (end, goto, print, stop)，给定 P(1..4)、Q(0..4)，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OBST 计算 W、R、C 并画出最优二分检索树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520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94885"/>
              <a:ext cx="6025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把根 k 的检索区间限制在 R(i, j−1) ≤ k ≤ R(i+1, j)，证明构造最优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二分检索树的时间为 O(n²)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1589" y="342900"/>
            <a:ext cx="11185116" cy="889540"/>
            <a:chOff x="521589" y="342900"/>
            <a:chExt cx="11185116" cy="889540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589" y="777716"/>
              <a:ext cx="1118511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题5：概率统一乘 20 变成整数，先按 W(i,j) = W(i,j−1) + P(j) + Q(j) 填权表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2072640"/>
            <a:chOff x="533400" y="1524000"/>
            <a:chExt cx="5626418" cy="2072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72640"/>
            </a:xfrm>
            <a:prstGeom prst="roundRect">
              <a:avLst>
                <a:gd name="adj" fmla="val 64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059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第5题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757738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(a₁..a₄) = (end, goto, print, stop)，求 W、C、R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并画出最优二分检索树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18911"/>
              <a:ext cx="496290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 = (1/20, 1/5, 1/10, 1/20)，Q = (1/5, 1/10, 1/5, 1/20,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1/20)。全部乘 20 得 P = (1, 4, 2, 1)，Q = (4, 2, 4, 1, 1)，最后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成本再除以 20。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7"/>
              <p:cNvSpPr txBox="1">
                <a:spLocks noGrp="1"/>
              </p:cNvSpPr>
              <p:nvPr/>
            </p:nvSpPr>
            <p:spPr>
              <a:xfrm>
                <a:off x="533400" y="3787140"/>
                <a:ext cx="5626418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3" name="c1-kv-3"/>
          <p:cNvGrpSpPr/>
          <p:nvPr/>
        </p:nvGrpSpPr>
        <p:grpSpPr>
          <a:xfrm>
            <a:off x="525780" y="4497705"/>
            <a:ext cx="5634038" cy="1173480"/>
            <a:chOff x="525780" y="4497705"/>
            <a:chExt cx="5634038" cy="1173480"/>
          </a:xfrm>
        </p:grpSpPr>
        <p:sp>
          <p:nvSpPr>
            <p:cNvPr id="15" name="TextBox 15"/>
            <p:cNvSpPr txBox="1"/>
            <p:nvPr/>
          </p:nvSpPr>
          <p:spPr>
            <a:xfrm>
              <a:off x="525780" y="44977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56360" y="4497705"/>
              <a:ext cx="35717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W(i,i) = Q(i)，C(i,i) = 0，R(i,i) = 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8177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5780" y="4937760"/>
              <a:ext cx="6201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R(i,j)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56360" y="4937760"/>
              <a:ext cx="2686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取到最小值的 k，即 Tᵢⱼ 的根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2578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537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56360" y="5377815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j − i 从 1 到 4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6458902" y="1524000"/>
            <a:ext cx="5199698" cy="2988469"/>
            <a:chOff x="6458902" y="1524000"/>
            <a:chExt cx="5199698" cy="2988469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28361" y="1659731"/>
              <a:ext cx="565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W(i,j)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34535" y="165973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54638" y="165973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4740" y="165973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94843" y="165973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14945" y="165973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j=4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8225" y="2108359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1379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33902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0661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26721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848022" y="1982152"/>
              <a:ext cx="80105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14682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464618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64618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8225" y="2556986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3390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06618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26721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46823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78225" y="3005614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5400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7410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9420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4618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78225" y="345424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7410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94209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37633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78225" y="390382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94209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1524000"/>
              <a:ext cx="5193982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55332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37342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19353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01363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83373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58902" y="4292441"/>
              <a:ext cx="3443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对角线是 Q(i)；W(0,4) = 20 就是全部概率之和 1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464618" y="4658678"/>
            <a:ext cx="5193982" cy="1365885"/>
            <a:chOff x="6464618" y="4658678"/>
            <a:chExt cx="5193982" cy="1365885"/>
          </a:xfrm>
        </p:grpSpPr>
        <p:sp>
          <p:nvSpPr>
            <p:cNvPr id="66" name="Rectangle 66"/>
            <p:cNvSpPr/>
            <p:nvPr/>
          </p:nvSpPr>
          <p:spPr>
            <a:xfrm>
              <a:off x="6464618" y="4658678"/>
              <a:ext cx="5193982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74142" y="4792028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712268" y="486822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98526" y="49039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算一格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704648" y="5245418"/>
              <a:ext cx="4794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W(0,2) = W(0,1) + P(2) + Q(2) = 7 + 4 + 4 = 15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04648" y="5580698"/>
              <a:ext cx="49118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W(1,4) = W(1,3) + P(4) + Q(4) = 13 + 1 + 1 = 15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08981" cy="909257"/>
            <a:chOff x="520446" y="342900"/>
            <a:chExt cx="95089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089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填 C 表：每格比较所有候选根，C(0,4) 在 k = 2 取到 39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table-1"/>
          <p:cNvGrpSpPr/>
          <p:nvPr/>
        </p:nvGrpSpPr>
        <p:grpSpPr>
          <a:xfrm>
            <a:off x="533400" y="1524000"/>
            <a:ext cx="6492240" cy="3050858"/>
            <a:chOff x="533400" y="1524000"/>
            <a:chExt cx="6492240" cy="30508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0668" y="1641157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(i,j)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40821" y="1641157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70588" y="1641157"/>
              <a:ext cx="1823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 k：C(i,k−1) + C(k,j)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08463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87608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5826" y="2023110"/>
              <a:ext cx="374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91106" y="2023110"/>
              <a:ext cx="19203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C(i,i+1) = W(i,i+1)，R = i+1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93623" y="2023110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7 10 7 3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282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286952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3563" y="2404110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(0,2)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21885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1106" y="2404110"/>
              <a:ext cx="1468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k=1：0+10；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k=2：7+0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73845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9186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6631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3563" y="2785110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(1,3)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2188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91106" y="2785110"/>
              <a:ext cx="1468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k=2：0+7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；k=3：10+0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7384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9186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0451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04990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3563" y="316706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(2,4)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6075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91106" y="3167062"/>
              <a:ext cx="1390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k=3：0+3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；k=4：7+0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73845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9186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34261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3563" y="3548062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(0,3)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21885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91106" y="3548062"/>
              <a:ext cx="2140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k=1：20；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k=2：7+7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；k=3：22+0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73845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91862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80714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381190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3563" y="393001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(1,4)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21885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91106" y="3930015"/>
              <a:ext cx="22217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k=2：0+12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；k=3：10+3；k=4：20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73845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91862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1890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3563" y="431101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(0,4)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521885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91106" y="4311015"/>
              <a:ext cx="27376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k=1：27；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k=2：7+12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；k=3：25；k=4：32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476875" y="4203382"/>
              <a:ext cx="7600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773845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91862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1524000"/>
              <a:ext cx="649224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307782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89166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46258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1732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1-card-2"/>
          <p:cNvGrpSpPr/>
          <p:nvPr/>
        </p:nvGrpSpPr>
        <p:grpSpPr>
          <a:xfrm>
            <a:off x="533400" y="4739640"/>
            <a:ext cx="6492240" cy="1525905"/>
            <a:chOff x="533400" y="4739640"/>
            <a:chExt cx="6492240" cy="1525905"/>
          </a:xfrm>
        </p:grpSpPr>
        <p:sp>
          <p:nvSpPr>
            <p:cNvPr id="62" name="Rectangle 62"/>
            <p:cNvSpPr/>
            <p:nvPr/>
          </p:nvSpPr>
          <p:spPr>
            <a:xfrm>
              <a:off x="533400" y="4739640"/>
              <a:ext cx="6492240" cy="1525905"/>
            </a:xfrm>
            <a:prstGeom prst="roundRect">
              <a:avLst>
                <a:gd name="adj" fmla="val 87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14375" y="492061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07047" y="495347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23900" y="531304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79348" y="5261134"/>
              <a:ext cx="5629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每格 = W + 候选中最小的 C(i,k−1) + C(k,j)；橙色是取到最小值的 k，本例都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唯一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23900" y="584073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79348" y="5788819"/>
              <a:ext cx="43087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右侧 C 表（单位 1/20）与 R 表和原讲解的矩阵逐格一致</a:t>
              </a:r>
            </a:p>
          </p:txBody>
        </p:sp>
      </p:grpSp>
      <p:grpSp>
        <p:nvGrpSpPr>
          <p:cNvPr id="110" name="c2-table-1"/>
          <p:cNvGrpSpPr/>
          <p:nvPr/>
        </p:nvGrpSpPr>
        <p:grpSpPr>
          <a:xfrm>
            <a:off x="7330440" y="1524000"/>
            <a:ext cx="4328160" cy="2287905"/>
            <a:chOff x="7330440" y="1524000"/>
            <a:chExt cx="4328160" cy="2287905"/>
          </a:xfrm>
        </p:grpSpPr>
        <p:sp>
          <p:nvSpPr>
            <p:cNvPr id="70" name="Rectangle 70"/>
            <p:cNvSpPr/>
            <p:nvPr/>
          </p:nvSpPr>
          <p:spPr>
            <a:xfrm>
              <a:off x="7330440" y="1524000"/>
              <a:ext cx="432816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622976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0822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99117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71316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7230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32403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25286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31017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9311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676238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435380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0908030" y="1914525"/>
              <a:ext cx="74104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1195475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330440" y="228219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330440" y="2286952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625286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99311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676238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435380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195475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330440" y="266319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625286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71510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47425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19547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330440" y="304514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7330440" y="3049905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625286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47425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23434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7330440" y="342614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625286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23434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7330440" y="1524000"/>
              <a:ext cx="432816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00862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69156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37450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013364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089374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51" name="c2-table-2"/>
          <p:cNvGrpSpPr/>
          <p:nvPr/>
        </p:nvGrpSpPr>
        <p:grpSpPr>
          <a:xfrm>
            <a:off x="7330440" y="3976688"/>
            <a:ext cx="4328160" cy="2287905"/>
            <a:chOff x="7330440" y="3976688"/>
            <a:chExt cx="4328160" cy="2287905"/>
          </a:xfrm>
        </p:grpSpPr>
        <p:sp>
          <p:nvSpPr>
            <p:cNvPr id="111" name="Rectangle 111"/>
            <p:cNvSpPr/>
            <p:nvPr/>
          </p:nvSpPr>
          <p:spPr>
            <a:xfrm>
              <a:off x="7330440" y="3976688"/>
              <a:ext cx="432816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642978" y="40947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66331" y="4094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087373" y="4094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9809368" y="4094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530411" y="4094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251453" y="4094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645288" y="4475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368274" y="4475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9089317" y="4475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9811312" y="4475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0532354" y="4475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10947082" y="4368165"/>
              <a:ext cx="70199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11253397" y="4475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7330440" y="473487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7330440" y="4739640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7645288" y="48567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089317" y="4856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811312" y="4856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0532354" y="4856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1253397" y="485679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7330440" y="511683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7645288" y="52387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811312" y="52387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0532354" y="52387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1253397" y="52387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7330440" y="549783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7330440" y="5502592"/>
              <a:ext cx="432816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7645288" y="56197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0532354" y="56197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1253397" y="56197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7330440" y="587883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7645288" y="60017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1253397" y="60017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7330440" y="3976688"/>
              <a:ext cx="432816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8046720" y="3976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7" name="Rectangle 147"/>
            <p:cNvSpPr/>
            <p:nvPr/>
          </p:nvSpPr>
          <p:spPr>
            <a:xfrm>
              <a:off x="8768715" y="3976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8" name="Rectangle 148"/>
            <p:cNvSpPr/>
            <p:nvPr/>
          </p:nvSpPr>
          <p:spPr>
            <a:xfrm>
              <a:off x="9489758" y="3976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9" name="Rectangle 149"/>
            <p:cNvSpPr/>
            <p:nvPr/>
          </p:nvSpPr>
          <p:spPr>
            <a:xfrm>
              <a:off x="10210800" y="3976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0" name="Rectangle 150"/>
            <p:cNvSpPr/>
            <p:nvPr/>
          </p:nvSpPr>
          <p:spPr>
            <a:xfrm>
              <a:off x="10932795" y="397668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2" name="TextBox 152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914182" cy="909257"/>
            <a:chOff x="520446" y="342900"/>
            <a:chExt cx="109141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9141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画树：R(0,4) = 2 定根 goto，左右子树再查 R(0,1) 与 R(2,4)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ree-1"/>
          <p:cNvGrpSpPr/>
          <p:nvPr/>
        </p:nvGrpSpPr>
        <p:grpSpPr>
          <a:xfrm>
            <a:off x="760095" y="1590675"/>
            <a:ext cx="4956810" cy="2915603"/>
            <a:chOff x="760095" y="1590675"/>
            <a:chExt cx="4956810" cy="2915603"/>
          </a:xfrm>
        </p:grpSpPr>
        <p:sp>
          <p:nvSpPr>
            <p:cNvPr id="7" name="Freeform 7"/>
            <p:cNvSpPr/>
            <p:nvPr/>
          </p:nvSpPr>
          <p:spPr>
            <a:xfrm>
              <a:off x="1074420" y="2667000"/>
              <a:ext cx="541020" cy="762953"/>
            </a:xfrm>
            <a:custGeom>
              <a:avLst/>
              <a:gdLst/>
              <a:ahLst/>
              <a:cxnLst/>
              <a:rect l="l" t="t" r="r" b="b"/>
              <a:pathLst>
                <a:path w="541020" h="762953">
                  <a:moveTo>
                    <a:pt x="541020" y="0"/>
                  </a:moveTo>
                  <a:lnTo>
                    <a:pt x="0" y="762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15440" y="2667000"/>
              <a:ext cx="541020" cy="762953"/>
            </a:xfrm>
            <a:custGeom>
              <a:avLst/>
              <a:gdLst/>
              <a:ahLst/>
              <a:cxnLst/>
              <a:rect l="l" t="t" r="r" b="b"/>
              <a:pathLst>
                <a:path w="541020" h="762953">
                  <a:moveTo>
                    <a:pt x="0" y="0"/>
                  </a:moveTo>
                  <a:lnTo>
                    <a:pt x="541020" y="762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320540" y="3429952"/>
              <a:ext cx="541020" cy="762000"/>
            </a:xfrm>
            <a:custGeom>
              <a:avLst/>
              <a:gdLst/>
              <a:ahLst/>
              <a:cxnLst/>
              <a:rect l="l" t="t" r="r" b="b"/>
              <a:pathLst>
                <a:path w="541020" h="762000">
                  <a:moveTo>
                    <a:pt x="541020" y="0"/>
                  </a:moveTo>
                  <a:lnTo>
                    <a:pt x="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861560" y="3429952"/>
              <a:ext cx="541020" cy="762000"/>
            </a:xfrm>
            <a:custGeom>
              <a:avLst/>
              <a:gdLst/>
              <a:ahLst/>
              <a:cxnLst/>
              <a:rect l="l" t="t" r="r" b="b"/>
              <a:pathLst>
                <a:path w="541020" h="762000">
                  <a:moveTo>
                    <a:pt x="0" y="0"/>
                  </a:moveTo>
                  <a:lnTo>
                    <a:pt x="54102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38500" y="2667000"/>
              <a:ext cx="1082040" cy="762953"/>
            </a:xfrm>
            <a:custGeom>
              <a:avLst/>
              <a:gdLst/>
              <a:ahLst/>
              <a:cxnLst/>
              <a:rect l="l" t="t" r="r" b="b"/>
              <a:pathLst>
                <a:path w="1082040" h="762953">
                  <a:moveTo>
                    <a:pt x="1082040" y="0"/>
                  </a:moveTo>
                  <a:lnTo>
                    <a:pt x="0" y="762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20540" y="2667000"/>
              <a:ext cx="541020" cy="762953"/>
            </a:xfrm>
            <a:custGeom>
              <a:avLst/>
              <a:gdLst/>
              <a:ahLst/>
              <a:cxnLst/>
              <a:rect l="l" t="t" r="r" b="b"/>
              <a:pathLst>
                <a:path w="541020" h="762953">
                  <a:moveTo>
                    <a:pt x="0" y="0"/>
                  </a:moveTo>
                  <a:lnTo>
                    <a:pt x="541020" y="762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615440" y="1905000"/>
              <a:ext cx="1623060" cy="762000"/>
            </a:xfrm>
            <a:custGeom>
              <a:avLst/>
              <a:gdLst/>
              <a:ahLst/>
              <a:cxnLst/>
              <a:rect l="l" t="t" r="r" b="b"/>
              <a:pathLst>
                <a:path w="1623060" h="762000">
                  <a:moveTo>
                    <a:pt x="1623060" y="0"/>
                  </a:moveTo>
                  <a:lnTo>
                    <a:pt x="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38500" y="1905000"/>
              <a:ext cx="1082040" cy="762000"/>
            </a:xfrm>
            <a:custGeom>
              <a:avLst/>
              <a:gdLst/>
              <a:ahLst/>
              <a:cxnLst/>
              <a:rect l="l" t="t" r="r" b="b"/>
              <a:pathLst>
                <a:path w="1082040" h="762000">
                  <a:moveTo>
                    <a:pt x="0" y="0"/>
                  </a:moveTo>
                  <a:lnTo>
                    <a:pt x="108204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0095" y="3115628"/>
              <a:ext cx="628650" cy="628650"/>
            </a:xfrm>
            <a:prstGeom prst="roundRect">
              <a:avLst>
                <a:gd name="adj" fmla="val 12121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42135" y="3115628"/>
              <a:ext cx="628650" cy="628650"/>
            </a:xfrm>
            <a:prstGeom prst="roundRect">
              <a:avLst>
                <a:gd name="adj" fmla="val 12121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301115" y="2352675"/>
              <a:ext cx="628650" cy="628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924175" y="3115628"/>
              <a:ext cx="628650" cy="628650"/>
            </a:xfrm>
            <a:prstGeom prst="roundRect">
              <a:avLst>
                <a:gd name="adj" fmla="val 12121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006215" y="3877628"/>
              <a:ext cx="628650" cy="628650"/>
            </a:xfrm>
            <a:prstGeom prst="roundRect">
              <a:avLst>
                <a:gd name="adj" fmla="val 12121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088255" y="3877628"/>
              <a:ext cx="628650" cy="628650"/>
            </a:xfrm>
            <a:prstGeom prst="roundRect">
              <a:avLst>
                <a:gd name="adj" fmla="val 12121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547235" y="3115628"/>
              <a:ext cx="628650" cy="628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006215" y="2352675"/>
              <a:ext cx="628650" cy="628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924175" y="1590675"/>
              <a:ext cx="628650" cy="6286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9752" y="33547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51792" y="33547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9407" y="2592705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33832" y="33547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15872" y="41167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97912" y="4116705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68881" y="335470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stop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02418" y="2592705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print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45821" y="1830705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goto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4758690"/>
            <a:ext cx="5410200" cy="1238250"/>
            <a:chOff x="533400" y="4758690"/>
            <a:chExt cx="5410200" cy="1238250"/>
          </a:xfrm>
        </p:grpSpPr>
        <p:sp>
          <p:nvSpPr>
            <p:cNvPr id="34" name="Rectangle 34"/>
            <p:cNvSpPr/>
            <p:nvPr/>
          </p:nvSpPr>
          <p:spPr>
            <a:xfrm>
              <a:off x="533400" y="4758690"/>
              <a:ext cx="5410200" cy="1238250"/>
            </a:xfrm>
            <a:prstGeom prst="roundRect">
              <a:avLst>
                <a:gd name="adj" fmla="val 923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277803"/>
              <a:ext cx="200026" cy="200026"/>
              <a:chOff x="738188" y="5277803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2778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3444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53778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511" y="5146834"/>
              <a:ext cx="446887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圆是成功结点，方框 Eᵢ 是检索失败落入的外部结点（介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 aᵢ 与 aᵢ₊₁ 之间）。</a:t>
              </a:r>
            </a:p>
          </p:txBody>
        </p:sp>
      </p:grpSp>
      <p:grpSp>
        <p:nvGrpSpPr>
          <p:cNvPr id="58" name="c2-steps-1"/>
          <p:cNvGrpSpPr/>
          <p:nvPr/>
        </p:nvGrpSpPr>
        <p:grpSpPr>
          <a:xfrm>
            <a:off x="6248400" y="1533525"/>
            <a:ext cx="4386377" cy="2411159"/>
            <a:chOff x="6248400" y="1533525"/>
            <a:chExt cx="4386377" cy="2411159"/>
          </a:xfrm>
        </p:grpSpPr>
        <p:sp>
          <p:nvSpPr>
            <p:cNvPr id="41" name="Rectangle 41"/>
            <p:cNvSpPr/>
            <p:nvPr/>
          </p:nvSpPr>
          <p:spPr>
            <a:xfrm>
              <a:off x="6381750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248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42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48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42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4840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42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0261" y="1566386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1404" y="1846898"/>
              <a:ext cx="3914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R(0,4) = 2，根 a₂ = goto；左子树 T₀₁，右子树 T₂₄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0261" y="2187416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T₀₁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1404" y="2467927"/>
              <a:ext cx="2472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R(0,1) = 1，根 end，两棵空子树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0261" y="2808446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T₂₄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1404" y="3088957"/>
              <a:ext cx="39733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R(2,4) = 3，根 print；左子树 T₂₂ 为空，右子树 T₃₄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0261" y="3429476"/>
              <a:ext cx="364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T₃₄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1404" y="3709988"/>
              <a:ext cx="1592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R(3,4) = 4，根 stop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248400" y="4120515"/>
            <a:ext cx="5410200" cy="1876425"/>
            <a:chOff x="6248400" y="4120515"/>
            <a:chExt cx="5410200" cy="1876425"/>
          </a:xfrm>
        </p:grpSpPr>
        <p:sp>
          <p:nvSpPr>
            <p:cNvPr id="59" name="Rectangle 59"/>
            <p:cNvSpPr/>
            <p:nvPr/>
          </p:nvSpPr>
          <p:spPr>
            <a:xfrm>
              <a:off x="6248400" y="4120515"/>
              <a:ext cx="5410200" cy="1876425"/>
            </a:xfrm>
            <a:prstGeom prst="roundRect">
              <a:avLst>
                <a:gd name="adj" fmla="val 71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57925" y="4253865"/>
              <a:ext cx="47625" cy="16097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490335" y="43243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59842" y="43600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按定义核对成本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83096" y="4697254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成功：1·4 + 2·(1 + 2) + 3·1 = 13；失败：2·(4 + 2 + 4)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+ 3·(1 + 1) = 26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83096" y="5288756"/>
              <a:ext cx="38950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+ 26 = 39，预期成本 39/20 = 1.95 次比较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84239" y="5605462"/>
              <a:ext cx="4963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脚本枚举 4 个键的全部 14 棵检索树，39 是唯一最小值，次优为 43。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51705" cy="909257"/>
            <a:chOff x="520446" y="342900"/>
            <a:chExt cx="100517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517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题6：根只在 R(i,j−1) 到 R(i+1,j) 之间找，结果不变而次数大减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951220" cy="1382078"/>
            <a:chOff x="533400" y="1524000"/>
            <a:chExt cx="5951220" cy="13820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382078"/>
            </a:xfrm>
            <a:prstGeom prst="roundRect">
              <a:avLst>
                <a:gd name="adj" fmla="val 96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153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295" y="173783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第6题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5166919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把根 k 限制在 R(i,j−1) ≤ k ≤ R(i+1,j)，证明构造最优二分检索树的时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间为 O(n²)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2561273"/>
              <a:ext cx="4950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思路：固定区间长度 m，把各格候选数加起来，R 项前后相消，只剩首尾两项。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070860"/>
            <a:ext cx="5951220" cy="3200400"/>
            <a:chOff x="533400" y="3070860"/>
            <a:chExt cx="5951220" cy="3200400"/>
          </a:xfrm>
        </p:grpSpPr>
        <p:sp>
          <p:nvSpPr>
            <p:cNvPr id="14" name="Rectangle 14"/>
            <p:cNvSpPr/>
            <p:nvPr/>
          </p:nvSpPr>
          <p:spPr>
            <a:xfrm>
              <a:off x="533400" y="3070860"/>
              <a:ext cx="5951220" cy="3200400"/>
            </a:xfrm>
            <a:prstGeom prst="roundRect">
              <a:avLst>
                <a:gd name="adj" fmla="val 29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797" y="3222784"/>
              <a:ext cx="16239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OBST（Knuth 优化）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988" y="3481864"/>
              <a:ext cx="3394075" cy="27041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OBST(P, Q, n)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real C(0:n,0:n), W(0:n,0:n); integer R(0:n,0:n)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0 to n−1 do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置初值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(W(i,i), R(i,i), C(i,i)) ← (Q(i), 0, 0)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W(i,i+1) ← Q(i) + P(i+1) + Q(i+1)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R(i,i+1) ← i+1; C(i,i+1) ← W(i,i+1)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(W(n,n), R(n,n), C(n,n)) ← (Q(n), 0, 0)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m ← 2 to n do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m 个结点的最优树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i ← 0 to n−m do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j ← i + m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W(i,j) ← W(i,j−1) + P(j) + Q(j)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k ← [R(i,j−1), R(i+1,j)] 中使 C(i,p−1)+C(p,j) 最小的 p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C(i,j) ← W(i,j) + C(i,k−1) + C(k,j)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R(i,j) ← k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OBST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789420" y="1524000"/>
            <a:ext cx="4869180" cy="1403032"/>
            <a:chOff x="6789420" y="1524000"/>
            <a:chExt cx="4869180" cy="1403032"/>
          </a:xfrm>
        </p:grpSpPr>
        <p:sp>
          <p:nvSpPr>
            <p:cNvPr id="18" name="Rectangle 18"/>
            <p:cNvSpPr/>
            <p:nvPr/>
          </p:nvSpPr>
          <p:spPr>
            <a:xfrm>
              <a:off x="6789420" y="1524000"/>
              <a:ext cx="486918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798945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0849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0116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4470" y="17445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题面的区间上界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02018" y="2061686"/>
              <a:ext cx="424764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题面文字写作 R(i,j−1) ≤ k ≤ R(i−1,j)，应为 R(i+1,j)。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R(i−1,j) 是比 Tᵢⱼ 更大的区间，而且 i = 0 时不存在；题面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公式下方的小字和算法第 13 行写的都是 R(i+1,j)。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789420" y="3091815"/>
            <a:ext cx="4869180" cy="3179445"/>
            <a:chOff x="6789420" y="3091815"/>
            <a:chExt cx="4869180" cy="3179445"/>
          </a:xfrm>
        </p:grpSpPr>
        <p:sp>
          <p:nvSpPr>
            <p:cNvPr id="25" name="Rectangle 25"/>
            <p:cNvSpPr/>
            <p:nvPr/>
          </p:nvSpPr>
          <p:spPr>
            <a:xfrm>
              <a:off x="6789420" y="3091815"/>
              <a:ext cx="4869180" cy="3179445"/>
            </a:xfrm>
            <a:prstGeom prst="roundRect">
              <a:avLst>
                <a:gd name="adj" fmla="val 41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98945" y="3225165"/>
              <a:ext cx="47625" cy="291274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08495" y="3272790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67563" y="3305651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为什么可以只看这个区间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018020" y="366522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73468" y="3613309"/>
              <a:ext cx="40769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Knuth 证明了单调性 R(i,j−1) ≤ R(i,j) ≤ R(i+1,j)：区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间右端加一个键，根不会左移；左端加一个键，根不会右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018020" y="443674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73468" y="4383881"/>
              <a:ext cx="43403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所以最优根一定在这个区间里，C 与 R 表和不限制时相同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018020" y="47215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73468" y="4668679"/>
              <a:ext cx="3906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的实例用这个区间只试 14 个根，不限制时要试 20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个，见后面的复核页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03161" y="519303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题目把这一点作为已知，只要求证时间。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58583" cy="909257"/>
            <a:chOff x="520446" y="342900"/>
            <a:chExt cx="91585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58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证明：固定 m 后逐项相消，每轮至多 2n 次，共 O(n²)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steps-1"/>
          <p:cNvGrpSpPr/>
          <p:nvPr/>
        </p:nvGrpSpPr>
        <p:grpSpPr>
          <a:xfrm>
            <a:off x="533400" y="1533525"/>
            <a:ext cx="5923849" cy="2867502"/>
            <a:chOff x="533400" y="1533525"/>
            <a:chExt cx="5923849" cy="2867502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814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一格的代价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1833086"/>
              <a:ext cx="3875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 C(i,j) 要试 R(i+1,j) − R(i,j−1) + 1 个 k，每个 O(1)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152650"/>
              <a:ext cx="998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m 求和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419826"/>
              <a:ext cx="5510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i + m，i 从 0 到 n − m；相邻两项的 R(i+1,i+m) 与下一项的 −R(i+1,i+m) 抵消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只剩首尾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006566"/>
              <a:ext cx="40084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= R(n−m+1, n) − R(0, m−1) + (n − m + 1) ≤ n + n = 2n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326130"/>
              <a:ext cx="816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m 求和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3593306"/>
              <a:ext cx="2859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从 2 到 n，总次数 ≤ 2n(n − 1) = O(n²)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642" y="391287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其余部分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80999"/>
              <a:ext cx="31128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置初值 O(n)，W 表 O(n²)，整个算法 O(n²)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26"/>
              <p:cNvSpPr txBox="1">
                <a:spLocks noGrp="1"/>
              </p:cNvSpPr>
              <p:nvPr/>
            </p:nvSpPr>
            <p:spPr>
              <a:xfrm>
                <a:off x="533400" y="4569142"/>
                <a:ext cx="6059805" cy="471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R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27"/>
              <p:cNvSpPr txBox="1">
                <a:spLocks noGrp="1"/>
              </p:cNvSpPr>
              <p:nvPr/>
            </p:nvSpPr>
            <p:spPr>
              <a:xfrm>
                <a:off x="533400" y="5215890"/>
                <a:ext cx="6059805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2n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3n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p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8" name="c2-card-1"/>
          <p:cNvGrpSpPr/>
          <p:nvPr/>
        </p:nvGrpSpPr>
        <p:grpSpPr>
          <a:xfrm>
            <a:off x="6898005" y="1524000"/>
            <a:ext cx="4760595" cy="2027872"/>
            <a:chOff x="6898005" y="1524000"/>
            <a:chExt cx="4760595" cy="2027872"/>
          </a:xfrm>
        </p:grpSpPr>
        <p:sp>
          <p:nvSpPr>
            <p:cNvPr id="31" name="Rectangle 31"/>
            <p:cNvSpPr/>
            <p:nvPr/>
          </p:nvSpPr>
          <p:spPr>
            <a:xfrm>
              <a:off x="6898005" y="1524000"/>
              <a:ext cx="4760595" cy="2027872"/>
            </a:xfrm>
            <a:prstGeom prst="roundRect">
              <a:avLst>
                <a:gd name="adj" fmla="val 657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090410" y="1716405"/>
              <a:ext cx="1934528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37676" y="1750695"/>
              <a:ext cx="1839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相消的样子（m = 2，n = 4）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83552" y="2072640"/>
              <a:ext cx="2373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= 0：R(1,2) − R(0,1) + 1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83552" y="2375535"/>
              <a:ext cx="2373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= 1：R(2,3) − R(1,2) + 1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83552" y="2678430"/>
              <a:ext cx="2373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= 2：R(3,4) − R(2,3) + 1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84695" y="2977039"/>
              <a:ext cx="39657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三行相加，R(1,2)、R(2,3) 正负抵消，剩 R(3,4) − R(0,1) +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898005" y="3727132"/>
            <a:ext cx="4760595" cy="1209675"/>
            <a:chOff x="6898005" y="3727132"/>
            <a:chExt cx="4760595" cy="1209675"/>
          </a:xfrm>
        </p:grpSpPr>
        <p:sp>
          <p:nvSpPr>
            <p:cNvPr id="39" name="Rectangle 39"/>
            <p:cNvSpPr/>
            <p:nvPr/>
          </p:nvSpPr>
          <p:spPr>
            <a:xfrm>
              <a:off x="6898005" y="3727132"/>
              <a:ext cx="476059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907530" y="386048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128510" y="3919538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07948" y="39538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更紧的上界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21652" y="4275772"/>
              <a:ext cx="38713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R(n−m+1, n) ≤ n，R(0, m−1) ≥ 1，所以第 m 轮 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 − m 次，总计 ≤ (n − 1)(3n − 2)/2。</a:t>
              </a:r>
            </a:p>
          </p:txBody>
        </p:sp>
      </p:grpSp>
      <p:grpSp>
        <p:nvGrpSpPr>
          <p:cNvPr id="50" name="c2-card-3"/>
          <p:cNvGrpSpPr/>
          <p:nvPr/>
        </p:nvGrpSpPr>
        <p:grpSpPr>
          <a:xfrm>
            <a:off x="6898005" y="5112068"/>
            <a:ext cx="4760595" cy="1209675"/>
            <a:chOff x="6898005" y="5112068"/>
            <a:chExt cx="4760595" cy="1209675"/>
          </a:xfrm>
        </p:grpSpPr>
        <p:sp>
          <p:nvSpPr>
            <p:cNvPr id="45" name="Rectangle 45"/>
            <p:cNvSpPr/>
            <p:nvPr/>
          </p:nvSpPr>
          <p:spPr>
            <a:xfrm>
              <a:off x="6898005" y="5112068"/>
              <a:ext cx="476059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07530" y="524541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8510" y="53044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19950" y="53387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21652" y="5660708"/>
              <a:ext cx="41456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不能说“每格候选区间长度是常数”：单格的区间可能很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长，是整轮加起来才只有 O(n)。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64341" cy="909257"/>
            <a:chOff x="520446" y="342900"/>
            <a:chExt cx="98643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最优二分检索树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643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复核：题5 实例只试 14 个根，n = 160 时比不限制的少 96%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27685" y="1524000"/>
            <a:ext cx="5415915" cy="3437097"/>
            <a:chOff x="527685" y="1524000"/>
            <a:chExt cx="5415915" cy="343709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3935" y="1659731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(i,j)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2350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检索区间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05463" y="1659731"/>
              <a:ext cx="529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R(i,j)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1952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候选数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8703" y="210835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(0,2)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05352" y="2108359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[1, 2]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1615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3060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703" y="2556986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(1,3)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05352" y="2556986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[2, 3]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1615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30607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703" y="3005614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(2,4)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05352" y="3005614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[3, 4]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1615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3060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8703" y="345424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(0,3)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05352" y="3454241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[2, 2]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1615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3060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703" y="390382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(1,4)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05352" y="3903821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[2, 3]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1615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3060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21671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703" y="4352449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(0,4)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305352" y="4352449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[2, 2]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916157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30607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5410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82880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331089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61962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685" y="4741069"/>
              <a:ext cx="4240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≥ 2 共试 10 次，加上 m = 1 的 4 次共 14 次；不限制时 20 次</a:t>
              </a:r>
            </a:p>
          </p:txBody>
        </p:sp>
      </p:grpSp>
      <p:grpSp>
        <p:nvGrpSpPr>
          <p:cNvPr id="55" name="c1-callout-2"/>
          <p:cNvGrpSpPr/>
          <p:nvPr/>
        </p:nvGrpSpPr>
        <p:grpSpPr>
          <a:xfrm>
            <a:off x="533400" y="5107305"/>
            <a:ext cx="5410200" cy="801052"/>
            <a:chOff x="533400" y="5107305"/>
            <a:chExt cx="5410200" cy="801052"/>
          </a:xfrm>
        </p:grpSpPr>
        <p:sp>
          <p:nvSpPr>
            <p:cNvPr id="50" name="Rectangle 50"/>
            <p:cNvSpPr/>
            <p:nvPr/>
          </p:nvSpPr>
          <p:spPr>
            <a:xfrm>
              <a:off x="533400" y="5107305"/>
              <a:ext cx="5410200" cy="801052"/>
            </a:xfrm>
            <a:prstGeom prst="roundRect">
              <a:avLst>
                <a:gd name="adj" fmla="val 1426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408295"/>
              <a:ext cx="200026" cy="200026"/>
              <a:chOff x="738188" y="5408295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4082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4863" y="54860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265420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用题5 的 R 表代入区间，每格选出的根与题5 不限制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时相同，C(0,4) 仍是 39。</a:t>
              </a:r>
            </a:p>
          </p:txBody>
        </p:sp>
      </p:grpSp>
      <p:grpSp>
        <p:nvGrpSpPr>
          <p:cNvPr id="92" name="c2-table-1"/>
          <p:cNvGrpSpPr/>
          <p:nvPr/>
        </p:nvGrpSpPr>
        <p:grpSpPr>
          <a:xfrm>
            <a:off x="6242685" y="1524000"/>
            <a:ext cx="5415915" cy="2988469"/>
            <a:chOff x="6242685" y="1524000"/>
            <a:chExt cx="5415915" cy="2988469"/>
          </a:xfrm>
        </p:grpSpPr>
        <p:sp>
          <p:nvSpPr>
            <p:cNvPr id="56" name="Rectangle 56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3890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6558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不限制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90029" y="1659731"/>
              <a:ext cx="9156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Knuth 优化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11579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23023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13138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66213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53506" y="210835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23023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218366" y="255698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1540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971441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53506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23023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23593" y="300561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11480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876668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1612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158733" y="30056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1600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023023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123593" y="345424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88560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76668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6401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158733" y="345424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6400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923512" y="390382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028821" y="390382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695520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81896" y="390382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25469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063961" y="390382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25600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1524000"/>
              <a:ext cx="5410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733806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71347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37177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42685" y="4292441"/>
              <a:ext cx="3102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随机概率实例上试根的次数，不限制时约 n³/6</a:t>
              </a:r>
            </a:p>
          </p:txBody>
        </p:sp>
      </p:grpSp>
      <p:grpSp>
        <p:nvGrpSpPr>
          <p:cNvPr id="96" name="c2-card-2"/>
          <p:cNvGrpSpPr/>
          <p:nvPr/>
        </p:nvGrpSpPr>
        <p:grpSpPr>
          <a:xfrm>
            <a:off x="6248400" y="4658678"/>
            <a:ext cx="5410200" cy="1249680"/>
            <a:chOff x="6248400" y="4658678"/>
            <a:chExt cx="5410200" cy="1249680"/>
          </a:xfrm>
        </p:grpSpPr>
        <p:sp>
          <p:nvSpPr>
            <p:cNvPr id="93" name="Rectangle 93"/>
            <p:cNvSpPr/>
            <p:nvPr/>
          </p:nvSpPr>
          <p:spPr>
            <a:xfrm>
              <a:off x="6248400" y="4658678"/>
              <a:ext cx="5410200" cy="1249680"/>
            </a:xfrm>
            <a:prstGeom prst="roundRect">
              <a:avLst>
                <a:gd name="adj" fmla="val 10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6257925" y="4792028"/>
              <a:ext cx="47625" cy="9829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488430" y="4892992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脚本另对 400 个 n ≤ 10 的随机实例对拍：两种算法的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整张 C 表相同，R 满足单调性，试根次数与相消公式逐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一相等。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690360" cy="3569017"/>
            <a:chOff x="667512" y="1835468"/>
            <a:chExt cx="6690360" cy="35690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三个递推式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找零钱、构造回文、币值最大化：状态怎么设，最后一步怎么分情况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11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面值 d₁ &lt; d₂ &lt; … &lt; dₘ 且 d₁ = 1，数量不限，凑出金额 n 至少要几枚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硬币，给出递推式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281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471035"/>
              <a:ext cx="54370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题8 在字符串中插入最少的字符使它成为回文词，给出递推式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8825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25365"/>
              <a:ext cx="611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题9 一排 n 枚硬币选出位置互不相邻的若干枚使总额最大：递推式、算法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与实例 (5, 1, 2, 10, 6, 2)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1848" cy="909257"/>
            <a:chOff x="520446" y="342900"/>
            <a:chExt cx="90018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三个递推式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18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题7：按最后一枚硬币的面值分情况，只能取 dⱼ ≤ n 的面值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071562"/>
            <a:chOff x="533400" y="1524000"/>
            <a:chExt cx="6059805" cy="10715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071562"/>
            </a:xfrm>
            <a:prstGeom prst="roundRect">
              <a:avLst>
                <a:gd name="adj" fmla="val 124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048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3054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295" y="1737836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第7题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90840" y="1744504"/>
              <a:ext cx="44526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面值 d₁ &lt; … &lt; dₘ，d₁ = 1，每种无限，凑出 n 至少要几枚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141" y="2057400"/>
              <a:ext cx="537133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思路：设 F(x) 是凑出金额 x 的最少枚数。最优方案的最后一枚是某个 dⱼ，去掉它剩下的 x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 dⱼ 也必须用最少的枚数凑出。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34"/>
              <p:cNvSpPr txBox="1">
                <a:spLocks noGrp="1"/>
              </p:cNvSpPr>
              <p:nvPr/>
            </p:nvSpPr>
            <p:spPr>
              <a:xfrm>
                <a:off x="533400" y="2760345"/>
                <a:ext cx="6059805" cy="371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limLow>
                            <m:limLowPr/>
                            <m:e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≤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≥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8" name="c1-code-3"/>
          <p:cNvGrpSpPr/>
          <p:nvPr/>
        </p:nvGrpSpPr>
        <p:grpSpPr>
          <a:xfrm>
            <a:off x="533400" y="3296602"/>
            <a:ext cx="6059805" cy="2304098"/>
            <a:chOff x="533400" y="3296602"/>
            <a:chExt cx="6059805" cy="2304098"/>
          </a:xfrm>
        </p:grpSpPr>
        <p:sp>
          <p:nvSpPr>
            <p:cNvPr id="15" name="Rectangle 15"/>
            <p:cNvSpPr/>
            <p:nvPr/>
          </p:nvSpPr>
          <p:spPr>
            <a:xfrm>
              <a:off x="533400" y="3296602"/>
              <a:ext cx="6059805" cy="2304098"/>
            </a:xfrm>
            <a:prstGeom prst="roundRect">
              <a:avLst>
                <a:gd name="adj" fmla="val 41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797" y="3448526"/>
              <a:ext cx="16430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COINCHANGE（补充）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988" y="3707606"/>
              <a:ext cx="2920238" cy="18068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COINCHANGE(d, m, n)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d(1:m)，d(1) = 1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F(0:n), last(0:n)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F(0) ← 0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x ← 1 to n do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F(x) ← ∞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← 1 to m do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d(j) ≤ x and F(x−d(j)) + 1 &lt; F(x) then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F(x) ← F(x−d(j)) + 1; last(x) ← d(j)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COINCHANGE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898005" y="1524000"/>
            <a:ext cx="4760595" cy="1403032"/>
            <a:chOff x="6898005" y="1524000"/>
            <a:chExt cx="4760595" cy="1403032"/>
          </a:xfrm>
        </p:grpSpPr>
        <p:sp>
          <p:nvSpPr>
            <p:cNvPr id="19" name="Rectangle 19"/>
            <p:cNvSpPr/>
            <p:nvPr/>
          </p:nvSpPr>
          <p:spPr>
            <a:xfrm>
              <a:off x="6898005" y="1524000"/>
              <a:ext cx="4760595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1708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08799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83056" y="17445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原讲解的递推式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0603" y="2061686"/>
              <a:ext cx="39794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原讲解写 F(n) = min{F(n − dⱼ)} + 1，1 ≤ j ≤ m，没限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 dⱼ ≤ n，n &lt; dₘ 时会用到负下标。F(1) = 1 由通式可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得，不必单列。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898005" y="3091815"/>
            <a:ext cx="4760595" cy="1185862"/>
            <a:chOff x="6898005" y="3091815"/>
            <a:chExt cx="4760595" cy="1185862"/>
          </a:xfrm>
        </p:grpSpPr>
        <p:sp>
          <p:nvSpPr>
            <p:cNvPr id="26" name="Rectangle 26"/>
            <p:cNvSpPr/>
            <p:nvPr/>
          </p:nvSpPr>
          <p:spPr>
            <a:xfrm>
              <a:off x="6898005" y="3091815"/>
              <a:ext cx="476059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07530" y="322516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17080" y="32727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90448" y="33056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正确性与复杂度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126605" y="366522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82053" y="3613309"/>
              <a:ext cx="3083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 = 1 保证每个 x 都凑得出，F(x) 有限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126605" y="395097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82053" y="3898106"/>
              <a:ext cx="3621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两重循环 Θ(mn) 时间，F 与 last 共 Θ(n) 空间</a:t>
              </a:r>
            </a:p>
          </p:txBody>
        </p:sp>
      </p:grpSp>
      <p:grpSp>
        <p:nvGrpSpPr>
          <p:cNvPr id="48" name="c2-steps-3"/>
          <p:cNvGrpSpPr/>
          <p:nvPr/>
        </p:nvGrpSpPr>
        <p:grpSpPr>
          <a:xfrm>
            <a:off x="6898005" y="4452938"/>
            <a:ext cx="4580020" cy="1789366"/>
            <a:chOff x="6898005" y="4452938"/>
            <a:chExt cx="4580020" cy="1789366"/>
          </a:xfrm>
        </p:grpSpPr>
        <p:sp>
          <p:nvSpPr>
            <p:cNvPr id="35" name="Rectangle 35"/>
            <p:cNvSpPr/>
            <p:nvPr/>
          </p:nvSpPr>
          <p:spPr>
            <a:xfrm>
              <a:off x="7031355" y="459581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898005" y="44529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91629" y="4526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898005" y="50053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1629" y="5079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898005" y="55587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91629" y="56326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10628" y="4482941"/>
              <a:ext cx="1941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例：d = (1,3,4)，x = 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11771" y="4737735"/>
              <a:ext cx="4166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末枚 1：F(5)+1 = 3；末枚 3：F(3)+1 = 2；末枚 4：F(2)+1 = 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10628" y="50363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1771" y="5291138"/>
              <a:ext cx="1483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F(6) = 2，last(6) = 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10628" y="55887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1771" y="5843588"/>
              <a:ext cx="398449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← n，反复输出 last(x) 并令 x ← x − last(x)：6 − 3 = 3，3 − 3 =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0，得 6 = 3 + 3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45284" cy="909257"/>
            <a:chOff x="520446" y="342900"/>
            <a:chExt cx="85452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三个递推式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452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复核：面值 (1, 3, 4) 凑 6 只要 2 枚，贪心要 3 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4" name="c1-table-1"/>
          <p:cNvGrpSpPr/>
          <p:nvPr/>
        </p:nvGrpSpPr>
        <p:grpSpPr>
          <a:xfrm>
            <a:off x="527685" y="1524000"/>
            <a:ext cx="11130915" cy="2015967"/>
            <a:chOff x="527685" y="1524000"/>
            <a:chExt cx="11130915" cy="201596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026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10386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4857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8676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90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64088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03228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1416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7960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1874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693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93240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9057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45827" y="165544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8746" y="2085022"/>
              <a:ext cx="395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1260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5079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8898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2812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6630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05449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34112" y="1964055"/>
              <a:ext cx="71913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4363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8182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096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75915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88768" y="1964055"/>
              <a:ext cx="80772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54210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6792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19469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23793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23841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8746" y="2515552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last(x)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11260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5079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8898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2812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06630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05449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4363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8182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2096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5915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4210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6792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9469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贪心枚数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11260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85079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58898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32812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06630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805449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54141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8182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2096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5915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53988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36792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9469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1524000"/>
              <a:ext cx="11125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78879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252698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326612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400431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74249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548163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1982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95896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69715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43534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17448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1000029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82706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27685" y="3319939"/>
              <a:ext cx="4828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= (1, 3, 4)；last(x) 是按 j 从小到大扫描时第一个取到最小值的面值</a:t>
              </a:r>
            </a:p>
          </p:txBody>
        </p:sp>
      </p:grpSp>
      <p:grpSp>
        <p:nvGrpSpPr>
          <p:cNvPr id="105" name="c1-compare-2"/>
          <p:cNvGrpSpPr/>
          <p:nvPr/>
        </p:nvGrpSpPr>
        <p:grpSpPr>
          <a:xfrm>
            <a:off x="533400" y="3681412"/>
            <a:ext cx="11125200" cy="1753552"/>
            <a:chOff x="533400" y="3681412"/>
            <a:chExt cx="11125200" cy="1753552"/>
          </a:xfrm>
        </p:grpSpPr>
        <p:sp>
          <p:nvSpPr>
            <p:cNvPr id="85" name="Rectangle 85"/>
            <p:cNvSpPr/>
            <p:nvPr/>
          </p:nvSpPr>
          <p:spPr>
            <a:xfrm>
              <a:off x="533400" y="3681412"/>
              <a:ext cx="5353050" cy="1753552"/>
            </a:xfrm>
            <a:prstGeom prst="roundRect">
              <a:avLst>
                <a:gd name="adj" fmla="val 76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542925" y="3814762"/>
              <a:ext cx="47625" cy="14868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68096" y="390858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贪心：先拿最大面值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82955" y="43072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39546" y="4247674"/>
              <a:ext cx="16393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= 4 + 1 + 1，3 枚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782955" y="46272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39546" y="4567714"/>
              <a:ext cx="20694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= 4 + 4 + 1 + 1，4 枚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82955" y="494728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939546" y="4887754"/>
              <a:ext cx="2910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拿了 4 之后剩 2，只能用两个 1 补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305550" y="3681412"/>
              <a:ext cx="5353050" cy="1753552"/>
            </a:xfrm>
            <a:prstGeom prst="roundRect">
              <a:avLst>
                <a:gd name="adj" fmla="val 76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6315075" y="3814762"/>
              <a:ext cx="47625" cy="14868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540246" y="39085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动态规划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6555105" y="430720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711696" y="4247674"/>
              <a:ext cx="13143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= 3 + 3，2 枚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6555105" y="462724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711696" y="4567714"/>
              <a:ext cx="17444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= 4 + 3 + 3，3 枚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555105" y="494728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711696" y="4887754"/>
              <a:ext cx="25664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每个金额都把 m 种末枚比一遍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5934075" y="439674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004415" y="449294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112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106" name="Rectangle 10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0" name="Group 110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1" name="TextBox 111"/>
            <p:cNvSpPr txBox="1"/>
            <p:nvPr/>
          </p:nvSpPr>
          <p:spPr>
            <a:xfrm>
              <a:off x="1040511" y="5753576"/>
              <a:ext cx="988809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脚本对 x = 0~12 和 300 组随机面值、金额与枚举各面值个数的暴力法对拍，全部相同。人民币面值下贪心碰巧最优，一般面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值要用动态规划。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9616" cy="909257"/>
            <a:chOff x="520446" y="342900"/>
            <a:chExt cx="81196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三个递推式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96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题8：首尾相同就同时去掉，不同就在一端补一个字符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1524000"/>
            <a:chOff x="533400" y="1524000"/>
            <a:chExt cx="5626418" cy="15240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第8题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在字符串中插入最少的字符使它变成回文词，给出递推式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435542"/>
              <a:ext cx="47442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思路：n(i,j) 表示把 Cᵢ … Cⱼ 变成回文最少插入几个字符。只看两端的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Cᵢ 与 Cⱼ 就能分出情况。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3243262"/>
            <a:ext cx="4331513" cy="1789176"/>
            <a:chOff x="533400" y="3243262"/>
            <a:chExt cx="4331513" cy="1789176"/>
          </a:xfrm>
        </p:grpSpPr>
        <p:sp>
          <p:nvSpPr>
            <p:cNvPr id="14" name="Rectangle 14"/>
            <p:cNvSpPr/>
            <p:nvPr/>
          </p:nvSpPr>
          <p:spPr>
            <a:xfrm>
              <a:off x="666750" y="3386138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2432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3170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8633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9371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48437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5581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261" y="3276124"/>
              <a:ext cx="7249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Cᵢ = Cⱼ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3556635"/>
              <a:ext cx="3918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两端已经对称，不用插入，只需处理中间 Cᵢ₊₁ … Cⱼ₋₁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3897154"/>
              <a:ext cx="1489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Cᵢ ≠ Cⱼ，方案一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4177665"/>
              <a:ext cx="3341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Cⱼ 之后插入 Cᵢ 与它配对，剩下 Cᵢ₊₁ … Cⱼ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4517231"/>
              <a:ext cx="14895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Cᵢ ≠ Cⱼ，方案二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797742"/>
              <a:ext cx="3341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Cᵢ 之前插入 Cⱼ 与它配对，剩下 Cᵢ … Cⱼ₋₁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37"/>
              <p:cNvSpPr txBox="1">
                <a:spLocks noGrp="1"/>
              </p:cNvSpPr>
              <p:nvPr/>
            </p:nvSpPr>
            <p:spPr>
              <a:xfrm>
                <a:off x="533400" y="5209222"/>
                <a:ext cx="5626418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&lt;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min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 </m:t>
                                      </m:r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,</m:t>
                                          </m:r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</m:t>
                              </m:r>
                              <m:sSub>
                                <m:e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2" name="c2-code-1"/>
          <p:cNvGrpSpPr/>
          <p:nvPr/>
        </p:nvGrpSpPr>
        <p:grpSpPr>
          <a:xfrm>
            <a:off x="6464618" y="1524000"/>
            <a:ext cx="5193982" cy="2724150"/>
            <a:chOff x="6464618" y="1524000"/>
            <a:chExt cx="5193982" cy="2724150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2724150"/>
            </a:xfrm>
            <a:prstGeom prst="roundRect">
              <a:avLst>
                <a:gd name="adj" fmla="val 34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93015" y="1675924"/>
              <a:ext cx="12112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PALIN（补充）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93167" y="1936337"/>
              <a:ext cx="3358210" cy="22307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PALIN(C, n)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返回最少插入数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N(1:n+1, 0:n)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 &gt; j 的格子为 0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i ← 1 to n do N(i,i) ← 0; N(i+1,i) ← 0 repeat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m ← 1 to n−1 do       </a:t>
              </a:r>
              <a:r>
                <a:rPr lang="en-US" sz="94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m = j − i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i ← 1 to n−m do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j ← i + m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if C(i) = C(j) then N(i,j) ← N(i+1,j−1)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else N(i,j) ← min{N(i+1,j), N(i,j−1)} + 1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endif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return N(1,n)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PALIN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464618" y="4433888"/>
            <a:ext cx="5193982" cy="1604962"/>
            <a:chOff x="6464618" y="4433888"/>
            <a:chExt cx="5193982" cy="1604962"/>
          </a:xfrm>
        </p:grpSpPr>
        <p:sp>
          <p:nvSpPr>
            <p:cNvPr id="33" name="Rectangle 33"/>
            <p:cNvSpPr/>
            <p:nvPr/>
          </p:nvSpPr>
          <p:spPr>
            <a:xfrm>
              <a:off x="6464618" y="4433888"/>
              <a:ext cx="5193982" cy="1604962"/>
            </a:xfrm>
            <a:prstGeom prst="roundRect">
              <a:avLst>
                <a:gd name="adj" fmla="val 830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8452" y="463772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4711" y="46734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76072" y="507015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32664" y="5010626"/>
              <a:ext cx="46002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 n(n+1)/2 个格子，每格 O(1)：Θ(n²) 时间与空间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76072" y="539019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32664" y="5330666"/>
              <a:ext cx="42677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 m = j − i 递增计算，用到的三个格子区间都更短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2356" y="5646420"/>
              <a:ext cx="3380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等价说法：答案 = n − 最长回文子序列的长度。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71159" cy="909257"/>
            <a:chOff x="520446" y="342900"/>
            <a:chExt cx="79711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三个递推式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711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题8 填表：Ab3bd 的 n(1,5) = 2，回溯出 Adb3bdA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table-1"/>
          <p:cNvGrpSpPr/>
          <p:nvPr/>
        </p:nvGrpSpPr>
        <p:grpSpPr>
          <a:xfrm>
            <a:off x="527685" y="1524000"/>
            <a:ext cx="5415915" cy="2877027"/>
            <a:chOff x="527685" y="1524000"/>
            <a:chExt cx="5415915" cy="287702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0862" y="1655445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n(i,j)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00125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44776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86786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2784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6985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2107" y="2085022"/>
              <a:ext cx="4046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i=1 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0498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699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78900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3006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11115" y="1964055"/>
              <a:ext cx="82296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7207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7508" y="2515552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i=2 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4699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28048" y="2393632"/>
              <a:ext cx="82296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8900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006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7207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7508" y="2946082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i=3 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8900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3006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7207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7508" y="3375660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i=4 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3006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47207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7508" y="3806190"/>
              <a:ext cx="393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i=5 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472074" y="3806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5410200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730692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257175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41376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255770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096828" y="152400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685" y="4180999"/>
              <a:ext cx="1973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 j = 1~5 对应字符 A b 3 b d</a:t>
              </a:r>
            </a:p>
          </p:txBody>
        </p:sp>
      </p:grpSp>
      <p:grpSp>
        <p:nvGrpSpPr>
          <p:cNvPr id="56" name="c1-callout-2"/>
          <p:cNvGrpSpPr/>
          <p:nvPr/>
        </p:nvGrpSpPr>
        <p:grpSpPr>
          <a:xfrm>
            <a:off x="533400" y="4541520"/>
            <a:ext cx="5410200" cy="518160"/>
            <a:chOff x="533400" y="4541520"/>
            <a:chExt cx="5410200" cy="518160"/>
          </a:xfrm>
        </p:grpSpPr>
        <p:sp>
          <p:nvSpPr>
            <p:cNvPr id="50" name="Rectangle 50"/>
            <p:cNvSpPr/>
            <p:nvPr/>
          </p:nvSpPr>
          <p:spPr>
            <a:xfrm>
              <a:off x="533400" y="4541520"/>
              <a:ext cx="5410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4700588"/>
              <a:ext cx="200026" cy="200026"/>
              <a:chOff x="738188" y="4700588"/>
              <a:chExt cx="200026" cy="200026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47005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47672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27088" y="48006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4701064"/>
              <a:ext cx="48108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n(2,4) = 0：C₂ = C₄ = b，中间只剩 3，本身就是回文。</a:t>
              </a:r>
            </a:p>
          </p:txBody>
        </p:sp>
      </p:grpSp>
      <p:grpSp>
        <p:nvGrpSpPr>
          <p:cNvPr id="60" name="c1-card-3"/>
          <p:cNvGrpSpPr/>
          <p:nvPr/>
        </p:nvGrpSpPr>
        <p:grpSpPr>
          <a:xfrm>
            <a:off x="533400" y="5245418"/>
            <a:ext cx="5410200" cy="924878"/>
            <a:chOff x="533400" y="5245418"/>
            <a:chExt cx="5410200" cy="924878"/>
          </a:xfrm>
        </p:grpSpPr>
        <p:sp>
          <p:nvSpPr>
            <p:cNvPr id="57" name="Rectangle 57"/>
            <p:cNvSpPr/>
            <p:nvPr/>
          </p:nvSpPr>
          <p:spPr>
            <a:xfrm>
              <a:off x="533400" y="5245418"/>
              <a:ext cx="5410200" cy="924878"/>
            </a:xfrm>
            <a:prstGeom prst="roundRect">
              <a:avLst>
                <a:gd name="adj" fmla="val 144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42925" y="5378768"/>
              <a:ext cx="47625" cy="6581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68096" y="5472589"/>
              <a:ext cx="46221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脚本对 300 个长度 ≤ 7 的随机串，与“枚举所有更长的回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文、检查是否含原串为子序列”的暴力法对拍，全部相同。</a:t>
              </a:r>
            </a:p>
          </p:txBody>
        </p:sp>
      </p:grpSp>
      <p:grpSp>
        <p:nvGrpSpPr>
          <p:cNvPr id="82" name="c2-steps-1"/>
          <p:cNvGrpSpPr/>
          <p:nvPr/>
        </p:nvGrpSpPr>
        <p:grpSpPr>
          <a:xfrm>
            <a:off x="6248400" y="1533525"/>
            <a:ext cx="5126736" cy="3473196"/>
            <a:chOff x="6248400" y="1533525"/>
            <a:chExt cx="5126736" cy="3473196"/>
          </a:xfrm>
        </p:grpSpPr>
        <p:sp>
          <p:nvSpPr>
            <p:cNvPr id="61" name="Rectangle 61"/>
            <p:cNvSpPr/>
            <p:nvPr/>
          </p:nvSpPr>
          <p:spPr>
            <a:xfrm>
              <a:off x="6381750" y="1676400"/>
              <a:ext cx="19050" cy="27041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4840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4202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24840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4202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248400" y="36166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4202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248400" y="423767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42024" y="4311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60261" y="1566386"/>
              <a:ext cx="5062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61404" y="1846898"/>
              <a:ext cx="208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四对相邻字符都不同，各为 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60261" y="2187416"/>
              <a:ext cx="5062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2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61404" y="2467927"/>
              <a:ext cx="46888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n(1,3) = min{1, 1} + 1 = 2；n(2,4) = n(3,3) = 0；n(3,5) = 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60261" y="2808446"/>
              <a:ext cx="5062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61404" y="3088957"/>
              <a:ext cx="4683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n(1,4) = min{n(2,4), n(1,3)} + 1 = 1；n(2,5) = min{2, 0} + 1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60261" y="3650456"/>
              <a:ext cx="5062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61404" y="3930968"/>
              <a:ext cx="3455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≠ d，n(1,5) = min{n(2,5), n(1,4)} + 1 = 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60261" y="42705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61404" y="4551045"/>
              <a:ext cx="47137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n(2,5)：尾部补 A；b ≠ d 取 n(2,4)：b 前补 d；b = b 同时去掉。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A d b 3 b d A</a:t>
              </a:r>
            </a:p>
          </p:txBody>
        </p:sp>
      </p:grpSp>
      <p:grpSp>
        <p:nvGrpSpPr>
          <p:cNvPr id="89" name="c2-callout-2"/>
          <p:cNvGrpSpPr/>
          <p:nvPr/>
        </p:nvGrpSpPr>
        <p:grpSpPr>
          <a:xfrm>
            <a:off x="6248400" y="5183505"/>
            <a:ext cx="5410200" cy="987742"/>
            <a:chOff x="6248400" y="5183505"/>
            <a:chExt cx="5410200" cy="987742"/>
          </a:xfrm>
        </p:grpSpPr>
        <p:sp>
          <p:nvSpPr>
            <p:cNvPr id="83" name="Rectangle 83"/>
            <p:cNvSpPr/>
            <p:nvPr/>
          </p:nvSpPr>
          <p:spPr>
            <a:xfrm>
              <a:off x="6248400" y="5183505"/>
              <a:ext cx="5410200" cy="987742"/>
            </a:xfrm>
            <a:prstGeom prst="roundRect">
              <a:avLst>
                <a:gd name="adj" fmla="val 1157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453188" y="5576888"/>
              <a:ext cx="200026" cy="200025"/>
              <a:chOff x="6453188" y="5576888"/>
              <a:chExt cx="200026" cy="200025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453188" y="55768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492926" y="56213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527642" y="57324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755511" y="5445919"/>
              <a:ext cx="450494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两个候选相等时任取一个。取 n(1,4) 一侧就得到原讲解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的另一个答案 dAb3bAd。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4768" cy="909257"/>
            <a:chOff x="520446" y="342900"/>
            <a:chExt cx="76647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三个递推式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47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题9：第 i 枚要么不选，要么选它并跳过第 i − 1 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71638"/>
            <a:chOff x="533400" y="1524000"/>
            <a:chExt cx="5410200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534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630" y="175069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第9题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804029" cy="495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选出位置互不相邻的硬币，使总额 F(n) 最大：递推式、算法、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620804"/>
              <a:ext cx="46626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思路：看最后一枚。不选它，前 n − 1 枚任意选；选它，第 n − 1 枚就不能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选，前 n − 2 枚任意选。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42"/>
              <p:cNvSpPr txBox="1">
                <a:spLocks noGrp="1"/>
              </p:cNvSpPr>
              <p:nvPr/>
            </p:nvSpPr>
            <p:spPr>
              <a:xfrm>
                <a:off x="533400" y="3370898"/>
                <a:ext cx="54102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sepChr m:val=""/>
                              <m:endChr m:val="}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≤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rd-3"/>
          <p:cNvGrpSpPr/>
          <p:nvPr/>
        </p:nvGrpSpPr>
        <p:grpSpPr>
          <a:xfrm>
            <a:off x="533400" y="3831908"/>
            <a:ext cx="5410200" cy="2402205"/>
            <a:chOff x="533400" y="3831908"/>
            <a:chExt cx="5410200" cy="2402205"/>
          </a:xfrm>
        </p:grpSpPr>
        <p:sp>
          <p:nvSpPr>
            <p:cNvPr id="15" name="Rectangle 15"/>
            <p:cNvSpPr/>
            <p:nvPr/>
          </p:nvSpPr>
          <p:spPr>
            <a:xfrm>
              <a:off x="533400" y="3831908"/>
              <a:ext cx="5410200" cy="2402205"/>
            </a:xfrm>
            <a:prstGeom prst="roundRect">
              <a:avLst>
                <a:gd name="adj" fmla="val 55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65258"/>
              <a:ext cx="47625" cy="21355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02431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5342" y="4058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正确性与复杂度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72478" y="443674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497" y="438054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两种情况覆盖了所有合法选法，各自剩下的部分也必须最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优，满足最优子结构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72478" y="499681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8497" y="4940618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从前往后算，每步 O(1)：Θ(n) 时间；只求值时保留最近两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项即可 O(1) 空间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524000"/>
            <a:ext cx="5410200" cy="3068955"/>
            <a:chOff x="6248400" y="1524000"/>
            <a:chExt cx="5410200" cy="306895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3068955"/>
            </a:xfrm>
            <a:prstGeom prst="roundRect">
              <a:avLst>
                <a:gd name="adj" fmla="val 310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1675924"/>
              <a:ext cx="932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COINROW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988" y="1935194"/>
              <a:ext cx="2959989" cy="25736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COINROW(C, n)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integer F(0:n), j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F(0) ← 0; F(1) ← C(1)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j ← 2 to n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F(j−1) &gt; C(j) + F(j−2) then F(j) ← F(j−1)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F(j) ← C(j) + F(j−2)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j ← n   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回溯求决策序列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j ≥ 1 do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j = 1 or C(j) + F(j−2) ≥ F(j−1) then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print(j); j ← j − 2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选第 j 枚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j ← j − 1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不选第 j 枚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repeat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COINROW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248400" y="4768215"/>
            <a:ext cx="5410200" cy="1466850"/>
            <a:chOff x="6248400" y="4768215"/>
            <a:chExt cx="5410200" cy="1466850"/>
          </a:xfrm>
        </p:grpSpPr>
        <p:sp>
          <p:nvSpPr>
            <p:cNvPr id="28" name="Rectangle 28"/>
            <p:cNvSpPr/>
            <p:nvPr/>
          </p:nvSpPr>
          <p:spPr>
            <a:xfrm>
              <a:off x="6248400" y="4768215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490156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8905" y="49606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70345" y="49949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72047" y="5316855"/>
              <a:ext cx="46857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原讲解的过程名沿用了 KNAPSACK02，又把 F 声明成 F(n)、j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声明成 real。这里改名 COINROW，用 F(0:n) 和整数 j，并补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写回溯：填表时第 j 枚被选，回溯时就输出 j 并跳过 j − 1。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907916" cy="909257"/>
            <a:chOff x="520446" y="342900"/>
            <a:chExt cx="1090791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 · 三个递推式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907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题9 执行过程：(5, 1, 2, 10, 6, 2) 的最大币值 17，选第 1、4、6 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6" name="c1-table-1"/>
          <p:cNvGrpSpPr/>
          <p:nvPr/>
        </p:nvGrpSpPr>
        <p:grpSpPr>
          <a:xfrm>
            <a:off x="528447" y="1524000"/>
            <a:ext cx="6280975" cy="2933414"/>
            <a:chOff x="528447" y="1524000"/>
            <a:chExt cx="6280975" cy="29334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2993" y="1641157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8011" y="1641157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35589" y="1641157"/>
              <a:ext cx="476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F(i−1)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30618" y="1641157"/>
              <a:ext cx="812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cᵢ + F(i−2)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67455" y="1641157"/>
              <a:ext cx="308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F(i)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15597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本格决策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444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6076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2946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–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9247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7738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27623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282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286952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4441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6076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2946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52180" y="2404110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+ 0 =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7738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5694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26631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4441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60769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2946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52180" y="2785110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+ 5 = 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7738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27623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045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04990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4441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621898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29462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74437" y="3167062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+ 5 = 15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38515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27623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426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64441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60769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90590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613309" y="3548062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+ 7 = 13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38515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56948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8071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381190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4441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660769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590590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574437" y="3930015"/>
              <a:ext cx="724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+ 15 = 17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655820" y="3821430"/>
              <a:ext cx="93249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038515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27623" y="3930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524000"/>
              <a:ext cx="6276022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28397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11645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22135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641532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593080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8447" y="4266724"/>
              <a:ext cx="60164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与原讲解 F(0)~F(6) = 0, 5, 5, 7, 15, 15, 17 一致；第 3 格是“选”，但回溯从 4 跳到 2，没经过它</a:t>
              </a:r>
            </a:p>
          </p:txBody>
        </p:sp>
      </p:grpSp>
      <p:grpSp>
        <p:nvGrpSpPr>
          <p:cNvPr id="80" name="c1-steps-2"/>
          <p:cNvGrpSpPr/>
          <p:nvPr/>
        </p:nvGrpSpPr>
        <p:grpSpPr>
          <a:xfrm>
            <a:off x="533400" y="4593908"/>
            <a:ext cx="4665364" cy="1596009"/>
            <a:chOff x="533400" y="4593908"/>
            <a:chExt cx="4665364" cy="1596009"/>
          </a:xfrm>
        </p:grpSpPr>
        <p:sp>
          <p:nvSpPr>
            <p:cNvPr id="67" name="Rectangle 67"/>
            <p:cNvSpPr/>
            <p:nvPr/>
          </p:nvSpPr>
          <p:spPr>
            <a:xfrm>
              <a:off x="666750" y="4736782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533400" y="4593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7024" y="4667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33400" y="514635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7024" y="5220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33400" y="56997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27024" y="57735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46023" y="4623911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7166" y="4878705"/>
              <a:ext cx="29175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F(4) = 17 ≥ F(5) = 15，选 6，跳到 j = 4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6023" y="517731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47166" y="5432108"/>
              <a:ext cx="29175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+ F(2) = 15 ≥ F(3) = 7，选 4，跳到 j = 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46023" y="5729764"/>
              <a:ext cx="6466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2、1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47166" y="5984558"/>
              <a:ext cx="4251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F(0) = 1 &lt; F(1) = 5，不选 2；j = 1 选 1。决策序列 (1, 4, 6)</a:t>
              </a:r>
            </a:p>
          </p:txBody>
        </p:sp>
      </p:grpSp>
      <p:grpSp>
        <p:nvGrpSpPr>
          <p:cNvPr id="83" name="c2-image-1"/>
          <p:cNvGrpSpPr/>
          <p:nvPr/>
        </p:nvGrpSpPr>
        <p:grpSpPr>
          <a:xfrm>
            <a:off x="7868602" y="1524000"/>
            <a:ext cx="3034665" cy="2559081"/>
            <a:chOff x="7868602" y="1524000"/>
            <a:chExt cx="3034665" cy="2559081"/>
          </a:xfrm>
        </p:grpSpPr>
        <p:pic>
          <p:nvPicPr>
            <p:cNvPr id="81" name="Image 81"/>
            <p:cNvPicPr>
              <a:picLocks noChangeAspect="1"/>
            </p:cNvPicPr>
            <p:nvPr/>
          </p:nvPicPr>
          <p:blipFill>
            <a:blip r:embed="rId2"/>
            <a:srcRect l="5565" t="0" r="5565" b="0"/>
            <a:stretch>
              <a:fillRect/>
            </a:stretch>
          </p:blipFill>
          <p:spPr>
            <a:xfrm>
              <a:off x="7868602" y="1524000"/>
              <a:ext cx="3034665" cy="2276475"/>
            </a:xfrm>
            <a:prstGeom prst="roundRect">
              <a:avLst>
                <a:gd name="adj" fmla="val 5857"/>
              </a:avLst>
            </a:prstGeom>
          </p:spPr>
        </p:pic>
        <p:sp>
          <p:nvSpPr>
            <p:cNvPr id="82" name="TextBox 82"/>
            <p:cNvSpPr txBox="1"/>
            <p:nvPr/>
          </p:nvSpPr>
          <p:spPr>
            <a:xfrm>
              <a:off x="8269492" y="3892391"/>
              <a:ext cx="22328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选了第 4 枚，第 3、5 枚就都不能再选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7114222" y="4229100"/>
            <a:ext cx="4544378" cy="1143952"/>
            <a:chOff x="7114222" y="4229100"/>
            <a:chExt cx="4544378" cy="1143952"/>
          </a:xfrm>
        </p:grpSpPr>
        <p:sp>
          <p:nvSpPr>
            <p:cNvPr id="84" name="Rectangle 84"/>
            <p:cNvSpPr/>
            <p:nvPr/>
          </p:nvSpPr>
          <p:spPr>
            <a:xfrm>
              <a:off x="7114222" y="4229100"/>
              <a:ext cx="454437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7123748" y="43624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333298" y="44100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417867" y="44429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贪心会错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326820" y="4749641"/>
              <a:ext cx="38087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每次拿最大且不相邻的那枚：本例碰巧得 17；对 (3,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3) 先拿 4，只得 4，最优是 3 + 3 = 6。</a:t>
              </a:r>
            </a:p>
          </p:txBody>
        </p:sp>
      </p:grpSp>
      <p:grpSp>
        <p:nvGrpSpPr>
          <p:cNvPr id="93" name="c2-card-3"/>
          <p:cNvGrpSpPr/>
          <p:nvPr/>
        </p:nvGrpSpPr>
        <p:grpSpPr>
          <a:xfrm>
            <a:off x="7114222" y="5537835"/>
            <a:ext cx="4544378" cy="824865"/>
            <a:chOff x="7114222" y="5537835"/>
            <a:chExt cx="4544378" cy="824865"/>
          </a:xfrm>
        </p:grpSpPr>
        <p:sp>
          <p:nvSpPr>
            <p:cNvPr id="90" name="Rectangle 90"/>
            <p:cNvSpPr/>
            <p:nvPr/>
          </p:nvSpPr>
          <p:spPr>
            <a:xfrm>
              <a:off x="7114222" y="5537835"/>
              <a:ext cx="4544378" cy="824865"/>
            </a:xfrm>
            <a:prstGeom prst="roundRect">
              <a:avLst>
                <a:gd name="adj" fmla="val 161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7123748" y="5671185"/>
              <a:ext cx="47625" cy="5581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326820" y="5739289"/>
              <a:ext cx="38493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脚本枚举 6 枚硬币的全部 64 种选法，(1, 4, 6) 是唯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一的最优选法；另有 500 组随机数据与暴力法对拍。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自测：换一组数据再做一遍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65885"/>
            <a:chOff x="533400" y="1524000"/>
            <a:chExt cx="5410200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570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面值 (1, 5, 6, 9) 凑 11 至少几枚？贪心得几枚？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387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F(11) = 2（5 + 6）；贪心 9 + 1 + 1 要 3 枚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080385"/>
            <a:ext cx="5410200" cy="1365885"/>
            <a:chOff x="533400" y="3080385"/>
            <a:chExt cx="5410200" cy="1365885"/>
          </a:xfrm>
        </p:grpSpPr>
        <p:sp>
          <p:nvSpPr>
            <p:cNvPr id="13" name="Rectangle 13"/>
            <p:cNvSpPr/>
            <p:nvPr/>
          </p:nvSpPr>
          <p:spPr>
            <a:xfrm>
              <a:off x="533400" y="3080385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289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325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3667125"/>
              <a:ext cx="41028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硬币行 (2, 7, 9, 3, 1) 的最大币值与选法？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002405"/>
              <a:ext cx="4798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= 2, 7, 11, 11, 12，选第 1、3、5 枚，共 12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636770"/>
            <a:ext cx="5410200" cy="1651635"/>
            <a:chOff x="533400" y="4636770"/>
            <a:chExt cx="5410200" cy="1651635"/>
          </a:xfrm>
        </p:grpSpPr>
        <p:sp>
          <p:nvSpPr>
            <p:cNvPr id="19" name="Rectangle 19"/>
            <p:cNvSpPr/>
            <p:nvPr/>
          </p:nvSpPr>
          <p:spPr>
            <a:xfrm>
              <a:off x="533400" y="463677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" y="48463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0437" y="48820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30" y="5223510"/>
              <a:ext cx="36065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的背包容量改为 9，最优解是什么？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330" y="5558790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 f₄(9) = 16，对应序偶 (16,9)，x = (2, 0, 0,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365885"/>
            <a:chOff x="6248400" y="1524000"/>
            <a:chExt cx="5410200" cy="136588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2110740"/>
              <a:ext cx="40200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 google 至少插入几个字符成为回文？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2446020"/>
              <a:ext cx="4609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个，例如 elgoogle（g 与 g、o 与 o 已配对）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080385"/>
            <a:ext cx="5410200" cy="1365885"/>
            <a:chOff x="6248400" y="3080385"/>
            <a:chExt cx="5410200" cy="1365885"/>
          </a:xfrm>
        </p:grpSpPr>
        <p:sp>
          <p:nvSpPr>
            <p:cNvPr id="31" name="Rectangle 31"/>
            <p:cNvSpPr/>
            <p:nvPr/>
          </p:nvSpPr>
          <p:spPr>
            <a:xfrm>
              <a:off x="6248400" y="3080385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57950" y="3289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45437" y="3325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50330" y="3667125"/>
              <a:ext cx="4752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中把 c(1,2) 改成 12，最小成本路径变成什么？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50330" y="4002405"/>
              <a:ext cx="414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4 → 6 → 8，成本 17（原路径变成 18）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636770"/>
            <a:ext cx="5410200" cy="1651635"/>
            <a:chOff x="6248400" y="4636770"/>
            <a:chExt cx="5410200" cy="1651635"/>
          </a:xfrm>
        </p:grpSpPr>
        <p:sp>
          <p:nvSpPr>
            <p:cNvPr id="37" name="Rectangle 37"/>
            <p:cNvSpPr/>
            <p:nvPr/>
          </p:nvSpPr>
          <p:spPr>
            <a:xfrm>
              <a:off x="6248400" y="463677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57950" y="48463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45437" y="48820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0330" y="5223510"/>
              <a:ext cx="37424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OBST 为什么要按 m = j − i 从小到大算？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50330" y="5558790"/>
              <a:ext cx="4758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C(i,j) 用到的 C(i,k−1)、C(k,j) 都是更短的区间，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必须先算好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第6章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小结：9 题的结论、方法与更正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33400" y="1524000"/>
            <a:ext cx="6059805" cy="4301490"/>
            <a:chOff x="533400" y="1524000"/>
            <a:chExt cx="6059805" cy="43014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8467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74570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0004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方法要点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3569" y="208502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最优性原理不总成立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71544" y="2085022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乘积含负权、负长度环都会失效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3569" y="2515552"/>
              <a:ext cx="2161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COST(1) = 15，1 → 2 → 5 → 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71544" y="2515552"/>
              <a:ext cx="17727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从汇点往回算，D 记后继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3569" y="2946082"/>
              <a:ext cx="2090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pᵢ = wᵢ = 2ⁱ⁻¹，M ≥ 2ⁿ − 1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71544" y="294608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不重复、不支配、不超重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27748" y="3253740"/>
              <a:ext cx="2828925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23569" y="3375660"/>
              <a:ext cx="1942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(2, 0, 1, 1)，效益 24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71544" y="3375660"/>
              <a:ext cx="1934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每种三选一，序偶多一组 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6699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3569" y="3806190"/>
              <a:ext cx="1968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C(0,4) = 39/20，根 goto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71544" y="3806190"/>
              <a:ext cx="15665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m 递增填 W、C、R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100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10527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8746" y="4235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3569" y="4235768"/>
              <a:ext cx="50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71544" y="4235768"/>
              <a:ext cx="1718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m 后 R 项逐项相消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530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8746" y="46662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3569" y="4666298"/>
              <a:ext cx="2010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min{F(x − dⱼ)} + 1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71544" y="4666298"/>
              <a:ext cx="164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只取 dⱼ ≤ x；贪心会错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9606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965382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8746" y="509682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3569" y="5096828"/>
              <a:ext cx="1182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Ab3bd 插入 2 个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71544" y="509682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首尾相同去掉，不同补一端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3901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8746" y="55264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3569" y="5526405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17，选 (1, 4, 6)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71544" y="5526405"/>
              <a:ext cx="1498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选第 i 枚就跳过 i − 1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6059805" cy="43014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3460" y="152400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861435" y="1524000"/>
              <a:ext cx="9525" cy="43014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rd-1"/>
          <p:cNvGrpSpPr/>
          <p:nvPr/>
        </p:nvGrpSpPr>
        <p:grpSpPr>
          <a:xfrm>
            <a:off x="6898005" y="1524000"/>
            <a:ext cx="4760595" cy="2506028"/>
            <a:chOff x="6898005" y="1524000"/>
            <a:chExt cx="4760595" cy="2506028"/>
          </a:xfrm>
        </p:grpSpPr>
        <p:sp>
          <p:nvSpPr>
            <p:cNvPr id="55" name="Rectangle 55"/>
            <p:cNvSpPr/>
            <p:nvPr/>
          </p:nvSpPr>
          <p:spPr>
            <a:xfrm>
              <a:off x="6898005" y="1524000"/>
              <a:ext cx="4760595" cy="2506028"/>
            </a:xfrm>
            <a:prstGeom prst="roundRect">
              <a:avLst>
                <a:gd name="adj" fmla="val 53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07530" y="1657350"/>
              <a:ext cx="47625" cy="22393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3994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21296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39940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98285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29881" y="2100739"/>
              <a:ext cx="38196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题4：S³、S⁴ 漏了序偶 (8,5)，最优解与效益不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受影响；递推式补边界 f₀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39940" y="268033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98285" y="27197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29881" y="2692241"/>
              <a:ext cx="37256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题6：题面区间上界 R(i−1,j) 应为 R(i+1,j)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39940" y="300037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98285" y="30397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29881" y="3012281"/>
              <a:ext cx="22414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题7：递推式要限定 dⱼ ≤ x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139940" y="3320415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98285" y="335980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429881" y="3332321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题9：过程名 KNAPSACK02 改为 COINROW，F 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F(0:n)，补写回溯</a:t>
              </a:r>
            </a:p>
          </p:txBody>
        </p:sp>
      </p:grpSp>
      <p:grpSp>
        <p:nvGrpSpPr>
          <p:cNvPr id="82" name="c2-card-2"/>
          <p:cNvGrpSpPr/>
          <p:nvPr/>
        </p:nvGrpSpPr>
        <p:grpSpPr>
          <a:xfrm>
            <a:off x="6898005" y="4215765"/>
            <a:ext cx="4760595" cy="1914525"/>
            <a:chOff x="6898005" y="4215765"/>
            <a:chExt cx="4760595" cy="1914525"/>
          </a:xfrm>
        </p:grpSpPr>
        <p:sp>
          <p:nvSpPr>
            <p:cNvPr id="72" name="Rectangle 72"/>
            <p:cNvSpPr/>
            <p:nvPr/>
          </p:nvSpPr>
          <p:spPr>
            <a:xfrm>
              <a:off x="6898005" y="4215765"/>
              <a:ext cx="4760595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6907530" y="4349115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39940" y="44196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230148" y="44553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147560" y="485298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304151" y="4792504"/>
              <a:ext cx="41626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补可计算的反例；题3 补容量条件与归纳证明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7147560" y="5173027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304151" y="5112544"/>
              <a:ext cx="38467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补每格候选值与成本核对；题7、8 补算法和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填表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7147560" y="57645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304151" y="5704046"/>
              <a:ext cx="41626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补试根次数实测；题9 补回溯过程与贪心反例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556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第6章 动态规划 作业讲解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hw6">
  <a:themeElements>
    <a:clrScheme name="algo_hw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hw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hw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2026-09-23T10:16:15Z</dcterms:created>
  <dcterms:modified xsi:type="dcterms:W3CDTF">2026-09-23T10:16:15Z</dcterms:modified>
  <cp:category/>
  <cp:contentStatus/>
</cp:coreProperties>
</file>