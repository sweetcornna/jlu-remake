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lgo_hw7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lgo_hw7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32923c9dee02d56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7ef737475b5faee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a1fb6849098e9e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8274" y="1619250"/>
            <a:ext cx="6219057" cy="3352038"/>
            <a:chOff x="668274" y="1619250"/>
            <a:chExt cx="6219057" cy="335203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836545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76345" y="1718310"/>
              <a:ext cx="2655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算法设计与分析 · 第7、8章作业讲解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8274" y="2403158"/>
              <a:ext cx="621905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回溯法与分支限界法 作业讲解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06133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381375"/>
              <a:ext cx="55552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道题：画状态空间树、写限界函数、手工执行搜索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89096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835718"/>
              <a:ext cx="22127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思想与效率估计（题1、2）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18147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26230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子集和与 15 谜（题3、4）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4719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16742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作业调度分支限界（题5）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7625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07255"/>
              <a:ext cx="23944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分配问题与最大团（题6、7）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93291" cy="205359"/>
            <a:chOff x="680466" y="6192202"/>
            <a:chExt cx="4993291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932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自学复习版｜据吉林大学《算法设计与分析》第7、8章作业讲解整理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本次作业讲解路线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解题前的准备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 题总览，本章术语，四种问法各要写出什么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基本思想与效率估计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760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题1 两种方法的状态空间生成方式，题2 6 皇后的蒙特卡罗估计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459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子集和数与 15 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061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题3 限界函数与剪枝后的树，题4 判定定理与 LC 检索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带期限的作业调度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244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题5 静态树、ĉ 与 u 的定义、FIFOBB 与 LCBB 的动态树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建模并设计算法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题6 分配问题，题7 最大团的两种元组表示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4075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道自测题，7 题结论表，原讲解的更正汇总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写出问题的元组表示、显式约束和隐式约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束，画出静态状态空间树并按要求编号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写出限界函数或 ĉ、u，说清它为什么是下界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或上界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529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手工执行回溯、FIFOBB、LCBB，逐步写出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E-结点、B 值或 ĉ 以及 U 的变化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用蒙特卡罗方法估计回溯法实际生成的结点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57592" cy="909257"/>
            <a:chOff x="520446" y="342900"/>
            <a:chExt cx="92575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575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题总览：一道概念题，两道计数与判定，四道要画树跑搜索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33400" y="1524000"/>
            <a:ext cx="11125200" cy="3590925"/>
            <a:chOff x="533400" y="1524000"/>
            <a:chExt cx="11125200" cy="35909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414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2446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5058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0534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关键答案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054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8925" y="21083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回溯法与分支限界法的状态空间生成方式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14188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概念对比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61161" y="2108359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一个儿子就深入 / 一次生成全部儿子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054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8925" y="2556986"/>
              <a:ext cx="274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皇后（行列各不相同）的效率估计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14188" y="2556986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计数 + 蒙特卡罗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61161" y="2556986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静态树 1957，估计 205，约 10.5%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054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8925" y="3005614"/>
              <a:ext cx="35435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 n = 4，W = (2, 5, 3, 10)，M = 15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14188" y="30056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 + 限界函数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61161" y="3005614"/>
              <a:ext cx="35195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满树 31 个结点，剪后 19 个，答案结点 8、27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054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08925" y="3454241"/>
              <a:ext cx="2576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谜：能否到达目标，LC 检索树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14188" y="3454241"/>
              <a:ext cx="1511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判定定理 + LC 检索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61161" y="3454241"/>
              <a:ext cx="25132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ΣLESS = 22，X = 0，可达；4 步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054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08925" y="3903821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带期限的作业调度 n = 5，罚款最小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4188" y="3903821"/>
              <a:ext cx="12867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FIFOBB 与 LCBB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1161" y="3903821"/>
              <a:ext cx="325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静态树 32 个结点；都生成 23 个，罚款 10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054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308925" y="4352449"/>
              <a:ext cx="2175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分配问题 n = 4，总费用最小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14188" y="4352449"/>
              <a:ext cx="1511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 + LC 分支限界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62862" y="4226242"/>
              <a:ext cx="398621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761161" y="4352449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解空间树 65 个结点；最优 13，(2, 1, 3, 4)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6605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1054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08925" y="480107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314188" y="4801076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回溯（判定）/ 分支限界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62862" y="4674870"/>
              <a:ext cx="3986212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761161" y="4801076"/>
              <a:ext cx="3447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C(5,3) = 10 片叶子；例图最大团 {1, 2, 5}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1112520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19634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201602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64857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6" name="Rectangle 5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728335"/>
              <a:ext cx="10026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题6(3)、题7(3) 原讲解只给了设计思路，本讲义补上了伪代码和完整的执行过程；题7 原题没有给出具体的图，执行过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程用补充的 5 顶点例图。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回顾：一个结点是活是死，看它的儿子和它的界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kv-1"/>
          <p:cNvGrpSpPr/>
          <p:nvPr/>
        </p:nvGrpSpPr>
        <p:grpSpPr>
          <a:xfrm>
            <a:off x="526161" y="1547336"/>
            <a:ext cx="6067044" cy="3077147"/>
            <a:chOff x="526161" y="1547336"/>
            <a:chExt cx="6067044" cy="3077147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活结点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92974" y="154733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已经生成、但儿子还没全部生成的结点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5356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161" y="1969294"/>
              <a:ext cx="6300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92974" y="196929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当前正在生成儿子的活结点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745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161" y="239125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死结点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92974" y="239125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被剪掉，或者儿子已经全部生成的结点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965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161" y="2812256"/>
              <a:ext cx="9593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约束函数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92974" y="2812256"/>
              <a:ext cx="45229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部分解违反隐式约束时为假，这个结点被剪掉（图中画成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方形）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861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3501866"/>
              <a:ext cx="468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ĉ(X)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92974" y="3501866"/>
              <a:ext cx="4394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子树中答案成本的下界估计，常写成 f(X) + ĝ(X)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8080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3923824"/>
              <a:ext cx="468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u(X)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92974" y="3923824"/>
              <a:ext cx="2097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子树中答案成本的上界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2291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6161" y="4345781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92974" y="434578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目前已经找到的可行解的最小成本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752975"/>
            <a:ext cx="6059805" cy="1280160"/>
            <a:chOff x="533400" y="4752975"/>
            <a:chExt cx="6059805" cy="1280160"/>
          </a:xfrm>
        </p:grpSpPr>
        <p:sp>
          <p:nvSpPr>
            <p:cNvPr id="28" name="Rectangle 28"/>
            <p:cNvSpPr/>
            <p:nvPr/>
          </p:nvSpPr>
          <p:spPr>
            <a:xfrm>
              <a:off x="533400" y="4752975"/>
              <a:ext cx="6059805" cy="1280160"/>
            </a:xfrm>
            <a:prstGeom prst="roundRect">
              <a:avLst>
                <a:gd name="adj" fmla="val 89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93045"/>
              <a:ext cx="200023" cy="200023"/>
              <a:chOff x="738188" y="5293045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2930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5359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5293519"/>
              <a:ext cx="53038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最小化问题里 ĉ(X) ≥ U 的结点不会给出更好的解，可以舍弃。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898005" y="1524000"/>
            <a:ext cx="4760595" cy="1865948"/>
            <a:chOff x="6898005" y="1524000"/>
            <a:chExt cx="4760595" cy="1865948"/>
          </a:xfrm>
        </p:grpSpPr>
        <p:sp>
          <p:nvSpPr>
            <p:cNvPr id="34" name="Rectangle 34"/>
            <p:cNvSpPr/>
            <p:nvPr/>
          </p:nvSpPr>
          <p:spPr>
            <a:xfrm>
              <a:off x="6898005" y="1524000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1657350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39940" y="172783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26198" y="176355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两种树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47560" y="21612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4151" y="210073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静态树：只由问题规模和元组表示决定，与实例数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据无关（题2、3、5、6、7 的第(1)(2)问）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47560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04151" y="269224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动态树：搜索时实际生成的结点，由实例和剪枝决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定（题3(3)、题5(3)）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898005" y="3575685"/>
            <a:ext cx="4760595" cy="2457450"/>
            <a:chOff x="6898005" y="3575685"/>
            <a:chExt cx="4760595" cy="2457450"/>
          </a:xfrm>
        </p:grpSpPr>
        <p:sp>
          <p:nvSpPr>
            <p:cNvPr id="43" name="Rectangle 43"/>
            <p:cNvSpPr/>
            <p:nvPr/>
          </p:nvSpPr>
          <p:spPr>
            <a:xfrm>
              <a:off x="6898005" y="3575685"/>
              <a:ext cx="4760595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3709035"/>
              <a:ext cx="47625" cy="21907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39940" y="377952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17346" y="38152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编号与元组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147560" y="421290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304151" y="4152424"/>
              <a:ext cx="36934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深度优先编号：先序遍历次序（题3、题7 方法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一）；层次编号：逐层从左到右（题5、题6）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47560" y="4804410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304151" y="4743926"/>
              <a:ext cx="378358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定长 n-元组：xᵢ ∈ {0, 1} 表示选不选第 i 个元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47560" y="539591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04151" y="5335429"/>
              <a:ext cx="373849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不定长元组：xᵢ 是选中元素的编号，规定 x₁ &lt;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&lt; …，同一子集只出现一次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四种问法，答案里各要写出什么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5626418" cy="2628900"/>
            <a:chOff x="533400" y="1524000"/>
            <a:chExt cx="5626418" cy="2628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084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5907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12578" y="16483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答案里必须有的内容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15407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比较两种方法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96452" y="21540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33750" y="2054066"/>
              <a:ext cx="25859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儿子怎样生成、E-结点何时更换、搜索次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307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3555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6598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画静态树、数结点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452" y="265985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2、3、5、6、7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33750" y="26598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元组表示，每层结点数，编号规则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365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3065621"/>
              <a:ext cx="113405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写限界函数或 ĉ、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96452" y="3165634"/>
              <a:ext cx="795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3、5、6、7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3750" y="316563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公式，为什么是下界或上界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23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7110"/>
              <a:ext cx="5626418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556635"/>
              <a:ext cx="1443990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3412" y="377142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手工执行搜索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096452" y="3771424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3、4、5、6、7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33750" y="3671411"/>
              <a:ext cx="2607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每一步的 E-结点、儿子的 B 值或 ĉ、U 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变化、答案结点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626418" cy="26289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991678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228975" y="1524000"/>
              <a:ext cx="9525" cy="26289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rd-2"/>
          <p:cNvGrpSpPr/>
          <p:nvPr/>
        </p:nvGrpSpPr>
        <p:grpSpPr>
          <a:xfrm>
            <a:off x="533400" y="4328160"/>
            <a:ext cx="5626418" cy="1799272"/>
            <a:chOff x="533400" y="4328160"/>
            <a:chExt cx="5626418" cy="1799272"/>
          </a:xfrm>
        </p:grpSpPr>
        <p:sp>
          <p:nvSpPr>
            <p:cNvPr id="33" name="Rectangle 33"/>
            <p:cNvSpPr/>
            <p:nvPr/>
          </p:nvSpPr>
          <p:spPr>
            <a:xfrm>
              <a:off x="533400" y="4328160"/>
              <a:ext cx="5626418" cy="1799272"/>
            </a:xfrm>
            <a:prstGeom prst="roundRect">
              <a:avLst>
                <a:gd name="adj" fmla="val 7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461510"/>
              <a:ext cx="47625" cy="153257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3905" y="45205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5345" y="45548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47597" y="4560570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舍弃规则写 ≥ 还是 &gt;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4893945"/>
              <a:ext cx="493433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原讲解题5 用 ĉ(X) ≥ U 舍弃，题6、题7 写的是 ĉ(X) &gt; U。只要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对应一个已经记下的可行解，两种写法都能求出最优解，≥ 剪得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更多。本讲义统一用 ≥，题6、题7 的复核页给出两种规则下的结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点数。</a:t>
              </a:r>
            </a:p>
          </p:txBody>
        </p:sp>
      </p:grpSp>
      <p:grpSp>
        <p:nvGrpSpPr>
          <p:cNvPr id="61" name="c2-steps-1"/>
          <p:cNvGrpSpPr/>
          <p:nvPr/>
        </p:nvGrpSpPr>
        <p:grpSpPr>
          <a:xfrm>
            <a:off x="6464618" y="1533525"/>
            <a:ext cx="4431857" cy="2867502"/>
            <a:chOff x="6464618" y="1533525"/>
            <a:chExt cx="4431857" cy="2867502"/>
          </a:xfrm>
        </p:grpSpPr>
        <p:sp>
          <p:nvSpPr>
            <p:cNvPr id="40" name="Rectangle 40"/>
            <p:cNvSpPr/>
            <p:nvPr/>
          </p:nvSpPr>
          <p:spPr>
            <a:xfrm>
              <a:off x="6597968" y="1676400"/>
              <a:ext cx="19050" cy="23479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4618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8241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64618" y="270700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58241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64618" y="329469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8241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64618" y="38814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8241" y="3955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6860" y="1564957"/>
              <a:ext cx="841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E-结点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8002" y="1833086"/>
              <a:ext cx="40184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取最早进表的，LC 取 ĉ 最小的；ĉ(E) ≥ U 的直接丢掉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6860" y="2152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生成全部儿子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8002" y="2419826"/>
              <a:ext cx="3059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先用约束函数 B 判可行，不可行的画方形结点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6860" y="273939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8002" y="3006566"/>
              <a:ext cx="26286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≥ U 的儿子舍弃，其余进活结点表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6860" y="3326130"/>
              <a:ext cx="54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 U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8002" y="3593306"/>
              <a:ext cx="3431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u(X) 或叶结点成本小于 U 时更新 U，记下这个结点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6860" y="391287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8002" y="4180999"/>
              <a:ext cx="28607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活结点表为空；U 对应的结点就是答案结点</a:t>
              </a:r>
            </a:p>
          </p:txBody>
        </p:sp>
      </p:grpSp>
      <p:grpSp>
        <p:nvGrpSpPr>
          <p:cNvPr id="72" name="c2-card-2"/>
          <p:cNvGrpSpPr/>
          <p:nvPr/>
        </p:nvGrpSpPr>
        <p:grpSpPr>
          <a:xfrm>
            <a:off x="6464618" y="4569142"/>
            <a:ext cx="5193982" cy="1557338"/>
            <a:chOff x="6464618" y="4569142"/>
            <a:chExt cx="5193982" cy="1557338"/>
          </a:xfrm>
        </p:grpSpPr>
        <p:sp>
          <p:nvSpPr>
            <p:cNvPr id="62" name="Rectangle 62"/>
            <p:cNvSpPr/>
            <p:nvPr/>
          </p:nvSpPr>
          <p:spPr>
            <a:xfrm>
              <a:off x="6464618" y="4569142"/>
              <a:ext cx="519398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74142" y="4702492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95122" y="4761548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70561" y="479583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本讲义的图例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703695" y="51749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59714" y="5118735"/>
              <a:ext cx="39172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深色圆：当过 E-结点；白色圆：生成后没被扩展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03695" y="547687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59714" y="5420678"/>
              <a:ext cx="4164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灰色方形：约束函数 B 为假；红色圆：ĉ ≥ U 被舍弃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703695" y="57797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859714" y="5723573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绿色圆：答案结点；边上的数字是这一步选的值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321933" cy="3538537"/>
            <a:chOff x="667512" y="1835468"/>
            <a:chExt cx="6321933" cy="353853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基本思想与效率估计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先分清两种方法怎样生成状态空间树，再估计回溯法实际要走多少结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6082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回溯法和分支限界法的状态空间生成方式有何不同？简述两种方法的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520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94885"/>
              <a:ext cx="6054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6 皇后问题：静态状态空间树的结点总数，蒙特卡罗估计的不受限结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点数，二者之比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79302" cy="909257"/>
            <a:chOff x="520446" y="342900"/>
            <a:chExt cx="101793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基本思想与效率估计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793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题1：回溯法生成一个儿子就往下走，分支限界法一次生成全部儿子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492240" cy="1233488"/>
            <a:chOff x="533400" y="1524000"/>
            <a:chExt cx="6492240" cy="12334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1233488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67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第1题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回溯法和分支限界法的状态空间生成方式有何不同？简述两种方法的基本思想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389346"/>
              <a:ext cx="50592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思路：两种方法都从根出发、都用函数剪枝，区别在 E-结点什么时候换人。</a:t>
              </a:r>
            </a:p>
          </p:txBody>
        </p:sp>
      </p:grpSp>
      <p:grpSp>
        <p:nvGrpSpPr>
          <p:cNvPr id="44" name="c1-table-2"/>
          <p:cNvGrpSpPr/>
          <p:nvPr/>
        </p:nvGrpSpPr>
        <p:grpSpPr>
          <a:xfrm>
            <a:off x="533400" y="2932748"/>
            <a:ext cx="6492240" cy="2834640"/>
            <a:chOff x="533400" y="2932748"/>
            <a:chExt cx="6492240" cy="2834640"/>
          </a:xfrm>
        </p:grpSpPr>
        <p:sp>
          <p:nvSpPr>
            <p:cNvPr id="14" name="Rectangle 14"/>
            <p:cNvSpPr/>
            <p:nvPr/>
          </p:nvSpPr>
          <p:spPr>
            <a:xfrm>
              <a:off x="533400" y="2932748"/>
              <a:ext cx="649224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5406" y="30570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00883" y="30570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12346" y="30570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分支限界法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3412" y="35628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生成儿子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711642" y="3348038"/>
              <a:ext cx="264318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02130" y="3462814"/>
              <a:ext cx="22801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E-结点 R 每生成一个儿子 C，C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就成为新的 E-结点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372928" y="3348038"/>
              <a:ext cx="2643188" cy="5867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463415" y="3462814"/>
              <a:ext cx="23441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 E-结点一直处理到变成死结点，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儿子全部加入活结点表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3954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44302"/>
              <a:ext cx="6492240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416861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换回谁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02130" y="4068604"/>
              <a:ext cx="21592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的子树检测完，R 再次成为 E-结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点，生成下一个儿子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63415" y="4168616"/>
              <a:ext cx="20437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从活结点表中选下一个 E-结点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54533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46743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搜索次序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2130" y="46743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63415" y="4674394"/>
              <a:ext cx="20621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FIFO（按层）或 LC（ĉ 最小）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95109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955858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50801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保存什么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2130" y="5080159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只需根到当前结点的一条路径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3415" y="508015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整张活结点表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3568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548592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剪枝依据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02130" y="548592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约束函数与限界函数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63415" y="5485924"/>
              <a:ext cx="2363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约束函数，成本估计 ĉ、u 与上界 U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2932748"/>
              <a:ext cx="6492240" cy="28346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697355" y="2932748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358640" y="2932748"/>
              <a:ext cx="9525" cy="28346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image-1"/>
          <p:cNvGrpSpPr/>
          <p:nvPr/>
        </p:nvGrpSpPr>
        <p:grpSpPr>
          <a:xfrm>
            <a:off x="7580948" y="1524000"/>
            <a:ext cx="3827145" cy="2659952"/>
            <a:chOff x="7580948" y="1524000"/>
            <a:chExt cx="3827145" cy="2659952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rcRect l="16656" t="0" r="16657" b="0"/>
            <a:stretch>
              <a:fillRect/>
            </a:stretch>
          </p:blipFill>
          <p:spPr>
            <a:xfrm>
              <a:off x="7920990" y="1524000"/>
              <a:ext cx="3148012" cy="2360295"/>
            </a:xfrm>
            <a:prstGeom prst="roundRect">
              <a:avLst>
                <a:gd name="adj" fmla="val 5649"/>
              </a:avLst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7580948" y="3978593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回溯像带着绳子探洞：走进一条岔道，走完再顺绳子回到岔口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7330440" y="4336732"/>
            <a:ext cx="4328160" cy="2025968"/>
            <a:chOff x="7330440" y="4336732"/>
            <a:chExt cx="4328160" cy="2025968"/>
          </a:xfrm>
        </p:grpSpPr>
        <p:sp>
          <p:nvSpPr>
            <p:cNvPr id="48" name="Rectangle 48"/>
            <p:cNvSpPr/>
            <p:nvPr/>
          </p:nvSpPr>
          <p:spPr>
            <a:xfrm>
              <a:off x="7330440" y="4336732"/>
              <a:ext cx="4328160" cy="2025968"/>
            </a:xfrm>
            <a:prstGeom prst="roundRect">
              <a:avLst>
                <a:gd name="adj" fmla="val 658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22845" y="452913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06284" y="45634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31417" y="494157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87437" y="4885373"/>
              <a:ext cx="36141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回溯法：按深度优先搜索解空间树，判断 E-结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点是否可能含解，不可能就跳过这棵子树，逐层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退回祖先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531417" y="57588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87437" y="5702618"/>
              <a:ext cx="35112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分支限界法：生成 E-结点的全部儿子后再选新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的活结点，用限界函数和成本估计剪枝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基本思想与效率估计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题1 复核：同一棵 7 结点的树，两种方法的生成次序不同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7685" y="1542574"/>
            <a:ext cx="3177692" cy="220028"/>
            <a:chOff x="527685" y="1542574"/>
            <a:chExt cx="3177692" cy="220028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54257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回溯法：编号即生成次序，是先序（深度优先）</a:t>
              </a:r>
            </a:p>
          </p:txBody>
        </p:sp>
      </p:grpSp>
      <p:grpSp>
        <p:nvGrpSpPr>
          <p:cNvPr id="29" name="c1-graph-2"/>
          <p:cNvGrpSpPr/>
          <p:nvPr/>
        </p:nvGrpSpPr>
        <p:grpSpPr>
          <a:xfrm>
            <a:off x="1151572" y="1930718"/>
            <a:ext cx="4173856" cy="1398269"/>
            <a:chOff x="1151572" y="1930718"/>
            <a:chExt cx="4173856" cy="1398269"/>
          </a:xfrm>
        </p:grpSpPr>
        <p:sp>
          <p:nvSpPr>
            <p:cNvPr id="9" name="Freeform 9"/>
            <p:cNvSpPr/>
            <p:nvPr/>
          </p:nvSpPr>
          <p:spPr>
            <a:xfrm>
              <a:off x="2128838" y="2130742"/>
              <a:ext cx="974408" cy="438150"/>
            </a:xfrm>
            <a:custGeom>
              <a:avLst/>
              <a:gdLst/>
              <a:ahLst/>
              <a:cxnLst/>
              <a:rect l="l" t="t" r="r" b="b"/>
              <a:pathLst>
                <a:path w="974408" h="438150">
                  <a:moveTo>
                    <a:pt x="974408" y="0"/>
                  </a:moveTo>
                  <a:lnTo>
                    <a:pt x="0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06842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471488" y="0"/>
                  </a:moveTo>
                  <a:lnTo>
                    <a:pt x="0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109788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0" y="0"/>
                  </a:moveTo>
                  <a:lnTo>
                    <a:pt x="471488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73755" y="2130742"/>
              <a:ext cx="974408" cy="438150"/>
            </a:xfrm>
            <a:custGeom>
              <a:avLst/>
              <a:gdLst/>
              <a:ahLst/>
              <a:cxnLst/>
              <a:rect l="l" t="t" r="r" b="b"/>
              <a:pathLst>
                <a:path w="974408" h="438150">
                  <a:moveTo>
                    <a:pt x="0" y="0"/>
                  </a:moveTo>
                  <a:lnTo>
                    <a:pt x="974408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95725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471488" y="0"/>
                  </a:moveTo>
                  <a:lnTo>
                    <a:pt x="0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598670" y="2722245"/>
              <a:ext cx="471487" cy="375285"/>
            </a:xfrm>
            <a:custGeom>
              <a:avLst/>
              <a:gdLst/>
              <a:ahLst/>
              <a:cxnLst/>
              <a:rect l="l" t="t" r="r" b="b"/>
              <a:pathLst>
                <a:path w="471487" h="375285">
                  <a:moveTo>
                    <a:pt x="0" y="0"/>
                  </a:moveTo>
                  <a:lnTo>
                    <a:pt x="471487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99435" y="1930718"/>
              <a:ext cx="278130" cy="2781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855470" y="249078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151572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558415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343400" y="249078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640455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047298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95453" y="20092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51488" y="25693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47590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54433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39418" y="25693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36473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43315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48" name="c1-table-3"/>
          <p:cNvGrpSpPr/>
          <p:nvPr/>
        </p:nvGrpSpPr>
        <p:grpSpPr>
          <a:xfrm>
            <a:off x="533400" y="3542348"/>
            <a:ext cx="5410200" cy="2028825"/>
            <a:chOff x="533400" y="3542348"/>
            <a:chExt cx="5410200" cy="2028825"/>
          </a:xfrm>
        </p:grpSpPr>
        <p:sp>
          <p:nvSpPr>
            <p:cNvPr id="30" name="Rectangle 30"/>
            <p:cNvSpPr/>
            <p:nvPr/>
          </p:nvSpPr>
          <p:spPr>
            <a:xfrm>
              <a:off x="533400" y="3542348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0222" y="3666649"/>
              <a:ext cx="496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451162" y="36666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发生了什么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3412" y="407241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2 → 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24038" y="4072414"/>
              <a:ext cx="315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 2，2 成为 E-结点；再生成 3，3 是叶结点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3491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3538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478179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24038" y="4478179"/>
              <a:ext cx="25790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检测完，2 再次成为 E-结点，生成 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754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412" y="4883944"/>
              <a:ext cx="636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1 → 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24038" y="4883944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的儿子都生成了，退回 1，生成 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51606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516540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3412" y="5289709"/>
              <a:ext cx="87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→ 6，5 → 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824038" y="5289709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同样处理 5 的两个儿子，最后退回根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542348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719262" y="35423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2-text-1"/>
          <p:cNvGrpSpPr/>
          <p:nvPr/>
        </p:nvGrpSpPr>
        <p:grpSpPr>
          <a:xfrm>
            <a:off x="6242685" y="1542574"/>
            <a:ext cx="3285965" cy="220028"/>
            <a:chOff x="6242685" y="1542574"/>
            <a:chExt cx="3285965" cy="220028"/>
          </a:xfrm>
        </p:grpSpPr>
        <p:sp>
          <p:nvSpPr>
            <p:cNvPr id="49" name="TextBox 49"/>
            <p:cNvSpPr txBox="1"/>
            <p:nvPr/>
          </p:nvSpPr>
          <p:spPr>
            <a:xfrm>
              <a:off x="6242685" y="1542574"/>
              <a:ext cx="3285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FIFO 分支限界法：编号即生成次序，是层次次序</a:t>
              </a:r>
            </a:p>
          </p:txBody>
        </p:sp>
      </p:grpSp>
      <p:grpSp>
        <p:nvGrpSpPr>
          <p:cNvPr id="71" name="c2-graph-2"/>
          <p:cNvGrpSpPr/>
          <p:nvPr/>
        </p:nvGrpSpPr>
        <p:grpSpPr>
          <a:xfrm>
            <a:off x="6866572" y="1930718"/>
            <a:ext cx="4173856" cy="1398269"/>
            <a:chOff x="6866572" y="1930718"/>
            <a:chExt cx="4173856" cy="1398269"/>
          </a:xfrm>
        </p:grpSpPr>
        <p:sp>
          <p:nvSpPr>
            <p:cNvPr id="51" name="Freeform 51"/>
            <p:cNvSpPr/>
            <p:nvPr/>
          </p:nvSpPr>
          <p:spPr>
            <a:xfrm>
              <a:off x="7843838" y="2130742"/>
              <a:ext cx="974407" cy="438150"/>
            </a:xfrm>
            <a:custGeom>
              <a:avLst/>
              <a:gdLst/>
              <a:ahLst/>
              <a:cxnLst/>
              <a:rect l="l" t="t" r="r" b="b"/>
              <a:pathLst>
                <a:path w="974407" h="438150">
                  <a:moveTo>
                    <a:pt x="974407" y="0"/>
                  </a:moveTo>
                  <a:lnTo>
                    <a:pt x="0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121842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471488" y="0"/>
                  </a:moveTo>
                  <a:lnTo>
                    <a:pt x="0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824788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0" y="0"/>
                  </a:moveTo>
                  <a:lnTo>
                    <a:pt x="471488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088755" y="2130742"/>
              <a:ext cx="974407" cy="438150"/>
            </a:xfrm>
            <a:custGeom>
              <a:avLst/>
              <a:gdLst/>
              <a:ahLst/>
              <a:cxnLst/>
              <a:rect l="l" t="t" r="r" b="b"/>
              <a:pathLst>
                <a:path w="974407" h="438150">
                  <a:moveTo>
                    <a:pt x="0" y="0"/>
                  </a:moveTo>
                  <a:lnTo>
                    <a:pt x="974407" y="4381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9610725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471488" y="0"/>
                  </a:moveTo>
                  <a:lnTo>
                    <a:pt x="0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313670" y="2722245"/>
              <a:ext cx="471488" cy="375285"/>
            </a:xfrm>
            <a:custGeom>
              <a:avLst/>
              <a:gdLst/>
              <a:ahLst/>
              <a:cxnLst/>
              <a:rect l="l" t="t" r="r" b="b"/>
              <a:pathLst>
                <a:path w="471488" h="375285">
                  <a:moveTo>
                    <a:pt x="0" y="0"/>
                  </a:moveTo>
                  <a:lnTo>
                    <a:pt x="471488" y="3752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814435" y="1930718"/>
              <a:ext cx="278130" cy="27813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7570470" y="249078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866572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273415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058400" y="249078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355455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762298" y="3050857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910453" y="200929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66488" y="25693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62590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69433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54418" y="256936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51473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58315" y="31294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96" name="c2-table-3"/>
          <p:cNvGrpSpPr/>
          <p:nvPr/>
        </p:nvGrpSpPr>
        <p:grpSpPr>
          <a:xfrm>
            <a:off x="6248400" y="3542348"/>
            <a:ext cx="5410200" cy="2028825"/>
            <a:chOff x="6248400" y="3542348"/>
            <a:chExt cx="5410200" cy="2028825"/>
          </a:xfrm>
        </p:grpSpPr>
        <p:sp>
          <p:nvSpPr>
            <p:cNvPr id="72" name="Rectangle 72"/>
            <p:cNvSpPr/>
            <p:nvPr/>
          </p:nvSpPr>
          <p:spPr>
            <a:xfrm>
              <a:off x="6248400" y="3542348"/>
              <a:ext cx="5410200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540930" y="3666649"/>
              <a:ext cx="496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59319" y="36666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生成的儿子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72625" y="36666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之后的活结点表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740169" y="40724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977942" y="407241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53512" y="407241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2, 3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43491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48400" y="435387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40169" y="44781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977942" y="4478179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4、5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53512" y="4478179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3, 4, 5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248400" y="47548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40169" y="48839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977942" y="4883944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053512" y="4883944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4, 5, 6, 7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248400" y="51606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248400" y="5165408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653097" y="5289709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4~7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533157" y="528970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叶结点，没有儿子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053512" y="528970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依次取空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3542348"/>
              <a:ext cx="5410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325678" y="35423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948738" y="35423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7" name="Rectangle 9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1040892" y="6023610"/>
              <a:ext cx="9863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回溯法的 E-结点序列是 1, 2, 3, 2, 4, 2, 1, 5, 6, 5, 7, 5, 1，同一结点可反复当 E-结点；FIFO 中每个结点只当一次。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1208" y="342900"/>
            <a:ext cx="11069147" cy="896112"/>
            <a:chOff x="521208" y="342900"/>
            <a:chExt cx="11069147" cy="896112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基本思想与效率估计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1208" y="769620"/>
              <a:ext cx="1106914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题2：静态树 1957 个结点，按图1 的路径估计实际扩展 205 个，约占 10.5%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671638"/>
            <a:chOff x="533400" y="1524000"/>
            <a:chExt cx="6059805" cy="16716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5340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630" y="1750695"/>
              <a:ext cx="3750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第2题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5326523" cy="4954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22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皇后问题，只考虑每行每列各不相同：(1) 静态树结点总数；(2) 按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图1 用蒙特卡罗方法估计不受限结点数；(3) 求二者之比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0804"/>
              <a:ext cx="537387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思路：第 k 行的皇后只能放在前 k − 1 行没用过的列，有 6 − k + 1 种放法，第 k 层的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结点数是前 k 个因子之积。</a:t>
              </a:r>
            </a:p>
          </p:txBody>
        </p:sp>
      </p:grpSp>
      <p:grpSp>
        <p:nvGrpSpPr>
          <p:cNvPr id="31" name="c1-steps-2"/>
          <p:cNvGrpSpPr/>
          <p:nvPr/>
        </p:nvGrpSpPr>
        <p:grpSpPr>
          <a:xfrm>
            <a:off x="533400" y="3380422"/>
            <a:ext cx="5943158" cy="2695100"/>
            <a:chOff x="533400" y="3380422"/>
            <a:chExt cx="5943158" cy="2695100"/>
          </a:xfrm>
        </p:grpSpPr>
        <p:sp>
          <p:nvSpPr>
            <p:cNvPr id="14" name="Rectangle 14"/>
            <p:cNvSpPr/>
            <p:nvPr/>
          </p:nvSpPr>
          <p:spPr>
            <a:xfrm>
              <a:off x="666750" y="3523298"/>
              <a:ext cx="19050" cy="21755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38042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454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1748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2486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76154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835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5559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6297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412808"/>
              <a:ext cx="931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静态树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679984"/>
              <a:ext cx="48689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+ 6 + 6×5 + 6×5×4 + 6×5×4×3 + 6×5×4×3×2 + 6! = 1 + 6 + 30 + 120 + 360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 + 720 = 1957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206240"/>
              <a:ext cx="1476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数不受限儿子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474369"/>
              <a:ext cx="5529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沿图1 的路径，第 1~5 行可放的位置依次有 6、3、2、2、1 个，第 6 行已无处可放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4792980"/>
              <a:ext cx="931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估计值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5061109"/>
              <a:ext cx="46982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1 + 6 + 6×3 + 6×3×2 + 6×3×2×2 + 6×3×2×2×1 = 1 + 6 + 18 + 36 + 72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 = 205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5587365"/>
              <a:ext cx="749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比例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785" y="5855494"/>
              <a:ext cx="3946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205 / 1957 ≈ 10.5%，回溯法大约只扩展静态树的十分之一</a:t>
              </a:r>
            </a:p>
          </p:txBody>
        </p:sp>
      </p:grpSp>
      <p:grpSp>
        <p:nvGrpSpPr>
          <p:cNvPr id="79" name="c2-cells-1"/>
          <p:cNvGrpSpPr/>
          <p:nvPr/>
        </p:nvGrpSpPr>
        <p:grpSpPr>
          <a:xfrm>
            <a:off x="6892290" y="1524000"/>
            <a:ext cx="4766310" cy="2287905"/>
            <a:chOff x="6892290" y="1524000"/>
            <a:chExt cx="4766310" cy="2287905"/>
          </a:xfrm>
        </p:grpSpPr>
        <p:sp>
          <p:nvSpPr>
            <p:cNvPr id="32" name="TextBox 32"/>
            <p:cNvSpPr txBox="1"/>
            <p:nvPr/>
          </p:nvSpPr>
          <p:spPr>
            <a:xfrm>
              <a:off x="6892290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113270" y="1524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870508" y="1524000"/>
              <a:ext cx="757238" cy="38100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81160" y="1644491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628698" y="1524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385935" y="1524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143172" y="1524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901362" y="1524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2290" y="2026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113270" y="1905000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870508" y="1905000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628698" y="1905000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385935" y="1905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143172" y="1905000"/>
              <a:ext cx="757238" cy="38100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53825" y="202644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901362" y="1905000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2290" y="2407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113270" y="2286952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870508" y="2286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628698" y="2286952"/>
              <a:ext cx="757238" cy="38100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38397" y="240744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385935" y="2286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143172" y="2286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901362" y="2286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92290" y="2788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113270" y="2667952"/>
              <a:ext cx="75723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870508" y="2667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628698" y="2667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385935" y="2667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143172" y="2667952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901362" y="2667952"/>
              <a:ext cx="757238" cy="38100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211062" y="2788444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892290" y="3170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13270" y="3049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70508" y="3049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8628698" y="3049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385935" y="3049905"/>
              <a:ext cx="757238" cy="381000"/>
            </a:xfrm>
            <a:prstGeom prst="rect">
              <a:avLst/>
            </a:prstGeom>
            <a:solidFill>
              <a:srgbClr val="2F4B9A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696587" y="3170396"/>
              <a:ext cx="136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0143172" y="3049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901362" y="3049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92290" y="35513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113270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870508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8628698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9385935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143172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901362" y="3430905"/>
              <a:ext cx="757238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</p:grpSp>
      <p:grpSp>
        <p:nvGrpSpPr>
          <p:cNvPr id="111" name="c2-table-2"/>
          <p:cNvGrpSpPr/>
          <p:nvPr/>
        </p:nvGrpSpPr>
        <p:grpSpPr>
          <a:xfrm>
            <a:off x="6892671" y="3987165"/>
            <a:ext cx="4765929" cy="1496949"/>
            <a:chOff x="6892671" y="3987165"/>
            <a:chExt cx="4765929" cy="1496949"/>
          </a:xfrm>
        </p:grpSpPr>
        <p:sp>
          <p:nvSpPr>
            <p:cNvPr id="80" name="Rectangle 80"/>
            <p:cNvSpPr/>
            <p:nvPr/>
          </p:nvSpPr>
          <p:spPr>
            <a:xfrm>
              <a:off x="6898005" y="3987165"/>
              <a:ext cx="476059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467460" y="41114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38476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15691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591954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168216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44479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320741" y="41114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6998017" y="4517231"/>
              <a:ext cx="867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可放个数 mᵢ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440550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017765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594027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170290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746552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22815" y="45172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898005" y="47939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6898005" y="4798695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998017" y="492299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图1 选的列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440550" y="4922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9017765" y="4922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594027" y="4922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170290" y="4922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746552" y="49229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898005" y="3987165"/>
              <a:ext cx="4760595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195310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771572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347835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924098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501312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1077575" y="3987165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892671" y="5278755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红格与上面某一行的皇后同列或同斜线，白格才能放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formula6"/>
              <p:cNvSpPr txBox="1">
                <a:spLocks noGrp="1"/>
              </p:cNvSpPr>
              <p:nvPr/>
            </p:nvSpPr>
            <p:spPr>
              <a:xfrm>
                <a:off x="6898005" y="5617845"/>
                <a:ext cx="4760595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38751" cy="909257"/>
            <a:chOff x="520446" y="342900"/>
            <a:chExt cx="90387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基本思想与效率估计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38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 复核：实际扩展 153 个结点，一条路径的估计有高有低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27685" y="1524000"/>
            <a:ext cx="5956935" cy="4335304"/>
            <a:chOff x="527685" y="1524000"/>
            <a:chExt cx="5956935" cy="43353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60" y="1659731"/>
              <a:ext cx="565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k 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391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静态树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9137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蒙特卡罗估计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03457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实际不受限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95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721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81266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69071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295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17211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1266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69071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4295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2243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04015" y="3005614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6×3 = 18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4298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470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19462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4295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7666" y="345424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109242" y="345424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18×2 = 36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74298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633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295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7666" y="390382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09242" y="3903821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36×2 = 72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74298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1195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21671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4295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27666" y="435244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09242" y="435244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72×1 = 72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74298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6605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4295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627666" y="480107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81266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69071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1101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11492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0394" y="5249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32893" y="524970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1957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042285" y="5124450"/>
              <a:ext cx="194500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91721" y="524970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006340" y="5124450"/>
              <a:ext cx="146875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79526" y="524970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1524000"/>
              <a:ext cx="5951220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165925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027998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99205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7685" y="5639276"/>
              <a:ext cx="4775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最后一列由脚本回溯穷举得到；第 6 层的 4 个结点就是 6 皇后的 4 个解</a:t>
              </a:r>
            </a:p>
          </p:txBody>
        </p:sp>
      </p:grpSp>
      <p:grpSp>
        <p:nvGrpSpPr>
          <p:cNvPr id="65" name="c2-image-1"/>
          <p:cNvGrpSpPr/>
          <p:nvPr/>
        </p:nvGrpSpPr>
        <p:grpSpPr>
          <a:xfrm>
            <a:off x="7182841" y="1524000"/>
            <a:ext cx="4082339" cy="2115027"/>
            <a:chOff x="7182841" y="1524000"/>
            <a:chExt cx="4082339" cy="2115027"/>
          </a:xfrm>
        </p:grpSpPr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8023860" y="1524000"/>
              <a:ext cx="2400300" cy="1800225"/>
            </a:xfrm>
            <a:prstGeom prst="roundRect">
              <a:avLst>
                <a:gd name="adj" fmla="val 7407"/>
              </a:avLst>
            </a:prstGeom>
          </p:spPr>
        </p:pic>
        <p:sp>
          <p:nvSpPr>
            <p:cNvPr id="64" name="TextBox 64"/>
            <p:cNvSpPr txBox="1"/>
            <p:nvPr/>
          </p:nvSpPr>
          <p:spPr>
            <a:xfrm>
              <a:off x="7182841" y="3418999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蒙特卡罗估计只走一条随机路径，在每个岔口数一数有几条路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6789420" y="3804285"/>
            <a:ext cx="4869180" cy="2558415"/>
            <a:chOff x="6789420" y="3804285"/>
            <a:chExt cx="4869180" cy="2558415"/>
          </a:xfrm>
        </p:grpSpPr>
        <p:sp>
          <p:nvSpPr>
            <p:cNvPr id="66" name="Rectangle 66"/>
            <p:cNvSpPr/>
            <p:nvPr/>
          </p:nvSpPr>
          <p:spPr>
            <a:xfrm>
              <a:off x="6789420" y="3804285"/>
              <a:ext cx="4869180" cy="2558415"/>
            </a:xfrm>
            <a:prstGeom prst="roundRect">
              <a:avLst>
                <a:gd name="adj" fmla="val 52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98945" y="3937635"/>
              <a:ext cx="47625" cy="22917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037070" y="4013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19379" y="4049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42785" y="445389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00900" y="4391025"/>
              <a:ext cx="3930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实际不受限结点 153 个，占静态树 153 / 1957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7.8%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042785" y="507492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00900" y="5012055"/>
              <a:ext cx="3987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随机选路径时估计值在 97~421 之间，取到 205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的概率是 2/9；按概率加权平均正好是 153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042785" y="5695950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00900" y="5633085"/>
              <a:ext cx="3729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mᵢ 是第 i 层的不受限儿子数。单次估计误差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大，实际使用时多走几条路径取平均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388608" cy="3214687"/>
            <a:chOff x="667512" y="1835468"/>
            <a:chExt cx="6388608" cy="32146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8094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子集和数与 15 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71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回溯法靠限界函数剪枝，LC 检索靠 ĉ 挑下一个 E-结点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063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子集和数：n = 4 的定长元组状态空间树，限界函数，W = (2, 5, 3,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10)、M = 15 时剪枝后的树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6149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15 谜：判断初始状态能否到达目标；取 ĉ = f + ĝ，画出 LC 检索的状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态空间树并标出 ĉ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39902" cy="909257"/>
            <a:chOff x="520446" y="342900"/>
            <a:chExt cx="97399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399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题3(1)(2)：定长 4-元组的树有 31 个结点，限界函数看两个和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544378" cy="2095500"/>
            <a:chOff x="533400" y="1524000"/>
            <a:chExt cx="4544378" cy="2095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0955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第3题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802856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子集和数：(1) n = 4 的定长元组状态空间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树，按深度优先编号；(2) 限界函数；(3) W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(2, 5, 3, 10)，M = 15 时剪枝后的树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976086"/>
              <a:ext cx="380873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思路：先把 W 按非降次序排好，下面的第二个条件才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成立。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0"/>
              <p:cNvSpPr txBox="1">
                <a:spLocks noGrp="1"/>
              </p:cNvSpPr>
              <p:nvPr/>
            </p:nvSpPr>
            <p:spPr>
              <a:xfrm>
                <a:off x="533400" y="3810000"/>
                <a:ext cx="4544378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1"/>
              <p:cNvSpPr txBox="1">
                <a:spLocks noGrp="1"/>
              </p:cNvSpPr>
              <p:nvPr/>
            </p:nvSpPr>
            <p:spPr>
              <a:xfrm>
                <a:off x="533400" y="4566285"/>
                <a:ext cx="4544378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m:rPr>
                          <m:nor m:val="on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true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∧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0" name="c1-bullets-4"/>
          <p:cNvGrpSpPr/>
          <p:nvPr/>
        </p:nvGrpSpPr>
        <p:grpSpPr>
          <a:xfrm>
            <a:off x="542925" y="5120164"/>
            <a:ext cx="4248658" cy="798004"/>
            <a:chOff x="542925" y="5120164"/>
            <a:chExt cx="4248658" cy="798004"/>
          </a:xfrm>
        </p:grpSpPr>
        <p:sp>
          <p:nvSpPr>
            <p:cNvPr id="16" name="Ellipse 16"/>
            <p:cNvSpPr/>
            <p:nvPr/>
          </p:nvSpPr>
          <p:spPr>
            <a:xfrm>
              <a:off x="542925" y="51730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373" y="5120164"/>
              <a:ext cx="28281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+ r &lt; M：剩下的全选上也凑不够 M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42925" y="547878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8373" y="5425916"/>
              <a:ext cx="40932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+ W(k+1) &gt; M：最小的下一个都放不下，后面更大的也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放不下</a:t>
              </a:r>
            </a:p>
          </p:txBody>
        </p:sp>
      </p:grpSp>
      <p:grpSp>
        <p:nvGrpSpPr>
          <p:cNvPr id="177" name="c2-graph-1"/>
          <p:cNvGrpSpPr/>
          <p:nvPr/>
        </p:nvGrpSpPr>
        <p:grpSpPr>
          <a:xfrm>
            <a:off x="5421343" y="1610678"/>
            <a:ext cx="5818157" cy="2969894"/>
            <a:chOff x="5421343" y="1610678"/>
            <a:chExt cx="5818157" cy="2969894"/>
          </a:xfrm>
        </p:grpSpPr>
        <p:sp>
          <p:nvSpPr>
            <p:cNvPr id="21" name="Freeform 21"/>
            <p:cNvSpPr/>
            <p:nvPr/>
          </p:nvSpPr>
          <p:spPr>
            <a:xfrm>
              <a:off x="7268528" y="1806892"/>
              <a:ext cx="1123950" cy="550545"/>
            </a:xfrm>
            <a:custGeom>
              <a:avLst/>
              <a:gdLst/>
              <a:ahLst/>
              <a:cxnLst/>
              <a:rect l="l" t="t" r="r" b="b"/>
              <a:pathLst>
                <a:path w="1123950" h="550545">
                  <a:moveTo>
                    <a:pt x="1123950" y="0"/>
                  </a:moveTo>
                  <a:lnTo>
                    <a:pt x="0" y="5505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648700" y="1806892"/>
              <a:ext cx="1123950" cy="550545"/>
            </a:xfrm>
            <a:custGeom>
              <a:avLst/>
              <a:gdLst/>
              <a:ahLst/>
              <a:cxnLst/>
              <a:rect l="l" t="t" r="r" b="b"/>
              <a:pathLst>
                <a:path w="1123950" h="550545">
                  <a:moveTo>
                    <a:pt x="0" y="0"/>
                  </a:moveTo>
                  <a:lnTo>
                    <a:pt x="1123950" y="5505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51295" y="2519362"/>
              <a:ext cx="486728" cy="476250"/>
            </a:xfrm>
            <a:custGeom>
              <a:avLst/>
              <a:gdLst/>
              <a:ahLst/>
              <a:cxnLst/>
              <a:rect l="l" t="t" r="r" b="b"/>
              <a:pathLst>
                <a:path w="486728" h="476250">
                  <a:moveTo>
                    <a:pt x="486728" y="0"/>
                  </a:moveTo>
                  <a:lnTo>
                    <a:pt x="0" y="476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241858" y="2519362"/>
              <a:ext cx="486728" cy="476250"/>
            </a:xfrm>
            <a:custGeom>
              <a:avLst/>
              <a:gdLst/>
              <a:ahLst/>
              <a:cxnLst/>
              <a:rect l="l" t="t" r="r" b="b"/>
              <a:pathLst>
                <a:path w="486728" h="476250">
                  <a:moveTo>
                    <a:pt x="0" y="0"/>
                  </a:moveTo>
                  <a:lnTo>
                    <a:pt x="486728" y="476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169342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215265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515100" y="3223260"/>
              <a:ext cx="214312" cy="421005"/>
            </a:xfrm>
            <a:custGeom>
              <a:avLst/>
              <a:gdLst/>
              <a:ahLst/>
              <a:cxnLst/>
              <a:rect l="l" t="t" r="r" b="b"/>
              <a:pathLst>
                <a:path w="214312" h="421005">
                  <a:moveTo>
                    <a:pt x="0" y="0"/>
                  </a:moveTo>
                  <a:lnTo>
                    <a:pt x="214312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5969318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138862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659880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829425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50468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215265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895272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0" y="0"/>
                  </a:moveTo>
                  <a:lnTo>
                    <a:pt x="215265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350442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19988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041005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210550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313545" y="2519362"/>
              <a:ext cx="485775" cy="476250"/>
            </a:xfrm>
            <a:custGeom>
              <a:avLst/>
              <a:gdLst/>
              <a:ahLst/>
              <a:cxnLst/>
              <a:rect l="l" t="t" r="r" b="b"/>
              <a:pathLst>
                <a:path w="485775" h="476250">
                  <a:moveTo>
                    <a:pt x="485775" y="0"/>
                  </a:moveTo>
                  <a:lnTo>
                    <a:pt x="0" y="476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003155" y="2519362"/>
              <a:ext cx="486727" cy="476250"/>
            </a:xfrm>
            <a:custGeom>
              <a:avLst/>
              <a:gdLst/>
              <a:ahLst/>
              <a:cxnLst/>
              <a:rect l="l" t="t" r="r" b="b"/>
              <a:pathLst>
                <a:path w="486727" h="476250">
                  <a:moveTo>
                    <a:pt x="0" y="0"/>
                  </a:moveTo>
                  <a:lnTo>
                    <a:pt x="486727" y="4762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930640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215265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276398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0" y="0"/>
                  </a:moveTo>
                  <a:lnTo>
                    <a:pt x="215265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731568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900160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21178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590722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311765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215265" y="0"/>
                  </a:moveTo>
                  <a:lnTo>
                    <a:pt x="0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0656570" y="3223260"/>
              <a:ext cx="215265" cy="421005"/>
            </a:xfrm>
            <a:custGeom>
              <a:avLst/>
              <a:gdLst/>
              <a:ahLst/>
              <a:cxnLst/>
              <a:rect l="l" t="t" r="r" b="b"/>
              <a:pathLst>
                <a:path w="215265" h="421005">
                  <a:moveTo>
                    <a:pt x="0" y="0"/>
                  </a:moveTo>
                  <a:lnTo>
                    <a:pt x="215265" y="4210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0111740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281285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10802302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100012" y="0"/>
                  </a:moveTo>
                  <a:lnTo>
                    <a:pt x="0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971848" y="3910012"/>
              <a:ext cx="100012" cy="399097"/>
            </a:xfrm>
            <a:custGeom>
              <a:avLst/>
              <a:gdLst/>
              <a:ahLst/>
              <a:cxnLst/>
              <a:rect l="l" t="t" r="r" b="b"/>
              <a:pathLst>
                <a:path w="100012" h="399097">
                  <a:moveTo>
                    <a:pt x="0" y="0"/>
                  </a:moveTo>
                  <a:lnTo>
                    <a:pt x="100012" y="3990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5801678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140768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492240" y="4313872"/>
              <a:ext cx="266700" cy="266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831330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182802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520940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872412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8211502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562975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902065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9253538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592628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944100" y="4313872"/>
              <a:ext cx="266700" cy="266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10282238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10633710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972800" y="431387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5971222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661785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316028" y="2962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351395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8041958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697152" y="2962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006590" y="228695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732520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423082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077325" y="2962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113645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803255" y="3637598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0458450" y="2962275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767888" y="2286952"/>
              <a:ext cx="266700" cy="2667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387715" y="161067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91980" y="43867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231070" y="43867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582543" y="43867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21633" y="438673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235011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573149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924621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263711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15184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954274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305746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644836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996309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334446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685919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025009" y="438673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061525" y="37104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752088" y="371046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406330" y="30351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403604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094166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749361" y="30351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096893" y="235886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784729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475291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129534" y="30351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165854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0855464" y="371046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510659" y="30351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820096" y="235886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478018" y="168354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7763828" y="200310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795383" y="20331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9144000" y="200310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9175556" y="20331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6728460" y="26793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6760016" y="2708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7418070" y="26793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449626" y="2708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210300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241856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6555105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586661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953125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5984681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6122670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6154226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6643688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67524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6813232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6844788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7591425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7622981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7936230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7967786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333298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36485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7502842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7534398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8023860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8055416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8193405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8224961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9489758" y="26793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9521313" y="2708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10179368" y="267938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10211876" y="2708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8971598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9003153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9316402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9348911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8714422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8745978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8883968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891552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9404985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9436541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9574530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9606086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10352722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10384278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10697528" y="33547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10729083" y="33847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10095548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1012710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10264140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10295696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10785158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10816713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10954702" y="40309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10986258" y="40600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5421343" y="196977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5421343" y="264318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5421343" y="33213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76" name="TextBox 176"/>
            <p:cNvSpPr txBox="1"/>
            <p:nvPr/>
          </p:nvSpPr>
          <p:spPr>
            <a:xfrm>
              <a:off x="5421343" y="399478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84" name="c2-callout-2"/>
          <p:cNvGrpSpPr/>
          <p:nvPr/>
        </p:nvGrpSpPr>
        <p:grpSpPr>
          <a:xfrm>
            <a:off x="5382578" y="4857750"/>
            <a:ext cx="6276022" cy="1010602"/>
            <a:chOff x="5382578" y="4857750"/>
            <a:chExt cx="6276022" cy="1010602"/>
          </a:xfrm>
        </p:grpSpPr>
        <p:sp>
          <p:nvSpPr>
            <p:cNvPr id="178" name="Rectangle 178"/>
            <p:cNvSpPr/>
            <p:nvPr/>
          </p:nvSpPr>
          <p:spPr>
            <a:xfrm>
              <a:off x="5382578" y="4857750"/>
              <a:ext cx="6276022" cy="1010602"/>
            </a:xfrm>
            <a:prstGeom prst="roundRect">
              <a:avLst>
                <a:gd name="adj" fmla="val 1131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2" name="Group 182"/>
            <p:cNvGrpSpPr/>
            <p:nvPr/>
          </p:nvGrpSpPr>
          <p:grpSpPr>
            <a:xfrm>
              <a:off x="5587365" y="5263515"/>
              <a:ext cx="200026" cy="200026"/>
              <a:chOff x="5587365" y="5263515"/>
              <a:chExt cx="200026" cy="200026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5587365" y="52635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0" name="Freeform 180"/>
              <p:cNvSpPr/>
              <p:nvPr/>
            </p:nvSpPr>
            <p:spPr>
              <a:xfrm>
                <a:off x="5687378" y="53301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1" name="Freeform 181"/>
              <p:cNvSpPr/>
              <p:nvPr/>
            </p:nvSpPr>
            <p:spPr>
              <a:xfrm>
                <a:off x="5676265" y="53635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83" name="TextBox 183"/>
            <p:cNvSpPr txBox="1"/>
            <p:nvPr/>
          </p:nvSpPr>
          <p:spPr>
            <a:xfrm>
              <a:off x="5889308" y="5120640"/>
              <a:ext cx="5101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左分支 xₖ = 1，右分支 xₖ = 0；16 个叶结点就是 2⁴ 个 4-元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组。绿色是(3)的两个答案结点。</a:t>
              </a:r>
            </a:p>
          </p:txBody>
        </p:sp>
      </p:grpSp>
      <p:grpSp>
        <p:nvGrpSpPr>
          <p:cNvPr id="1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5" name="TextBox 18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86" name="TextBox 1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40935" cy="909257"/>
            <a:chOff x="520446" y="342900"/>
            <a:chExt cx="103409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409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题3(3)：排序后逐个算 B 值，只生成 19 个结点，答案结点 8 和 27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table-1"/>
          <p:cNvGrpSpPr/>
          <p:nvPr/>
        </p:nvGrpSpPr>
        <p:grpSpPr>
          <a:xfrm>
            <a:off x="528447" y="1524000"/>
            <a:ext cx="2633853" cy="4077366"/>
            <a:chOff x="528447" y="1524000"/>
            <a:chExt cx="2633853" cy="4077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6289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96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353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7025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8825" y="1641157"/>
              <a:ext cx="544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W(k+1)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77621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14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547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332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703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79674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282190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286952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014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2547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3332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7703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79674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663190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014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8660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332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3816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77621" y="27851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045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049905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014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547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63332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3816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79674" y="3167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426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3440430"/>
              <a:ext cx="5067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141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86605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7219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7703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77621" y="35480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807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3811905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0141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2547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672199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7703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77621" y="39300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189095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09326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2547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633328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27703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79674" y="431101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4570095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33400" y="4574858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9326" y="4692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25477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633328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238165" y="4692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877621" y="46920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952048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09326" y="50739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225477" y="5073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63332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38165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877621" y="50739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3400" y="1524000"/>
              <a:ext cx="26289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05441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47542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194786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68414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28447" y="5410676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 = 1 的子树</a:t>
              </a:r>
            </a:p>
          </p:txBody>
        </p:sp>
      </p:grpSp>
      <p:grpSp>
        <p:nvGrpSpPr>
          <p:cNvPr id="148" name="c2-table-1"/>
          <p:cNvGrpSpPr/>
          <p:nvPr/>
        </p:nvGrpSpPr>
        <p:grpSpPr>
          <a:xfrm>
            <a:off x="3462147" y="1524000"/>
            <a:ext cx="2633853" cy="4077366"/>
            <a:chOff x="3462147" y="1524000"/>
            <a:chExt cx="2633853" cy="4077366"/>
          </a:xfrm>
        </p:grpSpPr>
        <p:sp>
          <p:nvSpPr>
            <p:cNvPr id="78" name="Rectangle 78"/>
            <p:cNvSpPr/>
            <p:nvPr/>
          </p:nvSpPr>
          <p:spPr>
            <a:xfrm>
              <a:off x="3467100" y="1524000"/>
              <a:ext cx="26289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58330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157233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603956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982525" y="1641157"/>
              <a:ext cx="544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W(k+1)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811321" y="1641157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643026" y="2023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15917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567028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210737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5813374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3467100" y="2282190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467100" y="2286952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643026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15917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567028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5210737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5813374" y="2404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467100" y="2663190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643026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159177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67028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171865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5811321" y="278511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3467100" y="3045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3467100" y="3049905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643026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4159177" y="3167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4567028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171865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811321" y="316706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467100" y="3426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643026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15917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567028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210737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813374" y="3548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467100" y="3807142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3467100" y="3811905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643026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4159177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4567028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171865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5813374" y="3930015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3467100" y="4189095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3476625" y="4203382"/>
              <a:ext cx="5067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3643026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120305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4605899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5210737" y="4311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811321" y="43110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3467100" y="4570095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3467100" y="4574858"/>
              <a:ext cx="26289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3643026" y="4692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4159177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4605899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5210737" y="4692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5811321" y="469201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3467100" y="4952048"/>
              <a:ext cx="26289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3643026" y="50739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159177" y="507396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4567028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5171865" y="507396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5811321" y="507396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3467100" y="1524000"/>
              <a:ext cx="2628900" cy="3813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3988118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440912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4881562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5617845" y="1524000"/>
              <a:ext cx="9525" cy="3813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3462147" y="5410676"/>
              <a:ext cx="8146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 = 0 的子树</a:t>
              </a:r>
            </a:p>
          </p:txBody>
        </p:sp>
      </p:grpSp>
      <p:grpSp>
        <p:nvGrpSpPr>
          <p:cNvPr id="241" name="c3-graph-1"/>
          <p:cNvGrpSpPr/>
          <p:nvPr/>
        </p:nvGrpSpPr>
        <p:grpSpPr>
          <a:xfrm>
            <a:off x="6778942" y="1580198"/>
            <a:ext cx="4501516" cy="2323146"/>
            <a:chOff x="6778942" y="1580198"/>
            <a:chExt cx="4501516" cy="2323146"/>
          </a:xfrm>
        </p:grpSpPr>
        <p:sp>
          <p:nvSpPr>
            <p:cNvPr id="149" name="Freeform 149"/>
            <p:cNvSpPr/>
            <p:nvPr/>
          </p:nvSpPr>
          <p:spPr>
            <a:xfrm>
              <a:off x="8016240" y="1745932"/>
              <a:ext cx="902017" cy="418147"/>
            </a:xfrm>
            <a:custGeom>
              <a:avLst/>
              <a:gdLst/>
              <a:ahLst/>
              <a:cxnLst/>
              <a:rect l="l" t="t" r="r" b="b"/>
              <a:pathLst>
                <a:path w="902017" h="418147">
                  <a:moveTo>
                    <a:pt x="902017" y="0"/>
                  </a:moveTo>
                  <a:lnTo>
                    <a:pt x="0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0" name="Freeform 150"/>
            <p:cNvSpPr/>
            <p:nvPr/>
          </p:nvSpPr>
          <p:spPr>
            <a:xfrm>
              <a:off x="9141142" y="1745932"/>
              <a:ext cx="902018" cy="418147"/>
            </a:xfrm>
            <a:custGeom>
              <a:avLst/>
              <a:gdLst/>
              <a:ahLst/>
              <a:cxnLst/>
              <a:rect l="l" t="t" r="r" b="b"/>
              <a:pathLst>
                <a:path w="902018" h="418147">
                  <a:moveTo>
                    <a:pt x="0" y="0"/>
                  </a:moveTo>
                  <a:lnTo>
                    <a:pt x="902018" y="4181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1" name="Freeform 151"/>
            <p:cNvSpPr/>
            <p:nvPr/>
          </p:nvSpPr>
          <p:spPr>
            <a:xfrm>
              <a:off x="7348538" y="2292668"/>
              <a:ext cx="460057" cy="368617"/>
            </a:xfrm>
            <a:custGeom>
              <a:avLst/>
              <a:gdLst/>
              <a:ahLst/>
              <a:cxnLst/>
              <a:rect l="l" t="t" r="r" b="b"/>
              <a:pathLst>
                <a:path w="460057" h="368617">
                  <a:moveTo>
                    <a:pt x="460057" y="0"/>
                  </a:moveTo>
                  <a:lnTo>
                    <a:pt x="0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2" name="Freeform 152"/>
            <p:cNvSpPr/>
            <p:nvPr/>
          </p:nvSpPr>
          <p:spPr>
            <a:xfrm>
              <a:off x="8000048" y="2292668"/>
              <a:ext cx="461010" cy="368617"/>
            </a:xfrm>
            <a:custGeom>
              <a:avLst/>
              <a:gdLst/>
              <a:ahLst/>
              <a:cxnLst/>
              <a:rect l="l" t="t" r="r" b="b"/>
              <a:pathLst>
                <a:path w="461010" h="368617">
                  <a:moveTo>
                    <a:pt x="0" y="0"/>
                  </a:moveTo>
                  <a:lnTo>
                    <a:pt x="461010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3" name="Freeform 153"/>
            <p:cNvSpPr/>
            <p:nvPr/>
          </p:nvSpPr>
          <p:spPr>
            <a:xfrm>
              <a:off x="6971348" y="2840355"/>
              <a:ext cx="212408" cy="315278"/>
            </a:xfrm>
            <a:custGeom>
              <a:avLst/>
              <a:gdLst/>
              <a:ahLst/>
              <a:cxnLst/>
              <a:rect l="l" t="t" r="r" b="b"/>
              <a:pathLst>
                <a:path w="212408" h="315278">
                  <a:moveTo>
                    <a:pt x="212408" y="0"/>
                  </a:moveTo>
                  <a:lnTo>
                    <a:pt x="0" y="3152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4" name="Freeform 154"/>
            <p:cNvSpPr/>
            <p:nvPr/>
          </p:nvSpPr>
          <p:spPr>
            <a:xfrm>
              <a:off x="7321868" y="2839402"/>
              <a:ext cx="219075" cy="320040"/>
            </a:xfrm>
            <a:custGeom>
              <a:avLst/>
              <a:gdLst/>
              <a:ahLst/>
              <a:cxnLst/>
              <a:rect l="l" t="t" r="r" b="b"/>
              <a:pathLst>
                <a:path w="219075" h="320040">
                  <a:moveTo>
                    <a:pt x="0" y="0"/>
                  </a:moveTo>
                  <a:lnTo>
                    <a:pt x="219075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5" name="Freeform 155"/>
            <p:cNvSpPr/>
            <p:nvPr/>
          </p:nvSpPr>
          <p:spPr>
            <a:xfrm>
              <a:off x="7423785" y="3372802"/>
              <a:ext cx="135255" cy="298132"/>
            </a:xfrm>
            <a:custGeom>
              <a:avLst/>
              <a:gdLst/>
              <a:ahLst/>
              <a:cxnLst/>
              <a:rect l="l" t="t" r="r" b="b"/>
              <a:pathLst>
                <a:path w="135255" h="298132">
                  <a:moveTo>
                    <a:pt x="135255" y="0"/>
                  </a:moveTo>
                  <a:lnTo>
                    <a:pt x="0" y="2981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6" name="Freeform 156"/>
            <p:cNvSpPr/>
            <p:nvPr/>
          </p:nvSpPr>
          <p:spPr>
            <a:xfrm>
              <a:off x="7660958" y="3372802"/>
              <a:ext cx="138112" cy="304800"/>
            </a:xfrm>
            <a:custGeom>
              <a:avLst/>
              <a:gdLst/>
              <a:ahLst/>
              <a:cxnLst/>
              <a:rect l="l" t="t" r="r" b="b"/>
              <a:pathLst>
                <a:path w="138112" h="304800">
                  <a:moveTo>
                    <a:pt x="0" y="0"/>
                  </a:moveTo>
                  <a:lnTo>
                    <a:pt x="138112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7" name="Freeform 157"/>
            <p:cNvSpPr/>
            <p:nvPr/>
          </p:nvSpPr>
          <p:spPr>
            <a:xfrm>
              <a:off x="8367712" y="2850832"/>
              <a:ext cx="138112" cy="304800"/>
            </a:xfrm>
            <a:custGeom>
              <a:avLst/>
              <a:gdLst/>
              <a:ahLst/>
              <a:cxnLst/>
              <a:rect l="l" t="t" r="r" b="b"/>
              <a:pathLst>
                <a:path w="138112" h="304800">
                  <a:moveTo>
                    <a:pt x="138112" y="0"/>
                  </a:moveTo>
                  <a:lnTo>
                    <a:pt x="0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8" name="Freeform 158"/>
            <p:cNvSpPr/>
            <p:nvPr/>
          </p:nvSpPr>
          <p:spPr>
            <a:xfrm>
              <a:off x="8606790" y="2850832"/>
              <a:ext cx="139065" cy="304800"/>
            </a:xfrm>
            <a:custGeom>
              <a:avLst/>
              <a:gdLst/>
              <a:ahLst/>
              <a:cxnLst/>
              <a:rect l="l" t="t" r="r" b="b"/>
              <a:pathLst>
                <a:path w="139065" h="304800">
                  <a:moveTo>
                    <a:pt x="0" y="0"/>
                  </a:moveTo>
                  <a:lnTo>
                    <a:pt x="139065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9" name="Freeform 159"/>
            <p:cNvSpPr/>
            <p:nvPr/>
          </p:nvSpPr>
          <p:spPr>
            <a:xfrm>
              <a:off x="9598342" y="2292668"/>
              <a:ext cx="461010" cy="368617"/>
            </a:xfrm>
            <a:custGeom>
              <a:avLst/>
              <a:gdLst/>
              <a:ahLst/>
              <a:cxnLst/>
              <a:rect l="l" t="t" r="r" b="b"/>
              <a:pathLst>
                <a:path w="461010" h="368617">
                  <a:moveTo>
                    <a:pt x="461010" y="0"/>
                  </a:moveTo>
                  <a:lnTo>
                    <a:pt x="0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0" name="Freeform 160"/>
            <p:cNvSpPr/>
            <p:nvPr/>
          </p:nvSpPr>
          <p:spPr>
            <a:xfrm>
              <a:off x="10250805" y="2292668"/>
              <a:ext cx="460057" cy="368617"/>
            </a:xfrm>
            <a:custGeom>
              <a:avLst/>
              <a:gdLst/>
              <a:ahLst/>
              <a:cxnLst/>
              <a:rect l="l" t="t" r="r" b="b"/>
              <a:pathLst>
                <a:path w="460057" h="368617">
                  <a:moveTo>
                    <a:pt x="0" y="0"/>
                  </a:moveTo>
                  <a:lnTo>
                    <a:pt x="460057" y="3686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1" name="Freeform 161"/>
            <p:cNvSpPr/>
            <p:nvPr/>
          </p:nvSpPr>
          <p:spPr>
            <a:xfrm>
              <a:off x="9313545" y="2850832"/>
              <a:ext cx="139065" cy="304800"/>
            </a:xfrm>
            <a:custGeom>
              <a:avLst/>
              <a:gdLst/>
              <a:ahLst/>
              <a:cxnLst/>
              <a:rect l="l" t="t" r="r" b="b"/>
              <a:pathLst>
                <a:path w="139065" h="304800">
                  <a:moveTo>
                    <a:pt x="139065" y="0"/>
                  </a:moveTo>
                  <a:lnTo>
                    <a:pt x="0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2" name="Freeform 162"/>
            <p:cNvSpPr/>
            <p:nvPr/>
          </p:nvSpPr>
          <p:spPr>
            <a:xfrm>
              <a:off x="9553575" y="2850832"/>
              <a:ext cx="138112" cy="304800"/>
            </a:xfrm>
            <a:custGeom>
              <a:avLst/>
              <a:gdLst/>
              <a:ahLst/>
              <a:cxnLst/>
              <a:rect l="l" t="t" r="r" b="b"/>
              <a:pathLst>
                <a:path w="138112" h="304800">
                  <a:moveTo>
                    <a:pt x="0" y="0"/>
                  </a:moveTo>
                  <a:lnTo>
                    <a:pt x="138112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3" name="Freeform 163"/>
            <p:cNvSpPr/>
            <p:nvPr/>
          </p:nvSpPr>
          <p:spPr>
            <a:xfrm>
              <a:off x="10518458" y="2839402"/>
              <a:ext cx="219075" cy="320040"/>
            </a:xfrm>
            <a:custGeom>
              <a:avLst/>
              <a:gdLst/>
              <a:ahLst/>
              <a:cxnLst/>
              <a:rect l="l" t="t" r="r" b="b"/>
              <a:pathLst>
                <a:path w="219075" h="320040">
                  <a:moveTo>
                    <a:pt x="219075" y="0"/>
                  </a:moveTo>
                  <a:lnTo>
                    <a:pt x="0" y="3200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4" name="Freeform 164"/>
            <p:cNvSpPr/>
            <p:nvPr/>
          </p:nvSpPr>
          <p:spPr>
            <a:xfrm>
              <a:off x="10875645" y="2840355"/>
              <a:ext cx="212407" cy="315278"/>
            </a:xfrm>
            <a:custGeom>
              <a:avLst/>
              <a:gdLst/>
              <a:ahLst/>
              <a:cxnLst/>
              <a:rect l="l" t="t" r="r" b="b"/>
              <a:pathLst>
                <a:path w="212407" h="315278">
                  <a:moveTo>
                    <a:pt x="0" y="0"/>
                  </a:moveTo>
                  <a:lnTo>
                    <a:pt x="212407" y="3152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5" name="Freeform 165"/>
            <p:cNvSpPr/>
            <p:nvPr/>
          </p:nvSpPr>
          <p:spPr>
            <a:xfrm>
              <a:off x="10263188" y="3372802"/>
              <a:ext cx="135255" cy="298132"/>
            </a:xfrm>
            <a:custGeom>
              <a:avLst/>
              <a:gdLst/>
              <a:ahLst/>
              <a:cxnLst/>
              <a:rect l="l" t="t" r="r" b="b"/>
              <a:pathLst>
                <a:path w="135255" h="298132">
                  <a:moveTo>
                    <a:pt x="135255" y="0"/>
                  </a:moveTo>
                  <a:lnTo>
                    <a:pt x="0" y="29813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6" name="Freeform 166"/>
            <p:cNvSpPr/>
            <p:nvPr/>
          </p:nvSpPr>
          <p:spPr>
            <a:xfrm>
              <a:off x="10500360" y="3372802"/>
              <a:ext cx="138112" cy="304800"/>
            </a:xfrm>
            <a:custGeom>
              <a:avLst/>
              <a:gdLst/>
              <a:ahLst/>
              <a:cxnLst/>
              <a:rect l="l" t="t" r="r" b="b"/>
              <a:pathLst>
                <a:path w="138112" h="304800">
                  <a:moveTo>
                    <a:pt x="0" y="0"/>
                  </a:moveTo>
                  <a:lnTo>
                    <a:pt x="138112" y="3048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778942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68" name="Ellipse 168"/>
            <p:cNvSpPr/>
            <p:nvPr/>
          </p:nvSpPr>
          <p:spPr>
            <a:xfrm>
              <a:off x="7259955" y="3669030"/>
              <a:ext cx="226695" cy="22669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9" name="Rectangle 169"/>
            <p:cNvSpPr/>
            <p:nvPr/>
          </p:nvSpPr>
          <p:spPr>
            <a:xfrm>
              <a:off x="7724775" y="367760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0" name="Rectangle 170"/>
            <p:cNvSpPr/>
            <p:nvPr/>
          </p:nvSpPr>
          <p:spPr>
            <a:xfrm>
              <a:off x="8198168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1" name="Rectangle 171"/>
            <p:cNvSpPr/>
            <p:nvPr/>
          </p:nvSpPr>
          <p:spPr>
            <a:xfrm>
              <a:off x="8671560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9144952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9618345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4" name="Ellipse 174"/>
            <p:cNvSpPr/>
            <p:nvPr/>
          </p:nvSpPr>
          <p:spPr>
            <a:xfrm>
              <a:off x="10099358" y="3669030"/>
              <a:ext cx="226695" cy="22669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75" name="Rectangle 175"/>
            <p:cNvSpPr/>
            <p:nvPr/>
          </p:nvSpPr>
          <p:spPr>
            <a:xfrm>
              <a:off x="10564178" y="367760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6" name="Rectangle 176"/>
            <p:cNvSpPr/>
            <p:nvPr/>
          </p:nvSpPr>
          <p:spPr>
            <a:xfrm>
              <a:off x="11037570" y="3155632"/>
              <a:ext cx="242888" cy="210502"/>
            </a:xfrm>
            <a:prstGeom prst="roundRect">
              <a:avLst>
                <a:gd name="adj" fmla="val 1810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77" name="Ellipse 177"/>
            <p:cNvSpPr/>
            <p:nvPr/>
          </p:nvSpPr>
          <p:spPr>
            <a:xfrm>
              <a:off x="7497128" y="314706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8" name="Ellipse 178"/>
            <p:cNvSpPr/>
            <p:nvPr/>
          </p:nvSpPr>
          <p:spPr>
            <a:xfrm>
              <a:off x="7138988" y="262509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79" name="Ellipse 179"/>
            <p:cNvSpPr/>
            <p:nvPr/>
          </p:nvSpPr>
          <p:spPr>
            <a:xfrm>
              <a:off x="8442960" y="262509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0" name="Ellipse 180"/>
            <p:cNvSpPr/>
            <p:nvPr/>
          </p:nvSpPr>
          <p:spPr>
            <a:xfrm>
              <a:off x="7791450" y="210312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1" name="Ellipse 181"/>
            <p:cNvSpPr/>
            <p:nvPr/>
          </p:nvSpPr>
          <p:spPr>
            <a:xfrm>
              <a:off x="9389745" y="262509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2" name="Ellipse 182"/>
            <p:cNvSpPr/>
            <p:nvPr/>
          </p:nvSpPr>
          <p:spPr>
            <a:xfrm>
              <a:off x="10335578" y="314706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3" name="Ellipse 183"/>
            <p:cNvSpPr/>
            <p:nvPr/>
          </p:nvSpPr>
          <p:spPr>
            <a:xfrm>
              <a:off x="10693717" y="262509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4" name="Ellipse 184"/>
            <p:cNvSpPr/>
            <p:nvPr/>
          </p:nvSpPr>
          <p:spPr>
            <a:xfrm>
              <a:off x="10041255" y="2103120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185" name="Ellipse 185"/>
            <p:cNvSpPr/>
            <p:nvPr/>
          </p:nvSpPr>
          <p:spPr>
            <a:xfrm>
              <a:off x="8916352" y="1580198"/>
              <a:ext cx="226695" cy="22669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6860163" y="32042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7333556" y="37271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8" name="TextBox 188"/>
            <p:cNvSpPr txBox="1"/>
            <p:nvPr/>
          </p:nvSpPr>
          <p:spPr>
            <a:xfrm>
              <a:off x="7806948" y="37271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9" name="TextBox 189"/>
            <p:cNvSpPr txBox="1"/>
            <p:nvPr/>
          </p:nvSpPr>
          <p:spPr>
            <a:xfrm>
              <a:off x="8245356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8718749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9191189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9664581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93" name="TextBox 193"/>
            <p:cNvSpPr txBox="1"/>
            <p:nvPr/>
          </p:nvSpPr>
          <p:spPr>
            <a:xfrm>
              <a:off x="10137974" y="37271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94" name="TextBox 194"/>
            <p:cNvSpPr txBox="1"/>
            <p:nvPr/>
          </p:nvSpPr>
          <p:spPr>
            <a:xfrm>
              <a:off x="10611366" y="37271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11084759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7570728" y="32042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97" name="TextBox 197"/>
            <p:cNvSpPr txBox="1"/>
            <p:nvPr/>
          </p:nvSpPr>
          <p:spPr>
            <a:xfrm>
              <a:off x="7212588" y="26822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8" name="TextBox 198"/>
            <p:cNvSpPr txBox="1"/>
            <p:nvPr/>
          </p:nvSpPr>
          <p:spPr>
            <a:xfrm>
              <a:off x="8481576" y="26822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7865051" y="21602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0" name="TextBox 200"/>
            <p:cNvSpPr txBox="1"/>
            <p:nvPr/>
          </p:nvSpPr>
          <p:spPr>
            <a:xfrm>
              <a:off x="9428361" y="26822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01" name="TextBox 201"/>
            <p:cNvSpPr txBox="1"/>
            <p:nvPr/>
          </p:nvSpPr>
          <p:spPr>
            <a:xfrm>
              <a:off x="10374194" y="32042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10732334" y="26822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10079871" y="21602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204" name="TextBox 204"/>
            <p:cNvSpPr txBox="1"/>
            <p:nvPr/>
          </p:nvSpPr>
          <p:spPr>
            <a:xfrm>
              <a:off x="8989953" y="16383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8400098" y="18764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8431653" y="1905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9525952" y="187642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9557508" y="19054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7511415" y="2398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542971" y="2428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1" name="Rectangle 211"/>
            <p:cNvSpPr/>
            <p:nvPr/>
          </p:nvSpPr>
          <p:spPr>
            <a:xfrm>
              <a:off x="8163878" y="2398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8195433" y="2428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7010400" y="29194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7042908" y="29484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5" name="Rectangle 215"/>
            <p:cNvSpPr/>
            <p:nvPr/>
          </p:nvSpPr>
          <p:spPr>
            <a:xfrm>
              <a:off x="7364730" y="2921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6" name="TextBox 216"/>
            <p:cNvSpPr txBox="1"/>
            <p:nvPr/>
          </p:nvSpPr>
          <p:spPr>
            <a:xfrm>
              <a:off x="7396286" y="2950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7" name="Rectangle 217"/>
            <p:cNvSpPr/>
            <p:nvPr/>
          </p:nvSpPr>
          <p:spPr>
            <a:xfrm>
              <a:off x="7424738" y="34432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7456293" y="34723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9" name="Rectangle 219"/>
            <p:cNvSpPr/>
            <p:nvPr/>
          </p:nvSpPr>
          <p:spPr>
            <a:xfrm>
              <a:off x="7662862" y="34461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0" name="TextBox 220"/>
            <p:cNvSpPr txBox="1"/>
            <p:nvPr/>
          </p:nvSpPr>
          <p:spPr>
            <a:xfrm>
              <a:off x="7694418" y="3476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1" name="Rectangle 221"/>
            <p:cNvSpPr/>
            <p:nvPr/>
          </p:nvSpPr>
          <p:spPr>
            <a:xfrm>
              <a:off x="8369618" y="29241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8401173" y="2953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3" name="Rectangle 223"/>
            <p:cNvSpPr/>
            <p:nvPr/>
          </p:nvSpPr>
          <p:spPr>
            <a:xfrm>
              <a:off x="8609648" y="29241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4" name="TextBox 224"/>
            <p:cNvSpPr txBox="1"/>
            <p:nvPr/>
          </p:nvSpPr>
          <p:spPr>
            <a:xfrm>
              <a:off x="8641203" y="2953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5" name="Rectangle 225"/>
            <p:cNvSpPr/>
            <p:nvPr/>
          </p:nvSpPr>
          <p:spPr>
            <a:xfrm>
              <a:off x="9762172" y="2398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6" name="TextBox 226"/>
            <p:cNvSpPr txBox="1"/>
            <p:nvPr/>
          </p:nvSpPr>
          <p:spPr>
            <a:xfrm>
              <a:off x="9793728" y="2428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7" name="Rectangle 227"/>
            <p:cNvSpPr/>
            <p:nvPr/>
          </p:nvSpPr>
          <p:spPr>
            <a:xfrm>
              <a:off x="10413682" y="2398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8" name="TextBox 228"/>
            <p:cNvSpPr txBox="1"/>
            <p:nvPr/>
          </p:nvSpPr>
          <p:spPr>
            <a:xfrm>
              <a:off x="10446191" y="2428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9" name="Rectangle 229"/>
            <p:cNvSpPr/>
            <p:nvPr/>
          </p:nvSpPr>
          <p:spPr>
            <a:xfrm>
              <a:off x="9316402" y="29241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0" name="TextBox 230"/>
            <p:cNvSpPr txBox="1"/>
            <p:nvPr/>
          </p:nvSpPr>
          <p:spPr>
            <a:xfrm>
              <a:off x="9347958" y="2953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1" name="Rectangle 231"/>
            <p:cNvSpPr/>
            <p:nvPr/>
          </p:nvSpPr>
          <p:spPr>
            <a:xfrm>
              <a:off x="9556432" y="292417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2" name="TextBox 232"/>
            <p:cNvSpPr txBox="1"/>
            <p:nvPr/>
          </p:nvSpPr>
          <p:spPr>
            <a:xfrm>
              <a:off x="9587988" y="295322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3" name="Rectangle 233"/>
            <p:cNvSpPr/>
            <p:nvPr/>
          </p:nvSpPr>
          <p:spPr>
            <a:xfrm>
              <a:off x="10561320" y="292131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4" name="TextBox 234"/>
            <p:cNvSpPr txBox="1"/>
            <p:nvPr/>
          </p:nvSpPr>
          <p:spPr>
            <a:xfrm>
              <a:off x="10592876" y="295036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5" name="Rectangle 235"/>
            <p:cNvSpPr/>
            <p:nvPr/>
          </p:nvSpPr>
          <p:spPr>
            <a:xfrm>
              <a:off x="10914698" y="291941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6" name="TextBox 236"/>
            <p:cNvSpPr txBox="1"/>
            <p:nvPr/>
          </p:nvSpPr>
          <p:spPr>
            <a:xfrm>
              <a:off x="10946253" y="29484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7" name="Rectangle 237"/>
            <p:cNvSpPr/>
            <p:nvPr/>
          </p:nvSpPr>
          <p:spPr>
            <a:xfrm>
              <a:off x="10264140" y="344328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8" name="TextBox 238"/>
            <p:cNvSpPr txBox="1"/>
            <p:nvPr/>
          </p:nvSpPr>
          <p:spPr>
            <a:xfrm>
              <a:off x="10295696" y="34723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9" name="Rectangle 239"/>
            <p:cNvSpPr/>
            <p:nvPr/>
          </p:nvSpPr>
          <p:spPr>
            <a:xfrm>
              <a:off x="10502265" y="34461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0" name="TextBox 240"/>
            <p:cNvSpPr txBox="1"/>
            <p:nvPr/>
          </p:nvSpPr>
          <p:spPr>
            <a:xfrm>
              <a:off x="10533821" y="34761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249" name="c3-card-2"/>
          <p:cNvGrpSpPr/>
          <p:nvPr/>
        </p:nvGrpSpPr>
        <p:grpSpPr>
          <a:xfrm>
            <a:off x="6400800" y="4117658"/>
            <a:ext cx="5257800" cy="1445895"/>
            <a:chOff x="6400800" y="4117658"/>
            <a:chExt cx="5257800" cy="1445895"/>
          </a:xfrm>
        </p:grpSpPr>
        <p:sp>
          <p:nvSpPr>
            <p:cNvPr id="242" name="Rectangle 242"/>
            <p:cNvSpPr/>
            <p:nvPr/>
          </p:nvSpPr>
          <p:spPr>
            <a:xfrm>
              <a:off x="6400800" y="4117658"/>
              <a:ext cx="5257800" cy="1445895"/>
            </a:xfrm>
            <a:prstGeom prst="roundRect">
              <a:avLst>
                <a:gd name="adj" fmla="val 922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3" name="Rectangle 243"/>
            <p:cNvSpPr/>
            <p:nvPr/>
          </p:nvSpPr>
          <p:spPr>
            <a:xfrm>
              <a:off x="6581775" y="42986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44" name="TextBox 244"/>
            <p:cNvSpPr txBox="1"/>
            <p:nvPr/>
          </p:nvSpPr>
          <p:spPr>
            <a:xfrm>
              <a:off x="6674447" y="43314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45" name="Ellipse 245"/>
            <p:cNvSpPr/>
            <p:nvPr/>
          </p:nvSpPr>
          <p:spPr>
            <a:xfrm>
              <a:off x="6591300" y="469106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6" name="TextBox 246"/>
            <p:cNvSpPr txBox="1"/>
            <p:nvPr/>
          </p:nvSpPr>
          <p:spPr>
            <a:xfrm>
              <a:off x="6746748" y="4639151"/>
              <a:ext cx="4725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8 = (1, 1, 0, 1)：2 + 3 + 10，原次序的 {w₁, w₃, w₄}</a:t>
              </a:r>
            </a:p>
          </p:txBody>
        </p:sp>
        <p:sp>
          <p:nvSpPr>
            <p:cNvPr id="247" name="Ellipse 247"/>
            <p:cNvSpPr/>
            <p:nvPr/>
          </p:nvSpPr>
          <p:spPr>
            <a:xfrm>
              <a:off x="6591300" y="497586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8" name="TextBox 248"/>
            <p:cNvSpPr txBox="1"/>
            <p:nvPr/>
          </p:nvSpPr>
          <p:spPr>
            <a:xfrm>
              <a:off x="6746748" y="4923949"/>
              <a:ext cx="4157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27 = (0, 0, 1, 1)：5 + 10，原次序的 {w₂, w₄}</a:t>
              </a:r>
            </a:p>
          </p:txBody>
        </p:sp>
      </p:grpSp>
      <p:grpSp>
        <p:nvGrpSpPr>
          <p:cNvPr id="2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50" name="Rectangle 2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4" name="Group 25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2" name="Freeform 252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3" name="Freeform 253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5" name="TextBox 255"/>
            <p:cNvSpPr txBox="1"/>
            <p:nvPr/>
          </p:nvSpPr>
          <p:spPr>
            <a:xfrm>
              <a:off x="1041273" y="6039326"/>
              <a:ext cx="101811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排序后 W = (2, 3, 5, 10)，方形是 B 为假被剪掉的结点。原讲解表头写 W(i+1)，指的是 W(k+1)；叶结点后面没有元素，按 0 计。</a:t>
              </a:r>
            </a:p>
          </p:txBody>
        </p:sp>
      </p:grpSp>
      <p:grpSp>
        <p:nvGrpSpPr>
          <p:cNvPr id="2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57" name="TextBox 25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258" name="TextBox 2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85175" cy="909257"/>
            <a:chOff x="520446" y="342900"/>
            <a:chExt cx="90851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851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 复核：穷举也只有两组，前缀和恰好等于 M 时要先收下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616518"/>
            <a:chOff x="533400" y="1524000"/>
            <a:chExt cx="584263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子集和数的回溯算法（定长元组）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432556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SUMSUB(k, s, r)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X(1..k-1) 已定，s = 已选之和，r = W(k)+...+W(n)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W 已按非降排序，W(n+1) 记为 0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x &lt;- 1 to 0 by -1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X(k) &lt;- x; s1 &lt;- s + x*W(k); r1 &lt;- r - W(k)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s1 = M then print(X(1..k), 其余取 0)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if s1 + r1 &gt;= M and s1 + W(k+1) &lt;= M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call SUMSUB(k+1, s1, r1)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 为真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SUMSUB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初次调用 SUMSUB(1, 0, W(1)+...+W(n))</a:t>
              </a:r>
            </a:p>
          </p:txBody>
        </p:sp>
      </p:grpSp>
      <p:grpSp>
        <p:nvGrpSpPr>
          <p:cNvPr id="30" name="c1-table-2"/>
          <p:cNvGrpSpPr/>
          <p:nvPr/>
        </p:nvGrpSpPr>
        <p:grpSpPr>
          <a:xfrm>
            <a:off x="533400" y="4305300"/>
            <a:ext cx="5842635" cy="1906905"/>
            <a:chOff x="533400" y="4305300"/>
            <a:chExt cx="5842635" cy="1906905"/>
          </a:xfrm>
        </p:grpSpPr>
        <p:sp>
          <p:nvSpPr>
            <p:cNvPr id="11" name="Rectangle 11"/>
            <p:cNvSpPr/>
            <p:nvPr/>
          </p:nvSpPr>
          <p:spPr>
            <a:xfrm>
              <a:off x="533400" y="4305300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55432" y="44224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76750" y="44224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8078" y="480345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状态空间树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65513" y="480345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个结点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0625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506730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8078" y="518541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剪枝后实际生成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5513" y="5185410"/>
              <a:ext cx="2196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 个结点（含根），8 个被 B 剪掉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4444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5566410"/>
              <a:ext cx="9697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2⁴ 个子集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80360" y="5458778"/>
              <a:ext cx="348710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65513" y="5566410"/>
              <a:ext cx="2357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和为 15 的只有 {2, 3, 10}、{5, 10}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8254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58302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5947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65513" y="5947410"/>
              <a:ext cx="23576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最坏生成 O(2ⁿ) 个结点，每个 O(1)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305300"/>
              <a:ext cx="5842635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866072" y="43053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2-card-1"/>
          <p:cNvGrpSpPr/>
          <p:nvPr/>
        </p:nvGrpSpPr>
        <p:grpSpPr>
          <a:xfrm>
            <a:off x="6680835" y="1524000"/>
            <a:ext cx="4977765" cy="1930718"/>
            <a:chOff x="6680835" y="1524000"/>
            <a:chExt cx="4977765" cy="1930718"/>
          </a:xfrm>
        </p:grpSpPr>
        <p:sp>
          <p:nvSpPr>
            <p:cNvPr id="31" name="Rectangle 31"/>
            <p:cNvSpPr/>
            <p:nvPr/>
          </p:nvSpPr>
          <p:spPr>
            <a:xfrm>
              <a:off x="6680835" y="1524000"/>
              <a:ext cx="4977765" cy="1930718"/>
            </a:xfrm>
            <a:prstGeom prst="roundRect">
              <a:avLst>
                <a:gd name="adj" fmla="val 6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90360" y="1657350"/>
              <a:ext cx="47625" cy="16640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99910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92582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66838" y="1744504"/>
              <a:ext cx="19559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只按 B 剪枝会把答案剪掉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3433" y="2061686"/>
              <a:ext cx="43939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的第二个条件默认 s &lt; M。W 仍为 (2, 3, 5, 10)，取 M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5：结点 (1, 1) 的 s = 5，但 5 + W(3) = 10 &gt; 5，B 为假；结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 (0, 0, 1) 同理。两个答案 {2, 3} 和 {5} 全被剪掉。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93433" y="2832259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所以算法第 6 行先判 s1 = M：凑够就输出，后面的 X 全取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680835" y="3619500"/>
            <a:ext cx="4977765" cy="1671638"/>
            <a:chOff x="6680835" y="3619500"/>
            <a:chExt cx="4977765" cy="1671638"/>
          </a:xfrm>
        </p:grpSpPr>
        <p:sp>
          <p:nvSpPr>
            <p:cNvPr id="39" name="Rectangle 39"/>
            <p:cNvSpPr/>
            <p:nvPr/>
          </p:nvSpPr>
          <p:spPr>
            <a:xfrm>
              <a:off x="6680835" y="3619500"/>
              <a:ext cx="497776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0360" y="3752850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899910" y="38004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85432" y="38333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909435" y="419385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64883" y="4140994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按上面的算法逐结点算 s、r、W(k+1)，18 行与原讲解的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表完全一致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909435" y="472154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4883" y="4668679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5 时只用 B 找到 0 组，先判 s1 = M 找到 2 组，与穷举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680835" y="5456872"/>
            <a:ext cx="4977765" cy="755332"/>
            <a:chOff x="6680835" y="5456872"/>
            <a:chExt cx="4977765" cy="755332"/>
          </a:xfrm>
        </p:grpSpPr>
        <p:sp>
          <p:nvSpPr>
            <p:cNvPr id="48" name="Rectangle 48"/>
            <p:cNvSpPr/>
            <p:nvPr/>
          </p:nvSpPr>
          <p:spPr>
            <a:xfrm>
              <a:off x="6680835" y="5456872"/>
              <a:ext cx="4977765" cy="755332"/>
            </a:xfrm>
            <a:prstGeom prst="roundRect">
              <a:avLst>
                <a:gd name="adj" fmla="val 1513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885623" y="5734050"/>
              <a:ext cx="200026" cy="200026"/>
              <a:chOff x="6885623" y="5734050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885623" y="57340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985635" y="5800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974523" y="58340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188708" y="5627846"/>
              <a:ext cx="3890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为什么要排序：W 非降时，W(k+1) 是剩下元素中最小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的，它放不下才能推出后面都放不下。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300357" cy="909257"/>
            <a:chOff x="520446" y="342900"/>
            <a:chExt cx="113003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3003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题4(1)：ΣLESS(i) = 22，空格不在阴影格，X = 0，和为偶数，目标可达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2012632"/>
            <a:chOff x="533400" y="1524000"/>
            <a:chExt cx="4977765" cy="2012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12632"/>
            </a:xfrm>
            <a:prstGeom prst="roundRect">
              <a:avLst>
                <a:gd name="adj" fmla="val 6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459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第4题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366082" cy="768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谜：(1) 判定下图初始状态能否到达目标；(2) 设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ĉ(X) = f(X) + ĝ(X)，用 LC 检索画出状态空间树并标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924175"/>
              <a:ext cx="43022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思路：f(X) 是根到 X 的路径长度，ĝ(X) 是不在目标位置的非空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白牌数。</a:t>
              </a:r>
            </a:p>
          </p:txBody>
        </p:sp>
      </p:grpSp>
      <p:grpSp>
        <p:nvGrpSpPr>
          <p:cNvPr id="15" name="c1-text-2"/>
          <p:cNvGrpSpPr/>
          <p:nvPr/>
        </p:nvGrpSpPr>
        <p:grpSpPr>
          <a:xfrm>
            <a:off x="527304" y="3741420"/>
            <a:ext cx="3243072" cy="234696"/>
            <a:chOff x="527304" y="3741420"/>
            <a:chExt cx="324307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527304" y="374142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开局（橙色为不在目标位置的牌）　　　目标</a:t>
              </a:r>
            </a:p>
          </p:txBody>
        </p:sp>
      </p:grpSp>
      <p:grpSp>
        <p:nvGrpSpPr>
          <p:cNvPr id="82" name="c1-cells-3"/>
          <p:cNvGrpSpPr/>
          <p:nvPr/>
        </p:nvGrpSpPr>
        <p:grpSpPr>
          <a:xfrm>
            <a:off x="533400" y="4114800"/>
            <a:ext cx="3658553" cy="1404937"/>
            <a:chOff x="533400" y="4114800"/>
            <a:chExt cx="3658553" cy="1404937"/>
          </a:xfrm>
        </p:grpSpPr>
        <p:sp>
          <p:nvSpPr>
            <p:cNvPr id="16" name="Rectangle 16"/>
            <p:cNvSpPr/>
            <p:nvPr/>
          </p:nvSpPr>
          <p:spPr>
            <a:xfrm>
              <a:off x="533400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3541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40118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0258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346835" y="4114800"/>
              <a:ext cx="406718" cy="35147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52600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03693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59318" y="4114800"/>
              <a:ext cx="406718" cy="3514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566035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16176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972752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22893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379470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29611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785235" y="411480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36328" y="42157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3541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40118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0258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346835" y="4465320"/>
              <a:ext cx="406718" cy="3514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96976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752600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903693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159318" y="4465320"/>
              <a:ext cx="406718" cy="3514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566035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16176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972752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22893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379470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29611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785235" y="4465320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936328" y="45662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3541" y="49177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40118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3612" y="49177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346835" y="4816792"/>
              <a:ext cx="406718" cy="3514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96976" y="49177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752600" y="4816792"/>
              <a:ext cx="406718" cy="3514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857047" y="49177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159318" y="4816792"/>
              <a:ext cx="406718" cy="3514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2566035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716176" y="49177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972752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076247" y="49177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379470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482965" y="49177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785235" y="4816792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889682" y="49177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6895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40118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43612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46835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450330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752600" y="5168265"/>
              <a:ext cx="406718" cy="35147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857047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159318" y="5168265"/>
              <a:ext cx="406718" cy="35147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566035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669530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2972752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076247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3379470" y="5168265"/>
              <a:ext cx="406718" cy="35147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F4B9A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482965" y="526923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3785235" y="5168265"/>
              <a:ext cx="406718" cy="35147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2F4B9A"/>
              </a:solidFill>
            </a:ln>
          </p:spPr>
        </p:sp>
      </p:grpSp>
      <p:grpSp>
        <p:nvGrpSpPr>
          <p:cNvPr id="92" name="c2-card-1"/>
          <p:cNvGrpSpPr/>
          <p:nvPr/>
        </p:nvGrpSpPr>
        <p:grpSpPr>
          <a:xfrm>
            <a:off x="5815965" y="1524000"/>
            <a:ext cx="5842635" cy="2185988"/>
            <a:chOff x="5815965" y="1524000"/>
            <a:chExt cx="5842635" cy="2185988"/>
          </a:xfrm>
        </p:grpSpPr>
        <p:sp>
          <p:nvSpPr>
            <p:cNvPr id="83" name="Rectangle 83"/>
            <p:cNvSpPr/>
            <p:nvPr/>
          </p:nvSpPr>
          <p:spPr>
            <a:xfrm>
              <a:off x="5815965" y="1524000"/>
              <a:ext cx="5842635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5825490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05790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3925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判定定理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50661" y="2100739"/>
              <a:ext cx="50189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目标状态可由初始状态到达，当且仅当 ΣLESS(i) + X 是偶数（i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1~16，空格记为 16）。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065520" y="275272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222111" y="269224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LESS(i)：牌号 j &lt; i 且 POSITION(j) &gt; POSITION(i) 的 j 的个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065520" y="3344228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22111" y="3283744"/>
              <a:ext cx="48759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X：空格在阴影格（行号 + 列号为奇数）时取 1，否则取 0</a:t>
              </a:r>
            </a:p>
          </p:txBody>
        </p:sp>
      </p:grpSp>
      <p:grpSp>
        <p:nvGrpSpPr>
          <p:cNvPr id="129" name="c2-table-2"/>
          <p:cNvGrpSpPr/>
          <p:nvPr/>
        </p:nvGrpSpPr>
        <p:grpSpPr>
          <a:xfrm>
            <a:off x="5810250" y="3895725"/>
            <a:ext cx="5848350" cy="1155859"/>
            <a:chOff x="5810250" y="3895725"/>
            <a:chExt cx="5848350" cy="1155859"/>
          </a:xfrm>
        </p:grpSpPr>
        <p:sp>
          <p:nvSpPr>
            <p:cNvPr id="93" name="Rectangle 93"/>
            <p:cNvSpPr/>
            <p:nvPr/>
          </p:nvSpPr>
          <p:spPr>
            <a:xfrm>
              <a:off x="5815965" y="3895725"/>
              <a:ext cx="584263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144936" y="4027170"/>
              <a:ext cx="2755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牌 i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921463" y="4027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68186" y="4027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814908" y="4027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261631" y="4027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708353" y="402717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152245" y="4027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687550" y="4027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221902" y="4027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757207" y="4027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91560" y="402717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5957450" y="4456748"/>
              <a:ext cx="6504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LESS(i)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923684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70407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817129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263852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710574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201112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736417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270769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806074" y="4456748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1133772" y="4335780"/>
              <a:ext cx="51530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1296002" y="445674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5815965" y="3895725"/>
              <a:ext cx="5842635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6745605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7192328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763905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8085772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8532495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898017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4" name="Rectangle 124"/>
            <p:cNvSpPr/>
            <p:nvPr/>
          </p:nvSpPr>
          <p:spPr>
            <a:xfrm>
              <a:off x="9514522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10049828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0584180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11119485" y="3895725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5810250" y="4831556"/>
              <a:ext cx="5832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牌 1、2、3、7、11、12 的 LESS 为 0；前 9 个 1 都来自排在后面的更小的牌 3、7、12</a:t>
              </a:r>
            </a:p>
          </p:txBody>
        </p:sp>
      </p:grpSp>
      <p:grpSp>
        <p:nvGrpSpPr>
          <p:cNvPr id="135" name="c2-callout-3"/>
          <p:cNvGrpSpPr/>
          <p:nvPr/>
        </p:nvGrpSpPr>
        <p:grpSpPr>
          <a:xfrm>
            <a:off x="5815965" y="5193030"/>
            <a:ext cx="5842635" cy="1018222"/>
            <a:chOff x="5815965" y="5193030"/>
            <a:chExt cx="5842635" cy="1018222"/>
          </a:xfrm>
        </p:grpSpPr>
        <p:sp>
          <p:nvSpPr>
            <p:cNvPr id="130" name="Rectangle 130"/>
            <p:cNvSpPr/>
            <p:nvPr/>
          </p:nvSpPr>
          <p:spPr>
            <a:xfrm>
              <a:off x="5815965" y="5193030"/>
              <a:ext cx="5842635" cy="1018222"/>
            </a:xfrm>
            <a:prstGeom prst="roundRect">
              <a:avLst>
                <a:gd name="adj" fmla="val 1122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33" name="Group 133"/>
            <p:cNvGrpSpPr/>
            <p:nvPr/>
          </p:nvGrpSpPr>
          <p:grpSpPr>
            <a:xfrm>
              <a:off x="6020753" y="5602605"/>
              <a:ext cx="200026" cy="200026"/>
              <a:chOff x="6020753" y="5602605"/>
              <a:chExt cx="200026" cy="200026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6020753" y="56026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6087428" y="56803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34" name="TextBox 134"/>
            <p:cNvSpPr txBox="1"/>
            <p:nvPr/>
          </p:nvSpPr>
          <p:spPr>
            <a:xfrm>
              <a:off x="6323076" y="5340191"/>
              <a:ext cx="491070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空格在位置 3，后面有 13 块牌，LESS(16) = 13；Σ = 9 + 13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= 22。空格在第 1 行第 3 列，1 + 3 为偶数，X = 0。22 + 0 是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偶数，目标可达。</a:t>
              </a:r>
            </a:p>
          </p:txBody>
        </p:sp>
      </p:grpSp>
      <p:grpSp>
        <p:nvGrpSpPr>
          <p:cNvPr id="1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6" name="TextBox 136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827" y="342900"/>
            <a:ext cx="11310604" cy="902684"/>
            <a:chOff x="520827" y="342900"/>
            <a:chExt cx="11310604" cy="902684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827" y="761524"/>
              <a:ext cx="11310604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题4(2)：LC 检索扩展 1、3、6、8 四个结点，空格下、下、右、下到达目标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8" name="lc15-tree"/>
          <p:cNvGrpSpPr/>
          <p:nvPr/>
        </p:nvGrpSpPr>
        <p:grpSpPr>
          <a:xfrm>
            <a:off x="1123950" y="1581150"/>
            <a:ext cx="6101699" cy="4505039"/>
            <a:chOff x="1123950" y="1581150"/>
            <a:chExt cx="6101699" cy="4505039"/>
          </a:xfrm>
        </p:grpSpPr>
        <p:sp>
          <p:nvSpPr>
            <p:cNvPr id="7" name="Line 7"/>
            <p:cNvSpPr/>
            <p:nvPr/>
          </p:nvSpPr>
          <p:spPr>
            <a:xfrm>
              <a:off x="1428750" y="2190750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2286000" y="0"/>
                  </a:moveTo>
                  <a:lnTo>
                    <a:pt x="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3714750" y="219075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714750" y="2190750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0" y="0"/>
                  </a:moveTo>
                  <a:lnTo>
                    <a:pt x="228600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3152775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2286000" y="0"/>
                  </a:moveTo>
                  <a:lnTo>
                    <a:pt x="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714750" y="31527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714750" y="3152775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0" y="0"/>
                  </a:moveTo>
                  <a:lnTo>
                    <a:pt x="228600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428750" y="4114800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2286000" y="0"/>
                  </a:moveTo>
                  <a:lnTo>
                    <a:pt x="0" y="35242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714750" y="4114800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714750" y="4114800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0" y="0"/>
                  </a:moveTo>
                  <a:lnTo>
                    <a:pt x="228600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428750" y="50768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2382">
              <a:solidFill>
                <a:srgbClr val="5B6475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428750" y="5076825"/>
              <a:ext cx="2286000" cy="352425"/>
            </a:xfrm>
            <a:custGeom>
              <a:avLst/>
              <a:gdLst/>
              <a:ahLst/>
              <a:cxnLst/>
              <a:rect l="l" t="t" r="r" b="b"/>
              <a:pathLst>
                <a:path w="2286000" h="352425">
                  <a:moveTo>
                    <a:pt x="0" y="0"/>
                  </a:moveTo>
                  <a:lnTo>
                    <a:pt x="2286000" y="352425"/>
                  </a:lnTo>
                </a:path>
              </a:pathLst>
            </a:custGeom>
            <a:noFill/>
            <a:ln w="2095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09950" y="15811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51031" y="1606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562350" y="15811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3431" y="1606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14750" y="158115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67150" y="15811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908231" y="1606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09950" y="17335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451031" y="175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62350" y="17335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03431" y="175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714750" y="17335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54313" y="17587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67150" y="17335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908231" y="175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09950" y="18859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51031" y="19111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562350" y="18859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73074" y="19111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714750" y="18859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54313" y="19111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67150" y="18859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74838" y="191119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409950" y="20383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20674" y="20635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62350" y="20383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573074" y="20635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714750" y="20383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725474" y="20635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867150" y="20383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74838" y="206359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09950" y="1581150"/>
              <a:ext cx="609600" cy="6096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90416" y="1639252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 · 开局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90416" y="184880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 = 0 + 4 = 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90797" y="204739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张不在位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239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650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2763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3174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428750" y="25431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68313" y="25684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581150" y="254317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239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650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2763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3174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1428750" y="26955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468313" y="27208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5811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6222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239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65031" y="28732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2763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287074" y="28732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4287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468313" y="28732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5811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588838" y="28732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1239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1346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12763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12870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4287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4394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581150" y="30003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588838" y="30256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123950" y="2543175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804416" y="260127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2 · 右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804416" y="281082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1 + 5 = 6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804797" y="300942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张不在位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4099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4510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35623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36034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7147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7558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8671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9082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4099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4510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35623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36034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714750" y="269557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38671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39082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34099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3451031" y="28732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35623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3573074" y="28732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37147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3754313" y="28732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38671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3874838" y="28732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4099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34206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35623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35730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7147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7254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3867150" y="30003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3874838" y="30256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3409950" y="2543175"/>
              <a:ext cx="609600" cy="6096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4090416" y="260127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3 · 下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4090416" y="281082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 = 1 + 3 = 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4090797" y="300942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张不在位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56959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57370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5848350" y="254317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6000750" y="25431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040313" y="25684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153150" y="25431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6194231" y="2568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56959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57370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8483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58894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6000750" y="26955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6040313" y="27208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6153150" y="26955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194231" y="2720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56959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5737031" y="28732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5848350" y="28479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5859074" y="28732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60007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6040313" y="2873216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6153150" y="28479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6160838" y="28732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56959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57066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58483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58590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6000750" y="300037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6011474" y="30256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6153150" y="300037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6160838" y="302561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4" name="Rectangle 154"/>
            <p:cNvSpPr/>
            <p:nvPr/>
          </p:nvSpPr>
          <p:spPr>
            <a:xfrm>
              <a:off x="5695950" y="2543175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376416" y="260127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4 · 左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6376416" y="281082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1 + 5 = 6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6376797" y="300942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 张不在位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11239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11650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12763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13174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14287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14698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15811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16222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11239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11650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8" name="Rectangle 168"/>
            <p:cNvSpPr/>
            <p:nvPr/>
          </p:nvSpPr>
          <p:spPr>
            <a:xfrm>
              <a:off x="12763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69" name="TextBox 169"/>
            <p:cNvSpPr txBox="1"/>
            <p:nvPr/>
          </p:nvSpPr>
          <p:spPr>
            <a:xfrm>
              <a:off x="13174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70" name="Rectangle 170"/>
            <p:cNvSpPr/>
            <p:nvPr/>
          </p:nvSpPr>
          <p:spPr>
            <a:xfrm>
              <a:off x="1428750" y="36576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1" name="TextBox 171"/>
            <p:cNvSpPr txBox="1"/>
            <p:nvPr/>
          </p:nvSpPr>
          <p:spPr>
            <a:xfrm>
              <a:off x="1468313" y="3682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72" name="Rectangle 172"/>
            <p:cNvSpPr/>
            <p:nvPr/>
          </p:nvSpPr>
          <p:spPr>
            <a:xfrm>
              <a:off x="1581150" y="365760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11239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4" name="TextBox 174"/>
            <p:cNvSpPr txBox="1"/>
            <p:nvPr/>
          </p:nvSpPr>
          <p:spPr>
            <a:xfrm>
              <a:off x="116503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5" name="Rectangle 175"/>
            <p:cNvSpPr/>
            <p:nvPr/>
          </p:nvSpPr>
          <p:spPr>
            <a:xfrm>
              <a:off x="12763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76" name="TextBox 176"/>
            <p:cNvSpPr txBox="1"/>
            <p:nvPr/>
          </p:nvSpPr>
          <p:spPr>
            <a:xfrm>
              <a:off x="1287074" y="38352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7" name="Rectangle 177"/>
            <p:cNvSpPr/>
            <p:nvPr/>
          </p:nvSpPr>
          <p:spPr>
            <a:xfrm>
              <a:off x="1428750" y="38100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1468313" y="38352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79" name="Rectangle 179"/>
            <p:cNvSpPr/>
            <p:nvPr/>
          </p:nvSpPr>
          <p:spPr>
            <a:xfrm>
              <a:off x="1581150" y="38100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1588838" y="38352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81" name="Rectangle 181"/>
            <p:cNvSpPr/>
            <p:nvPr/>
          </p:nvSpPr>
          <p:spPr>
            <a:xfrm>
              <a:off x="11239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2" name="TextBox 182"/>
            <p:cNvSpPr txBox="1"/>
            <p:nvPr/>
          </p:nvSpPr>
          <p:spPr>
            <a:xfrm>
              <a:off x="11346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83" name="Rectangle 183"/>
            <p:cNvSpPr/>
            <p:nvPr/>
          </p:nvSpPr>
          <p:spPr>
            <a:xfrm>
              <a:off x="12763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4" name="TextBox 184"/>
            <p:cNvSpPr txBox="1"/>
            <p:nvPr/>
          </p:nvSpPr>
          <p:spPr>
            <a:xfrm>
              <a:off x="12870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85" name="Rectangle 185"/>
            <p:cNvSpPr/>
            <p:nvPr/>
          </p:nvSpPr>
          <p:spPr>
            <a:xfrm>
              <a:off x="14287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86" name="TextBox 186"/>
            <p:cNvSpPr txBox="1"/>
            <p:nvPr/>
          </p:nvSpPr>
          <p:spPr>
            <a:xfrm>
              <a:off x="14394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87" name="Rectangle 187"/>
            <p:cNvSpPr/>
            <p:nvPr/>
          </p:nvSpPr>
          <p:spPr>
            <a:xfrm>
              <a:off x="1581150" y="39624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188" name="TextBox 188"/>
            <p:cNvSpPr txBox="1"/>
            <p:nvPr/>
          </p:nvSpPr>
          <p:spPr>
            <a:xfrm>
              <a:off x="1588838" y="39876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89" name="Rectangle 189"/>
            <p:cNvSpPr/>
            <p:nvPr/>
          </p:nvSpPr>
          <p:spPr>
            <a:xfrm>
              <a:off x="1123950" y="3505200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190" name="TextBox 190"/>
            <p:cNvSpPr txBox="1"/>
            <p:nvPr/>
          </p:nvSpPr>
          <p:spPr>
            <a:xfrm>
              <a:off x="1804416" y="356330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5 · 右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804416" y="377285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2 + 4 = 6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1804797" y="397144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张不在位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34099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34510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5" name="Rectangle 195"/>
            <p:cNvSpPr/>
            <p:nvPr/>
          </p:nvSpPr>
          <p:spPr>
            <a:xfrm>
              <a:off x="35623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6" name="TextBox 196"/>
            <p:cNvSpPr txBox="1"/>
            <p:nvPr/>
          </p:nvSpPr>
          <p:spPr>
            <a:xfrm>
              <a:off x="36034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7" name="Rectangle 197"/>
            <p:cNvSpPr/>
            <p:nvPr/>
          </p:nvSpPr>
          <p:spPr>
            <a:xfrm>
              <a:off x="37147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7558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9" name="Rectangle 199"/>
            <p:cNvSpPr/>
            <p:nvPr/>
          </p:nvSpPr>
          <p:spPr>
            <a:xfrm>
              <a:off x="38671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0" name="TextBox 200"/>
            <p:cNvSpPr txBox="1"/>
            <p:nvPr/>
          </p:nvSpPr>
          <p:spPr>
            <a:xfrm>
              <a:off x="39082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1" name="Rectangle 201"/>
            <p:cNvSpPr/>
            <p:nvPr/>
          </p:nvSpPr>
          <p:spPr>
            <a:xfrm>
              <a:off x="34099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34510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3" name="Rectangle 203"/>
            <p:cNvSpPr/>
            <p:nvPr/>
          </p:nvSpPr>
          <p:spPr>
            <a:xfrm>
              <a:off x="35623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4" name="TextBox 204"/>
            <p:cNvSpPr txBox="1"/>
            <p:nvPr/>
          </p:nvSpPr>
          <p:spPr>
            <a:xfrm>
              <a:off x="36034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5" name="Rectangle 205"/>
            <p:cNvSpPr/>
            <p:nvPr/>
          </p:nvSpPr>
          <p:spPr>
            <a:xfrm>
              <a:off x="37147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37558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7" name="Rectangle 207"/>
            <p:cNvSpPr/>
            <p:nvPr/>
          </p:nvSpPr>
          <p:spPr>
            <a:xfrm>
              <a:off x="38671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08" name="TextBox 208"/>
            <p:cNvSpPr txBox="1"/>
            <p:nvPr/>
          </p:nvSpPr>
          <p:spPr>
            <a:xfrm>
              <a:off x="39082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09" name="Rectangle 209"/>
            <p:cNvSpPr/>
            <p:nvPr/>
          </p:nvSpPr>
          <p:spPr>
            <a:xfrm>
              <a:off x="34099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345103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11" name="Rectangle 211"/>
            <p:cNvSpPr/>
            <p:nvPr/>
          </p:nvSpPr>
          <p:spPr>
            <a:xfrm>
              <a:off x="35623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2" name="TextBox 212"/>
            <p:cNvSpPr txBox="1"/>
            <p:nvPr/>
          </p:nvSpPr>
          <p:spPr>
            <a:xfrm>
              <a:off x="3573074" y="38352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13" name="Rectangle 213"/>
            <p:cNvSpPr/>
            <p:nvPr/>
          </p:nvSpPr>
          <p:spPr>
            <a:xfrm>
              <a:off x="3714750" y="381000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14" name="Rectangle 214"/>
            <p:cNvSpPr/>
            <p:nvPr/>
          </p:nvSpPr>
          <p:spPr>
            <a:xfrm>
              <a:off x="3867150" y="38100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15" name="TextBox 215"/>
            <p:cNvSpPr txBox="1"/>
            <p:nvPr/>
          </p:nvSpPr>
          <p:spPr>
            <a:xfrm>
              <a:off x="3874838" y="38352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16" name="Rectangle 216"/>
            <p:cNvSpPr/>
            <p:nvPr/>
          </p:nvSpPr>
          <p:spPr>
            <a:xfrm>
              <a:off x="34099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7" name="TextBox 217"/>
            <p:cNvSpPr txBox="1"/>
            <p:nvPr/>
          </p:nvSpPr>
          <p:spPr>
            <a:xfrm>
              <a:off x="34206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18" name="Rectangle 218"/>
            <p:cNvSpPr/>
            <p:nvPr/>
          </p:nvSpPr>
          <p:spPr>
            <a:xfrm>
              <a:off x="35623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19" name="TextBox 219"/>
            <p:cNvSpPr txBox="1"/>
            <p:nvPr/>
          </p:nvSpPr>
          <p:spPr>
            <a:xfrm>
              <a:off x="35730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20" name="Rectangle 220"/>
            <p:cNvSpPr/>
            <p:nvPr/>
          </p:nvSpPr>
          <p:spPr>
            <a:xfrm>
              <a:off x="37147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1" name="TextBox 221"/>
            <p:cNvSpPr txBox="1"/>
            <p:nvPr/>
          </p:nvSpPr>
          <p:spPr>
            <a:xfrm>
              <a:off x="37254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22" name="Rectangle 222"/>
            <p:cNvSpPr/>
            <p:nvPr/>
          </p:nvSpPr>
          <p:spPr>
            <a:xfrm>
              <a:off x="3867150" y="39624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23" name="TextBox 223"/>
            <p:cNvSpPr txBox="1"/>
            <p:nvPr/>
          </p:nvSpPr>
          <p:spPr>
            <a:xfrm>
              <a:off x="3874838" y="39876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24" name="Rectangle 224"/>
            <p:cNvSpPr/>
            <p:nvPr/>
          </p:nvSpPr>
          <p:spPr>
            <a:xfrm>
              <a:off x="3409950" y="3505200"/>
              <a:ext cx="609600" cy="6096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225" name="TextBox 225"/>
            <p:cNvSpPr txBox="1"/>
            <p:nvPr/>
          </p:nvSpPr>
          <p:spPr>
            <a:xfrm>
              <a:off x="4090416" y="356330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6 · 下</a:t>
              </a:r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4090416" y="377285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 = 2 + 2 = 4</a:t>
              </a:r>
            </a:p>
          </p:txBody>
        </p:sp>
        <p:sp>
          <p:nvSpPr>
            <p:cNvPr id="227" name="TextBox 227"/>
            <p:cNvSpPr txBox="1"/>
            <p:nvPr/>
          </p:nvSpPr>
          <p:spPr>
            <a:xfrm>
              <a:off x="4090797" y="397144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张不在位</a:t>
              </a:r>
            </a:p>
          </p:txBody>
        </p:sp>
        <p:sp>
          <p:nvSpPr>
            <p:cNvPr id="228" name="Rectangle 228"/>
            <p:cNvSpPr/>
            <p:nvPr/>
          </p:nvSpPr>
          <p:spPr>
            <a:xfrm>
              <a:off x="56959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29" name="TextBox 229"/>
            <p:cNvSpPr txBox="1"/>
            <p:nvPr/>
          </p:nvSpPr>
          <p:spPr>
            <a:xfrm>
              <a:off x="57370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0" name="Rectangle 230"/>
            <p:cNvSpPr/>
            <p:nvPr/>
          </p:nvSpPr>
          <p:spPr>
            <a:xfrm>
              <a:off x="58483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1" name="TextBox 231"/>
            <p:cNvSpPr txBox="1"/>
            <p:nvPr/>
          </p:nvSpPr>
          <p:spPr>
            <a:xfrm>
              <a:off x="58894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2" name="Rectangle 232"/>
            <p:cNvSpPr/>
            <p:nvPr/>
          </p:nvSpPr>
          <p:spPr>
            <a:xfrm>
              <a:off x="60007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3" name="TextBox 233"/>
            <p:cNvSpPr txBox="1"/>
            <p:nvPr/>
          </p:nvSpPr>
          <p:spPr>
            <a:xfrm>
              <a:off x="60418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4" name="Rectangle 234"/>
            <p:cNvSpPr/>
            <p:nvPr/>
          </p:nvSpPr>
          <p:spPr>
            <a:xfrm>
              <a:off x="6153150" y="35052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5" name="TextBox 235"/>
            <p:cNvSpPr txBox="1"/>
            <p:nvPr/>
          </p:nvSpPr>
          <p:spPr>
            <a:xfrm>
              <a:off x="6194231" y="35304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6" name="Rectangle 236"/>
            <p:cNvSpPr/>
            <p:nvPr/>
          </p:nvSpPr>
          <p:spPr>
            <a:xfrm>
              <a:off x="56959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37" name="TextBox 237"/>
            <p:cNvSpPr txBox="1"/>
            <p:nvPr/>
          </p:nvSpPr>
          <p:spPr>
            <a:xfrm>
              <a:off x="57370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38" name="Rectangle 238"/>
            <p:cNvSpPr/>
            <p:nvPr/>
          </p:nvSpPr>
          <p:spPr>
            <a:xfrm>
              <a:off x="5848350" y="365760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39" name="Rectangle 239"/>
            <p:cNvSpPr/>
            <p:nvPr/>
          </p:nvSpPr>
          <p:spPr>
            <a:xfrm>
              <a:off x="6000750" y="36576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0" name="TextBox 240"/>
            <p:cNvSpPr txBox="1"/>
            <p:nvPr/>
          </p:nvSpPr>
          <p:spPr>
            <a:xfrm>
              <a:off x="6040313" y="36828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1" name="Rectangle 241"/>
            <p:cNvSpPr/>
            <p:nvPr/>
          </p:nvSpPr>
          <p:spPr>
            <a:xfrm>
              <a:off x="6153150" y="36576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2" name="TextBox 242"/>
            <p:cNvSpPr txBox="1"/>
            <p:nvPr/>
          </p:nvSpPr>
          <p:spPr>
            <a:xfrm>
              <a:off x="6194231" y="36828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3" name="Rectangle 243"/>
            <p:cNvSpPr/>
            <p:nvPr/>
          </p:nvSpPr>
          <p:spPr>
            <a:xfrm>
              <a:off x="56959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4" name="TextBox 244"/>
            <p:cNvSpPr txBox="1"/>
            <p:nvPr/>
          </p:nvSpPr>
          <p:spPr>
            <a:xfrm>
              <a:off x="5737031" y="383524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5" name="Rectangle 245"/>
            <p:cNvSpPr/>
            <p:nvPr/>
          </p:nvSpPr>
          <p:spPr>
            <a:xfrm>
              <a:off x="5848350" y="38100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46" name="TextBox 246"/>
            <p:cNvSpPr txBox="1"/>
            <p:nvPr/>
          </p:nvSpPr>
          <p:spPr>
            <a:xfrm>
              <a:off x="5859074" y="38352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7" name="Rectangle 247"/>
            <p:cNvSpPr/>
            <p:nvPr/>
          </p:nvSpPr>
          <p:spPr>
            <a:xfrm>
              <a:off x="6000750" y="38100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48" name="TextBox 248"/>
            <p:cNvSpPr txBox="1"/>
            <p:nvPr/>
          </p:nvSpPr>
          <p:spPr>
            <a:xfrm>
              <a:off x="6040313" y="383524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49" name="Rectangle 249"/>
            <p:cNvSpPr/>
            <p:nvPr/>
          </p:nvSpPr>
          <p:spPr>
            <a:xfrm>
              <a:off x="6153150" y="38100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50" name="TextBox 250"/>
            <p:cNvSpPr txBox="1"/>
            <p:nvPr/>
          </p:nvSpPr>
          <p:spPr>
            <a:xfrm>
              <a:off x="6160838" y="38352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51" name="Rectangle 251"/>
            <p:cNvSpPr/>
            <p:nvPr/>
          </p:nvSpPr>
          <p:spPr>
            <a:xfrm>
              <a:off x="56959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2" name="TextBox 252"/>
            <p:cNvSpPr txBox="1"/>
            <p:nvPr/>
          </p:nvSpPr>
          <p:spPr>
            <a:xfrm>
              <a:off x="57066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53" name="Rectangle 253"/>
            <p:cNvSpPr/>
            <p:nvPr/>
          </p:nvSpPr>
          <p:spPr>
            <a:xfrm>
              <a:off x="58483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4" name="TextBox 254"/>
            <p:cNvSpPr txBox="1"/>
            <p:nvPr/>
          </p:nvSpPr>
          <p:spPr>
            <a:xfrm>
              <a:off x="58590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55" name="Rectangle 255"/>
            <p:cNvSpPr/>
            <p:nvPr/>
          </p:nvSpPr>
          <p:spPr>
            <a:xfrm>
              <a:off x="6000750" y="396240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56" name="TextBox 256"/>
            <p:cNvSpPr txBox="1"/>
            <p:nvPr/>
          </p:nvSpPr>
          <p:spPr>
            <a:xfrm>
              <a:off x="6011474" y="398764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57" name="Rectangle 257"/>
            <p:cNvSpPr/>
            <p:nvPr/>
          </p:nvSpPr>
          <p:spPr>
            <a:xfrm>
              <a:off x="6153150" y="396240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58" name="TextBox 258"/>
            <p:cNvSpPr txBox="1"/>
            <p:nvPr/>
          </p:nvSpPr>
          <p:spPr>
            <a:xfrm>
              <a:off x="6160838" y="398764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59" name="Rectangle 259"/>
            <p:cNvSpPr/>
            <p:nvPr/>
          </p:nvSpPr>
          <p:spPr>
            <a:xfrm>
              <a:off x="5695950" y="3505200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260" name="TextBox 260"/>
            <p:cNvSpPr txBox="1"/>
            <p:nvPr/>
          </p:nvSpPr>
          <p:spPr>
            <a:xfrm>
              <a:off x="6376416" y="3563302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7 · 左</a:t>
              </a:r>
            </a:p>
          </p:txBody>
        </p:sp>
        <p:sp>
          <p:nvSpPr>
            <p:cNvPr id="261" name="TextBox 261"/>
            <p:cNvSpPr txBox="1"/>
            <p:nvPr/>
          </p:nvSpPr>
          <p:spPr>
            <a:xfrm>
              <a:off x="6376416" y="377285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2 + 4 = 6</a:t>
              </a:r>
            </a:p>
          </p:txBody>
        </p:sp>
        <p:sp>
          <p:nvSpPr>
            <p:cNvPr id="262" name="TextBox 262"/>
            <p:cNvSpPr txBox="1"/>
            <p:nvPr/>
          </p:nvSpPr>
          <p:spPr>
            <a:xfrm>
              <a:off x="6376797" y="397144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张不在位</a:t>
              </a:r>
            </a:p>
          </p:txBody>
        </p:sp>
        <p:sp>
          <p:nvSpPr>
            <p:cNvPr id="263" name="Rectangle 263"/>
            <p:cNvSpPr/>
            <p:nvPr/>
          </p:nvSpPr>
          <p:spPr>
            <a:xfrm>
              <a:off x="11239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4" name="TextBox 264"/>
            <p:cNvSpPr txBox="1"/>
            <p:nvPr/>
          </p:nvSpPr>
          <p:spPr>
            <a:xfrm>
              <a:off x="11650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5" name="Rectangle 265"/>
            <p:cNvSpPr/>
            <p:nvPr/>
          </p:nvSpPr>
          <p:spPr>
            <a:xfrm>
              <a:off x="12763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6" name="TextBox 266"/>
            <p:cNvSpPr txBox="1"/>
            <p:nvPr/>
          </p:nvSpPr>
          <p:spPr>
            <a:xfrm>
              <a:off x="13174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7" name="Rectangle 267"/>
            <p:cNvSpPr/>
            <p:nvPr/>
          </p:nvSpPr>
          <p:spPr>
            <a:xfrm>
              <a:off x="14287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68" name="TextBox 268"/>
            <p:cNvSpPr txBox="1"/>
            <p:nvPr/>
          </p:nvSpPr>
          <p:spPr>
            <a:xfrm>
              <a:off x="14698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9" name="Rectangle 269"/>
            <p:cNvSpPr/>
            <p:nvPr/>
          </p:nvSpPr>
          <p:spPr>
            <a:xfrm>
              <a:off x="15811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0" name="TextBox 270"/>
            <p:cNvSpPr txBox="1"/>
            <p:nvPr/>
          </p:nvSpPr>
          <p:spPr>
            <a:xfrm>
              <a:off x="16222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1" name="Rectangle 271"/>
            <p:cNvSpPr/>
            <p:nvPr/>
          </p:nvSpPr>
          <p:spPr>
            <a:xfrm>
              <a:off x="11239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2" name="TextBox 272"/>
            <p:cNvSpPr txBox="1"/>
            <p:nvPr/>
          </p:nvSpPr>
          <p:spPr>
            <a:xfrm>
              <a:off x="11650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3" name="Rectangle 273"/>
            <p:cNvSpPr/>
            <p:nvPr/>
          </p:nvSpPr>
          <p:spPr>
            <a:xfrm>
              <a:off x="12763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4" name="TextBox 274"/>
            <p:cNvSpPr txBox="1"/>
            <p:nvPr/>
          </p:nvSpPr>
          <p:spPr>
            <a:xfrm>
              <a:off x="13174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5" name="Rectangle 275"/>
            <p:cNvSpPr/>
            <p:nvPr/>
          </p:nvSpPr>
          <p:spPr>
            <a:xfrm>
              <a:off x="14287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6" name="TextBox 276"/>
            <p:cNvSpPr txBox="1"/>
            <p:nvPr/>
          </p:nvSpPr>
          <p:spPr>
            <a:xfrm>
              <a:off x="14698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7" name="Rectangle 277"/>
            <p:cNvSpPr/>
            <p:nvPr/>
          </p:nvSpPr>
          <p:spPr>
            <a:xfrm>
              <a:off x="15811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78" name="TextBox 278"/>
            <p:cNvSpPr txBox="1"/>
            <p:nvPr/>
          </p:nvSpPr>
          <p:spPr>
            <a:xfrm>
              <a:off x="16222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79" name="Rectangle 279"/>
            <p:cNvSpPr/>
            <p:nvPr/>
          </p:nvSpPr>
          <p:spPr>
            <a:xfrm>
              <a:off x="11239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0" name="TextBox 280"/>
            <p:cNvSpPr txBox="1"/>
            <p:nvPr/>
          </p:nvSpPr>
          <p:spPr>
            <a:xfrm>
              <a:off x="1165031" y="47972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1" name="Rectangle 281"/>
            <p:cNvSpPr/>
            <p:nvPr/>
          </p:nvSpPr>
          <p:spPr>
            <a:xfrm>
              <a:off x="12763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2" name="TextBox 282"/>
            <p:cNvSpPr txBox="1"/>
            <p:nvPr/>
          </p:nvSpPr>
          <p:spPr>
            <a:xfrm>
              <a:off x="1287074" y="47972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83" name="Rectangle 283"/>
            <p:cNvSpPr/>
            <p:nvPr/>
          </p:nvSpPr>
          <p:spPr>
            <a:xfrm>
              <a:off x="14287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4" name="TextBox 284"/>
            <p:cNvSpPr txBox="1"/>
            <p:nvPr/>
          </p:nvSpPr>
          <p:spPr>
            <a:xfrm>
              <a:off x="1439474" y="47972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85" name="Rectangle 285"/>
            <p:cNvSpPr/>
            <p:nvPr/>
          </p:nvSpPr>
          <p:spPr>
            <a:xfrm>
              <a:off x="1581150" y="477202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286" name="Rectangle 286"/>
            <p:cNvSpPr/>
            <p:nvPr/>
          </p:nvSpPr>
          <p:spPr>
            <a:xfrm>
              <a:off x="11239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7" name="TextBox 287"/>
            <p:cNvSpPr txBox="1"/>
            <p:nvPr/>
          </p:nvSpPr>
          <p:spPr>
            <a:xfrm>
              <a:off x="11346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88" name="Rectangle 288"/>
            <p:cNvSpPr/>
            <p:nvPr/>
          </p:nvSpPr>
          <p:spPr>
            <a:xfrm>
              <a:off x="12763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89" name="TextBox 289"/>
            <p:cNvSpPr txBox="1"/>
            <p:nvPr/>
          </p:nvSpPr>
          <p:spPr>
            <a:xfrm>
              <a:off x="12870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90" name="Rectangle 290"/>
            <p:cNvSpPr/>
            <p:nvPr/>
          </p:nvSpPr>
          <p:spPr>
            <a:xfrm>
              <a:off x="14287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1" name="TextBox 291"/>
            <p:cNvSpPr txBox="1"/>
            <p:nvPr/>
          </p:nvSpPr>
          <p:spPr>
            <a:xfrm>
              <a:off x="14394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92" name="Rectangle 292"/>
            <p:cNvSpPr/>
            <p:nvPr/>
          </p:nvSpPr>
          <p:spPr>
            <a:xfrm>
              <a:off x="1581150" y="49244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293" name="TextBox 293"/>
            <p:cNvSpPr txBox="1"/>
            <p:nvPr/>
          </p:nvSpPr>
          <p:spPr>
            <a:xfrm>
              <a:off x="1588838" y="49496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94" name="Rectangle 294"/>
            <p:cNvSpPr/>
            <p:nvPr/>
          </p:nvSpPr>
          <p:spPr>
            <a:xfrm>
              <a:off x="1123950" y="4467225"/>
              <a:ext cx="609600" cy="609600"/>
            </a:xfrm>
            <a:prstGeom prst="rect">
              <a:avLst/>
            </a:prstGeom>
            <a:noFill/>
            <a:ln w="24765">
              <a:solidFill>
                <a:srgbClr val="F26B3A"/>
              </a:solidFill>
            </a:ln>
          </p:spPr>
        </p:sp>
        <p:sp>
          <p:nvSpPr>
            <p:cNvPr id="295" name="TextBox 295"/>
            <p:cNvSpPr txBox="1"/>
            <p:nvPr/>
          </p:nvSpPr>
          <p:spPr>
            <a:xfrm>
              <a:off x="1804416" y="452532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8 · 右</a:t>
              </a:r>
            </a:p>
          </p:txBody>
        </p:sp>
        <p:sp>
          <p:nvSpPr>
            <p:cNvPr id="296" name="TextBox 296"/>
            <p:cNvSpPr txBox="1"/>
            <p:nvPr/>
          </p:nvSpPr>
          <p:spPr>
            <a:xfrm>
              <a:off x="1804416" y="473487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ĉ = 3 + 1 = 4</a:t>
              </a:r>
            </a:p>
          </p:txBody>
        </p:sp>
        <p:sp>
          <p:nvSpPr>
            <p:cNvPr id="297" name="TextBox 297"/>
            <p:cNvSpPr txBox="1"/>
            <p:nvPr/>
          </p:nvSpPr>
          <p:spPr>
            <a:xfrm>
              <a:off x="1804797" y="493347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张不在位</a:t>
              </a:r>
            </a:p>
          </p:txBody>
        </p:sp>
        <p:sp>
          <p:nvSpPr>
            <p:cNvPr id="298" name="Rectangle 298"/>
            <p:cNvSpPr/>
            <p:nvPr/>
          </p:nvSpPr>
          <p:spPr>
            <a:xfrm>
              <a:off x="34099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299" name="TextBox 299"/>
            <p:cNvSpPr txBox="1"/>
            <p:nvPr/>
          </p:nvSpPr>
          <p:spPr>
            <a:xfrm>
              <a:off x="34510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0" name="Rectangle 300"/>
            <p:cNvSpPr/>
            <p:nvPr/>
          </p:nvSpPr>
          <p:spPr>
            <a:xfrm>
              <a:off x="35623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1" name="TextBox 301"/>
            <p:cNvSpPr txBox="1"/>
            <p:nvPr/>
          </p:nvSpPr>
          <p:spPr>
            <a:xfrm>
              <a:off x="36034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2" name="Rectangle 302"/>
            <p:cNvSpPr/>
            <p:nvPr/>
          </p:nvSpPr>
          <p:spPr>
            <a:xfrm>
              <a:off x="37147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3" name="TextBox 303"/>
            <p:cNvSpPr txBox="1"/>
            <p:nvPr/>
          </p:nvSpPr>
          <p:spPr>
            <a:xfrm>
              <a:off x="37558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4" name="Rectangle 304"/>
            <p:cNvSpPr/>
            <p:nvPr/>
          </p:nvSpPr>
          <p:spPr>
            <a:xfrm>
              <a:off x="38671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5" name="TextBox 305"/>
            <p:cNvSpPr txBox="1"/>
            <p:nvPr/>
          </p:nvSpPr>
          <p:spPr>
            <a:xfrm>
              <a:off x="39082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6" name="Rectangle 306"/>
            <p:cNvSpPr/>
            <p:nvPr/>
          </p:nvSpPr>
          <p:spPr>
            <a:xfrm>
              <a:off x="34099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7" name="TextBox 307"/>
            <p:cNvSpPr txBox="1"/>
            <p:nvPr/>
          </p:nvSpPr>
          <p:spPr>
            <a:xfrm>
              <a:off x="34510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8" name="Rectangle 308"/>
            <p:cNvSpPr/>
            <p:nvPr/>
          </p:nvSpPr>
          <p:spPr>
            <a:xfrm>
              <a:off x="35623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09" name="TextBox 309"/>
            <p:cNvSpPr txBox="1"/>
            <p:nvPr/>
          </p:nvSpPr>
          <p:spPr>
            <a:xfrm>
              <a:off x="36034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0" name="Rectangle 310"/>
            <p:cNvSpPr/>
            <p:nvPr/>
          </p:nvSpPr>
          <p:spPr>
            <a:xfrm>
              <a:off x="37147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1" name="TextBox 311"/>
            <p:cNvSpPr txBox="1"/>
            <p:nvPr/>
          </p:nvSpPr>
          <p:spPr>
            <a:xfrm>
              <a:off x="37558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12" name="Rectangle 312"/>
            <p:cNvSpPr/>
            <p:nvPr/>
          </p:nvSpPr>
          <p:spPr>
            <a:xfrm>
              <a:off x="38671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3" name="TextBox 313"/>
            <p:cNvSpPr txBox="1"/>
            <p:nvPr/>
          </p:nvSpPr>
          <p:spPr>
            <a:xfrm>
              <a:off x="39082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4" name="Rectangle 314"/>
            <p:cNvSpPr/>
            <p:nvPr/>
          </p:nvSpPr>
          <p:spPr>
            <a:xfrm>
              <a:off x="34099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5" name="TextBox 315"/>
            <p:cNvSpPr txBox="1"/>
            <p:nvPr/>
          </p:nvSpPr>
          <p:spPr>
            <a:xfrm>
              <a:off x="3451031" y="47972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6" name="Rectangle 316"/>
            <p:cNvSpPr/>
            <p:nvPr/>
          </p:nvSpPr>
          <p:spPr>
            <a:xfrm>
              <a:off x="35623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17" name="TextBox 317"/>
            <p:cNvSpPr txBox="1"/>
            <p:nvPr/>
          </p:nvSpPr>
          <p:spPr>
            <a:xfrm>
              <a:off x="3573074" y="47972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18" name="Rectangle 318"/>
            <p:cNvSpPr/>
            <p:nvPr/>
          </p:nvSpPr>
          <p:spPr>
            <a:xfrm>
              <a:off x="3714750" y="47720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19" name="TextBox 319"/>
            <p:cNvSpPr txBox="1"/>
            <p:nvPr/>
          </p:nvSpPr>
          <p:spPr>
            <a:xfrm>
              <a:off x="3722438" y="47972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20" name="Rectangle 320"/>
            <p:cNvSpPr/>
            <p:nvPr/>
          </p:nvSpPr>
          <p:spPr>
            <a:xfrm>
              <a:off x="3867150" y="47720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21" name="TextBox 321"/>
            <p:cNvSpPr txBox="1"/>
            <p:nvPr/>
          </p:nvSpPr>
          <p:spPr>
            <a:xfrm>
              <a:off x="3874838" y="47972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22" name="Rectangle 322"/>
            <p:cNvSpPr/>
            <p:nvPr/>
          </p:nvSpPr>
          <p:spPr>
            <a:xfrm>
              <a:off x="34099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3" name="TextBox 323"/>
            <p:cNvSpPr txBox="1"/>
            <p:nvPr/>
          </p:nvSpPr>
          <p:spPr>
            <a:xfrm>
              <a:off x="34206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24" name="Rectangle 324"/>
            <p:cNvSpPr/>
            <p:nvPr/>
          </p:nvSpPr>
          <p:spPr>
            <a:xfrm>
              <a:off x="35623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25" name="TextBox 325"/>
            <p:cNvSpPr txBox="1"/>
            <p:nvPr/>
          </p:nvSpPr>
          <p:spPr>
            <a:xfrm>
              <a:off x="35730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26" name="Rectangle 326"/>
            <p:cNvSpPr/>
            <p:nvPr/>
          </p:nvSpPr>
          <p:spPr>
            <a:xfrm>
              <a:off x="3714750" y="492442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27" name="Rectangle 327"/>
            <p:cNvSpPr/>
            <p:nvPr/>
          </p:nvSpPr>
          <p:spPr>
            <a:xfrm>
              <a:off x="3867150" y="49244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28" name="TextBox 328"/>
            <p:cNvSpPr txBox="1"/>
            <p:nvPr/>
          </p:nvSpPr>
          <p:spPr>
            <a:xfrm>
              <a:off x="3874838" y="49496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29" name="Rectangle 329"/>
            <p:cNvSpPr/>
            <p:nvPr/>
          </p:nvSpPr>
          <p:spPr>
            <a:xfrm>
              <a:off x="3409950" y="4467225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330" name="TextBox 330"/>
            <p:cNvSpPr txBox="1"/>
            <p:nvPr/>
          </p:nvSpPr>
          <p:spPr>
            <a:xfrm>
              <a:off x="4090416" y="4525328"/>
              <a:ext cx="731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9 · 下</a:t>
              </a:r>
            </a:p>
          </p:txBody>
        </p:sp>
        <p:sp>
          <p:nvSpPr>
            <p:cNvPr id="331" name="TextBox 331"/>
            <p:cNvSpPr txBox="1"/>
            <p:nvPr/>
          </p:nvSpPr>
          <p:spPr>
            <a:xfrm>
              <a:off x="4090416" y="473487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3 + 3 = 6</a:t>
              </a:r>
            </a:p>
          </p:txBody>
        </p:sp>
        <p:sp>
          <p:nvSpPr>
            <p:cNvPr id="332" name="TextBox 332"/>
            <p:cNvSpPr txBox="1"/>
            <p:nvPr/>
          </p:nvSpPr>
          <p:spPr>
            <a:xfrm>
              <a:off x="4090797" y="493347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张不在位</a:t>
              </a:r>
            </a:p>
          </p:txBody>
        </p:sp>
        <p:sp>
          <p:nvSpPr>
            <p:cNvPr id="333" name="Rectangle 333"/>
            <p:cNvSpPr/>
            <p:nvPr/>
          </p:nvSpPr>
          <p:spPr>
            <a:xfrm>
              <a:off x="56959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4" name="TextBox 334"/>
            <p:cNvSpPr txBox="1"/>
            <p:nvPr/>
          </p:nvSpPr>
          <p:spPr>
            <a:xfrm>
              <a:off x="57370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5" name="Rectangle 335"/>
            <p:cNvSpPr/>
            <p:nvPr/>
          </p:nvSpPr>
          <p:spPr>
            <a:xfrm>
              <a:off x="58483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6" name="TextBox 336"/>
            <p:cNvSpPr txBox="1"/>
            <p:nvPr/>
          </p:nvSpPr>
          <p:spPr>
            <a:xfrm>
              <a:off x="58894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7" name="Rectangle 337"/>
            <p:cNvSpPr/>
            <p:nvPr/>
          </p:nvSpPr>
          <p:spPr>
            <a:xfrm>
              <a:off x="60007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38" name="TextBox 338"/>
            <p:cNvSpPr txBox="1"/>
            <p:nvPr/>
          </p:nvSpPr>
          <p:spPr>
            <a:xfrm>
              <a:off x="60418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9" name="Rectangle 339"/>
            <p:cNvSpPr/>
            <p:nvPr/>
          </p:nvSpPr>
          <p:spPr>
            <a:xfrm>
              <a:off x="6153150" y="44672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0" name="TextBox 340"/>
            <p:cNvSpPr txBox="1"/>
            <p:nvPr/>
          </p:nvSpPr>
          <p:spPr>
            <a:xfrm>
              <a:off x="6194231" y="44924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1" name="Rectangle 341"/>
            <p:cNvSpPr/>
            <p:nvPr/>
          </p:nvSpPr>
          <p:spPr>
            <a:xfrm>
              <a:off x="56959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2" name="TextBox 342"/>
            <p:cNvSpPr txBox="1"/>
            <p:nvPr/>
          </p:nvSpPr>
          <p:spPr>
            <a:xfrm>
              <a:off x="57370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3" name="Rectangle 343"/>
            <p:cNvSpPr/>
            <p:nvPr/>
          </p:nvSpPr>
          <p:spPr>
            <a:xfrm>
              <a:off x="58483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4" name="TextBox 344"/>
            <p:cNvSpPr txBox="1"/>
            <p:nvPr/>
          </p:nvSpPr>
          <p:spPr>
            <a:xfrm>
              <a:off x="58894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5" name="Rectangle 345"/>
            <p:cNvSpPr/>
            <p:nvPr/>
          </p:nvSpPr>
          <p:spPr>
            <a:xfrm>
              <a:off x="60007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6" name="TextBox 346"/>
            <p:cNvSpPr txBox="1"/>
            <p:nvPr/>
          </p:nvSpPr>
          <p:spPr>
            <a:xfrm>
              <a:off x="60418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7" name="Rectangle 347"/>
            <p:cNvSpPr/>
            <p:nvPr/>
          </p:nvSpPr>
          <p:spPr>
            <a:xfrm>
              <a:off x="6153150" y="46196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48" name="TextBox 348"/>
            <p:cNvSpPr txBox="1"/>
            <p:nvPr/>
          </p:nvSpPr>
          <p:spPr>
            <a:xfrm>
              <a:off x="6194231" y="46448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9" name="Rectangle 349"/>
            <p:cNvSpPr/>
            <p:nvPr/>
          </p:nvSpPr>
          <p:spPr>
            <a:xfrm>
              <a:off x="5695950" y="47720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0" name="TextBox 350"/>
            <p:cNvSpPr txBox="1"/>
            <p:nvPr/>
          </p:nvSpPr>
          <p:spPr>
            <a:xfrm>
              <a:off x="5737031" y="47972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1" name="Rectangle 351"/>
            <p:cNvSpPr/>
            <p:nvPr/>
          </p:nvSpPr>
          <p:spPr>
            <a:xfrm>
              <a:off x="5848350" y="4772025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52" name="Rectangle 352"/>
            <p:cNvSpPr/>
            <p:nvPr/>
          </p:nvSpPr>
          <p:spPr>
            <a:xfrm>
              <a:off x="6000750" y="47720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53" name="TextBox 353"/>
            <p:cNvSpPr txBox="1"/>
            <p:nvPr/>
          </p:nvSpPr>
          <p:spPr>
            <a:xfrm>
              <a:off x="6008438" y="47972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54" name="Rectangle 354"/>
            <p:cNvSpPr/>
            <p:nvPr/>
          </p:nvSpPr>
          <p:spPr>
            <a:xfrm>
              <a:off x="6153150" y="47720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55" name="TextBox 355"/>
            <p:cNvSpPr txBox="1"/>
            <p:nvPr/>
          </p:nvSpPr>
          <p:spPr>
            <a:xfrm>
              <a:off x="6160838" y="47972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56" name="Rectangle 356"/>
            <p:cNvSpPr/>
            <p:nvPr/>
          </p:nvSpPr>
          <p:spPr>
            <a:xfrm>
              <a:off x="56959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7" name="TextBox 357"/>
            <p:cNvSpPr txBox="1"/>
            <p:nvPr/>
          </p:nvSpPr>
          <p:spPr>
            <a:xfrm>
              <a:off x="57066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58" name="Rectangle 358"/>
            <p:cNvSpPr/>
            <p:nvPr/>
          </p:nvSpPr>
          <p:spPr>
            <a:xfrm>
              <a:off x="58483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59" name="TextBox 359"/>
            <p:cNvSpPr txBox="1"/>
            <p:nvPr/>
          </p:nvSpPr>
          <p:spPr>
            <a:xfrm>
              <a:off x="58590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60" name="Rectangle 360"/>
            <p:cNvSpPr/>
            <p:nvPr/>
          </p:nvSpPr>
          <p:spPr>
            <a:xfrm>
              <a:off x="6000750" y="4924425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1" name="TextBox 361"/>
            <p:cNvSpPr txBox="1"/>
            <p:nvPr/>
          </p:nvSpPr>
          <p:spPr>
            <a:xfrm>
              <a:off x="6011474" y="494966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2" name="Rectangle 362"/>
            <p:cNvSpPr/>
            <p:nvPr/>
          </p:nvSpPr>
          <p:spPr>
            <a:xfrm>
              <a:off x="6153150" y="4924425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63" name="TextBox 363"/>
            <p:cNvSpPr txBox="1"/>
            <p:nvPr/>
          </p:nvSpPr>
          <p:spPr>
            <a:xfrm>
              <a:off x="6160838" y="4949666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4" name="Rectangle 364"/>
            <p:cNvSpPr/>
            <p:nvPr/>
          </p:nvSpPr>
          <p:spPr>
            <a:xfrm>
              <a:off x="5695950" y="4467225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365" name="TextBox 365"/>
            <p:cNvSpPr txBox="1"/>
            <p:nvPr/>
          </p:nvSpPr>
          <p:spPr>
            <a:xfrm>
              <a:off x="6376416" y="4525328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10 · 左</a:t>
              </a:r>
            </a:p>
          </p:txBody>
        </p:sp>
        <p:sp>
          <p:nvSpPr>
            <p:cNvPr id="366" name="TextBox 366"/>
            <p:cNvSpPr txBox="1"/>
            <p:nvPr/>
          </p:nvSpPr>
          <p:spPr>
            <a:xfrm>
              <a:off x="6376416" y="4734878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3 + 3 = 6</a:t>
              </a:r>
            </a:p>
          </p:txBody>
        </p:sp>
        <p:sp>
          <p:nvSpPr>
            <p:cNvPr id="367" name="TextBox 367"/>
            <p:cNvSpPr txBox="1"/>
            <p:nvPr/>
          </p:nvSpPr>
          <p:spPr>
            <a:xfrm>
              <a:off x="6376797" y="4933474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 张不在位</a:t>
              </a:r>
            </a:p>
          </p:txBody>
        </p:sp>
        <p:sp>
          <p:nvSpPr>
            <p:cNvPr id="368" name="Rectangle 368"/>
            <p:cNvSpPr/>
            <p:nvPr/>
          </p:nvSpPr>
          <p:spPr>
            <a:xfrm>
              <a:off x="1123950" y="54292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69" name="TextBox 369"/>
            <p:cNvSpPr txBox="1"/>
            <p:nvPr/>
          </p:nvSpPr>
          <p:spPr>
            <a:xfrm>
              <a:off x="11650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0" name="Rectangle 370"/>
            <p:cNvSpPr/>
            <p:nvPr/>
          </p:nvSpPr>
          <p:spPr>
            <a:xfrm>
              <a:off x="1276350" y="54292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1" name="TextBox 371"/>
            <p:cNvSpPr txBox="1"/>
            <p:nvPr/>
          </p:nvSpPr>
          <p:spPr>
            <a:xfrm>
              <a:off x="13174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2" name="Rectangle 372"/>
            <p:cNvSpPr/>
            <p:nvPr/>
          </p:nvSpPr>
          <p:spPr>
            <a:xfrm>
              <a:off x="1428750" y="54292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3" name="TextBox 373"/>
            <p:cNvSpPr txBox="1"/>
            <p:nvPr/>
          </p:nvSpPr>
          <p:spPr>
            <a:xfrm>
              <a:off x="14698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4" name="Rectangle 374"/>
            <p:cNvSpPr/>
            <p:nvPr/>
          </p:nvSpPr>
          <p:spPr>
            <a:xfrm>
              <a:off x="1581150" y="54292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5" name="TextBox 375"/>
            <p:cNvSpPr txBox="1"/>
            <p:nvPr/>
          </p:nvSpPr>
          <p:spPr>
            <a:xfrm>
              <a:off x="16222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6" name="Rectangle 376"/>
            <p:cNvSpPr/>
            <p:nvPr/>
          </p:nvSpPr>
          <p:spPr>
            <a:xfrm>
              <a:off x="1123950" y="55816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7" name="TextBox 377"/>
            <p:cNvSpPr txBox="1"/>
            <p:nvPr/>
          </p:nvSpPr>
          <p:spPr>
            <a:xfrm>
              <a:off x="11650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8" name="Rectangle 378"/>
            <p:cNvSpPr/>
            <p:nvPr/>
          </p:nvSpPr>
          <p:spPr>
            <a:xfrm>
              <a:off x="1276350" y="55816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79" name="TextBox 379"/>
            <p:cNvSpPr txBox="1"/>
            <p:nvPr/>
          </p:nvSpPr>
          <p:spPr>
            <a:xfrm>
              <a:off x="13174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0" name="Rectangle 380"/>
            <p:cNvSpPr/>
            <p:nvPr/>
          </p:nvSpPr>
          <p:spPr>
            <a:xfrm>
              <a:off x="1428750" y="55816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1" name="TextBox 381"/>
            <p:cNvSpPr txBox="1"/>
            <p:nvPr/>
          </p:nvSpPr>
          <p:spPr>
            <a:xfrm>
              <a:off x="14698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2" name="Rectangle 382"/>
            <p:cNvSpPr/>
            <p:nvPr/>
          </p:nvSpPr>
          <p:spPr>
            <a:xfrm>
              <a:off x="1581150" y="558165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383" name="Rectangle 383"/>
            <p:cNvSpPr/>
            <p:nvPr/>
          </p:nvSpPr>
          <p:spPr>
            <a:xfrm>
              <a:off x="1123950" y="57340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4" name="TextBox 384"/>
            <p:cNvSpPr txBox="1"/>
            <p:nvPr/>
          </p:nvSpPr>
          <p:spPr>
            <a:xfrm>
              <a:off x="1165031" y="5759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85" name="Rectangle 385"/>
            <p:cNvSpPr/>
            <p:nvPr/>
          </p:nvSpPr>
          <p:spPr>
            <a:xfrm>
              <a:off x="1276350" y="57340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6" name="TextBox 386"/>
            <p:cNvSpPr txBox="1"/>
            <p:nvPr/>
          </p:nvSpPr>
          <p:spPr>
            <a:xfrm>
              <a:off x="1287074" y="57592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7" name="Rectangle 387"/>
            <p:cNvSpPr/>
            <p:nvPr/>
          </p:nvSpPr>
          <p:spPr>
            <a:xfrm>
              <a:off x="1428750" y="57340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88" name="TextBox 388"/>
            <p:cNvSpPr txBox="1"/>
            <p:nvPr/>
          </p:nvSpPr>
          <p:spPr>
            <a:xfrm>
              <a:off x="1439474" y="57592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89" name="Rectangle 389"/>
            <p:cNvSpPr/>
            <p:nvPr/>
          </p:nvSpPr>
          <p:spPr>
            <a:xfrm>
              <a:off x="1581150" y="57340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90" name="TextBox 390"/>
            <p:cNvSpPr txBox="1"/>
            <p:nvPr/>
          </p:nvSpPr>
          <p:spPr>
            <a:xfrm>
              <a:off x="1620713" y="5759291"/>
              <a:ext cx="732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1" name="Rectangle 391"/>
            <p:cNvSpPr/>
            <p:nvPr/>
          </p:nvSpPr>
          <p:spPr>
            <a:xfrm>
              <a:off x="1123950" y="58864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2" name="TextBox 392"/>
            <p:cNvSpPr txBox="1"/>
            <p:nvPr/>
          </p:nvSpPr>
          <p:spPr>
            <a:xfrm>
              <a:off x="11346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93" name="Rectangle 393"/>
            <p:cNvSpPr/>
            <p:nvPr/>
          </p:nvSpPr>
          <p:spPr>
            <a:xfrm>
              <a:off x="1276350" y="58864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4" name="TextBox 394"/>
            <p:cNvSpPr txBox="1"/>
            <p:nvPr/>
          </p:nvSpPr>
          <p:spPr>
            <a:xfrm>
              <a:off x="12870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395" name="Rectangle 395"/>
            <p:cNvSpPr/>
            <p:nvPr/>
          </p:nvSpPr>
          <p:spPr>
            <a:xfrm>
              <a:off x="1428750" y="5886450"/>
              <a:ext cx="152400" cy="152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396" name="TextBox 396"/>
            <p:cNvSpPr txBox="1"/>
            <p:nvPr/>
          </p:nvSpPr>
          <p:spPr>
            <a:xfrm>
              <a:off x="14394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97" name="Rectangle 397"/>
            <p:cNvSpPr/>
            <p:nvPr/>
          </p:nvSpPr>
          <p:spPr>
            <a:xfrm>
              <a:off x="1581150" y="5886450"/>
              <a:ext cx="152400" cy="152400"/>
            </a:xfrm>
            <a:prstGeom prst="rect">
              <a:avLst/>
            </a:prstGeom>
            <a:solidFill>
              <a:srgbClr val="FDEEE7"/>
            </a:solidFill>
            <a:ln w="9525">
              <a:solidFill>
                <a:srgbClr val="D9DFEA"/>
              </a:solidFill>
            </a:ln>
          </p:spPr>
        </p:sp>
        <p:sp>
          <p:nvSpPr>
            <p:cNvPr id="398" name="TextBox 398"/>
            <p:cNvSpPr txBox="1"/>
            <p:nvPr/>
          </p:nvSpPr>
          <p:spPr>
            <a:xfrm>
              <a:off x="1588838" y="5911691"/>
              <a:ext cx="1370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9" name="Rectangle 399"/>
            <p:cNvSpPr/>
            <p:nvPr/>
          </p:nvSpPr>
          <p:spPr>
            <a:xfrm>
              <a:off x="1123950" y="5429250"/>
              <a:ext cx="609600" cy="609600"/>
            </a:xfrm>
            <a:prstGeom prst="rect">
              <a:avLst/>
            </a:prstGeom>
            <a:noFill/>
            <a:ln w="11430">
              <a:solidFill>
                <a:srgbClr val="5B6475"/>
              </a:solidFill>
            </a:ln>
          </p:spPr>
        </p:sp>
        <p:sp>
          <p:nvSpPr>
            <p:cNvPr id="400" name="TextBox 400"/>
            <p:cNvSpPr txBox="1"/>
            <p:nvPr/>
          </p:nvSpPr>
          <p:spPr>
            <a:xfrm>
              <a:off x="1804416" y="5487352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11 · 上</a:t>
              </a:r>
            </a:p>
          </p:txBody>
        </p:sp>
        <p:sp>
          <p:nvSpPr>
            <p:cNvPr id="401" name="TextBox 401"/>
            <p:cNvSpPr txBox="1"/>
            <p:nvPr/>
          </p:nvSpPr>
          <p:spPr>
            <a:xfrm>
              <a:off x="1804416" y="569690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 = 4 + 2 = 6</a:t>
              </a:r>
            </a:p>
          </p:txBody>
        </p:sp>
        <p:sp>
          <p:nvSpPr>
            <p:cNvPr id="402" name="TextBox 402"/>
            <p:cNvSpPr txBox="1"/>
            <p:nvPr/>
          </p:nvSpPr>
          <p:spPr>
            <a:xfrm>
              <a:off x="1804797" y="5895499"/>
              <a:ext cx="649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 张不在位</a:t>
              </a:r>
            </a:p>
          </p:txBody>
        </p:sp>
        <p:sp>
          <p:nvSpPr>
            <p:cNvPr id="403" name="Rectangle 403"/>
            <p:cNvSpPr/>
            <p:nvPr/>
          </p:nvSpPr>
          <p:spPr>
            <a:xfrm>
              <a:off x="3409950" y="54292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04" name="TextBox 404"/>
            <p:cNvSpPr txBox="1"/>
            <p:nvPr/>
          </p:nvSpPr>
          <p:spPr>
            <a:xfrm>
              <a:off x="34510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5" name="Rectangle 405"/>
            <p:cNvSpPr/>
            <p:nvPr/>
          </p:nvSpPr>
          <p:spPr>
            <a:xfrm>
              <a:off x="3562350" y="54292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06" name="TextBox 406"/>
            <p:cNvSpPr txBox="1"/>
            <p:nvPr/>
          </p:nvSpPr>
          <p:spPr>
            <a:xfrm>
              <a:off x="36034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7" name="Rectangle 407"/>
            <p:cNvSpPr/>
            <p:nvPr/>
          </p:nvSpPr>
          <p:spPr>
            <a:xfrm>
              <a:off x="3714750" y="54292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08" name="TextBox 408"/>
            <p:cNvSpPr txBox="1"/>
            <p:nvPr/>
          </p:nvSpPr>
          <p:spPr>
            <a:xfrm>
              <a:off x="37558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9" name="Rectangle 409"/>
            <p:cNvSpPr/>
            <p:nvPr/>
          </p:nvSpPr>
          <p:spPr>
            <a:xfrm>
              <a:off x="3867150" y="54292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10" name="TextBox 410"/>
            <p:cNvSpPr txBox="1"/>
            <p:nvPr/>
          </p:nvSpPr>
          <p:spPr>
            <a:xfrm>
              <a:off x="3908231" y="54544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1" name="Rectangle 411"/>
            <p:cNvSpPr/>
            <p:nvPr/>
          </p:nvSpPr>
          <p:spPr>
            <a:xfrm>
              <a:off x="3409950" y="55816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12" name="TextBox 412"/>
            <p:cNvSpPr txBox="1"/>
            <p:nvPr/>
          </p:nvSpPr>
          <p:spPr>
            <a:xfrm>
              <a:off x="34510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3" name="Rectangle 413"/>
            <p:cNvSpPr/>
            <p:nvPr/>
          </p:nvSpPr>
          <p:spPr>
            <a:xfrm>
              <a:off x="3562350" y="55816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14" name="TextBox 414"/>
            <p:cNvSpPr txBox="1"/>
            <p:nvPr/>
          </p:nvSpPr>
          <p:spPr>
            <a:xfrm>
              <a:off x="36034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5" name="Rectangle 415"/>
            <p:cNvSpPr/>
            <p:nvPr/>
          </p:nvSpPr>
          <p:spPr>
            <a:xfrm>
              <a:off x="3714750" y="55816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16" name="TextBox 416"/>
            <p:cNvSpPr txBox="1"/>
            <p:nvPr/>
          </p:nvSpPr>
          <p:spPr>
            <a:xfrm>
              <a:off x="37558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7" name="Rectangle 417"/>
            <p:cNvSpPr/>
            <p:nvPr/>
          </p:nvSpPr>
          <p:spPr>
            <a:xfrm>
              <a:off x="3867150" y="55816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18" name="TextBox 418"/>
            <p:cNvSpPr txBox="1"/>
            <p:nvPr/>
          </p:nvSpPr>
          <p:spPr>
            <a:xfrm>
              <a:off x="3908231" y="56068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9" name="Rectangle 419"/>
            <p:cNvSpPr/>
            <p:nvPr/>
          </p:nvSpPr>
          <p:spPr>
            <a:xfrm>
              <a:off x="3409950" y="57340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20" name="TextBox 420"/>
            <p:cNvSpPr txBox="1"/>
            <p:nvPr/>
          </p:nvSpPr>
          <p:spPr>
            <a:xfrm>
              <a:off x="3451031" y="5759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1" name="Rectangle 421"/>
            <p:cNvSpPr/>
            <p:nvPr/>
          </p:nvSpPr>
          <p:spPr>
            <a:xfrm>
              <a:off x="3562350" y="57340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22" name="TextBox 422"/>
            <p:cNvSpPr txBox="1"/>
            <p:nvPr/>
          </p:nvSpPr>
          <p:spPr>
            <a:xfrm>
              <a:off x="3573074" y="57592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3" name="Rectangle 423"/>
            <p:cNvSpPr/>
            <p:nvPr/>
          </p:nvSpPr>
          <p:spPr>
            <a:xfrm>
              <a:off x="3714750" y="57340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24" name="TextBox 424"/>
            <p:cNvSpPr txBox="1"/>
            <p:nvPr/>
          </p:nvSpPr>
          <p:spPr>
            <a:xfrm>
              <a:off x="3725474" y="57592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25" name="Rectangle 425"/>
            <p:cNvSpPr/>
            <p:nvPr/>
          </p:nvSpPr>
          <p:spPr>
            <a:xfrm>
              <a:off x="3867150" y="57340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26" name="TextBox 426"/>
            <p:cNvSpPr txBox="1"/>
            <p:nvPr/>
          </p:nvSpPr>
          <p:spPr>
            <a:xfrm>
              <a:off x="3877874" y="57592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27" name="Rectangle 427"/>
            <p:cNvSpPr/>
            <p:nvPr/>
          </p:nvSpPr>
          <p:spPr>
            <a:xfrm>
              <a:off x="3409950" y="58864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28" name="TextBox 428"/>
            <p:cNvSpPr txBox="1"/>
            <p:nvPr/>
          </p:nvSpPr>
          <p:spPr>
            <a:xfrm>
              <a:off x="34206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29" name="Rectangle 429"/>
            <p:cNvSpPr/>
            <p:nvPr/>
          </p:nvSpPr>
          <p:spPr>
            <a:xfrm>
              <a:off x="3562350" y="58864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30" name="TextBox 430"/>
            <p:cNvSpPr txBox="1"/>
            <p:nvPr/>
          </p:nvSpPr>
          <p:spPr>
            <a:xfrm>
              <a:off x="35730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31" name="Rectangle 431"/>
            <p:cNvSpPr/>
            <p:nvPr/>
          </p:nvSpPr>
          <p:spPr>
            <a:xfrm>
              <a:off x="3714750" y="5886450"/>
              <a:ext cx="152400" cy="152400"/>
            </a:xfrm>
            <a:prstGeom prst="rect">
              <a:avLst/>
            </a:prstGeom>
            <a:solidFill>
              <a:srgbClr val="E3F5F1"/>
            </a:solidFill>
            <a:ln w="9525">
              <a:solidFill>
                <a:srgbClr val="D9DFEA"/>
              </a:solidFill>
            </a:ln>
          </p:spPr>
        </p:sp>
        <p:sp>
          <p:nvSpPr>
            <p:cNvPr id="432" name="TextBox 432"/>
            <p:cNvSpPr txBox="1"/>
            <p:nvPr/>
          </p:nvSpPr>
          <p:spPr>
            <a:xfrm>
              <a:off x="3725474" y="59116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33" name="Rectangle 433"/>
            <p:cNvSpPr/>
            <p:nvPr/>
          </p:nvSpPr>
          <p:spPr>
            <a:xfrm>
              <a:off x="3867150" y="5886450"/>
              <a:ext cx="152400" cy="152400"/>
            </a:xfrm>
            <a:prstGeom prst="rect">
              <a:avLst/>
            </a:prstGeom>
            <a:solidFill>
              <a:srgbClr val="D9DFEA"/>
            </a:solidFill>
            <a:ln w="9525">
              <a:solidFill>
                <a:srgbClr val="D9DFEA"/>
              </a:solidFill>
            </a:ln>
          </p:spPr>
        </p:sp>
        <p:sp>
          <p:nvSpPr>
            <p:cNvPr id="434" name="Rectangle 434"/>
            <p:cNvSpPr/>
            <p:nvPr/>
          </p:nvSpPr>
          <p:spPr>
            <a:xfrm>
              <a:off x="3409950" y="5429250"/>
              <a:ext cx="609600" cy="609600"/>
            </a:xfrm>
            <a:prstGeom prst="rect">
              <a:avLst/>
            </a:prstGeom>
            <a:noFill/>
            <a:ln w="28575">
              <a:solidFill>
                <a:srgbClr val="14A38B"/>
              </a:solidFill>
            </a:ln>
          </p:spPr>
        </p:sp>
        <p:sp>
          <p:nvSpPr>
            <p:cNvPr id="435" name="TextBox 435"/>
            <p:cNvSpPr txBox="1"/>
            <p:nvPr/>
          </p:nvSpPr>
          <p:spPr>
            <a:xfrm>
              <a:off x="4090416" y="5487352"/>
              <a:ext cx="813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结点 12 · 下</a:t>
              </a:r>
            </a:p>
          </p:txBody>
        </p:sp>
        <p:sp>
          <p:nvSpPr>
            <p:cNvPr id="436" name="TextBox 436"/>
            <p:cNvSpPr txBox="1"/>
            <p:nvPr/>
          </p:nvSpPr>
          <p:spPr>
            <a:xfrm>
              <a:off x="4090416" y="5696902"/>
              <a:ext cx="8492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ĉ = 4 + 0 = 4</a:t>
              </a:r>
            </a:p>
          </p:txBody>
        </p:sp>
        <p:sp>
          <p:nvSpPr>
            <p:cNvPr id="437" name="TextBox 437"/>
            <p:cNvSpPr txBox="1"/>
            <p:nvPr/>
          </p:nvSpPr>
          <p:spPr>
            <a:xfrm>
              <a:off x="4090797" y="58954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</p:grpSp>
      <p:grpSp>
        <p:nvGrpSpPr>
          <p:cNvPr id="473" name="lc15-steps"/>
          <p:cNvGrpSpPr/>
          <p:nvPr/>
        </p:nvGrpSpPr>
        <p:grpSpPr>
          <a:xfrm>
            <a:off x="7734300" y="1524000"/>
            <a:ext cx="3924300" cy="4838700"/>
            <a:chOff x="7734300" y="1524000"/>
            <a:chExt cx="3924300" cy="4838700"/>
          </a:xfrm>
        </p:grpSpPr>
        <p:sp>
          <p:nvSpPr>
            <p:cNvPr id="439" name="Rectangle 439"/>
            <p:cNvSpPr/>
            <p:nvPr/>
          </p:nvSpPr>
          <p:spPr>
            <a:xfrm>
              <a:off x="7734300" y="1524000"/>
              <a:ext cx="3924300" cy="4838700"/>
            </a:xfrm>
            <a:prstGeom prst="roundRect">
              <a:avLst>
                <a:gd name="adj" fmla="val 33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0" name="TextBox 440"/>
            <p:cNvSpPr txBox="1"/>
            <p:nvPr/>
          </p:nvSpPr>
          <p:spPr>
            <a:xfrm>
              <a:off x="7899273" y="1691164"/>
              <a:ext cx="2556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每次取 ĉ 最小的活结点作 E-结点</a:t>
              </a:r>
            </a:p>
          </p:txBody>
        </p:sp>
        <p:sp>
          <p:nvSpPr>
            <p:cNvPr id="441" name="Rectangle 441"/>
            <p:cNvSpPr/>
            <p:nvPr/>
          </p:nvSpPr>
          <p:spPr>
            <a:xfrm>
              <a:off x="7867650" y="2000250"/>
              <a:ext cx="3657600" cy="323850"/>
            </a:xfrm>
            <a:prstGeom prst="rect">
              <a:avLst/>
            </a:prstGeom>
            <a:solidFill>
              <a:srgbClr val="2F4B9A"/>
            </a:solidFill>
            <a:ln w="9525">
              <a:solidFill>
                <a:srgbClr val="D9DFEA"/>
              </a:solidFill>
            </a:ln>
          </p:spPr>
        </p:sp>
        <p:sp>
          <p:nvSpPr>
            <p:cNvPr id="442" name="TextBox 442"/>
            <p:cNvSpPr txBox="1"/>
            <p:nvPr/>
          </p:nvSpPr>
          <p:spPr>
            <a:xfrm>
              <a:off x="7928991" y="20964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443" name="TextBox 443"/>
            <p:cNvSpPr txBox="1"/>
            <p:nvPr/>
          </p:nvSpPr>
          <p:spPr>
            <a:xfrm>
              <a:off x="8214741" y="20964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44" name="TextBox 444"/>
            <p:cNvSpPr txBox="1"/>
            <p:nvPr/>
          </p:nvSpPr>
          <p:spPr>
            <a:xfrm>
              <a:off x="8557641" y="2096452"/>
              <a:ext cx="1006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生成的儿子 (ĉ)</a:t>
              </a:r>
            </a:p>
          </p:txBody>
        </p:sp>
        <p:sp>
          <p:nvSpPr>
            <p:cNvPr id="445" name="TextBox 445"/>
            <p:cNvSpPr txBox="1"/>
            <p:nvPr/>
          </p:nvSpPr>
          <p:spPr>
            <a:xfrm>
              <a:off x="10234041" y="2096452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活结点表 (ĉ)</a:t>
              </a:r>
            </a:p>
          </p:txBody>
        </p:sp>
        <p:sp>
          <p:nvSpPr>
            <p:cNvPr id="446" name="Rectangle 446"/>
            <p:cNvSpPr/>
            <p:nvPr/>
          </p:nvSpPr>
          <p:spPr>
            <a:xfrm>
              <a:off x="7867650" y="2324100"/>
              <a:ext cx="3657600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47" name="TextBox 447"/>
            <p:cNvSpPr txBox="1"/>
            <p:nvPr/>
          </p:nvSpPr>
          <p:spPr>
            <a:xfrm>
              <a:off x="7928991" y="24584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8" name="TextBox 448"/>
            <p:cNvSpPr txBox="1"/>
            <p:nvPr/>
          </p:nvSpPr>
          <p:spPr>
            <a:xfrm>
              <a:off x="8214741" y="2458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9" name="TextBox 449"/>
            <p:cNvSpPr txBox="1"/>
            <p:nvPr/>
          </p:nvSpPr>
          <p:spPr>
            <a:xfrm>
              <a:off x="8558022" y="2466499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2(6) 3(4) 4(6)</a:t>
              </a:r>
            </a:p>
          </p:txBody>
        </p:sp>
        <p:sp>
          <p:nvSpPr>
            <p:cNvPr id="450" name="TextBox 450"/>
            <p:cNvSpPr txBox="1"/>
            <p:nvPr/>
          </p:nvSpPr>
          <p:spPr>
            <a:xfrm>
              <a:off x="10234422" y="2466499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3(4) 2 4(6)</a:t>
              </a:r>
            </a:p>
          </p:txBody>
        </p:sp>
        <p:sp>
          <p:nvSpPr>
            <p:cNvPr id="451" name="Rectangle 451"/>
            <p:cNvSpPr/>
            <p:nvPr/>
          </p:nvSpPr>
          <p:spPr>
            <a:xfrm>
              <a:off x="7867650" y="2724150"/>
              <a:ext cx="3657600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2" name="TextBox 452"/>
            <p:cNvSpPr txBox="1"/>
            <p:nvPr/>
          </p:nvSpPr>
          <p:spPr>
            <a:xfrm>
              <a:off x="7928991" y="28584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3" name="TextBox 453"/>
            <p:cNvSpPr txBox="1"/>
            <p:nvPr/>
          </p:nvSpPr>
          <p:spPr>
            <a:xfrm>
              <a:off x="8214741" y="28584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4" name="TextBox 454"/>
            <p:cNvSpPr txBox="1"/>
            <p:nvPr/>
          </p:nvSpPr>
          <p:spPr>
            <a:xfrm>
              <a:off x="8558022" y="2866549"/>
              <a:ext cx="959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5(6) 6(4) 7(6)</a:t>
              </a:r>
            </a:p>
          </p:txBody>
        </p:sp>
        <p:sp>
          <p:nvSpPr>
            <p:cNvPr id="455" name="TextBox 455"/>
            <p:cNvSpPr txBox="1"/>
            <p:nvPr/>
          </p:nvSpPr>
          <p:spPr>
            <a:xfrm>
              <a:off x="10234422" y="2866549"/>
              <a:ext cx="966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6(4) 2 4 5 7(6)</a:t>
              </a:r>
            </a:p>
          </p:txBody>
        </p:sp>
        <p:sp>
          <p:nvSpPr>
            <p:cNvPr id="456" name="Rectangle 456"/>
            <p:cNvSpPr/>
            <p:nvPr/>
          </p:nvSpPr>
          <p:spPr>
            <a:xfrm>
              <a:off x="7867650" y="3124200"/>
              <a:ext cx="3657600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57" name="TextBox 457"/>
            <p:cNvSpPr txBox="1"/>
            <p:nvPr/>
          </p:nvSpPr>
          <p:spPr>
            <a:xfrm>
              <a:off x="7928991" y="32585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8" name="TextBox 458"/>
            <p:cNvSpPr txBox="1"/>
            <p:nvPr/>
          </p:nvSpPr>
          <p:spPr>
            <a:xfrm>
              <a:off x="8214741" y="32585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9" name="TextBox 459"/>
            <p:cNvSpPr txBox="1"/>
            <p:nvPr/>
          </p:nvSpPr>
          <p:spPr>
            <a:xfrm>
              <a:off x="8558022" y="3266599"/>
              <a:ext cx="10323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8(4) 9(6) 10(6)</a:t>
              </a:r>
            </a:p>
          </p:txBody>
        </p:sp>
        <p:sp>
          <p:nvSpPr>
            <p:cNvPr id="460" name="TextBox 460"/>
            <p:cNvSpPr txBox="1"/>
            <p:nvPr/>
          </p:nvSpPr>
          <p:spPr>
            <a:xfrm>
              <a:off x="10234422" y="3266599"/>
              <a:ext cx="12632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8(4) 2 4 5 7 9 10(6)</a:t>
              </a:r>
            </a:p>
          </p:txBody>
        </p:sp>
        <p:sp>
          <p:nvSpPr>
            <p:cNvPr id="461" name="Rectangle 461"/>
            <p:cNvSpPr/>
            <p:nvPr/>
          </p:nvSpPr>
          <p:spPr>
            <a:xfrm>
              <a:off x="7867650" y="3524250"/>
              <a:ext cx="3657600" cy="4000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FEA"/>
              </a:solidFill>
            </a:ln>
          </p:spPr>
        </p:sp>
        <p:sp>
          <p:nvSpPr>
            <p:cNvPr id="462" name="TextBox 462"/>
            <p:cNvSpPr txBox="1"/>
            <p:nvPr/>
          </p:nvSpPr>
          <p:spPr>
            <a:xfrm>
              <a:off x="7928991" y="36585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3" name="TextBox 463"/>
            <p:cNvSpPr txBox="1"/>
            <p:nvPr/>
          </p:nvSpPr>
          <p:spPr>
            <a:xfrm>
              <a:off x="8214741" y="3658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4" name="TextBox 464"/>
            <p:cNvSpPr txBox="1"/>
            <p:nvPr/>
          </p:nvSpPr>
          <p:spPr>
            <a:xfrm>
              <a:off x="8558022" y="3666649"/>
              <a:ext cx="9927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11(6) 12 是目标</a:t>
              </a:r>
            </a:p>
          </p:txBody>
        </p:sp>
        <p:sp>
          <p:nvSpPr>
            <p:cNvPr id="465" name="TextBox 465"/>
            <p:cNvSpPr txBox="1"/>
            <p:nvPr/>
          </p:nvSpPr>
          <p:spPr>
            <a:xfrm>
              <a:off x="10234422" y="3666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466" name="TextBox 466"/>
            <p:cNvSpPr txBox="1"/>
            <p:nvPr/>
          </p:nvSpPr>
          <p:spPr>
            <a:xfrm>
              <a:off x="7900035" y="4107656"/>
              <a:ext cx="14602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ĉ(X) = f(X) + ĝ(X)</a:t>
              </a:r>
            </a:p>
          </p:txBody>
        </p:sp>
        <p:sp>
          <p:nvSpPr>
            <p:cNvPr id="467" name="TextBox 467"/>
            <p:cNvSpPr txBox="1"/>
            <p:nvPr/>
          </p:nvSpPr>
          <p:spPr>
            <a:xfrm>
              <a:off x="7900035" y="4393406"/>
              <a:ext cx="17853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f：从根到 X 已移动的步数</a:t>
              </a:r>
            </a:p>
          </p:txBody>
        </p:sp>
        <p:sp>
          <p:nvSpPr>
            <p:cNvPr id="468" name="TextBox 468"/>
            <p:cNvSpPr txBox="1"/>
            <p:nvPr/>
          </p:nvSpPr>
          <p:spPr>
            <a:xfrm>
              <a:off x="7900035" y="4641056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ĝ：不在位的非空白牌数（橙色格）</a:t>
              </a:r>
            </a:p>
          </p:txBody>
        </p:sp>
        <p:sp>
          <p:nvSpPr>
            <p:cNvPr id="469" name="TextBox 469"/>
            <p:cNvSpPr txBox="1"/>
            <p:nvPr/>
          </p:nvSpPr>
          <p:spPr>
            <a:xfrm>
              <a:off x="7900035" y="48887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每张不在位的牌至少还要动一次，</a:t>
              </a:r>
            </a:p>
          </p:txBody>
        </p:sp>
        <p:sp>
          <p:nvSpPr>
            <p:cNvPr id="470" name="TextBox 470"/>
            <p:cNvSpPr txBox="1"/>
            <p:nvPr/>
          </p:nvSpPr>
          <p:spPr>
            <a:xfrm>
              <a:off x="7900035" y="51363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ĉ 不超过真实的最少步数。</a:t>
              </a:r>
            </a:p>
          </p:txBody>
        </p:sp>
        <p:sp>
          <p:nvSpPr>
            <p:cNvPr id="471" name="TextBox 471"/>
            <p:cNvSpPr txBox="1"/>
            <p:nvPr/>
          </p:nvSpPr>
          <p:spPr>
            <a:xfrm>
              <a:off x="7900035" y="5460206"/>
              <a:ext cx="31362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扩展 1、3、6、8 四个结点，生成 12 个结点，</a:t>
              </a:r>
            </a:p>
          </p:txBody>
        </p:sp>
        <p:sp>
          <p:nvSpPr>
            <p:cNvPr id="472" name="TextBox 472"/>
            <p:cNvSpPr txBox="1"/>
            <p:nvPr/>
          </p:nvSpPr>
          <p:spPr>
            <a:xfrm>
              <a:off x="7900035" y="5707856"/>
              <a:ext cx="2859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空格依次下、下、右、下，4 步到达目标。</a:t>
              </a:r>
            </a:p>
          </p:txBody>
        </p:sp>
      </p:grpSp>
      <p:grpSp>
        <p:nvGrpSpPr>
          <p:cNvPr id="475" name="lc15-cap"/>
          <p:cNvGrpSpPr/>
          <p:nvPr/>
        </p:nvGrpSpPr>
        <p:grpSpPr>
          <a:xfrm>
            <a:off x="528066" y="6173152"/>
            <a:ext cx="5591099" cy="205359"/>
            <a:chOff x="528066" y="6173152"/>
            <a:chExt cx="5591099" cy="205359"/>
          </a:xfrm>
        </p:grpSpPr>
        <p:sp>
          <p:nvSpPr>
            <p:cNvPr id="474" name="TextBox 474"/>
            <p:cNvSpPr txBox="1"/>
            <p:nvPr/>
          </p:nvSpPr>
          <p:spPr>
            <a:xfrm>
              <a:off x="528066" y="6173152"/>
              <a:ext cx="5591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橙框为 E-结点，绿框为目标；儿子按上、右、下、左生成，不生成与父结点相同的布局。</a:t>
              </a:r>
            </a:p>
          </p:txBody>
        </p:sp>
      </p:grpSp>
      <p:grpSp>
        <p:nvGrpSpPr>
          <p:cNvPr id="4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6" name="TextBox 476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477" name="TextBox 4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3419" cy="909257"/>
            <a:chOff x="520446" y="342900"/>
            <a:chExt cx="8423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5082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6646" y="407194"/>
              <a:ext cx="26443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子集和数与 15 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3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 复核：12 个结点的 ĉ 逐个核对，4 步也是最少步数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33400" y="1524000"/>
            <a:ext cx="5410200" cy="3011805"/>
            <a:chOff x="533400" y="1524000"/>
            <a:chExt cx="5410200" cy="3011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5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726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1809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不在位的牌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90972" y="1655445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 = f + ĝ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42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260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0902" y="2085022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3、7、11、12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06925" y="20850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+ 4 = 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423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84718" y="251555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40902" y="2515552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3、4、7、11、12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06925" y="251555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+ 5 = 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6423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84718" y="294608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40902" y="2946082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7、11、12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30065" y="2824162"/>
              <a:ext cx="160401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06925" y="294608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+ 3 = 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86423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84718" y="33756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40902" y="337566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2、3、7、11、12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06925" y="33756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+ 5 = 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6423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84718" y="380619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40902" y="380619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7、8、11、12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06925" y="380619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= 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6423" y="4235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84718" y="423576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640902" y="4235768"/>
              <a:ext cx="5291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11、12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330065" y="4114800"/>
              <a:ext cx="160401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806925" y="4235768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+ 2 = 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152400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34016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53079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1577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card-2"/>
          <p:cNvGrpSpPr/>
          <p:nvPr/>
        </p:nvGrpSpPr>
        <p:grpSpPr>
          <a:xfrm>
            <a:off x="533400" y="4720590"/>
            <a:ext cx="5410200" cy="1594485"/>
            <a:chOff x="533400" y="4720590"/>
            <a:chExt cx="5410200" cy="1594485"/>
          </a:xfrm>
        </p:grpSpPr>
        <p:sp>
          <p:nvSpPr>
            <p:cNvPr id="51" name="Rectangle 51"/>
            <p:cNvSpPr/>
            <p:nvPr/>
          </p:nvSpPr>
          <p:spPr>
            <a:xfrm>
              <a:off x="533400" y="472059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42925" y="485394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75335" y="492442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7644" y="49601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782955" y="535781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39546" y="529732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 检索的 E-结点依次为 1、3、6、8，生成第 12 个结点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时到达目标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82955" y="59493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39546" y="5888831"/>
              <a:ext cx="24708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广度优先求出最少步数也是 4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6248400" y="1524000"/>
            <a:ext cx="5410200" cy="3011805"/>
            <a:chOff x="6248400" y="1524000"/>
            <a:chExt cx="5410200" cy="3011805"/>
          </a:xfrm>
        </p:grpSpPr>
        <p:sp>
          <p:nvSpPr>
            <p:cNvPr id="60" name="Rectangle 60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865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48760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来自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733092" y="165544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不在位的牌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05972" y="1655445"/>
              <a:ext cx="682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 = f + ĝ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01423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99718" y="208502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55902" y="2085022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6、7、11、12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21925" y="208502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+ 4 = 6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01423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99718" y="251555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右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55902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045065" y="2393632"/>
              <a:ext cx="1604010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521925" y="251555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+ 1 = 4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01423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99718" y="2946082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下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55902" y="2946082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11、12、15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21925" y="2946082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+ 3 = 6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54777" y="3375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99718" y="337566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左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355902" y="337566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10、11、12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521925" y="33756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+ 3 = 6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6699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54777" y="38061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499718" y="3806190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上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55902" y="3806190"/>
              <a:ext cx="440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8、12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521925" y="380619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+ 2 = 6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248400" y="41005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6248400" y="410527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554777" y="423576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499718" y="4235768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下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355902" y="423576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无（目标）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045065" y="4114800"/>
              <a:ext cx="160401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521925" y="4235768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+ 0 = 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1524000"/>
              <a:ext cx="5410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05516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245792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030778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2" name="c2-card-2"/>
          <p:cNvGrpSpPr/>
          <p:nvPr/>
        </p:nvGrpSpPr>
        <p:grpSpPr>
          <a:xfrm>
            <a:off x="6248400" y="4720590"/>
            <a:ext cx="5410200" cy="1594485"/>
            <a:chOff x="6248400" y="4720590"/>
            <a:chExt cx="5410200" cy="1594485"/>
          </a:xfrm>
        </p:grpSpPr>
        <p:sp>
          <p:nvSpPr>
            <p:cNvPr id="104" name="Rectangle 104"/>
            <p:cNvSpPr/>
            <p:nvPr/>
          </p:nvSpPr>
          <p:spPr>
            <a:xfrm>
              <a:off x="6248400" y="472059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257925" y="485394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490335" y="49244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80543" y="49601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6497955" y="535781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654546" y="5297329"/>
              <a:ext cx="459511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原讲解第 2 层画了空格上移、回到开局的儿子（2 + 4），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层却没画；本讲义按教材不生成与父结点相同的布局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6497955" y="5949315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6654546" y="5888831"/>
              <a:ext cx="2566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最后一层补标 ĉ：4 + 2、4 + 0</a:t>
              </a:r>
            </a:p>
          </p:txBody>
        </p:sp>
      </p:grpSp>
      <p:grpSp>
        <p:nvGrpSpPr>
          <p:cNvPr id="11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3" name="TextBox 11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64808" cy="3569017"/>
            <a:chOff x="667512" y="1835468"/>
            <a:chExt cx="6464808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带期限的作业调度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99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同一套 ĉ 与 u，分别用 FIFO 和 LC 选 E-结点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063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n = 5，(pᵢ, dᵢ, tᵢ) = (6, 3, 2)、(3, 1, 1)、(4, 3, 2)、(8, 2,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1)、(5, 3, 1)，不定长元组表示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56003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画出静态树并按层次编号；(2) 给出 ĉ(X) 和 u(X) 的定义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88251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25365"/>
              <a:ext cx="6225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画出 FIFOBB 与 LCBB 生成的动态树，标出最优解的答案结点并给出罚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款数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0545" cy="909257"/>
            <a:chOff x="520446" y="342900"/>
            <a:chExt cx="86405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带期限的作业调度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05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题5(1)：不定长元组的静态树共 32 个结点，按层次编号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11125200" cy="982980"/>
            <a:chOff x="533400" y="1524000"/>
            <a:chExt cx="11125200" cy="9829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982980"/>
            </a:xfrm>
            <a:prstGeom prst="roundRect">
              <a:avLst>
                <a:gd name="adj" fmla="val 135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162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第5题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659" y="1767364"/>
              <a:ext cx="8875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 i 有罚款 pᵢ、期限 dᵢ、处理时间 tᵢ，误期就要交罚款；选一个作业子集按期完成，使罚款总和最小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115502"/>
              <a:ext cx="6756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思路：xᵢ 是选中作业的编号，要求 x₁ &lt; x₂ &lt; …，结点的儿子只取比它最后一个编号大的作业。</a:t>
              </a:r>
            </a:p>
          </p:txBody>
        </p:sp>
      </p:grpSp>
      <p:grpSp>
        <p:nvGrpSpPr>
          <p:cNvPr id="176" name="c1-graph-2"/>
          <p:cNvGrpSpPr/>
          <p:nvPr/>
        </p:nvGrpSpPr>
        <p:grpSpPr>
          <a:xfrm>
            <a:off x="613123" y="2801302"/>
            <a:ext cx="10518745" cy="2792730"/>
            <a:chOff x="613123" y="2801302"/>
            <a:chExt cx="10518745" cy="2792730"/>
          </a:xfrm>
        </p:grpSpPr>
        <p:sp>
          <p:nvSpPr>
            <p:cNvPr id="14" name="Freeform 14"/>
            <p:cNvSpPr/>
            <p:nvPr/>
          </p:nvSpPr>
          <p:spPr>
            <a:xfrm>
              <a:off x="4186238" y="2950845"/>
              <a:ext cx="3207068" cy="466725"/>
            </a:xfrm>
            <a:custGeom>
              <a:avLst/>
              <a:gdLst/>
              <a:ahLst/>
              <a:cxnLst/>
              <a:rect l="l" t="t" r="r" b="b"/>
              <a:pathLst>
                <a:path w="3207068" h="466725">
                  <a:moveTo>
                    <a:pt x="3207068" y="0"/>
                  </a:moveTo>
                  <a:lnTo>
                    <a:pt x="0" y="466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539990" y="3068955"/>
              <a:ext cx="15240" cy="229553"/>
            </a:xfrm>
            <a:custGeom>
              <a:avLst/>
              <a:gdLst/>
              <a:ahLst/>
              <a:cxnLst/>
              <a:rect l="l" t="t" r="r" b="b"/>
              <a:pathLst>
                <a:path w="15240" h="229553">
                  <a:moveTo>
                    <a:pt x="0" y="0"/>
                  </a:moveTo>
                  <a:lnTo>
                    <a:pt x="15240" y="2295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664768" y="2967990"/>
              <a:ext cx="1567815" cy="432435"/>
            </a:xfrm>
            <a:custGeom>
              <a:avLst/>
              <a:gdLst/>
              <a:ahLst/>
              <a:cxnLst/>
              <a:rect l="l" t="t" r="r" b="b"/>
              <a:pathLst>
                <a:path w="1567815" h="432435">
                  <a:moveTo>
                    <a:pt x="0" y="0"/>
                  </a:moveTo>
                  <a:lnTo>
                    <a:pt x="1567815" y="4324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667625" y="2955608"/>
              <a:ext cx="2541270" cy="457200"/>
            </a:xfrm>
            <a:custGeom>
              <a:avLst/>
              <a:gdLst/>
              <a:ahLst/>
              <a:cxnLst/>
              <a:rect l="l" t="t" r="r" b="b"/>
              <a:pathLst>
                <a:path w="2541270" h="457200">
                  <a:moveTo>
                    <a:pt x="0" y="0"/>
                  </a:moveTo>
                  <a:lnTo>
                    <a:pt x="2541270" y="4572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68578" y="2950845"/>
              <a:ext cx="3196590" cy="466725"/>
            </a:xfrm>
            <a:custGeom>
              <a:avLst/>
              <a:gdLst/>
              <a:ahLst/>
              <a:cxnLst/>
              <a:rect l="l" t="t" r="r" b="b"/>
              <a:pathLst>
                <a:path w="3196590" h="466725">
                  <a:moveTo>
                    <a:pt x="0" y="0"/>
                  </a:moveTo>
                  <a:lnTo>
                    <a:pt x="3196590" y="4667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468880" y="3476625"/>
              <a:ext cx="1446848" cy="427672"/>
            </a:xfrm>
            <a:custGeom>
              <a:avLst/>
              <a:gdLst/>
              <a:ahLst/>
              <a:cxnLst/>
              <a:rect l="l" t="t" r="r" b="b"/>
              <a:pathLst>
                <a:path w="1446848" h="427672">
                  <a:moveTo>
                    <a:pt x="1446848" y="0"/>
                  </a:moveTo>
                  <a:lnTo>
                    <a:pt x="0" y="42767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072890" y="3573780"/>
              <a:ext cx="40957" cy="233362"/>
            </a:xfrm>
            <a:custGeom>
              <a:avLst/>
              <a:gdLst/>
              <a:ahLst/>
              <a:cxnLst/>
              <a:rect l="l" t="t" r="r" b="b"/>
              <a:pathLst>
                <a:path w="40957" h="233362">
                  <a:moveTo>
                    <a:pt x="0" y="0"/>
                  </a:moveTo>
                  <a:lnTo>
                    <a:pt x="40957" y="2333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174808" y="3496628"/>
              <a:ext cx="816292" cy="387667"/>
            </a:xfrm>
            <a:custGeom>
              <a:avLst/>
              <a:gdLst/>
              <a:ahLst/>
              <a:cxnLst/>
              <a:rect l="l" t="t" r="r" b="b"/>
              <a:pathLst>
                <a:path w="816292" h="387667">
                  <a:moveTo>
                    <a:pt x="0" y="0"/>
                  </a:moveTo>
                  <a:lnTo>
                    <a:pt x="816292" y="3876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182428" y="3476625"/>
              <a:ext cx="1457325" cy="428625"/>
            </a:xfrm>
            <a:custGeom>
              <a:avLst/>
              <a:gdLst/>
              <a:ahLst/>
              <a:cxnLst/>
              <a:rect l="l" t="t" r="r" b="b"/>
              <a:pathLst>
                <a:path w="1457325" h="428625">
                  <a:moveTo>
                    <a:pt x="0" y="0"/>
                  </a:moveTo>
                  <a:lnTo>
                    <a:pt x="1457325" y="4286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870382" y="3510915"/>
              <a:ext cx="576262" cy="360045"/>
            </a:xfrm>
            <a:custGeom>
              <a:avLst/>
              <a:gdLst/>
              <a:ahLst/>
              <a:cxnLst/>
              <a:rect l="l" t="t" r="r" b="b"/>
              <a:pathLst>
                <a:path w="576262" h="360045">
                  <a:moveTo>
                    <a:pt x="576262" y="0"/>
                  </a:moveTo>
                  <a:lnTo>
                    <a:pt x="0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607618" y="3569018"/>
              <a:ext cx="80010" cy="242888"/>
            </a:xfrm>
            <a:custGeom>
              <a:avLst/>
              <a:gdLst/>
              <a:ahLst/>
              <a:cxnLst/>
              <a:rect l="l" t="t" r="r" b="b"/>
              <a:pathLst>
                <a:path w="80010" h="242888">
                  <a:moveTo>
                    <a:pt x="0" y="0"/>
                  </a:moveTo>
                  <a:lnTo>
                    <a:pt x="80010" y="2428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82865" y="3509962"/>
              <a:ext cx="586740" cy="360997"/>
            </a:xfrm>
            <a:custGeom>
              <a:avLst/>
              <a:gdLst/>
              <a:ahLst/>
              <a:cxnLst/>
              <a:rect l="l" t="t" r="r" b="b"/>
              <a:pathLst>
                <a:path w="586740" h="360997">
                  <a:moveTo>
                    <a:pt x="0" y="0"/>
                  </a:moveTo>
                  <a:lnTo>
                    <a:pt x="586740" y="36099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9109710" y="3553778"/>
              <a:ext cx="180975" cy="274320"/>
            </a:xfrm>
            <a:custGeom>
              <a:avLst/>
              <a:gdLst/>
              <a:ahLst/>
              <a:cxnLst/>
              <a:rect l="l" t="t" r="r" b="b"/>
              <a:pathLst>
                <a:path w="180975" h="274320">
                  <a:moveTo>
                    <a:pt x="180975" y="0"/>
                  </a:moveTo>
                  <a:lnTo>
                    <a:pt x="0" y="2743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441180" y="3554730"/>
              <a:ext cx="173355" cy="272415"/>
            </a:xfrm>
            <a:custGeom>
              <a:avLst/>
              <a:gdLst/>
              <a:ahLst/>
              <a:cxnLst/>
              <a:rect l="l" t="t" r="r" b="b"/>
              <a:pathLst>
                <a:path w="173355" h="272415">
                  <a:moveTo>
                    <a:pt x="0" y="0"/>
                  </a:moveTo>
                  <a:lnTo>
                    <a:pt x="173355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346055" y="357663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641158" y="4017645"/>
              <a:ext cx="576262" cy="360045"/>
            </a:xfrm>
            <a:custGeom>
              <a:avLst/>
              <a:gdLst/>
              <a:ahLst/>
              <a:cxnLst/>
              <a:rect l="l" t="t" r="r" b="b"/>
              <a:pathLst>
                <a:path w="576262" h="360045">
                  <a:moveTo>
                    <a:pt x="576262" y="0"/>
                  </a:moveTo>
                  <a:lnTo>
                    <a:pt x="0" y="360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2379345" y="4075748"/>
              <a:ext cx="80010" cy="242888"/>
            </a:xfrm>
            <a:custGeom>
              <a:avLst/>
              <a:gdLst/>
              <a:ahLst/>
              <a:cxnLst/>
              <a:rect l="l" t="t" r="r" b="b"/>
              <a:pathLst>
                <a:path w="80010" h="242888">
                  <a:moveTo>
                    <a:pt x="0" y="0"/>
                  </a:moveTo>
                  <a:lnTo>
                    <a:pt x="80010" y="2428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2453640" y="4016692"/>
              <a:ext cx="586740" cy="360998"/>
            </a:xfrm>
            <a:custGeom>
              <a:avLst/>
              <a:gdLst/>
              <a:ahLst/>
              <a:cxnLst/>
              <a:rect l="l" t="t" r="r" b="b"/>
              <a:pathLst>
                <a:path w="586740" h="360998">
                  <a:moveTo>
                    <a:pt x="0" y="0"/>
                  </a:moveTo>
                  <a:lnTo>
                    <a:pt x="586740" y="3609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880485" y="4060508"/>
              <a:ext cx="180975" cy="274320"/>
            </a:xfrm>
            <a:custGeom>
              <a:avLst/>
              <a:gdLst/>
              <a:ahLst/>
              <a:cxnLst/>
              <a:rect l="l" t="t" r="r" b="b"/>
              <a:pathLst>
                <a:path w="180975" h="274320">
                  <a:moveTo>
                    <a:pt x="180975" y="0"/>
                  </a:moveTo>
                  <a:lnTo>
                    <a:pt x="0" y="2743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212908" y="4061460"/>
              <a:ext cx="173355" cy="272415"/>
            </a:xfrm>
            <a:custGeom>
              <a:avLst/>
              <a:gdLst/>
              <a:ahLst/>
              <a:cxnLst/>
              <a:rect l="l" t="t" r="r" b="b"/>
              <a:pathLst>
                <a:path w="173355" h="272415">
                  <a:moveTo>
                    <a:pt x="0" y="0"/>
                  </a:moveTo>
                  <a:lnTo>
                    <a:pt x="173355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116830" y="408336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495098" y="4060508"/>
              <a:ext cx="180975" cy="274320"/>
            </a:xfrm>
            <a:custGeom>
              <a:avLst/>
              <a:gdLst/>
              <a:ahLst/>
              <a:cxnLst/>
              <a:rect l="l" t="t" r="r" b="b"/>
              <a:pathLst>
                <a:path w="180975" h="274320">
                  <a:moveTo>
                    <a:pt x="180975" y="0"/>
                  </a:moveTo>
                  <a:lnTo>
                    <a:pt x="0" y="2743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826568" y="4061460"/>
              <a:ext cx="174307" cy="272415"/>
            </a:xfrm>
            <a:custGeom>
              <a:avLst/>
              <a:gdLst/>
              <a:ahLst/>
              <a:cxnLst/>
              <a:rect l="l" t="t" r="r" b="b"/>
              <a:pathLst>
                <a:path w="174307" h="272415">
                  <a:moveTo>
                    <a:pt x="0" y="0"/>
                  </a:moveTo>
                  <a:lnTo>
                    <a:pt x="174307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31442" y="408336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33510" y="408336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265872" y="4566285"/>
              <a:ext cx="180975" cy="275273"/>
            </a:xfrm>
            <a:custGeom>
              <a:avLst/>
              <a:gdLst/>
              <a:ahLst/>
              <a:cxnLst/>
              <a:rect l="l" t="t" r="r" b="b"/>
              <a:pathLst>
                <a:path w="180975" h="275273">
                  <a:moveTo>
                    <a:pt x="180975" y="0"/>
                  </a:moveTo>
                  <a:lnTo>
                    <a:pt x="0" y="2752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598295" y="4568190"/>
              <a:ext cx="173355" cy="272415"/>
            </a:xfrm>
            <a:custGeom>
              <a:avLst/>
              <a:gdLst/>
              <a:ahLst/>
              <a:cxnLst/>
              <a:rect l="l" t="t" r="r" b="b"/>
              <a:pathLst>
                <a:path w="173355" h="272415">
                  <a:moveTo>
                    <a:pt x="0" y="0"/>
                  </a:moveTo>
                  <a:lnTo>
                    <a:pt x="173355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2502218" y="459009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3804285" y="459009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418898" y="4590098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1189672" y="5095875"/>
              <a:ext cx="9525" cy="229553"/>
            </a:xfrm>
            <a:custGeom>
              <a:avLst/>
              <a:gdLst/>
              <a:ahLst/>
              <a:cxnLst/>
              <a:rect l="l" t="t" r="r" b="b"/>
              <a:pathLst>
                <a:path w="9525" h="229553">
                  <a:moveTo>
                    <a:pt x="0" y="0"/>
                  </a:moveTo>
                  <a:lnTo>
                    <a:pt x="0" y="2295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60132" y="533495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716405" y="482822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2372678" y="482822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028950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674745" y="482822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4331018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4987290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5643562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289358" y="482822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945630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601902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8258175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8903970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560242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10216515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0872788" y="330803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1060132" y="482822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1394460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2372678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2205990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3674745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4008120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4987290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3919538" y="330803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6289358" y="432149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622732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601902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435215" y="330803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903970" y="381476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237345" y="330803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0216515" y="330803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7401878" y="280130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108531" y="540305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764804" y="4896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2421076" y="4896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077349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3723144" y="4896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379416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035689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691961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37756" y="4896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994029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650301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306574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952369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608641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264914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959280" y="33770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08531" y="48963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442859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2421076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2292483" y="38838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3723144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4094613" y="38838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073783" y="38838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006030" y="33770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37756" y="439054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671131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650301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521708" y="33770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952369" y="38838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323838" y="33770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303008" y="337708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88370" y="28703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5723572" y="3105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5755128" y="3135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7480935" y="3105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512491" y="3135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8382000" y="3105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413556" y="3135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8871585" y="3105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903141" y="3135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9200198" y="310515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9231753" y="31351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3125152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3157661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4027170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4058726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4515802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4548311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844415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4875971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7091362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7122918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7580948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612503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7909560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7941116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9133522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9165078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9461182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9492738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10279380" y="36118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10310936" y="36418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1863090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1894646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2352675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2384231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2680335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2711891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3904298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3935853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4232910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4264466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5050155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5081711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6518910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6550466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6846570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6878126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7664768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7696323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8965882" y="41186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8998391" y="4148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1289685" y="46253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321241" y="4654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1618298" y="46253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1649853" y="4654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3" name="Rectangle 163"/>
            <p:cNvSpPr/>
            <p:nvPr/>
          </p:nvSpPr>
          <p:spPr>
            <a:xfrm>
              <a:off x="2435542" y="46253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2467098" y="4654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3737610" y="46253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6" name="TextBox 166"/>
            <p:cNvSpPr txBox="1"/>
            <p:nvPr/>
          </p:nvSpPr>
          <p:spPr>
            <a:xfrm>
              <a:off x="3769166" y="4654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7" name="Rectangle 167"/>
            <p:cNvSpPr/>
            <p:nvPr/>
          </p:nvSpPr>
          <p:spPr>
            <a:xfrm>
              <a:off x="6352222" y="46253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6383778" y="46543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9" name="Rectangle 169"/>
            <p:cNvSpPr/>
            <p:nvPr/>
          </p:nvSpPr>
          <p:spPr>
            <a:xfrm>
              <a:off x="1122998" y="513207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1154553" y="516112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613123" y="307086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613123" y="35775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613123" y="408432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613123" y="45910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613123" y="509778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x₅</a:t>
              </a:r>
            </a:p>
          </p:txBody>
        </p:sp>
      </p:grpSp>
      <p:grpSp>
        <p:nvGrpSpPr>
          <p:cNvPr id="183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177" name="Rectangle 177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1" name="Group 181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79" name="Freeform 179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0" name="Freeform 180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2" name="TextBox 182"/>
            <p:cNvSpPr txBox="1"/>
            <p:nvPr/>
          </p:nvSpPr>
          <p:spPr>
            <a:xfrm>
              <a:off x="1040511" y="6004084"/>
              <a:ext cx="100217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边上的数字是新选中的作业。第 1~5 层依次有 5、10、10、5、1 个结点，加上根共 2⁵ = 32 个，对应 32 个作业子集。</a:t>
              </a:r>
            </a:p>
          </p:txBody>
        </p:sp>
      </p:grpSp>
      <p:grpSp>
        <p:nvGrpSpPr>
          <p:cNvPr id="1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4" name="TextBox 184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85" name="TextBox 1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81020" cy="909257"/>
            <a:chOff x="520446" y="342900"/>
            <a:chExt cx="98810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带期限的作业调度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810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题5(2)：ĉ(X) 只计一定会被罚的作业，u(X) 计所有没选的作业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8066" y="1541145"/>
            <a:ext cx="3499333" cy="205359"/>
            <a:chOff x="528066" y="1541145"/>
            <a:chExt cx="3499333" cy="205359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541145"/>
              <a:ext cx="3499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Sₓ 是根到 X 选中的作业集合，m = max{i | i ∈ Sₓ}：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4"/>
              <p:cNvSpPr txBox="1">
                <a:spLocks noGrp="1"/>
              </p:cNvSpPr>
              <p:nvPr/>
            </p:nvSpPr>
            <p:spPr>
              <a:xfrm>
                <a:off x="533400" y="1869758"/>
                <a:ext cx="420624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&lt;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 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i∉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5"/>
              <p:cNvSpPr txBox="1">
                <a:spLocks noGrp="1"/>
              </p:cNvSpPr>
              <p:nvPr/>
            </p:nvSpPr>
            <p:spPr>
              <a:xfrm>
                <a:off x="533400" y="2631758"/>
                <a:ext cx="4206240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i∉</m:t>
                          </m:r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sub>
                          </m:sSub>
                        </m:sub>
                        <m:sup/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4"/>
          <p:cNvGrpSpPr/>
          <p:nvPr/>
        </p:nvGrpSpPr>
        <p:grpSpPr>
          <a:xfrm>
            <a:off x="533400" y="3393758"/>
            <a:ext cx="4206240" cy="2958465"/>
            <a:chOff x="533400" y="3393758"/>
            <a:chExt cx="4206240" cy="2958465"/>
          </a:xfrm>
        </p:grpSpPr>
        <p:sp>
          <p:nvSpPr>
            <p:cNvPr id="11" name="Rectangle 11"/>
            <p:cNvSpPr/>
            <p:nvPr/>
          </p:nvSpPr>
          <p:spPr>
            <a:xfrm>
              <a:off x="533400" y="3393758"/>
              <a:ext cx="4206240" cy="2958465"/>
            </a:xfrm>
            <a:prstGeom prst="roundRect">
              <a:avLst>
                <a:gd name="adj" fmla="val 450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4375" y="3574732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0593" y="360759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为什么是下界和上界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39681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9348" y="3915251"/>
              <a:ext cx="3483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编号小于 m 又没选的作业以后选不上，罚款跑不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掉，所以 ĉ(X) 是下界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4958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9348" y="4442936"/>
              <a:ext cx="34917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Sₓ 可行时，不再加作业就是一个解，罚款正好是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u(X)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0234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" y="4970621"/>
              <a:ext cx="34936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U：已见到的 u 的最小值，初值 ∞ 或 Σpᵢ = 26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3900" y="53082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9348" y="5256371"/>
              <a:ext cx="33291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最后一个作业是 5 时后面没有作业可加，ĉ = u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（结点 6、10、13、15、16）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5039487" y="1524000"/>
            <a:ext cx="3159633" cy="3315366"/>
            <a:chOff x="5039487" y="1524000"/>
            <a:chExt cx="3159633" cy="3315366"/>
          </a:xfrm>
        </p:grpSpPr>
        <p:sp>
          <p:nvSpPr>
            <p:cNvPr id="23" name="Rectangle 23"/>
            <p:cNvSpPr/>
            <p:nvPr/>
          </p:nvSpPr>
          <p:spPr>
            <a:xfrm>
              <a:off x="5044440" y="1524000"/>
              <a:ext cx="315468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44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183485" y="164115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Sₓ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188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0626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4500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53121" y="2023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1383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6933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44440" y="2282190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44440" y="2286952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345001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53121" y="2404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13832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69333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044440" y="2663190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45001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53121" y="2785110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{3}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1383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69333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044440" y="3045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044440" y="3049905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45001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53121" y="3167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7496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69333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044440" y="3426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345001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53121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{5}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7496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69333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044440" y="3807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044440" y="3811905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45001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054176" y="393001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2}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1383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69333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044440" y="4189095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45001" y="4311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54176" y="431101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3}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078494" y="4311015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72867" y="4311015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044440" y="1524000"/>
              <a:ext cx="315468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73405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80656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49998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039487" y="4648676"/>
              <a:ext cx="14017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 8 超期，不算 ĉ、u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5044440" y="4965382"/>
            <a:ext cx="3154680" cy="1386840"/>
            <a:chOff x="5044440" y="4965382"/>
            <a:chExt cx="3154680" cy="1386840"/>
          </a:xfrm>
        </p:grpSpPr>
        <p:sp>
          <p:nvSpPr>
            <p:cNvPr id="71" name="Rectangle 71"/>
            <p:cNvSpPr/>
            <p:nvPr/>
          </p:nvSpPr>
          <p:spPr>
            <a:xfrm>
              <a:off x="5044440" y="4965382"/>
              <a:ext cx="315468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5053965" y="5098732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263515" y="5146358"/>
              <a:ext cx="69437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345175" y="5179219"/>
              <a:ext cx="530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可行性 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5257038" y="5486876"/>
              <a:ext cx="25326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按期限升序累加 tᵢ，都不超期才可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行。{1, 3} 需 4 个单位时间，最大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期限只有 3</a:t>
              </a:r>
            </a:p>
          </p:txBody>
        </p:sp>
      </p:grpSp>
      <p:grpSp>
        <p:nvGrpSpPr>
          <p:cNvPr id="123" name="c3-table-1"/>
          <p:cNvGrpSpPr/>
          <p:nvPr/>
        </p:nvGrpSpPr>
        <p:grpSpPr>
          <a:xfrm>
            <a:off x="8503920" y="1524000"/>
            <a:ext cx="3154680" cy="3050858"/>
            <a:chOff x="8503920" y="1524000"/>
            <a:chExt cx="3154680" cy="3050858"/>
          </a:xfrm>
        </p:grpSpPr>
        <p:sp>
          <p:nvSpPr>
            <p:cNvPr id="77" name="Rectangle 77"/>
            <p:cNvSpPr/>
            <p:nvPr/>
          </p:nvSpPr>
          <p:spPr>
            <a:xfrm>
              <a:off x="8503920" y="1524000"/>
              <a:ext cx="315468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70394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642965" y="1641157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71368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265741" y="16411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804481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13656" y="2023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4}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573312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228813" y="2023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503920" y="2282190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503920" y="2286952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763666" y="2404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513656" y="2404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5}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534440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228813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503920" y="2663190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763666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513656" y="2785110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3}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573312" y="2785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228813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503920" y="3045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503920" y="3049905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763666" y="3167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513656" y="31670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4}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534440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228813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503920" y="3426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8763666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513656" y="354806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5}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534440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228813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503920" y="3807142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8503920" y="3811905"/>
              <a:ext cx="315468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8763666" y="3930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513656" y="393001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{3, 4}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0573312" y="393001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228813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8503920" y="4189095"/>
              <a:ext cx="31546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8763666" y="43110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9513656" y="4311015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{3, 5}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534440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228813" y="4311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8503920" y="1524000"/>
              <a:ext cx="3154680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9193530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26604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10959465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c3-callout-2"/>
          <p:cNvGrpSpPr/>
          <p:nvPr/>
        </p:nvGrpSpPr>
        <p:grpSpPr>
          <a:xfrm>
            <a:off x="8503920" y="4739640"/>
            <a:ext cx="3154680" cy="1612582"/>
            <a:chOff x="8503920" y="4739640"/>
            <a:chExt cx="3154680" cy="1612582"/>
          </a:xfrm>
        </p:grpSpPr>
        <p:sp>
          <p:nvSpPr>
            <p:cNvPr id="124" name="Rectangle 124"/>
            <p:cNvSpPr/>
            <p:nvPr/>
          </p:nvSpPr>
          <p:spPr>
            <a:xfrm>
              <a:off x="8503920" y="4739640"/>
              <a:ext cx="3154680" cy="1612582"/>
            </a:xfrm>
            <a:prstGeom prst="roundRect">
              <a:avLst>
                <a:gd name="adj" fmla="val 708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28" name="Group 128"/>
            <p:cNvGrpSpPr/>
            <p:nvPr/>
          </p:nvGrpSpPr>
          <p:grpSpPr>
            <a:xfrm>
              <a:off x="8708708" y="5446395"/>
              <a:ext cx="200026" cy="200026"/>
              <a:chOff x="8708708" y="5446395"/>
              <a:chExt cx="200026" cy="200026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8708708" y="54463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8808720" y="55130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8797608" y="55464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29" name="TextBox 129"/>
            <p:cNvSpPr txBox="1"/>
            <p:nvPr/>
          </p:nvSpPr>
          <p:spPr>
            <a:xfrm>
              <a:off x="9011793" y="5222081"/>
              <a:ext cx="2199386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16 = {4, 5} 的 ĉ = u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13。第 3 层只有结点 25 = {2,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5} 可行，ĉ = u = 10。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3561" cy="909257"/>
            <a:chOff x="520446" y="342900"/>
            <a:chExt cx="9673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带期限的作业调度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3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题5(3) FIFOBB：生成 23 个结点，答案结点 25，最小罚款 10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9" name="c1-graph-1"/>
          <p:cNvGrpSpPr/>
          <p:nvPr/>
        </p:nvGrpSpPr>
        <p:grpSpPr>
          <a:xfrm>
            <a:off x="821055" y="1638300"/>
            <a:ext cx="5258753" cy="2821019"/>
            <a:chOff x="821055" y="1638300"/>
            <a:chExt cx="5258753" cy="2821019"/>
          </a:xfrm>
        </p:grpSpPr>
        <p:sp>
          <p:nvSpPr>
            <p:cNvPr id="7" name="Freeform 7"/>
            <p:cNvSpPr/>
            <p:nvPr/>
          </p:nvSpPr>
          <p:spPr>
            <a:xfrm>
              <a:off x="2238375" y="1824038"/>
              <a:ext cx="1667828" cy="741045"/>
            </a:xfrm>
            <a:custGeom>
              <a:avLst/>
              <a:gdLst/>
              <a:ahLst/>
              <a:cxnLst/>
              <a:rect l="l" t="t" r="r" b="b"/>
              <a:pathLst>
                <a:path w="1667828" h="741045">
                  <a:moveTo>
                    <a:pt x="1667828" y="0"/>
                  </a:moveTo>
                  <a:lnTo>
                    <a:pt x="0" y="741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50018" y="1905952"/>
              <a:ext cx="67628" cy="578168"/>
            </a:xfrm>
            <a:custGeom>
              <a:avLst/>
              <a:gdLst/>
              <a:ahLst/>
              <a:cxnLst/>
              <a:rect l="l" t="t" r="r" b="b"/>
              <a:pathLst>
                <a:path w="67628" h="578168">
                  <a:moveTo>
                    <a:pt x="67628" y="0"/>
                  </a:moveTo>
                  <a:lnTo>
                    <a:pt x="0" y="5781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136708" y="1860232"/>
              <a:ext cx="751523" cy="668655"/>
            </a:xfrm>
            <a:custGeom>
              <a:avLst/>
              <a:gdLst/>
              <a:ahLst/>
              <a:cxnLst/>
              <a:rect l="l" t="t" r="r" b="b"/>
              <a:pathLst>
                <a:path w="751523" h="668655">
                  <a:moveTo>
                    <a:pt x="0" y="0"/>
                  </a:moveTo>
                  <a:lnTo>
                    <a:pt x="751523" y="66865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54805" y="1835468"/>
              <a:ext cx="1287780" cy="718185"/>
            </a:xfrm>
            <a:custGeom>
              <a:avLst/>
              <a:gdLst/>
              <a:ahLst/>
              <a:cxnLst/>
              <a:rect l="l" t="t" r="r" b="b"/>
              <a:pathLst>
                <a:path w="1287780" h="718185">
                  <a:moveTo>
                    <a:pt x="0" y="0"/>
                  </a:moveTo>
                  <a:lnTo>
                    <a:pt x="1287780" y="718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60520" y="1824038"/>
              <a:ext cx="1662112" cy="741045"/>
            </a:xfrm>
            <a:custGeom>
              <a:avLst/>
              <a:gdLst/>
              <a:ahLst/>
              <a:cxnLst/>
              <a:rect l="l" t="t" r="r" b="b"/>
              <a:pathLst>
                <a:path w="1662112" h="741045">
                  <a:moveTo>
                    <a:pt x="0" y="0"/>
                  </a:moveTo>
                  <a:lnTo>
                    <a:pt x="1662112" y="74104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38275" y="2725102"/>
              <a:ext cx="580072" cy="646747"/>
            </a:xfrm>
            <a:custGeom>
              <a:avLst/>
              <a:gdLst/>
              <a:ahLst/>
              <a:cxnLst/>
              <a:rect l="l" t="t" r="r" b="b"/>
              <a:pathLst>
                <a:path w="580072" h="646747">
                  <a:moveTo>
                    <a:pt x="580072" y="0"/>
                  </a:moveTo>
                  <a:lnTo>
                    <a:pt x="0" y="6467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110740" y="2760345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0"/>
                  </a:moveTo>
                  <a:lnTo>
                    <a:pt x="0" y="595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67890" y="2747962"/>
              <a:ext cx="271463" cy="601028"/>
            </a:xfrm>
            <a:custGeom>
              <a:avLst/>
              <a:gdLst/>
              <a:ahLst/>
              <a:cxnLst/>
              <a:rect l="l" t="t" r="r" b="b"/>
              <a:pathLst>
                <a:path w="271463" h="601028">
                  <a:moveTo>
                    <a:pt x="0" y="0"/>
                  </a:moveTo>
                  <a:lnTo>
                    <a:pt x="271463" y="601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04085" y="2725102"/>
              <a:ext cx="580072" cy="646747"/>
            </a:xfrm>
            <a:custGeom>
              <a:avLst/>
              <a:gdLst/>
              <a:ahLst/>
              <a:cxnLst/>
              <a:rect l="l" t="t" r="r" b="b"/>
              <a:pathLst>
                <a:path w="580072" h="646747">
                  <a:moveTo>
                    <a:pt x="0" y="0"/>
                  </a:moveTo>
                  <a:lnTo>
                    <a:pt x="580072" y="64674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23298" y="2743200"/>
              <a:ext cx="342900" cy="610553"/>
            </a:xfrm>
            <a:custGeom>
              <a:avLst/>
              <a:gdLst/>
              <a:ahLst/>
              <a:cxnLst/>
              <a:rect l="l" t="t" r="r" b="b"/>
              <a:pathLst>
                <a:path w="342900" h="610553">
                  <a:moveTo>
                    <a:pt x="342900" y="0"/>
                  </a:moveTo>
                  <a:lnTo>
                    <a:pt x="0" y="6105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50018" y="2759392"/>
              <a:ext cx="67628" cy="578167"/>
            </a:xfrm>
            <a:custGeom>
              <a:avLst/>
              <a:gdLst/>
              <a:ahLst/>
              <a:cxnLst/>
              <a:rect l="l" t="t" r="r" b="b"/>
              <a:pathLst>
                <a:path w="67628" h="578167">
                  <a:moveTo>
                    <a:pt x="0" y="0"/>
                  </a:moveTo>
                  <a:lnTo>
                    <a:pt x="67628" y="5781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002405" y="2743200"/>
              <a:ext cx="342900" cy="610553"/>
            </a:xfrm>
            <a:custGeom>
              <a:avLst/>
              <a:gdLst/>
              <a:ahLst/>
              <a:cxnLst/>
              <a:rect l="l" t="t" r="r" b="b"/>
              <a:pathLst>
                <a:path w="342900" h="610553">
                  <a:moveTo>
                    <a:pt x="0" y="0"/>
                  </a:moveTo>
                  <a:lnTo>
                    <a:pt x="342900" y="61055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829175" y="2757488"/>
              <a:ext cx="131445" cy="581978"/>
            </a:xfrm>
            <a:custGeom>
              <a:avLst/>
              <a:gdLst/>
              <a:ahLst/>
              <a:cxnLst/>
              <a:rect l="l" t="t" r="r" b="b"/>
              <a:pathLst>
                <a:path w="131445" h="581978">
                  <a:moveTo>
                    <a:pt x="131445" y="0"/>
                  </a:moveTo>
                  <a:lnTo>
                    <a:pt x="0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022532" y="2757488"/>
              <a:ext cx="131445" cy="581978"/>
            </a:xfrm>
            <a:custGeom>
              <a:avLst/>
              <a:gdLst/>
              <a:ahLst/>
              <a:cxnLst/>
              <a:rect l="l" t="t" r="r" b="b"/>
              <a:pathLst>
                <a:path w="131445" h="581978">
                  <a:moveTo>
                    <a:pt x="0" y="0"/>
                  </a:moveTo>
                  <a:lnTo>
                    <a:pt x="131445" y="5819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14412" y="3602355"/>
              <a:ext cx="274320" cy="606742"/>
            </a:xfrm>
            <a:custGeom>
              <a:avLst/>
              <a:gdLst/>
              <a:ahLst/>
              <a:cxnLst/>
              <a:rect l="l" t="t" r="r" b="b"/>
              <a:pathLst>
                <a:path w="274320" h="606742">
                  <a:moveTo>
                    <a:pt x="274320" y="0"/>
                  </a:moveTo>
                  <a:lnTo>
                    <a:pt x="0" y="6067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345882" y="3613785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0"/>
                  </a:moveTo>
                  <a:lnTo>
                    <a:pt x="0" y="595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402080" y="3602355"/>
              <a:ext cx="269558" cy="606742"/>
            </a:xfrm>
            <a:custGeom>
              <a:avLst/>
              <a:gdLst/>
              <a:ahLst/>
              <a:cxnLst/>
              <a:rect l="l" t="t" r="r" b="b"/>
              <a:pathLst>
                <a:path w="269558" h="606742">
                  <a:moveTo>
                    <a:pt x="0" y="0"/>
                  </a:moveTo>
                  <a:lnTo>
                    <a:pt x="269558" y="6067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2496502" y="3613785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0"/>
                  </a:moveTo>
                  <a:lnTo>
                    <a:pt x="0" y="595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288982" y="3610928"/>
              <a:ext cx="135255" cy="598170"/>
            </a:xfrm>
            <a:custGeom>
              <a:avLst/>
              <a:gdLst/>
              <a:ahLst/>
              <a:cxnLst/>
              <a:rect l="l" t="t" r="r" b="b"/>
              <a:pathLst>
                <a:path w="135255" h="598170">
                  <a:moveTo>
                    <a:pt x="135255" y="0"/>
                  </a:moveTo>
                  <a:lnTo>
                    <a:pt x="0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3485198" y="3610928"/>
              <a:ext cx="135255" cy="598170"/>
            </a:xfrm>
            <a:custGeom>
              <a:avLst/>
              <a:gdLst/>
              <a:ahLst/>
              <a:cxnLst/>
              <a:rect l="l" t="t" r="r" b="b"/>
              <a:pathLst>
                <a:path w="135255" h="598170">
                  <a:moveTo>
                    <a:pt x="0" y="0"/>
                  </a:moveTo>
                  <a:lnTo>
                    <a:pt x="135255" y="5981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033838" y="3613785"/>
              <a:ext cx="9525" cy="576262"/>
            </a:xfrm>
            <a:custGeom>
              <a:avLst/>
              <a:gdLst/>
              <a:ahLst/>
              <a:cxnLst/>
              <a:rect l="l" t="t" r="r" b="b"/>
              <a:pathLst>
                <a:path w="9525" h="576262">
                  <a:moveTo>
                    <a:pt x="0" y="0"/>
                  </a:moveTo>
                  <a:lnTo>
                    <a:pt x="0" y="5762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798695" y="3613785"/>
              <a:ext cx="9525" cy="595312"/>
            </a:xfrm>
            <a:custGeom>
              <a:avLst/>
              <a:gdLst/>
              <a:ahLst/>
              <a:cxnLst/>
              <a:rect l="l" t="t" r="r" b="b"/>
              <a:pathLst>
                <a:path w="9525" h="595312">
                  <a:moveTo>
                    <a:pt x="0" y="0"/>
                  </a:moveTo>
                  <a:lnTo>
                    <a:pt x="0" y="59531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1055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06818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1586865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972628" y="335565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58390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747010" y="3346132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23248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3509010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904298" y="4199572"/>
              <a:ext cx="259080" cy="25908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4283392" y="3346132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60582" y="4209098"/>
              <a:ext cx="277178" cy="240030"/>
            </a:xfrm>
            <a:prstGeom prst="roundRect">
              <a:avLst>
                <a:gd name="adj" fmla="val 1587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054917" y="3346132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434965" y="2491740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5820728" y="2491740"/>
              <a:ext cx="259080" cy="25908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216343" y="334613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2366963" y="334613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981200" y="2491740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3325177" y="334613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904298" y="334613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3804285" y="2491740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4669155" y="334613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4862512" y="2491740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3904298" y="1638300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78979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64741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643836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067693" y="341423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415361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795409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181171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66934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952696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331791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717554" y="42686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103316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521458" y="25607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907220" y="25607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302835" y="341423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453455" y="341423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067693" y="25607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373576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52696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890778" y="25607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717554" y="341423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949005" y="256079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990790" y="170735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005138" y="21164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036693" y="21455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3916680" y="21164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3948236" y="21455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445318" y="21164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477826" y="21455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732020" y="21164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4763576" y="21455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4924425" y="21164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4956933" y="214550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661160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692716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044065" y="29794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075621" y="30084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237422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268978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426970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458526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3628072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3659628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3916680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948236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107180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138736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4828222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4859778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021580" y="29698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053136" y="29989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1084898" y="38271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1116453" y="38561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1279208" y="38328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310763" y="3861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470660" y="38271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502216" y="38561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2429828" y="38328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2461383" y="3861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3289935" y="38309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3321491" y="38609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3486150" y="38309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3517706" y="38609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3966210" y="38233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3998718" y="38533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732020" y="383286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763576" y="386191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25" name="c1-card-2"/>
          <p:cNvGrpSpPr/>
          <p:nvPr/>
        </p:nvGrpSpPr>
        <p:grpSpPr>
          <a:xfrm>
            <a:off x="533400" y="4758690"/>
            <a:ext cx="5842635" cy="1545908"/>
            <a:chOff x="533400" y="4758690"/>
            <a:chExt cx="5842635" cy="1545908"/>
          </a:xfrm>
        </p:grpSpPr>
        <p:sp>
          <p:nvSpPr>
            <p:cNvPr id="120" name="Rectangle 120"/>
            <p:cNvSpPr/>
            <p:nvPr/>
          </p:nvSpPr>
          <p:spPr>
            <a:xfrm>
              <a:off x="533400" y="4758690"/>
              <a:ext cx="5842635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542925" y="489204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775335" y="496252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865543" y="49982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68096" y="5335429"/>
              <a:ext cx="510908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原讲解把结点 5、6 都标为“出队时被剪枝”。结点 6 生成时 U 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由结点 5 降到 18，ĉ(6) = 21 ≥ 18，生成时就被舍弃；只有结点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是出队时才剪掉。</a:t>
              </a:r>
            </a:p>
          </p:txBody>
        </p:sp>
      </p:grpSp>
      <p:grpSp>
        <p:nvGrpSpPr>
          <p:cNvPr id="176" name="c2-table-1"/>
          <p:cNvGrpSpPr/>
          <p:nvPr/>
        </p:nvGrpSpPr>
        <p:grpSpPr>
          <a:xfrm>
            <a:off x="6675120" y="1524000"/>
            <a:ext cx="4983480" cy="4166712"/>
            <a:chOff x="6675120" y="1524000"/>
            <a:chExt cx="4983480" cy="4166712"/>
          </a:xfrm>
        </p:grpSpPr>
        <p:sp>
          <p:nvSpPr>
            <p:cNvPr id="126" name="Rectangle 126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863250" y="1655445"/>
              <a:ext cx="5324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15625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进队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979836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舍弃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205073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076721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067408" y="2085022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2 3 4 5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991548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165510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7076721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8204721" y="2515552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7 9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9721634" y="2515552"/>
              <a:ext cx="4887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8✗ 10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1165510" y="251555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7076721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8115871" y="2946082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11 12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9871062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11165510" y="294608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6680835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7" name="Rectangle 147"/>
            <p:cNvSpPr/>
            <p:nvPr/>
          </p:nvSpPr>
          <p:spPr>
            <a:xfrm>
              <a:off x="6680835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076721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8228952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9871062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165510" y="33756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6889733" y="380619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出队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9483357" y="3806190"/>
              <a:ext cx="9653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5（13 ≥ 12）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1165510" y="380619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6680835" y="41005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7" name="Rectangle 157"/>
            <p:cNvSpPr/>
            <p:nvPr/>
          </p:nvSpPr>
          <p:spPr>
            <a:xfrm>
              <a:off x="6680835" y="410527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6885897" y="4235768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7 9 11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9329890" y="4235768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17~19、22~24 ✗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165510" y="423576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6680835" y="4530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7030075" y="466629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8228952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10871835" y="4544378"/>
              <a:ext cx="777240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11165510" y="466629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6680835" y="49606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7" name="Rectangle 167"/>
            <p:cNvSpPr/>
            <p:nvPr/>
          </p:nvSpPr>
          <p:spPr>
            <a:xfrm>
              <a:off x="6680835" y="4965382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8" name="TextBox 168"/>
            <p:cNvSpPr txBox="1"/>
            <p:nvPr/>
          </p:nvSpPr>
          <p:spPr>
            <a:xfrm>
              <a:off x="7030075" y="509682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9790290" y="5096828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26✗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1165510" y="5096828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6680835" y="1524000"/>
              <a:ext cx="4977765" cy="38709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757237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3" name="Rectangle 173"/>
            <p:cNvSpPr/>
            <p:nvPr/>
          </p:nvSpPr>
          <p:spPr>
            <a:xfrm>
              <a:off x="9065895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4" name="Rectangle 174"/>
            <p:cNvSpPr/>
            <p:nvPr/>
          </p:nvSpPr>
          <p:spPr>
            <a:xfrm>
              <a:off x="10857548" y="1524000"/>
              <a:ext cx="9525" cy="38709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5" name="TextBox 175"/>
            <p:cNvSpPr txBox="1"/>
            <p:nvPr/>
          </p:nvSpPr>
          <p:spPr>
            <a:xfrm>
              <a:off x="6675120" y="5470684"/>
              <a:ext cx="46960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✗：超期，B 为假；其余舍弃都因 ĉ ≥ U。ĉ、u 见上页，图例见第 5 页</a:t>
              </a:r>
            </a:p>
          </p:txBody>
        </p:sp>
      </p:grpSp>
      <p:grpSp>
        <p:nvGrpSpPr>
          <p:cNvPr id="1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7" name="TextBox 17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78" name="TextBox 1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89871" cy="909257"/>
            <a:chOff x="520446" y="342900"/>
            <a:chExt cx="110898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带期限的作业调度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898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题5(3) LCBB：按 ĉ 最小选 E-结点，同样生成 23 个结点、停在结点 25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table-1"/>
          <p:cNvGrpSpPr/>
          <p:nvPr/>
        </p:nvGrpSpPr>
        <p:grpSpPr>
          <a:xfrm>
            <a:off x="528447" y="1524000"/>
            <a:ext cx="5956173" cy="4464081"/>
            <a:chOff x="528447" y="1524000"/>
            <a:chExt cx="5956173" cy="446408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1152" y="1645444"/>
              <a:ext cx="496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14819" y="1645444"/>
              <a:ext cx="1121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新生成（ĉ / u）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07204" y="1645444"/>
              <a:ext cx="1455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之后的活结点表（ĉ）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039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63993" y="2045494"/>
              <a:ext cx="15053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3 4 5，6 舍；U = 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82415" y="2045494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2(0) 3(6) 4(9) 5(13)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0391" y="2545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63993" y="2445544"/>
              <a:ext cx="21805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7(0/17) 9(7/12)，8 ✗，10 舍；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12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2415" y="2545556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7(0) 3(6) 9(7) 4(9) 5(13)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391" y="3045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63993" y="3045619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17、18、19 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2415" y="3045619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3(6) 9(7) 4(9) 5(13)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194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242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0391" y="34456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3993" y="3445669"/>
              <a:ext cx="1979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11(6/19) 12(10/15)，13 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2415" y="3445669"/>
              <a:ext cx="21825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11(6) 9(7) 4(9) 12(10) 5(13)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7195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56855" y="38457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63993" y="3845719"/>
              <a:ext cx="68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23、24 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82415" y="3845719"/>
              <a:ext cx="1722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9(7) 4(9) 12(10) 5(13)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1195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41243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0391" y="4245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63993" y="4245769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 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2415" y="4245769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4(9) 12(10) 5(13)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5196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0391" y="4645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463993" y="4645819"/>
              <a:ext cx="1187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14(9/14)，15 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2415" y="4645819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14(9) 12(10) 5(13)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196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92442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855" y="504586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63993" y="5045869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82415" y="5045869"/>
              <a:ext cx="9688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12(10) 5(13)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531971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855" y="54459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376362" y="5334000"/>
              <a:ext cx="259937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63993" y="5445919"/>
              <a:ext cx="1354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25(10/10)；U = 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82415" y="5445919"/>
              <a:ext cx="16250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5(13) ≥ U，舍弃，结束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1524000"/>
              <a:ext cx="5951220" cy="42005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362075" y="1524000"/>
              <a:ext cx="9525" cy="4200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80498" y="1524000"/>
              <a:ext cx="9525" cy="4200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8447" y="5797391"/>
              <a:ext cx="48486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✗ 表示 B 为假（超期）；E-结点次序 1, 2, 7, 3, 11, 9, 4, 14, 12 与原讲解一致</a:t>
              </a:r>
            </a:p>
          </p:txBody>
        </p:sp>
      </p:grpSp>
      <p:grpSp>
        <p:nvGrpSpPr>
          <p:cNvPr id="59" name="c2-code-1"/>
          <p:cNvGrpSpPr/>
          <p:nvPr/>
        </p:nvGrpSpPr>
        <p:grpSpPr>
          <a:xfrm>
            <a:off x="6789420" y="1524000"/>
            <a:ext cx="4869180" cy="3495675"/>
            <a:chOff x="6789420" y="1524000"/>
            <a:chExt cx="4869180" cy="3495675"/>
          </a:xfrm>
        </p:grpSpPr>
        <p:sp>
          <p:nvSpPr>
            <p:cNvPr id="56" name="Rectangle 56"/>
            <p:cNvSpPr/>
            <p:nvPr/>
          </p:nvSpPr>
          <p:spPr>
            <a:xfrm>
              <a:off x="6789420" y="1524000"/>
              <a:ext cx="4869180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17817" y="1675924"/>
              <a:ext cx="16355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FIFOBB / LCBB（最小化）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17817" y="1935956"/>
              <a:ext cx="2748026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BB(T)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U &lt;- ∞; ans &lt;- 0; 活结点表 &lt;- {T}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活结点表非空 do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E &lt;- 取出下一个活结点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FIFO: 最早进表的；LC: ĉ 最小的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ĉ(E) &gt;= U then continue endif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for E 的每个儿子 X do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not B(X) then continue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ĉ(X) &gt;= U then continue endif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u(X) &lt; U then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U &lt;- u(X); ans &lt;- X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endif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把 X 加入活结点表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print(ans, U)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BB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6789420" y="5189220"/>
            <a:ext cx="4869180" cy="978218"/>
            <a:chOff x="6789420" y="5189220"/>
            <a:chExt cx="4869180" cy="978218"/>
          </a:xfrm>
        </p:grpSpPr>
        <p:sp>
          <p:nvSpPr>
            <p:cNvPr id="60" name="Rectangle 60"/>
            <p:cNvSpPr/>
            <p:nvPr/>
          </p:nvSpPr>
          <p:spPr>
            <a:xfrm>
              <a:off x="6789420" y="5189220"/>
              <a:ext cx="486918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994208" y="5577840"/>
              <a:ext cx="200026" cy="200025"/>
              <a:chOff x="6994208" y="5577840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994208" y="557784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33946" y="562229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68662" y="573341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296912" y="5334952"/>
              <a:ext cx="393134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两种算法只差第 4 行取结点的规则。本题 LC 先下探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结点 7、11、9，都因超期不生成新的活结点，所以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结点数与 FIFO 相同。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40838" cy="909257"/>
            <a:chOff x="520446" y="342900"/>
            <a:chExt cx="93408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带期限的作业调度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408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 复核：32 个子集中 16 个可行，罚款最小的是 {2, 4, 5}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6" name="c1-table-1"/>
          <p:cNvGrpSpPr/>
          <p:nvPr/>
        </p:nvGrpSpPr>
        <p:grpSpPr>
          <a:xfrm>
            <a:off x="528447" y="1524000"/>
            <a:ext cx="5198935" cy="3315366"/>
            <a:chOff x="528447" y="1524000"/>
            <a:chExt cx="5198935" cy="3315366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4509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可行子集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1976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做完的罚款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491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罚款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6980" y="2023110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4, 5}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34958" y="2023110"/>
              <a:ext cx="887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+ 8 + 5 = 16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074795" y="1914525"/>
              <a:ext cx="164306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494733" y="2023110"/>
              <a:ext cx="80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26 − 16 = 10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0873" y="240411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4}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55106" y="2404110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+ 8 = 14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12773" y="2404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80873" y="2785110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{4, 5}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55106" y="2785110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+ 5 = 13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12773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80873" y="316706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{3, 4}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55106" y="316706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+ 8 = 12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12773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426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80873" y="3548062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5}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106" y="3548062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+ 5 = 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12773" y="3548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807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811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80873" y="393001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4}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55106" y="3930015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+ 8 = 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12773" y="393001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18909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9029" y="4311015"/>
              <a:ext cx="6870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 10 个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74200" y="4311015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52699" y="4311015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17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1524000"/>
              <a:ext cx="5193982" cy="3050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08692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060508" y="1524000"/>
              <a:ext cx="9525" cy="3050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447" y="4648676"/>
              <a:ext cx="3014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罚款 = Σpᵢ − 按期做完的作业的 pᵢ 之和，Σpᵢ = 26</a:t>
              </a:r>
            </a:p>
          </p:txBody>
        </p:sp>
      </p:grpSp>
      <p:grpSp>
        <p:nvGrpSpPr>
          <p:cNvPr id="53" name="c1-callout-2"/>
          <p:cNvGrpSpPr/>
          <p:nvPr/>
        </p:nvGrpSpPr>
        <p:grpSpPr>
          <a:xfrm>
            <a:off x="533400" y="4965382"/>
            <a:ext cx="5193982" cy="702945"/>
            <a:chOff x="533400" y="4965382"/>
            <a:chExt cx="5193982" cy="702945"/>
          </a:xfrm>
        </p:grpSpPr>
        <p:sp>
          <p:nvSpPr>
            <p:cNvPr id="47" name="Rectangle 47"/>
            <p:cNvSpPr/>
            <p:nvPr/>
          </p:nvSpPr>
          <p:spPr>
            <a:xfrm>
              <a:off x="533400" y="4965382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216843"/>
              <a:ext cx="200026" cy="200026"/>
              <a:chOff x="738188" y="5216843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2168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52835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53168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5110639"/>
              <a:ext cx="42638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4, 5} 按期限排为 2、4、5，完成时刻 1、2、3，期限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1、2、3，恰好都不误期；没做的作业 1、3 罚 6 + 4 = 10。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032182" y="1524000"/>
            <a:ext cx="5626418" cy="1957388"/>
            <a:chOff x="6032182" y="1524000"/>
            <a:chExt cx="5626418" cy="1957388"/>
          </a:xfrm>
        </p:grpSpPr>
        <p:sp>
          <p:nvSpPr>
            <p:cNvPr id="54" name="Rectangle 54"/>
            <p:cNvSpPr/>
            <p:nvPr/>
          </p:nvSpPr>
          <p:spPr>
            <a:xfrm>
              <a:off x="6032182" y="1524000"/>
              <a:ext cx="5626418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1708" y="1657350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1258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35827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60782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16230" y="2045494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32 个子集，可行的 16 个，最小罚款 10，唯一的最优集合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 4, 5}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60782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16230" y="2573179"/>
              <a:ext cx="4605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按上页算法模拟：FIFO 与 LC 都生成 23 个结点（没有结点 16、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20、21、27~32），答案结点 25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60782" y="315372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16230" y="3100864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逐结点重算 ĉ、u，与原讲解的表一致</a:t>
              </a:r>
            </a:p>
          </p:txBody>
        </p:sp>
      </p:grpSp>
      <p:grpSp>
        <p:nvGrpSpPr>
          <p:cNvPr id="89" name="c2-table-2"/>
          <p:cNvGrpSpPr/>
          <p:nvPr/>
        </p:nvGrpSpPr>
        <p:grpSpPr>
          <a:xfrm>
            <a:off x="6032182" y="3646170"/>
            <a:ext cx="5626418" cy="1906905"/>
            <a:chOff x="6032182" y="3646170"/>
            <a:chExt cx="5626418" cy="1906905"/>
          </a:xfrm>
        </p:grpSpPr>
        <p:sp>
          <p:nvSpPr>
            <p:cNvPr id="65" name="Rectangle 65"/>
            <p:cNvSpPr/>
            <p:nvPr/>
          </p:nvSpPr>
          <p:spPr>
            <a:xfrm>
              <a:off x="6032182" y="3646170"/>
              <a:ext cx="5626418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29412" y="37633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444732" y="3763328"/>
              <a:ext cx="520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FIFOBB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95879" y="3763328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LCBB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126861" y="4144328"/>
              <a:ext cx="7485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E-结点个数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14691" y="4144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83509" y="41443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032182" y="44034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032182" y="4408170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126861" y="45262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生成的结点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14691" y="45262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83509" y="452628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032182" y="47853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126861" y="4907280"/>
              <a:ext cx="568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的变化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14691" y="4907280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→ 18 → 17 → 12 → 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783509" y="4907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032182" y="51663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032182" y="5171122"/>
              <a:ext cx="5626418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126861" y="52882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答案结点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14691" y="528828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25，罚款 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83509" y="528828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25，罚款 10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032182" y="3646170"/>
              <a:ext cx="5626418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7715250" y="364617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684068" y="364617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0" name="Rectangle 9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93" name="Group 9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4" name="TextBox 94"/>
            <p:cNvSpPr txBox="1"/>
            <p:nvPr/>
          </p:nvSpPr>
          <p:spPr>
            <a:xfrm>
              <a:off x="1041273" y="6039326"/>
              <a:ext cx="102225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5 的 ĉ = 13 是因为选了作业 4 就放弃了作业 1、2、3（6 + 3 + 4 = 13），而更好的解罚款只有 10，所以它的整棵子树都不用看。</a:t>
              </a:r>
            </a:p>
          </p:txBody>
        </p:sp>
      </p:grpSp>
      <p:grpSp>
        <p:nvGrpSpPr>
          <p:cNvPr id="9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6" name="TextBox 96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6690360" cy="3214687"/>
            <a:chOff x="667512" y="1835468"/>
            <a:chExt cx="6690360" cy="32146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建模并设计算法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先定元组表示和约束，再选回溯或分支限界，最后在一个实例上跑通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6158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分配问题：n 件工作分给 n 个人，费用 c(i, j)，使总费用最小；元组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与约束，n = 4 的解空间树，算法与最佳分配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2818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471035"/>
              <a:ext cx="6025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最大团：元组与约束，n = 5 判定是否有 3 团的解空间树，求最大团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的算法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278853" cy="909257"/>
            <a:chOff x="520446" y="342900"/>
            <a:chExt cx="10278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278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题6(1)(2)：解是 1~n 的一个排列，n = 4 的解空间树有 65 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328160" cy="1838325"/>
            <a:chOff x="533400" y="1524000"/>
            <a:chExt cx="4328160" cy="18383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79" y="1769269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第6题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3632835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件工作分给 n 个人，工作 i 给第 j 个人的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费用为 c(i, j)，求总费用最小的分配方案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18911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思路：每人恰好一件工作，像 n 皇后一样每行每列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各选一个；求最优解，用分支限界法。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5780" y="3577590"/>
            <a:ext cx="4335780" cy="1895475"/>
            <a:chOff x="525780" y="3577590"/>
            <a:chExt cx="4335780" cy="1895475"/>
          </a:xfrm>
        </p:grpSpPr>
        <p:sp>
          <p:nvSpPr>
            <p:cNvPr id="14" name="TextBox 14"/>
            <p:cNvSpPr txBox="1"/>
            <p:nvPr/>
          </p:nvSpPr>
          <p:spPr>
            <a:xfrm>
              <a:off x="525780" y="357759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元组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6862" y="3577590"/>
              <a:ext cx="3034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 (x₁, …, xₙ)，工作 i 分给第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个人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417957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42995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66862" y="4299585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≤ xᵢ ≤ 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619625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5780" y="4739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隐式约束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66862" y="4739640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各不相同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05968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5780" y="517969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目标函数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6862" y="5179695"/>
              <a:ext cx="2196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 Σ c(i, xᵢ)，i = 1~n</a:t>
              </a:r>
            </a:p>
          </p:txBody>
        </p:sp>
      </p:grpSp>
      <p:grpSp>
        <p:nvGrpSpPr>
          <p:cNvPr id="172" name="c2-graph-1"/>
          <p:cNvGrpSpPr/>
          <p:nvPr/>
        </p:nvGrpSpPr>
        <p:grpSpPr>
          <a:xfrm>
            <a:off x="5176551" y="1628775"/>
            <a:ext cx="6209634" cy="2647950"/>
            <a:chOff x="5176551" y="1628775"/>
            <a:chExt cx="6209634" cy="2647950"/>
          </a:xfrm>
        </p:grpSpPr>
        <p:sp>
          <p:nvSpPr>
            <p:cNvPr id="26" name="Freeform 26"/>
            <p:cNvSpPr/>
            <p:nvPr/>
          </p:nvSpPr>
          <p:spPr>
            <a:xfrm>
              <a:off x="6710362" y="1788795"/>
              <a:ext cx="1879282" cy="527685"/>
            </a:xfrm>
            <a:custGeom>
              <a:avLst/>
              <a:gdLst/>
              <a:ahLst/>
              <a:cxnLst/>
              <a:rect l="l" t="t" r="r" b="b"/>
              <a:pathLst>
                <a:path w="1879282" h="527685">
                  <a:moveTo>
                    <a:pt x="1879282" y="0"/>
                  </a:moveTo>
                  <a:lnTo>
                    <a:pt x="0" y="5276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472488" y="1871662"/>
              <a:ext cx="184785" cy="361950"/>
            </a:xfrm>
            <a:custGeom>
              <a:avLst/>
              <a:gdLst/>
              <a:ahLst/>
              <a:cxnLst/>
              <a:rect l="l" t="t" r="r" b="b"/>
              <a:pathLst>
                <a:path w="184785" h="361950">
                  <a:moveTo>
                    <a:pt x="184785" y="0"/>
                  </a:moveTo>
                  <a:lnTo>
                    <a:pt x="0" y="36195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828722" y="1825942"/>
              <a:ext cx="692468" cy="453390"/>
            </a:xfrm>
            <a:custGeom>
              <a:avLst/>
              <a:gdLst/>
              <a:ahLst/>
              <a:cxnLst/>
              <a:rect l="l" t="t" r="r" b="b"/>
              <a:pathLst>
                <a:path w="692468" h="453390">
                  <a:moveTo>
                    <a:pt x="0" y="0"/>
                  </a:moveTo>
                  <a:lnTo>
                    <a:pt x="692468" y="45339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45868" y="1788795"/>
              <a:ext cx="1879282" cy="527685"/>
            </a:xfrm>
            <a:custGeom>
              <a:avLst/>
              <a:gdLst/>
              <a:ahLst/>
              <a:cxnLst/>
              <a:rect l="l" t="t" r="r" b="b"/>
              <a:pathLst>
                <a:path w="1879282" h="527685">
                  <a:moveTo>
                    <a:pt x="0" y="0"/>
                  </a:moveTo>
                  <a:lnTo>
                    <a:pt x="1879282" y="5276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876925" y="2431732"/>
              <a:ext cx="597218" cy="441960"/>
            </a:xfrm>
            <a:custGeom>
              <a:avLst/>
              <a:gdLst/>
              <a:ahLst/>
              <a:cxnLst/>
              <a:rect l="l" t="t" r="r" b="b"/>
              <a:pathLst>
                <a:path w="597218" h="441960">
                  <a:moveTo>
                    <a:pt x="597218" y="0"/>
                  </a:moveTo>
                  <a:lnTo>
                    <a:pt x="0" y="4419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581775" y="24860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688455" y="2431732"/>
              <a:ext cx="597217" cy="441960"/>
            </a:xfrm>
            <a:custGeom>
              <a:avLst/>
              <a:gdLst/>
              <a:ahLst/>
              <a:cxnLst/>
              <a:rect l="l" t="t" r="r" b="b"/>
              <a:pathLst>
                <a:path w="597217" h="441960">
                  <a:moveTo>
                    <a:pt x="0" y="0"/>
                  </a:moveTo>
                  <a:lnTo>
                    <a:pt x="597217" y="4419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078152" y="2463165"/>
              <a:ext cx="259080" cy="379095"/>
            </a:xfrm>
            <a:custGeom>
              <a:avLst/>
              <a:gdLst/>
              <a:ahLst/>
              <a:cxnLst/>
              <a:rect l="l" t="t" r="r" b="b"/>
              <a:pathLst>
                <a:path w="259080" h="379095">
                  <a:moveTo>
                    <a:pt x="25908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12480" y="24860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487728" y="2463165"/>
              <a:ext cx="259080" cy="379095"/>
            </a:xfrm>
            <a:custGeom>
              <a:avLst/>
              <a:gdLst/>
              <a:ahLst/>
              <a:cxnLst/>
              <a:rect l="l" t="t" r="r" b="b"/>
              <a:pathLst>
                <a:path w="259080" h="379095">
                  <a:moveTo>
                    <a:pt x="0" y="0"/>
                  </a:moveTo>
                  <a:lnTo>
                    <a:pt x="25908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299258" y="2463165"/>
              <a:ext cx="259080" cy="379095"/>
            </a:xfrm>
            <a:custGeom>
              <a:avLst/>
              <a:gdLst/>
              <a:ahLst/>
              <a:cxnLst/>
              <a:rect l="l" t="t" r="r" b="b"/>
              <a:pathLst>
                <a:path w="259080" h="379095">
                  <a:moveTo>
                    <a:pt x="25908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632632" y="24860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707880" y="2463165"/>
              <a:ext cx="259080" cy="379095"/>
            </a:xfrm>
            <a:custGeom>
              <a:avLst/>
              <a:gdLst/>
              <a:ahLst/>
              <a:cxnLst/>
              <a:rect l="l" t="t" r="r" b="b"/>
              <a:pathLst>
                <a:path w="259080" h="379095">
                  <a:moveTo>
                    <a:pt x="0" y="0"/>
                  </a:moveTo>
                  <a:lnTo>
                    <a:pt x="25908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10519410" y="2463165"/>
              <a:ext cx="259080" cy="379095"/>
            </a:xfrm>
            <a:custGeom>
              <a:avLst/>
              <a:gdLst/>
              <a:ahLst/>
              <a:cxnLst/>
              <a:rect l="l" t="t" r="r" b="b"/>
              <a:pathLst>
                <a:path w="259080" h="379095">
                  <a:moveTo>
                    <a:pt x="259080" y="0"/>
                  </a:moveTo>
                  <a:lnTo>
                    <a:pt x="0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10853738" y="248602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928985" y="2463165"/>
              <a:ext cx="258127" cy="379095"/>
            </a:xfrm>
            <a:custGeom>
              <a:avLst/>
              <a:gdLst/>
              <a:ahLst/>
              <a:cxnLst/>
              <a:rect l="l" t="t" r="r" b="b"/>
              <a:pathLst>
                <a:path w="258127" h="379095">
                  <a:moveTo>
                    <a:pt x="0" y="0"/>
                  </a:moveTo>
                  <a:lnTo>
                    <a:pt x="258127" y="3790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5606415" y="3078480"/>
              <a:ext cx="120015" cy="348615"/>
            </a:xfrm>
            <a:custGeom>
              <a:avLst/>
              <a:gdLst/>
              <a:ahLst/>
              <a:cxnLst/>
              <a:rect l="l" t="t" r="r" b="b"/>
              <a:pathLst>
                <a:path w="120015" h="348615">
                  <a:moveTo>
                    <a:pt x="120015" y="0"/>
                  </a:moveTo>
                  <a:lnTo>
                    <a:pt x="0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5812155" y="3079432"/>
              <a:ext cx="117157" cy="346710"/>
            </a:xfrm>
            <a:custGeom>
              <a:avLst/>
              <a:gdLst/>
              <a:ahLst/>
              <a:cxnLst/>
              <a:rect l="l" t="t" r="r" b="b"/>
              <a:pathLst>
                <a:path w="117157" h="346710">
                  <a:moveTo>
                    <a:pt x="0" y="0"/>
                  </a:moveTo>
                  <a:lnTo>
                    <a:pt x="117157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422708" y="3079432"/>
              <a:ext cx="116205" cy="346710"/>
            </a:xfrm>
            <a:custGeom>
              <a:avLst/>
              <a:gdLst/>
              <a:ahLst/>
              <a:cxnLst/>
              <a:rect l="l" t="t" r="r" b="b"/>
              <a:pathLst>
                <a:path w="116205" h="346710">
                  <a:moveTo>
                    <a:pt x="116205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623685" y="3079432"/>
              <a:ext cx="117158" cy="346710"/>
            </a:xfrm>
            <a:custGeom>
              <a:avLst/>
              <a:gdLst/>
              <a:ahLst/>
              <a:cxnLst/>
              <a:rect l="l" t="t" r="r" b="b"/>
              <a:pathLst>
                <a:path w="117158" h="346710">
                  <a:moveTo>
                    <a:pt x="0" y="0"/>
                  </a:moveTo>
                  <a:lnTo>
                    <a:pt x="117158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234238" y="3079432"/>
              <a:ext cx="116205" cy="346710"/>
            </a:xfrm>
            <a:custGeom>
              <a:avLst/>
              <a:gdLst/>
              <a:ahLst/>
              <a:cxnLst/>
              <a:rect l="l" t="t" r="r" b="b"/>
              <a:pathLst>
                <a:path w="116205" h="346710">
                  <a:moveTo>
                    <a:pt x="116205" y="0"/>
                  </a:moveTo>
                  <a:lnTo>
                    <a:pt x="0" y="3467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437120" y="3078480"/>
              <a:ext cx="120015" cy="348615"/>
            </a:xfrm>
            <a:custGeom>
              <a:avLst/>
              <a:gdLst/>
              <a:ahLst/>
              <a:cxnLst/>
              <a:rect l="l" t="t" r="r" b="b"/>
              <a:pathLst>
                <a:path w="120015" h="348615">
                  <a:moveTo>
                    <a:pt x="0" y="0"/>
                  </a:moveTo>
                  <a:lnTo>
                    <a:pt x="120015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5562600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5971222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380798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782752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7192328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600950" y="368617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5438775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5847398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6256972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6658928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7068502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477125" y="402907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7880032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8288655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8697278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9100185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9508808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9918382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320338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729912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1138535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5438775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5847398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5646420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256972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6658928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6457950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7068502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7477125" y="342900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7269480" y="2828925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457950" y="2228850"/>
              <a:ext cx="247650" cy="247650"/>
            </a:xfrm>
            <a:prstGeom prst="ellipse">
              <a:avLst/>
            </a:prstGeom>
            <a:solidFill>
              <a:srgbClr val="E8EDF8"/>
            </a:solidFill>
            <a:ln w="17145">
              <a:solidFill>
                <a:srgbClr val="2F4B9A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288655" y="222885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9508808" y="222885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10729912" y="2228850"/>
              <a:ext cx="247650" cy="2476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8593455" y="1628775"/>
              <a:ext cx="247650" cy="24765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487869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896491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06066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708021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17596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526219" y="409670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964111" y="2896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337749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746371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149279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557901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967476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369431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779006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187629" y="28965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5487869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5896491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730498" y="2896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306066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708021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542028" y="2896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117596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526219" y="3496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53558" y="2896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6542028" y="22964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43B7A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372733" y="22964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592886" y="22964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0813991" y="22964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677533" y="16964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582852" y="19735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614408" y="2003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8498205" y="19735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8529761" y="2003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9108758" y="19735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140313" y="2003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9719310" y="19735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750866" y="20035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109335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14089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515100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546656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920865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695242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8141018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8172573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8345805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37736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8550592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8582148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9362122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9393678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9565958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9597513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9770745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980230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10582275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10613831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10787062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10818618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10990898" y="257365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3" name="TextBox 143"/>
            <p:cNvSpPr txBox="1"/>
            <p:nvPr/>
          </p:nvSpPr>
          <p:spPr>
            <a:xfrm>
              <a:off x="11023406" y="260365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4" name="Rectangle 144"/>
            <p:cNvSpPr/>
            <p:nvPr/>
          </p:nvSpPr>
          <p:spPr>
            <a:xfrm>
              <a:off x="5599748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5" name="TextBox 145"/>
            <p:cNvSpPr txBox="1"/>
            <p:nvPr/>
          </p:nvSpPr>
          <p:spPr>
            <a:xfrm>
              <a:off x="5631303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6" name="Rectangle 146"/>
            <p:cNvSpPr/>
            <p:nvPr/>
          </p:nvSpPr>
          <p:spPr>
            <a:xfrm>
              <a:off x="5803582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5836091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6414135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6445691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6615112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6647621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7225665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3" name="TextBox 153"/>
            <p:cNvSpPr txBox="1"/>
            <p:nvPr/>
          </p:nvSpPr>
          <p:spPr>
            <a:xfrm>
              <a:off x="7257221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4" name="Rectangle 154"/>
            <p:cNvSpPr/>
            <p:nvPr/>
          </p:nvSpPr>
          <p:spPr>
            <a:xfrm>
              <a:off x="7430452" y="31737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7462008" y="32037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" name="Rectangle 156"/>
            <p:cNvSpPr/>
            <p:nvPr/>
          </p:nvSpPr>
          <p:spPr>
            <a:xfrm>
              <a:off x="5495925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5527481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8" name="Rectangle 158"/>
            <p:cNvSpPr/>
            <p:nvPr/>
          </p:nvSpPr>
          <p:spPr>
            <a:xfrm>
              <a:off x="5904548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5936103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0" name="Rectangle 160"/>
            <p:cNvSpPr/>
            <p:nvPr/>
          </p:nvSpPr>
          <p:spPr>
            <a:xfrm>
              <a:off x="6314122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345678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2" name="Rectangle 162"/>
            <p:cNvSpPr/>
            <p:nvPr/>
          </p:nvSpPr>
          <p:spPr>
            <a:xfrm>
              <a:off x="6716078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6747633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4" name="Rectangle 164"/>
            <p:cNvSpPr/>
            <p:nvPr/>
          </p:nvSpPr>
          <p:spPr>
            <a:xfrm>
              <a:off x="7125652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5" name="TextBox 165"/>
            <p:cNvSpPr txBox="1"/>
            <p:nvPr/>
          </p:nvSpPr>
          <p:spPr>
            <a:xfrm>
              <a:off x="7157208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6" name="Rectangle 166"/>
            <p:cNvSpPr/>
            <p:nvPr/>
          </p:nvSpPr>
          <p:spPr>
            <a:xfrm>
              <a:off x="7534275" y="37738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565831" y="380380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5176551" y="19392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5176551" y="253936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5176551" y="313944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5176551" y="373951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</p:grpSp>
      <p:grpSp>
        <p:nvGrpSpPr>
          <p:cNvPr id="179" name="c2-callout-2"/>
          <p:cNvGrpSpPr/>
          <p:nvPr/>
        </p:nvGrpSpPr>
        <p:grpSpPr>
          <a:xfrm>
            <a:off x="5166360" y="4572000"/>
            <a:ext cx="6492240" cy="1059180"/>
            <a:chOff x="5166360" y="4572000"/>
            <a:chExt cx="6492240" cy="1059180"/>
          </a:xfrm>
        </p:grpSpPr>
        <p:sp>
          <p:nvSpPr>
            <p:cNvPr id="173" name="Rectangle 173"/>
            <p:cNvSpPr/>
            <p:nvPr/>
          </p:nvSpPr>
          <p:spPr>
            <a:xfrm>
              <a:off x="5166360" y="4572000"/>
              <a:ext cx="649224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77" name="Group 177"/>
            <p:cNvGrpSpPr/>
            <p:nvPr/>
          </p:nvGrpSpPr>
          <p:grpSpPr>
            <a:xfrm>
              <a:off x="5371148" y="5001578"/>
              <a:ext cx="200026" cy="200026"/>
              <a:chOff x="5371148" y="5001578"/>
              <a:chExt cx="200026" cy="200026"/>
            </a:xfrm>
          </p:grpSpPr>
          <p:sp>
            <p:nvSpPr>
              <p:cNvPr id="174" name="Freeform 174"/>
              <p:cNvSpPr/>
              <p:nvPr/>
            </p:nvSpPr>
            <p:spPr>
              <a:xfrm>
                <a:off x="5371148" y="50015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5" name="Freeform 175"/>
              <p:cNvSpPr/>
              <p:nvPr/>
            </p:nvSpPr>
            <p:spPr>
              <a:xfrm>
                <a:off x="5471160" y="50682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6" name="Freeform 176"/>
              <p:cNvSpPr/>
              <p:nvPr/>
            </p:nvSpPr>
            <p:spPr>
              <a:xfrm>
                <a:off x="5460048" y="51015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8" name="TextBox 178"/>
            <p:cNvSpPr txBox="1"/>
            <p:nvPr/>
          </p:nvSpPr>
          <p:spPr>
            <a:xfrm>
              <a:off x="5673090" y="4720590"/>
              <a:ext cx="54921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按层次编号：第 1~4 层依次是 2~5、6~17、18~41、42~65，共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+ 4 + 12 + 24 + 24 = 65 个结点，24 个叶结点对应 4! 种分配。图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中只画出 x₁ = 1 的整棵子树。</a:t>
              </a:r>
            </a:p>
          </p:txBody>
        </p:sp>
      </p:grpSp>
      <p:grpSp>
        <p:nvGrpSpPr>
          <p:cNvPr id="1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0" name="TextBox 180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81" name="TextBox 1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31011" cy="909257"/>
            <a:chOff x="520446" y="342900"/>
            <a:chExt cx="1003101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310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题6(3)：U 取贪心解的费用，ĉ 把剩下每件工作按最便宜的人估计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3723322"/>
            <a:chOff x="533400" y="1524000"/>
            <a:chExt cx="5842635" cy="3723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4460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分配问题的 LC 分支限界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971163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ASSIGN(c, n)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结点 X = (x1..xk)：工作 1~k 已分给人 x1..xk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U &lt;- 贪心分配的费用; ans &lt;- 贪心分配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活结点表 &lt;- {根}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while 活结点表非空 do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E &lt;- 取出 ĉ 最小的活结点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ĉ(E) &gt;= U then continue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&lt;- 1 to n do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if j 已在 E 的路径上 then continue endif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X &lt;- E 再加上 x(k+1) = j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if X 是叶结点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if f(X) &lt; U then U &lt;- f(X); ans &lt;- X endif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else if ĉ(X) &lt; U then 把 X 加入活结点表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ASSIGN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422582"/>
            <a:ext cx="5842635" cy="729615"/>
            <a:chOff x="533400" y="5422582"/>
            <a:chExt cx="5842635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542258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86425"/>
              <a:ext cx="200026" cy="200025"/>
              <a:chOff x="738188" y="5686425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864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7308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8420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5568315"/>
              <a:ext cx="49429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ĝ 取各行最小值，不管这些人是否重复，只会偏小，所以是下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界。最坏生成约 e·n! 个结点，每个 E-结点 O(n)，共 O(n·n!)。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30"/>
              <p:cNvSpPr txBox="1">
                <a:spLocks noGrp="1"/>
              </p:cNvSpPr>
              <p:nvPr/>
            </p:nvSpPr>
            <p:spPr>
              <a:xfrm>
                <a:off x="6680835" y="1524000"/>
                <a:ext cx="4977765" cy="471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ˆ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sSub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func>
                            <m:funcPr/>
                            <m:fName>
                              <m:limLow>
                                <m:limLowPr/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≤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66" name="c2-table-2"/>
          <p:cNvGrpSpPr/>
          <p:nvPr/>
        </p:nvGrpSpPr>
        <p:grpSpPr>
          <a:xfrm>
            <a:off x="6675501" y="2170748"/>
            <a:ext cx="4983099" cy="2308479"/>
            <a:chOff x="6675501" y="2170748"/>
            <a:chExt cx="4983099" cy="2308479"/>
          </a:xfrm>
        </p:grpSpPr>
        <p:sp>
          <p:nvSpPr>
            <p:cNvPr id="19" name="Rectangle 19"/>
            <p:cNvSpPr/>
            <p:nvPr/>
          </p:nvSpPr>
          <p:spPr>
            <a:xfrm>
              <a:off x="6680835" y="2170748"/>
              <a:ext cx="497776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63169" y="229504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工作＼人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55584" y="2295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46146" y="2295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37661" y="2295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28224" y="2295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08563" y="229504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行最小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221181" y="2700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57657" y="2700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48220" y="2700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250680" y="2586038"/>
              <a:ext cx="6715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39735" y="2700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30297" y="2700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093262" y="27008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29775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0835" y="2982278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21181" y="31065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68602" y="2991802"/>
              <a:ext cx="6715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57657" y="3106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48220" y="3106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39735" y="3106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30297" y="3106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93262" y="31065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3832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21181" y="3512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57657" y="35123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59165" y="3397568"/>
              <a:ext cx="6715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48220" y="35123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39735" y="35123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30297" y="35123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093262" y="35123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37890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0835" y="3793808"/>
              <a:ext cx="497776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21181" y="3918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57657" y="39181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48220" y="39181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39735" y="39181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941242" y="3803332"/>
              <a:ext cx="671512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230297" y="39181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93262" y="391810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680835" y="2170748"/>
              <a:ext cx="497776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854315" y="21707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544878" y="21707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236392" y="21707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26955" y="21707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618470" y="2170748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75501" y="4273868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红色是贪心分配：工作 1~4 依次挑剩下最便宜的人，5 + 2 + 3 + 4 = 14</a:t>
              </a:r>
            </a:p>
          </p:txBody>
        </p:sp>
      </p:grpSp>
      <p:grpSp>
        <p:nvGrpSpPr>
          <p:cNvPr id="73" name="c2-callout-3"/>
          <p:cNvGrpSpPr/>
          <p:nvPr/>
        </p:nvGrpSpPr>
        <p:grpSpPr>
          <a:xfrm>
            <a:off x="6680835" y="4612958"/>
            <a:ext cx="4977765" cy="1538288"/>
            <a:chOff x="6680835" y="4612958"/>
            <a:chExt cx="4977765" cy="1538288"/>
          </a:xfrm>
        </p:grpSpPr>
        <p:sp>
          <p:nvSpPr>
            <p:cNvPr id="67" name="Rectangle 67"/>
            <p:cNvSpPr/>
            <p:nvPr/>
          </p:nvSpPr>
          <p:spPr>
            <a:xfrm>
              <a:off x="6680835" y="4612958"/>
              <a:ext cx="4977765" cy="1538288"/>
            </a:xfrm>
            <a:prstGeom prst="roundRect">
              <a:avLst>
                <a:gd name="adj" fmla="val 743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885623" y="5282565"/>
              <a:ext cx="200026" cy="200026"/>
              <a:chOff x="6885623" y="5282565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885623" y="52825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985635" y="53492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974523" y="53825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7188327" y="4914900"/>
              <a:ext cx="405993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原讲解的例子：x₁ = 2、x₂ = 3 时，f = c(1, 2) +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c(2, 3) = 6 + 8 = 14，ĝ = 1 + 4 = 5（工作 3、4 的行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最小值），ĉ = 19 &gt; U = 14，舍弃。下页它是结点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161" cy="909257"/>
            <a:chOff x="520446" y="342900"/>
            <a:chExt cx="96371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1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题6(3)：LC 扩展 6 个结点，最佳分配 (2, 1, 3, 4)，费用 13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4" name="c1-graph-1"/>
          <p:cNvGrpSpPr/>
          <p:nvPr/>
        </p:nvGrpSpPr>
        <p:grpSpPr>
          <a:xfrm>
            <a:off x="946785" y="1658303"/>
            <a:ext cx="4799648" cy="3314223"/>
            <a:chOff x="946785" y="1658303"/>
            <a:chExt cx="4799648" cy="3314223"/>
          </a:xfrm>
        </p:grpSpPr>
        <p:sp>
          <p:nvSpPr>
            <p:cNvPr id="7" name="Freeform 7"/>
            <p:cNvSpPr/>
            <p:nvPr/>
          </p:nvSpPr>
          <p:spPr>
            <a:xfrm>
              <a:off x="1192530" y="1818322"/>
              <a:ext cx="2029778" cy="641985"/>
            </a:xfrm>
            <a:custGeom>
              <a:avLst/>
              <a:gdLst/>
              <a:ahLst/>
              <a:cxnLst/>
              <a:rect l="l" t="t" r="r" b="b"/>
              <a:pathLst>
                <a:path w="2029778" h="641985">
                  <a:moveTo>
                    <a:pt x="2029778" y="0"/>
                  </a:moveTo>
                  <a:lnTo>
                    <a:pt x="0" y="641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59368" y="1861185"/>
              <a:ext cx="685800" cy="556260"/>
            </a:xfrm>
            <a:custGeom>
              <a:avLst/>
              <a:gdLst/>
              <a:ahLst/>
              <a:cxnLst/>
              <a:rect l="l" t="t" r="r" b="b"/>
              <a:pathLst>
                <a:path w="685800" h="556260">
                  <a:moveTo>
                    <a:pt x="685800" y="0"/>
                  </a:moveTo>
                  <a:lnTo>
                    <a:pt x="0" y="5562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457575" y="1848802"/>
              <a:ext cx="915353" cy="581025"/>
            </a:xfrm>
            <a:custGeom>
              <a:avLst/>
              <a:gdLst/>
              <a:ahLst/>
              <a:cxnLst/>
              <a:rect l="l" t="t" r="r" b="b"/>
              <a:pathLst>
                <a:path w="915353" h="581025">
                  <a:moveTo>
                    <a:pt x="0" y="0"/>
                  </a:moveTo>
                  <a:lnTo>
                    <a:pt x="915353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471862" y="1818322"/>
              <a:ext cx="2028825" cy="641985"/>
            </a:xfrm>
            <a:custGeom>
              <a:avLst/>
              <a:gdLst/>
              <a:ahLst/>
              <a:cxnLst/>
              <a:rect l="l" t="t" r="r" b="b"/>
              <a:pathLst>
                <a:path w="2028825" h="641985">
                  <a:moveTo>
                    <a:pt x="0" y="0"/>
                  </a:moveTo>
                  <a:lnTo>
                    <a:pt x="2028825" y="6419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913572" y="2598420"/>
              <a:ext cx="458152" cy="520065"/>
            </a:xfrm>
            <a:custGeom>
              <a:avLst/>
              <a:gdLst/>
              <a:ahLst/>
              <a:cxnLst/>
              <a:rect l="l" t="t" r="r" b="b"/>
              <a:pathLst>
                <a:path w="458152" h="520065">
                  <a:moveTo>
                    <a:pt x="458152" y="0"/>
                  </a:moveTo>
                  <a:lnTo>
                    <a:pt x="0" y="5200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481262" y="2628900"/>
              <a:ext cx="82867" cy="459105"/>
            </a:xfrm>
            <a:custGeom>
              <a:avLst/>
              <a:gdLst/>
              <a:ahLst/>
              <a:cxnLst/>
              <a:rect l="l" t="t" r="r" b="b"/>
              <a:pathLst>
                <a:path w="82867" h="459105">
                  <a:moveTo>
                    <a:pt x="0" y="0"/>
                  </a:moveTo>
                  <a:lnTo>
                    <a:pt x="82867" y="4591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544128" y="2597468"/>
              <a:ext cx="462915" cy="521017"/>
            </a:xfrm>
            <a:custGeom>
              <a:avLst/>
              <a:gdLst/>
              <a:ahLst/>
              <a:cxnLst/>
              <a:rect l="l" t="t" r="r" b="b"/>
              <a:pathLst>
                <a:path w="462915" h="521017">
                  <a:moveTo>
                    <a:pt x="0" y="0"/>
                  </a:moveTo>
                  <a:lnTo>
                    <a:pt x="462915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39540" y="2598420"/>
              <a:ext cx="457200" cy="520065"/>
            </a:xfrm>
            <a:custGeom>
              <a:avLst/>
              <a:gdLst/>
              <a:ahLst/>
              <a:cxnLst/>
              <a:rect l="l" t="t" r="r" b="b"/>
              <a:pathLst>
                <a:path w="457200" h="520065">
                  <a:moveTo>
                    <a:pt x="457200" y="0"/>
                  </a:moveTo>
                  <a:lnTo>
                    <a:pt x="0" y="5200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506278" y="2628900"/>
              <a:ext cx="82867" cy="459105"/>
            </a:xfrm>
            <a:custGeom>
              <a:avLst/>
              <a:gdLst/>
              <a:ahLst/>
              <a:cxnLst/>
              <a:rect l="l" t="t" r="r" b="b"/>
              <a:pathLst>
                <a:path w="82867" h="459105">
                  <a:moveTo>
                    <a:pt x="0" y="0"/>
                  </a:moveTo>
                  <a:lnTo>
                    <a:pt x="82867" y="4591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70095" y="2597468"/>
              <a:ext cx="461962" cy="521017"/>
            </a:xfrm>
            <a:custGeom>
              <a:avLst/>
              <a:gdLst/>
              <a:ahLst/>
              <a:cxnLst/>
              <a:rect l="l" t="t" r="r" b="b"/>
              <a:pathLst>
                <a:path w="461962" h="521017">
                  <a:moveTo>
                    <a:pt x="0" y="0"/>
                  </a:moveTo>
                  <a:lnTo>
                    <a:pt x="461962" y="5210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643312" y="3340418"/>
              <a:ext cx="166688" cy="470535"/>
            </a:xfrm>
            <a:custGeom>
              <a:avLst/>
              <a:gdLst/>
              <a:ahLst/>
              <a:cxnLst/>
              <a:rect l="l" t="t" r="r" b="b"/>
              <a:pathLst>
                <a:path w="166688" h="470535">
                  <a:moveTo>
                    <a:pt x="166688" y="0"/>
                  </a:moveTo>
                  <a:lnTo>
                    <a:pt x="0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96678" y="3340418"/>
              <a:ext cx="165735" cy="470535"/>
            </a:xfrm>
            <a:custGeom>
              <a:avLst/>
              <a:gdLst/>
              <a:ahLst/>
              <a:cxnLst/>
              <a:rect l="l" t="t" r="r" b="b"/>
              <a:pathLst>
                <a:path w="165735" h="470535">
                  <a:moveTo>
                    <a:pt x="0" y="0"/>
                  </a:moveTo>
                  <a:lnTo>
                    <a:pt x="165735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618298" y="3340418"/>
              <a:ext cx="165735" cy="470535"/>
            </a:xfrm>
            <a:custGeom>
              <a:avLst/>
              <a:gdLst/>
              <a:ahLst/>
              <a:cxnLst/>
              <a:rect l="l" t="t" r="r" b="b"/>
              <a:pathLst>
                <a:path w="165735" h="470535">
                  <a:moveTo>
                    <a:pt x="165735" y="0"/>
                  </a:moveTo>
                  <a:lnTo>
                    <a:pt x="0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870710" y="3340418"/>
              <a:ext cx="166688" cy="470535"/>
            </a:xfrm>
            <a:custGeom>
              <a:avLst/>
              <a:gdLst/>
              <a:ahLst/>
              <a:cxnLst/>
              <a:rect l="l" t="t" r="r" b="b"/>
              <a:pathLst>
                <a:path w="166688" h="470535">
                  <a:moveTo>
                    <a:pt x="0" y="0"/>
                  </a:moveTo>
                  <a:lnTo>
                    <a:pt x="166688" y="4705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574482" y="4065270"/>
              <a:ext cx="9525" cy="459105"/>
            </a:xfrm>
            <a:custGeom>
              <a:avLst/>
              <a:gdLst/>
              <a:ahLst/>
              <a:cxnLst/>
              <a:rect l="l" t="t" r="r" b="b"/>
              <a:pathLst>
                <a:path w="9525" h="459105">
                  <a:moveTo>
                    <a:pt x="0" y="0"/>
                  </a:moveTo>
                  <a:lnTo>
                    <a:pt x="0" y="45910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946785" y="2378392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453515" y="4533900"/>
              <a:ext cx="241935" cy="24193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959293" y="3812858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466023" y="3095625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972752" y="3095625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3478530" y="3812858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985260" y="3812858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491990" y="3095625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997767" y="3095625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5504498" y="2378392"/>
              <a:ext cx="241935" cy="241935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453515" y="3812858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706880" y="3095625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2336482" y="2378392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731895" y="3095625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4362450" y="2378392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3226118" y="1658303"/>
              <a:ext cx="241935" cy="241935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28006" y="24431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2276" y="26560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99751" y="45986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09006" y="481060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05529" y="3877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14784" y="409051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512259" y="31603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21514" y="33732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18989" y="31603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28244" y="33732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559751" y="38776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34021" y="409051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031496" y="3877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040751" y="409051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73211" y="31603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47481" y="33732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078988" y="31603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53259" y="337327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85718" y="24431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59989" y="26560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499751" y="387762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753116" y="31603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17703" y="24431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13116" y="31603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43671" y="244316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307338" y="172307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140268" y="20602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171823" y="20902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2835592" y="20602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867148" y="20902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848100" y="20602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3879656" y="20902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419600" y="20602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451156" y="20902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2075498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2107053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455545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487101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708910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40466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101465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133021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481512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513068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734878" y="27793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766433" y="28093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3659505" y="34966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3691061" y="3525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3912870" y="34966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3944426" y="3525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634490" y="34966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666046" y="3525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887855" y="349662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919411" y="352567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507808" y="421576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539363" y="4244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  <p:grpSp>
        <p:nvGrpSpPr>
          <p:cNvPr id="96" name="c1-text-2"/>
          <p:cNvGrpSpPr/>
          <p:nvPr/>
        </p:nvGrpSpPr>
        <p:grpSpPr>
          <a:xfrm>
            <a:off x="527685" y="5358289"/>
            <a:ext cx="5288534" cy="441008"/>
            <a:chOff x="527685" y="5358289"/>
            <a:chExt cx="5288534" cy="441008"/>
          </a:xfrm>
        </p:grpSpPr>
        <p:sp>
          <p:nvSpPr>
            <p:cNvPr id="95" name="TextBox 95"/>
            <p:cNvSpPr txBox="1"/>
            <p:nvPr/>
          </p:nvSpPr>
          <p:spPr>
            <a:xfrm>
              <a:off x="527685" y="5358289"/>
              <a:ext cx="528853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边上是分到的人；没被扩展的结点下方标 ĉ（叶结点为实际费用），E-结点的 ĉ 见右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表。深色：E-结点；红色：ĉ ≥ U 舍弃</a:t>
              </a:r>
            </a:p>
          </p:txBody>
        </p:sp>
      </p:grpSp>
      <p:grpSp>
        <p:nvGrpSpPr>
          <p:cNvPr id="132" name="c2-table-1"/>
          <p:cNvGrpSpPr/>
          <p:nvPr/>
        </p:nvGrpSpPr>
        <p:grpSpPr>
          <a:xfrm>
            <a:off x="6459284" y="1524000"/>
            <a:ext cx="5199316" cy="3120009"/>
            <a:chOff x="6459284" y="1524000"/>
            <a:chExt cx="5199316" cy="3120009"/>
          </a:xfrm>
        </p:grpSpPr>
        <p:sp>
          <p:nvSpPr>
            <p:cNvPr id="97" name="Rectangle 97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658087" y="1648301"/>
              <a:ext cx="496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407018" y="1648301"/>
              <a:ext cx="1153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生成的儿子（ĉ）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087772" y="164830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683182" y="205406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1(12)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447598" y="2054066"/>
              <a:ext cx="251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2(16) 舍，3(13)，4(12)，5(14) 舍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050847" y="2054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683182" y="245983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4(12)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47598" y="2459831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6(12)，7(14) 舍，8(16) 舍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050847" y="24598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683182" y="286559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6(12)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447598" y="2865596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9(14) 舍，10(20) 舍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050847" y="286559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683182" y="327136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3(13)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447598" y="3271361"/>
              <a:ext cx="21976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11(13)，12(19) 舍，13(17) 舍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050847" y="32713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6639646" y="3677126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11(13)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447598" y="3677126"/>
              <a:ext cx="1353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14(13)，15(21) 舍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050847" y="367712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6639646" y="408289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14(13)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447598" y="4082891"/>
              <a:ext cx="1828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是叶结点，费用 13 &lt; 14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10628948" y="3968115"/>
              <a:ext cx="102012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050847" y="408289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464618" y="1524000"/>
              <a:ext cx="519398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734282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1061466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459284" y="443865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结点按生成次序编号；活结点表随后为空</a:t>
              </a:r>
            </a:p>
          </p:txBody>
        </p:sp>
      </p:grpSp>
      <p:grpSp>
        <p:nvGrpSpPr>
          <p:cNvPr id="140" name="c2-card-2"/>
          <p:cNvGrpSpPr/>
          <p:nvPr/>
        </p:nvGrpSpPr>
        <p:grpSpPr>
          <a:xfrm>
            <a:off x="6464618" y="4777740"/>
            <a:ext cx="5193982" cy="1511618"/>
            <a:chOff x="6464618" y="4777740"/>
            <a:chExt cx="5193982" cy="1511618"/>
          </a:xfrm>
        </p:grpSpPr>
        <p:sp>
          <p:nvSpPr>
            <p:cNvPr id="133" name="Rectangle 133"/>
            <p:cNvSpPr/>
            <p:nvPr/>
          </p:nvSpPr>
          <p:spPr>
            <a:xfrm>
              <a:off x="6464618" y="4777740"/>
              <a:ext cx="5193982" cy="1511618"/>
            </a:xfrm>
            <a:prstGeom prst="roundRect">
              <a:avLst>
                <a:gd name="adj" fmla="val 882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657022" y="4970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6748462" y="5004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136" name="Ellipse 136"/>
            <p:cNvSpPr/>
            <p:nvPr/>
          </p:nvSpPr>
          <p:spPr>
            <a:xfrm>
              <a:off x="6665595" y="53835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821614" y="5327333"/>
              <a:ext cx="40599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 16：x = (2, 1, 3, 4)，工作 1→人 2，工作 2→人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1，工作 3→人 3，工作 4→人 4</a:t>
              </a:r>
            </a:p>
          </p:txBody>
        </p:sp>
        <p:sp>
          <p:nvSpPr>
            <p:cNvPr id="138" name="Ellipse 138"/>
            <p:cNvSpPr/>
            <p:nvPr/>
          </p:nvSpPr>
          <p:spPr>
            <a:xfrm>
              <a:off x="6665595" y="59426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6821614" y="5886450"/>
              <a:ext cx="3294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总费用 6 + 2 + 1 + 4 = 13，比贪心解少 1</a:t>
              </a:r>
            </a:p>
          </p:txBody>
        </p:sp>
      </p:grpSp>
      <p:grpSp>
        <p:nvGrpSpPr>
          <p:cNvPr id="1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1" name="TextBox 141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98881" cy="909257"/>
            <a:chOff x="520446" y="342900"/>
            <a:chExt cx="65988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988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复核：24 种分配中 13 是唯一的最小值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27685" y="1524000"/>
            <a:ext cx="5199697" cy="2539842"/>
            <a:chOff x="527685" y="1524000"/>
            <a:chExt cx="5199697" cy="25398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17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3270" y="1659731"/>
              <a:ext cx="18683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分配 (x₁, x₂, x₃, x₄)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797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费用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435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66946" y="2108359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(2, 1, 3, 4)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555682" y="1982152"/>
              <a:ext cx="216217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49654" y="2108359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+ 2 + 1 + 4 = 13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1649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2125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35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2319" y="2556986"/>
              <a:ext cx="17102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1, 2, 4)（贪心）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49654" y="2556986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+ 2 + 3 + 4 = 14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60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35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66946" y="30056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(4, 1, 3, 2)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9654" y="3005614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+ 2 + 1 + 7 = 17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1470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319462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435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66946" y="3454241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(1, 2, 3, 4)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49654" y="3454241"/>
              <a:ext cx="1374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+ 4 + 1 + 4 = 18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5193982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203960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541395" y="1524000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7685" y="3843814"/>
              <a:ext cx="162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脚本穷举 4! = 24 种排列</a:t>
              </a:r>
            </a:p>
          </p:txBody>
        </p:sp>
      </p:grpSp>
      <p:grpSp>
        <p:nvGrpSpPr>
          <p:cNvPr id="40" name="c1-callout-2"/>
          <p:cNvGrpSpPr/>
          <p:nvPr/>
        </p:nvGrpSpPr>
        <p:grpSpPr>
          <a:xfrm>
            <a:off x="533400" y="4210050"/>
            <a:ext cx="5193982" cy="1488758"/>
            <a:chOff x="533400" y="4210050"/>
            <a:chExt cx="5193982" cy="1488758"/>
          </a:xfrm>
        </p:grpSpPr>
        <p:sp>
          <p:nvSpPr>
            <p:cNvPr id="34" name="Rectangle 34"/>
            <p:cNvSpPr/>
            <p:nvPr/>
          </p:nvSpPr>
          <p:spPr>
            <a:xfrm>
              <a:off x="533400" y="4210050"/>
              <a:ext cx="5193982" cy="1488758"/>
            </a:xfrm>
            <a:prstGeom prst="roundRect">
              <a:avLst>
                <a:gd name="adj" fmla="val 767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4853940"/>
              <a:ext cx="200026" cy="200026"/>
              <a:chOff x="738188" y="4853940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48539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49206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49539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4572952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贪心让工作 1 先拿走人 3（费用 5），工作 3 只好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用人 2（费用 3）；最优解让工作 1 多花 1，把人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留给工作 3（费用 1），净省 1。</a:t>
              </a:r>
            </a:p>
          </p:txBody>
        </p:sp>
      </p:grpSp>
      <p:grpSp>
        <p:nvGrpSpPr>
          <p:cNvPr id="62" name="c2-table-1"/>
          <p:cNvGrpSpPr/>
          <p:nvPr/>
        </p:nvGrpSpPr>
        <p:grpSpPr>
          <a:xfrm>
            <a:off x="6026467" y="1524000"/>
            <a:ext cx="5632133" cy="2091214"/>
            <a:chOff x="6026467" y="1524000"/>
            <a:chExt cx="5632133" cy="2091214"/>
          </a:xfrm>
        </p:grpSpPr>
        <p:sp>
          <p:nvSpPr>
            <p:cNvPr id="41" name="Rectangle 41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2499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搜索方式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88893" y="1659731"/>
              <a:ext cx="832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 ≥ U 舍弃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826927" y="1659731"/>
              <a:ext cx="16935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 &gt; U 舍弃（原讲解）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40006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29538" y="1982152"/>
              <a:ext cx="195072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27836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个结点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96653" y="210835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个结点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24164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032182" y="242125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40006" y="2556986"/>
              <a:ext cx="4239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27836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个结点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96653" y="2556986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个结点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032182" y="28660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40006" y="30056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不剪枝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27836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个结点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96653" y="3005614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个结点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032182" y="1524000"/>
              <a:ext cx="562641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71525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684068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26467" y="3395186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各方式都得到 (2, 1, 3, 4)、费用 13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032182" y="3761422"/>
            <a:ext cx="5626418" cy="1937385"/>
            <a:chOff x="6032182" y="3761422"/>
            <a:chExt cx="5626418" cy="1937385"/>
          </a:xfrm>
        </p:grpSpPr>
        <p:sp>
          <p:nvSpPr>
            <p:cNvPr id="63" name="Rectangle 63"/>
            <p:cNvSpPr/>
            <p:nvPr/>
          </p:nvSpPr>
          <p:spPr>
            <a:xfrm>
              <a:off x="6032182" y="3761422"/>
              <a:ext cx="562641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1708" y="3894772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279832" y="397097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70041" y="400669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285548" y="441102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443662" y="4348162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初值取 ∞ 时，LC 仍生成 16 个结点：结点 3、4 的 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13、12，最优解很快出现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285548" y="5032058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443662" y="4969192"/>
              <a:ext cx="4749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ĝ 改成只在没分到工作的人里取行最小，下界更紧，剪枝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442770" cy="909257"/>
            <a:chOff x="520446" y="342900"/>
            <a:chExt cx="1044277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4427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方法一：判定有没有 m 团，n = 5、m = 3 的组合树有 10 片叶子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760595" cy="1767840"/>
            <a:chOff x="533400" y="1524000"/>
            <a:chExt cx="4760595" cy="17678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67840"/>
            </a:xfrm>
            <a:prstGeom prst="roundRect">
              <a:avLst>
                <a:gd name="adj" fmla="val 75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11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762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964" y="1763554"/>
              <a:ext cx="4000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第7题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56799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无向图 G 中两两相邻的顶点集合称为团，求 G 的一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个最大团；提示可转化为判定问题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9239" y="2680335"/>
              <a:ext cx="4050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思路：先问“有没有大小为 m 的团”，m 从小往大试，第一个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答“没有”的 m 减 1 就是最大团的大小。</a:t>
              </a:r>
            </a:p>
          </p:txBody>
        </p:sp>
      </p:grpSp>
      <p:grpSp>
        <p:nvGrpSpPr>
          <p:cNvPr id="22" name="c1-kv-2"/>
          <p:cNvGrpSpPr/>
          <p:nvPr/>
        </p:nvGrpSpPr>
        <p:grpSpPr>
          <a:xfrm>
            <a:off x="526161" y="3500914"/>
            <a:ext cx="4767834" cy="1390269"/>
            <a:chOff x="526161" y="3500914"/>
            <a:chExt cx="4767834" cy="1390269"/>
          </a:xfrm>
        </p:grpSpPr>
        <p:sp>
          <p:nvSpPr>
            <p:cNvPr id="14" name="TextBox 14"/>
            <p:cNvSpPr txBox="1"/>
            <p:nvPr/>
          </p:nvSpPr>
          <p:spPr>
            <a:xfrm>
              <a:off x="526161" y="35009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元组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25334" y="3500914"/>
              <a:ext cx="31112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m-元组 (x₁, …, xₘ)，m 是团的大小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07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6161" y="39228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5334" y="3922871"/>
              <a:ext cx="2674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∈ {1, …, n}，对应 G 的顶点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22814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3448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隐式约束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25334" y="4344829"/>
              <a:ext cx="344995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&lt; xᵢ₊₁（1 ≤ i &lt; m），且任意两个 xᵢ 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间有边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5020628"/>
            <a:ext cx="4760595" cy="1274445"/>
            <a:chOff x="533400" y="5020628"/>
            <a:chExt cx="4760595" cy="1274445"/>
          </a:xfrm>
        </p:grpSpPr>
        <p:sp>
          <p:nvSpPr>
            <p:cNvPr id="23" name="Rectangle 23"/>
            <p:cNvSpPr/>
            <p:nvPr/>
          </p:nvSpPr>
          <p:spPr>
            <a:xfrm>
              <a:off x="533400" y="5020628"/>
              <a:ext cx="476059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515397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75335" y="522446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5543" y="5260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8096" y="5597366"/>
              <a:ext cx="41172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原讲解写“任意两个 xᵢ 都不相同，且 xᵢ ≤ xᵢ₊₁”，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合起来就是 xᵢ &lt; xᵢ₊₁，直接写严格不等号更清楚。</a:t>
              </a:r>
            </a:p>
          </p:txBody>
        </p:sp>
      </p:grpSp>
      <p:grpSp>
        <p:nvGrpSpPr>
          <p:cNvPr id="129" name="c2-graph-1"/>
          <p:cNvGrpSpPr/>
          <p:nvPr/>
        </p:nvGrpSpPr>
        <p:grpSpPr>
          <a:xfrm>
            <a:off x="5633751" y="1608772"/>
            <a:ext cx="5579079" cy="2510504"/>
            <a:chOff x="5633751" y="1608772"/>
            <a:chExt cx="5579079" cy="2510504"/>
          </a:xfrm>
        </p:grpSpPr>
        <p:sp>
          <p:nvSpPr>
            <p:cNvPr id="29" name="Freeform 29"/>
            <p:cNvSpPr/>
            <p:nvPr/>
          </p:nvSpPr>
          <p:spPr>
            <a:xfrm>
              <a:off x="7937182" y="1796415"/>
              <a:ext cx="1383030" cy="634365"/>
            </a:xfrm>
            <a:custGeom>
              <a:avLst/>
              <a:gdLst/>
              <a:ahLst/>
              <a:cxnLst/>
              <a:rect l="l" t="t" r="r" b="b"/>
              <a:pathLst>
                <a:path w="1383030" h="634365">
                  <a:moveTo>
                    <a:pt x="1383030" y="0"/>
                  </a:moveTo>
                  <a:lnTo>
                    <a:pt x="0" y="634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540240" y="1841182"/>
              <a:ext cx="498158" cy="544830"/>
            </a:xfrm>
            <a:custGeom>
              <a:avLst/>
              <a:gdLst/>
              <a:ahLst/>
              <a:cxnLst/>
              <a:rect l="l" t="t" r="r" b="b"/>
              <a:pathLst>
                <a:path w="498158" h="544830">
                  <a:moveTo>
                    <a:pt x="0" y="0"/>
                  </a:moveTo>
                  <a:lnTo>
                    <a:pt x="498158" y="54483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573578" y="1796415"/>
              <a:ext cx="1383030" cy="634365"/>
            </a:xfrm>
            <a:custGeom>
              <a:avLst/>
              <a:gdLst/>
              <a:ahLst/>
              <a:cxnLst/>
              <a:rect l="l" t="t" r="r" b="b"/>
              <a:pathLst>
                <a:path w="1383030" h="634365">
                  <a:moveTo>
                    <a:pt x="0" y="0"/>
                  </a:moveTo>
                  <a:lnTo>
                    <a:pt x="1383030" y="6343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834188" y="2566988"/>
              <a:ext cx="862012" cy="593408"/>
            </a:xfrm>
            <a:custGeom>
              <a:avLst/>
              <a:gdLst/>
              <a:ahLst/>
              <a:cxnLst/>
              <a:rect l="l" t="t" r="r" b="b"/>
              <a:pathLst>
                <a:path w="862012" h="593408">
                  <a:moveTo>
                    <a:pt x="862012" y="0"/>
                  </a:moveTo>
                  <a:lnTo>
                    <a:pt x="0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858125" y="2619375"/>
              <a:ext cx="178118" cy="488633"/>
            </a:xfrm>
            <a:custGeom>
              <a:avLst/>
              <a:gdLst/>
              <a:ahLst/>
              <a:cxnLst/>
              <a:rect l="l" t="t" r="r" b="b"/>
              <a:pathLst>
                <a:path w="178118" h="488633">
                  <a:moveTo>
                    <a:pt x="0" y="0"/>
                  </a:moveTo>
                  <a:lnTo>
                    <a:pt x="178118" y="4886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925752" y="2566988"/>
              <a:ext cx="861060" cy="593408"/>
            </a:xfrm>
            <a:custGeom>
              <a:avLst/>
              <a:gdLst/>
              <a:ahLst/>
              <a:cxnLst/>
              <a:rect l="l" t="t" r="r" b="b"/>
              <a:pathLst>
                <a:path w="861060" h="593408">
                  <a:moveTo>
                    <a:pt x="0" y="0"/>
                  </a:moveTo>
                  <a:lnTo>
                    <a:pt x="861060" y="5934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256020" y="3350895"/>
              <a:ext cx="382905" cy="525780"/>
            </a:xfrm>
            <a:custGeom>
              <a:avLst/>
              <a:gdLst/>
              <a:ahLst/>
              <a:cxnLst/>
              <a:rect l="l" t="t" r="r" b="b"/>
              <a:pathLst>
                <a:path w="382905" h="525780">
                  <a:moveTo>
                    <a:pt x="382905" y="0"/>
                  </a:moveTo>
                  <a:lnTo>
                    <a:pt x="0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719888" y="3377565"/>
              <a:ext cx="9525" cy="472440"/>
            </a:xfrm>
            <a:custGeom>
              <a:avLst/>
              <a:gdLst/>
              <a:ahLst/>
              <a:cxnLst/>
              <a:rect l="l" t="t" r="r" b="b"/>
              <a:pathLst>
                <a:path w="9525" h="472440">
                  <a:moveTo>
                    <a:pt x="0" y="0"/>
                  </a:moveTo>
                  <a:lnTo>
                    <a:pt x="0" y="472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6801802" y="3350895"/>
              <a:ext cx="381953" cy="525780"/>
            </a:xfrm>
            <a:custGeom>
              <a:avLst/>
              <a:gdLst/>
              <a:ahLst/>
              <a:cxnLst/>
              <a:rect l="l" t="t" r="r" b="b"/>
              <a:pathLst>
                <a:path w="381953" h="525780">
                  <a:moveTo>
                    <a:pt x="0" y="0"/>
                  </a:moveTo>
                  <a:lnTo>
                    <a:pt x="381953" y="5257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858125" y="3368992"/>
              <a:ext cx="178118" cy="489585"/>
            </a:xfrm>
            <a:custGeom>
              <a:avLst/>
              <a:gdLst/>
              <a:ahLst/>
              <a:cxnLst/>
              <a:rect l="l" t="t" r="r" b="b"/>
              <a:pathLst>
                <a:path w="178118" h="489585">
                  <a:moveTo>
                    <a:pt x="178118" y="0"/>
                  </a:moveTo>
                  <a:lnTo>
                    <a:pt x="0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30540" y="3368992"/>
              <a:ext cx="178117" cy="489585"/>
            </a:xfrm>
            <a:custGeom>
              <a:avLst/>
              <a:gdLst/>
              <a:ahLst/>
              <a:cxnLst/>
              <a:rect l="l" t="t" r="r" b="b"/>
              <a:pathLst>
                <a:path w="178117" h="489585">
                  <a:moveTo>
                    <a:pt x="0" y="0"/>
                  </a:moveTo>
                  <a:lnTo>
                    <a:pt x="178117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901112" y="3377565"/>
              <a:ext cx="9525" cy="472440"/>
            </a:xfrm>
            <a:custGeom>
              <a:avLst/>
              <a:gdLst/>
              <a:ahLst/>
              <a:cxnLst/>
              <a:rect l="l" t="t" r="r" b="b"/>
              <a:pathLst>
                <a:path w="9525" h="472440">
                  <a:moveTo>
                    <a:pt x="0" y="0"/>
                  </a:moveTo>
                  <a:lnTo>
                    <a:pt x="0" y="472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785985" y="2609850"/>
              <a:ext cx="279082" cy="507683"/>
            </a:xfrm>
            <a:custGeom>
              <a:avLst/>
              <a:gdLst/>
              <a:ahLst/>
              <a:cxnLst/>
              <a:rect l="l" t="t" r="r" b="b"/>
              <a:pathLst>
                <a:path w="279082" h="507683">
                  <a:moveTo>
                    <a:pt x="279082" y="0"/>
                  </a:moveTo>
                  <a:lnTo>
                    <a:pt x="0" y="50768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197465" y="2610802"/>
              <a:ext cx="274320" cy="505777"/>
            </a:xfrm>
            <a:custGeom>
              <a:avLst/>
              <a:gdLst/>
              <a:ahLst/>
              <a:cxnLst/>
              <a:rect l="l" t="t" r="r" b="b"/>
              <a:pathLst>
                <a:path w="274320" h="505777">
                  <a:moveTo>
                    <a:pt x="0" y="0"/>
                  </a:moveTo>
                  <a:lnTo>
                    <a:pt x="274320" y="5057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494520" y="3368992"/>
              <a:ext cx="177165" cy="489585"/>
            </a:xfrm>
            <a:custGeom>
              <a:avLst/>
              <a:gdLst/>
              <a:ahLst/>
              <a:cxnLst/>
              <a:rect l="l" t="t" r="r" b="b"/>
              <a:pathLst>
                <a:path w="177165" h="489585">
                  <a:moveTo>
                    <a:pt x="177165" y="0"/>
                  </a:moveTo>
                  <a:lnTo>
                    <a:pt x="0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766935" y="3368992"/>
              <a:ext cx="178117" cy="489585"/>
            </a:xfrm>
            <a:custGeom>
              <a:avLst/>
              <a:gdLst/>
              <a:ahLst/>
              <a:cxnLst/>
              <a:rect l="l" t="t" r="r" b="b"/>
              <a:pathLst>
                <a:path w="178117" h="489585">
                  <a:moveTo>
                    <a:pt x="0" y="0"/>
                  </a:moveTo>
                  <a:lnTo>
                    <a:pt x="178117" y="4895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537508" y="3377565"/>
              <a:ext cx="9525" cy="472440"/>
            </a:xfrm>
            <a:custGeom>
              <a:avLst/>
              <a:gdLst/>
              <a:ahLst/>
              <a:cxnLst/>
              <a:rect l="l" t="t" r="r" b="b"/>
              <a:pathLst>
                <a:path w="9525" h="472440">
                  <a:moveTo>
                    <a:pt x="0" y="0"/>
                  </a:moveTo>
                  <a:lnTo>
                    <a:pt x="0" y="472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11083290" y="2626995"/>
              <a:ext cx="9525" cy="473392"/>
            </a:xfrm>
            <a:custGeom>
              <a:avLst/>
              <a:gdLst/>
              <a:ahLst/>
              <a:cxnLst/>
              <a:rect l="l" t="t" r="r" b="b"/>
              <a:pathLst>
                <a:path w="9525" h="473392">
                  <a:moveTo>
                    <a:pt x="0" y="0"/>
                  </a:moveTo>
                  <a:lnTo>
                    <a:pt x="0" y="47339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11083290" y="3377565"/>
              <a:ext cx="9525" cy="472440"/>
            </a:xfrm>
            <a:custGeom>
              <a:avLst/>
              <a:gdLst/>
              <a:ahLst/>
              <a:cxnLst/>
              <a:rect l="l" t="t" r="r" b="b"/>
              <a:pathLst>
                <a:path w="9525" h="472440">
                  <a:moveTo>
                    <a:pt x="0" y="0"/>
                  </a:moveTo>
                  <a:lnTo>
                    <a:pt x="0" y="4724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6045517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590348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7136130" y="3859530"/>
              <a:ext cx="259080" cy="25908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680960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226742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8771572" y="3859530"/>
              <a:ext cx="259080" cy="25908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317355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9863138" y="3859530"/>
              <a:ext cx="259080" cy="25908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407968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953750" y="385953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590348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7954328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8771572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7680960" y="235934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2" name="Ellipse 62"/>
            <p:cNvSpPr/>
            <p:nvPr/>
          </p:nvSpPr>
          <p:spPr>
            <a:xfrm>
              <a:off x="9589770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407968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10002203" y="235934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10953750" y="3108960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10953750" y="2359342"/>
              <a:ext cx="259080" cy="25908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317355" y="1608772"/>
              <a:ext cx="259080" cy="25908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132010" y="3928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76840" y="3928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22623" y="3928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67453" y="3928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13235" y="392858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19971" y="39285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365754" y="39285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911536" y="39285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456366" y="39285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02149" y="39285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676840" y="3178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040820" y="3178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19971" y="3178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767453" y="242744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38169" y="3178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456366" y="3178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050601" y="2427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02149" y="3178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002149" y="24274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403848" y="16778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8562022" y="20345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593578" y="20645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722168" y="20345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53723" y="20645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198418" y="20345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229973" y="206454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198995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230551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880032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912541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289608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21163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6380798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412353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653212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684768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926580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958136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880032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912541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8153400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184956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8834438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8865993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9859328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890883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10267950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10299506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9516428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547983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9788842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820398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10470832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10502388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11016615" y="27851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11048171" y="28141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11016615" y="353568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11048171" y="35647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5633751" y="20002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5633751" y="27498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5633751" y="350043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</p:grpSp>
      <p:grpSp>
        <p:nvGrpSpPr>
          <p:cNvPr id="136" name="c2-callout-2"/>
          <p:cNvGrpSpPr/>
          <p:nvPr/>
        </p:nvGrpSpPr>
        <p:grpSpPr>
          <a:xfrm>
            <a:off x="5598795" y="4389120"/>
            <a:ext cx="6059805" cy="1906905"/>
            <a:chOff x="5598795" y="4389120"/>
            <a:chExt cx="6059805" cy="1906905"/>
          </a:xfrm>
        </p:grpSpPr>
        <p:sp>
          <p:nvSpPr>
            <p:cNvPr id="130" name="Rectangle 130"/>
            <p:cNvSpPr/>
            <p:nvPr/>
          </p:nvSpPr>
          <p:spPr>
            <a:xfrm>
              <a:off x="5598795" y="4389120"/>
              <a:ext cx="6059805" cy="1906905"/>
            </a:xfrm>
            <a:prstGeom prst="roundRect">
              <a:avLst>
                <a:gd name="adj" fmla="val 599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34" name="Group 134"/>
            <p:cNvGrpSpPr/>
            <p:nvPr/>
          </p:nvGrpSpPr>
          <p:grpSpPr>
            <a:xfrm>
              <a:off x="5803583" y="5241608"/>
              <a:ext cx="200026" cy="200025"/>
              <a:chOff x="5803583" y="5241608"/>
              <a:chExt cx="200026" cy="200025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5803583" y="5241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5843321" y="5286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5878037" y="5397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35" name="TextBox 135"/>
            <p:cNvSpPr txBox="1"/>
            <p:nvPr/>
          </p:nvSpPr>
          <p:spPr>
            <a:xfrm>
              <a:off x="6105906" y="4848701"/>
              <a:ext cx="5100066" cy="1067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xᵢ = k 时 xᵢ₊₁ 取 k + 1 ~ n − m + i + 1，后面才留得下足够的顶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点：x₁ ≤ 3，x₂ ≤ 4，x₃ ≤ 5。深度优先编号，共 20 个结点，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叶结点 C(5, 3) = 10 个。绿色叶子是下页补充例图中的三个 3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团 {1, 2, 5}、{1, 4, 5}、{2, 3, 5}。</a:t>
              </a:r>
            </a:p>
          </p:txBody>
        </p:sp>
      </p:grpSp>
      <p:grpSp>
        <p:nvGrpSpPr>
          <p:cNvPr id="1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7" name="TextBox 13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40061" cy="909257"/>
            <a:chOff x="520446" y="342900"/>
            <a:chExt cx="98400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400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方法一：新顶点逐个检查与前面顶点相邻，总代价 O(n·2ⁿ)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586990"/>
            <a:chOff x="533400" y="1524000"/>
            <a:chExt cx="5626418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8004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判定是否存在 m 团的回溯算法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1774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procedure CLIQUE(i)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x1..x(i-1) 已两两相邻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lo &lt;- x(i-1) + 1   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x0 =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v &lt;- lo to n - m + i 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x(i) &lt;- v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v 与 x1..x(i-1) 都有边 then   </a:t>
              </a:r>
              <a:r>
                <a:rPr lang="en-US" sz="105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B_i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i = m then return true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CLIQUE(i+1) then return true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endif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false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 CLIQUE</a:t>
              </a:r>
            </a:p>
          </p:txBody>
        </p:sp>
      </p:grpSp>
      <p:grpSp>
        <p:nvGrpSpPr>
          <p:cNvPr id="24" name="c1-steps-2"/>
          <p:cNvGrpSpPr/>
          <p:nvPr/>
        </p:nvGrpSpPr>
        <p:grpSpPr>
          <a:xfrm>
            <a:off x="533400" y="4300538"/>
            <a:ext cx="5271516" cy="2003488"/>
            <a:chOff x="533400" y="4300538"/>
            <a:chExt cx="5271516" cy="2003488"/>
          </a:xfrm>
        </p:grpSpPr>
        <p:sp>
          <p:nvSpPr>
            <p:cNvPr id="11" name="Rectangle 11"/>
            <p:cNvSpPr/>
            <p:nvPr/>
          </p:nvSpPr>
          <p:spPr>
            <a:xfrm>
              <a:off x="666750" y="4443412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33400" y="43005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4374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491775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9915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55340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5607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433339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4613910"/>
              <a:ext cx="4212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m 棵树的结点数为 C(n+1, m)，m = 1~n 合计不到 2ⁿ⁺¹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495061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5231130"/>
              <a:ext cx="1619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至多检查 m − 1 条边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55678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5848350"/>
              <a:ext cx="48585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原讲解只数叶结点，求和得 (n − 2)·2ⁿ⁻¹ + 1；算上内部结点也是 O(n·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2ⁿ)，指数级</a:t>
              </a:r>
            </a:p>
          </p:txBody>
        </p:sp>
      </p:grpSp>
      <p:grpSp>
        <p:nvGrpSpPr>
          <p:cNvPr id="42" name="c2-graph-1"/>
          <p:cNvGrpSpPr/>
          <p:nvPr/>
        </p:nvGrpSpPr>
        <p:grpSpPr>
          <a:xfrm>
            <a:off x="6727508" y="1758315"/>
            <a:ext cx="4668202" cy="1637347"/>
            <a:chOff x="6727508" y="1758315"/>
            <a:chExt cx="4668202" cy="1637347"/>
          </a:xfrm>
        </p:grpSpPr>
        <p:sp>
          <p:nvSpPr>
            <p:cNvPr id="25" name="Freeform 25"/>
            <p:cNvSpPr/>
            <p:nvPr/>
          </p:nvSpPr>
          <p:spPr>
            <a:xfrm>
              <a:off x="7665720" y="1910715"/>
              <a:ext cx="2792730" cy="9525"/>
            </a:xfrm>
            <a:custGeom>
              <a:avLst/>
              <a:gdLst/>
              <a:ahLst/>
              <a:cxnLst/>
              <a:rect l="l" t="t" r="r" b="b"/>
              <a:pathLst>
                <a:path w="2792730" h="9525">
                  <a:moveTo>
                    <a:pt x="0" y="0"/>
                  </a:moveTo>
                  <a:lnTo>
                    <a:pt x="2792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48488" y="2057400"/>
              <a:ext cx="486728" cy="1039178"/>
            </a:xfrm>
            <a:custGeom>
              <a:avLst/>
              <a:gdLst/>
              <a:ahLst/>
              <a:cxnLst/>
              <a:rect l="l" t="t" r="r" b="b"/>
              <a:pathLst>
                <a:path w="486728" h="1039178">
                  <a:moveTo>
                    <a:pt x="486728" y="0"/>
                  </a:moveTo>
                  <a:lnTo>
                    <a:pt x="0" y="1039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643812" y="1991678"/>
              <a:ext cx="1278255" cy="740093"/>
            </a:xfrm>
            <a:custGeom>
              <a:avLst/>
              <a:gdLst/>
              <a:ahLst/>
              <a:cxnLst/>
              <a:rect l="l" t="t" r="r" b="b"/>
              <a:pathLst>
                <a:path w="1278255" h="740093">
                  <a:moveTo>
                    <a:pt x="0" y="0"/>
                  </a:moveTo>
                  <a:lnTo>
                    <a:pt x="1278255" y="7400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10688002" y="2057400"/>
              <a:ext cx="486728" cy="1039178"/>
            </a:xfrm>
            <a:custGeom>
              <a:avLst/>
              <a:gdLst/>
              <a:ahLst/>
              <a:cxnLst/>
              <a:rect l="l" t="t" r="r" b="b"/>
              <a:pathLst>
                <a:path w="486728" h="1039178">
                  <a:moveTo>
                    <a:pt x="0" y="0"/>
                  </a:moveTo>
                  <a:lnTo>
                    <a:pt x="486728" y="10391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202102" y="1991678"/>
              <a:ext cx="1278255" cy="740093"/>
            </a:xfrm>
            <a:custGeom>
              <a:avLst/>
              <a:gdLst/>
              <a:ahLst/>
              <a:cxnLst/>
              <a:rect l="l" t="t" r="r" b="b"/>
              <a:pathLst>
                <a:path w="1278255" h="740093">
                  <a:moveTo>
                    <a:pt x="1278255" y="0"/>
                  </a:moveTo>
                  <a:lnTo>
                    <a:pt x="0" y="74009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220200" y="2844165"/>
              <a:ext cx="1864043" cy="367665"/>
            </a:xfrm>
            <a:custGeom>
              <a:avLst/>
              <a:gdLst/>
              <a:ahLst/>
              <a:cxnLst/>
              <a:rect l="l" t="t" r="r" b="b"/>
              <a:pathLst>
                <a:path w="1864043" h="367665">
                  <a:moveTo>
                    <a:pt x="1864043" y="36766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038975" y="2844165"/>
              <a:ext cx="1864043" cy="367665"/>
            </a:xfrm>
            <a:custGeom>
              <a:avLst/>
              <a:gdLst/>
              <a:ahLst/>
              <a:cxnLst/>
              <a:rect l="l" t="t" r="r" b="b"/>
              <a:pathLst>
                <a:path w="1864043" h="367665">
                  <a:moveTo>
                    <a:pt x="0" y="367665"/>
                  </a:moveTo>
                  <a:lnTo>
                    <a:pt x="1864043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7351395" y="17583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467022" y="17583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1090910" y="30908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727508" y="30908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909685" y="2661285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57646" y="18449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73273" y="18449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97161" y="31775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3758" y="317754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15936" y="27479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1" name="c2-table-2"/>
          <p:cNvGrpSpPr/>
          <p:nvPr/>
        </p:nvGrpSpPr>
        <p:grpSpPr>
          <a:xfrm>
            <a:off x="6459284" y="3852862"/>
            <a:ext cx="5199316" cy="2193227"/>
            <a:chOff x="6459284" y="3852862"/>
            <a:chExt cx="5199316" cy="2193227"/>
          </a:xfrm>
        </p:grpSpPr>
        <p:sp>
          <p:nvSpPr>
            <p:cNvPr id="43" name="Rectangle 43"/>
            <p:cNvSpPr/>
            <p:nvPr/>
          </p:nvSpPr>
          <p:spPr>
            <a:xfrm>
              <a:off x="6464618" y="3852862"/>
              <a:ext cx="5193982" cy="42481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4946" y="3981450"/>
              <a:ext cx="139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74342" y="39814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依次检查的结点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815637" y="3981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7106" y="4512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86219" y="4406265"/>
              <a:ext cx="25877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✓ (1,2) ✓ (1,2,3) ✗ (1,2,4)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(1,2,5) 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17480" y="4287202"/>
              <a:ext cx="1331595" cy="6191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410444" y="4512945"/>
              <a:ext cx="1054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有，{1, 2, 5}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49101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4914900"/>
              <a:ext cx="5193982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7106" y="52568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86219" y="5043488"/>
              <a:ext cx="261823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✓ (1,2) ✓ (1,2,3) ✗ (1,2,4)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 (1,3) ✗ (2) ✓ (2,3) ✓ (2,3,4)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0317480" y="4924425"/>
              <a:ext cx="1331595" cy="83248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410444" y="525684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3852862"/>
              <a:ext cx="5193982" cy="191357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78968" y="3852862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303192" y="3852862"/>
              <a:ext cx="9525" cy="19135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59284" y="5840730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补充例图（原题未给图）：7 条边，最大团大小为 3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74972" cy="909257"/>
            <a:chOff x="520446" y="342900"/>
            <a:chExt cx="103749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749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方法二：0/1 元组直接求最大团，用 −团大小 当成本做分支限界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542" y="1545907"/>
            <a:ext cx="4984623" cy="1060324"/>
            <a:chOff x="526542" y="1545907"/>
            <a:chExt cx="4984623" cy="1060324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元组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88567" y="1545907"/>
              <a:ext cx="3821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n-元组 (x₁, …, xₙ)，xᵢ = 1 表示顶点 i 在团中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3546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542" y="194405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显式约束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8567" y="1944052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 ∈ {0, 1}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326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542" y="234219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隐式约束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88567" y="2342198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 xᵢ = 1 的顶点两两有边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35"/>
              <p:cNvSpPr txBox="1">
                <a:spLocks noGrp="1"/>
              </p:cNvSpPr>
              <p:nvPr/>
            </p:nvSpPr>
            <p:spPr>
              <a:xfrm>
                <a:off x="533400" y="2727960"/>
                <a:ext cx="4977765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acc>
                        <m:accPr>
                          <m:chr m:val="ˆ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acc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  <m:e>
                          <m:sSub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8" name="c1-card-3"/>
          <p:cNvGrpSpPr/>
          <p:nvPr/>
        </p:nvGrpSpPr>
        <p:grpSpPr>
          <a:xfrm>
            <a:off x="533400" y="3406140"/>
            <a:ext cx="4977765" cy="1926908"/>
            <a:chOff x="533400" y="3406140"/>
            <a:chExt cx="4977765" cy="1926908"/>
          </a:xfrm>
        </p:grpSpPr>
        <p:sp>
          <p:nvSpPr>
            <p:cNvPr id="17" name="Rectangle 17"/>
            <p:cNvSpPr/>
            <p:nvPr/>
          </p:nvSpPr>
          <p:spPr>
            <a:xfrm>
              <a:off x="533400" y="3406140"/>
              <a:ext cx="4977765" cy="1926908"/>
            </a:xfrm>
            <a:prstGeom prst="roundRect">
              <a:avLst>
                <a:gd name="adj" fmla="val 692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5805" y="359854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9244" y="36328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设计要点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34378" y="40109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0397" y="3954780"/>
              <a:ext cx="370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最大化团的大小改写成最小化 −Σxᵢ；U 初值 0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34378" y="43138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0397" y="4257675"/>
              <a:ext cx="38896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u：X 已选的顶点本身是团，成本 −Σxᵢ 就能达到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34378" y="46158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397" y="4559618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ĉ：最好情况下后面 n − k 个顶点全能加进来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34378" y="491871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0397" y="4862512"/>
              <a:ext cx="28453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B：新选入的顶点与已选顶点都有边</a:t>
              </a:r>
            </a:p>
          </p:txBody>
        </p:sp>
      </p:grpSp>
      <p:grpSp>
        <p:nvGrpSpPr>
          <p:cNvPr id="111" name="c2-graph-1"/>
          <p:cNvGrpSpPr/>
          <p:nvPr/>
        </p:nvGrpSpPr>
        <p:grpSpPr>
          <a:xfrm>
            <a:off x="5857439" y="1584960"/>
            <a:ext cx="5242043" cy="2052637"/>
            <a:chOff x="5857439" y="1584960"/>
            <a:chExt cx="5242043" cy="2052637"/>
          </a:xfrm>
        </p:grpSpPr>
        <p:sp>
          <p:nvSpPr>
            <p:cNvPr id="29" name="Freeform 29"/>
            <p:cNvSpPr/>
            <p:nvPr/>
          </p:nvSpPr>
          <p:spPr>
            <a:xfrm>
              <a:off x="7566660" y="1738312"/>
              <a:ext cx="1055370" cy="373380"/>
            </a:xfrm>
            <a:custGeom>
              <a:avLst/>
              <a:gdLst/>
              <a:ahLst/>
              <a:cxnLst/>
              <a:rect l="l" t="t" r="r" b="b"/>
              <a:pathLst>
                <a:path w="1055370" h="373380">
                  <a:moveTo>
                    <a:pt x="1055370" y="0"/>
                  </a:moveTo>
                  <a:lnTo>
                    <a:pt x="0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852535" y="1738312"/>
              <a:ext cx="1054417" cy="373380"/>
            </a:xfrm>
            <a:custGeom>
              <a:avLst/>
              <a:gdLst/>
              <a:ahLst/>
              <a:cxnLst/>
              <a:rect l="l" t="t" r="r" b="b"/>
              <a:pathLst>
                <a:path w="1054417" h="373380">
                  <a:moveTo>
                    <a:pt x="0" y="0"/>
                  </a:moveTo>
                  <a:lnTo>
                    <a:pt x="1054417" y="3733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908482" y="2223135"/>
              <a:ext cx="443865" cy="313373"/>
            </a:xfrm>
            <a:custGeom>
              <a:avLst/>
              <a:gdLst/>
              <a:ahLst/>
              <a:cxnLst/>
              <a:rect l="l" t="t" r="r" b="b"/>
              <a:pathLst>
                <a:path w="443865" h="313373">
                  <a:moveTo>
                    <a:pt x="443865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551420" y="2223135"/>
              <a:ext cx="442912" cy="313373"/>
            </a:xfrm>
            <a:custGeom>
              <a:avLst/>
              <a:gdLst/>
              <a:ahLst/>
              <a:cxnLst/>
              <a:rect l="l" t="t" r="r" b="b"/>
              <a:pathLst>
                <a:path w="442912" h="313373">
                  <a:moveTo>
                    <a:pt x="0" y="0"/>
                  </a:moveTo>
                  <a:lnTo>
                    <a:pt x="442912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479280" y="2223135"/>
              <a:ext cx="443865" cy="313373"/>
            </a:xfrm>
            <a:custGeom>
              <a:avLst/>
              <a:gdLst/>
              <a:ahLst/>
              <a:cxnLst/>
              <a:rect l="l" t="t" r="r" b="b"/>
              <a:pathLst>
                <a:path w="443865" h="313373">
                  <a:moveTo>
                    <a:pt x="443865" y="0"/>
                  </a:moveTo>
                  <a:lnTo>
                    <a:pt x="0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122218" y="2223135"/>
              <a:ext cx="442912" cy="313373"/>
            </a:xfrm>
            <a:custGeom>
              <a:avLst/>
              <a:gdLst/>
              <a:ahLst/>
              <a:cxnLst/>
              <a:rect l="l" t="t" r="r" b="b"/>
              <a:pathLst>
                <a:path w="442912" h="313373">
                  <a:moveTo>
                    <a:pt x="0" y="0"/>
                  </a:moveTo>
                  <a:lnTo>
                    <a:pt x="442912" y="3133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557962" y="2707005"/>
              <a:ext cx="180022" cy="255270"/>
            </a:xfrm>
            <a:custGeom>
              <a:avLst/>
              <a:gdLst/>
              <a:ahLst/>
              <a:cxnLst/>
              <a:rect l="l" t="t" r="r" b="b"/>
              <a:pathLst>
                <a:path w="180022" h="255270">
                  <a:moveTo>
                    <a:pt x="180022" y="0"/>
                  </a:moveTo>
                  <a:lnTo>
                    <a:pt x="0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878955" y="2707005"/>
              <a:ext cx="180975" cy="255270"/>
            </a:xfrm>
            <a:custGeom>
              <a:avLst/>
              <a:gdLst/>
              <a:ahLst/>
              <a:cxnLst/>
              <a:rect l="l" t="t" r="r" b="b"/>
              <a:pathLst>
                <a:path w="180975" h="255270">
                  <a:moveTo>
                    <a:pt x="0" y="0"/>
                  </a:moveTo>
                  <a:lnTo>
                    <a:pt x="180975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843838" y="2707005"/>
              <a:ext cx="180022" cy="255270"/>
            </a:xfrm>
            <a:custGeom>
              <a:avLst/>
              <a:gdLst/>
              <a:ahLst/>
              <a:cxnLst/>
              <a:rect l="l" t="t" r="r" b="b"/>
              <a:pathLst>
                <a:path w="180022" h="255270">
                  <a:moveTo>
                    <a:pt x="180022" y="0"/>
                  </a:moveTo>
                  <a:lnTo>
                    <a:pt x="0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164830" y="2707005"/>
              <a:ext cx="180022" cy="255270"/>
            </a:xfrm>
            <a:custGeom>
              <a:avLst/>
              <a:gdLst/>
              <a:ahLst/>
              <a:cxnLst/>
              <a:rect l="l" t="t" r="r" b="b"/>
              <a:pathLst>
                <a:path w="180022" h="255270">
                  <a:moveTo>
                    <a:pt x="0" y="0"/>
                  </a:moveTo>
                  <a:lnTo>
                    <a:pt x="180022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128760" y="2707005"/>
              <a:ext cx="180975" cy="255270"/>
            </a:xfrm>
            <a:custGeom>
              <a:avLst/>
              <a:gdLst/>
              <a:ahLst/>
              <a:cxnLst/>
              <a:rect l="l" t="t" r="r" b="b"/>
              <a:pathLst>
                <a:path w="180975" h="255270">
                  <a:moveTo>
                    <a:pt x="180975" y="0"/>
                  </a:moveTo>
                  <a:lnTo>
                    <a:pt x="0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450705" y="2707005"/>
              <a:ext cx="180022" cy="255270"/>
            </a:xfrm>
            <a:custGeom>
              <a:avLst/>
              <a:gdLst/>
              <a:ahLst/>
              <a:cxnLst/>
              <a:rect l="l" t="t" r="r" b="b"/>
              <a:pathLst>
                <a:path w="180022" h="255270">
                  <a:moveTo>
                    <a:pt x="0" y="0"/>
                  </a:moveTo>
                  <a:lnTo>
                    <a:pt x="180022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414635" y="2707005"/>
              <a:ext cx="180022" cy="255270"/>
            </a:xfrm>
            <a:custGeom>
              <a:avLst/>
              <a:gdLst/>
              <a:ahLst/>
              <a:cxnLst/>
              <a:rect l="l" t="t" r="r" b="b"/>
              <a:pathLst>
                <a:path w="180022" h="255270">
                  <a:moveTo>
                    <a:pt x="180022" y="0"/>
                  </a:moveTo>
                  <a:lnTo>
                    <a:pt x="0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35628" y="2707005"/>
              <a:ext cx="180975" cy="255270"/>
            </a:xfrm>
            <a:custGeom>
              <a:avLst/>
              <a:gdLst/>
              <a:ahLst/>
              <a:cxnLst/>
              <a:rect l="l" t="t" r="r" b="b"/>
              <a:pathLst>
                <a:path w="180975" h="255270">
                  <a:moveTo>
                    <a:pt x="0" y="0"/>
                  </a:moveTo>
                  <a:lnTo>
                    <a:pt x="180975" y="2552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487478" y="3185160"/>
              <a:ext cx="9525" cy="210503"/>
            </a:xfrm>
            <a:custGeom>
              <a:avLst/>
              <a:gdLst/>
              <a:ahLst/>
              <a:cxnLst/>
              <a:rect l="l" t="t" r="r" b="b"/>
              <a:pathLst>
                <a:path w="9525" h="210503">
                  <a:moveTo>
                    <a:pt x="0" y="0"/>
                  </a:moveTo>
                  <a:lnTo>
                    <a:pt x="0" y="21050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6375083" y="3405188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018020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660958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302942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945880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9588818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10231755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874692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6375083" y="2949892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6696075" y="2495550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981950" y="2495550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7339012" y="2040255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267825" y="2495550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10552748" y="2495550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9909810" y="2040255"/>
              <a:ext cx="224790" cy="22479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F4B9A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624888" y="1584960"/>
              <a:ext cx="224790" cy="22479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2746" y="34613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0668" y="30060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98621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40606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83544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626481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269419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912356" y="300609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47731" y="30060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68723" y="25517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054598" y="25517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11661" y="209645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340473" y="25517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625396" y="255174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982458" y="209645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697536" y="16411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027670" y="18459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059226" y="18759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313545" y="184594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45101" y="187594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063740" y="23012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95296" y="2330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7706678" y="23012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738233" y="2330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9634538" y="23012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666093" y="2330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277475" y="230124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309031" y="23302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581775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613331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902768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934323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7866698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898253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188642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220198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152572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184128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473565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505121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0437495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469051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0759440" y="275653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790996" y="27855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420802" y="321183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52358" y="3240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5857439" y="182784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5857439" y="22831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857439" y="273748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x₃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5857439" y="319278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x₄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620650" y="3420428"/>
              <a:ext cx="8031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… 共 63 个结点</a:t>
              </a:r>
            </a:p>
          </p:txBody>
        </p:sp>
      </p:grpSp>
      <p:grpSp>
        <p:nvGrpSpPr>
          <p:cNvPr id="117" name="c2-card-2"/>
          <p:cNvGrpSpPr/>
          <p:nvPr/>
        </p:nvGrpSpPr>
        <p:grpSpPr>
          <a:xfrm>
            <a:off x="5815965" y="3866198"/>
            <a:ext cx="5842635" cy="1466850"/>
            <a:chOff x="5815965" y="3866198"/>
            <a:chExt cx="5842635" cy="1466850"/>
          </a:xfrm>
        </p:grpSpPr>
        <p:sp>
          <p:nvSpPr>
            <p:cNvPr id="112" name="Rectangle 112"/>
            <p:cNvSpPr/>
            <p:nvPr/>
          </p:nvSpPr>
          <p:spPr>
            <a:xfrm>
              <a:off x="5815965" y="3866198"/>
              <a:ext cx="5842635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5825490" y="3999548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6046470" y="405860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121908" y="409289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原讲解的例子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039612" y="4414838"/>
              <a:ext cx="516578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10，k = 5，U = −2，X = (1, 0, 0, 1, 1)：顶点 1、4、5 成团，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B(X) 为真；ĉ(X) = −3 − 5 = −8 &lt; U，X 进活结点表；u(X) = −3 &lt;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U，U 改为 −3。</a:t>
              </a:r>
            </a:p>
          </p:txBody>
        </p:sp>
      </p:grpSp>
      <p:grpSp>
        <p:nvGrpSpPr>
          <p:cNvPr id="12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18" name="Rectangle 11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2" name="Group 12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0" name="Freeform 12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3" name="TextBox 123"/>
            <p:cNvSpPr txBox="1"/>
            <p:nvPr/>
          </p:nvSpPr>
          <p:spPr>
            <a:xfrm>
              <a:off x="1040892" y="6023610"/>
              <a:ext cx="8355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子集树有 2⁵ = 32 片叶子（层次编号，共 63 个结点）；每条路径判断是否成团 O(n)，最坏 O(n·2ⁿ)。</a:t>
              </a:r>
            </a:p>
          </p:txBody>
        </p:sp>
      </p:grpSp>
      <p:grpSp>
        <p:nvGrpSpPr>
          <p:cNvPr id="12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5" name="TextBox 125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40307" cy="909257"/>
            <a:chOff x="520446" y="342900"/>
            <a:chExt cx="107403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40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方法二：例图上执行 LC 分支限界，9 个 E-结点后得到 {1, 2, 5}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5" name="c1-graph-1"/>
          <p:cNvGrpSpPr/>
          <p:nvPr/>
        </p:nvGrpSpPr>
        <p:grpSpPr>
          <a:xfrm>
            <a:off x="945832" y="1644015"/>
            <a:ext cx="5009198" cy="3322796"/>
            <a:chOff x="945832" y="1644015"/>
            <a:chExt cx="5009198" cy="3322796"/>
          </a:xfrm>
        </p:grpSpPr>
        <p:sp>
          <p:nvSpPr>
            <p:cNvPr id="7" name="Freeform 7"/>
            <p:cNvSpPr/>
            <p:nvPr/>
          </p:nvSpPr>
          <p:spPr>
            <a:xfrm>
              <a:off x="2635568" y="1830705"/>
              <a:ext cx="1165860" cy="465773"/>
            </a:xfrm>
            <a:custGeom>
              <a:avLst/>
              <a:gdLst/>
              <a:ahLst/>
              <a:cxnLst/>
              <a:rect l="l" t="t" r="r" b="b"/>
              <a:pathLst>
                <a:path w="1165860" h="465773">
                  <a:moveTo>
                    <a:pt x="1165860" y="0"/>
                  </a:moveTo>
                  <a:lnTo>
                    <a:pt x="0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066222" y="1830705"/>
              <a:ext cx="1161097" cy="465773"/>
            </a:xfrm>
            <a:custGeom>
              <a:avLst/>
              <a:gdLst/>
              <a:ahLst/>
              <a:cxnLst/>
              <a:rect l="l" t="t" r="r" b="b"/>
              <a:pathLst>
                <a:path w="1161097" h="465773">
                  <a:moveTo>
                    <a:pt x="0" y="0"/>
                  </a:moveTo>
                  <a:lnTo>
                    <a:pt x="1161097" y="4657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672590" y="2423160"/>
              <a:ext cx="707708" cy="424815"/>
            </a:xfrm>
            <a:custGeom>
              <a:avLst/>
              <a:gdLst/>
              <a:ahLst/>
              <a:cxnLst/>
              <a:rect l="l" t="t" r="r" b="b"/>
              <a:pathLst>
                <a:path w="707708" h="424815">
                  <a:moveTo>
                    <a:pt x="707708" y="0"/>
                  </a:moveTo>
                  <a:lnTo>
                    <a:pt x="0" y="4248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625090" y="2423160"/>
              <a:ext cx="707707" cy="424815"/>
            </a:xfrm>
            <a:custGeom>
              <a:avLst/>
              <a:gdLst/>
              <a:ahLst/>
              <a:cxnLst/>
              <a:rect l="l" t="t" r="r" b="b"/>
              <a:pathLst>
                <a:path w="707707" h="424815">
                  <a:moveTo>
                    <a:pt x="0" y="0"/>
                  </a:moveTo>
                  <a:lnTo>
                    <a:pt x="707707" y="4248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993005" y="2461260"/>
              <a:ext cx="278130" cy="347662"/>
            </a:xfrm>
            <a:custGeom>
              <a:avLst/>
              <a:gdLst/>
              <a:ahLst/>
              <a:cxnLst/>
              <a:rect l="l" t="t" r="r" b="b"/>
              <a:pathLst>
                <a:path w="278130" h="347662">
                  <a:moveTo>
                    <a:pt x="278130" y="0"/>
                  </a:moveTo>
                  <a:lnTo>
                    <a:pt x="0" y="3476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449252" y="2460308"/>
              <a:ext cx="281940" cy="349567"/>
            </a:xfrm>
            <a:custGeom>
              <a:avLst/>
              <a:gdLst/>
              <a:ahLst/>
              <a:cxnLst/>
              <a:rect l="l" t="t" r="r" b="b"/>
              <a:pathLst>
                <a:path w="281940" h="349567">
                  <a:moveTo>
                    <a:pt x="0" y="0"/>
                  </a:moveTo>
                  <a:lnTo>
                    <a:pt x="281940" y="3495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88720" y="3032760"/>
              <a:ext cx="271463" cy="336233"/>
            </a:xfrm>
            <a:custGeom>
              <a:avLst/>
              <a:gdLst/>
              <a:ahLst/>
              <a:cxnLst/>
              <a:rect l="l" t="t" r="r" b="b"/>
              <a:pathLst>
                <a:path w="271463" h="336233">
                  <a:moveTo>
                    <a:pt x="271463" y="0"/>
                  </a:moveTo>
                  <a:lnTo>
                    <a:pt x="0" y="33623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39252" y="3032760"/>
              <a:ext cx="277177" cy="348615"/>
            </a:xfrm>
            <a:custGeom>
              <a:avLst/>
              <a:gdLst/>
              <a:ahLst/>
              <a:cxnLst/>
              <a:rect l="l" t="t" r="r" b="b"/>
              <a:pathLst>
                <a:path w="277177" h="348615">
                  <a:moveTo>
                    <a:pt x="0" y="0"/>
                  </a:moveTo>
                  <a:lnTo>
                    <a:pt x="277177" y="3486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48978" y="3050858"/>
              <a:ext cx="146685" cy="318135"/>
            </a:xfrm>
            <a:custGeom>
              <a:avLst/>
              <a:gdLst/>
              <a:ahLst/>
              <a:cxnLst/>
              <a:rect l="l" t="t" r="r" b="b"/>
              <a:pathLst>
                <a:path w="146685" h="318135">
                  <a:moveTo>
                    <a:pt x="146685" y="0"/>
                  </a:moveTo>
                  <a:lnTo>
                    <a:pt x="0" y="3181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14725" y="3050858"/>
              <a:ext cx="143828" cy="312420"/>
            </a:xfrm>
            <a:custGeom>
              <a:avLst/>
              <a:gdLst/>
              <a:ahLst/>
              <a:cxnLst/>
              <a:rect l="l" t="t" r="r" b="b"/>
              <a:pathLst>
                <a:path w="143828" h="312420">
                  <a:moveTo>
                    <a:pt x="0" y="0"/>
                  </a:moveTo>
                  <a:lnTo>
                    <a:pt x="143828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9260" y="3610928"/>
              <a:ext cx="225742" cy="330517"/>
            </a:xfrm>
            <a:custGeom>
              <a:avLst/>
              <a:gdLst/>
              <a:ahLst/>
              <a:cxnLst/>
              <a:rect l="l" t="t" r="r" b="b"/>
              <a:pathLst>
                <a:path w="225742" h="330517">
                  <a:moveTo>
                    <a:pt x="225742" y="0"/>
                  </a:moveTo>
                  <a:lnTo>
                    <a:pt x="0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86928" y="3609975"/>
              <a:ext cx="234315" cy="337185"/>
            </a:xfrm>
            <a:custGeom>
              <a:avLst/>
              <a:gdLst/>
              <a:ahLst/>
              <a:cxnLst/>
              <a:rect l="l" t="t" r="r" b="b"/>
              <a:pathLst>
                <a:path w="234315" h="337185">
                  <a:moveTo>
                    <a:pt x="0" y="0"/>
                  </a:moveTo>
                  <a:lnTo>
                    <a:pt x="234315" y="337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200275" y="4194810"/>
              <a:ext cx="142875" cy="312420"/>
            </a:xfrm>
            <a:custGeom>
              <a:avLst/>
              <a:gdLst/>
              <a:ahLst/>
              <a:cxnLst/>
              <a:rect l="l" t="t" r="r" b="b"/>
              <a:pathLst>
                <a:path w="142875" h="312420">
                  <a:moveTo>
                    <a:pt x="142875" y="0"/>
                  </a:moveTo>
                  <a:lnTo>
                    <a:pt x="0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463165" y="4194810"/>
              <a:ext cx="142875" cy="312420"/>
            </a:xfrm>
            <a:custGeom>
              <a:avLst/>
              <a:gdLst/>
              <a:ahLst/>
              <a:cxnLst/>
              <a:rect l="l" t="t" r="r" b="b"/>
              <a:pathLst>
                <a:path w="142875" h="312420">
                  <a:moveTo>
                    <a:pt x="0" y="0"/>
                  </a:moveTo>
                  <a:lnTo>
                    <a:pt x="142875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588192" y="3038475"/>
              <a:ext cx="234315" cy="337185"/>
            </a:xfrm>
            <a:custGeom>
              <a:avLst/>
              <a:gdLst/>
              <a:ahLst/>
              <a:cxnLst/>
              <a:rect l="l" t="t" r="r" b="b"/>
              <a:pathLst>
                <a:path w="234315" h="337185">
                  <a:moveTo>
                    <a:pt x="234315" y="0"/>
                  </a:moveTo>
                  <a:lnTo>
                    <a:pt x="0" y="3371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984432" y="3039428"/>
              <a:ext cx="230505" cy="335280"/>
            </a:xfrm>
            <a:custGeom>
              <a:avLst/>
              <a:gdLst/>
              <a:ahLst/>
              <a:cxnLst/>
              <a:rect l="l" t="t" r="r" b="b"/>
              <a:pathLst>
                <a:path w="230505" h="335280">
                  <a:moveTo>
                    <a:pt x="0" y="0"/>
                  </a:moveTo>
                  <a:lnTo>
                    <a:pt x="230505" y="3352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00538" y="3622358"/>
              <a:ext cx="146685" cy="319088"/>
            </a:xfrm>
            <a:custGeom>
              <a:avLst/>
              <a:gdLst/>
              <a:ahLst/>
              <a:cxnLst/>
              <a:rect l="l" t="t" r="r" b="b"/>
              <a:pathLst>
                <a:path w="146685" h="319088">
                  <a:moveTo>
                    <a:pt x="146685" y="0"/>
                  </a:moveTo>
                  <a:lnTo>
                    <a:pt x="0" y="3190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4566285" y="3622358"/>
              <a:ext cx="143828" cy="312420"/>
            </a:xfrm>
            <a:custGeom>
              <a:avLst/>
              <a:gdLst/>
              <a:ahLst/>
              <a:cxnLst/>
              <a:rect l="l" t="t" r="r" b="b"/>
              <a:pathLst>
                <a:path w="143828" h="312420">
                  <a:moveTo>
                    <a:pt x="0" y="0"/>
                  </a:moveTo>
                  <a:lnTo>
                    <a:pt x="143828" y="31242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45832" y="3368992"/>
              <a:ext cx="28575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471612" y="3941445"/>
              <a:ext cx="28575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006918" y="4503420"/>
              <a:ext cx="266700" cy="2667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532698" y="4503420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048952" y="3368992"/>
              <a:ext cx="28575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584258" y="3359468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00512" y="3941445"/>
              <a:ext cx="285750" cy="247650"/>
            </a:xfrm>
            <a:prstGeom prst="roundRect">
              <a:avLst>
                <a:gd name="adj" fmla="val 1538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4635818" y="3931920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162550" y="3359468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688330" y="2787968"/>
              <a:ext cx="266700" cy="266700"/>
            </a:xfrm>
            <a:prstGeom prst="ellipse">
              <a:avLst/>
            </a:prstGeom>
            <a:solidFill>
              <a:srgbClr val="FDECEA"/>
            </a:solidFill>
            <a:ln w="17145">
              <a:solidFill>
                <a:srgbClr val="B4231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2269808" y="3931920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872615" y="335946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416368" y="278796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3321368" y="278796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2368868" y="2215515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4372928" y="335946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4771072" y="2787968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5226368" y="2215515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800475" y="1644015"/>
              <a:ext cx="266700" cy="266700"/>
            </a:xfrm>
            <a:prstGeom prst="ellipse">
              <a:avLst/>
            </a:prstGeom>
            <a:solidFill>
              <a:srgbClr val="2F4B9A"/>
            </a:solidFill>
            <a:ln w="17145">
              <a:solidFill>
                <a:srgbClr val="2F4B9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5660" y="34323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33346" y="40038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59126" y="45762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74791" y="480488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84906" y="457628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00571" y="480488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10686" y="34323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36466" y="34323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52131" y="36609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62246" y="40038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88026" y="40038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703691" y="423338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214759" y="34323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30424" y="36609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778633" y="28608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756204" y="308943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322016" y="40038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962918" y="34323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506670" y="28608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11670" y="28608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459170" y="2288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425136" y="34323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861375" y="28608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16670" y="22883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3890778" y="171688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3151822" y="19850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183378" y="20140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580572" y="19850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612128" y="20140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959292" y="25565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990848" y="25855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911792" y="25565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2943348" y="25855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065395" y="25565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096951" y="25855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523548" y="25565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555103" y="25855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257300" y="312229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288856" y="31513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711642" y="312801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743198" y="31580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255645" y="31318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287201" y="31608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3519488" y="31289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551043" y="31580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1744980" y="3697605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776536" y="372665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137410" y="37004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2168966" y="37295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2205038" y="42719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2236593" y="43019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2467928" y="42719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2499483" y="430196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638675" y="31289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670231" y="31580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5033010" y="31289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5064566" y="31580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4307205" y="37033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4338761" y="37323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4571048" y="370046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4602603" y="37295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07" name="c1-text-2"/>
          <p:cNvGrpSpPr/>
          <p:nvPr/>
        </p:nvGrpSpPr>
        <p:grpSpPr>
          <a:xfrm>
            <a:off x="526923" y="5355431"/>
            <a:ext cx="5328666" cy="500824"/>
            <a:chOff x="526923" y="5355431"/>
            <a:chExt cx="5328666" cy="500824"/>
          </a:xfrm>
        </p:grpSpPr>
        <p:sp>
          <p:nvSpPr>
            <p:cNvPr id="106" name="TextBox 106"/>
            <p:cNvSpPr txBox="1"/>
            <p:nvPr/>
          </p:nvSpPr>
          <p:spPr>
            <a:xfrm>
              <a:off x="526923" y="5355431"/>
              <a:ext cx="532866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结点按子集树层次编号，没被扩展的结点下方标 ĉ。灰色方形：B 为假；红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色：ĉ ≥ U 舍弃；绿色：答案结点</a:t>
              </a:r>
            </a:p>
          </p:txBody>
        </p:sp>
      </p:grpSp>
      <p:grpSp>
        <p:nvGrpSpPr>
          <p:cNvPr id="156" name="c2-table-1"/>
          <p:cNvGrpSpPr/>
          <p:nvPr/>
        </p:nvGrpSpPr>
        <p:grpSpPr>
          <a:xfrm>
            <a:off x="6675120" y="1524000"/>
            <a:ext cx="4983480" cy="4783932"/>
            <a:chOff x="6675120" y="1524000"/>
            <a:chExt cx="4983480" cy="4783932"/>
          </a:xfrm>
        </p:grpSpPr>
        <p:sp>
          <p:nvSpPr>
            <p:cNvPr id="108" name="Rectangle 108"/>
            <p:cNvSpPr/>
            <p:nvPr/>
          </p:nvSpPr>
          <p:spPr>
            <a:xfrm>
              <a:off x="6680835" y="1524000"/>
              <a:ext cx="4977765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795046" y="1659731"/>
              <a:ext cx="567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E-结点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8307067" y="1659731"/>
              <a:ext cx="16262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生成的儿子（ĉ / u）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151876" y="165973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02274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584948" y="210835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2(−5/−1) 3(−4/0)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0967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680835" y="24164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680835" y="242125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02274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584948" y="2556986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4(−5/−2) 5(−4/−1)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109676" y="255698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680835" y="286607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02274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584948" y="300561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✗（1、3 不相邻）9(−4/−2)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109676" y="30056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6680835" y="331470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6680835" y="3319462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702274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584948" y="3454241"/>
              <a:ext cx="2554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 ✗（2、4 不相邻）19(−3/−2)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0967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6680835" y="376332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702274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584948" y="3903821"/>
              <a:ext cx="14517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✗，11(−3/−1)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109676" y="390382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6680835" y="421195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6680835" y="4216718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02274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7584948" y="4352449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6(−4/−1) 7(−3/0)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109676" y="435244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6680835" y="46605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7022747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7584948" y="4801076"/>
              <a:ext cx="1770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12(−4/−2) 13(−3/−1)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109676" y="480107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42" name="Rectangle 142"/>
            <p:cNvSpPr/>
            <p:nvPr/>
          </p:nvSpPr>
          <p:spPr>
            <a:xfrm>
              <a:off x="6680835" y="51101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6680835" y="511492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972992" y="52497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584948" y="5249704"/>
              <a:ext cx="25545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24 ✗（3、4 不相邻）25(−3/−2)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109676" y="524970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6680835" y="55587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6972992" y="56983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7584948" y="5698331"/>
              <a:ext cx="2666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38(−3/−3) 是团 {1, 2, 5}，39 舍</a:t>
              </a:r>
            </a:p>
          </p:txBody>
        </p:sp>
        <p:sp>
          <p:nvSpPr>
            <p:cNvPr id="150" name="Rectangle 150"/>
            <p:cNvSpPr/>
            <p:nvPr/>
          </p:nvSpPr>
          <p:spPr>
            <a:xfrm>
              <a:off x="10771822" y="5573078"/>
              <a:ext cx="87725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11109676" y="569833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152" name="Rectangle 152"/>
            <p:cNvSpPr/>
            <p:nvPr/>
          </p:nvSpPr>
          <p:spPr>
            <a:xfrm>
              <a:off x="6680835" y="1524000"/>
              <a:ext cx="4977765" cy="44881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53" name="Rectangle 153"/>
            <p:cNvSpPr/>
            <p:nvPr/>
          </p:nvSpPr>
          <p:spPr>
            <a:xfrm>
              <a:off x="7472362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10757535" y="1524000"/>
              <a:ext cx="9525" cy="44881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5" name="TextBox 155"/>
            <p:cNvSpPr txBox="1"/>
            <p:nvPr/>
          </p:nvSpPr>
          <p:spPr>
            <a:xfrm>
              <a:off x="6675120" y="6087904"/>
              <a:ext cx="41238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ĉ 相同时先取层数深的；最后剩下的 ĉ 都是 −3 ≥ U，全部舍弃</a:t>
              </a:r>
            </a:p>
          </p:txBody>
        </p:sp>
      </p:grpSp>
      <p:grpSp>
        <p:nvGrpSpPr>
          <p:cNvPr id="1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7" name="TextBox 157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5672" cy="909257"/>
            <a:chOff x="520446" y="342900"/>
            <a:chExt cx="65456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 · 建模并设计算法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56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复核：例图有 3 个最大团，大小都是 3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able-1"/>
          <p:cNvGrpSpPr/>
          <p:nvPr/>
        </p:nvGrpSpPr>
        <p:grpSpPr>
          <a:xfrm>
            <a:off x="527685" y="1524000"/>
            <a:ext cx="5415915" cy="3663792"/>
            <a:chOff x="527685" y="1524000"/>
            <a:chExt cx="5415915" cy="3663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9094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464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4289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生成结点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52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穷举 2⁵ 个顶点子集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815590" y="1982152"/>
              <a:ext cx="1820228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913888" y="2108359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{1,2,5} {1,4,5}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{2,3,5}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3166" y="22217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2783681"/>
              <a:ext cx="1426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 m = 3 回溯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13888" y="2783681"/>
              <a:ext cx="1176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 {1, 2, 5}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3166" y="27836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232309"/>
              <a:ext cx="14263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 m = 4 回溯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13888" y="3232309"/>
              <a:ext cx="555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 4 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3166" y="3232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680936"/>
              <a:ext cx="1388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LC，ĉ ≥ U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913888" y="368093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5}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3166" y="368093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9900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4130516"/>
              <a:ext cx="13884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LC，ĉ &gt; U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13888" y="413051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5}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53166" y="413051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386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444341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1223" y="4579144"/>
              <a:ext cx="1905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 FIFO，ĉ ≥ U / &gt;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13888" y="4579144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5}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3166" y="457914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 / 33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5410200" cy="33680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01302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640580" y="1524000"/>
              <a:ext cx="9525" cy="33680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4967764"/>
              <a:ext cx="3132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生成结点都含根；方法二的静态树共 63 个结点</a:t>
              </a:r>
            </a:p>
          </p:txBody>
        </p:sp>
      </p:grpSp>
      <p:grpSp>
        <p:nvGrpSpPr>
          <p:cNvPr id="49" name="c1-callout-2"/>
          <p:cNvGrpSpPr/>
          <p:nvPr/>
        </p:nvGrpSpPr>
        <p:grpSpPr>
          <a:xfrm>
            <a:off x="533400" y="5334000"/>
            <a:ext cx="5410200" cy="782955"/>
            <a:chOff x="533400" y="5334000"/>
            <a:chExt cx="5410200" cy="782955"/>
          </a:xfrm>
        </p:grpSpPr>
        <p:sp>
          <p:nvSpPr>
            <p:cNvPr id="43" name="Rectangle 43"/>
            <p:cNvSpPr/>
            <p:nvPr/>
          </p:nvSpPr>
          <p:spPr>
            <a:xfrm>
              <a:off x="533400" y="533400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625465"/>
              <a:ext cx="200026" cy="200026"/>
              <a:chOff x="738188" y="562546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6254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6921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7254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130" y="5482590"/>
              <a:ext cx="45015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LC 在 ĉ 相同时先取深的结点，能更早碰到完整的团、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U 降到 −3，剩下的活结点就一次剪光。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248400" y="1524000"/>
            <a:ext cx="5410200" cy="1937385"/>
            <a:chOff x="6248400" y="1524000"/>
            <a:chExt cx="5410200" cy="1937385"/>
          </a:xfrm>
        </p:grpSpPr>
        <p:sp>
          <p:nvSpPr>
            <p:cNvPr id="50" name="Rectangle 50"/>
            <p:cNvSpPr/>
            <p:nvPr/>
          </p:nvSpPr>
          <p:spPr>
            <a:xfrm>
              <a:off x="6248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257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脚本核对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9880" y="211074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方法一：第 m 棵组合树结点数 C(n + 1, m) 对 n 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全部验证；Σ C(n, m)(m − 1) = (n − 2)·2ⁿ⁻¹ + 1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n ≤ 24 验证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01765" y="308038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59880" y="3017520"/>
              <a:ext cx="40942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方法二：原讲解例子 ĉ = −8、u = −3 复算一致</a:t>
              </a:r>
            </a:p>
          </p:txBody>
        </p:sp>
      </p:grpSp>
      <p:grpSp>
        <p:nvGrpSpPr>
          <p:cNvPr id="78" name="c2-compare-2"/>
          <p:cNvGrpSpPr/>
          <p:nvPr/>
        </p:nvGrpSpPr>
        <p:grpSpPr>
          <a:xfrm>
            <a:off x="6248400" y="3651885"/>
            <a:ext cx="5410200" cy="2465070"/>
            <a:chOff x="6248400" y="3651885"/>
            <a:chExt cx="5410200" cy="2465070"/>
          </a:xfrm>
        </p:grpSpPr>
        <p:sp>
          <p:nvSpPr>
            <p:cNvPr id="59" name="Rectangle 59"/>
            <p:cNvSpPr/>
            <p:nvPr/>
          </p:nvSpPr>
          <p:spPr>
            <a:xfrm>
              <a:off x="6248400" y="3651885"/>
              <a:ext cx="2495550" cy="2465070"/>
            </a:xfrm>
            <a:prstGeom prst="roundRect">
              <a:avLst>
                <a:gd name="adj" fmla="val 541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50330" y="3886200"/>
              <a:ext cx="2076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方法一（判定 + 回溯）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3665" y="43033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21780" y="4240530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m 一棵组合树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63665" y="46386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21780" y="4575810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找到一个 m 团就停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63665" y="49739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21780" y="491109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要对 m 逐个调用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163050" y="3651885"/>
              <a:ext cx="2495550" cy="2465070"/>
            </a:xfrm>
            <a:prstGeom prst="roundRect">
              <a:avLst>
                <a:gd name="adj" fmla="val 541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172575" y="3785235"/>
              <a:ext cx="47625" cy="2198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403080" y="38862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方法二（分支限界）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9416415" y="430339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574530" y="42405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一棵子集树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9416415" y="463867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574530" y="4575810"/>
              <a:ext cx="1832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ĉ、u、U 直接求最优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416415" y="4973955"/>
              <a:ext cx="64770" cy="6477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574530" y="491109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一次搜索得到最大团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8791575" y="472249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61915" y="481965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自测：把本次作业的做法用到新数据上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23135"/>
            <a:chOff x="533400" y="1524000"/>
            <a:chExt cx="3505200" cy="22231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2851309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同一棵树上，回溯法和 FIFO 分支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限界法给结点的生成次序各是什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3017520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回溯法是先序（深度优先），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是层次次序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37635"/>
            <a:ext cx="3505200" cy="2223135"/>
            <a:chOff x="533400" y="3937635"/>
            <a:chExt cx="3505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937635"/>
              <a:ext cx="3505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524375"/>
              <a:ext cx="296894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谜开局 ΣLESS(i) = 15，空格在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行第 2 列，目标可达吗？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5145405"/>
              <a:ext cx="2796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+ 2 为奇数，X = 1，15 + 1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16 为偶数，可达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651635"/>
            <a:chOff x="4343400" y="1524000"/>
            <a:chExt cx="3505200" cy="165163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651635"/>
            </a:xfrm>
            <a:prstGeom prst="roundRect">
              <a:avLst>
                <a:gd name="adj" fmla="val 80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5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4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110740"/>
              <a:ext cx="285226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皇后（每行每列不同）的静态树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有多少个结点？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45330" y="2731770"/>
              <a:ext cx="2690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+ 4 + 12 + 24 + 24 = 65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366135"/>
            <a:ext cx="3505200" cy="2794635"/>
            <a:chOff x="4343400" y="3366135"/>
            <a:chExt cx="3505200" cy="2794635"/>
          </a:xfrm>
        </p:grpSpPr>
        <p:sp>
          <p:nvSpPr>
            <p:cNvPr id="25" name="Rectangle 25"/>
            <p:cNvSpPr/>
            <p:nvPr/>
          </p:nvSpPr>
          <p:spPr>
            <a:xfrm>
              <a:off x="4343400" y="3366135"/>
              <a:ext cx="3505200" cy="2794635"/>
            </a:xfrm>
            <a:prstGeom prst="roundRect">
              <a:avLst>
                <a:gd name="adj" fmla="val 477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52950" y="35756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40437" y="36114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5330" y="3952875"/>
              <a:ext cx="263890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 若用 FIFO 且按 ĉ &gt; U 才舍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弃，生成多少结点？LC 呢？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5330" y="4573905"/>
              <a:ext cx="2777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FIFO 23 个，LC 16 个；按 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U 舍弃时两者都是 16 个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508885"/>
            <a:chOff x="8153400" y="1524000"/>
            <a:chExt cx="3505200" cy="250888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6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5330" y="2110740"/>
              <a:ext cx="281749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子集和 W = (2, 3, 5, 10)，M =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10，结点 (1, 1, 1) 该剪掉吗？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5330" y="2731770"/>
              <a:ext cx="29394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不该。s = 10 = M，已凑够，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(1, 1, 1, 0)；它的 B 第二个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 10 + 10 &gt; 10 为假，只看 B 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把答案剪掉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223385"/>
            <a:ext cx="3505200" cy="1937385"/>
            <a:chOff x="8153400" y="4223385"/>
            <a:chExt cx="3505200" cy="1937385"/>
          </a:xfrm>
        </p:grpSpPr>
        <p:sp>
          <p:nvSpPr>
            <p:cNvPr id="37" name="Rectangle 37"/>
            <p:cNvSpPr/>
            <p:nvPr/>
          </p:nvSpPr>
          <p:spPr>
            <a:xfrm>
              <a:off x="8153400" y="4223385"/>
              <a:ext cx="3505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62950" y="44329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50437" y="44686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5330" y="4810125"/>
              <a:ext cx="286131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 例图再加一条边 2–4，最大团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5330" y="5431155"/>
              <a:ext cx="2806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 2, 4, 5}：6 条边 1-2、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1-4、1-5、2-4、2-5、4-5 都在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94939" cy="909257"/>
            <a:chOff x="520446" y="342900"/>
            <a:chExt cx="47949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第7、8章 作业讲解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949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小结：7 题的结论、方法与更正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5842635" cy="3246120"/>
            <a:chOff x="533400" y="1524000"/>
            <a:chExt cx="5842635" cy="32461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4715" y="164830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0477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3462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3412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7295" y="2054066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一个儿子就深入 / 一次生成全部儿子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5250" y="2054066"/>
              <a:ext cx="1289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E-结点何时更换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3412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7295" y="2459831"/>
              <a:ext cx="2235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1957；205；10.5%（实际 153）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5250" y="245983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逐层计数，沿一条路径估计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3412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17295" y="286559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个结点，剪后 19 个，答案 8、27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5250" y="2865596"/>
              <a:ext cx="2231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B：s + r ≥ M 且 s + W(k+1) ≤ 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412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17295" y="3271361"/>
              <a:ext cx="15073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 + X = 22 可达；4 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05250" y="3271361"/>
              <a:ext cx="17799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判定定理，LC 取 ĉ = f + ĝ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3412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7295" y="3677126"/>
              <a:ext cx="2303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结点静态树；罚款 10，结点 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05250" y="3677126"/>
              <a:ext cx="2227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ĉ 计已放弃的作业，u 计全部未选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3412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17295" y="4082891"/>
              <a:ext cx="2024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 结点树；(2, 1, 3, 4)，13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05250" y="4082891"/>
              <a:ext cx="1481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取贪心，ĝ 取行最小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59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3412" y="4488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17295" y="4488656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结点组合树；例图 {1, 2, 5}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05250" y="448865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 + 回溯；0/1 元组分支限界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84263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11252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0047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945380"/>
            <a:ext cx="5842635" cy="1244918"/>
            <a:chOff x="533400" y="4945380"/>
            <a:chExt cx="5842635" cy="1244918"/>
          </a:xfrm>
        </p:grpSpPr>
        <p:sp>
          <p:nvSpPr>
            <p:cNvPr id="45" name="Rectangle 45"/>
            <p:cNvSpPr/>
            <p:nvPr/>
          </p:nvSpPr>
          <p:spPr>
            <a:xfrm>
              <a:off x="533400" y="4945380"/>
              <a:ext cx="5842635" cy="1244918"/>
            </a:xfrm>
            <a:prstGeom prst="roundRect">
              <a:avLst>
                <a:gd name="adj" fmla="val 1071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5805" y="513778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09244" y="517207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答题要点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4378" y="555021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90397" y="5494020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画树先写元组和约束，再定编号规则；执行搜索要逐步写出 E-结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点、B 或 ĉ、U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6680835" y="1524000"/>
            <a:ext cx="4977765" cy="2631758"/>
            <a:chOff x="6680835" y="1524000"/>
            <a:chExt cx="4977765" cy="2631758"/>
          </a:xfrm>
        </p:grpSpPr>
        <p:sp>
          <p:nvSpPr>
            <p:cNvPr id="51" name="Rectangle 51"/>
            <p:cNvSpPr/>
            <p:nvPr/>
          </p:nvSpPr>
          <p:spPr>
            <a:xfrm>
              <a:off x="6680835" y="1524000"/>
              <a:ext cx="4977765" cy="2631758"/>
            </a:xfrm>
            <a:prstGeom prst="roundRect">
              <a:avLst>
                <a:gd name="adj" fmla="val 5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690360" y="1657350"/>
              <a:ext cx="47625" cy="23650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11340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0779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911340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67018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92137" y="2072640"/>
              <a:ext cx="40513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题3：表头 W(i+1) 指 W(k+1)；前缀和恰为 M 时应先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收下，不能只按 B 剪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911340" y="262032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67018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92137" y="2632710"/>
              <a:ext cx="38541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题4：不生成与父结点相同的布局；补最后一层的 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（4 + 2、4 + 0）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911340" y="318039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67018" y="32187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92137" y="3192780"/>
              <a:ext cx="41027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题5：结点 6 生成时就被舍弃，只有结点 5 是出队时剪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911340" y="373951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67018" y="37788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92137" y="3751898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题7：xᵢ ≤ xᵢ₊₁ 应写 xᵢ &lt; xᵢ₊₁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680835" y="4330065"/>
            <a:ext cx="4977765" cy="1860232"/>
            <a:chOff x="6680835" y="4330065"/>
            <a:chExt cx="4977765" cy="1860232"/>
          </a:xfrm>
        </p:grpSpPr>
        <p:sp>
          <p:nvSpPr>
            <p:cNvPr id="68" name="Rectangle 68"/>
            <p:cNvSpPr/>
            <p:nvPr/>
          </p:nvSpPr>
          <p:spPr>
            <a:xfrm>
              <a:off x="6680835" y="4330065"/>
              <a:ext cx="4977765" cy="1860232"/>
            </a:xfrm>
            <a:prstGeom prst="roundRect">
              <a:avLst>
                <a:gd name="adj" fmla="val 7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690360" y="4463415"/>
              <a:ext cx="47625" cy="159353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11340" y="45224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002780" y="45567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919912" y="493585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75932" y="4879658"/>
              <a:ext cx="4357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题2：6 皇后实际扩展 153 个结点，单次估计 205 偏大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919912" y="523779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75932" y="5181600"/>
              <a:ext cx="3575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题6：补 LC 执行过程，最优 13，比贪心少 1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919912" y="554069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075932" y="5484495"/>
              <a:ext cx="3593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题7：补两种算法在 5 顶点例图上的执行过程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919912" y="584358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075932" y="5787390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舍弃规则 ≥ 与 &gt; 都正确，≥ 剪得更多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34202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算法设计与分析 · 第7、8章 回溯法与分支限界法 作业讲解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lgo_hw78">
  <a:themeElements>
    <a:clrScheme name="algo_hw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go_hw7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lgo_hw7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2026-09-23T10:52:04Z</dcterms:created>
  <dcterms:modified xsi:type="dcterms:W3CDTF">2026-09-23T10:52:04Z</dcterms:modified>
  <cp:category/>
  <cp:contentStatus/>
</cp:coreProperties>
</file>