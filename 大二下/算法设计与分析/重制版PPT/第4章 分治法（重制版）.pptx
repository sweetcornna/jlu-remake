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c3876bb55e4b63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6f81a525097cbd3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e15b40dd4dda10f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359473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7568" y="1718310"/>
              <a:ext cx="3471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第4章 · Divide and Conquer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拆成同类小问题，分别求解再合并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一般方法与计算时间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二分查找与归并排序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斯特拉森矩阵乘法与二维极大点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分治法的优化与主定理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555103" cy="205359"/>
            <a:chOff x="680466" y="6192202"/>
            <a:chExt cx="455510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55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自学复习版｜据吉林大学《算法设计与分析》第四章课件整理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59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适用条件、分-治-合、DANDC 控制过程与计算时间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4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BINSRCH、正确性、二元比较树、复杂度与查找下界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528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MERGESORT 与 MERGE、计算时间、排序下界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斯特拉森矩阵乘法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个子问题为什么不够快，7 个为什么就够了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二维极大点问题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中位线划分、按支配规则合并、预排序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分治法的优化与主定理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两类低效原因与对策，用主定理读出复杂度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写出分治法的抽象控制过程和计算时间递推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画出二分查找的二元比较树，算出平均比较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手工模拟 MERGESORT 的调用与 MERGE 的合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并过程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320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用展开法、递归树或主定理求解 T(n)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aT(n/b) + f(n)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说明比较型查找与排序的时间下界及证明思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分治法的一般方法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什么问题能分治，分治算法的骨架，运行时间怎样写成递推式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分治法适用的问题与求解思想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子问题个数与规模的选择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8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DANDC 抽象化控制与计算时间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分治法的一般方法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分治法：拆成同类的小问题，分别求解再合并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869180" cy="2158365"/>
            <a:chOff x="533400" y="1524000"/>
            <a:chExt cx="4869180" cy="2158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66211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033" y="1756410"/>
              <a:ext cx="1550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适用的问题（n 个输入）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很大，直接求解非常困难，甚至无法求出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能把 n 个输入分成 k 个不同子集，得到 k 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可独立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的子问题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98942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求出子问题的解后，能找到合适的方法把它们合并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成整个问题的解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871912"/>
            <a:ext cx="3817620" cy="1781556"/>
            <a:chOff x="533400" y="3871912"/>
            <a:chExt cx="3817620" cy="1781556"/>
          </a:xfrm>
        </p:grpSpPr>
        <p:sp>
          <p:nvSpPr>
            <p:cNvPr id="18" name="Rectangle 18"/>
            <p:cNvSpPr/>
            <p:nvPr/>
          </p:nvSpPr>
          <p:spPr>
            <a:xfrm>
              <a:off x="666750" y="4014788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3400" y="38719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9457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4881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561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1054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51792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904774"/>
              <a:ext cx="833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 Divide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18528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子问题与原问题具有相同的特征，但规模更小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4521994"/>
              <a:ext cx="10453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 Conquer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480250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对子问题反复使用分治策略，直到可以直接求解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5138261"/>
              <a:ext cx="1035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 Combine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41877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把子问题的解组合成原问题的解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5901741" y="1748790"/>
            <a:ext cx="5373953" cy="3756184"/>
            <a:chOff x="5901741" y="1748790"/>
            <a:chExt cx="5373953" cy="3756184"/>
          </a:xfrm>
        </p:grpSpPr>
        <p:sp>
          <p:nvSpPr>
            <p:cNvPr id="32" name="Freeform 32"/>
            <p:cNvSpPr/>
            <p:nvPr/>
          </p:nvSpPr>
          <p:spPr>
            <a:xfrm>
              <a:off x="7555230" y="2048828"/>
              <a:ext cx="1263015" cy="854393"/>
            </a:xfrm>
            <a:custGeom>
              <a:avLst/>
              <a:gdLst/>
              <a:ahLst/>
              <a:cxnLst/>
              <a:rect l="l" t="t" r="r" b="b"/>
              <a:pathLst>
                <a:path w="1263015" h="854393">
                  <a:moveTo>
                    <a:pt x="1263015" y="0"/>
                  </a:moveTo>
                  <a:lnTo>
                    <a:pt x="0" y="8543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476172" y="2863215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93345"/>
                  </a:moveTo>
                  <a:lnTo>
                    <a:pt x="52388" y="0"/>
                  </a:lnTo>
                  <a:lnTo>
                    <a:pt x="105728" y="7905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754428" y="2048828"/>
              <a:ext cx="240982" cy="816293"/>
            </a:xfrm>
            <a:custGeom>
              <a:avLst/>
              <a:gdLst/>
              <a:ahLst/>
              <a:cxnLst/>
              <a:rect l="l" t="t" r="r" b="b"/>
              <a:pathLst>
                <a:path w="240982" h="816293">
                  <a:moveTo>
                    <a:pt x="240982" y="0"/>
                  </a:moveTo>
                  <a:lnTo>
                    <a:pt x="0" y="8162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708708" y="2850832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19050" y="105727"/>
                  </a:moveTo>
                  <a:lnTo>
                    <a:pt x="0" y="0"/>
                  </a:lnTo>
                  <a:lnTo>
                    <a:pt x="91440" y="276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269730" y="2048828"/>
              <a:ext cx="1305877" cy="855345"/>
            </a:xfrm>
            <a:custGeom>
              <a:avLst/>
              <a:gdLst/>
              <a:ahLst/>
              <a:cxnLst/>
              <a:rect l="l" t="t" r="r" b="b"/>
              <a:pathLst>
                <a:path w="1305877" h="855345">
                  <a:moveTo>
                    <a:pt x="0" y="0"/>
                  </a:moveTo>
                  <a:lnTo>
                    <a:pt x="1305877" y="855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49890" y="286416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92392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54240" y="3256598"/>
              <a:ext cx="9525" cy="769620"/>
            </a:xfrm>
            <a:custGeom>
              <a:avLst/>
              <a:gdLst/>
              <a:ahLst/>
              <a:cxnLst/>
              <a:rect l="l" t="t" r="r" b="b"/>
              <a:pathLst>
                <a:path w="9525" h="769620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06615" y="40262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682990" y="3256598"/>
              <a:ext cx="9525" cy="769620"/>
            </a:xfrm>
            <a:custGeom>
              <a:avLst/>
              <a:gdLst/>
              <a:ahLst/>
              <a:cxnLst/>
              <a:rect l="l" t="t" r="r" b="b"/>
              <a:pathLst>
                <a:path w="9525" h="769620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635365" y="40262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885170" y="3256598"/>
              <a:ext cx="9525" cy="769620"/>
            </a:xfrm>
            <a:custGeom>
              <a:avLst/>
              <a:gdLst/>
              <a:ahLst/>
              <a:cxnLst/>
              <a:rect l="l" t="t" r="r" b="b"/>
              <a:pathLst>
                <a:path w="9525" h="769620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837545" y="40262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501890" y="4421505"/>
              <a:ext cx="1209675" cy="733425"/>
            </a:xfrm>
            <a:custGeom>
              <a:avLst/>
              <a:gdLst/>
              <a:ahLst/>
              <a:cxnLst/>
              <a:rect l="l" t="t" r="r" b="b"/>
              <a:pathLst>
                <a:path w="1209675" h="733425">
                  <a:moveTo>
                    <a:pt x="0" y="0"/>
                  </a:moveTo>
                  <a:lnTo>
                    <a:pt x="1209675" y="733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686800" y="511397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732520" y="4421505"/>
              <a:ext cx="228600" cy="692467"/>
            </a:xfrm>
            <a:custGeom>
              <a:avLst/>
              <a:gdLst/>
              <a:ahLst/>
              <a:cxnLst/>
              <a:rect l="l" t="t" r="r" b="b"/>
              <a:pathLst>
                <a:path w="228600" h="692467">
                  <a:moveTo>
                    <a:pt x="0" y="0"/>
                  </a:moveTo>
                  <a:lnTo>
                    <a:pt x="228600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915400" y="509873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75247" y="105728"/>
                  </a:moveTo>
                  <a:lnTo>
                    <a:pt x="0" y="30480"/>
                  </a:lnTo>
                  <a:lnTo>
                    <a:pt x="904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378315" y="4417695"/>
              <a:ext cx="1257300" cy="738187"/>
            </a:xfrm>
            <a:custGeom>
              <a:avLst/>
              <a:gdLst/>
              <a:ahLst/>
              <a:cxnLst/>
              <a:rect l="l" t="t" r="r" b="b"/>
              <a:pathLst>
                <a:path w="1257300" h="738187">
                  <a:moveTo>
                    <a:pt x="1257300" y="0"/>
                  </a:moveTo>
                  <a:lnTo>
                    <a:pt x="0" y="73818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295448" y="5114925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89535"/>
                  </a:moveTo>
                  <a:lnTo>
                    <a:pt x="58103" y="0"/>
                  </a:lnTo>
                  <a:lnTo>
                    <a:pt x="106680" y="828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64855" y="1748790"/>
              <a:ext cx="1351598" cy="300038"/>
            </a:xfrm>
            <a:prstGeom prst="roundRect">
              <a:avLst>
                <a:gd name="adj" fmla="val 31746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63715" y="2956560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91512" y="2956560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493692" y="2956560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05638" y="4121468"/>
              <a:ext cx="498158" cy="300038"/>
            </a:xfrm>
            <a:prstGeom prst="roundRect">
              <a:avLst>
                <a:gd name="adj" fmla="val 31746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34388" y="4121468"/>
              <a:ext cx="498158" cy="300038"/>
            </a:xfrm>
            <a:prstGeom prst="roundRect">
              <a:avLst>
                <a:gd name="adj" fmla="val 31746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635615" y="4121468"/>
              <a:ext cx="498158" cy="300038"/>
            </a:xfrm>
            <a:prstGeom prst="roundRect">
              <a:avLst>
                <a:gd name="adj" fmla="val 31746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499158" y="5204460"/>
              <a:ext cx="108204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39469" y="182832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问题（n 个输入）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55080" y="303609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83830" y="303609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20820" y="30360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86010" y="303609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k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05855" y="420195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解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34605" y="420195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解 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20820" y="42019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36785" y="420195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解 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82139" y="52849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整个问题的解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01741" y="236934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901741" y="357711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901741" y="474297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2" name="Rectangle 7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6011704"/>
              <a:ext cx="9018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子问题与原问题是同一类问题，“治”就是用同一个算法处理更小的输入，所以分治算法天然适合写成递归。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分治法的一般方法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子问题拆多少个、拆得是否均衡，都会影响效率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205038"/>
            <a:chOff x="533400" y="1524000"/>
            <a:chExt cx="4760595" cy="2205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276" y="176355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子问题个数 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0146" y="1767364"/>
              <a:ext cx="2668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显然 k &gt; 1，但 k 越大越好吗？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课件里用了一个蚯蚓的笑话：把自己切成两段、四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段还能去打球、打麻将，切成肉末就活不成了。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4191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越大，每个子问题越小，但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分与合的代价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也越大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38286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取到 n 时，每个子问题只剩 1 个元素，合并步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骤几乎要做完原问题的全部工作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13822"/>
            <a:ext cx="4760595" cy="1646872"/>
            <a:chOff x="533400" y="3913822"/>
            <a:chExt cx="4760595" cy="1646872"/>
          </a:xfrm>
        </p:grpSpPr>
        <p:sp>
          <p:nvSpPr>
            <p:cNvPr id="18" name="Rectangle 18"/>
            <p:cNvSpPr/>
            <p:nvPr/>
          </p:nvSpPr>
          <p:spPr>
            <a:xfrm>
              <a:off x="533400" y="3913822"/>
              <a:ext cx="4760595" cy="1646872"/>
            </a:xfrm>
            <a:prstGeom prst="roundRect">
              <a:avLst>
                <a:gd name="adj" fmla="val 69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637723"/>
              <a:ext cx="200026" cy="200026"/>
              <a:chOff x="738188" y="463772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6377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704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7377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506754"/>
              <a:ext cx="38286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本章的例子：二分查找每次只求解 1 个子问题，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 2 个，斯特拉森矩阵乘法 7 个。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5683568" y="1556385"/>
            <a:ext cx="5587365" cy="2273903"/>
            <a:chOff x="5683568" y="1556385"/>
            <a:chExt cx="5587365" cy="2273903"/>
          </a:xfrm>
        </p:grpSpPr>
        <p:sp>
          <p:nvSpPr>
            <p:cNvPr id="25" name="Freeform 25"/>
            <p:cNvSpPr/>
            <p:nvPr/>
          </p:nvSpPr>
          <p:spPr>
            <a:xfrm>
              <a:off x="6429375" y="2145030"/>
              <a:ext cx="386715" cy="375285"/>
            </a:xfrm>
            <a:custGeom>
              <a:avLst/>
              <a:gdLst/>
              <a:ahLst/>
              <a:cxnLst/>
              <a:rect l="l" t="t" r="r" b="b"/>
              <a:pathLst>
                <a:path w="386715" h="375285">
                  <a:moveTo>
                    <a:pt x="386715" y="0"/>
                  </a:moveTo>
                  <a:lnTo>
                    <a:pt x="0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48500" y="2145030"/>
              <a:ext cx="386715" cy="375285"/>
            </a:xfrm>
            <a:custGeom>
              <a:avLst/>
              <a:gdLst/>
              <a:ahLst/>
              <a:cxnLst/>
              <a:rect l="l" t="t" r="r" b="b"/>
              <a:pathLst>
                <a:path w="386715" h="375285">
                  <a:moveTo>
                    <a:pt x="0" y="0"/>
                  </a:moveTo>
                  <a:lnTo>
                    <a:pt x="386715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08370" y="2880360"/>
              <a:ext cx="151448" cy="289560"/>
            </a:xfrm>
            <a:custGeom>
              <a:avLst/>
              <a:gdLst/>
              <a:ahLst/>
              <a:cxnLst/>
              <a:rect l="l" t="t" r="r" b="b"/>
              <a:pathLst>
                <a:path w="151448" h="289560">
                  <a:moveTo>
                    <a:pt x="151448" y="0"/>
                  </a:moveTo>
                  <a:lnTo>
                    <a:pt x="0" y="2895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364605" y="2884170"/>
              <a:ext cx="135255" cy="281940"/>
            </a:xfrm>
            <a:custGeom>
              <a:avLst/>
              <a:gdLst/>
              <a:ahLst/>
              <a:cxnLst/>
              <a:rect l="l" t="t" r="r" b="b"/>
              <a:pathLst>
                <a:path w="135255" h="281940">
                  <a:moveTo>
                    <a:pt x="0" y="0"/>
                  </a:moveTo>
                  <a:lnTo>
                    <a:pt x="135255" y="281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64730" y="2884170"/>
              <a:ext cx="135255" cy="281940"/>
            </a:xfrm>
            <a:custGeom>
              <a:avLst/>
              <a:gdLst/>
              <a:ahLst/>
              <a:cxnLst/>
              <a:rect l="l" t="t" r="r" b="b"/>
              <a:pathLst>
                <a:path w="135255" h="281940">
                  <a:moveTo>
                    <a:pt x="135255" y="0"/>
                  </a:moveTo>
                  <a:lnTo>
                    <a:pt x="0" y="281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04772" y="2880360"/>
              <a:ext cx="151447" cy="289560"/>
            </a:xfrm>
            <a:custGeom>
              <a:avLst/>
              <a:gdLst/>
              <a:ahLst/>
              <a:cxnLst/>
              <a:rect l="l" t="t" r="r" b="b"/>
              <a:pathLst>
                <a:path w="151447" h="289560">
                  <a:moveTo>
                    <a:pt x="0" y="0"/>
                  </a:moveTo>
                  <a:lnTo>
                    <a:pt x="151447" y="2895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345930" y="2150745"/>
              <a:ext cx="383857" cy="409575"/>
            </a:xfrm>
            <a:custGeom>
              <a:avLst/>
              <a:gdLst/>
              <a:ahLst/>
              <a:cxnLst/>
              <a:rect l="l" t="t" r="r" b="b"/>
              <a:pathLst>
                <a:path w="383857" h="409575">
                  <a:moveTo>
                    <a:pt x="383857" y="0"/>
                  </a:moveTo>
                  <a:lnTo>
                    <a:pt x="0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951720" y="2150745"/>
              <a:ext cx="339090" cy="361950"/>
            </a:xfrm>
            <a:custGeom>
              <a:avLst/>
              <a:gdLst/>
              <a:ahLst/>
              <a:cxnLst/>
              <a:rect l="l" t="t" r="r" b="b"/>
              <a:pathLst>
                <a:path w="339090" h="361950">
                  <a:moveTo>
                    <a:pt x="0" y="0"/>
                  </a:moveTo>
                  <a:lnTo>
                    <a:pt x="339090" y="3619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946958" y="2850832"/>
              <a:ext cx="349568" cy="399097"/>
            </a:xfrm>
            <a:custGeom>
              <a:avLst/>
              <a:gdLst/>
              <a:ahLst/>
              <a:cxnLst/>
              <a:rect l="l" t="t" r="r" b="b"/>
              <a:pathLst>
                <a:path w="349568" h="399097">
                  <a:moveTo>
                    <a:pt x="349568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596562" y="2850832"/>
              <a:ext cx="305752" cy="349567"/>
            </a:xfrm>
            <a:custGeom>
              <a:avLst/>
              <a:gdLst/>
              <a:ahLst/>
              <a:cxnLst/>
              <a:rect l="l" t="t" r="r" b="b"/>
              <a:pathLst>
                <a:path w="305752" h="349567">
                  <a:moveTo>
                    <a:pt x="0" y="0"/>
                  </a:moveTo>
                  <a:lnTo>
                    <a:pt x="305752" y="3495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779895" y="187928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47422" y="246030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380922" y="246030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683568" y="315372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380798" y="315372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7548" y="315372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743825" y="315372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688830" y="187928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082088" y="252603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228897" y="246030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688830" y="321945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834688" y="3153728"/>
              <a:ext cx="436245" cy="4362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3044" y="1962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29222" y="26084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62722" y="26084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65367" y="33018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2597" y="33018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29347" y="33018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25624" y="33018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91979" y="1962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85236" y="2608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10697" y="26084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91979" y="3301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16487" y="330184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99857" y="1556385"/>
              <a:ext cx="1464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对半分：约 log n 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78760" y="155638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每次只分出 1 个元素：n 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8432" y="35809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98947" y="35809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5593080" y="4019550"/>
            <a:ext cx="6065520" cy="1585437"/>
            <a:chOff x="5593080" y="4019550"/>
            <a:chExt cx="6065520" cy="1585437"/>
          </a:xfrm>
        </p:grpSpPr>
        <p:sp>
          <p:nvSpPr>
            <p:cNvPr id="64" name="Rectangle 64"/>
            <p:cNvSpPr/>
            <p:nvPr/>
          </p:nvSpPr>
          <p:spPr>
            <a:xfrm>
              <a:off x="5598795" y="401955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79248" y="41500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划分方式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97886" y="4150042"/>
              <a:ext cx="170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递推式（合并代价 cn）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03242" y="41500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04142" y="458057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22464" y="4580572"/>
              <a:ext cx="1567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cn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88511" y="4580572"/>
              <a:ext cx="859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598795" y="48748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598795" y="487965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704142" y="5011102"/>
              <a:ext cx="102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 1 和 n−1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22464" y="5011102"/>
              <a:ext cx="2039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T(n−1) + T(1) + cn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88511" y="5011102"/>
              <a:ext cx="526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598795" y="4019550"/>
              <a:ext cx="605980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412355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078402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593080" y="5384959"/>
              <a:ext cx="5620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均衡时每层总代价 cn、共 log n 层；极不均衡时 n 层，总代价 c(n + (n−1) + … + 1)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1" name="Rectangle 8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511" y="600408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设计分治算法时尽量让子问题规模相近：规模越均衡，递归树越浅，总代价越小。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87131" cy="909257"/>
            <a:chOff x="520446" y="342900"/>
            <a:chExt cx="96871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分治法的一般方法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871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DANDC 抽象化控制：SMALL、G、DIVIDE、COMBINE 四个部件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858452"/>
            <a:chOff x="533400" y="1524000"/>
            <a:chExt cx="5193982" cy="28584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858452"/>
            </a:xfrm>
            <a:prstGeom prst="roundRect">
              <a:avLst>
                <a:gd name="adj" fmla="val 33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分治策略的抽象化控制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082" y="1940481"/>
              <a:ext cx="3673475" cy="2382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DANDC(p, q)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global n, A(1:n); integer m, p, q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31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 ≤ p ≤ q ≤ n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SMALL(p, q)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return (G(p, q))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m ← DIVIDE(p, q)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return (COMBINE(DANDC(p, m),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DANDC(m+1, q)))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DANDC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568190"/>
            <a:ext cx="5193982" cy="518160"/>
            <a:chOff x="533400" y="4568190"/>
            <a:chExt cx="5193982" cy="518160"/>
          </a:xfrm>
        </p:grpSpPr>
        <p:sp>
          <p:nvSpPr>
            <p:cNvPr id="11" name="Rectangle 11"/>
            <p:cNvSpPr/>
            <p:nvPr/>
          </p:nvSpPr>
          <p:spPr>
            <a:xfrm>
              <a:off x="533400" y="4568190"/>
              <a:ext cx="5193982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727258"/>
              <a:ext cx="200026" cy="200026"/>
              <a:chOff x="738188" y="472725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27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793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8272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4727734"/>
              <a:ext cx="3914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原问题为 A(1:n)，调用 DANDC(1, n) 求解。</a:t>
              </a:r>
            </a:p>
          </p:txBody>
        </p:sp>
      </p:grpSp>
      <p:grpSp>
        <p:nvGrpSpPr>
          <p:cNvPr id="29" name="c2-kv-1"/>
          <p:cNvGrpSpPr/>
          <p:nvPr/>
        </p:nvGrpSpPr>
        <p:grpSpPr>
          <a:xfrm>
            <a:off x="6024944" y="1547336"/>
            <a:ext cx="5633656" cy="1811275"/>
            <a:chOff x="6024944" y="1547336"/>
            <a:chExt cx="5633656" cy="1811275"/>
          </a:xfrm>
        </p:grpSpPr>
        <p:sp>
          <p:nvSpPr>
            <p:cNvPr id="18" name="TextBox 18"/>
            <p:cNvSpPr txBox="1"/>
            <p:nvPr/>
          </p:nvSpPr>
          <p:spPr>
            <a:xfrm>
              <a:off x="6024944" y="1547336"/>
              <a:ext cx="1267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SMALL(p, q)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5598" y="1547336"/>
              <a:ext cx="40957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判断输入规模 q−p+1 是否足够小，可以直接求解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32182" y="1853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4944" y="1969294"/>
              <a:ext cx="750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G(p, q)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5598" y="19692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直接求解小规模问题的函数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32182" y="2274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24944" y="2391251"/>
              <a:ext cx="1238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DIVIDE(p, q)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5598" y="2391251"/>
              <a:ext cx="383768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分割函数，返回 m（p ≤ m &lt; q），原问题被分为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A(p:m) 和 A(m+1:q) 两个子问题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32182" y="29641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4944" y="3079909"/>
              <a:ext cx="862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COMBINE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5598" y="307990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合并函数，把两个子问题的解合并为原问题的解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032182" y="3488055"/>
            <a:ext cx="5626418" cy="1598295"/>
            <a:chOff x="6032182" y="3488055"/>
            <a:chExt cx="5626418" cy="1598295"/>
          </a:xfrm>
        </p:grpSpPr>
        <p:sp>
          <p:nvSpPr>
            <p:cNvPr id="30" name="Rectangle 30"/>
            <p:cNvSpPr/>
            <p:nvPr/>
          </p:nvSpPr>
          <p:spPr>
            <a:xfrm>
              <a:off x="6032182" y="3488055"/>
              <a:ext cx="5626418" cy="1598295"/>
            </a:xfrm>
            <a:prstGeom prst="roundRect">
              <a:avLst>
                <a:gd name="adj" fmla="val 83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41708" y="3621405"/>
              <a:ext cx="47625" cy="13315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74118" y="36918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64326" y="37276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66879" y="40647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p ≤ m ≤ q。m = q 时第二个子问题 DANDC(q+1,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q) 为空，不满足 p ≤ q 的前提，应为 p ≤ m &lt; q。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6" name="Rectangle 3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04084"/>
              <a:ext cx="98415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与分-治-合的对应：DIVIDE 是“分”，两次递归调用 DANDC 是“治”，COMBINE 是“合”，SMALL 和 G 构成递归出口。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1623" cy="909257"/>
            <a:chOff x="520446" y="342900"/>
            <a:chExt cx="71216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分治法的一般方法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16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DANDC 的计算时间：T(n) = 2T(n/2) + f(n)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95534" cy="278702"/>
            <a:chOff x="526161" y="1547336"/>
            <a:chExt cx="669553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95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假设两个子问题的输入规模大致相等（各约 n/2），计算时间可以写成递推式。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"/>
              <p:cNvSpPr txBox="1">
                <a:spLocks noGrp="1"/>
              </p:cNvSpPr>
              <p:nvPr/>
            </p:nvSpPr>
            <p:spPr>
              <a:xfrm>
                <a:off x="533400" y="1941195"/>
                <a:ext cx="5085398" cy="1276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足够小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否则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kv-2"/>
          <p:cNvGrpSpPr/>
          <p:nvPr/>
        </p:nvGrpSpPr>
        <p:grpSpPr>
          <a:xfrm>
            <a:off x="526542" y="3415665"/>
            <a:ext cx="5092256" cy="1312735"/>
            <a:chOff x="526542" y="3415665"/>
            <a:chExt cx="5092256" cy="1312735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3415665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6624" y="3415665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输入规模为 n 时分治策略的计算时间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70427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81285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g(n)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6624" y="381285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输入规模足够小时直接算出答案的时间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10241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4211002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6624" y="4211002"/>
              <a:ext cx="419709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 合成原问题解的时间（DIVIDE 的时间也并入此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项）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851082"/>
            <a:ext cx="5085398" cy="1511618"/>
            <a:chOff x="533400" y="4851082"/>
            <a:chExt cx="5085398" cy="1511618"/>
          </a:xfrm>
        </p:grpSpPr>
        <p:sp>
          <p:nvSpPr>
            <p:cNvPr id="19" name="Rectangle 19"/>
            <p:cNvSpPr/>
            <p:nvPr/>
          </p:nvSpPr>
          <p:spPr>
            <a:xfrm>
              <a:off x="533400" y="4851082"/>
              <a:ext cx="5085398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84432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504348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5342" y="5077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对照本章的例子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54559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5399723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归并排序：g(n) = a（常数），f(n) = cn，即 T(n)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2T(n/2) + cn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60159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5959792"/>
              <a:ext cx="4500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二分查找：每次只递归 1 个子问题，T(n) = T(n/2) + c</a:t>
              </a:r>
            </a:p>
          </p:txBody>
        </p:sp>
      </p:grpSp>
      <p:grpSp>
        <p:nvGrpSpPr>
          <p:cNvPr id="48" name="c2-tree-1"/>
          <p:cNvGrpSpPr/>
          <p:nvPr/>
        </p:nvGrpSpPr>
        <p:grpSpPr>
          <a:xfrm>
            <a:off x="6304598" y="2025015"/>
            <a:ext cx="4973002" cy="1479233"/>
            <a:chOff x="6304598" y="2025015"/>
            <a:chExt cx="4973002" cy="1479233"/>
          </a:xfrm>
        </p:grpSpPr>
        <p:sp>
          <p:nvSpPr>
            <p:cNvPr id="28" name="Freeform 28"/>
            <p:cNvSpPr/>
            <p:nvPr/>
          </p:nvSpPr>
          <p:spPr>
            <a:xfrm>
              <a:off x="6640830" y="2765108"/>
              <a:ext cx="716280" cy="548640"/>
            </a:xfrm>
            <a:custGeom>
              <a:avLst/>
              <a:gdLst/>
              <a:ahLst/>
              <a:cxnLst/>
              <a:rect l="l" t="t" r="r" b="b"/>
              <a:pathLst>
                <a:path w="716280" h="548640">
                  <a:moveTo>
                    <a:pt x="716280" y="0"/>
                  </a:moveTo>
                  <a:lnTo>
                    <a:pt x="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57110" y="2765108"/>
              <a:ext cx="717233" cy="548640"/>
            </a:xfrm>
            <a:custGeom>
              <a:avLst/>
              <a:gdLst/>
              <a:ahLst/>
              <a:cxnLst/>
              <a:rect l="l" t="t" r="r" b="b"/>
              <a:pathLst>
                <a:path w="717233" h="548640">
                  <a:moveTo>
                    <a:pt x="0" y="0"/>
                  </a:moveTo>
                  <a:lnTo>
                    <a:pt x="717233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507855" y="2765108"/>
              <a:ext cx="717232" cy="548640"/>
            </a:xfrm>
            <a:custGeom>
              <a:avLst/>
              <a:gdLst/>
              <a:ahLst/>
              <a:cxnLst/>
              <a:rect l="l" t="t" r="r" b="b"/>
              <a:pathLst>
                <a:path w="717232" h="548640">
                  <a:moveTo>
                    <a:pt x="717232" y="0"/>
                  </a:moveTo>
                  <a:lnTo>
                    <a:pt x="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225088" y="2765108"/>
              <a:ext cx="716280" cy="548640"/>
            </a:xfrm>
            <a:custGeom>
              <a:avLst/>
              <a:gdLst/>
              <a:ahLst/>
              <a:cxnLst/>
              <a:rect l="l" t="t" r="r" b="b"/>
              <a:pathLst>
                <a:path w="716280" h="548640">
                  <a:moveTo>
                    <a:pt x="0" y="0"/>
                  </a:moveTo>
                  <a:lnTo>
                    <a:pt x="71628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357110" y="2216468"/>
              <a:ext cx="1434465" cy="548640"/>
            </a:xfrm>
            <a:custGeom>
              <a:avLst/>
              <a:gdLst/>
              <a:ahLst/>
              <a:cxnLst/>
              <a:rect l="l" t="t" r="r" b="b"/>
              <a:pathLst>
                <a:path w="1434465" h="548640">
                  <a:moveTo>
                    <a:pt x="1434465" y="0"/>
                  </a:moveTo>
                  <a:lnTo>
                    <a:pt x="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91575" y="2216468"/>
              <a:ext cx="1433512" cy="548640"/>
            </a:xfrm>
            <a:custGeom>
              <a:avLst/>
              <a:gdLst/>
              <a:ahLst/>
              <a:cxnLst/>
              <a:rect l="l" t="t" r="r" b="b"/>
              <a:pathLst>
                <a:path w="1433512" h="548640">
                  <a:moveTo>
                    <a:pt x="0" y="0"/>
                  </a:moveTo>
                  <a:lnTo>
                    <a:pt x="1433512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4598" y="312324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738110" y="312324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21830" y="257460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72575" y="312324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606088" y="312324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888855" y="2574608"/>
              <a:ext cx="671512" cy="381000"/>
            </a:xfrm>
            <a:prstGeom prst="roundRect">
              <a:avLst>
                <a:gd name="adj" fmla="val 2000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32495" y="2025015"/>
              <a:ext cx="517208" cy="381000"/>
            </a:xfrm>
            <a:prstGeom prst="roundRect">
              <a:avLst>
                <a:gd name="adj" fmla="val 20000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0605" y="324897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f(n/4)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24118" y="324897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6885" y="2699385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f(n/2)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57630" y="324897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91143" y="324897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f(n/4)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74863" y="2699385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f(n/2)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22981" y="215074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5918264" y="3763328"/>
            <a:ext cx="5740336" cy="2308479"/>
            <a:chOff x="5918264" y="3763328"/>
            <a:chExt cx="5740336" cy="2308479"/>
          </a:xfrm>
        </p:grpSpPr>
        <p:sp>
          <p:nvSpPr>
            <p:cNvPr id="49" name="Rectangle 49"/>
            <p:cNvSpPr/>
            <p:nvPr/>
          </p:nvSpPr>
          <p:spPr>
            <a:xfrm>
              <a:off x="5923598" y="3763328"/>
              <a:ext cx="573500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9235" y="38876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2759" y="3887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99601" y="3887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每个规模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76941" y="3887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本层代价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1086" y="4293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52845" y="42933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59687" y="42933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09822" y="42933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923598" y="457009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923598" y="4574858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61086" y="4699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52845" y="46991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76761" y="46991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9822" y="469915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2f(n/2)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23598" y="497586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80876" y="510492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11382" y="51049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35298" y="510492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n/2ⁱ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09822" y="510492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 · f(n/2ⁱ)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923598" y="538162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923598" y="5386388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26520" y="5510689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52845" y="55106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59687" y="55106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09822" y="551068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· g(1)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923598" y="3763328"/>
              <a:ext cx="573500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92315" y="376332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499158" y="376332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905048" y="376332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18264" y="5866448"/>
              <a:ext cx="4607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递归树逐层求和就是 T(n)；4.7 节的主定理给出了这类递推式的通用结论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每次只和中间元素比较一次，把查找范围缩小一半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334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问题描述、分治建模与 BINSRCH 算法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正确性证明与算法实例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二元比较树与时间复杂度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算法变型与比较型查找的时间下界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查找问题的分治建模：取中间下标 k，只留下一个子问题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167438" cy="1316355"/>
            <a:chOff x="533400" y="1524000"/>
            <a:chExt cx="616743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20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已知非降序排列 a1, a2, …, an，判定给定元素 x 是否在其中。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若是，找出 x 的位置并把下标赋给 j；否则 j 置成 0。</a:t>
              </a:r>
            </a:p>
          </p:txBody>
        </p:sp>
      </p:grpSp>
      <p:grpSp>
        <p:nvGrpSpPr>
          <p:cNvPr id="34" name="c1-cells-2"/>
          <p:cNvGrpSpPr/>
          <p:nvPr/>
        </p:nvGrpSpPr>
        <p:grpSpPr>
          <a:xfrm>
            <a:off x="527304" y="3078004"/>
            <a:ext cx="4385691" cy="676751"/>
            <a:chOff x="527304" y="3078004"/>
            <a:chExt cx="4385691" cy="676751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34709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14375" y="3335655"/>
              <a:ext cx="60007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5025" y="3470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14450" y="3335655"/>
              <a:ext cx="60007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61746" y="3470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14525" y="3335655"/>
              <a:ext cx="60007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20931" y="34709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ak−1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513648" y="3335655"/>
              <a:ext cx="60007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14297" y="3470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ak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13722" y="3335655"/>
              <a:ext cx="60007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21081" y="34709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ak+1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12845" y="3335655"/>
              <a:ext cx="60007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60141" y="3470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12920" y="3335655"/>
              <a:ext cx="60007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13570" y="3470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4377" y="3078004"/>
              <a:ext cx="800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I1（k−1 个）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576388" y="32404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06783" y="3078004"/>
              <a:ext cx="613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k（中间）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75585" y="32404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12772" y="3078004"/>
              <a:ext cx="800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I3（n−k 个）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974782" y="32404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F7A68"/>
            </a:solidFill>
            <a:ln>
              <a:noFill/>
            </a:ln>
          </p:spPr>
        </p:sp>
      </p:grpSp>
      <p:grpSp>
        <p:nvGrpSpPr>
          <p:cNvPr id="43" name="c1-kv-3"/>
          <p:cNvGrpSpPr/>
          <p:nvPr/>
        </p:nvGrpSpPr>
        <p:grpSpPr>
          <a:xfrm>
            <a:off x="525780" y="3970020"/>
            <a:ext cx="6175058" cy="1737360"/>
            <a:chOff x="525780" y="3970020"/>
            <a:chExt cx="6175058" cy="1737360"/>
          </a:xfrm>
        </p:grpSpPr>
        <p:sp>
          <p:nvSpPr>
            <p:cNvPr id="35" name="TextBox 35"/>
            <p:cNvSpPr txBox="1"/>
            <p:nvPr/>
          </p:nvSpPr>
          <p:spPr>
            <a:xfrm>
              <a:off x="525780" y="397002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1550" y="3970020"/>
              <a:ext cx="52825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(n, a1, …, an, x) 分成 I1 = (k−1, a1, …, ak−1, x)、I2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ak, x)、I3 = (n−k, ak+1, …, an, x)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720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469201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1550" y="4692015"/>
              <a:ext cx="53587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ak 时 j ← k，算法结束；x &lt; ak 时在 I1 中求解；x &gt; ak 时在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I3 中求解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29399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5780" y="541401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1550" y="5414010"/>
              <a:ext cx="2428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当前子问题的解就是 I 的解</a:t>
              </a:r>
            </a:p>
          </p:txBody>
        </p:sp>
      </p:grpSp>
      <p:grpSp>
        <p:nvGrpSpPr>
          <p:cNvPr id="46" name="c2-image-1"/>
          <p:cNvGrpSpPr/>
          <p:nvPr/>
        </p:nvGrpSpPr>
        <p:grpSpPr>
          <a:xfrm>
            <a:off x="7005638" y="1524000"/>
            <a:ext cx="4652962" cy="2267427"/>
            <a:chOff x="7005638" y="1524000"/>
            <a:chExt cx="4652962" cy="2267427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rcRect l="0" t="22023" r="0" b="22023"/>
            <a:stretch>
              <a:fillRect/>
            </a:stretch>
          </p:blipFill>
          <p:spPr>
            <a:xfrm>
              <a:off x="7005638" y="1524000"/>
              <a:ext cx="4652962" cy="1952625"/>
            </a:xfrm>
            <a:prstGeom prst="roundRect">
              <a:avLst>
                <a:gd name="adj" fmla="val 6829"/>
              </a:avLst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668362" y="357139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翻厚书找一页：先翻到中间，再决定往前还是往后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7005638" y="3956685"/>
            <a:ext cx="4652962" cy="2223135"/>
            <a:chOff x="7005638" y="3956685"/>
            <a:chExt cx="4652962" cy="2223135"/>
          </a:xfrm>
        </p:grpSpPr>
        <p:sp>
          <p:nvSpPr>
            <p:cNvPr id="47" name="Rectangle 47"/>
            <p:cNvSpPr/>
            <p:nvPr/>
          </p:nvSpPr>
          <p:spPr>
            <a:xfrm>
              <a:off x="7005638" y="3956685"/>
              <a:ext cx="4652962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15162" y="4090035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53288" y="41662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35596" y="42019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两个思考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259002" y="46062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17118" y="4543425"/>
              <a:ext cx="38047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取多少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：取中间位置，两侧剩余规模尽量相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259002" y="52273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17118" y="5164455"/>
              <a:ext cx="3777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为什么能丢掉另外两个子问题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：序列有序，x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ak 时 ak 及其后的元素都 ≥ ak &gt; x，x 不可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能在 I2、I3 中；x &gt; ak 时同理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57462" cy="909257"/>
            <a:chOff x="520446" y="342900"/>
            <a:chExt cx="42574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574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BINSRCH 算法与正确性证明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660458"/>
            <a:chOff x="533400" y="1524000"/>
            <a:chExt cx="5410200" cy="36604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660458"/>
            </a:xfrm>
            <a:prstGeom prst="roundRect">
              <a:avLst>
                <a:gd name="adj" fmla="val 260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44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BINSRCH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1941195"/>
              <a:ext cx="4094226" cy="319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BINSRCH(A, n, x, j)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high, mid, j, 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low ← 1; high ← 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low ≤ high do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⌊(low+high)/2⌋   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取中间值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case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&lt; A(mid): high ← mid−1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前一半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&gt; A(mid): low ← mid+1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后一半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:else: j ← mid; return  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查找成功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endcase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← 0                     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查找失败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BINSRCH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374958"/>
            <a:ext cx="5410200" cy="782955"/>
            <a:chOff x="533400" y="5374958"/>
            <a:chExt cx="541020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37495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66423"/>
              <a:ext cx="200026" cy="200026"/>
              <a:chOff x="738188" y="566642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664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733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7664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523548"/>
              <a:ext cx="4358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 case 语句算作一次关键字比较（三个分支），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这是分析时间的基本运算。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4633912"/>
            <a:chOff x="6248400" y="1524000"/>
            <a:chExt cx="5410200" cy="463391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633912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43672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5275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正确性证明（非形式）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43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检验参数的每类取值，检验算法的每个分支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7040" y="2465070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0：不进入循环，j = 0，算法终止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7040" y="280035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成功情况：若 x = A(mid)，则 j = mid，查找成功，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算法终止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34080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342138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&lt; A(mid)，x 不可能在 mid~high 中，查找范围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缩小到 low~mid−1；x &gt; A(mid) 时同理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40290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4071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4042410"/>
              <a:ext cx="4368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不成功情况：low、high、mid 都是整数，每轮范围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至少缩小 1，有限步内必有 low &gt; high，退出循环，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0，算法终止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573" y="494585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程序的正确性证明至今还是一个尚未解决的课题，这里只给出非形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式证明。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08770" cy="909257"/>
            <a:chOff x="520446" y="342900"/>
            <a:chExt cx="6508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08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实例：n = 9 时，四个不同的 x 各比较几次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273831" cy="308039"/>
            <a:chOff x="525399" y="1550194"/>
            <a:chExt cx="1127383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2738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A(1:9) = (−15, −6, 0, 7, 9, 23, 54, 82, 101)。序号表示第几次比较；绿色为找到，红色为最后一次比较后失败。</a:t>
              </a:r>
            </a:p>
          </p:txBody>
        </p:sp>
      </p:grpSp>
      <p:grpSp>
        <p:nvGrpSpPr>
          <p:cNvPr id="118" name="c1-cells-1"/>
          <p:cNvGrpSpPr/>
          <p:nvPr/>
        </p:nvGrpSpPr>
        <p:grpSpPr>
          <a:xfrm>
            <a:off x="527304" y="2015014"/>
            <a:ext cx="5280088" cy="3553301"/>
            <a:chOff x="527304" y="2015014"/>
            <a:chExt cx="5280088" cy="3553301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406968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 = 9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03008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2244" y="240696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4500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71335" y="24069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25992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29473" y="24069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37485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40966" y="24069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49930" y="2272665"/>
              <a:ext cx="5114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52458" y="24069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61422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17305" y="24069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72915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29750" y="24069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84408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41242" y="24069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2726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6089" y="240696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0197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32642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44134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55627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67119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78612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91057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02549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4042" y="2747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62153" y="20150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3467100" y="21774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304" y="349281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 = −15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203008" y="3358515"/>
              <a:ext cx="5114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2244" y="34928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714500" y="335851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871335" y="3492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25992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429473" y="34928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737485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40966" y="34928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249930" y="335851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52458" y="34928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761422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917305" y="3492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272915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29750" y="3492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84408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41242" y="3492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295900" y="33585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06089" y="34928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62153" y="31008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3467100" y="32632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27675" y="31008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1932622" y="32632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415230" y="31008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1420178" y="32632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304" y="438816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 = 101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203008" y="42538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312244" y="438816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714500" y="42538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871335" y="4388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225992" y="42538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429473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737485" y="42538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940966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249930" y="425386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452458" y="4388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761422" y="425386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917305" y="4388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272915" y="425386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429750" y="4388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784408" y="425386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941242" y="4388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295900" y="4253865"/>
              <a:ext cx="5114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406089" y="438816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462153" y="39962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84" name="Freeform 84"/>
            <p:cNvSpPr/>
            <p:nvPr/>
          </p:nvSpPr>
          <p:spPr>
            <a:xfrm>
              <a:off x="3467100" y="41586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486090" y="39962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4491038" y="41586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997583" y="39962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88" name="Freeform 88"/>
            <p:cNvSpPr/>
            <p:nvPr/>
          </p:nvSpPr>
          <p:spPr>
            <a:xfrm>
              <a:off x="5002530" y="41586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509075" y="39962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5514022" y="41586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27304" y="5283517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 = 8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203008" y="51492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312244" y="5283517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714500" y="514921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871335" y="528351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2225992" y="514921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2429473" y="52835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2737485" y="5149215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940966" y="52835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249930" y="5149215"/>
              <a:ext cx="5114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3452458" y="52835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761422" y="51492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917305" y="528351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4272915" y="51492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4429750" y="528351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4784408" y="51492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941242" y="528351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295900" y="5149215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406089" y="5283517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462153" y="48915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3467100" y="50539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927675" y="48915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1932622" y="50539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2439168" y="48915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115" name="Freeform 115"/>
            <p:cNvSpPr/>
            <p:nvPr/>
          </p:nvSpPr>
          <p:spPr>
            <a:xfrm>
              <a:off x="2444115" y="50539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2950660" y="48915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2955608" y="50539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49" name="c2-table-1"/>
          <p:cNvGrpSpPr/>
          <p:nvPr/>
        </p:nvGrpSpPr>
        <p:grpSpPr>
          <a:xfrm>
            <a:off x="7005638" y="1967865"/>
            <a:ext cx="4652962" cy="2244090"/>
            <a:chOff x="7005638" y="1967865"/>
            <a:chExt cx="4652962" cy="2244090"/>
          </a:xfrm>
        </p:grpSpPr>
        <p:sp>
          <p:nvSpPr>
            <p:cNvPr id="119" name="Rectangle 119"/>
            <p:cNvSpPr/>
            <p:nvPr/>
          </p:nvSpPr>
          <p:spPr>
            <a:xfrm>
              <a:off x="7005638" y="1967865"/>
              <a:ext cx="465296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32183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46904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依次比较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03772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92164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321832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858316" y="2551271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A(5)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16265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913029" y="255127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 = 5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7005638" y="286035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7005638" y="2865120"/>
              <a:ext cx="465296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222321" y="300085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858316" y="3000851"/>
              <a:ext cx="1323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A(5) A(2) A(1)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016265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913029" y="300085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 = 1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7005638" y="330898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222321" y="344947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858316" y="3449479"/>
              <a:ext cx="1779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A(5) A(7) A(8) A(9)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016265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913029" y="344947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 = 9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7005638" y="3757612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7005638" y="3762375"/>
              <a:ext cx="465296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321832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858316" y="3898106"/>
              <a:ext cx="1779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A(5) A(2) A(3) A(4)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0162652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913029" y="3898106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 = 0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7005638" y="1967865"/>
              <a:ext cx="465296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774573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988599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10537508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6" name="c2-card-2"/>
          <p:cNvGrpSpPr/>
          <p:nvPr/>
        </p:nvGrpSpPr>
        <p:grpSpPr>
          <a:xfrm>
            <a:off x="7005638" y="4402455"/>
            <a:ext cx="4652962" cy="1898332"/>
            <a:chOff x="7005638" y="4402455"/>
            <a:chExt cx="4652962" cy="1898332"/>
          </a:xfrm>
        </p:grpSpPr>
        <p:sp>
          <p:nvSpPr>
            <p:cNvPr id="150" name="Rectangle 150"/>
            <p:cNvSpPr/>
            <p:nvPr/>
          </p:nvSpPr>
          <p:spPr>
            <a:xfrm>
              <a:off x="7005638" y="4402455"/>
              <a:ext cx="4652962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7015162" y="4535805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7253288" y="4612005"/>
              <a:ext cx="26279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7280440" y="464772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思考：对称的元素为什么比较次数不同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7245668" y="4989195"/>
              <a:ext cx="3910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 向下取整。[1, 4] 分成 [1, 1] 和 [3,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4]，[6, 9] 分成 [6, 6] 和 [8, 9]，右边总是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多留一个元素。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246811" y="5891689"/>
              <a:ext cx="3373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−15 第 3 次就找到，101 要到第 4 次。</a:t>
              </a:r>
            </a:p>
          </p:txBody>
        </p:sp>
      </p:grpSp>
      <p:grpSp>
        <p:nvGrpSpPr>
          <p:cNvPr id="1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7" name="TextBox 1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0110" cy="909257"/>
            <a:chOff x="520446" y="342900"/>
            <a:chExt cx="83701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0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二元比较树：每个内结点代表一次 x 与 A(mid) 的比较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111942" cy="2457450"/>
            <a:chOff x="533400" y="1524000"/>
            <a:chExt cx="4111942" cy="2457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111942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9288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4441" y="1763554"/>
              <a:ext cx="1871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9 时 BINSRCH 的比较树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2966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内结点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（圆）：记录一个 mid 值，表示一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次元素比较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外结点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（方框）：表示不成功查找的一种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44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283744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从根出发的一条路径：一个元素的比较序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6161" y="4190524"/>
            <a:ext cx="4119181" cy="968311"/>
            <a:chOff x="526161" y="4190524"/>
            <a:chExt cx="4119181" cy="968311"/>
          </a:xfrm>
        </p:grpSpPr>
        <p:sp>
          <p:nvSpPr>
            <p:cNvPr id="18" name="TextBox 18"/>
            <p:cNvSpPr txBox="1"/>
            <p:nvPr/>
          </p:nvSpPr>
          <p:spPr>
            <a:xfrm>
              <a:off x="526161" y="41905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橙色路径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5334" y="4190524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101：5 → 7 → 8 → 9，在 9 成功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96752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6124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红色路径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5334" y="4612481"/>
              <a:ext cx="272859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8：5 → 2 → 3 → 4，到 4 的右外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结点，失败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288280"/>
            <a:ext cx="4111942" cy="756285"/>
            <a:chOff x="533400" y="5288280"/>
            <a:chExt cx="4111942" cy="756285"/>
          </a:xfrm>
        </p:grpSpPr>
        <p:sp>
          <p:nvSpPr>
            <p:cNvPr id="24" name="Rectangle 24"/>
            <p:cNvSpPr/>
            <p:nvPr/>
          </p:nvSpPr>
          <p:spPr>
            <a:xfrm>
              <a:off x="533400" y="5288280"/>
              <a:ext cx="411194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566410"/>
              <a:ext cx="200026" cy="200026"/>
              <a:chOff x="738188" y="5566410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566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6330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56664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435441"/>
              <a:ext cx="31073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树的形状只由 n 决定，与数组中的值、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要找的 x 都无关。</a:t>
              </a:r>
            </a:p>
          </p:txBody>
        </p:sp>
      </p:grpSp>
      <p:grpSp>
        <p:nvGrpSpPr>
          <p:cNvPr id="80" name="c2-graph-1"/>
          <p:cNvGrpSpPr/>
          <p:nvPr/>
        </p:nvGrpSpPr>
        <p:grpSpPr>
          <a:xfrm>
            <a:off x="5079111" y="1806892"/>
            <a:ext cx="6440424" cy="4201478"/>
            <a:chOff x="5079111" y="1806892"/>
            <a:chExt cx="6440424" cy="4201478"/>
          </a:xfrm>
        </p:grpSpPr>
        <p:sp>
          <p:nvSpPr>
            <p:cNvPr id="31" name="Freeform 31"/>
            <p:cNvSpPr/>
            <p:nvPr/>
          </p:nvSpPr>
          <p:spPr>
            <a:xfrm>
              <a:off x="6391275" y="2027872"/>
              <a:ext cx="1766888" cy="830580"/>
            </a:xfrm>
            <a:custGeom>
              <a:avLst/>
              <a:gdLst/>
              <a:ahLst/>
              <a:cxnLst/>
              <a:rect l="l" t="t" r="r" b="b"/>
              <a:pathLst>
                <a:path w="1766888" h="830580">
                  <a:moveTo>
                    <a:pt x="1766888" y="0"/>
                  </a:moveTo>
                  <a:lnTo>
                    <a:pt x="0" y="83058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436292" y="2052638"/>
              <a:ext cx="1103947" cy="781050"/>
            </a:xfrm>
            <a:custGeom>
              <a:avLst/>
              <a:gdLst/>
              <a:ahLst/>
              <a:cxnLst/>
              <a:rect l="l" t="t" r="r" b="b"/>
              <a:pathLst>
                <a:path w="1103947" h="781050">
                  <a:moveTo>
                    <a:pt x="0" y="0"/>
                  </a:moveTo>
                  <a:lnTo>
                    <a:pt x="1103947" y="78105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654040" y="3059430"/>
              <a:ext cx="497205" cy="702945"/>
            </a:xfrm>
            <a:custGeom>
              <a:avLst/>
              <a:gdLst/>
              <a:ahLst/>
              <a:cxnLst/>
              <a:rect l="l" t="t" r="r" b="b"/>
              <a:pathLst>
                <a:path w="497205" h="702945">
                  <a:moveTo>
                    <a:pt x="497205" y="0"/>
                  </a:moveTo>
                  <a:lnTo>
                    <a:pt x="0" y="702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338888" y="3059430"/>
              <a:ext cx="502920" cy="703898"/>
            </a:xfrm>
            <a:custGeom>
              <a:avLst/>
              <a:gdLst/>
              <a:ahLst/>
              <a:cxnLst/>
              <a:rect l="l" t="t" r="r" b="b"/>
              <a:pathLst>
                <a:path w="502920" h="703898">
                  <a:moveTo>
                    <a:pt x="0" y="0"/>
                  </a:moveTo>
                  <a:lnTo>
                    <a:pt x="502920" y="703898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82088" y="3059430"/>
              <a:ext cx="497205" cy="702945"/>
            </a:xfrm>
            <a:custGeom>
              <a:avLst/>
              <a:gdLst/>
              <a:ahLst/>
              <a:cxnLst/>
              <a:rect l="l" t="t" r="r" b="b"/>
              <a:pathLst>
                <a:path w="497205" h="702945">
                  <a:moveTo>
                    <a:pt x="497205" y="0"/>
                  </a:moveTo>
                  <a:lnTo>
                    <a:pt x="0" y="702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766935" y="3059430"/>
              <a:ext cx="502920" cy="703898"/>
            </a:xfrm>
            <a:custGeom>
              <a:avLst/>
              <a:gdLst/>
              <a:ahLst/>
              <a:cxnLst/>
              <a:rect l="l" t="t" r="r" b="b"/>
              <a:pathLst>
                <a:path w="502920" h="703898">
                  <a:moveTo>
                    <a:pt x="0" y="0"/>
                  </a:moveTo>
                  <a:lnTo>
                    <a:pt x="502920" y="703898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264468" y="4047172"/>
              <a:ext cx="241935" cy="685800"/>
            </a:xfrm>
            <a:custGeom>
              <a:avLst/>
              <a:gdLst/>
              <a:ahLst/>
              <a:cxnLst/>
              <a:rect l="l" t="t" r="r" b="b"/>
              <a:pathLst>
                <a:path w="241935" h="685800">
                  <a:moveTo>
                    <a:pt x="241935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614035" y="4047172"/>
              <a:ext cx="242888" cy="685800"/>
            </a:xfrm>
            <a:custGeom>
              <a:avLst/>
              <a:gdLst/>
              <a:ahLst/>
              <a:cxnLst/>
              <a:rect l="l" t="t" r="r" b="b"/>
              <a:pathLst>
                <a:path w="242888" h="685800">
                  <a:moveTo>
                    <a:pt x="0" y="0"/>
                  </a:moveTo>
                  <a:lnTo>
                    <a:pt x="242888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633210" y="4047172"/>
              <a:ext cx="247650" cy="685800"/>
            </a:xfrm>
            <a:custGeom>
              <a:avLst/>
              <a:gdLst/>
              <a:ahLst/>
              <a:cxnLst/>
              <a:rect l="l" t="t" r="r" b="b"/>
              <a:pathLst>
                <a:path w="247650" h="685800">
                  <a:moveTo>
                    <a:pt x="247650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029450" y="4027170"/>
              <a:ext cx="497205" cy="702945"/>
            </a:xfrm>
            <a:custGeom>
              <a:avLst/>
              <a:gdLst/>
              <a:ahLst/>
              <a:cxnLst/>
              <a:rect l="l" t="t" r="r" b="b"/>
              <a:pathLst>
                <a:path w="497205" h="702945">
                  <a:moveTo>
                    <a:pt x="0" y="0"/>
                  </a:moveTo>
                  <a:lnTo>
                    <a:pt x="497205" y="702945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321868" y="5015865"/>
              <a:ext cx="246697" cy="733425"/>
            </a:xfrm>
            <a:custGeom>
              <a:avLst/>
              <a:gdLst/>
              <a:ahLst/>
              <a:cxnLst/>
              <a:rect l="l" t="t" r="r" b="b"/>
              <a:pathLst>
                <a:path w="246697" h="733425">
                  <a:moveTo>
                    <a:pt x="246697" y="0"/>
                  </a:moveTo>
                  <a:lnTo>
                    <a:pt x="0" y="733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671435" y="5015865"/>
              <a:ext cx="246697" cy="733425"/>
            </a:xfrm>
            <a:custGeom>
              <a:avLst/>
              <a:gdLst/>
              <a:ahLst/>
              <a:cxnLst/>
              <a:rect l="l" t="t" r="r" b="b"/>
              <a:pathLst>
                <a:path w="246697" h="733425">
                  <a:moveTo>
                    <a:pt x="0" y="0"/>
                  </a:moveTo>
                  <a:lnTo>
                    <a:pt x="246697" y="733425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92515" y="4047172"/>
              <a:ext cx="241935" cy="685800"/>
            </a:xfrm>
            <a:custGeom>
              <a:avLst/>
              <a:gdLst/>
              <a:ahLst/>
              <a:cxnLst/>
              <a:rect l="l" t="t" r="r" b="b"/>
              <a:pathLst>
                <a:path w="241935" h="685800">
                  <a:moveTo>
                    <a:pt x="241935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42082" y="4047172"/>
              <a:ext cx="242888" cy="685800"/>
            </a:xfrm>
            <a:custGeom>
              <a:avLst/>
              <a:gdLst/>
              <a:ahLst/>
              <a:cxnLst/>
              <a:rect l="l" t="t" r="r" b="b"/>
              <a:pathLst>
                <a:path w="242888" h="685800">
                  <a:moveTo>
                    <a:pt x="0" y="0"/>
                  </a:moveTo>
                  <a:lnTo>
                    <a:pt x="242888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066972" y="4047172"/>
              <a:ext cx="242888" cy="685800"/>
            </a:xfrm>
            <a:custGeom>
              <a:avLst/>
              <a:gdLst/>
              <a:ahLst/>
              <a:cxnLst/>
              <a:rect l="l" t="t" r="r" b="b"/>
              <a:pathLst>
                <a:path w="242888" h="685800">
                  <a:moveTo>
                    <a:pt x="242888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57498" y="4027170"/>
              <a:ext cx="497205" cy="702945"/>
            </a:xfrm>
            <a:custGeom>
              <a:avLst/>
              <a:gdLst/>
              <a:ahLst/>
              <a:cxnLst/>
              <a:rect l="l" t="t" r="r" b="b"/>
              <a:pathLst>
                <a:path w="497205" h="702945">
                  <a:moveTo>
                    <a:pt x="0" y="0"/>
                  </a:moveTo>
                  <a:lnTo>
                    <a:pt x="497205" y="702945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749915" y="5015865"/>
              <a:ext cx="246698" cy="733425"/>
            </a:xfrm>
            <a:custGeom>
              <a:avLst/>
              <a:gdLst/>
              <a:ahLst/>
              <a:cxnLst/>
              <a:rect l="l" t="t" r="r" b="b"/>
              <a:pathLst>
                <a:path w="246698" h="733425">
                  <a:moveTo>
                    <a:pt x="246698" y="0"/>
                  </a:moveTo>
                  <a:lnTo>
                    <a:pt x="0" y="733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099482" y="5015865"/>
              <a:ext cx="247650" cy="733425"/>
            </a:xfrm>
            <a:custGeom>
              <a:avLst/>
              <a:gdLst/>
              <a:ahLst/>
              <a:cxnLst/>
              <a:rect l="l" t="t" r="r" b="b"/>
              <a:pathLst>
                <a:path w="247650" h="733425">
                  <a:moveTo>
                    <a:pt x="0" y="0"/>
                  </a:moveTo>
                  <a:lnTo>
                    <a:pt x="247650" y="733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151495" y="180689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092190" y="277463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520238" y="277463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408295" y="37423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783705" y="374237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836342" y="37423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211752" y="374237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467600" y="471011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895648" y="471011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089208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73102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57950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48512" y="5749290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832408" y="5749290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517255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201150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92665" y="4732972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576560" y="5749290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260455" y="5749290"/>
              <a:ext cx="259080" cy="25908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51153" y="18849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91848" y="28527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619896" y="28527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507953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83363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36001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11411" y="38204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67258" y="47882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95306" y="47882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079111" y="184594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级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079111" y="281368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079111" y="5765483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5 级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11133" cy="909257"/>
            <a:chOff x="520446" y="342900"/>
            <a:chExt cx="98111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11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用比较树数比较次数：n = 9 时成功平均 25/9，失败平均 34/10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27685" y="1524000"/>
            <a:ext cx="6497955" cy="1155859"/>
            <a:chOff x="527685" y="1524000"/>
            <a:chExt cx="6497955" cy="115585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6676" y="1655445"/>
              <a:ext cx="1050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成功：找 A(i)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5806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7717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723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1635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546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552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7464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9375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1286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028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7939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945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1857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768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5774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7686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9597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1508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49224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46008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866072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85185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04298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24362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43475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62588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981700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01765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2459831"/>
              <a:ext cx="4089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比较次数 = 内结点所在级数，总和 1+2+2+3+3+3+3+4+4 = 25</a:t>
              </a:r>
            </a:p>
          </p:txBody>
        </p:sp>
      </p:grpSp>
      <p:grpSp>
        <p:nvGrpSpPr>
          <p:cNvPr id="75" name="c1-table-2"/>
          <p:cNvGrpSpPr/>
          <p:nvPr/>
        </p:nvGrpSpPr>
        <p:grpSpPr>
          <a:xfrm>
            <a:off x="527685" y="2821305"/>
            <a:ext cx="6497955" cy="1155859"/>
            <a:chOff x="527685" y="2821305"/>
            <a:chExt cx="6497955" cy="1155859"/>
          </a:xfrm>
        </p:grpSpPr>
        <p:sp>
          <p:nvSpPr>
            <p:cNvPr id="40" name="Rectangle 40"/>
            <p:cNvSpPr/>
            <p:nvPr/>
          </p:nvSpPr>
          <p:spPr>
            <a:xfrm>
              <a:off x="533400" y="2821305"/>
              <a:ext cx="649224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471" y="2952750"/>
              <a:ext cx="1083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失败：外结点 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32343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00021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66746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34423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2101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69778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36503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04181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1858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9536" y="29527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8746" y="338232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34564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02242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68967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36644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04322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71999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38724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806402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74079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41757" y="33823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2821305"/>
              <a:ext cx="649224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346008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2813685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281362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749040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215765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683442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51120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18798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85522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553200" y="282130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27685" y="3757136"/>
              <a:ext cx="4628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外结点 i 表示 A(i) &lt; x &lt; A(i+1)，A(0) = −∞，A(10) = +∞；总和 34</a:t>
              </a:r>
            </a:p>
          </p:txBody>
        </p:sp>
      </p:grpSp>
      <p:grpSp>
        <p:nvGrpSpPr>
          <p:cNvPr id="84" name="c1-card-3"/>
          <p:cNvGrpSpPr/>
          <p:nvPr/>
        </p:nvGrpSpPr>
        <p:grpSpPr>
          <a:xfrm>
            <a:off x="533400" y="4118610"/>
            <a:ext cx="6492240" cy="1323022"/>
            <a:chOff x="533400" y="4118610"/>
            <a:chExt cx="6492240" cy="1323022"/>
          </a:xfrm>
        </p:grpSpPr>
        <p:sp>
          <p:nvSpPr>
            <p:cNvPr id="76" name="Rectangle 76"/>
            <p:cNvSpPr/>
            <p:nvPr/>
          </p:nvSpPr>
          <p:spPr>
            <a:xfrm>
              <a:off x="533400" y="4118610"/>
              <a:ext cx="6492240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42925" y="425196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5335" y="4322445"/>
              <a:ext cx="335280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9963" y="435816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一般规律（令根在第 1 级，内结点最大级数为 k）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82955" y="47548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39546" y="4695349"/>
              <a:ext cx="5233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成功：比较次数等于所停内结点的级数，最少 1 次，最多 k 次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82955" y="50749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9546" y="5015389"/>
              <a:ext cx="57970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失败：比较次数等于所停外结点的级数减 1，最少 k−1 次，最多 k 次</a:t>
              </a:r>
            </a:p>
          </p:txBody>
        </p:sp>
      </p:grpSp>
      <p:grpSp>
        <p:nvGrpSpPr>
          <p:cNvPr id="104" name="c2-table-1"/>
          <p:cNvGrpSpPr/>
          <p:nvPr/>
        </p:nvGrpSpPr>
        <p:grpSpPr>
          <a:xfrm>
            <a:off x="7330440" y="1524000"/>
            <a:ext cx="4328160" cy="1406842"/>
            <a:chOff x="7330440" y="1524000"/>
            <a:chExt cx="4328160" cy="1406842"/>
          </a:xfrm>
        </p:grpSpPr>
        <p:sp>
          <p:nvSpPr>
            <p:cNvPr id="85" name="Rectangle 85"/>
            <p:cNvSpPr/>
            <p:nvPr/>
          </p:nvSpPr>
          <p:spPr>
            <a:xfrm>
              <a:off x="7330440" y="1524000"/>
              <a:ext cx="4328160" cy="4686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568880" y="1658779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1316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39041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64486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434644" y="21283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51757" y="212836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529009" y="212836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279027" y="2128361"/>
              <a:ext cx="1128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25/9 ≈ 2.78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330440" y="245745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330440" y="2462212"/>
              <a:ext cx="432816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434644" y="25969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651757" y="259699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529009" y="259699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79027" y="2596991"/>
              <a:ext cx="1128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34/10 = 3.4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330440" y="1524000"/>
              <a:ext cx="4328160" cy="1406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268652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145905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0023158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1" name="c2-card-2"/>
          <p:cNvGrpSpPr/>
          <p:nvPr/>
        </p:nvGrpSpPr>
        <p:grpSpPr>
          <a:xfrm>
            <a:off x="7330440" y="3116580"/>
            <a:ext cx="4328160" cy="2325052"/>
            <a:chOff x="7330440" y="3116580"/>
            <a:chExt cx="4328160" cy="2325052"/>
          </a:xfrm>
        </p:grpSpPr>
        <p:sp>
          <p:nvSpPr>
            <p:cNvPr id="105" name="Rectangle 105"/>
            <p:cNvSpPr/>
            <p:nvPr/>
          </p:nvSpPr>
          <p:spPr>
            <a:xfrm>
              <a:off x="7330440" y="3116580"/>
              <a:ext cx="4328160" cy="2325052"/>
            </a:xfrm>
            <a:prstGeom prst="roundRect">
              <a:avLst>
                <a:gd name="adj" fmla="val 5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339965" y="3249930"/>
              <a:ext cx="47625" cy="20583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572375" y="3320415"/>
              <a:ext cx="1683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627470" y="3356134"/>
              <a:ext cx="1573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为什么失败至少 k−1 次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565136" y="3693319"/>
              <a:ext cx="33597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 k = 4。外结点只出现在第 4 级和第 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级，失败查找比较 3 次或 4 次。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566279" y="4281488"/>
              <a:ext cx="3730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一般情况下外结点都在第 k 级或第 k+1 级，下一页的定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 4.1 给出证明。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2" name="Rectangle 11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0511" y="6004084"/>
              <a:ext cx="7106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这里的平均值假设 n 个元素被查找的机会相同，n+1 种失败情况出现的机会也相同。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9493" cy="909257"/>
            <a:chOff x="520446" y="342900"/>
            <a:chExt cx="100594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9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4.1：比较树的深度 k = ⌊log n⌋ + 1，最坏比较 Θ(log n)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085398" cy="1602105"/>
            <a:chOff x="533400" y="1524000"/>
            <a:chExt cx="508539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40220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4344" y="1769269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内结点个数 n 与最大级数 k 的关系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25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每次把区间分成大小相差不超过 1 的两半，所以比较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树的第 1~k−1 级一定是满的：前 k−1 级共 2^(k−1)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个结点，第 k 级至少 1 个、至多 2^(k−1) 个。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6"/>
              <p:cNvSpPr txBox="1">
                <a:spLocks noGrp="1"/>
              </p:cNvSpPr>
              <p:nvPr/>
            </p:nvSpPr>
            <p:spPr>
              <a:xfrm>
                <a:off x="533400" y="3316605"/>
                <a:ext cx="508539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"/>
              <p:cNvSpPr txBox="1">
                <a:spLocks noGrp="1"/>
              </p:cNvSpPr>
              <p:nvPr/>
            </p:nvSpPr>
            <p:spPr>
              <a:xfrm>
                <a:off x="533400" y="4002405"/>
                <a:ext cx="508539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⌊"/>
                          <m:sepChr m:val=""/>
                          <m:endChr m:val="⌋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4"/>
          <p:cNvGrpSpPr/>
          <p:nvPr/>
        </p:nvGrpSpPr>
        <p:grpSpPr>
          <a:xfrm>
            <a:off x="533400" y="4650105"/>
            <a:ext cx="5085398" cy="782955"/>
            <a:chOff x="533400" y="4650105"/>
            <a:chExt cx="5085398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4650105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941570"/>
              <a:ext cx="200026" cy="200026"/>
              <a:chOff x="738188" y="4941570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9415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4863" y="50193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798695"/>
              <a:ext cx="4120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 n = 9：2³ = 8 ≤ 9 &lt; 16，k = 4，与上一页的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树一致。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5923598" y="1524000"/>
            <a:ext cx="5735002" cy="1602105"/>
            <a:chOff x="5923598" y="1524000"/>
            <a:chExt cx="5735002" cy="1602105"/>
          </a:xfrm>
        </p:grpSpPr>
        <p:sp>
          <p:nvSpPr>
            <p:cNvPr id="21" name="Rectangle 21"/>
            <p:cNvSpPr/>
            <p:nvPr/>
          </p:nvSpPr>
          <p:spPr>
            <a:xfrm>
              <a:off x="5923598" y="1524000"/>
              <a:ext cx="573500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33122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71248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52833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4.1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63628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n 在区间 [2^(k−1), 2ᵏ) 中，则对于一次成功的查找，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BINSRCH 至多作 k 次比较；对于一次不成功的查找，作 k−1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次或 k 次比较。</a:t>
              </a:r>
            </a:p>
          </p:txBody>
        </p:sp>
      </p:grpSp>
      <p:grpSp>
        <p:nvGrpSpPr>
          <p:cNvPr id="40" name="c2-steps-2"/>
          <p:cNvGrpSpPr/>
          <p:nvPr/>
        </p:nvGrpSpPr>
        <p:grpSpPr>
          <a:xfrm>
            <a:off x="5923598" y="3326130"/>
            <a:ext cx="5422670" cy="2112931"/>
            <a:chOff x="5923598" y="3326130"/>
            <a:chExt cx="5422670" cy="2112931"/>
          </a:xfrm>
        </p:grpSpPr>
        <p:sp>
          <p:nvSpPr>
            <p:cNvPr id="27" name="Rectangle 27"/>
            <p:cNvSpPr/>
            <p:nvPr/>
          </p:nvSpPr>
          <p:spPr>
            <a:xfrm>
              <a:off x="6056948" y="346900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923598" y="3326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7221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923598" y="39766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7221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923598" y="46272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17221" y="4701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5078" y="33604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成功在内结点终止，失败在外结点终止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6220" y="365426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成功的比较次数 = 内结点级数；失败的比较次数 = 外结点级数 − 1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5078" y="4010978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内结点级数不超过 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6220" y="430482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所以成功查找至多比较 k 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5078" y="4661535"/>
              <a:ext cx="2553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外结点在第 k 级或第 k+1 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36220" y="4955381"/>
              <a:ext cx="4971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1~k−1 级已满，外结点不会出现在这些级；内结点最深第 k 级，外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结点最深第 k+1 级。所以失败比较 k−1 或 k 次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9232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由定理可直接得到：成功查找最坏 Θ(log n)，最好 1 次；失败查找的最好、最坏、平均都是 Θ(log n)。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8936" cy="909257"/>
            <a:chOff x="520446" y="342900"/>
            <a:chExt cx="90489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89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成功查找的平均比较次数：借助 E = I + 2n 由失败平均推出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161" y="1547336"/>
            <a:ext cx="4985004" cy="1543622"/>
            <a:chOff x="526161" y="1547336"/>
            <a:chExt cx="4985004" cy="154362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288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内部路径长度 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68259" y="154733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根到所有内结点的距离（边数）之和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1341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外部路径长度 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8259" y="19692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根到所有外结点的距离之和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1295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成功平均 S(n)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68259" y="2391251"/>
              <a:ext cx="2726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I/n + 1（距离加 1 = 比较次数）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965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812256"/>
              <a:ext cx="1295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失败平均 U(n)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8259" y="2812256"/>
              <a:ext cx="25203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E/(n+1)（距离 = 比较次数）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220402"/>
            <a:ext cx="4977765" cy="2151698"/>
            <a:chOff x="533400" y="3220402"/>
            <a:chExt cx="4977765" cy="2151698"/>
          </a:xfrm>
        </p:grpSpPr>
        <p:sp>
          <p:nvSpPr>
            <p:cNvPr id="19" name="Rectangle 19"/>
            <p:cNvSpPr/>
            <p:nvPr/>
          </p:nvSpPr>
          <p:spPr>
            <a:xfrm>
              <a:off x="533400" y="3220402"/>
              <a:ext cx="497776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5795" y="3351848"/>
              <a:ext cx="767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9 验算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9993" y="33518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746" y="3782377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30399" y="3782377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+ 1×2 + 2×4 + 3×2 = 16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757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080510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2119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30399" y="4211955"/>
              <a:ext cx="1881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3×6 + 4×4 = 34 = I + 2×9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5062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64248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S(n)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0399" y="464248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16/9 + 1 = 25/9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9358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941570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5072062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30399" y="507206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34/10 = 3.4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220402"/>
              <a:ext cx="497776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320290" y="322040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3"/>
          <p:cNvGrpSpPr/>
          <p:nvPr/>
        </p:nvGrpSpPr>
        <p:grpSpPr>
          <a:xfrm>
            <a:off x="533400" y="5556885"/>
            <a:ext cx="4977765" cy="518160"/>
            <a:chOff x="533400" y="5556885"/>
            <a:chExt cx="4977765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556885"/>
              <a:ext cx="4977765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715953"/>
              <a:ext cx="200026" cy="200026"/>
              <a:chOff x="738188" y="571595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7159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782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8159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5716429"/>
              <a:ext cx="4166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I + 2n 对任意二元树都成立，证明见下一页。</a:t>
              </a:r>
            </a:p>
          </p:txBody>
        </p:sp>
      </p:grpSp>
      <p:grpSp>
        <p:nvGrpSpPr>
          <p:cNvPr id="46" name="c2-text-1"/>
          <p:cNvGrpSpPr/>
          <p:nvPr/>
        </p:nvGrpSpPr>
        <p:grpSpPr>
          <a:xfrm>
            <a:off x="5808726" y="1547336"/>
            <a:ext cx="4791955" cy="278702"/>
            <a:chOff x="5808726" y="1547336"/>
            <a:chExt cx="4791955" cy="278702"/>
          </a:xfrm>
        </p:grpSpPr>
        <p:sp>
          <p:nvSpPr>
            <p:cNvPr id="45" name="TextBox 45"/>
            <p:cNvSpPr txBox="1"/>
            <p:nvPr/>
          </p:nvSpPr>
          <p:spPr>
            <a:xfrm>
              <a:off x="5808726" y="1547336"/>
              <a:ext cx="4791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E = (n+1)U(n) 和 I = n(S(n) − 1) 代入 E = I + 2n：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8"/>
              <p:cNvSpPr txBox="1">
                <a:spLocks noGrp="1"/>
              </p:cNvSpPr>
              <p:nvPr/>
            </p:nvSpPr>
            <p:spPr>
              <a:xfrm>
                <a:off x="5815965" y="1955482"/>
                <a:ext cx="5842635" cy="2243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53" name="c2-card-3"/>
          <p:cNvGrpSpPr/>
          <p:nvPr/>
        </p:nvGrpSpPr>
        <p:grpSpPr>
          <a:xfrm>
            <a:off x="5815965" y="4384358"/>
            <a:ext cx="5842635" cy="1274445"/>
            <a:chOff x="5815965" y="4384358"/>
            <a:chExt cx="5842635" cy="1274445"/>
          </a:xfrm>
        </p:grpSpPr>
        <p:sp>
          <p:nvSpPr>
            <p:cNvPr id="48" name="Rectangle 48"/>
            <p:cNvSpPr/>
            <p:nvPr/>
          </p:nvSpPr>
          <p:spPr>
            <a:xfrm>
              <a:off x="5815965" y="4384358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5490" y="451770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57900" y="458819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44158" y="462391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得出阶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50661" y="4961096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外结点都在第 k 级或第 k+1 级，U(n) 介于 k−1 与 k 之间，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U(n) = Θ(log n)。所以 S(n) = Θ(U(n)) = Θ(log n)。</a:t>
              </a:r>
            </a:p>
          </p:txBody>
        </p:sp>
      </p:grpSp>
      <p:grpSp>
        <p:nvGrpSpPr>
          <p:cNvPr id="59" name="c2-callout-4"/>
          <p:cNvGrpSpPr/>
          <p:nvPr/>
        </p:nvGrpSpPr>
        <p:grpSpPr>
          <a:xfrm>
            <a:off x="5815965" y="5844540"/>
            <a:ext cx="5842635" cy="518160"/>
            <a:chOff x="5815965" y="5844540"/>
            <a:chExt cx="5842635" cy="518160"/>
          </a:xfrm>
        </p:grpSpPr>
        <p:sp>
          <p:nvSpPr>
            <p:cNvPr id="54" name="Rectangle 54"/>
            <p:cNvSpPr/>
            <p:nvPr/>
          </p:nvSpPr>
          <p:spPr>
            <a:xfrm>
              <a:off x="5815965" y="5844540"/>
              <a:ext cx="5842635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6003608"/>
              <a:ext cx="200026" cy="200026"/>
              <a:chOff x="6020753" y="600360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20753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87428" y="60813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3076" y="6004084"/>
              <a:ext cx="48317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 n = 9 验证：(1 + 1/9) × 3.4 − 1 = 34/9 − 1 = 25/9。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8267" cy="909257"/>
            <a:chOff x="520446" y="342900"/>
            <a:chExt cx="69482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82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E = I + 2n：删去一对外结点，对 n 归纳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887918" cy="2529173"/>
            <a:chOff x="533400" y="1533525"/>
            <a:chExt cx="5887918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572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0 时树只有一个外结点（就是根），E = I = 0，等式成立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475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时，最深的内结点 v 的两个孩子都是外结点，设 v 到根的距离为 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v 的两个外孩子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5472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变成外结点，内结点剩 n−1 个：I′ = I − d，E′ = E − d − 2（见右表）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用归纳假设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48659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E′ = I′ + 2(n−1)，即 E − d − 2 = I − d + 2n − 2，得 E = I + 2n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241482"/>
            <a:ext cx="6059805" cy="782955"/>
            <a:chOff x="533400" y="4241482"/>
            <a:chExt cx="6059805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532948"/>
              <a:ext cx="200026" cy="200026"/>
              <a:chOff x="738188" y="453294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532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599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4632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390072"/>
              <a:ext cx="4977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原课件把这个证明留作思考题。每个内结点给 E 比 I 多贡献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2，这就是 2n 的来历。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214938"/>
            <a:ext cx="6059805" cy="533400"/>
            <a:chOff x="533400" y="5214938"/>
            <a:chExt cx="6059805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214938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381625"/>
              <a:ext cx="200026" cy="200026"/>
              <a:chOff x="738188" y="538162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4863" y="54594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376862"/>
              <a:ext cx="4627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 n = 9 的比较树：I = 16，E = 34 = 16 + 2×9。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7325678" y="1643062"/>
            <a:ext cx="3905465" cy="2689385"/>
            <a:chOff x="7325678" y="1643062"/>
            <a:chExt cx="3905465" cy="2689385"/>
          </a:xfrm>
        </p:grpSpPr>
        <p:sp>
          <p:nvSpPr>
            <p:cNvPr id="38" name="Freeform 38"/>
            <p:cNvSpPr/>
            <p:nvPr/>
          </p:nvSpPr>
          <p:spPr>
            <a:xfrm>
              <a:off x="8087678" y="1985010"/>
              <a:ext cx="9525" cy="803910"/>
            </a:xfrm>
            <a:custGeom>
              <a:avLst/>
              <a:gdLst/>
              <a:ahLst/>
              <a:cxnLst/>
              <a:rect l="l" t="t" r="r" b="b"/>
              <a:pathLst>
                <a:path w="9525" h="803910">
                  <a:moveTo>
                    <a:pt x="0" y="0"/>
                  </a:moveTo>
                  <a:lnTo>
                    <a:pt x="0" y="80391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7572375" y="3081338"/>
              <a:ext cx="421005" cy="581978"/>
            </a:xfrm>
            <a:custGeom>
              <a:avLst/>
              <a:gdLst/>
              <a:ahLst/>
              <a:cxnLst/>
              <a:rect l="l" t="t" r="r" b="b"/>
              <a:pathLst>
                <a:path w="421005" h="581978">
                  <a:moveTo>
                    <a:pt x="421005" y="0"/>
                  </a:moveTo>
                  <a:lnTo>
                    <a:pt x="0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82928" y="3081338"/>
              <a:ext cx="421005" cy="581978"/>
            </a:xfrm>
            <a:custGeom>
              <a:avLst/>
              <a:gdLst/>
              <a:ahLst/>
              <a:cxnLst/>
              <a:rect l="l" t="t" r="r" b="b"/>
              <a:pathLst>
                <a:path w="421005" h="581978">
                  <a:moveTo>
                    <a:pt x="0" y="0"/>
                  </a:moveTo>
                  <a:lnTo>
                    <a:pt x="421005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67975" y="1985010"/>
              <a:ext cx="9525" cy="803910"/>
            </a:xfrm>
            <a:custGeom>
              <a:avLst/>
              <a:gdLst/>
              <a:ahLst/>
              <a:cxnLst/>
              <a:rect l="l" t="t" r="r" b="b"/>
              <a:pathLst>
                <a:path w="9525" h="803910">
                  <a:moveTo>
                    <a:pt x="0" y="0"/>
                  </a:moveTo>
                  <a:lnTo>
                    <a:pt x="0" y="80391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9173528" y="295084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78328" y="2903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920990" y="164306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935278" y="279844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25678" y="3663315"/>
              <a:ext cx="285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63928" y="3663315"/>
              <a:ext cx="285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301288" y="164306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306050" y="2788920"/>
              <a:ext cx="323850" cy="323850"/>
            </a:xfrm>
            <a:prstGeom prst="roundRect">
              <a:avLst>
                <a:gd name="adj" fmla="val 1176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06575" y="17397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38426" y="28808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86873" y="17397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18724" y="28808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86700" y="2301240"/>
              <a:ext cx="4019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10265" y="2332672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距离 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266998" y="2301240"/>
              <a:ext cx="4019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90562" y="2332672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距离 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11582" y="4112419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删去前：n 个内结点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04807" y="4112419"/>
              <a:ext cx="1526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删去后：n−1 个内结点</a:t>
              </a:r>
            </a:p>
          </p:txBody>
        </p:sp>
      </p:grpSp>
      <p:grpSp>
        <p:nvGrpSpPr>
          <p:cNvPr id="77" name="c2-table-2"/>
          <p:cNvGrpSpPr/>
          <p:nvPr/>
        </p:nvGrpSpPr>
        <p:grpSpPr>
          <a:xfrm>
            <a:off x="6898005" y="4567238"/>
            <a:ext cx="4760595" cy="1795462"/>
            <a:chOff x="6898005" y="4567238"/>
            <a:chExt cx="4760595" cy="1795462"/>
          </a:xfrm>
        </p:grpSpPr>
        <p:sp>
          <p:nvSpPr>
            <p:cNvPr id="61" name="Rectangle 61"/>
            <p:cNvSpPr/>
            <p:nvPr/>
          </p:nvSpPr>
          <p:spPr>
            <a:xfrm>
              <a:off x="6898005" y="4567238"/>
              <a:ext cx="476059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50772" y="47029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83180" y="4702969"/>
              <a:ext cx="70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08024" y="470296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05828" y="5151596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少了内结点 v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17083" y="515159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−d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54606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98005" y="546544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05828" y="560022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少了两个外结点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28892" y="560022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−2(d+1)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98005" y="59093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05828" y="604885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变成外结点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765823" y="6048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+d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898005" y="4567238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956358" y="456723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070782" y="456723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7148" cy="909257"/>
            <a:chOff x="520446" y="342900"/>
            <a:chExt cx="6317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7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BINSRCH 的时间复杂度汇总与空间复杂度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276022" cy="1463040"/>
            <a:chOff x="533400" y="1524000"/>
            <a:chExt cx="6276022" cy="1463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916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411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最好情况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764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1117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平均情况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3282" y="2150745"/>
              <a:ext cx="484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43286" y="2150745"/>
              <a:ext cx="81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6816" y="2150745"/>
              <a:ext cx="81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失败查找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9756" y="2638425"/>
              <a:ext cx="81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43286" y="2638425"/>
              <a:ext cx="81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6816" y="2638425"/>
              <a:ext cx="81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6276022" cy="1463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84070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57600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231130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kv-2"/>
          <p:cNvGrpSpPr/>
          <p:nvPr/>
        </p:nvGrpSpPr>
        <p:grpSpPr>
          <a:xfrm>
            <a:off x="525780" y="3202305"/>
            <a:ext cx="6283642" cy="1613535"/>
            <a:chOff x="525780" y="3202305"/>
            <a:chExt cx="6283642" cy="1613535"/>
          </a:xfrm>
        </p:grpSpPr>
        <p:sp>
          <p:nvSpPr>
            <p:cNvPr id="27" name="TextBox 27"/>
            <p:cNvSpPr txBox="1"/>
            <p:nvPr/>
          </p:nvSpPr>
          <p:spPr>
            <a:xfrm>
              <a:off x="525780" y="3202305"/>
              <a:ext cx="939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成功·最好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80235" y="3202305"/>
              <a:ext cx="2500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第一次比较就有 x = A(mid)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23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780" y="3642360"/>
              <a:ext cx="939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成功·最坏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0235" y="364236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4.1：至多 k = ⌊log n⌋ + 1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624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5780" y="4082415"/>
              <a:ext cx="939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成功·平均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0235" y="4082415"/>
              <a:ext cx="3455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S(n) = (1 + 1/n)U(n) − 1 = Θ(log n)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024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780" y="4522470"/>
              <a:ext cx="1141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失败·各情况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80235" y="4522470"/>
              <a:ext cx="3114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4.1：每次都比较 k−1 或 k 次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1612582"/>
            <a:chOff x="7114222" y="1524000"/>
            <a:chExt cx="4544378" cy="1612582"/>
          </a:xfrm>
        </p:grpSpPr>
        <p:sp>
          <p:nvSpPr>
            <p:cNvPr id="39" name="Rectangle 39"/>
            <p:cNvSpPr/>
            <p:nvPr/>
          </p:nvSpPr>
          <p:spPr>
            <a:xfrm>
              <a:off x="7114222" y="1524000"/>
              <a:ext cx="4544378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3748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618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92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4252" y="211074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 个位置存放数组 A，另有 low、high、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mid、x、j 五个变量，共需 n + 5 = Θ(n)。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5396" y="2728436"/>
              <a:ext cx="3397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若不计输入数组本身，额外空间只有 Θ(1)。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7114222" y="3327082"/>
            <a:ext cx="4544378" cy="2233612"/>
            <a:chOff x="7114222" y="3327082"/>
            <a:chExt cx="4544378" cy="2233612"/>
          </a:xfrm>
        </p:grpSpPr>
        <p:sp>
          <p:nvSpPr>
            <p:cNvPr id="46" name="Rectangle 46"/>
            <p:cNvSpPr/>
            <p:nvPr/>
          </p:nvSpPr>
          <p:spPr>
            <a:xfrm>
              <a:off x="7114222" y="3327082"/>
              <a:ext cx="4544378" cy="223361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3460432"/>
              <a:ext cx="47625" cy="19669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1872" y="353663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6477" y="35723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算法结束后的思考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1872" y="3900488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23722" y="394277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62862" y="3913822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二分思想下的查找算法，时间复杂度是固定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不变的吗？会受算法描述细节的影响吗？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61872" y="4521518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23722" y="456380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62862" y="4534852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BINSRCH 是解决查找问题的最优算法吗？能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否进一步优化？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5396" y="5152549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 1 看下一页的两种变型，问题 2 看定理 4.2。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7547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只有成功查找可能 1 次结束；失败查找不论 x 落在哪个区间，都要一直比到外结点。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两种变型：写法的细节会改变比较次数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822382"/>
            <a:chOff x="533400" y="1524000"/>
            <a:chExt cx="5410200" cy="3822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22382"/>
            </a:xfrm>
            <a:prstGeom prst="roundRect">
              <a:avLst>
                <a:gd name="adj" fmla="val 24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763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变型一：case 语句换成 if 语句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502" y="1939862"/>
              <a:ext cx="2589962" cy="3347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8"/>
                </a:lnSpc>
              </a:pP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BINSRCH(A, n, x, j)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high, mid, j, n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low ← 1; high ← n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low ≤ high do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⌊(low+high)/2⌋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x &lt; A(mid)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then high ← mid−1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else if x &gt; A(mid)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then low ← mid+1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else j ← mid; return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← 0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BINSRCH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521642"/>
            <a:ext cx="5410200" cy="729615"/>
            <a:chOff x="533400" y="5521642"/>
            <a:chExt cx="5410200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552164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782746"/>
              <a:ext cx="224134" cy="192560"/>
              <a:chOff x="726129" y="578274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8531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7827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9309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667375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 if 只有两个分支。走 else 分支时 x 要先后和 A(mid)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比较两次，最坏情况下每轮都比较两次。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3379470"/>
            <a:chOff x="6248400" y="1524000"/>
            <a:chExt cx="5410200" cy="337947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3379470"/>
            </a:xfrm>
            <a:prstGeom prst="roundRect">
              <a:avLst>
                <a:gd name="adj" fmla="val 281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23323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变型二：BINSRCH1，循环中只比较一次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5502" y="1939862"/>
              <a:ext cx="3941178" cy="2903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8"/>
                </a:lnSpc>
              </a:pP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BINSRCH1(A, n, x, j)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high, mid, j, n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low ← 1; high ← n+1  </a:t>
              </a:r>
              <a:r>
                <a:rPr lang="zh-CN" sz="12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high 总比可能取值大 1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low &lt; high−1 do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⌊(low+high)/2⌋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x &lt; A(mid)       </a:t>
              </a:r>
              <a:r>
                <a:rPr lang="zh-CN" sz="12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循环中只比较一次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then high ← mid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else low ← mid    </a:t>
              </a:r>
              <a:r>
                <a:rPr lang="en-US" sz="123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x ≥ A(mid)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x = A(low) then j ← low  </a:t>
              </a:r>
              <a:r>
                <a:rPr lang="zh-CN" sz="12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 出现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else j ← 0    </a:t>
              </a:r>
              <a:r>
                <a:rPr lang="zh-CN" sz="12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 不出现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BINSRCH1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248400" y="5078730"/>
            <a:ext cx="5410200" cy="1172528"/>
            <a:chOff x="6248400" y="5078730"/>
            <a:chExt cx="5410200" cy="1172528"/>
          </a:xfrm>
        </p:grpSpPr>
        <p:sp>
          <p:nvSpPr>
            <p:cNvPr id="22" name="Rectangle 22"/>
            <p:cNvSpPr/>
            <p:nvPr/>
          </p:nvSpPr>
          <p:spPr>
            <a:xfrm>
              <a:off x="6248400" y="5078730"/>
              <a:ext cx="5410200" cy="1172528"/>
            </a:xfrm>
            <a:prstGeom prst="roundRect">
              <a:avLst>
                <a:gd name="adj" fmla="val 974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53188" y="5564505"/>
              <a:ext cx="200026" cy="200026"/>
              <a:chOff x="6453188" y="5564505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53188" y="55645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19863" y="56422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55892" y="5321618"/>
              <a:ext cx="437711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不论 x 在哪里，循环都要做到区间只剩 1 个元素才停，最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好、最坏、平均对成功和不成功查找都是 Θ(log n)。n = 9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时共比较 4 或 5 次。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3151" cy="909257"/>
            <a:chOff x="520446" y="342900"/>
            <a:chExt cx="9363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3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比较型查找的比较树：线性查找深 n 级，二分查找约 log n 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44788" cy="308039"/>
            <a:chOff x="525399" y="1550194"/>
            <a:chExt cx="10044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44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对已排序的 n 个元素，有没有比较型查找算法最坏情况下比二分查找还快？把算法画成二元比较树来分析。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1236521" y="1992630"/>
            <a:ext cx="2272313" cy="293370"/>
            <a:chOff x="1236521" y="1992630"/>
            <a:chExt cx="2272313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236521" y="1992630"/>
              <a:ext cx="2272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线性查找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：最坏比较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</a:t>
              </a:r>
            </a:p>
          </p:txBody>
        </p:sp>
      </p:grpSp>
      <p:grpSp>
        <p:nvGrpSpPr>
          <p:cNvPr id="31" name="c1-graph-2"/>
          <p:cNvGrpSpPr/>
          <p:nvPr/>
        </p:nvGrpSpPr>
        <p:grpSpPr>
          <a:xfrm>
            <a:off x="726758" y="2486025"/>
            <a:ext cx="3365182" cy="2823210"/>
            <a:chOff x="726758" y="2486025"/>
            <a:chExt cx="3365182" cy="2823210"/>
          </a:xfrm>
        </p:grpSpPr>
        <p:sp>
          <p:nvSpPr>
            <p:cNvPr id="11" name="Freeform 11"/>
            <p:cNvSpPr/>
            <p:nvPr/>
          </p:nvSpPr>
          <p:spPr>
            <a:xfrm>
              <a:off x="1124902" y="2766060"/>
              <a:ext cx="436245" cy="408623"/>
            </a:xfrm>
            <a:custGeom>
              <a:avLst/>
              <a:gdLst/>
              <a:ahLst/>
              <a:cxnLst/>
              <a:rect l="l" t="t" r="r" b="b"/>
              <a:pathLst>
                <a:path w="436245" h="408623">
                  <a:moveTo>
                    <a:pt x="436245" y="0"/>
                  </a:moveTo>
                  <a:lnTo>
                    <a:pt x="0" y="4086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60232" y="2766060"/>
              <a:ext cx="436245" cy="408623"/>
            </a:xfrm>
            <a:custGeom>
              <a:avLst/>
              <a:gdLst/>
              <a:ahLst/>
              <a:cxnLst/>
              <a:rect l="l" t="t" r="r" b="b"/>
              <a:pathLst>
                <a:path w="436245" h="408623">
                  <a:moveTo>
                    <a:pt x="0" y="0"/>
                  </a:moveTo>
                  <a:lnTo>
                    <a:pt x="436245" y="4086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60232" y="3454718"/>
              <a:ext cx="436245" cy="407670"/>
            </a:xfrm>
            <a:custGeom>
              <a:avLst/>
              <a:gdLst/>
              <a:ahLst/>
              <a:cxnLst/>
              <a:rect l="l" t="t" r="r" b="b"/>
              <a:pathLst>
                <a:path w="436245" h="407670">
                  <a:moveTo>
                    <a:pt x="436245" y="0"/>
                  </a:moveTo>
                  <a:lnTo>
                    <a:pt x="0" y="4076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32698" y="3454718"/>
              <a:ext cx="563880" cy="916305"/>
            </a:xfrm>
            <a:custGeom>
              <a:avLst/>
              <a:gdLst/>
              <a:ahLst/>
              <a:cxnLst/>
              <a:rect l="l" t="t" r="r" b="b"/>
              <a:pathLst>
                <a:path w="563880" h="916305">
                  <a:moveTo>
                    <a:pt x="0" y="0"/>
                  </a:moveTo>
                  <a:lnTo>
                    <a:pt x="563880" y="91630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603182" y="4651058"/>
              <a:ext cx="422910" cy="378142"/>
            </a:xfrm>
            <a:custGeom>
              <a:avLst/>
              <a:gdLst/>
              <a:ahLst/>
              <a:cxnLst/>
              <a:rect l="l" t="t" r="r" b="b"/>
              <a:pathLst>
                <a:path w="422910" h="378142">
                  <a:moveTo>
                    <a:pt x="422910" y="0"/>
                  </a:moveTo>
                  <a:lnTo>
                    <a:pt x="0" y="3781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23272" y="4651058"/>
              <a:ext cx="380048" cy="378142"/>
            </a:xfrm>
            <a:custGeom>
              <a:avLst/>
              <a:gdLst/>
              <a:ahLst/>
              <a:cxnLst/>
              <a:rect l="l" t="t" r="r" b="b"/>
              <a:pathLst>
                <a:path w="380048" h="378142">
                  <a:moveTo>
                    <a:pt x="0" y="0"/>
                  </a:moveTo>
                  <a:lnTo>
                    <a:pt x="380048" y="3781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64932" y="2486025"/>
              <a:ext cx="6905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6758" y="317468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01215" y="3174682"/>
              <a:ext cx="6905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63040" y="3862388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36545" y="4371022"/>
              <a:ext cx="6905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198370" y="5029200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96640" y="5029200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53535" y="2561273"/>
              <a:ext cx="514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722" y="32489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8865" y="3248978"/>
              <a:ext cx="514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x:A(2)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4005" y="39366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27457" y="4445318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99335" y="51034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97605" y="51034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</p:grpSp>
      <p:grpSp>
        <p:nvGrpSpPr>
          <p:cNvPr id="33" name="c2-text-1"/>
          <p:cNvGrpSpPr/>
          <p:nvPr/>
        </p:nvGrpSpPr>
        <p:grpSpPr>
          <a:xfrm>
            <a:off x="6453259" y="1992630"/>
            <a:ext cx="3268837" cy="293370"/>
            <a:chOff x="6453259" y="1992630"/>
            <a:chExt cx="3268837" cy="293370"/>
          </a:xfrm>
        </p:grpSpPr>
        <p:sp>
          <p:nvSpPr>
            <p:cNvPr id="32" name="TextBox 32"/>
            <p:cNvSpPr txBox="1"/>
            <p:nvPr/>
          </p:nvSpPr>
          <p:spPr>
            <a:xfrm>
              <a:off x="6453259" y="1992630"/>
              <a:ext cx="32688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：最坏比较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⌈log(n+1)⌉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</a:t>
              </a:r>
            </a:p>
          </p:txBody>
        </p:sp>
      </p:grpSp>
      <p:grpSp>
        <p:nvGrpSpPr>
          <p:cNvPr id="78" name="c2-graph-2"/>
          <p:cNvGrpSpPr/>
          <p:nvPr/>
        </p:nvGrpSpPr>
        <p:grpSpPr>
          <a:xfrm>
            <a:off x="4554855" y="2486025"/>
            <a:ext cx="7065645" cy="2763202"/>
            <a:chOff x="4554855" y="2486025"/>
            <a:chExt cx="7065645" cy="2763202"/>
          </a:xfrm>
        </p:grpSpPr>
        <p:sp>
          <p:nvSpPr>
            <p:cNvPr id="34" name="Freeform 34"/>
            <p:cNvSpPr/>
            <p:nvPr/>
          </p:nvSpPr>
          <p:spPr>
            <a:xfrm>
              <a:off x="6637020" y="2766060"/>
              <a:ext cx="1116330" cy="468630"/>
            </a:xfrm>
            <a:custGeom>
              <a:avLst/>
              <a:gdLst/>
              <a:ahLst/>
              <a:cxnLst/>
              <a:rect l="l" t="t" r="r" b="b"/>
              <a:pathLst>
                <a:path w="1116330" h="468630">
                  <a:moveTo>
                    <a:pt x="1116330" y="0"/>
                  </a:moveTo>
                  <a:lnTo>
                    <a:pt x="0" y="468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422005" y="2766060"/>
              <a:ext cx="1117282" cy="468630"/>
            </a:xfrm>
            <a:custGeom>
              <a:avLst/>
              <a:gdLst/>
              <a:ahLst/>
              <a:cxnLst/>
              <a:rect l="l" t="t" r="r" b="b"/>
              <a:pathLst>
                <a:path w="1117282" h="468630">
                  <a:moveTo>
                    <a:pt x="0" y="0"/>
                  </a:moveTo>
                  <a:lnTo>
                    <a:pt x="1117282" y="468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277802" y="3514725"/>
              <a:ext cx="835342" cy="617220"/>
            </a:xfrm>
            <a:custGeom>
              <a:avLst/>
              <a:gdLst/>
              <a:ahLst/>
              <a:cxnLst/>
              <a:rect l="l" t="t" r="r" b="b"/>
              <a:pathLst>
                <a:path w="835342" h="617220">
                  <a:moveTo>
                    <a:pt x="835342" y="0"/>
                  </a:moveTo>
                  <a:lnTo>
                    <a:pt x="0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6402705" y="3514725"/>
              <a:ext cx="441960" cy="617220"/>
            </a:xfrm>
            <a:custGeom>
              <a:avLst/>
              <a:gdLst/>
              <a:ahLst/>
              <a:cxnLst/>
              <a:rect l="l" t="t" r="r" b="b"/>
              <a:pathLst>
                <a:path w="441960" h="617220">
                  <a:moveTo>
                    <a:pt x="0" y="0"/>
                  </a:moveTo>
                  <a:lnTo>
                    <a:pt x="441960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9330690" y="3514725"/>
              <a:ext cx="441960" cy="617220"/>
            </a:xfrm>
            <a:custGeom>
              <a:avLst/>
              <a:gdLst/>
              <a:ahLst/>
              <a:cxnLst/>
              <a:rect l="l" t="t" r="r" b="b"/>
              <a:pathLst>
                <a:path w="441960" h="617220">
                  <a:moveTo>
                    <a:pt x="441960" y="0"/>
                  </a:moveTo>
                  <a:lnTo>
                    <a:pt x="0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10062210" y="3514725"/>
              <a:ext cx="835342" cy="617220"/>
            </a:xfrm>
            <a:custGeom>
              <a:avLst/>
              <a:gdLst/>
              <a:ahLst/>
              <a:cxnLst/>
              <a:rect l="l" t="t" r="r" b="b"/>
              <a:pathLst>
                <a:path w="835342" h="617220">
                  <a:moveTo>
                    <a:pt x="0" y="0"/>
                  </a:moveTo>
                  <a:lnTo>
                    <a:pt x="835342" y="6172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4850130" y="4411980"/>
              <a:ext cx="190500" cy="557213"/>
            </a:xfrm>
            <a:custGeom>
              <a:avLst/>
              <a:gdLst/>
              <a:ahLst/>
              <a:cxnLst/>
              <a:rect l="l" t="t" r="r" b="b"/>
              <a:pathLst>
                <a:path w="190500" h="557213">
                  <a:moveTo>
                    <a:pt x="190500" y="0"/>
                  </a:moveTo>
                  <a:lnTo>
                    <a:pt x="0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148262" y="4411980"/>
              <a:ext cx="237172" cy="557213"/>
            </a:xfrm>
            <a:custGeom>
              <a:avLst/>
              <a:gdLst/>
              <a:ahLst/>
              <a:cxnLst/>
              <a:rect l="l" t="t" r="r" b="b"/>
              <a:pathLst>
                <a:path w="237172" h="557213">
                  <a:moveTo>
                    <a:pt x="0" y="0"/>
                  </a:moveTo>
                  <a:lnTo>
                    <a:pt x="237172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647498" y="4411980"/>
              <a:ext cx="238125" cy="557213"/>
            </a:xfrm>
            <a:custGeom>
              <a:avLst/>
              <a:gdLst/>
              <a:ahLst/>
              <a:cxnLst/>
              <a:rect l="l" t="t" r="r" b="b"/>
              <a:pathLst>
                <a:path w="238125" h="557213">
                  <a:moveTo>
                    <a:pt x="238125" y="0"/>
                  </a:moveTo>
                  <a:lnTo>
                    <a:pt x="0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04685" y="4411980"/>
              <a:ext cx="238125" cy="557213"/>
            </a:xfrm>
            <a:custGeom>
              <a:avLst/>
              <a:gdLst/>
              <a:ahLst/>
              <a:cxnLst/>
              <a:rect l="l" t="t" r="r" b="b"/>
              <a:pathLst>
                <a:path w="238125" h="557213">
                  <a:moveTo>
                    <a:pt x="0" y="0"/>
                  </a:moveTo>
                  <a:lnTo>
                    <a:pt x="238125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33498" y="4411980"/>
              <a:ext cx="237172" cy="557213"/>
            </a:xfrm>
            <a:custGeom>
              <a:avLst/>
              <a:gdLst/>
              <a:ahLst/>
              <a:cxnLst/>
              <a:rect l="l" t="t" r="r" b="b"/>
              <a:pathLst>
                <a:path w="237172" h="557213">
                  <a:moveTo>
                    <a:pt x="237172" y="0"/>
                  </a:moveTo>
                  <a:lnTo>
                    <a:pt x="0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289732" y="4411980"/>
              <a:ext cx="238125" cy="557213"/>
            </a:xfrm>
            <a:custGeom>
              <a:avLst/>
              <a:gdLst/>
              <a:ahLst/>
              <a:cxnLst/>
              <a:rect l="l" t="t" r="r" b="b"/>
              <a:pathLst>
                <a:path w="238125" h="557213">
                  <a:moveTo>
                    <a:pt x="0" y="0"/>
                  </a:moveTo>
                  <a:lnTo>
                    <a:pt x="238125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789920" y="4411980"/>
              <a:ext cx="238125" cy="557213"/>
            </a:xfrm>
            <a:custGeom>
              <a:avLst/>
              <a:gdLst/>
              <a:ahLst/>
              <a:cxnLst/>
              <a:rect l="l" t="t" r="r" b="b"/>
              <a:pathLst>
                <a:path w="238125" h="557213">
                  <a:moveTo>
                    <a:pt x="238125" y="0"/>
                  </a:moveTo>
                  <a:lnTo>
                    <a:pt x="0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134725" y="4411980"/>
              <a:ext cx="190500" cy="557213"/>
            </a:xfrm>
            <a:custGeom>
              <a:avLst/>
              <a:gdLst/>
              <a:ahLst/>
              <a:cxnLst/>
              <a:rect l="l" t="t" r="r" b="b"/>
              <a:pathLst>
                <a:path w="190500" h="557213">
                  <a:moveTo>
                    <a:pt x="0" y="0"/>
                  </a:moveTo>
                  <a:lnTo>
                    <a:pt x="190500" y="5572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87590" y="2486025"/>
              <a:ext cx="140017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02605" y="3234690"/>
              <a:ext cx="140017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34475" y="3234690"/>
              <a:ext cx="147732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743450" y="4131945"/>
              <a:ext cx="6905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68390" y="4131945"/>
              <a:ext cx="155448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53438" y="4131945"/>
              <a:ext cx="155448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742295" y="4131945"/>
              <a:ext cx="6905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554855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97792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340792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54215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625840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340215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82262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1125200" y="4969192"/>
              <a:ext cx="4953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00151" y="2561273"/>
              <a:ext cx="1175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x:A(⌊(n+1)/2⌋)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15166" y="3308985"/>
              <a:ext cx="1175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x:A(⌊(n+1)/4⌋)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44503" y="3308985"/>
              <a:ext cx="1258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x:A(⌊(3n+1)/4⌋)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31100" y="4206240"/>
              <a:ext cx="514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x:A(1)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4933" y="4206240"/>
              <a:ext cx="134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x:A(⌊(n+1)/2⌋−1)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59980" y="4206240"/>
              <a:ext cx="134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x:A(⌊(n+1)/2⌋+1)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32255" y="4206240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x:A(n)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55820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98758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1758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55180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726805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41180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83228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26165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9" name="Rectangle 7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130" y="5728335"/>
              <a:ext cx="10006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两棵树都有 n 个内结点，对应 x 可能出现的 n 个位置；最坏情况的比较次数等于内结点的最大级数。虚线表示省略了中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间若干级。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6594" cy="909257"/>
            <a:chOff x="520446" y="342900"/>
            <a:chExt cx="7986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二分查找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6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4.2：比较型查找最坏至少比较 ⌈log(n+1)⌉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2386012"/>
            <a:chOff x="533400" y="1524000"/>
            <a:chExt cx="4544378" cy="2386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386012"/>
            </a:xfrm>
            <a:prstGeom prst="roundRect">
              <a:avLst>
                <a:gd name="adj" fmla="val 5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193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920" y="176355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4.2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90982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A(1:n) 含有 n（n ≥ 1）个不同元素，A(1) &lt;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A(2) &lt; … &lt; A(n)。以比较为基础判断 x 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A(1:n) 的任何算法，最坏情况下所需的最小比较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 FIND(n)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"/>
                <p:cNvSpPr txBox="1">
                  <a:spLocks noGrp="1"/>
                </p:cNvSpPr>
                <p:nvPr/>
              </p:nvSpPr>
              <p:spPr>
                <a:xfrm>
                  <a:off x="775335" y="3211830"/>
                  <a:ext cx="4098608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FIND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d>
                          <m:dPr>
                            <m:begChr m:val="⌈"/>
                            <m:sepChr m:val=""/>
                            <m:endChr m:val="⌉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llout-2"/>
          <p:cNvGrpSpPr/>
          <p:nvPr/>
        </p:nvGrpSpPr>
        <p:grpSpPr>
          <a:xfrm>
            <a:off x="533400" y="4095750"/>
            <a:ext cx="4544378" cy="1281112"/>
            <a:chOff x="533400" y="4095750"/>
            <a:chExt cx="4544378" cy="1281112"/>
          </a:xfrm>
        </p:grpSpPr>
        <p:sp>
          <p:nvSpPr>
            <p:cNvPr id="14" name="Rectangle 14"/>
            <p:cNvSpPr/>
            <p:nvPr/>
          </p:nvSpPr>
          <p:spPr>
            <a:xfrm>
              <a:off x="533400" y="4095750"/>
              <a:ext cx="4544378" cy="1281112"/>
            </a:xfrm>
            <a:prstGeom prst="roundRect">
              <a:avLst>
                <a:gd name="adj" fmla="val 892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635818"/>
              <a:ext cx="200026" cy="200026"/>
              <a:chOff x="738188" y="4635818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6358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47136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242911"/>
              <a:ext cx="3531108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不存在最坏情况计算时间低于 Θ(log n) 的比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较型查找算法。BINSRCH 最坏比较 ⌊log n⌋ +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次，恰好等于 ⌈log(n+1)⌉，是最坏情况下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的最优算法。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5382578" y="1533525"/>
            <a:ext cx="6378092" cy="2411159"/>
            <a:chOff x="5382578" y="1533525"/>
            <a:chExt cx="6378092" cy="2411159"/>
          </a:xfrm>
        </p:grpSpPr>
        <p:sp>
          <p:nvSpPr>
            <p:cNvPr id="20" name="Rectangle 20"/>
            <p:cNvSpPr/>
            <p:nvPr/>
          </p:nvSpPr>
          <p:spPr>
            <a:xfrm>
              <a:off x="5515928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8257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620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8257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7620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8257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7620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4438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画比较树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95582" y="1846898"/>
              <a:ext cx="5965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任何比较型查找算法都对应一棵二元比较树，最坏比较次数等于内结点的最大级数 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94438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数内结点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5582" y="2467927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可能出现在 n 个不同位置，每个位置都要有内结点对应，至少 n 个内结点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4438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数容量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5582" y="3088957"/>
              <a:ext cx="5771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内结点级数都不超过 k 的二元树，至多有 1 + 2 + … + 2^(k−1) = 2ᵏ − 1 个内结点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4438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得出下界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5582" y="3709988"/>
              <a:ext cx="53062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≤ 2ᵏ − 1，即 k ≥ log(n+1)，k 是整数，所以 FIND(n) = k ≥ ⌈log(n+1)⌉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5376862" y="4120515"/>
            <a:ext cx="6281738" cy="1155859"/>
            <a:chOff x="5376862" y="4120515"/>
            <a:chExt cx="6281738" cy="1155859"/>
          </a:xfrm>
        </p:grpSpPr>
        <p:sp>
          <p:nvSpPr>
            <p:cNvPr id="38" name="Rectangle 38"/>
            <p:cNvSpPr/>
            <p:nvPr/>
          </p:nvSpPr>
          <p:spPr>
            <a:xfrm>
              <a:off x="5382578" y="4120515"/>
              <a:ext cx="627602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36699" y="42519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最大级数 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16863" y="4251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70291" y="4251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22766" y="4251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76193" y="4251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29621" y="4251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87924" y="4681538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最多内结点 2ᵏ − 1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19084" y="46815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72512" y="46815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24987" y="46815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33990" y="468153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87417" y="468153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4120515"/>
              <a:ext cx="6276022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88605" y="412051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41080" y="412051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394508" y="412051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47935" y="412051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900410" y="412051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76862" y="5056346"/>
              <a:ext cx="5409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例：n = 9 &gt; 7，k = 3 的树放不下 9 个内结点，任何比较型查找最坏至少比较 4 次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87409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思考题：三分查找每轮最多比较 2 次、范围缩为 1/3，最坏约 2log₃n ≈ 1.26 log n 次，比二分查找多。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先把两半各自排好序，再一趟合并成一个有序序列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插入排序回顾与分治设计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89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MERGESORT 与 MERGE 算法及实例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63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计算时间 O(n log n) 与算法优化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63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比较型排序的时间下界 Ω(n log n)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52848" cy="909257"/>
            <a:chOff x="520446" y="342900"/>
            <a:chExt cx="77528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528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排序问题：插入排序最坏 O(n²)，改用分治法设计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952500"/>
            <a:chOff x="533400" y="1524000"/>
            <a:chExt cx="5410200" cy="95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给定一个含有 n 个元素的集合，要求把它们按非降次序排列。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651760"/>
            <a:ext cx="5410200" cy="1163955"/>
            <a:chOff x="533400" y="2651760"/>
            <a:chExt cx="5410200" cy="1163955"/>
          </a:xfrm>
        </p:grpSpPr>
        <p:sp>
          <p:nvSpPr>
            <p:cNvPr id="13" name="Rectangle 13"/>
            <p:cNvSpPr/>
            <p:nvPr/>
          </p:nvSpPr>
          <p:spPr>
            <a:xfrm>
              <a:off x="533400" y="2651760"/>
              <a:ext cx="5410200" cy="1163955"/>
            </a:xfrm>
            <a:prstGeom prst="roundRect">
              <a:avLst>
                <a:gd name="adj" fmla="val 81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80368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一般方法：直接插入排序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0502" y="3066669"/>
              <a:ext cx="2808656" cy="684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8"/>
                </a:lnSpc>
              </a:pP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j ← 2 to n do</a:t>
              </a:r>
              <a:br/>
              <a:r>
                <a:rPr lang="zh-CN" sz="123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将 A(j) 放入已排序的 A(1:j−1) 中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32" name="c1-table-3"/>
          <p:cNvGrpSpPr/>
          <p:nvPr/>
        </p:nvGrpSpPr>
        <p:grpSpPr>
          <a:xfrm>
            <a:off x="533400" y="3990022"/>
            <a:ext cx="5410200" cy="1217295"/>
            <a:chOff x="533400" y="3990022"/>
            <a:chExt cx="5410200" cy="1217295"/>
          </a:xfrm>
        </p:grpSpPr>
        <p:sp>
          <p:nvSpPr>
            <p:cNvPr id="17" name="Rectangle 17"/>
            <p:cNvSpPr/>
            <p:nvPr/>
          </p:nvSpPr>
          <p:spPr>
            <a:xfrm>
              <a:off x="533400" y="3990022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9346" y="41143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83753" y="41143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3917" y="41143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什么时候出现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412" y="4520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9235" y="4520089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81275" y="4520089"/>
              <a:ext cx="2389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输入已有序，每个 A(j) 只比较 1 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7967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80155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9258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99235" y="492585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1275" y="4925854"/>
              <a:ext cx="3224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输入逆序，A(j) 要比较 j−1 次，共 n(n−1)/2 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90022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94460" y="39900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76500" y="39900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4"/>
          <p:cNvGrpSpPr/>
          <p:nvPr/>
        </p:nvGrpSpPr>
        <p:grpSpPr>
          <a:xfrm>
            <a:off x="533400" y="5382578"/>
            <a:ext cx="5410200" cy="729615"/>
            <a:chOff x="533400" y="5382578"/>
            <a:chExt cx="5410200" cy="729615"/>
          </a:xfrm>
        </p:grpSpPr>
        <p:sp>
          <p:nvSpPr>
            <p:cNvPr id="33" name="Rectangle 33"/>
            <p:cNvSpPr/>
            <p:nvPr/>
          </p:nvSpPr>
          <p:spPr>
            <a:xfrm>
              <a:off x="533400" y="53825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647373"/>
              <a:ext cx="200026" cy="200026"/>
              <a:chOff x="738188" y="564737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47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714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747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528310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合并两个有序序列时只需比较两个“排头”，因为每个序列剩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下的元素都不小于它的排头。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248400" y="1533525"/>
            <a:ext cx="4912487" cy="1900714"/>
            <a:chOff x="6248400" y="1533525"/>
            <a:chExt cx="4912487" cy="1900714"/>
          </a:xfrm>
        </p:grpSpPr>
        <p:sp>
          <p:nvSpPr>
            <p:cNvPr id="40" name="Rectangle 40"/>
            <p:cNvSpPr/>
            <p:nvPr/>
          </p:nvSpPr>
          <p:spPr>
            <a:xfrm>
              <a:off x="6381750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0642" y="1564957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785" y="1833086"/>
              <a:ext cx="44991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A(1), …, A(n) 平均分为两个子集：A(1), …, A(⌊n/2⌋) 和 A(⌊n/2⌋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+1), …, A(n)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23593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262747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递归调用，分别把两个子集排好序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294608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321421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把两个排好序的子集合并为一个有序集合</a:t>
              </a:r>
            </a:p>
          </p:txBody>
        </p:sp>
      </p:grpSp>
      <p:grpSp>
        <p:nvGrpSpPr>
          <p:cNvPr id="56" name="c2-image-2"/>
          <p:cNvGrpSpPr/>
          <p:nvPr/>
        </p:nvGrpSpPr>
        <p:grpSpPr>
          <a:xfrm>
            <a:off x="6248400" y="3602355"/>
            <a:ext cx="5410200" cy="2782824"/>
            <a:chOff x="6248400" y="3602355"/>
            <a:chExt cx="5410200" cy="2782824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rcRect l="0" t="19402" r="0" b="19401"/>
            <a:stretch>
              <a:fillRect/>
            </a:stretch>
          </p:blipFill>
          <p:spPr>
            <a:xfrm>
              <a:off x="6248400" y="3602355"/>
              <a:ext cx="5410200" cy="2483168"/>
            </a:xfrm>
            <a:prstGeom prst="roundRect">
              <a:avLst>
                <a:gd name="adj" fmla="val 5370"/>
              </a:avLst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7181279" y="617982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两队已按身高排好，门口每次只比较两个排头，矮的先进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8105" cy="909257"/>
            <a:chOff x="520446" y="342900"/>
            <a:chExt cx="78781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81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MERGESORT：递归排好两半，再调用 MERGE 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085398" cy="2687002"/>
            <a:chOff x="533400" y="1524000"/>
            <a:chExt cx="5085398" cy="26870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687002"/>
            </a:xfrm>
            <a:prstGeom prst="roundRect">
              <a:avLst>
                <a:gd name="adj" fmla="val 35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00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MERGESORT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1941195"/>
              <a:ext cx="2936939" cy="2214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MERGESORT(low, high)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high, mid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low &lt; high then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⌊(low+high)/2⌋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MERGESORT(low, mid)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MERGESORT(mid+1, high)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MERGE(low, mid, high)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MERGESORT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4426268"/>
            <a:ext cx="5093018" cy="1737360"/>
            <a:chOff x="525780" y="4426268"/>
            <a:chExt cx="5093018" cy="173736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442626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两次递归调用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4055" y="442626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分别对两个子问题排序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74630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4866322"/>
              <a:ext cx="676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4055" y="4866322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合并两个已排好序的子集，得到原问题的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46830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558831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递归出口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64055" y="5588318"/>
              <a:ext cx="3225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≥ high：子集只剩 1 个元素，本身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</a:t>
              </a:r>
            </a:p>
          </p:txBody>
        </p:sp>
      </p:grpSp>
      <p:grpSp>
        <p:nvGrpSpPr>
          <p:cNvPr id="50" name="c2-cells-1"/>
          <p:cNvGrpSpPr/>
          <p:nvPr/>
        </p:nvGrpSpPr>
        <p:grpSpPr>
          <a:xfrm>
            <a:off x="5917882" y="1569720"/>
            <a:ext cx="5605463" cy="1585912"/>
            <a:chOff x="5917882" y="1569720"/>
            <a:chExt cx="5605463" cy="1585912"/>
          </a:xfrm>
        </p:grpSpPr>
        <p:sp>
          <p:nvSpPr>
            <p:cNvPr id="20" name="TextBox 20"/>
            <p:cNvSpPr txBox="1"/>
            <p:nvPr/>
          </p:nvSpPr>
          <p:spPr>
            <a:xfrm>
              <a:off x="5917882" y="195881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8862" y="1819275"/>
              <a:ext cx="89725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0876" y="1958816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A(low)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37070" y="1819275"/>
              <a:ext cx="89725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3644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34325" y="1819275"/>
              <a:ext cx="897255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16338" y="1958816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A(mid)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31580" y="1819275"/>
              <a:ext cx="8972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25289" y="1958816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A(mid+1)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728835" y="1819275"/>
              <a:ext cx="8972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2821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626090" y="1819275"/>
              <a:ext cx="8972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780813" y="195881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A(high)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7743" y="15697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54939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56363" y="1569720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24210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7882" y="25493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38862" y="2409825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65631" y="2549366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B(low)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24675" y="2409825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67854" y="2549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09535" y="2409825"/>
              <a:ext cx="78486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95348" y="2409825"/>
              <a:ext cx="78486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80208" y="2409825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24339" y="2549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066020" y="2409825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64545" y="2549366"/>
              <a:ext cx="587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B(high)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94145" y="2847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8400" y="2979420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923598" y="3318510"/>
            <a:ext cx="5735002" cy="2786062"/>
            <a:chOff x="5923598" y="3318510"/>
            <a:chExt cx="5735002" cy="2786062"/>
          </a:xfrm>
        </p:grpSpPr>
        <p:sp>
          <p:nvSpPr>
            <p:cNvPr id="51" name="Rectangle 51"/>
            <p:cNvSpPr/>
            <p:nvPr/>
          </p:nvSpPr>
          <p:spPr>
            <a:xfrm>
              <a:off x="5923598" y="3318510"/>
              <a:ext cx="5735002" cy="2786062"/>
            </a:xfrm>
            <a:prstGeom prst="roundRect">
              <a:avLst>
                <a:gd name="adj" fmla="val 47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33122" y="3451860"/>
              <a:ext cx="47625" cy="25193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71248" y="3528060"/>
              <a:ext cx="344900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53964" y="3563779"/>
              <a:ext cx="3484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MERGE 的思想：每次取两个排头中较小的放入 B(i)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171248" y="38919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33097" y="39342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238" y="3905250"/>
              <a:ext cx="4115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≤ mid 且 j ≤ high：B(i) ← min(A(h), A(j))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171248" y="42271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33097" y="42694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72238" y="4240530"/>
              <a:ext cx="415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&gt; mid 且 j ≤ high：左半已取完，B(i) ← A(j)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171248" y="45624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33097" y="46047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72238" y="4575810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≤ mid 且 j &gt; high：右半已取完，B(i) ← A(h)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64770" y="4907756"/>
              <a:ext cx="3709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每放入一个元素，i 和被取走一侧的指针各加 1。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2721" cy="909257"/>
            <a:chOff x="520446" y="342900"/>
            <a:chExt cx="7442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2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 算法：两个指针向后扫，剩下的整段照抄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492240" cy="4244340"/>
            <a:chOff x="533400" y="1524000"/>
            <a:chExt cx="6492240" cy="42443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4340"/>
            </a:xfrm>
            <a:prstGeom prst="roundRect">
              <a:avLst>
                <a:gd name="adj" fmla="val 2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49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MERGE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77528"/>
              <a:ext cx="6454140" cy="1971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187" y="1937290"/>
              <a:ext cx="4006545" cy="3763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52"/>
                </a:lnSpc>
              </a:pPr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MERGE(low, mid, high)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h, i, j, k, low, mid, high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global A(low:high); local B(low:high)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h ← low; i ← low; j ← mid+1</a:t>
              </a:r>
              <a:br/>
              <a:r>
                <a:rPr lang="zh-CN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处理两个已排好序的集合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h ≤ mid and j ≤ high do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A(h) ≤ A(j) then B(i) ← A(h); h ← h+1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else B(i) ← A(j); j ← j+1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← i+1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zh-CN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剩余元素处理过程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h &gt; mid then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k ← j to high do B(i) ← A(k); i ← i+1 repeat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k ← h to mid do B(i) ← A(k); i ← i+1 repeat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k ← low to high do A(k) ← B(k) repeat</a:t>
              </a:r>
              <a:br/>
              <a:r>
                <a:rPr lang="en-US" sz="11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MERGE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7330440" y="1524000"/>
            <a:ext cx="4328160" cy="2117408"/>
            <a:chOff x="7330440" y="1524000"/>
            <a:chExt cx="4328160" cy="2117408"/>
          </a:xfrm>
        </p:grpSpPr>
        <p:sp>
          <p:nvSpPr>
            <p:cNvPr id="12" name="Rectangle 12"/>
            <p:cNvSpPr/>
            <p:nvPr/>
          </p:nvSpPr>
          <p:spPr>
            <a:xfrm>
              <a:off x="7330440" y="1524000"/>
              <a:ext cx="432816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3996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6094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3638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读代码的要点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569517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25537" y="2072640"/>
              <a:ext cx="33741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A(h) ≤ A(j)：相等时先取左半的元素，相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等元素的相对次序不变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69517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5537" y="2632710"/>
              <a:ext cx="372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每比较一次就放好一个元素，比较次数 ≤ n − 1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69517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5537" y="293560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一侧取完后，另一侧剩下的元素整段复制即可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69517" y="32937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25537" y="3237548"/>
              <a:ext cx="3686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最后把 B 复制回 A；辅助数组 B 占 Θ(n) 空间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7330440" y="3815715"/>
            <a:ext cx="4328160" cy="729615"/>
            <a:chOff x="7330440" y="3815715"/>
            <a:chExt cx="4328160" cy="729615"/>
          </a:xfrm>
        </p:grpSpPr>
        <p:sp>
          <p:nvSpPr>
            <p:cNvPr id="25" name="Rectangle 25"/>
            <p:cNvSpPr/>
            <p:nvPr/>
          </p:nvSpPr>
          <p:spPr>
            <a:xfrm>
              <a:off x="7330440" y="3815715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535228" y="4080512"/>
              <a:ext cx="200023" cy="200023"/>
              <a:chOff x="7535228" y="4080512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535228" y="40805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668578" y="4147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837932" y="3962400"/>
              <a:ext cx="34855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合并两个各含 n/2 个元素的有序段，元素比较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次数在 n/2 到 n−1 之间。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7330440" y="4720590"/>
            <a:ext cx="4328160" cy="1466850"/>
            <a:chOff x="7330440" y="4720590"/>
            <a:chExt cx="4328160" cy="1466850"/>
          </a:xfrm>
        </p:grpSpPr>
        <p:sp>
          <p:nvSpPr>
            <p:cNvPr id="31" name="Rectangle 31"/>
            <p:cNvSpPr/>
            <p:nvPr/>
          </p:nvSpPr>
          <p:spPr>
            <a:xfrm>
              <a:off x="7330440" y="4720590"/>
              <a:ext cx="432816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39965" y="485394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60945" y="491299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382" y="494728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循环不变式（补充）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54087" y="5269230"/>
              <a:ext cx="36313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每次进入 while 循环体时，B(low..i−1) 按非降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序放着 A(low..h−1) 与 A(mid+1..j−1) 的全部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元素，而且都不大于 A(h) 和 A(j)。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8462" cy="909257"/>
            <a:chOff x="520446" y="342900"/>
            <a:chExt cx="82284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84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实例：对 (6, 3, 9, 4, 1) 调用 MERGESORT(1, 5)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610552" y="1797368"/>
            <a:ext cx="4917758" cy="3318510"/>
            <a:chOff x="610552" y="1797368"/>
            <a:chExt cx="4917758" cy="3318510"/>
          </a:xfrm>
        </p:grpSpPr>
        <p:sp>
          <p:nvSpPr>
            <p:cNvPr id="7" name="Freeform 7"/>
            <p:cNvSpPr/>
            <p:nvPr/>
          </p:nvSpPr>
          <p:spPr>
            <a:xfrm>
              <a:off x="871538" y="3939540"/>
              <a:ext cx="338138" cy="966788"/>
            </a:xfrm>
            <a:custGeom>
              <a:avLst/>
              <a:gdLst/>
              <a:ahLst/>
              <a:cxnLst/>
              <a:rect l="l" t="t" r="r" b="b"/>
              <a:pathLst>
                <a:path w="338138" h="966788">
                  <a:moveTo>
                    <a:pt x="338138" y="0"/>
                  </a:moveTo>
                  <a:lnTo>
                    <a:pt x="0" y="9667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09675" y="3939540"/>
              <a:ext cx="338138" cy="966788"/>
            </a:xfrm>
            <a:custGeom>
              <a:avLst/>
              <a:gdLst/>
              <a:ahLst/>
              <a:cxnLst/>
              <a:rect l="l" t="t" r="r" b="b"/>
              <a:pathLst>
                <a:path w="338138" h="966788">
                  <a:moveTo>
                    <a:pt x="0" y="0"/>
                  </a:moveTo>
                  <a:lnTo>
                    <a:pt x="338138" y="9667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09675" y="2973705"/>
              <a:ext cx="676275" cy="965835"/>
            </a:xfrm>
            <a:custGeom>
              <a:avLst/>
              <a:gdLst/>
              <a:ahLst/>
              <a:cxnLst/>
              <a:rect l="l" t="t" r="r" b="b"/>
              <a:pathLst>
                <a:path w="676275" h="965835">
                  <a:moveTo>
                    <a:pt x="676275" y="0"/>
                  </a:moveTo>
                  <a:lnTo>
                    <a:pt x="0" y="965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5950" y="2973705"/>
              <a:ext cx="676275" cy="965835"/>
            </a:xfrm>
            <a:custGeom>
              <a:avLst/>
              <a:gdLst/>
              <a:ahLst/>
              <a:cxnLst/>
              <a:rect l="l" t="t" r="r" b="b"/>
              <a:pathLst>
                <a:path w="676275" h="965835">
                  <a:moveTo>
                    <a:pt x="0" y="0"/>
                  </a:moveTo>
                  <a:lnTo>
                    <a:pt x="676275" y="965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14775" y="2973705"/>
              <a:ext cx="676275" cy="965835"/>
            </a:xfrm>
            <a:custGeom>
              <a:avLst/>
              <a:gdLst/>
              <a:ahLst/>
              <a:cxnLst/>
              <a:rect l="l" t="t" r="r" b="b"/>
              <a:pathLst>
                <a:path w="676275" h="965835">
                  <a:moveTo>
                    <a:pt x="676275" y="0"/>
                  </a:moveTo>
                  <a:lnTo>
                    <a:pt x="0" y="965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1050" y="2973705"/>
              <a:ext cx="676275" cy="965835"/>
            </a:xfrm>
            <a:custGeom>
              <a:avLst/>
              <a:gdLst/>
              <a:ahLst/>
              <a:cxnLst/>
              <a:rect l="l" t="t" r="r" b="b"/>
              <a:pathLst>
                <a:path w="676275" h="965835">
                  <a:moveTo>
                    <a:pt x="0" y="0"/>
                  </a:moveTo>
                  <a:lnTo>
                    <a:pt x="676275" y="965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2006918"/>
              <a:ext cx="1352550" cy="966788"/>
            </a:xfrm>
            <a:custGeom>
              <a:avLst/>
              <a:gdLst/>
              <a:ahLst/>
              <a:cxnLst/>
              <a:rect l="l" t="t" r="r" b="b"/>
              <a:pathLst>
                <a:path w="1352550" h="966788">
                  <a:moveTo>
                    <a:pt x="1352550" y="0"/>
                  </a:moveTo>
                  <a:lnTo>
                    <a:pt x="0" y="9667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2006918"/>
              <a:ext cx="1352550" cy="966788"/>
            </a:xfrm>
            <a:custGeom>
              <a:avLst/>
              <a:gdLst/>
              <a:ahLst/>
              <a:cxnLst/>
              <a:rect l="l" t="t" r="r" b="b"/>
              <a:pathLst>
                <a:path w="1352550" h="966788">
                  <a:moveTo>
                    <a:pt x="0" y="0"/>
                  </a:moveTo>
                  <a:lnTo>
                    <a:pt x="1352550" y="9667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0552" y="4696778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86828" y="4696778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48690" y="3729990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01240" y="3729990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24965" y="2764155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53790" y="3729990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06340" y="3729990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30065" y="2764155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77515" y="1797368"/>
              <a:ext cx="521970" cy="419100"/>
            </a:xfrm>
            <a:prstGeom prst="roundRect">
              <a:avLst>
                <a:gd name="adj" fmla="val 18182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061" y="483108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1, 1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336" y="483108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2, 2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198" y="386524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90748" y="386524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3, 3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14473" y="2898457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1, 3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3298" y="386524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4, 4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95848" y="386524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5, 5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9573" y="2898457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4, 5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67023" y="1932622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1, 5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5579745"/>
            <a:ext cx="5410200" cy="782955"/>
            <a:chOff x="533400" y="5579745"/>
            <a:chExt cx="5410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728335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结点上的数是一次调用的 low, high；灰色结点只含单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个元素，直接返回。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6242685" y="1524000"/>
            <a:ext cx="5415915" cy="2766537"/>
            <a:chOff x="6242685" y="1524000"/>
            <a:chExt cx="5415915" cy="2766537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67532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21082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74204" y="1659731"/>
              <a:ext cx="97734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MERGE(low,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mid, high)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8674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合并的两段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95681" y="1773079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合并后的 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3640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67773" y="233505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7290" y="2335054"/>
              <a:ext cx="857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与 (3)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81236" y="233505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3 6 9 4 1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43640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67773" y="278368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4056" y="2783681"/>
              <a:ext cx="100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6) 与 (9)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81236" y="278368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3 6 9 4 1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43640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67773" y="323230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4, 4, 5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57290" y="3232309"/>
              <a:ext cx="857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与 (1)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81236" y="3232309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3 6 9 1 4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3640" y="36809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67773" y="3680936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37590" y="3680936"/>
              <a:ext cx="1296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6 9) 与 (1 4)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64220" y="3680936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1 3 4 6 9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4658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56964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19270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2685" y="4070509"/>
              <a:ext cx="4750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MERGE 按递归返回的顺序被调用：左子树的合并全部做完才轮到右子树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248400" y="4436745"/>
            <a:ext cx="5410200" cy="1602105"/>
            <a:chOff x="6248400" y="4436745"/>
            <a:chExt cx="5410200" cy="1602105"/>
          </a:xfrm>
        </p:grpSpPr>
        <p:sp>
          <p:nvSpPr>
            <p:cNvPr id="73" name="Rectangle 73"/>
            <p:cNvSpPr/>
            <p:nvPr/>
          </p:nvSpPr>
          <p:spPr>
            <a:xfrm>
              <a:off x="6248400" y="443674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7925" y="457009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96050" y="4646295"/>
              <a:ext cx="27698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18300" y="468201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思考：算法的调用过程受问题实例影响吗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88430" y="502348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不受影响。调用哪些 (low, high)、MERGE 以什么顺序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执行只由 n 决定；元素的值只影响 MERGE 内部的比较结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47964" cy="909257"/>
            <a:chOff x="520446" y="342900"/>
            <a:chExt cx="60479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479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逐步看最后一次合并 MERGE(1, 3, 5)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74512" cy="308039"/>
            <a:chOff x="525399" y="1550194"/>
            <a:chExt cx="947451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745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左半 A(1:3) = (3, 6, 9)，右半 A(4:5) = (1, 4)。每一步比较 A(h) 与 A(j)，较小者放入 B(i)。</a:t>
              </a:r>
            </a:p>
          </p:txBody>
        </p:sp>
      </p:grpSp>
      <p:grpSp>
        <p:nvGrpSpPr>
          <p:cNvPr id="64" name="c1-cells-1"/>
          <p:cNvGrpSpPr/>
          <p:nvPr/>
        </p:nvGrpSpPr>
        <p:grpSpPr>
          <a:xfrm>
            <a:off x="526923" y="2016442"/>
            <a:ext cx="3030665" cy="3247073"/>
            <a:chOff x="526923" y="2016442"/>
            <a:chExt cx="3030665" cy="3247073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4122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62088" y="2282190"/>
              <a:ext cx="41910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5405" y="2412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81188" y="2282190"/>
              <a:ext cx="41910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4505" y="2412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00288" y="2282190"/>
              <a:ext cx="41910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53605" y="2412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19388" y="22821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72705" y="2412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38488" y="22821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91805" y="2412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3040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950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6860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8770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0680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5488" y="20164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33538" y="21869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01341" y="2016442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890838" y="21869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23" y="3202781"/>
              <a:ext cx="728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第 1 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62088" y="307276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615405" y="32027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81188" y="30727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00288" y="30727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9388" y="30727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38488" y="30727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923" y="3793331"/>
              <a:ext cx="728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第 2 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462088" y="36633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15405" y="37933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881188" y="36633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34505" y="37933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00288" y="36633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719388" y="36633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138488" y="36633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923" y="4383881"/>
              <a:ext cx="728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第 3 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462088" y="4253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15405" y="4383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881188" y="4253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034505" y="4383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300288" y="425386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453605" y="4383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719388" y="42538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138488" y="42538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923" y="4974431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复制剩余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462088" y="48444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615405" y="4974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881188" y="48444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34505" y="4974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00288" y="48444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453605" y="4974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719388" y="4844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872705" y="4974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138488" y="4844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291805" y="4974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71" name="c1-callout-2"/>
          <p:cNvGrpSpPr/>
          <p:nvPr/>
        </p:nvGrpSpPr>
        <p:grpSpPr>
          <a:xfrm>
            <a:off x="533400" y="5454015"/>
            <a:ext cx="5193982" cy="782955"/>
            <a:chOff x="533400" y="5454015"/>
            <a:chExt cx="5193982" cy="782955"/>
          </a:xfrm>
        </p:grpSpPr>
        <p:sp>
          <p:nvSpPr>
            <p:cNvPr id="65" name="Rectangle 65"/>
            <p:cNvSpPr/>
            <p:nvPr/>
          </p:nvSpPr>
          <p:spPr>
            <a:xfrm>
              <a:off x="533400" y="545401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745480"/>
              <a:ext cx="200026" cy="200026"/>
              <a:chOff x="738188" y="5745480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7454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812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58454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602605"/>
              <a:ext cx="4158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 for 循环把 B(1:5) 复制回 A(1:5)，排序完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</p:grpSp>
      <p:grpSp>
        <p:nvGrpSpPr>
          <p:cNvPr id="102" name="c2-table-1"/>
          <p:cNvGrpSpPr/>
          <p:nvPr/>
        </p:nvGrpSpPr>
        <p:grpSpPr>
          <a:xfrm>
            <a:off x="6032182" y="1967865"/>
            <a:ext cx="5626418" cy="2470785"/>
            <a:chOff x="6032182" y="1967865"/>
            <a:chExt cx="5626418" cy="2470785"/>
          </a:xfrm>
        </p:grpSpPr>
        <p:sp>
          <p:nvSpPr>
            <p:cNvPr id="72" name="Rectangle 72"/>
            <p:cNvSpPr/>
            <p:nvPr/>
          </p:nvSpPr>
          <p:spPr>
            <a:xfrm>
              <a:off x="6032182" y="196786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20536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4122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91607" y="210264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放入 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0738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指针变化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6937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02933" y="2551271"/>
              <a:ext cx="1714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A(1) = 3 与 A(4) = 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9778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66198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2182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032182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56937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02933" y="3000851"/>
              <a:ext cx="1714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A(1) = 3 与 A(5) = 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9778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966198" y="300085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032182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256937" y="35628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702933" y="3562826"/>
              <a:ext cx="1714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A(2) = 6 与 A(5) = 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97782" y="35628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966198" y="3449479"/>
              <a:ext cx="14922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6 &gt; high，循环结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032182" y="39843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032182" y="398907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256937" y="41248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702933" y="41248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右半已取完，不再比较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77162" y="4124801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6, 9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966198" y="4124801"/>
              <a:ext cx="1013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 A(2:3)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032182" y="1967865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590348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840152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9853612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8" name="c2-callout-2"/>
          <p:cNvGrpSpPr/>
          <p:nvPr/>
        </p:nvGrpSpPr>
        <p:grpSpPr>
          <a:xfrm>
            <a:off x="6032182" y="4629150"/>
            <a:ext cx="5626418" cy="1607820"/>
            <a:chOff x="6032182" y="4629150"/>
            <a:chExt cx="5626418" cy="1607820"/>
          </a:xfrm>
        </p:grpSpPr>
        <p:sp>
          <p:nvSpPr>
            <p:cNvPr id="103" name="Rectangle 103"/>
            <p:cNvSpPr/>
            <p:nvPr/>
          </p:nvSpPr>
          <p:spPr>
            <a:xfrm>
              <a:off x="6032182" y="4629150"/>
              <a:ext cx="5626418" cy="1607820"/>
            </a:xfrm>
            <a:prstGeom prst="roundRect">
              <a:avLst>
                <a:gd name="adj" fmla="val 710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6236970" y="5333048"/>
              <a:ext cx="200026" cy="200026"/>
              <a:chOff x="6236970" y="5333048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6236970" y="53330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303645" y="54108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6538912" y="5052060"/>
              <a:ext cx="4653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共比较 3 次。一般地，合并长为 m1、m2 的两段，比较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次数在 min(m1, m2) 与 m1 + m2 − 1 之间，本例为 2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到 4。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0697" cy="909257"/>
            <a:chOff x="520446" y="342900"/>
            <a:chExt cx="90306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06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归并排序的计算时间：T(n) = an + cn log n = O(n log 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3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1147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871788"/>
            <a:ext cx="5045045" cy="2529172"/>
            <a:chOff x="533400" y="2871788"/>
            <a:chExt cx="5045045" cy="2529172"/>
          </a:xfrm>
        </p:grpSpPr>
        <p:sp>
          <p:nvSpPr>
            <p:cNvPr id="8" name="Rectangle 8"/>
            <p:cNvSpPr/>
            <p:nvPr/>
          </p:nvSpPr>
          <p:spPr>
            <a:xfrm>
              <a:off x="666750" y="3014662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8717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945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35223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596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41738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4247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8244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906078"/>
              <a:ext cx="208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展开一次（令 n = 2ᵏ）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3199924"/>
              <a:ext cx="39973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2(2T(n/4) + cn/2) + cn = 2²T(n/4) + 2cn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5566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再展开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850481"/>
              <a:ext cx="4189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2²(2T(n/8) + cn/4) + 2cn = 2³T(n/8) + 3cn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20814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k 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501039"/>
              <a:ext cx="2931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2ᵏ T(1) + kcn = an + cn log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858702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不是 2 的幂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5151596"/>
              <a:ext cx="4632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&lt; n ≤ 2^(k+1) 时 T(n) ≤ T(2^(k+1))，仍为 O(n log n)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579745"/>
            <a:ext cx="5626418" cy="782955"/>
            <a:chOff x="533400" y="5579745"/>
            <a:chExt cx="5626418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57974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728335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步用到 T(n) 随 n 单调不减：输入变多，归并排序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的工作量不会变少。</a:t>
              </a:r>
            </a:p>
          </p:txBody>
        </p:sp>
      </p:grpSp>
      <p:grpSp>
        <p:nvGrpSpPr>
          <p:cNvPr id="53" name="c2-tree-1"/>
          <p:cNvGrpSpPr/>
          <p:nvPr/>
        </p:nvGrpSpPr>
        <p:grpSpPr>
          <a:xfrm>
            <a:off x="6844665" y="1631632"/>
            <a:ext cx="4433887" cy="1689736"/>
            <a:chOff x="6844665" y="1631632"/>
            <a:chExt cx="4433887" cy="1689736"/>
          </a:xfrm>
        </p:grpSpPr>
        <p:sp>
          <p:nvSpPr>
            <p:cNvPr id="33" name="Freeform 33"/>
            <p:cNvSpPr/>
            <p:nvPr/>
          </p:nvSpPr>
          <p:spPr>
            <a:xfrm>
              <a:off x="7114222" y="2476500"/>
              <a:ext cx="648653" cy="635317"/>
            </a:xfrm>
            <a:custGeom>
              <a:avLst/>
              <a:gdLst/>
              <a:ahLst/>
              <a:cxnLst/>
              <a:rect l="l" t="t" r="r" b="b"/>
              <a:pathLst>
                <a:path w="648653" h="635317">
                  <a:moveTo>
                    <a:pt x="648653" y="0"/>
                  </a:moveTo>
                  <a:lnTo>
                    <a:pt x="0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62875" y="2476500"/>
              <a:ext cx="649605" cy="635317"/>
            </a:xfrm>
            <a:custGeom>
              <a:avLst/>
              <a:gdLst/>
              <a:ahLst/>
              <a:cxnLst/>
              <a:rect l="l" t="t" r="r" b="b"/>
              <a:pathLst>
                <a:path w="649605" h="635317">
                  <a:moveTo>
                    <a:pt x="0" y="0"/>
                  </a:moveTo>
                  <a:lnTo>
                    <a:pt x="649605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710738" y="2476500"/>
              <a:ext cx="649605" cy="635317"/>
            </a:xfrm>
            <a:custGeom>
              <a:avLst/>
              <a:gdLst/>
              <a:ahLst/>
              <a:cxnLst/>
              <a:rect l="l" t="t" r="r" b="b"/>
              <a:pathLst>
                <a:path w="649605" h="635317">
                  <a:moveTo>
                    <a:pt x="649605" y="0"/>
                  </a:moveTo>
                  <a:lnTo>
                    <a:pt x="0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60342" y="2476500"/>
              <a:ext cx="648652" cy="635317"/>
            </a:xfrm>
            <a:custGeom>
              <a:avLst/>
              <a:gdLst/>
              <a:ahLst/>
              <a:cxnLst/>
              <a:rect l="l" t="t" r="r" b="b"/>
              <a:pathLst>
                <a:path w="648652" h="635317">
                  <a:moveTo>
                    <a:pt x="0" y="0"/>
                  </a:moveTo>
                  <a:lnTo>
                    <a:pt x="648652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62875" y="1841182"/>
              <a:ext cx="1299210" cy="635317"/>
            </a:xfrm>
            <a:custGeom>
              <a:avLst/>
              <a:gdLst/>
              <a:ahLst/>
              <a:cxnLst/>
              <a:rect l="l" t="t" r="r" b="b"/>
              <a:pathLst>
                <a:path w="1299210" h="635317">
                  <a:moveTo>
                    <a:pt x="1299210" y="0"/>
                  </a:moveTo>
                  <a:lnTo>
                    <a:pt x="0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62085" y="1841182"/>
              <a:ext cx="1298258" cy="635317"/>
            </a:xfrm>
            <a:custGeom>
              <a:avLst/>
              <a:gdLst/>
              <a:ahLst/>
              <a:cxnLst/>
              <a:rect l="l" t="t" r="r" b="b"/>
              <a:pathLst>
                <a:path w="1298258" h="635317">
                  <a:moveTo>
                    <a:pt x="0" y="0"/>
                  </a:moveTo>
                  <a:lnTo>
                    <a:pt x="1298258" y="635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44665" y="2902268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43875" y="2902268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94270" y="2266950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442132" y="2902268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740390" y="2902268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90785" y="2266950"/>
              <a:ext cx="538162" cy="419100"/>
            </a:xfrm>
            <a:prstGeom prst="roundRect">
              <a:avLst>
                <a:gd name="adj" fmla="val 18182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852535" y="163163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34363" y="304180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cn/4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32621" y="304180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cn/4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83016" y="24064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cn/2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30878" y="304180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cn/4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29136" y="304180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cn/4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80483" y="24064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cn/2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69298" y="17711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</a:t>
              </a:r>
            </a:p>
          </p:txBody>
        </p:sp>
      </p:grpSp>
      <p:grpSp>
        <p:nvGrpSpPr>
          <p:cNvPr id="79" name="c2-table-2"/>
          <p:cNvGrpSpPr/>
          <p:nvPr/>
        </p:nvGrpSpPr>
        <p:grpSpPr>
          <a:xfrm>
            <a:off x="6458902" y="3619500"/>
            <a:ext cx="5199698" cy="2539842"/>
            <a:chOff x="6458902" y="3619500"/>
            <a:chExt cx="5199698" cy="2539842"/>
          </a:xfrm>
        </p:grpSpPr>
        <p:sp>
          <p:nvSpPr>
            <p:cNvPr id="54" name="Rectangle 54"/>
            <p:cNvSpPr/>
            <p:nvPr/>
          </p:nvSpPr>
          <p:spPr>
            <a:xfrm>
              <a:off x="6464618" y="36195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2591" y="37552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34298" y="37552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94048" y="37552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本层代价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58992" y="42038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45382" y="42038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43903" y="42038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5119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4618" y="45167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58992" y="4652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45382" y="46524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08811" y="465248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· cn/2 = cn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49615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58992" y="51011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45382" y="51011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08811" y="510111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· cn/4 = cn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54102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64618" y="54149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06785" y="5549741"/>
              <a:ext cx="1416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log n（叶子）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45382" y="55497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50970" y="5549741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· a = an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36195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562022" y="3619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826942" y="3619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58902" y="5939314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k 层每层 cn，合计 cn log n；叶子层 an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归并排序的两处开销，以及对应的改进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5626418" cy="2054543"/>
            <a:chOff x="533400" y="1524000"/>
            <a:chExt cx="5626418" cy="205454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2685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785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改进办法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096452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时间：递归调用本身消耗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5422" y="2096452"/>
              <a:ext cx="29283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子集元素个数很少时，改用直接插入排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序，减少小规模子问题的递归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89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53665"/>
              <a:ext cx="5626418" cy="92487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781300"/>
              <a:ext cx="1906095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空间：辅助数组 B 占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Θ(n)，每次 MERGE 都要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复制回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95422" y="2781300"/>
              <a:ext cx="2782634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用链接数组 LINK(1:n) 代替 B：LINK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中的元素是 A 中元素的指针，指向下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一个元素所在的下标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626418" cy="2053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91790" y="1524000"/>
              <a:ext cx="9525" cy="2053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5" name="c1-callout-2"/>
          <p:cNvGrpSpPr/>
          <p:nvPr/>
        </p:nvGrpSpPr>
        <p:grpSpPr>
          <a:xfrm>
            <a:off x="533400" y="3752850"/>
            <a:ext cx="5626418" cy="729615"/>
            <a:chOff x="533400" y="3752850"/>
            <a:chExt cx="5626418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375285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017645"/>
              <a:ext cx="200026" cy="200025"/>
              <a:chOff x="738188" y="4017645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0176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0620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1732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3899535"/>
              <a:ext cx="45914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LINK 时合并只修改链接，不搬动元素，省掉了从 B 复制回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的时间。</a:t>
              </a:r>
            </a:p>
          </p:txBody>
        </p:sp>
      </p:grpSp>
      <p:grpSp>
        <p:nvGrpSpPr>
          <p:cNvPr id="53" name="c1-cells-3"/>
          <p:cNvGrpSpPr/>
          <p:nvPr/>
        </p:nvGrpSpPr>
        <p:grpSpPr>
          <a:xfrm>
            <a:off x="527685" y="4657725"/>
            <a:ext cx="2526030" cy="1099185"/>
            <a:chOff x="527685" y="4657725"/>
            <a:chExt cx="2526030" cy="1099185"/>
          </a:xfrm>
        </p:grpSpPr>
        <p:sp>
          <p:nvSpPr>
            <p:cNvPr id="26" name="TextBox 26"/>
            <p:cNvSpPr txBox="1"/>
            <p:nvPr/>
          </p:nvSpPr>
          <p:spPr>
            <a:xfrm>
              <a:off x="527685" y="477821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8215" y="465772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18514" y="4778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77315" y="465772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37614" y="4778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96415" y="465772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56714" y="4778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15515" y="465772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75814" y="4778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34615" y="465772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94914" y="4778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2646" y="5092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51746" y="5092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0846" y="5092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89946" y="5092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09046" y="5092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7685" y="5496401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LINK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8215" y="5375910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18514" y="5496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377315" y="5375910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37614" y="5496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796415" y="537591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956714" y="5496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215515" y="5375910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375814" y="5496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634615" y="5375910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94914" y="5496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55" name="c1-text-4"/>
          <p:cNvGrpSpPr/>
          <p:nvPr/>
        </p:nvGrpSpPr>
        <p:grpSpPr>
          <a:xfrm>
            <a:off x="527685" y="5950744"/>
            <a:ext cx="5160518" cy="441008"/>
            <a:chOff x="527685" y="5950744"/>
            <a:chExt cx="5160518" cy="441008"/>
          </a:xfrm>
        </p:grpSpPr>
        <p:sp>
          <p:nvSpPr>
            <p:cNvPr id="54" name="TextBox 54"/>
            <p:cNvSpPr txBox="1"/>
            <p:nvPr/>
          </p:nvSpPr>
          <p:spPr>
            <a:xfrm>
              <a:off x="527685" y="5950744"/>
              <a:ext cx="516051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排好序后的 LINK 示例：从 head = 5 出发，沿 5 → 2 → 4 → 1 → 3 依次读出 1, 3, 4,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6, 9；LINK = 0 表示结束。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464618" y="1524000"/>
            <a:ext cx="5193982" cy="1209675"/>
            <a:chOff x="6464618" y="1524000"/>
            <a:chExt cx="5193982" cy="1209675"/>
          </a:xfrm>
        </p:grpSpPr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5122" y="1716405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42557" y="175069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思考：自底向上归并（补充）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88264" y="2072640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不用递归，从长度为 1 的有序段开始两两合并，段长依次为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1、2、4、……，不再需要系统栈空间。</a:t>
              </a:r>
            </a:p>
          </p:txBody>
        </p:sp>
      </p:grpSp>
      <p:grpSp>
        <p:nvGrpSpPr>
          <p:cNvPr id="106" name="c2-cells-2"/>
          <p:cNvGrpSpPr/>
          <p:nvPr/>
        </p:nvGrpSpPr>
        <p:grpSpPr>
          <a:xfrm>
            <a:off x="6458902" y="2908935"/>
            <a:ext cx="2646046" cy="1992630"/>
            <a:chOff x="6458902" y="2908935"/>
            <a:chExt cx="2646046" cy="1992630"/>
          </a:xfrm>
        </p:grpSpPr>
        <p:sp>
          <p:nvSpPr>
            <p:cNvPr id="62" name="TextBox 62"/>
            <p:cNvSpPr txBox="1"/>
            <p:nvPr/>
          </p:nvSpPr>
          <p:spPr>
            <a:xfrm>
              <a:off x="6458902" y="30294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09448" y="290893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69746" y="3029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28548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88846" y="3029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847648" y="290893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007946" y="3029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266748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427046" y="3029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685848" y="290893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846146" y="3029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58902" y="356663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段长 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009448" y="344614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69746" y="3566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428548" y="344614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88846" y="3566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847648" y="34461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007946" y="3566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266748" y="34461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427046" y="3566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685848" y="344614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846146" y="3566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58902" y="410384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段长 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009448" y="398335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169746" y="4103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428548" y="398335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588846" y="4103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847648" y="398335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007946" y="4103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266748" y="398335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427046" y="4103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685848" y="398335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846146" y="41038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458902" y="46410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段长 8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009448" y="452056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169746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428548" y="452056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588846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847648" y="452056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007946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266748" y="452056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427046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685848" y="452056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846146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13" name="c2-callout-3"/>
          <p:cNvGrpSpPr/>
          <p:nvPr/>
        </p:nvGrpSpPr>
        <p:grpSpPr>
          <a:xfrm>
            <a:off x="6464618" y="5076825"/>
            <a:ext cx="5193982" cy="1270635"/>
            <a:chOff x="6464618" y="5076825"/>
            <a:chExt cx="5193982" cy="1270635"/>
          </a:xfrm>
        </p:grpSpPr>
        <p:sp>
          <p:nvSpPr>
            <p:cNvPr id="107" name="Rectangle 107"/>
            <p:cNvSpPr/>
            <p:nvPr/>
          </p:nvSpPr>
          <p:spPr>
            <a:xfrm>
              <a:off x="6464618" y="5076825"/>
              <a:ext cx="5193982" cy="1270635"/>
            </a:xfrm>
            <a:prstGeom prst="roundRect">
              <a:avLst>
                <a:gd name="adj" fmla="val 899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6669405" y="5613083"/>
              <a:ext cx="200026" cy="200026"/>
              <a:chOff x="6669405" y="5613083"/>
              <a:chExt cx="200026" cy="200026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6669405" y="56130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6769418" y="56797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6758305" y="57130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6972110" y="549402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同色相邻的格子是一个已排好序的段；最后多出的单个段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直接保留到下一趟。</a:t>
              </a:r>
            </a:p>
          </p:txBody>
        </p:sp>
      </p:grpSp>
      <p:grpSp>
        <p:nvGrpSpPr>
          <p:cNvPr id="11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4" name="TextBox 11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排序的二元比较树：对 3 个关键字排序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70129" cy="308039"/>
            <a:chOff x="525399" y="1550194"/>
            <a:chExt cx="1027012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701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A(1), …, A(n) 各不相同。内结点 i:j 表示比较 A(i) 与 A(j)；方框是外结点，写出从小到大排列的下标。</a:t>
              </a:r>
            </a:p>
          </p:txBody>
        </p:sp>
      </p:grpSp>
      <p:grpSp>
        <p:nvGrpSpPr>
          <p:cNvPr id="61" name="c1-graph-1"/>
          <p:cNvGrpSpPr/>
          <p:nvPr/>
        </p:nvGrpSpPr>
        <p:grpSpPr>
          <a:xfrm>
            <a:off x="1200150" y="2015490"/>
            <a:ext cx="9791700" cy="3277934"/>
            <a:chOff x="1200150" y="2015490"/>
            <a:chExt cx="9791700" cy="3277934"/>
          </a:xfrm>
        </p:grpSpPr>
        <p:sp>
          <p:nvSpPr>
            <p:cNvPr id="9" name="Freeform 9"/>
            <p:cNvSpPr/>
            <p:nvPr/>
          </p:nvSpPr>
          <p:spPr>
            <a:xfrm>
              <a:off x="3428048" y="2317432"/>
              <a:ext cx="2443162" cy="814388"/>
            </a:xfrm>
            <a:custGeom>
              <a:avLst/>
              <a:gdLst/>
              <a:ahLst/>
              <a:cxnLst/>
              <a:rect l="l" t="t" r="r" b="b"/>
              <a:pathLst>
                <a:path w="2443162" h="814388">
                  <a:moveTo>
                    <a:pt x="2443162" y="0"/>
                  </a:moveTo>
                  <a:lnTo>
                    <a:pt x="0" y="814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320790" y="2317432"/>
              <a:ext cx="2443162" cy="814388"/>
            </a:xfrm>
            <a:custGeom>
              <a:avLst/>
              <a:gdLst/>
              <a:ahLst/>
              <a:cxnLst/>
              <a:rect l="l" t="t" r="r" b="b"/>
              <a:pathLst>
                <a:path w="2443162" h="814388">
                  <a:moveTo>
                    <a:pt x="0" y="0"/>
                  </a:moveTo>
                  <a:lnTo>
                    <a:pt x="2443162" y="814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11655" y="3324225"/>
              <a:ext cx="1186815" cy="685800"/>
            </a:xfrm>
            <a:custGeom>
              <a:avLst/>
              <a:gdLst/>
              <a:ahLst/>
              <a:cxnLst/>
              <a:rect l="l" t="t" r="r" b="b"/>
              <a:pathLst>
                <a:path w="1186815" h="685800">
                  <a:moveTo>
                    <a:pt x="1186815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95662" y="3345180"/>
              <a:ext cx="950595" cy="685800"/>
            </a:xfrm>
            <a:custGeom>
              <a:avLst/>
              <a:gdLst/>
              <a:ahLst/>
              <a:cxnLst/>
              <a:rect l="l" t="t" r="r" b="b"/>
              <a:pathLst>
                <a:path w="950595" h="685800">
                  <a:moveTo>
                    <a:pt x="0" y="0"/>
                  </a:moveTo>
                  <a:lnTo>
                    <a:pt x="950595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845742" y="3345180"/>
              <a:ext cx="950595" cy="685800"/>
            </a:xfrm>
            <a:custGeom>
              <a:avLst/>
              <a:gdLst/>
              <a:ahLst/>
              <a:cxnLst/>
              <a:rect l="l" t="t" r="r" b="b"/>
              <a:pathLst>
                <a:path w="950595" h="685800">
                  <a:moveTo>
                    <a:pt x="950595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193530" y="3324225"/>
              <a:ext cx="1186815" cy="685800"/>
            </a:xfrm>
            <a:custGeom>
              <a:avLst/>
              <a:gdLst/>
              <a:ahLst/>
              <a:cxnLst/>
              <a:rect l="l" t="t" r="r" b="b"/>
              <a:pathLst>
                <a:path w="1186815" h="685800">
                  <a:moveTo>
                    <a:pt x="0" y="0"/>
                  </a:moveTo>
                  <a:lnTo>
                    <a:pt x="1186815" y="685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17582" y="4315778"/>
              <a:ext cx="834390" cy="657225"/>
            </a:xfrm>
            <a:custGeom>
              <a:avLst/>
              <a:gdLst/>
              <a:ahLst/>
              <a:cxnLst/>
              <a:rect l="l" t="t" r="r" b="b"/>
              <a:pathLst>
                <a:path w="834390" h="657225">
                  <a:moveTo>
                    <a:pt x="834390" y="0"/>
                  </a:moveTo>
                  <a:lnTo>
                    <a:pt x="0" y="657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09160" y="4333875"/>
              <a:ext cx="663893" cy="639128"/>
            </a:xfrm>
            <a:custGeom>
              <a:avLst/>
              <a:gdLst/>
              <a:ahLst/>
              <a:cxnLst/>
              <a:rect l="l" t="t" r="r" b="b"/>
              <a:pathLst>
                <a:path w="663893" h="639128">
                  <a:moveTo>
                    <a:pt x="0" y="0"/>
                  </a:moveTo>
                  <a:lnTo>
                    <a:pt x="663893" y="6391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818948" y="4333875"/>
              <a:ext cx="663893" cy="639128"/>
            </a:xfrm>
            <a:custGeom>
              <a:avLst/>
              <a:gdLst/>
              <a:ahLst/>
              <a:cxnLst/>
              <a:rect l="l" t="t" r="r" b="b"/>
              <a:pathLst>
                <a:path w="663893" h="639128">
                  <a:moveTo>
                    <a:pt x="663893" y="0"/>
                  </a:moveTo>
                  <a:lnTo>
                    <a:pt x="0" y="6391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840028" y="4315778"/>
              <a:ext cx="834390" cy="657225"/>
            </a:xfrm>
            <a:custGeom>
              <a:avLst/>
              <a:gdLst/>
              <a:ahLst/>
              <a:cxnLst/>
              <a:rect l="l" t="t" r="r" b="b"/>
              <a:pathLst>
                <a:path w="834390" h="657225">
                  <a:moveTo>
                    <a:pt x="0" y="0"/>
                  </a:moveTo>
                  <a:lnTo>
                    <a:pt x="834390" y="657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868352" y="2015490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75610" y="2978468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761095" y="2978468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00150" y="4010025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311015" y="3942398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425690" y="3942398"/>
              <a:ext cx="455295" cy="4552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323195" y="4010025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80372" y="4973002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05412" y="4973002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17932" y="4973002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42972" y="4973002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9967" y="21678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1:2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57224" y="313182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42709" y="313182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95152" y="409479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1,2,3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2629" y="40947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1:3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07304" y="40947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1:3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18197" y="409479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3,2,1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75375" y="505872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1,3,2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0415" y="505872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3,1,2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2935" y="505872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2,1,3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37975" y="505872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2,3,1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03395" y="2631758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300149" y="26665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A(1)&lt;A(2)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96138" y="2631758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91939" y="26665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A(1)&gt;A(2)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59305" y="3573780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55106" y="3608546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A(2)&lt;A(3)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25202" y="3594735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21004" y="3629501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A(2)&gt;A(3)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975282" y="3594735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71084" y="3629501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A(2)&lt;A(3)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441180" y="3573780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36981" y="3608546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A(2)&gt;A(3)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589020" y="4551998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584821" y="458676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A(1)&lt;A(3)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94872" y="4560570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691626" y="4595336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A(1)&gt;A(3)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04660" y="4560570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0461" y="4595336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A(1)&lt;A(3)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10512" y="4551998"/>
              <a:ext cx="6924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07266" y="458676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A(1)&gt;A(3)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728335"/>
              <a:ext cx="9949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个关键字有 3! = 6 种排列，对应 6 个外结点；树高为 3，最坏情况比较 3 次。一般地，n 个关键字的比较树至少有 n!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个外结点。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8101" cy="909257"/>
            <a:chOff x="520446" y="342900"/>
            <a:chExt cx="8838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8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定理：比较型排序在最坏情况下至少要 Ω(n log n) 次比较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546217" cy="2998756"/>
            <a:chOff x="533400" y="1533525"/>
            <a:chExt cx="5546217" cy="2998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534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外结点至少 n! 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个关键字有 n! 种排列，不同的排列必须走到不同的外结点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树高与外结点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133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最坏比较次数 T(n) 等于树高；高为 T(n) 的二元树至多 2^T(n) 个外结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点，所以 2^T(n) ≥ n!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放缩 n!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648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 n, n−1, …, ⌈n/2⌉ 这 ⌊n/2⌋+1 个因子，每个都 ≥ n/2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≥ (n/2)log(n/2)；n ≥ 4 时 n/2 ≥ √n，即 log(n/2) 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(1/2)log n，得 T(n) ≥ (n/4)log 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5"/>
              <p:cNvSpPr txBox="1">
                <a:spLocks noGrp="1"/>
              </p:cNvSpPr>
              <p:nvPr/>
            </p:nvSpPr>
            <p:spPr>
              <a:xfrm>
                <a:off x="6680835" y="1524000"/>
                <a:ext cx="4977765" cy="984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!≥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d>
                        <m:dPr>
                          <m:begChr m:val="⌈"/>
                          <m:sepChr m:val=""/>
                          <m:endChr m:val="⌉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6"/>
              <p:cNvSpPr txBox="1">
                <a:spLocks noGrp="1"/>
              </p:cNvSpPr>
              <p:nvPr/>
            </p:nvSpPr>
            <p:spPr>
              <a:xfrm>
                <a:off x="6680835" y="2699385"/>
                <a:ext cx="4977765" cy="984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7"/>
              <p:cNvSpPr txBox="1">
                <a:spLocks noGrp="1"/>
              </p:cNvSpPr>
              <p:nvPr/>
            </p:nvSpPr>
            <p:spPr>
              <a:xfrm>
                <a:off x="6680835" y="3874770"/>
                <a:ext cx="497776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21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1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1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1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1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1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21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21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llout-4"/>
          <p:cNvGrpSpPr/>
          <p:nvPr/>
        </p:nvGrpSpPr>
        <p:grpSpPr>
          <a:xfrm>
            <a:off x="6680835" y="4598670"/>
            <a:ext cx="4977765" cy="1059180"/>
            <a:chOff x="6680835" y="4598670"/>
            <a:chExt cx="4977765" cy="1059180"/>
          </a:xfrm>
        </p:grpSpPr>
        <p:sp>
          <p:nvSpPr>
            <p:cNvPr id="28" name="Rectangle 28"/>
            <p:cNvSpPr/>
            <p:nvPr/>
          </p:nvSpPr>
          <p:spPr>
            <a:xfrm>
              <a:off x="6680835" y="459867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885623" y="5028248"/>
              <a:ext cx="200026" cy="200026"/>
              <a:chOff x="6885623" y="502824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885623" y="50282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52298" y="51060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187565" y="4747260"/>
              <a:ext cx="4063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归并排序最坏情况下是 O(n log n)，达到这个下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界。从数量级角度看，归并排序是最坏情况下的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最优算法。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6048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n = 3 核对：2ᵀ ≥ 3! = 6，T ≥ 3，上一页比较树的高度正好是 3。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76035" cy="3675697"/>
            <a:chOff x="667512" y="1835468"/>
            <a:chExt cx="637603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斯特拉森矩阵乘法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6612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普通分块后子问题太多，速度不变；把 8 次子矩阵乘法减到 7 次才真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正变快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507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矩阵相乘的直接算法 O(n³)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305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普通分块分治仍是 O(n³)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斯特拉森的 7 个中间矩阵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753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 O(n^log7) 与启示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4167" cy="909257"/>
            <a:chOff x="520446" y="342900"/>
            <a:chExt cx="8614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斯特拉森矩阵乘法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4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矩阵相乘：直接计算 O(n³)，普通分块分治还是 O(n³)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2451735"/>
            <a:chOff x="533400" y="1524000"/>
            <a:chExt cx="4544378" cy="2451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451735"/>
            </a:xfrm>
            <a:prstGeom prst="roundRect">
              <a:avLst>
                <a:gd name="adj" fmla="val 5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850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72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 n×n 矩阵 A、B 的级数 n 是 2 的幂，否则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添加适当的全零行和全零列。乘积矩阵 C 的元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"/>
                <p:cNvSpPr txBox="1">
                  <a:spLocks noGrp="1"/>
                </p:cNvSpPr>
                <p:nvPr/>
              </p:nvSpPr>
              <p:spPr>
                <a:xfrm>
                  <a:off x="781050" y="2992755"/>
                  <a:ext cx="4087178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kv-2"/>
          <p:cNvGrpSpPr/>
          <p:nvPr/>
        </p:nvGrpSpPr>
        <p:grpSpPr>
          <a:xfrm>
            <a:off x="525780" y="4191000"/>
            <a:ext cx="4551998" cy="1173480"/>
            <a:chOff x="525780" y="4191000"/>
            <a:chExt cx="4551998" cy="1173480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1910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基本运算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6418" y="41910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51104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4631055"/>
              <a:ext cx="1088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一个 C[i,j]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6418" y="463105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次乘法和 n−1 次加法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9510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507111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矩阵 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16418" y="5071110"/>
              <a:ext cx="3071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n² 个元素，n³ 次乘法，O(n³)</a:t>
              </a:r>
            </a:p>
          </p:txBody>
        </p:sp>
      </p:grpSp>
      <p:grpSp>
        <p:nvGrpSpPr>
          <p:cNvPr id="24" name="c2-text-1"/>
          <p:cNvGrpSpPr/>
          <p:nvPr/>
        </p:nvGrpSpPr>
        <p:grpSpPr>
          <a:xfrm>
            <a:off x="5374958" y="1548765"/>
            <a:ext cx="5503164" cy="293370"/>
            <a:chOff x="5374958" y="1548765"/>
            <a:chExt cx="5503164" cy="293370"/>
          </a:xfrm>
        </p:grpSpPr>
        <p:sp>
          <p:nvSpPr>
            <p:cNvPr id="23" name="TextBox 23"/>
            <p:cNvSpPr txBox="1"/>
            <p:nvPr/>
          </p:nvSpPr>
          <p:spPr>
            <a:xfrm>
              <a:off x="5374958" y="1548765"/>
              <a:ext cx="5503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分治：把 A、B、C 都分成 4 个 (n/2)×(n/2) 的方形子矩阵。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20"/>
              <p:cNvSpPr txBox="1">
                <a:spLocks noGrp="1"/>
              </p:cNvSpPr>
              <p:nvPr/>
            </p:nvSpPr>
            <p:spPr>
              <a:xfrm>
                <a:off x="5382578" y="1973580"/>
                <a:ext cx="6276022" cy="951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21"/>
              <p:cNvSpPr txBox="1">
                <a:spLocks noGrp="1"/>
              </p:cNvSpPr>
              <p:nvPr/>
            </p:nvSpPr>
            <p:spPr>
              <a:xfrm>
                <a:off x="5382578" y="3115628"/>
                <a:ext cx="6276022" cy="951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2"/>
              <p:cNvSpPr txBox="1">
                <a:spLocks noGrp="1"/>
              </p:cNvSpPr>
              <p:nvPr/>
            </p:nvSpPr>
            <p:spPr>
              <a:xfrm>
                <a:off x="5382578" y="4256722"/>
                <a:ext cx="6276022" cy="904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sSup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llout-5"/>
          <p:cNvGrpSpPr/>
          <p:nvPr/>
        </p:nvGrpSpPr>
        <p:grpSpPr>
          <a:xfrm>
            <a:off x="5382578" y="5352098"/>
            <a:ext cx="6276022" cy="1059180"/>
            <a:chOff x="5382578" y="5352098"/>
            <a:chExt cx="6276022" cy="1059180"/>
          </a:xfrm>
        </p:grpSpPr>
        <p:sp>
          <p:nvSpPr>
            <p:cNvPr id="28" name="Rectangle 28"/>
            <p:cNvSpPr/>
            <p:nvPr/>
          </p:nvSpPr>
          <p:spPr>
            <a:xfrm>
              <a:off x="5382578" y="5352098"/>
              <a:ext cx="627602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575307" y="5777983"/>
              <a:ext cx="224134" cy="192560"/>
              <a:chOff x="5575307" y="5777983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687378" y="58483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575307" y="57779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687378" y="5926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889308" y="5500688"/>
              <a:ext cx="5215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解出来仍是 O(n³)：每次递归做 8 次子矩阵乘法，另加 4 次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(n/2)×(n/2) 矩阵加法（代价 dn²），子问题个数太多，没有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提速。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38032" cy="909257"/>
            <a:chOff x="520446" y="342900"/>
            <a:chExt cx="9238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斯特拉森矩阵乘法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38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斯特拉森的技巧：7 次乘法算出中间矩阵，再用加减法拼出 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4994338" cy="529780"/>
            <a:chOff x="526542" y="1545907"/>
            <a:chExt cx="4994338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94338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：7 次乘法、10 次加（减）法，算出 7 个 (n/2)×(n/2)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中间矩阵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28447" y="2192655"/>
            <a:ext cx="5415153" cy="3464909"/>
            <a:chOff x="528447" y="2192655"/>
            <a:chExt cx="5415153" cy="3464909"/>
          </a:xfrm>
        </p:grpSpPr>
        <p:sp>
          <p:nvSpPr>
            <p:cNvPr id="9" name="Rectangle 9"/>
            <p:cNvSpPr/>
            <p:nvPr/>
          </p:nvSpPr>
          <p:spPr>
            <a:xfrm>
              <a:off x="533400" y="2192655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6194" y="23140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中间矩阵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06623" y="23140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76279" y="23140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加减次数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014" y="271414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0670" y="2714149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A₁₁(B₁₂ − B₂₂)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36365" y="27141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79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9275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9014" y="311419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50670" y="3114199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(A₁₁ + A₁₂)B₂₂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36365" y="3114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88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9014" y="351424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50670" y="3514249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(A₂₁ + A₂₂)B₁₁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36365" y="35142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880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9285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9014" y="391429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50670" y="3914299"/>
              <a:ext cx="1158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A₂₂(B₂₁ − B₁₁)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36365" y="39142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88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9014" y="431434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50670" y="4314349"/>
              <a:ext cx="1779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(A₁₁ + A₂₂)(B₁₁ + B₂₂)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36365" y="43143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88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9295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9014" y="471439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50670" y="4714399"/>
              <a:ext cx="1779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(A₁₂ − A₂₂)(B₂₁ + B₂₂)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36365" y="47143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882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9014" y="511444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50670" y="5114449"/>
              <a:ext cx="1779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(A₁₁ − A₂₁)(B₁₁ + B₁₂)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36365" y="51144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192655"/>
              <a:ext cx="541020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48752" y="2192655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018722" y="2192655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447" y="5466874"/>
              <a:ext cx="3456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 M 只做一次子矩阵乘法（递归调用），加减合计 10 次</a:t>
              </a:r>
            </a:p>
          </p:txBody>
        </p:sp>
      </p:grpSp>
      <p:grpSp>
        <p:nvGrpSpPr>
          <p:cNvPr id="49" name="c2-text-1"/>
          <p:cNvGrpSpPr/>
          <p:nvPr/>
        </p:nvGrpSpPr>
        <p:grpSpPr>
          <a:xfrm>
            <a:off x="6241542" y="1545907"/>
            <a:ext cx="4198639" cy="264033"/>
            <a:chOff x="6241542" y="1545907"/>
            <a:chExt cx="4198639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241542" y="1545907"/>
              <a:ext cx="4198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：8 次加（减）法，由 M₁…M₇ 拼出 C 的四块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248400" y="1926908"/>
            <a:ext cx="5410200" cy="2434590"/>
            <a:chOff x="6248400" y="1926908"/>
            <a:chExt cx="5410200" cy="2434590"/>
          </a:xfrm>
        </p:grpSpPr>
        <p:sp>
          <p:nvSpPr>
            <p:cNvPr id="50" name="Rectangle 50"/>
            <p:cNvSpPr/>
            <p:nvPr/>
          </p:nvSpPr>
          <p:spPr>
            <a:xfrm>
              <a:off x="6248400" y="1926908"/>
              <a:ext cx="5410200" cy="67913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28994" y="21726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子矩阵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74036" y="21726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34510" y="2052638"/>
              <a:ext cx="5280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加减次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35259" y="27308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64527" y="2730818"/>
              <a:ext cx="1674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M₅ + M₄ − M₂ + M₆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41707" y="27308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0403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8400" y="3045142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35259" y="3169920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64527" y="3169920"/>
              <a:ext cx="733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 + M₂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41707" y="316992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4794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35259" y="360902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64527" y="3609022"/>
              <a:ext cx="733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M₃ + M₄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141707" y="360902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9176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392239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5259" y="4048125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64527" y="4048125"/>
              <a:ext cx="1674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M₅ + M₁ − M₃ − M₇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41707" y="404812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1926908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63752" y="192690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733722" y="192690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rd-3"/>
          <p:cNvGrpSpPr/>
          <p:nvPr/>
        </p:nvGrpSpPr>
        <p:grpSpPr>
          <a:xfrm>
            <a:off x="6248400" y="4531995"/>
            <a:ext cx="5410200" cy="1828800"/>
            <a:chOff x="6248400" y="4531995"/>
            <a:chExt cx="5410200" cy="1828800"/>
          </a:xfrm>
        </p:grpSpPr>
        <p:sp>
          <p:nvSpPr>
            <p:cNvPr id="75" name="Rectangle 75"/>
            <p:cNvSpPr/>
            <p:nvPr/>
          </p:nvSpPr>
          <p:spPr>
            <a:xfrm>
              <a:off x="6248400" y="4531995"/>
              <a:ext cx="5410200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7925" y="4665345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3190" y="4718685"/>
              <a:ext cx="242316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99986" y="4751546"/>
              <a:ext cx="2369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验算（补充，结果与直接计算 AB 相同）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66332" y="5062538"/>
              <a:ext cx="4174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A = [1 2; 3 4]，B = [5 6; 7 8]，每块是 1×1：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81762" y="541877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37782" y="5362575"/>
              <a:ext cx="3402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M₁…M₇ = −2, 24, 35, 8, 65, −30, −22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81762" y="57188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37782" y="5662612"/>
              <a:ext cx="4179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C₁₁ = 65 + 8 − 24 − 30 = 19，C₁₂ = −2 + 24 = 22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481762" y="60198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637782" y="5963602"/>
              <a:ext cx="4074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C₂₁ = 35 + 8 = 43，C₂₂ = 65 − 2 − 35 + 22 = 50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7553" cy="909257"/>
            <a:chOff x="520446" y="342900"/>
            <a:chExt cx="8247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斯特拉森矩阵乘法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7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斯特拉森算法的计算时间：O(n^log7) ≈ O(n^2.81)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123992" cy="278702"/>
            <a:chOff x="526161" y="1547336"/>
            <a:chExt cx="91239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123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递推式：T(n) = b（n = 2），T(n) = 7T(n/2) + an²（n &gt; 2）。令 n = 2ᵏ，逐层展开 k−1 次，直到 T(2)。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3"/>
              <p:cNvSpPr txBox="1">
                <a:spLocks noGrp="1"/>
              </p:cNvSpPr>
              <p:nvPr/>
            </p:nvSpPr>
            <p:spPr>
              <a:xfrm>
                <a:off x="533400" y="1941195"/>
                <a:ext cx="5626418" cy="3036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7</m:t>
                                          </m:r>
                                        </m:num>
                                        <m:den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=⋯</m:t>
                          </m:r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7</m:t>
                                          </m:r>
                                        </m:num>
                                        <m:den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5153025"/>
            <a:ext cx="5626418" cy="1209675"/>
            <a:chOff x="533400" y="5153025"/>
            <a:chExt cx="5626418" cy="1209675"/>
          </a:xfrm>
        </p:grpSpPr>
        <p:sp>
          <p:nvSpPr>
            <p:cNvPr id="10" name="Rectangle 10"/>
            <p:cNvSpPr/>
            <p:nvPr/>
          </p:nvSpPr>
          <p:spPr>
            <a:xfrm>
              <a:off x="533400" y="5153025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528637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3905" y="53454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5345" y="53797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5702618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原课件展开到 T(1)，与递推式出口 n = 2 差一层；这里展开到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T(2)，结论不变。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464618" y="1950720"/>
            <a:ext cx="5200339" cy="2280762"/>
            <a:chOff x="6464618" y="1950720"/>
            <a:chExt cx="5200339" cy="2280762"/>
          </a:xfrm>
        </p:grpSpPr>
        <p:sp>
          <p:nvSpPr>
            <p:cNvPr id="16" name="Rectangle 16"/>
            <p:cNvSpPr/>
            <p:nvPr/>
          </p:nvSpPr>
          <p:spPr>
            <a:xfrm>
              <a:off x="6597968" y="209359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64618" y="19507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8241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64618" y="25384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8241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64618" y="31251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37118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6860" y="19831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等比数列求和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8002" y="2250281"/>
              <a:ext cx="4783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(7/4)^(k−2) + … + 1 = ((7/4)^(k−1) − 1)/(7/4 − 1) &lt; (4/3)(7/4)ᵏ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6860" y="25698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化简第二项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8002" y="2837021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n²(7/4)ᵏ = n² · 7ᵏ/4ᵏ = 7ᵏ（因为 4ᵏ = n²）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860" y="3156585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换回 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8002" y="3424714"/>
              <a:ext cx="4786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7ᵏ = 7^(log n) = n^(log 7)；第一项 7^(k−1)T(2) = (b/7)·n^(log 7)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860" y="3743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8002" y="4011454"/>
              <a:ext cx="2296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&lt; (b/7 + 4a/3) · n^(log 7)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24"/>
              <p:cNvSpPr txBox="1">
                <a:spLocks noGrp="1"/>
              </p:cNvSpPr>
              <p:nvPr/>
            </p:nvSpPr>
            <p:spPr>
              <a:xfrm>
                <a:off x="6464618" y="4400550"/>
                <a:ext cx="5193982" cy="10582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2.81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llout-3"/>
          <p:cNvGrpSpPr/>
          <p:nvPr/>
        </p:nvGrpSpPr>
        <p:grpSpPr>
          <a:xfrm>
            <a:off x="6464618" y="5633085"/>
            <a:ext cx="5193982" cy="729615"/>
            <a:chOff x="6464618" y="5633085"/>
            <a:chExt cx="5193982" cy="729615"/>
          </a:xfrm>
        </p:grpSpPr>
        <p:sp>
          <p:nvSpPr>
            <p:cNvPr id="35" name="Rectangle 35"/>
            <p:cNvSpPr/>
            <p:nvPr/>
          </p:nvSpPr>
          <p:spPr>
            <a:xfrm>
              <a:off x="6464618" y="563308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69405" y="5897880"/>
              <a:ext cx="200026" cy="200026"/>
              <a:chOff x="6669405" y="5897880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9405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36080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972110" y="5779770"/>
              <a:ext cx="42399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递推式是 T(n) = 7T(n/2) + Θ(n²)，用 4.7 节的主定理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可以直接得到同样的结果。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斯特拉森矩阵乘法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从矩阵乘法得到的结论：分治不一定提速，关键在子问题个数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1823085"/>
            <a:chOff x="533400" y="1524000"/>
            <a:chExt cx="6059805" cy="1823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2563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472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803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直接计算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91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481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95862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普通分块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6912" y="2459831"/>
              <a:ext cx="1547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8T(n/2) + dn²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481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5862" y="2459831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9656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6912" y="2965609"/>
              <a:ext cx="1547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7T(n/2) + an²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4810" y="29656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95862" y="2865596"/>
              <a:ext cx="87020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O(n^log7) ≈</a:t>
              </a:r>
              <a:br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O(n^2.81)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62138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4336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91088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522345"/>
            <a:ext cx="6059805" cy="1466850"/>
            <a:chOff x="533400" y="3522345"/>
            <a:chExt cx="6059805" cy="1466850"/>
          </a:xfrm>
        </p:grpSpPr>
        <p:sp>
          <p:nvSpPr>
            <p:cNvPr id="32" name="Rectangle 32"/>
            <p:cNvSpPr/>
            <p:nvPr/>
          </p:nvSpPr>
          <p:spPr>
            <a:xfrm>
              <a:off x="533400" y="3522345"/>
              <a:ext cx="605980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65569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3714750"/>
              <a:ext cx="102298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8943" y="374904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 和 8 差多少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4070985"/>
              <a:ext cx="51486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1024 = 2¹⁰ 时递归 10 层，递归到 1×1 时的乘法次数：普通分块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8¹⁰ = n³ ≈ 1.07×10⁹，斯特拉森 7¹⁰ ≈ 2.8×10⁸，相差 (8/7)¹⁰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 倍。n 越大差距越大。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163502"/>
            <a:ext cx="6059805" cy="1145858"/>
            <a:chOff x="533400" y="5163502"/>
            <a:chExt cx="6059805" cy="1145858"/>
          </a:xfrm>
        </p:grpSpPr>
        <p:sp>
          <p:nvSpPr>
            <p:cNvPr id="38" name="Rectangle 38"/>
            <p:cNvSpPr/>
            <p:nvPr/>
          </p:nvSpPr>
          <p:spPr>
            <a:xfrm>
              <a:off x="533400" y="5163502"/>
              <a:ext cx="6059805" cy="1145858"/>
            </a:xfrm>
            <a:prstGeom prst="roundRect">
              <a:avLst>
                <a:gd name="adj" fmla="val 997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636897"/>
              <a:ext cx="200023" cy="200023"/>
              <a:chOff x="738188" y="5636897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636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5703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517833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分治法不一定总会提高算法效率；减少子问题个数是降低时间复杂度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的一个有效途径。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1937385"/>
            <a:chOff x="6898005" y="1524000"/>
            <a:chExt cx="4760595" cy="1937385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21652" y="2072640"/>
              <a:ext cx="41027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Hopcroft 和 Kerr 在 1971 年证明：计算两个 2×2 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阵的乘积，7 次乘法是必要的。要继续改进，只能研究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3×3、5×5 等矩阵的更好算法。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2795" y="2886551"/>
              <a:ext cx="41079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补充：后来的算法已把指数降到 2.38 以下，但常数因子很大，实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际中很少使用。</a:t>
              </a:r>
            </a:p>
          </p:txBody>
        </p:sp>
      </p:grpSp>
      <p:grpSp>
        <p:nvGrpSpPr>
          <p:cNvPr id="73" name="c2-table-2"/>
          <p:cNvGrpSpPr/>
          <p:nvPr/>
        </p:nvGrpSpPr>
        <p:grpSpPr>
          <a:xfrm>
            <a:off x="6892671" y="3636645"/>
            <a:ext cx="4765929" cy="2714244"/>
            <a:chOff x="6892671" y="3636645"/>
            <a:chExt cx="4765929" cy="2714244"/>
          </a:xfrm>
        </p:grpSpPr>
        <p:sp>
          <p:nvSpPr>
            <p:cNvPr id="51" name="Rectangle 51"/>
            <p:cNvSpPr/>
            <p:nvPr/>
          </p:nvSpPr>
          <p:spPr>
            <a:xfrm>
              <a:off x="6898005" y="3636645"/>
              <a:ext cx="476059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61493" y="376094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子问题个数 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7010" y="3760946"/>
              <a:ext cx="1811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 = aT(n/2) + Θ(n²)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62176" y="4166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5815" y="4166711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Θ(n³)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44434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8005" y="444817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62176" y="45724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5815" y="4572476"/>
              <a:ext cx="1666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Θ(n^log7) ≈ Θ(n^2.81)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48491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62176" y="4978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25815" y="4978241"/>
              <a:ext cx="1666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Θ(n^log5) ≈ Θ(n^2.32)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98005" y="52549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8005" y="525970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62176" y="5384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25815" y="5384006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 log n)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56607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94893" y="5789771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25815" y="5789771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898005" y="3636645"/>
              <a:ext cx="476059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321040" y="363664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92671" y="6145530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5、4、3 只作对比（用 4.7 节主定理求得）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13063" cy="2997517"/>
            <a:chOff x="667512" y="1835468"/>
            <a:chExt cx="561306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二维极大点问题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03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x 坐标一分为二，右半的极大点决定左半哪些点被淘汰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支配规则与极大点的定义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中位线划分、递归出口与合并规则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每层排序与预排序两种做法的时间复杂度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二维极大点问题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极大点：没有被任何其他点支配的点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2300288"/>
            <a:chOff x="533400" y="1524000"/>
            <a:chExt cx="4544378" cy="23002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支配规则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：在二维空间中，如果 x1 &gt; x2 且 y1 &gt;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y2，称点 (x1, y1) 支配点 (x2, y2)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极大点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：如果一个点没有被其他点支配，则称它为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69920"/>
              <a:ext cx="38113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求极大点问题：已知 n 个点的集合，找出其中的所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有极大点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94785"/>
            <a:ext cx="4544378" cy="1185862"/>
            <a:chOff x="533400" y="3994785"/>
            <a:chExt cx="4544378" cy="1185862"/>
          </a:xfrm>
        </p:grpSpPr>
        <p:sp>
          <p:nvSpPr>
            <p:cNvPr id="18" name="Rectangle 18"/>
            <p:cNvSpPr/>
            <p:nvPr/>
          </p:nvSpPr>
          <p:spPr>
            <a:xfrm>
              <a:off x="533400" y="3994785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2813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1814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759" y="42143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直接方法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452532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对每个点检查其余所有点是否支配它，比较每一对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点，时间复杂度 O(n²)。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350192"/>
            <a:ext cx="4544378" cy="978218"/>
            <a:chOff x="533400" y="5350192"/>
            <a:chExt cx="4544378" cy="978218"/>
          </a:xfrm>
        </p:grpSpPr>
        <p:sp>
          <p:nvSpPr>
            <p:cNvPr id="24" name="Rectangle 24"/>
            <p:cNvSpPr/>
            <p:nvPr/>
          </p:nvSpPr>
          <p:spPr>
            <a:xfrm>
              <a:off x="533400" y="5350192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738813"/>
              <a:ext cx="200026" cy="200025"/>
              <a:chOff x="738188" y="573881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7388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7832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8943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495925"/>
              <a:ext cx="362273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右图 14 个点中，绿色的 P1、P2、P8、P9、P10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是极大点。从左往右看，它们一个比一个低，连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成一条阶梯。</a:t>
              </a:r>
            </a:p>
          </p:txBody>
        </p:sp>
      </p:grpSp>
      <p:grpSp>
        <p:nvGrpSpPr>
          <p:cNvPr id="70" name="c2-graph-1"/>
          <p:cNvGrpSpPr/>
          <p:nvPr/>
        </p:nvGrpSpPr>
        <p:grpSpPr>
          <a:xfrm>
            <a:off x="5523548" y="1564958"/>
            <a:ext cx="6111934" cy="4627244"/>
            <a:chOff x="5523548" y="1564958"/>
            <a:chExt cx="6111934" cy="4627244"/>
          </a:xfrm>
        </p:grpSpPr>
        <p:sp>
          <p:nvSpPr>
            <p:cNvPr id="31" name="Freeform 31"/>
            <p:cNvSpPr/>
            <p:nvPr/>
          </p:nvSpPr>
          <p:spPr>
            <a:xfrm>
              <a:off x="5590222" y="6072188"/>
              <a:ext cx="5840730" cy="9525"/>
            </a:xfrm>
            <a:custGeom>
              <a:avLst/>
              <a:gdLst/>
              <a:ahLst/>
              <a:cxnLst/>
              <a:rect l="l" t="t" r="r" b="b"/>
              <a:pathLst>
                <a:path w="5840730" h="9525">
                  <a:moveTo>
                    <a:pt x="0" y="0"/>
                  </a:moveTo>
                  <a:lnTo>
                    <a:pt x="5840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430952" y="60245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571172" y="1807845"/>
              <a:ext cx="9525" cy="4245292"/>
            </a:xfrm>
            <a:custGeom>
              <a:avLst/>
              <a:gdLst/>
              <a:ahLst/>
              <a:cxnLst/>
              <a:rect l="l" t="t" r="r" b="b"/>
              <a:pathLst>
                <a:path w="9525" h="4245292">
                  <a:moveTo>
                    <a:pt x="0" y="424529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523548" y="17125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772275" y="2319338"/>
              <a:ext cx="973455" cy="446722"/>
            </a:xfrm>
            <a:custGeom>
              <a:avLst/>
              <a:gdLst/>
              <a:ahLst/>
              <a:cxnLst/>
              <a:rect l="l" t="t" r="r" b="b"/>
              <a:pathLst>
                <a:path w="973455" h="446722">
                  <a:moveTo>
                    <a:pt x="0" y="0"/>
                  </a:moveTo>
                  <a:lnTo>
                    <a:pt x="973455" y="446722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7904798" y="2828925"/>
              <a:ext cx="1343978" cy="461962"/>
            </a:xfrm>
            <a:custGeom>
              <a:avLst/>
              <a:gdLst/>
              <a:ahLst/>
              <a:cxnLst/>
              <a:rect l="l" t="t" r="r" b="b"/>
              <a:pathLst>
                <a:path w="1343978" h="461962">
                  <a:moveTo>
                    <a:pt x="0" y="0"/>
                  </a:moveTo>
                  <a:lnTo>
                    <a:pt x="1343978" y="461962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9407842" y="3354705"/>
              <a:ext cx="980122" cy="446723"/>
            </a:xfrm>
            <a:custGeom>
              <a:avLst/>
              <a:gdLst/>
              <a:ahLst/>
              <a:cxnLst/>
              <a:rect l="l" t="t" r="r" b="b"/>
              <a:pathLst>
                <a:path w="980122" h="446723">
                  <a:moveTo>
                    <a:pt x="0" y="0"/>
                  </a:moveTo>
                  <a:lnTo>
                    <a:pt x="980122" y="446723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10513695" y="3908108"/>
              <a:ext cx="501015" cy="752475"/>
            </a:xfrm>
            <a:custGeom>
              <a:avLst/>
              <a:gdLst/>
              <a:ahLst/>
              <a:cxnLst/>
              <a:rect l="l" t="t" r="r" b="b"/>
              <a:pathLst>
                <a:path w="501015" h="752475">
                  <a:moveTo>
                    <a:pt x="0" y="0"/>
                  </a:moveTo>
                  <a:lnTo>
                    <a:pt x="501015" y="752475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9" name="Ellipse 39"/>
            <p:cNvSpPr/>
            <p:nvPr/>
          </p:nvSpPr>
          <p:spPr>
            <a:xfrm>
              <a:off x="5561648" y="6062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617970" y="2207895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747635" y="2725102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143875" y="463105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622858" y="413766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014210" y="550735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712268" y="4137660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877878" y="44519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254490" y="3243262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389870" y="3760470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986135" y="4655820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655492" y="445198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821102" y="481012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499282" y="550735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0258425" y="5149215"/>
              <a:ext cx="114300" cy="1143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555988" y="60159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31426" y="15649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22758" y="2232184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52422" y="2750344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10562" y="463724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89545" y="414385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80898" y="5512594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8955" y="414385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44565" y="445817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59278" y="326755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94658" y="378571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P9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190922" y="468106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22180" y="4458176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87790" y="4816316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65970" y="5512594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25112" y="5154454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475123" cy="909257"/>
            <a:chOff x="520446" y="342900"/>
            <a:chExt cx="104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二维极大点问题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4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分治设计：中位线分成 SL 和 SR，递归求极大点，再按支配规则合并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554601" cy="2582514"/>
            <a:chOff x="533400" y="1533525"/>
            <a:chExt cx="4554601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分：中位线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141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作垂直于 x 轴的中位线 L：点按 x 排序后取第 n/2 个点的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位置，分成 SL、SR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治：递归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141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分别找出 SL 和 SR 的极大点；集合只有一个点时，它就是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极大点（递归出口）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合：支配规则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068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 的极大点 p 若 yp 小于 SR 中极大点的最大 y 值，p 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支配，舍弃；SR 的极大点全部保留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294822"/>
            <a:ext cx="4760595" cy="1059180"/>
            <a:chOff x="533400" y="4294822"/>
            <a:chExt cx="4760595" cy="1059180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724400"/>
              <a:ext cx="200026" cy="200026"/>
              <a:chOff x="738188" y="472440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7244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791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8244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443412"/>
              <a:ext cx="3853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中位线可以是任何曲线，选垂直于 x 轴的直线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最简单，这样 SL 中每个点的 x 值都小于 SR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中每个点的 x 值。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5733098" y="1568291"/>
            <a:ext cx="5910691" cy="4057746"/>
            <a:chOff x="5733098" y="1568291"/>
            <a:chExt cx="5910691" cy="4057746"/>
          </a:xfrm>
        </p:grpSpPr>
        <p:sp>
          <p:nvSpPr>
            <p:cNvPr id="28" name="Freeform 28"/>
            <p:cNvSpPr/>
            <p:nvPr/>
          </p:nvSpPr>
          <p:spPr>
            <a:xfrm>
              <a:off x="5799772" y="5410200"/>
              <a:ext cx="5628322" cy="9525"/>
            </a:xfrm>
            <a:custGeom>
              <a:avLst/>
              <a:gdLst/>
              <a:ahLst/>
              <a:cxnLst/>
              <a:rect l="l" t="t" r="r" b="b"/>
              <a:pathLst>
                <a:path w="5628322" h="9525">
                  <a:moveTo>
                    <a:pt x="0" y="0"/>
                  </a:moveTo>
                  <a:lnTo>
                    <a:pt x="56283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428095" y="5362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780722" y="2098358"/>
              <a:ext cx="9525" cy="3292792"/>
            </a:xfrm>
            <a:custGeom>
              <a:avLst/>
              <a:gdLst/>
              <a:ahLst/>
              <a:cxnLst/>
              <a:rect l="l" t="t" r="r" b="b"/>
              <a:pathLst>
                <a:path w="9525" h="3292792">
                  <a:moveTo>
                    <a:pt x="0" y="329279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33098" y="20031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46795" y="2003108"/>
              <a:ext cx="9525" cy="3300412"/>
            </a:xfrm>
            <a:custGeom>
              <a:avLst/>
              <a:gdLst/>
              <a:ahLst/>
              <a:cxnLst/>
              <a:rect l="l" t="t" r="r" b="b"/>
              <a:pathLst>
                <a:path w="9525" h="3300412">
                  <a:moveTo>
                    <a:pt x="0" y="0"/>
                  </a:moveTo>
                  <a:lnTo>
                    <a:pt x="0" y="3300412"/>
                  </a:lnTo>
                </a:path>
              </a:pathLst>
            </a:custGeom>
            <a:noFill/>
            <a:ln w="22860">
              <a:solidFill>
                <a:srgbClr val="2F4B9A"/>
              </a:solidFill>
              <a:custDash>
                <a:ds d="250000" sp="166667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5879782" y="3057525"/>
              <a:ext cx="3438525" cy="9525"/>
            </a:xfrm>
            <a:custGeom>
              <a:avLst/>
              <a:gdLst/>
              <a:ahLst/>
              <a:cxnLst/>
              <a:rect l="l" t="t" r="r" b="b"/>
              <a:pathLst>
                <a:path w="3438525" h="9525">
                  <a:moveTo>
                    <a:pt x="0" y="0"/>
                  </a:moveTo>
                  <a:lnTo>
                    <a:pt x="343852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5771198" y="54006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789420" y="2096452"/>
              <a:ext cx="152400" cy="1524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880032" y="2539365"/>
              <a:ext cx="152400" cy="1524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243888" y="4150995"/>
              <a:ext cx="152400" cy="1524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769542" y="375856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181850" y="492823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90385" y="375856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084570" y="402717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334500" y="2981325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430828" y="3424238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07090" y="4188142"/>
              <a:ext cx="152400" cy="1524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732645" y="402717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926830" y="4332922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581198" y="492823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314622" y="4622482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551491" y="53444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34573" y="1830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94208" y="2121694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84820" y="2563654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7907" y="4176236"/>
              <a:ext cx="393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P3 舍弃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39288" y="300656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35615" y="344852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11878" y="4213384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7710" y="1568291"/>
              <a:ext cx="1853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SL 的极大点：P1、P2、P3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31612" y="1568291"/>
              <a:ext cx="1945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SR 的极大点：P8、P9、P10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2786" y="5420678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中位线 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37391" y="2782729"/>
              <a:ext cx="1262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SR 中最大的 y（P8）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8637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SR 的极大点不会被 SL 中的点支配：SL 中的点 x 值都更小。所以合并时只需检查 SL 的极大点。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0710" cy="909257"/>
            <a:chOff x="520446" y="342900"/>
            <a:chExt cx="8570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二维极大点问题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0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算法描述；若每次递归都重新排序，T(n) = Θ(n log²n)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2893695"/>
            <a:chOff x="533400" y="1524000"/>
            <a:chExt cx="4977765" cy="2893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分治法求二维极大点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478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input：n 个平面点的集合 S；output：S 的极大点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446020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S 只有一个点，输出该点为极大点；否则寻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找中位线 L，把 S 划分为两个子集 SL 和 SR，使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每个子集含有 n/2 个点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352800"/>
              <a:ext cx="2558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递归找出 SL 和 SR 的极大点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6747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688080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SL 的每个极大点 p，如果 yp 小于 SR 中极大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 y 值（取最大者），舍弃点 p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608195"/>
            <a:ext cx="4977765" cy="1456372"/>
            <a:chOff x="533400" y="4608195"/>
            <a:chExt cx="4977765" cy="1456372"/>
          </a:xfrm>
        </p:grpSpPr>
        <p:sp>
          <p:nvSpPr>
            <p:cNvPr id="22" name="Rectangle 22"/>
            <p:cNvSpPr/>
            <p:nvPr/>
          </p:nvSpPr>
          <p:spPr>
            <a:xfrm>
              <a:off x="533400" y="4608195"/>
              <a:ext cx="4977765" cy="1456372"/>
            </a:xfrm>
            <a:prstGeom prst="roundRect">
              <a:avLst>
                <a:gd name="adj" fmla="val 784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35893"/>
              <a:ext cx="200026" cy="200026"/>
              <a:chOff x="738188" y="5235893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358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3025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3359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093018"/>
              <a:ext cx="3987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合并只需先扫一遍 SR 的极大点求出最大 y 值，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再扫一遍 SL 的极大点，O(n)。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1795462"/>
            <a:chOff x="5815965" y="1524000"/>
            <a:chExt cx="5842635" cy="1795462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57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89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616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23788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1033" y="2108359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对当前点集按 x 值排序，取中位线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30028" y="2108359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3788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1033" y="2556986"/>
              <a:ext cx="1329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递归求解 SL、SR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30028" y="2556986"/>
              <a:ext cx="695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2T(n/2)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41033" y="3005614"/>
              <a:ext cx="2673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SR 的最大 y，扫描 SL 的极大点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30028" y="300561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1524000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2844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1744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25"/>
              <p:cNvSpPr txBox="1">
                <a:spLocks noGrp="1"/>
              </p:cNvSpPr>
              <p:nvPr/>
            </p:nvSpPr>
            <p:spPr>
              <a:xfrm>
                <a:off x="5815965" y="3509962"/>
                <a:ext cx="5842635" cy="1060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5" name="c2-card-3"/>
          <p:cNvGrpSpPr/>
          <p:nvPr/>
        </p:nvGrpSpPr>
        <p:grpSpPr>
          <a:xfrm>
            <a:off x="5815965" y="4760595"/>
            <a:ext cx="5842635" cy="1602105"/>
            <a:chOff x="5815965" y="4760595"/>
            <a:chExt cx="5842635" cy="1602105"/>
          </a:xfrm>
        </p:grpSpPr>
        <p:sp>
          <p:nvSpPr>
            <p:cNvPr id="50" name="Rectangle 50"/>
            <p:cNvSpPr/>
            <p:nvPr/>
          </p:nvSpPr>
          <p:spPr>
            <a:xfrm>
              <a:off x="5815965" y="4760595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63615" y="49701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53823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55995" y="5347335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原课件在此处标注 Ω(n log n)，这只是下界。递归树第 i 层有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 个子问题，各排序 (n/2ⁱ)log(n/2ⁱ) 次量级，逐层相加得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cn[log n + (log n − 1) + … + 1] = Θ(n log²n)。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8436" cy="909257"/>
            <a:chOff x="520446" y="342900"/>
            <a:chExt cx="84584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二维极大点问题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84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预排序：把排序移到递归之外，总时间降到 O(n log 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977257" cy="2112930"/>
            <a:chOff x="533400" y="1533525"/>
            <a:chExt cx="4977257" cy="21129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829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递归开始前按 x 值把全部点排序一次，O(n log 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子问题的点在排好的序列中是连续的一段，查询该序列确定中位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线，不超过 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3495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SR 的最大 y 值，扫描 SL 的极大点，O(n)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6"/>
              <p:cNvSpPr txBox="1">
                <a:spLocks noGrp="1"/>
              </p:cNvSpPr>
              <p:nvPr/>
            </p:nvSpPr>
            <p:spPr>
              <a:xfrm>
                <a:off x="533400" y="3825240"/>
                <a:ext cx="5410200" cy="1564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llout-3"/>
          <p:cNvGrpSpPr/>
          <p:nvPr/>
        </p:nvGrpSpPr>
        <p:grpSpPr>
          <a:xfrm>
            <a:off x="533400" y="5579745"/>
            <a:ext cx="5410200" cy="782955"/>
            <a:chOff x="533400" y="5579745"/>
            <a:chExt cx="541020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4863" y="5948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728335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递归部分 T(n) = O(n log n)，加上预排序 O(n log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n)，总时间 O(n log n)，优于直接方法的 O(n²)。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248400" y="1524000"/>
            <a:ext cx="5410200" cy="1950720"/>
            <a:chOff x="6248400" y="1524000"/>
            <a:chExt cx="5410200" cy="195072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569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5079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5080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直接比较每一对点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68765" y="2150745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5080" y="2638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分治，每层重新排序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68765" y="2638425"/>
              <a:ext cx="1034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log²n)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5080" y="3126105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预排序 + 分治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8765" y="3126105"/>
              <a:ext cx="1074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057322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248400" y="3665220"/>
            <a:ext cx="5410200" cy="1990725"/>
            <a:chOff x="6248400" y="3665220"/>
            <a:chExt cx="5410200" cy="1990725"/>
          </a:xfrm>
        </p:grpSpPr>
        <p:sp>
          <p:nvSpPr>
            <p:cNvPr id="43" name="Rectangle 43"/>
            <p:cNvSpPr/>
            <p:nvPr/>
          </p:nvSpPr>
          <p:spPr>
            <a:xfrm>
              <a:off x="6248400" y="3665220"/>
              <a:ext cx="5410200" cy="1990725"/>
            </a:xfrm>
            <a:prstGeom prst="roundRect">
              <a:avLst>
                <a:gd name="adj" fmla="val 66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798570"/>
              <a:ext cx="47625" cy="17240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6050" y="3874770"/>
              <a:ext cx="309086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94433" y="3910489"/>
              <a:ext cx="3093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思考：SL 和 SR 先求解哪一个更合理（补充）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8430" y="425196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SR，得到 SR 中最大的 y 值 y*。SL 中 y 值小于 y*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的点一定被支配（它们的 x 值也更小），可以在递归求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SL 之前就删掉，缩小 SL 的规模。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9573" y="515540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这个做法减少实际工作量，但最坏情况下的时间阶不变。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分治法的优化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分治法并非处处有效，效率低有两个来源，各有一条对策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 1：子问题个数多，发生在“治”的环节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962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 2：递归过程内工作量过多，发生在“分/合”的环节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优化思路：变多为少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分治法的优化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分治法为什么会慢，以及两条对应的优化策略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24213" cy="293370"/>
            <a:chOff x="525780" y="1548765"/>
            <a:chExt cx="932421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24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一些情况下分治法比蛮力法（直接求解）明显提高了效率，但并不是处处有效。优化思路是“变多为少”。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793432" y="2081212"/>
            <a:ext cx="10605136" cy="1768793"/>
            <a:chOff x="793432" y="2081212"/>
            <a:chExt cx="10605136" cy="1768793"/>
          </a:xfrm>
        </p:grpSpPr>
        <p:sp>
          <p:nvSpPr>
            <p:cNvPr id="9" name="Freeform 9"/>
            <p:cNvSpPr/>
            <p:nvPr/>
          </p:nvSpPr>
          <p:spPr>
            <a:xfrm>
              <a:off x="3982402" y="248602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96740" y="2433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690485" y="248602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104822" y="2433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82402" y="3548062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96740" y="3495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690485" y="3548062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104822" y="3495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93432" y="2273618"/>
              <a:ext cx="3188970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01515" y="2081212"/>
              <a:ext cx="3188970" cy="809625"/>
            </a:xfrm>
            <a:prstGeom prst="roundRect">
              <a:avLst>
                <a:gd name="adj" fmla="val 11765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09598" y="2184082"/>
              <a:ext cx="318897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3432" y="3246120"/>
              <a:ext cx="3188970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1515" y="3246120"/>
              <a:ext cx="3188970" cy="603885"/>
            </a:xfrm>
            <a:prstGeom prst="roundRect">
              <a:avLst>
                <a:gd name="adj" fmla="val 15773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209598" y="3246120"/>
              <a:ext cx="318897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43901" y="2402205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 1：子问题个数多（治）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94504" y="2196465"/>
              <a:ext cx="2602992" cy="646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1：找子问题之间的依赖关系，能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由其他子问题的解简单算出的，就不再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递归求解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2586" y="2299335"/>
              <a:ext cx="2602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斯特拉森：8 个子问题减为 7 个；归并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排序：减少小规模下的子问题个数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2142" y="3361372"/>
              <a:ext cx="25115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 2：递归过程内工作量过多（分/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5934" y="3361372"/>
              <a:ext cx="25801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2：把某些工作提取到递归过程之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外预处理，减少递归内部的工作量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91156" y="3361372"/>
              <a:ext cx="26258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二维极大点：预先按 x 值排序，求子问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题时查询该序列确定中位线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4265295"/>
            <a:ext cx="11125200" cy="1290638"/>
            <a:chOff x="533400" y="4265295"/>
            <a:chExt cx="11125200" cy="1290638"/>
          </a:xfrm>
        </p:grpSpPr>
        <p:sp>
          <p:nvSpPr>
            <p:cNvPr id="30" name="Rectangle 30"/>
            <p:cNvSpPr/>
            <p:nvPr/>
          </p:nvSpPr>
          <p:spPr>
            <a:xfrm>
              <a:off x="533400" y="4265295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9722" y="43957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1756" y="43957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40393" y="43957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8746" y="482631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斯特拉森矩阵乘法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6672" y="4826317"/>
              <a:ext cx="2013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8T(n/2) + O(n²) = O(n³)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5309" y="4826317"/>
              <a:ext cx="24316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7T(n/2) + O(n²) = O(n^log7)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1206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12540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525684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二维极大点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6672" y="5256848"/>
              <a:ext cx="2644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2T(n/2) + O(n log n) = Θ(n log²n)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25309" y="5256848"/>
              <a:ext cx="2340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2T(n/2) + O(n) = O(n log n)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265295"/>
              <a:ext cx="1112520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976562" y="426529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15200" y="426529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6888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对递推式 T(n) = aT(n/b) + f(n) 来说，策略 1 是减小 a，策略 2 是减小 f(n)。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679254" cy="2997517"/>
            <a:chOff x="667512" y="1835468"/>
            <a:chExt cx="667925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69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不必每次展开递推式，比较 f(n) 与 n^(log_b a) 的阶就能读出结果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主定理的三种情况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用递归树理解三种情况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用主定理分析本章的算法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1263" cy="909257"/>
            <a:chOff x="520446" y="342900"/>
            <a:chExt cx="73712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主定理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12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主定理：比较 f(n) 与 n^(log_b a) 谁的阶更高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920855" cy="278702"/>
            <a:chOff x="526161" y="1547336"/>
            <a:chExt cx="1092085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920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 ≥ 1、b &gt; 1 为常数，f(n) 为函数，T(n) 是定义在非负整数上的函数，且 T(n) = aT(n/b) + f(n)，则 T(n) 有如下渐近界：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7"/>
              <p:cNvSpPr txBox="1">
                <a:spLocks noGrp="1"/>
              </p:cNvSpPr>
              <p:nvPr/>
            </p:nvSpPr>
            <p:spPr>
              <a:xfrm>
                <a:off x="533400" y="1941195"/>
                <a:ext cx="5842635" cy="808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8"/>
              <p:cNvSpPr txBox="1">
                <a:spLocks noGrp="1"/>
              </p:cNvSpPr>
              <p:nvPr/>
            </p:nvSpPr>
            <p:spPr>
              <a:xfrm>
                <a:off x="533400" y="2925128"/>
                <a:ext cx="5842635" cy="808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29"/>
              <p:cNvSpPr txBox="1">
                <a:spLocks noGrp="1"/>
              </p:cNvSpPr>
              <p:nvPr/>
            </p:nvSpPr>
            <p:spPr>
              <a:xfrm>
                <a:off x="533400" y="3909060"/>
                <a:ext cx="5842635" cy="808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3.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0"/>
              <p:cNvSpPr txBox="1">
                <a:spLocks noGrp="1"/>
              </p:cNvSpPr>
              <p:nvPr/>
            </p:nvSpPr>
            <p:spPr>
              <a:xfrm>
                <a:off x="533400" y="4893945"/>
                <a:ext cx="5842635" cy="808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且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nor m:val="on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足够大时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2-kv-1"/>
          <p:cNvGrpSpPr/>
          <p:nvPr/>
        </p:nvGrpSpPr>
        <p:grpSpPr>
          <a:xfrm>
            <a:off x="6675120" y="1959769"/>
            <a:ext cx="4983480" cy="1361123"/>
            <a:chOff x="6675120" y="1959769"/>
            <a:chExt cx="4983480" cy="1361123"/>
          </a:xfrm>
        </p:grpSpPr>
        <p:sp>
          <p:nvSpPr>
            <p:cNvPr id="13" name="TextBox 13"/>
            <p:cNvSpPr txBox="1"/>
            <p:nvPr/>
          </p:nvSpPr>
          <p:spPr>
            <a:xfrm>
              <a:off x="6675120" y="19597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情况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1395" y="1959769"/>
              <a:ext cx="4135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的数量级低于 n^(log_b a)，结果由子问题（叶子）决定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80835" y="2213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75120" y="231886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情况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1395" y="2318861"/>
              <a:ext cx="4263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的数量级等于 n^(log_b a)，每层代价同阶，再乘 log n 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80835" y="25727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75120" y="26779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情况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1395" y="2677954"/>
              <a:ext cx="4043934" cy="642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的数量级高于 n^(log_b a)，结果由根上的分与合决定；条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 af(n/b) ≤ cf(n) 说明 a 个子问题的 f 之和不超过 f(n) 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常数倍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680835" y="3451860"/>
            <a:ext cx="4977765" cy="1209675"/>
            <a:chOff x="6680835" y="3451860"/>
            <a:chExt cx="4977765" cy="1209675"/>
          </a:xfrm>
        </p:grpSpPr>
        <p:sp>
          <p:nvSpPr>
            <p:cNvPr id="22" name="Rectangle 22"/>
            <p:cNvSpPr/>
            <p:nvPr/>
          </p:nvSpPr>
          <p:spPr>
            <a:xfrm>
              <a:off x="6680835" y="345186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0360" y="358521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11340" y="36442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2780" y="36785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04482" y="4000500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原课件写作“T(n) 为非负整数”，应为定义在非负整数上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的函数；情况 3 的 ε 也须满足 ε &gt; 0。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6680835" y="4836795"/>
            <a:ext cx="4977765" cy="729615"/>
            <a:chOff x="6680835" y="4836795"/>
            <a:chExt cx="4977765" cy="729615"/>
          </a:xfrm>
        </p:grpSpPr>
        <p:sp>
          <p:nvSpPr>
            <p:cNvPr id="28" name="Rectangle 28"/>
            <p:cNvSpPr/>
            <p:nvPr/>
          </p:nvSpPr>
          <p:spPr>
            <a:xfrm>
              <a:off x="6680835" y="483679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885623" y="5101590"/>
              <a:ext cx="200026" cy="200025"/>
              <a:chOff x="6885623" y="510159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885623" y="5101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25361" y="5146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60077" y="5257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88327" y="4982528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例：T(n) = 2T(n/2) + n，f(n) = n 与 n^(log₂2) 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阶，情况 2，Θ(n log n)。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10254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三种情况之间有空隙：f(n) 与 n^(log_b a) 只差对数因子时（如 a = b = 2、f(n) = n log n）主定理不适用，要用递归树求和。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主定理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用递归树理解主定理：每层代价构成等比数列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465772" y="1607820"/>
            <a:ext cx="5329238" cy="1479232"/>
            <a:chOff x="465772" y="1607820"/>
            <a:chExt cx="5329238" cy="1479232"/>
          </a:xfrm>
        </p:grpSpPr>
        <p:sp>
          <p:nvSpPr>
            <p:cNvPr id="7" name="Freeform 7"/>
            <p:cNvSpPr/>
            <p:nvPr/>
          </p:nvSpPr>
          <p:spPr>
            <a:xfrm>
              <a:off x="822008" y="2346960"/>
              <a:ext cx="577215" cy="549593"/>
            </a:xfrm>
            <a:custGeom>
              <a:avLst/>
              <a:gdLst/>
              <a:ahLst/>
              <a:cxnLst/>
              <a:rect l="l" t="t" r="r" b="b"/>
              <a:pathLst>
                <a:path w="577215" h="549593">
                  <a:moveTo>
                    <a:pt x="577215" y="0"/>
                  </a:moveTo>
                  <a:lnTo>
                    <a:pt x="0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99222" y="2346960"/>
              <a:ext cx="9525" cy="549593"/>
            </a:xfrm>
            <a:custGeom>
              <a:avLst/>
              <a:gdLst/>
              <a:ahLst/>
              <a:cxnLst/>
              <a:rect l="l" t="t" r="r" b="b"/>
              <a:pathLst>
                <a:path w="9525" h="549593">
                  <a:moveTo>
                    <a:pt x="0" y="0"/>
                  </a:moveTo>
                  <a:lnTo>
                    <a:pt x="0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99222" y="2346960"/>
              <a:ext cx="577215" cy="549593"/>
            </a:xfrm>
            <a:custGeom>
              <a:avLst/>
              <a:gdLst/>
              <a:ahLst/>
              <a:cxnLst/>
              <a:rect l="l" t="t" r="r" b="b"/>
              <a:pathLst>
                <a:path w="577215" h="549593">
                  <a:moveTo>
                    <a:pt x="0" y="0"/>
                  </a:moveTo>
                  <a:lnTo>
                    <a:pt x="577215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84345" y="2346960"/>
              <a:ext cx="577215" cy="549593"/>
            </a:xfrm>
            <a:custGeom>
              <a:avLst/>
              <a:gdLst/>
              <a:ahLst/>
              <a:cxnLst/>
              <a:rect l="l" t="t" r="r" b="b"/>
              <a:pathLst>
                <a:path w="577215" h="549593">
                  <a:moveTo>
                    <a:pt x="577215" y="0"/>
                  </a:moveTo>
                  <a:lnTo>
                    <a:pt x="0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61560" y="2346960"/>
              <a:ext cx="9525" cy="549593"/>
            </a:xfrm>
            <a:custGeom>
              <a:avLst/>
              <a:gdLst/>
              <a:ahLst/>
              <a:cxnLst/>
              <a:rect l="l" t="t" r="r" b="b"/>
              <a:pathLst>
                <a:path w="9525" h="549593">
                  <a:moveTo>
                    <a:pt x="0" y="0"/>
                  </a:moveTo>
                  <a:lnTo>
                    <a:pt x="0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61560" y="2346960"/>
              <a:ext cx="577215" cy="549593"/>
            </a:xfrm>
            <a:custGeom>
              <a:avLst/>
              <a:gdLst/>
              <a:ahLst/>
              <a:cxnLst/>
              <a:rect l="l" t="t" r="r" b="b"/>
              <a:pathLst>
                <a:path w="577215" h="549593">
                  <a:moveTo>
                    <a:pt x="0" y="0"/>
                  </a:moveTo>
                  <a:lnTo>
                    <a:pt x="577215" y="549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99222" y="1798320"/>
              <a:ext cx="1730693" cy="548640"/>
            </a:xfrm>
            <a:custGeom>
              <a:avLst/>
              <a:gdLst/>
              <a:ahLst/>
              <a:cxnLst/>
              <a:rect l="l" t="t" r="r" b="b"/>
              <a:pathLst>
                <a:path w="1730693" h="548640">
                  <a:moveTo>
                    <a:pt x="1730693" y="0"/>
                  </a:moveTo>
                  <a:lnTo>
                    <a:pt x="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29915" y="1798320"/>
              <a:ext cx="9525" cy="548640"/>
            </a:xfrm>
            <a:custGeom>
              <a:avLst/>
              <a:gdLst/>
              <a:ahLst/>
              <a:cxnLst/>
              <a:rect l="l" t="t" r="r" b="b"/>
              <a:pathLst>
                <a:path w="9525" h="54864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29915" y="1798320"/>
              <a:ext cx="1731645" cy="548640"/>
            </a:xfrm>
            <a:custGeom>
              <a:avLst/>
              <a:gdLst/>
              <a:ahLst/>
              <a:cxnLst/>
              <a:rect l="l" t="t" r="r" b="b"/>
              <a:pathLst>
                <a:path w="1731645" h="548640">
                  <a:moveTo>
                    <a:pt x="0" y="0"/>
                  </a:moveTo>
                  <a:lnTo>
                    <a:pt x="1731645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5772" y="2706052"/>
              <a:ext cx="71247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08722" y="2706052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620202" y="2706052"/>
              <a:ext cx="71247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78230" y="2156460"/>
              <a:ext cx="641032" cy="381000"/>
            </a:xfrm>
            <a:prstGeom prst="roundRect">
              <a:avLst>
                <a:gd name="adj" fmla="val 2000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939415" y="215646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28110" y="2706052"/>
              <a:ext cx="71247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71060" y="2706052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82540" y="2706052"/>
              <a:ext cx="71247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41520" y="2156460"/>
              <a:ext cx="641032" cy="381000"/>
            </a:xfrm>
            <a:prstGeom prst="roundRect">
              <a:avLst>
                <a:gd name="adj" fmla="val 2000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81312" y="1607820"/>
              <a:ext cx="497205" cy="381000"/>
            </a:xfrm>
            <a:prstGeom prst="roundRect">
              <a:avLst>
                <a:gd name="adj" fmla="val 20000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0396" y="283606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f(n/b²)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6175" y="28360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4826" y="283606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f(n/b²)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65705" y="2286476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f(n/b)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6868" y="22864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12733" y="283606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f(n/b²)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8513" y="28360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67163" y="283606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f(n/b²)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28042" y="2286476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f(n/b)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72586" y="173783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</p:grpSp>
      <p:grpSp>
        <p:nvGrpSpPr>
          <p:cNvPr id="68" name="c1-table-2"/>
          <p:cNvGrpSpPr/>
          <p:nvPr/>
        </p:nvGrpSpPr>
        <p:grpSpPr>
          <a:xfrm>
            <a:off x="528066" y="3346132"/>
            <a:ext cx="5199316" cy="2308479"/>
            <a:chOff x="528066" y="3346132"/>
            <a:chExt cx="5199316" cy="2308479"/>
          </a:xfrm>
        </p:grpSpPr>
        <p:sp>
          <p:nvSpPr>
            <p:cNvPr id="37" name="Rectangle 37"/>
            <p:cNvSpPr/>
            <p:nvPr/>
          </p:nvSpPr>
          <p:spPr>
            <a:xfrm>
              <a:off x="533400" y="3346132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9983" y="34704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3974" y="34704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27464" y="34704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每个规模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779" y="34704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本层代价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1834" y="3876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34060" y="3876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87550" y="38761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96715" y="387619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1529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157662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11834" y="42819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234060" y="42819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04624" y="428196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96715" y="42819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· f(n/b)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5586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1623" y="4687729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92597" y="468772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aⁱ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63161" y="46877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n/bⁱ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96715" y="4687729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aⁱ · f(n/bⁱ)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9644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969192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0196" y="5093494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log_b 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857124" y="509349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n^(log_b a)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487550" y="5093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96715" y="5093494"/>
              <a:ext cx="1105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Θ(n^(log_b a))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3346132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584008" y="334613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2967990" y="334613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091940" y="334613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8066" y="5449252"/>
              <a:ext cx="2915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叶子层子问题个数 a^(log_b n) = n^(log_b a)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6032182" y="1524000"/>
            <a:ext cx="5626418" cy="1473518"/>
            <a:chOff x="6032182" y="1524000"/>
            <a:chExt cx="5626418" cy="1473518"/>
          </a:xfrm>
        </p:grpSpPr>
        <p:sp>
          <p:nvSpPr>
            <p:cNvPr id="69" name="Rectangle 69"/>
            <p:cNvSpPr/>
            <p:nvPr/>
          </p:nvSpPr>
          <p:spPr>
            <a:xfrm>
              <a:off x="6032182" y="1524000"/>
              <a:ext cx="5626418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41708" y="1657350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62688" y="1716405"/>
              <a:ext cx="194119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04820" y="1750695"/>
              <a:ext cx="1856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简化形式（f(n) = Θ(n^d)）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55830" y="2072640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f(n) = Θ(nᵈ)，第 i 层代价为 nᵈ · (a/bᵈ)ⁱ，是公比为 a/bᵈ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的等比数列。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56972" y="2629376"/>
              <a:ext cx="5167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是子问题个数，b 是原问题与子问题的规模比，f(n) 是分与合所需的时间。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formula31"/>
              <p:cNvSpPr txBox="1">
                <a:spLocks noGrp="1"/>
              </p:cNvSpPr>
              <p:nvPr/>
            </p:nvSpPr>
            <p:spPr>
              <a:xfrm>
                <a:off x="6032182" y="3171825"/>
                <a:ext cx="5626418" cy="1392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p>
                                  </m:sSup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p>
                                      <m:func>
                                        <m:funcPr/>
                                        <m:fName>
                                          <m:sSub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6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6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b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6" name="c2-table-3"/>
          <p:cNvGrpSpPr/>
          <p:nvPr/>
        </p:nvGrpSpPr>
        <p:grpSpPr>
          <a:xfrm>
            <a:off x="6032182" y="4739640"/>
            <a:ext cx="5626418" cy="1623060"/>
            <a:chOff x="6032182" y="4739640"/>
            <a:chExt cx="5626418" cy="1623060"/>
          </a:xfrm>
        </p:grpSpPr>
        <p:sp>
          <p:nvSpPr>
            <p:cNvPr id="77" name="Rectangle 77"/>
            <p:cNvSpPr/>
            <p:nvPr/>
          </p:nvSpPr>
          <p:spPr>
            <a:xfrm>
              <a:off x="6032182" y="473964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53124" y="4863941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公比 a/bᵈ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62087" y="48639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哪一层占主导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73699" y="4863941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132195" y="526970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82840" y="52697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层（根）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58388" y="5269706"/>
              <a:ext cx="43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Θ(nᵈ)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32182" y="55464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032182" y="555117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32195" y="5675471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82840" y="5675471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每层都是 nᵈ，共约 log_b n 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58388" y="5675471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Θ(nᵈ log n)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032182" y="59521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32195" y="608123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482840" y="608123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最后一层（叶子）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958388" y="6081236"/>
              <a:ext cx="1105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Θ(n^(log_b a))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032182" y="4739640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378065" y="473964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853612" y="473964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主定理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用主定理分析本章的算法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11125200" cy="2971800"/>
            <a:chOff x="533400" y="1524000"/>
            <a:chExt cx="11125200" cy="2971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782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880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7216" y="1652588"/>
              <a:ext cx="929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与 bᵈ 比较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5555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60929" y="2076450"/>
              <a:ext cx="1682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T(n/2) + Θ(1)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98489" y="2076450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 = 2⁰（d = 0）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1232" y="2076450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60929" y="2501265"/>
              <a:ext cx="1567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cn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98489" y="2501265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 = 2¹（d = 1）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1232" y="2501265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926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普通分块矩阵乘法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60929" y="2926080"/>
              <a:ext cx="1856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8T(n/2) + Θ(n²)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98489" y="2926080"/>
              <a:ext cx="101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8 &gt; 2² =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1232" y="2926080"/>
              <a:ext cx="1423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Θ(n^log8) = Θ(n³)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34994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斯特拉森矩阵乘法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0929" y="3349942"/>
              <a:ext cx="1856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7T(n/2) + Θ(n²)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98489" y="3349942"/>
              <a:ext cx="101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7 &gt; 2² = 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98268" y="3230880"/>
              <a:ext cx="265080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1232" y="3349942"/>
              <a:ext cx="1785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Θ(n^log7) ≈ Θ(n^2.81)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414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377475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极大点（预排序）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60929" y="3774757"/>
              <a:ext cx="1797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O(n)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98489" y="3774757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 = 2¹（d = 1）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1232" y="3774757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0662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07098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889" y="419862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极大点（每层排序）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60929" y="4198620"/>
              <a:ext cx="2164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Θ(n log n)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05525" y="4080510"/>
              <a:ext cx="2873692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98489" y="419862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不是 nᵈ 形式，落在空隙中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91232" y="419862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递归树求和得 Θ(n log²n)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75367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123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8398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rd-2"/>
          <p:cNvGrpSpPr/>
          <p:nvPr/>
        </p:nvGrpSpPr>
        <p:grpSpPr>
          <a:xfrm>
            <a:off x="533400" y="4674870"/>
            <a:ext cx="11208832" cy="1012508"/>
            <a:chOff x="533400" y="4674870"/>
            <a:chExt cx="11208832" cy="1012508"/>
          </a:xfrm>
        </p:grpSpPr>
        <p:sp>
          <p:nvSpPr>
            <p:cNvPr id="51" name="Rectangle 51"/>
            <p:cNvSpPr/>
            <p:nvPr/>
          </p:nvSpPr>
          <p:spPr>
            <a:xfrm>
              <a:off x="533400" y="4674870"/>
              <a:ext cx="11125200" cy="1012508"/>
            </a:xfrm>
            <a:prstGeom prst="roundRect">
              <a:avLst>
                <a:gd name="adj" fmla="val 131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808220"/>
              <a:ext cx="47625" cy="7458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9620" y="4872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1060" y="4907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381" y="5234464"/>
              <a:ext cx="10979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61 页的 O(nlog⁷) 应为 O(n^(log 7))；第 62 页的 Θ(n^(log_bᵃ)) 应为 Θ(n^(log_b a))。本讲义中 log 都以 2 为底。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7" name="Rectangle 5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9907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套用步骤：读出 a、b、f(n)，比较 f(n) 与 n^(log_b a) 的阶，按情况写结果；情况 3 还要验证 af(n/b) ≤ cf(n)。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5928" cy="909257"/>
            <a:chOff x="520446" y="342900"/>
            <a:chExt cx="77259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主定理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59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练习：用展开法和主定理求 T(n) = 3T(n/2) + cn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83215" cy="569595"/>
            <a:chOff x="525780" y="1548765"/>
            <a:chExt cx="104832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83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T(1) = c，n = 2ᵏ。把问题分成 3 个规模为 n/2 的子问题、分与合用线性时间的分治算法（如大整数乘法的 Karatsuba 算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法）就满足这个递推式。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6161" y="2254091"/>
            <a:ext cx="1352601" cy="278702"/>
            <a:chOff x="526161" y="2254091"/>
            <a:chExt cx="1352601" cy="27870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225409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方法一：展开法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32"/>
              <p:cNvSpPr txBox="1">
                <a:spLocks noGrp="1"/>
              </p:cNvSpPr>
              <p:nvPr/>
            </p:nvSpPr>
            <p:spPr>
              <a:xfrm>
                <a:off x="533400" y="2662238"/>
                <a:ext cx="6059805" cy="2758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=⋯=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cn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p>
                              </m:sSup>
                            </m:e>
                          </m:nary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2cn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3c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2cn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3c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func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2cn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3"/>
          <p:cNvGrpSpPr/>
          <p:nvPr/>
        </p:nvGrpSpPr>
        <p:grpSpPr>
          <a:xfrm>
            <a:off x="533400" y="5606415"/>
            <a:ext cx="6059805" cy="756285"/>
            <a:chOff x="533400" y="5606415"/>
            <a:chExt cx="6059805" cy="756285"/>
          </a:xfrm>
        </p:grpSpPr>
        <p:sp>
          <p:nvSpPr>
            <p:cNvPr id="12" name="Rectangle 12"/>
            <p:cNvSpPr/>
            <p:nvPr/>
          </p:nvSpPr>
          <p:spPr>
            <a:xfrm>
              <a:off x="533400" y="560641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4863" y="59623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753576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T(n) = Θ(n^log3) ≈ Θ(n^1.585)。验算 n = 2：3T(1) + 2c =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5c，公式给出 3c·3 − 2c·2 = 5c。</a:t>
              </a:r>
            </a:p>
          </p:txBody>
        </p:sp>
      </p:grpSp>
      <p:grpSp>
        <p:nvGrpSpPr>
          <p:cNvPr id="19" name="c2-text-1"/>
          <p:cNvGrpSpPr/>
          <p:nvPr/>
        </p:nvGrpSpPr>
        <p:grpSpPr>
          <a:xfrm>
            <a:off x="6890766" y="2254091"/>
            <a:ext cx="1352601" cy="278702"/>
            <a:chOff x="6890766" y="2254091"/>
            <a:chExt cx="1352601" cy="278702"/>
          </a:xfrm>
        </p:grpSpPr>
        <p:sp>
          <p:nvSpPr>
            <p:cNvPr id="18" name="TextBox 18"/>
            <p:cNvSpPr txBox="1"/>
            <p:nvPr/>
          </p:nvSpPr>
          <p:spPr>
            <a:xfrm>
              <a:off x="6890766" y="225409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方法二：主定理</a:t>
              </a:r>
            </a:p>
          </p:txBody>
        </p:sp>
      </p:grpSp>
      <p:grpSp>
        <p:nvGrpSpPr>
          <p:cNvPr id="33" name="c2-steps-2"/>
          <p:cNvGrpSpPr/>
          <p:nvPr/>
        </p:nvGrpSpPr>
        <p:grpSpPr>
          <a:xfrm>
            <a:off x="6898005" y="2671762"/>
            <a:ext cx="4068470" cy="1790129"/>
            <a:chOff x="6898005" y="2671762"/>
            <a:chExt cx="4068470" cy="1790129"/>
          </a:xfrm>
        </p:grpSpPr>
        <p:sp>
          <p:nvSpPr>
            <p:cNvPr id="20" name="Rectangle 20"/>
            <p:cNvSpPr/>
            <p:nvPr/>
          </p:nvSpPr>
          <p:spPr>
            <a:xfrm>
              <a:off x="7031355" y="2814638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898005" y="26717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2745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32927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3366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898005" y="39138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1629" y="3987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9866" y="27046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1009" y="2985135"/>
              <a:ext cx="2948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3，b = 2，f(n) = cn = Θ(n¹)，d =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866" y="33256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1009" y="3606165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bᵈ = 2 &lt; a = 3，即 log₂3 ≈ 1.585 &gt; 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9866" y="394668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1009" y="4227195"/>
              <a:ext cx="3655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1（简化形式 a &gt; bᵈ），T(n) = Θ(n^(log 3))</a:t>
              </a:r>
            </a:p>
          </p:txBody>
        </p:sp>
      </p:grpSp>
      <p:grpSp>
        <p:nvGrpSpPr>
          <p:cNvPr id="39" name="c2-card-3"/>
          <p:cNvGrpSpPr/>
          <p:nvPr/>
        </p:nvGrpSpPr>
        <p:grpSpPr>
          <a:xfrm>
            <a:off x="6898005" y="4637722"/>
            <a:ext cx="4760595" cy="1545908"/>
            <a:chOff x="6898005" y="4637722"/>
            <a:chExt cx="4760595" cy="1545908"/>
          </a:xfrm>
        </p:grpSpPr>
        <p:sp>
          <p:nvSpPr>
            <p:cNvPr id="34" name="Rectangle 34"/>
            <p:cNvSpPr/>
            <p:nvPr/>
          </p:nvSpPr>
          <p:spPr>
            <a:xfrm>
              <a:off x="6898005" y="4637722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477107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39940" y="484155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3397" y="48772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递归树的视角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2701" y="5214461"/>
              <a:ext cx="403606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层代价 cn·(3/2)ⁱ，公比 3/2 &gt; 1，越往下越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大；最底层有 3ᵏ = n^(log 3) 个叶子，总代价由叶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子层决定。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16024" cy="909257"/>
            <a:chOff x="520446" y="342900"/>
            <a:chExt cx="1716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 · 主定理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5688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12 时 BINSRCH 成功查找最多比较几次？不成功查找比较几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2³ ≤ 12 &lt; 2⁴，k = 4。成功最多 4 次；不成功 3 或 4 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3192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MERGESORT(1, 6) 依次以哪些 (low, mid, high) 调用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268152"/>
              <a:ext cx="478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(1,1,2)、(1,2,3)、(4,4,5)、(4,5,6)、(1,3,6)。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50424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用主定理求 T(n) = 4T(n/2) + n² 与 T(n) = 3T(n/4) + n。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859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 a = 4 = 2²，Θ(n² log n)；后者 a = 3 &lt; 4，Θ(n)。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850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12 的比较树 I = 25，求 E、S(n)、U(n)。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I + 2n = 49；S(n) = 25/12 + 1 = 37/12；U(n)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49/13。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228725"/>
            <a:chOff x="6248400" y="3179445"/>
            <a:chExt cx="5410200" cy="1228725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594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合并两个各含 4 个元素的有序段，最少、最多比较几次？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79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 4 次（一段全部小于另一段的排头），最多 7 次。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578668"/>
            <a:ext cx="5410200" cy="1743075"/>
            <a:chOff x="6248400" y="4578668"/>
            <a:chExt cx="5410200" cy="1743075"/>
          </a:xfrm>
        </p:grpSpPr>
        <p:sp>
          <p:nvSpPr>
            <p:cNvPr id="37" name="Rectangle 37"/>
            <p:cNvSpPr/>
            <p:nvPr/>
          </p:nvSpPr>
          <p:spPr>
            <a:xfrm>
              <a:off x="6248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109210"/>
              <a:ext cx="4606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点集 {(1,5), (2,3), (4,4), (3,1), (5,2)} 以 x ≤ 2 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 分治，结果是？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 的极大点 (4,4)、(5,2)，最大 y = 4；SL 中 (2,3) 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舍弃。结果 (1,5)、(4,4)、(5,2)。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分治法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6492240" cy="2228850"/>
            <a:chOff x="533400" y="1524000"/>
            <a:chExt cx="6492240" cy="2228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07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539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33648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31905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195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2130" y="2154079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取中间下标 mid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927" y="2054066"/>
              <a:ext cx="886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只解 1 个子问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8645" y="2154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27395" y="2154079"/>
              <a:ext cx="606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307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3555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2130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对半分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9927" y="265985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个子问题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8645" y="2659856"/>
              <a:ext cx="1004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MERGE，O(n)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27395" y="2659856"/>
              <a:ext cx="734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365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2130" y="3065621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 4 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29927" y="3065621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个子问题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8645" y="3065621"/>
              <a:ext cx="1200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次加减，O(n²)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27395" y="3065621"/>
              <a:ext cx="724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O(n².81)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423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4708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347138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二维极大点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02130" y="347138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取中位线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9927" y="347138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个子问题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8645" y="3471386"/>
              <a:ext cx="835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扫描，O(n)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27395" y="3471386"/>
              <a:ext cx="764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9735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25152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29387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2262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bullets-2"/>
          <p:cNvGrpSpPr/>
          <p:nvPr/>
        </p:nvGrpSpPr>
        <p:grpSpPr>
          <a:xfrm>
            <a:off x="533400" y="3937635"/>
            <a:ext cx="6140958" cy="1467040"/>
            <a:chOff x="533400" y="3937635"/>
            <a:chExt cx="6140958" cy="1467040"/>
          </a:xfrm>
        </p:grpSpPr>
        <p:sp>
          <p:nvSpPr>
            <p:cNvPr id="44" name="Ellipse 44"/>
            <p:cNvSpPr/>
            <p:nvPr/>
          </p:nvSpPr>
          <p:spPr>
            <a:xfrm>
              <a:off x="533400" y="393763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9078" y="39769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4197" y="3950018"/>
              <a:ext cx="58601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分治法：分-治-合，子问题相互独立（不共享更小的公共子问题），自顶向下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450627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9078" y="4544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4197" y="4518660"/>
              <a:ext cx="5829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计算时间写成 T(n) = aT(n/b) + f(n)，用展开法、递归树或主定理求解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33400" y="481774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9078" y="48561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4197" y="4830128"/>
              <a:ext cx="52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比较型查找最坏至少 ⌈log(n+1)⌉ 次，比较型排序最坏 Ω(n log n)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33400" y="512921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9078" y="51675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4197" y="5140642"/>
              <a:ext cx="5165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提速两条路：减少子问题个数 a，或把工作移到递归外减小 f(n)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7330440" y="1524000"/>
            <a:ext cx="4328160" cy="3828098"/>
            <a:chOff x="7330440" y="1524000"/>
            <a:chExt cx="4328160" cy="3828098"/>
          </a:xfrm>
        </p:grpSpPr>
        <p:sp>
          <p:nvSpPr>
            <p:cNvPr id="57" name="Rectangle 57"/>
            <p:cNvSpPr/>
            <p:nvPr/>
          </p:nvSpPr>
          <p:spPr>
            <a:xfrm>
              <a:off x="7330440" y="1524000"/>
              <a:ext cx="4328160" cy="3828098"/>
            </a:xfrm>
            <a:prstGeom prst="roundRect">
              <a:avLst>
                <a:gd name="adj" fmla="val 34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1657350"/>
              <a:ext cx="47625" cy="35613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60945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20381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69517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25537" y="2072640"/>
              <a:ext cx="33998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DANDC 中 DIVIDE 的范围应为 p ≤ m &lt; q（第 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69517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25537" y="2632710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每层重新排序的极大点算法应为 Θ(n log²n)，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原课件只写了下界 Ω(n log n)（第 39 页）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69517" y="324897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25537" y="3192780"/>
              <a:ext cx="33569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主定理叙述：T(n) 是定义在非负整数上的函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数，情况 3 要求 ε &gt; 0（第 44 页）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569517" y="38080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25537" y="3751898"/>
              <a:ext cx="34598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O(nlog⁷) 应为 O(n^(log 7))，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Θ(n^(log_bᵃ)) 应为 Θ(n^(log_b a))（第 46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69517" y="46253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25537" y="4569142"/>
              <a:ext cx="32541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斯特拉森递推展开应止于出口 T(2)（第 34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页，结论不变）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3610"/>
              <a:ext cx="8913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复习时重点练手算：比较树上的平均比较次数、MERGESORT 的调用与合并顺序、用展开法和主定理解递推式。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4">
  <a:themeElements>
    <a:clrScheme name="algo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2026-09-19T13:58:09Z</dcterms:created>
  <dcterms:modified xsi:type="dcterms:W3CDTF">2026-09-19T13:58:09Z</dcterms:modified>
  <cp:category/>
  <cp:contentStatus/>
</cp:coreProperties>
</file>