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lgo_ch4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lgo_ch4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c3876bb55e4b637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6f81a525097cbd3.png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ce15b40dd4dda10f.png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3594735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47568" y="1718310"/>
              <a:ext cx="34711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算法设计与分析 · 第4章 · Divide and Conquer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1734312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拆成同类小问题，分别求解再合并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一般方法与计算时间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二分查找与归并排序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斯特拉森矩阵乘法与二维极大点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分治法的优化与主定理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555103" cy="205359"/>
            <a:chOff x="680466" y="6192202"/>
            <a:chExt cx="4555103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5551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自学复习版｜据吉林大学《算法设计与分析》第四章课件整理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8594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适用条件、分-治-合、DANDC 控制过程与计算时间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394235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BINSRCH、正确性、二元比较树、复杂度与查找下界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35288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MERGESORT 与 MERGE、计算时间、排序下界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斯特拉森矩阵乘法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4075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 个子问题为什么不够快，7 个为什么就够了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二维极大点问题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中位线划分、按支配规则合并、预排序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分治法的优化与主定理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两类低效原因与对策，用主定理读出复杂度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写出分治法的抽象控制过程和计算时间递推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画出二分查找的二元比较树，算出平均比较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729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手工模拟 MERGESORT 的调用与 MERGE 的合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并过程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973830"/>
              <a:ext cx="3320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用展开法、递归树或主定理求解 T(n) =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aT(n/b) + f(n)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5948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说明比较型查找与排序的时间下界及证明思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023991" cy="2997517"/>
            <a:chOff x="667512" y="1835468"/>
            <a:chExt cx="602399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分治法的一般方法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什么问题能分治，分治算法的骨架，运行时间怎样写成递推式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4.1 分治法适用的问题与求解思想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子问题个数与规模的选择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852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DANDC 抽象化控制与计算时间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分治法的一般方法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分治法：拆成同类的小问题，分别求解再合并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869180" cy="2158365"/>
            <a:chOff x="533400" y="1524000"/>
            <a:chExt cx="4869180" cy="21583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869180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1662112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5033" y="1756410"/>
              <a:ext cx="15503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适用的问题（n 个输入）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77240" y="214312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3831" y="2082641"/>
              <a:ext cx="36178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很大，直接求解非常困难，甚至无法求出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246030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400776"/>
              <a:ext cx="406311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能把 n 个输入分成 k 个不同子集，得到 k 个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可独立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求解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的子问题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04990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2989421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求出子问题的解后，能找到合适的方法把它们合并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成整个问题的解</a:t>
              </a:r>
            </a:p>
          </p:txBody>
        </p:sp>
      </p:grpSp>
      <p:grpSp>
        <p:nvGrpSpPr>
          <p:cNvPr id="31" name="c1-steps-2"/>
          <p:cNvGrpSpPr/>
          <p:nvPr/>
        </p:nvGrpSpPr>
        <p:grpSpPr>
          <a:xfrm>
            <a:off x="533400" y="3871912"/>
            <a:ext cx="3817620" cy="1781556"/>
            <a:chOff x="533400" y="3871912"/>
            <a:chExt cx="3817620" cy="1781556"/>
          </a:xfrm>
        </p:grpSpPr>
        <p:sp>
          <p:nvSpPr>
            <p:cNvPr id="18" name="Rectangle 18"/>
            <p:cNvSpPr/>
            <p:nvPr/>
          </p:nvSpPr>
          <p:spPr>
            <a:xfrm>
              <a:off x="666750" y="4014788"/>
              <a:ext cx="19050" cy="12334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533400" y="38719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7024" y="39457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48818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27024" y="45619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510540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7024" y="517921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5261" y="3904774"/>
              <a:ext cx="8337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 Divide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6404" y="4185285"/>
              <a:ext cx="324307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子问题与原问题具有相同的特征，但规模更小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5261" y="4521994"/>
              <a:ext cx="1045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治 Conquer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6404" y="4802505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对子问题反复使用分治策略，直到可以直接求解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5261" y="5138261"/>
              <a:ext cx="10352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 Combine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6404" y="5418772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把子问题的解组合成原问题的解</a:t>
              </a:r>
            </a:p>
          </p:txBody>
        </p:sp>
      </p:grpSp>
      <p:grpSp>
        <p:nvGrpSpPr>
          <p:cNvPr id="71" name="c2-graph-1"/>
          <p:cNvGrpSpPr/>
          <p:nvPr/>
        </p:nvGrpSpPr>
        <p:grpSpPr>
          <a:xfrm>
            <a:off x="5901741" y="1748790"/>
            <a:ext cx="5373953" cy="3756184"/>
            <a:chOff x="5901741" y="1748790"/>
            <a:chExt cx="5373953" cy="3756184"/>
          </a:xfrm>
        </p:grpSpPr>
        <p:sp>
          <p:nvSpPr>
            <p:cNvPr id="32" name="Freeform 32"/>
            <p:cNvSpPr/>
            <p:nvPr/>
          </p:nvSpPr>
          <p:spPr>
            <a:xfrm>
              <a:off x="7555230" y="2048828"/>
              <a:ext cx="1263015" cy="854393"/>
            </a:xfrm>
            <a:custGeom>
              <a:avLst/>
              <a:gdLst/>
              <a:ahLst/>
              <a:cxnLst/>
              <a:rect l="l" t="t" r="r" b="b"/>
              <a:pathLst>
                <a:path w="1263015" h="854393">
                  <a:moveTo>
                    <a:pt x="1263015" y="0"/>
                  </a:moveTo>
                  <a:lnTo>
                    <a:pt x="0" y="85439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7476172" y="2863215"/>
              <a:ext cx="105728" cy="93345"/>
            </a:xfrm>
            <a:custGeom>
              <a:avLst/>
              <a:gdLst/>
              <a:ahLst/>
              <a:cxnLst/>
              <a:rect l="l" t="t" r="r" b="b"/>
              <a:pathLst>
                <a:path w="105728" h="93345">
                  <a:moveTo>
                    <a:pt x="0" y="93345"/>
                  </a:moveTo>
                  <a:lnTo>
                    <a:pt x="52388" y="0"/>
                  </a:lnTo>
                  <a:lnTo>
                    <a:pt x="105728" y="7905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8754428" y="2048828"/>
              <a:ext cx="240982" cy="816293"/>
            </a:xfrm>
            <a:custGeom>
              <a:avLst/>
              <a:gdLst/>
              <a:ahLst/>
              <a:cxnLst/>
              <a:rect l="l" t="t" r="r" b="b"/>
              <a:pathLst>
                <a:path w="240982" h="816293">
                  <a:moveTo>
                    <a:pt x="240982" y="0"/>
                  </a:moveTo>
                  <a:lnTo>
                    <a:pt x="0" y="81629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708708" y="2850832"/>
              <a:ext cx="91440" cy="105727"/>
            </a:xfrm>
            <a:custGeom>
              <a:avLst/>
              <a:gdLst/>
              <a:ahLst/>
              <a:cxnLst/>
              <a:rect l="l" t="t" r="r" b="b"/>
              <a:pathLst>
                <a:path w="91440" h="105727">
                  <a:moveTo>
                    <a:pt x="19050" y="105727"/>
                  </a:moveTo>
                  <a:lnTo>
                    <a:pt x="0" y="0"/>
                  </a:lnTo>
                  <a:lnTo>
                    <a:pt x="91440" y="2762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9269730" y="2048828"/>
              <a:ext cx="1305877" cy="855345"/>
            </a:xfrm>
            <a:custGeom>
              <a:avLst/>
              <a:gdLst/>
              <a:ahLst/>
              <a:cxnLst/>
              <a:rect l="l" t="t" r="r" b="b"/>
              <a:pathLst>
                <a:path w="1305877" h="855345">
                  <a:moveTo>
                    <a:pt x="0" y="0"/>
                  </a:moveTo>
                  <a:lnTo>
                    <a:pt x="1305877" y="8553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10549890" y="2864168"/>
              <a:ext cx="105728" cy="92392"/>
            </a:xfrm>
            <a:custGeom>
              <a:avLst/>
              <a:gdLst/>
              <a:ahLst/>
              <a:cxnLst/>
              <a:rect l="l" t="t" r="r" b="b"/>
              <a:pathLst>
                <a:path w="105728" h="92392">
                  <a:moveTo>
                    <a:pt x="105728" y="92392"/>
                  </a:moveTo>
                  <a:lnTo>
                    <a:pt x="0" y="80010"/>
                  </a:lnTo>
                  <a:lnTo>
                    <a:pt x="523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7254240" y="3256598"/>
              <a:ext cx="9525" cy="769620"/>
            </a:xfrm>
            <a:custGeom>
              <a:avLst/>
              <a:gdLst/>
              <a:ahLst/>
              <a:cxnLst/>
              <a:rect l="l" t="t" r="r" b="b"/>
              <a:pathLst>
                <a:path w="9525" h="769620">
                  <a:moveTo>
                    <a:pt x="0" y="0"/>
                  </a:moveTo>
                  <a:lnTo>
                    <a:pt x="0" y="7696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206615" y="40262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8682990" y="3256598"/>
              <a:ext cx="9525" cy="769620"/>
            </a:xfrm>
            <a:custGeom>
              <a:avLst/>
              <a:gdLst/>
              <a:ahLst/>
              <a:cxnLst/>
              <a:rect l="l" t="t" r="r" b="b"/>
              <a:pathLst>
                <a:path w="9525" h="769620">
                  <a:moveTo>
                    <a:pt x="0" y="0"/>
                  </a:moveTo>
                  <a:lnTo>
                    <a:pt x="0" y="7696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635365" y="40262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10885170" y="3256598"/>
              <a:ext cx="9525" cy="769620"/>
            </a:xfrm>
            <a:custGeom>
              <a:avLst/>
              <a:gdLst/>
              <a:ahLst/>
              <a:cxnLst/>
              <a:rect l="l" t="t" r="r" b="b"/>
              <a:pathLst>
                <a:path w="9525" h="769620">
                  <a:moveTo>
                    <a:pt x="0" y="0"/>
                  </a:moveTo>
                  <a:lnTo>
                    <a:pt x="0" y="76962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10837545" y="402621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7501890" y="4421505"/>
              <a:ext cx="1209675" cy="733425"/>
            </a:xfrm>
            <a:custGeom>
              <a:avLst/>
              <a:gdLst/>
              <a:ahLst/>
              <a:cxnLst/>
              <a:rect l="l" t="t" r="r" b="b"/>
              <a:pathLst>
                <a:path w="1209675" h="733425">
                  <a:moveTo>
                    <a:pt x="0" y="0"/>
                  </a:moveTo>
                  <a:lnTo>
                    <a:pt x="1209675" y="7334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686800" y="5113972"/>
              <a:ext cx="105728" cy="90488"/>
            </a:xfrm>
            <a:custGeom>
              <a:avLst/>
              <a:gdLst/>
              <a:ahLst/>
              <a:cxnLst/>
              <a:rect l="l" t="t" r="r" b="b"/>
              <a:pathLst>
                <a:path w="105728" h="90488">
                  <a:moveTo>
                    <a:pt x="105728" y="90488"/>
                  </a:moveTo>
                  <a:lnTo>
                    <a:pt x="0" y="81915"/>
                  </a:lnTo>
                  <a:lnTo>
                    <a:pt x="4953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732520" y="4421505"/>
              <a:ext cx="228600" cy="692467"/>
            </a:xfrm>
            <a:custGeom>
              <a:avLst/>
              <a:gdLst/>
              <a:ahLst/>
              <a:cxnLst/>
              <a:rect l="l" t="t" r="r" b="b"/>
              <a:pathLst>
                <a:path w="228600" h="692467">
                  <a:moveTo>
                    <a:pt x="0" y="0"/>
                  </a:moveTo>
                  <a:lnTo>
                    <a:pt x="228600" y="69246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915400" y="5098732"/>
              <a:ext cx="90488" cy="105728"/>
            </a:xfrm>
            <a:custGeom>
              <a:avLst/>
              <a:gdLst/>
              <a:ahLst/>
              <a:cxnLst/>
              <a:rect l="l" t="t" r="r" b="b"/>
              <a:pathLst>
                <a:path w="90488" h="105728">
                  <a:moveTo>
                    <a:pt x="75247" y="105728"/>
                  </a:moveTo>
                  <a:lnTo>
                    <a:pt x="0" y="30480"/>
                  </a:lnTo>
                  <a:lnTo>
                    <a:pt x="90488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9378315" y="4417695"/>
              <a:ext cx="1257300" cy="738187"/>
            </a:xfrm>
            <a:custGeom>
              <a:avLst/>
              <a:gdLst/>
              <a:ahLst/>
              <a:cxnLst/>
              <a:rect l="l" t="t" r="r" b="b"/>
              <a:pathLst>
                <a:path w="1257300" h="738187">
                  <a:moveTo>
                    <a:pt x="1257300" y="0"/>
                  </a:moveTo>
                  <a:lnTo>
                    <a:pt x="0" y="73818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9295448" y="5114925"/>
              <a:ext cx="106680" cy="89535"/>
            </a:xfrm>
            <a:custGeom>
              <a:avLst/>
              <a:gdLst/>
              <a:ahLst/>
              <a:cxnLst/>
              <a:rect l="l" t="t" r="r" b="b"/>
              <a:pathLst>
                <a:path w="106680" h="89535">
                  <a:moveTo>
                    <a:pt x="0" y="89535"/>
                  </a:moveTo>
                  <a:lnTo>
                    <a:pt x="58103" y="0"/>
                  </a:lnTo>
                  <a:lnTo>
                    <a:pt x="106680" y="8286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364855" y="1748790"/>
              <a:ext cx="1351598" cy="300038"/>
            </a:xfrm>
            <a:prstGeom prst="roundRect">
              <a:avLst>
                <a:gd name="adj" fmla="val 31746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863715" y="2956560"/>
              <a:ext cx="78200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8291512" y="2956560"/>
              <a:ext cx="78200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493692" y="2956560"/>
              <a:ext cx="782002" cy="300038"/>
            </a:xfrm>
            <a:prstGeom prst="roundRect">
              <a:avLst>
                <a:gd name="adj" fmla="val 3174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005638" y="4121468"/>
              <a:ext cx="498158" cy="300038"/>
            </a:xfrm>
            <a:prstGeom prst="roundRect">
              <a:avLst>
                <a:gd name="adj" fmla="val 31746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8434388" y="4121468"/>
              <a:ext cx="498158" cy="300038"/>
            </a:xfrm>
            <a:prstGeom prst="roundRect">
              <a:avLst>
                <a:gd name="adj" fmla="val 31746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635615" y="4121468"/>
              <a:ext cx="498158" cy="300038"/>
            </a:xfrm>
            <a:prstGeom prst="roundRect">
              <a:avLst>
                <a:gd name="adj" fmla="val 31746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8499158" y="5204460"/>
              <a:ext cx="1082040" cy="300038"/>
            </a:xfrm>
            <a:prstGeom prst="roundRect">
              <a:avLst>
                <a:gd name="adj" fmla="val 31746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439469" y="182832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问题（n 个输入）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955080" y="3036094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 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83830" y="3036094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 2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720820" y="303609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586010" y="3036094"/>
              <a:ext cx="598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 k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105855" y="4201954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解 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534605" y="4201954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解 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720820" y="420195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……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736785" y="4201954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解 k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582139" y="528494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整个问题的解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901741" y="236934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5901741" y="357711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治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5901741" y="4742974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72" name="Rectangle 7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511" y="6011704"/>
              <a:ext cx="90181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子问题与原问题是同一类问题，“治”就是用同一个算法处理更小的输入，所以分治算法天然适合写成递归。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分治法的一般方法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子问题拆多少个、拆得是否均衡，都会影响效率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760595" cy="2205038"/>
            <a:chOff x="533400" y="1524000"/>
            <a:chExt cx="4760595" cy="22050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205038"/>
            </a:xfrm>
            <a:prstGeom prst="roundRect">
              <a:avLst>
                <a:gd name="adj" fmla="val 60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383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104775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276" y="176355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子问题个数 k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930146" y="1767364"/>
              <a:ext cx="26687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显然 k &gt; 1，但 k 越大越好吗？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39819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课件里用了一个蚯蚓的笑话：把自己切成两段、四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段还能去打球、打麻将，切成肉末就活不成了。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770823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711291"/>
              <a:ext cx="41913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越大，每个子问题越小，但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分与合的代价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也越大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09086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031331"/>
              <a:ext cx="382866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取到 n 时，每个子问题只剩 1 个元素，合并步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骤几乎要做完原问题的全部工作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913822"/>
            <a:ext cx="4760595" cy="1646872"/>
            <a:chOff x="533400" y="3913822"/>
            <a:chExt cx="4760595" cy="1646872"/>
          </a:xfrm>
        </p:grpSpPr>
        <p:sp>
          <p:nvSpPr>
            <p:cNvPr id="18" name="Rectangle 18"/>
            <p:cNvSpPr/>
            <p:nvPr/>
          </p:nvSpPr>
          <p:spPr>
            <a:xfrm>
              <a:off x="533400" y="3913822"/>
              <a:ext cx="4760595" cy="1646872"/>
            </a:xfrm>
            <a:prstGeom prst="roundRect">
              <a:avLst>
                <a:gd name="adj" fmla="val 6940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637723"/>
              <a:ext cx="200026" cy="200026"/>
              <a:chOff x="738188" y="4637723"/>
              <a:chExt cx="200026" cy="20002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46377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38200" y="47043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27088" y="47377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4506754"/>
              <a:ext cx="382866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本章的例子：二分查找每次只求解 1 个子问题，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 2 个，斯特拉森矩阵乘法 7 个。</a:t>
              </a:r>
            </a:p>
          </p:txBody>
        </p:sp>
      </p:grpSp>
      <p:grpSp>
        <p:nvGrpSpPr>
          <p:cNvPr id="63" name="c2-graph-1"/>
          <p:cNvGrpSpPr/>
          <p:nvPr/>
        </p:nvGrpSpPr>
        <p:grpSpPr>
          <a:xfrm>
            <a:off x="5683568" y="1556385"/>
            <a:ext cx="5587365" cy="2273903"/>
            <a:chOff x="5683568" y="1556385"/>
            <a:chExt cx="5587365" cy="2273903"/>
          </a:xfrm>
        </p:grpSpPr>
        <p:sp>
          <p:nvSpPr>
            <p:cNvPr id="25" name="Freeform 25"/>
            <p:cNvSpPr/>
            <p:nvPr/>
          </p:nvSpPr>
          <p:spPr>
            <a:xfrm>
              <a:off x="6429375" y="2145030"/>
              <a:ext cx="386715" cy="375285"/>
            </a:xfrm>
            <a:custGeom>
              <a:avLst/>
              <a:gdLst/>
              <a:ahLst/>
              <a:cxnLst/>
              <a:rect l="l" t="t" r="r" b="b"/>
              <a:pathLst>
                <a:path w="386715" h="375285">
                  <a:moveTo>
                    <a:pt x="386715" y="0"/>
                  </a:moveTo>
                  <a:lnTo>
                    <a:pt x="0" y="3752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7048500" y="2145030"/>
              <a:ext cx="386715" cy="375285"/>
            </a:xfrm>
            <a:custGeom>
              <a:avLst/>
              <a:gdLst/>
              <a:ahLst/>
              <a:cxnLst/>
              <a:rect l="l" t="t" r="r" b="b"/>
              <a:pathLst>
                <a:path w="386715" h="375285">
                  <a:moveTo>
                    <a:pt x="0" y="0"/>
                  </a:moveTo>
                  <a:lnTo>
                    <a:pt x="386715" y="37528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6008370" y="2880360"/>
              <a:ext cx="151448" cy="289560"/>
            </a:xfrm>
            <a:custGeom>
              <a:avLst/>
              <a:gdLst/>
              <a:ahLst/>
              <a:cxnLst/>
              <a:rect l="l" t="t" r="r" b="b"/>
              <a:pathLst>
                <a:path w="151448" h="289560">
                  <a:moveTo>
                    <a:pt x="151448" y="0"/>
                  </a:moveTo>
                  <a:lnTo>
                    <a:pt x="0" y="2895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6364605" y="2884170"/>
              <a:ext cx="135255" cy="281940"/>
            </a:xfrm>
            <a:custGeom>
              <a:avLst/>
              <a:gdLst/>
              <a:ahLst/>
              <a:cxnLst/>
              <a:rect l="l" t="t" r="r" b="b"/>
              <a:pathLst>
                <a:path w="135255" h="281940">
                  <a:moveTo>
                    <a:pt x="0" y="0"/>
                  </a:moveTo>
                  <a:lnTo>
                    <a:pt x="135255" y="2819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364730" y="2884170"/>
              <a:ext cx="135255" cy="281940"/>
            </a:xfrm>
            <a:custGeom>
              <a:avLst/>
              <a:gdLst/>
              <a:ahLst/>
              <a:cxnLst/>
              <a:rect l="l" t="t" r="r" b="b"/>
              <a:pathLst>
                <a:path w="135255" h="281940">
                  <a:moveTo>
                    <a:pt x="135255" y="0"/>
                  </a:moveTo>
                  <a:lnTo>
                    <a:pt x="0" y="28194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7704772" y="2880360"/>
              <a:ext cx="151447" cy="289560"/>
            </a:xfrm>
            <a:custGeom>
              <a:avLst/>
              <a:gdLst/>
              <a:ahLst/>
              <a:cxnLst/>
              <a:rect l="l" t="t" r="r" b="b"/>
              <a:pathLst>
                <a:path w="151447" h="289560">
                  <a:moveTo>
                    <a:pt x="0" y="0"/>
                  </a:moveTo>
                  <a:lnTo>
                    <a:pt x="151447" y="28956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345930" y="2150745"/>
              <a:ext cx="383857" cy="409575"/>
            </a:xfrm>
            <a:custGeom>
              <a:avLst/>
              <a:gdLst/>
              <a:ahLst/>
              <a:cxnLst/>
              <a:rect l="l" t="t" r="r" b="b"/>
              <a:pathLst>
                <a:path w="383857" h="409575">
                  <a:moveTo>
                    <a:pt x="383857" y="0"/>
                  </a:moveTo>
                  <a:lnTo>
                    <a:pt x="0" y="4095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951720" y="2150745"/>
              <a:ext cx="339090" cy="361950"/>
            </a:xfrm>
            <a:custGeom>
              <a:avLst/>
              <a:gdLst/>
              <a:ahLst/>
              <a:cxnLst/>
              <a:rect l="l" t="t" r="r" b="b"/>
              <a:pathLst>
                <a:path w="339090" h="361950">
                  <a:moveTo>
                    <a:pt x="0" y="0"/>
                  </a:moveTo>
                  <a:lnTo>
                    <a:pt x="339090" y="36195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946958" y="2850832"/>
              <a:ext cx="349568" cy="399097"/>
            </a:xfrm>
            <a:custGeom>
              <a:avLst/>
              <a:gdLst/>
              <a:ahLst/>
              <a:cxnLst/>
              <a:rect l="l" t="t" r="r" b="b"/>
              <a:pathLst>
                <a:path w="349568" h="399097">
                  <a:moveTo>
                    <a:pt x="349568" y="0"/>
                  </a:moveTo>
                  <a:lnTo>
                    <a:pt x="0" y="39909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10596562" y="2850832"/>
              <a:ext cx="305752" cy="349567"/>
            </a:xfrm>
            <a:custGeom>
              <a:avLst/>
              <a:gdLst/>
              <a:ahLst/>
              <a:cxnLst/>
              <a:rect l="l" t="t" r="r" b="b"/>
              <a:pathLst>
                <a:path w="305752" h="349567">
                  <a:moveTo>
                    <a:pt x="0" y="0"/>
                  </a:moveTo>
                  <a:lnTo>
                    <a:pt x="305752" y="349567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6779895" y="1879282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6047422" y="246030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7380922" y="246030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5683568" y="315372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6380798" y="315372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7047548" y="315372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7743825" y="315372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9688830" y="1879282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9082088" y="2526030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10228897" y="246030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9688830" y="3219450"/>
              <a:ext cx="304800" cy="304800"/>
            </a:xfrm>
            <a:prstGeom prst="ellipse">
              <a:avLst/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10834688" y="3153728"/>
              <a:ext cx="436245" cy="43624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883044" y="19626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129222" y="260842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462722" y="260842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65367" y="33018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62597" y="33018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n/4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29347" y="33018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n/4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25624" y="33018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n/4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791979" y="19626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185236" y="26084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310697" y="260842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n−1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791979" y="33018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916487" y="330184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n−2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199857" y="1556385"/>
              <a:ext cx="14648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对半分：约 log n 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978760" y="1556385"/>
              <a:ext cx="196687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每次只分出 1 个元素：n 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78432" y="358092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⋮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998947" y="358092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⋮</a:t>
              </a:r>
            </a:p>
          </p:txBody>
        </p:sp>
      </p:grpSp>
      <p:grpSp>
        <p:nvGrpSpPr>
          <p:cNvPr id="80" name="c2-table-2"/>
          <p:cNvGrpSpPr/>
          <p:nvPr/>
        </p:nvGrpSpPr>
        <p:grpSpPr>
          <a:xfrm>
            <a:off x="5593080" y="4019550"/>
            <a:ext cx="6065520" cy="1585437"/>
            <a:chOff x="5593080" y="4019550"/>
            <a:chExt cx="6065520" cy="1585437"/>
          </a:xfrm>
        </p:grpSpPr>
        <p:sp>
          <p:nvSpPr>
            <p:cNvPr id="64" name="Rectangle 64"/>
            <p:cNvSpPr/>
            <p:nvPr/>
          </p:nvSpPr>
          <p:spPr>
            <a:xfrm>
              <a:off x="5598795" y="4019550"/>
              <a:ext cx="6059805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179248" y="41500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划分方式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897886" y="4150042"/>
              <a:ext cx="17035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递推式（合并代价 cn）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0703242" y="41500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704142" y="458057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对半分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522464" y="4580572"/>
              <a:ext cx="15675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2T(n/2) + cn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188511" y="4580572"/>
              <a:ext cx="8597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598795" y="487489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5598795" y="4879658"/>
              <a:ext cx="605980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704142" y="5011102"/>
              <a:ext cx="1022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分成 1 和 n−1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522464" y="5011102"/>
              <a:ext cx="20391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T(n−1) + T(1) + cn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188511" y="5011102"/>
              <a:ext cx="526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5598795" y="4019550"/>
              <a:ext cx="6059805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7412355" y="401955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10078402" y="4019550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5593080" y="5384959"/>
              <a:ext cx="5620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均衡时每层总代价 cn、共 log n 层；极不均衡时 n 层，总代价 c(n + (n−1) + … + 1)</a:t>
              </a:r>
            </a:p>
          </p:txBody>
        </p:sp>
      </p:grpSp>
      <p:grpSp>
        <p:nvGrpSpPr>
          <p:cNvPr id="87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81" name="Rectangle 81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5" name="Group 85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82" name="Freeform 82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3" name="Freeform 83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4" name="Freeform 84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6" name="TextBox 86"/>
            <p:cNvSpPr txBox="1"/>
            <p:nvPr/>
          </p:nvSpPr>
          <p:spPr>
            <a:xfrm>
              <a:off x="1040511" y="6004084"/>
              <a:ext cx="689625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设计分治算法时尽量让子问题规模相近：规模越均衡，递归树越浅，总代价越小。</a:t>
              </a:r>
            </a:p>
          </p:txBody>
        </p:sp>
      </p:grpSp>
      <p:grpSp>
        <p:nvGrpSpPr>
          <p:cNvPr id="9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8" name="TextBox 8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687131" cy="909257"/>
            <a:chOff x="520446" y="342900"/>
            <a:chExt cx="96871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分治法的一般方法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6871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DANDC 抽象化控制：SMALL、G、DIVIDE、COMBINE 四个部件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193982" cy="2858452"/>
            <a:chOff x="533400" y="1524000"/>
            <a:chExt cx="5193982" cy="28584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858452"/>
            </a:xfrm>
            <a:prstGeom prst="roundRect">
              <a:avLst>
                <a:gd name="adj" fmla="val 333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分治策略的抽象化控制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0082" y="1940481"/>
              <a:ext cx="3673475" cy="23826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DANDC(p, q)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global n, A(1:n); integer m, p, q</a:t>
              </a:r>
              <a:br/>
              <a:r>
                <a:rPr lang="zh-CN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en-US" sz="131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1 ≤ p ≤ q ≤ n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SMALL(p, q)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then return (G(p, q))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else m ← DIVIDE(p, q)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return (COMBINE(DANDC(p, m),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      DANDC(m+1, q)))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en-US" sz="131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DANDC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4568190"/>
            <a:ext cx="5193982" cy="518160"/>
            <a:chOff x="533400" y="4568190"/>
            <a:chExt cx="5193982" cy="518160"/>
          </a:xfrm>
        </p:grpSpPr>
        <p:sp>
          <p:nvSpPr>
            <p:cNvPr id="11" name="Rectangle 11"/>
            <p:cNvSpPr/>
            <p:nvPr/>
          </p:nvSpPr>
          <p:spPr>
            <a:xfrm>
              <a:off x="533400" y="4568190"/>
              <a:ext cx="5193982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4727258"/>
              <a:ext cx="200026" cy="200026"/>
              <a:chOff x="738188" y="4727258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47272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47939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48272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4727734"/>
              <a:ext cx="391487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原问题为 A(1:n)，调用 DANDC(1, n) 求解。</a:t>
              </a:r>
            </a:p>
          </p:txBody>
        </p:sp>
      </p:grpSp>
      <p:grpSp>
        <p:nvGrpSpPr>
          <p:cNvPr id="29" name="c2-kv-1"/>
          <p:cNvGrpSpPr/>
          <p:nvPr/>
        </p:nvGrpSpPr>
        <p:grpSpPr>
          <a:xfrm>
            <a:off x="6024944" y="1547336"/>
            <a:ext cx="5633656" cy="1811275"/>
            <a:chOff x="6024944" y="1547336"/>
            <a:chExt cx="5633656" cy="1811275"/>
          </a:xfrm>
        </p:grpSpPr>
        <p:sp>
          <p:nvSpPr>
            <p:cNvPr id="18" name="TextBox 18"/>
            <p:cNvSpPr txBox="1"/>
            <p:nvPr/>
          </p:nvSpPr>
          <p:spPr>
            <a:xfrm>
              <a:off x="6024944" y="1547336"/>
              <a:ext cx="12674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SMALL(p, q)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55598" y="1547336"/>
              <a:ext cx="40957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判断输入规模 q−p+1 是否足够小，可以直接求解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32182" y="185356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024944" y="1969294"/>
              <a:ext cx="7506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G(p, q)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55598" y="196929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直接求解小规模问题的函数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032182" y="227457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024944" y="2391251"/>
              <a:ext cx="1238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DIVIDE(p, q)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55598" y="2391251"/>
              <a:ext cx="3837686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分割函数，返回 m（p ≤ m &lt; q），原问题被分为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A(p:m) 和 A(m+1:q) 两个子问题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032182" y="296418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024944" y="3079909"/>
              <a:ext cx="86279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COMBINE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455598" y="3079909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合并函数，把两个子问题的解合并为原问题的解</a:t>
              </a:r>
            </a:p>
          </p:txBody>
        </p:sp>
      </p:grpSp>
      <p:grpSp>
        <p:nvGrpSpPr>
          <p:cNvPr id="35" name="c2-card-2"/>
          <p:cNvGrpSpPr/>
          <p:nvPr/>
        </p:nvGrpSpPr>
        <p:grpSpPr>
          <a:xfrm>
            <a:off x="6032182" y="3488055"/>
            <a:ext cx="5626418" cy="1598295"/>
            <a:chOff x="6032182" y="3488055"/>
            <a:chExt cx="5626418" cy="1598295"/>
          </a:xfrm>
        </p:grpSpPr>
        <p:sp>
          <p:nvSpPr>
            <p:cNvPr id="30" name="Rectangle 30"/>
            <p:cNvSpPr/>
            <p:nvPr/>
          </p:nvSpPr>
          <p:spPr>
            <a:xfrm>
              <a:off x="6032182" y="3488055"/>
              <a:ext cx="5626418" cy="1598295"/>
            </a:xfrm>
            <a:prstGeom prst="roundRect">
              <a:avLst>
                <a:gd name="adj" fmla="val 83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041708" y="3621405"/>
              <a:ext cx="47625" cy="13315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74118" y="369189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64326" y="37276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266879" y="4064794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 p ≤ m ≤ q。m = q 时第二个子问题 DANDC(q+1,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q) 为空，不满足 p ≤ q 的前提，应为 p ≤ m &lt; q。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36" name="Rectangle 3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6003610"/>
              <a:ext cx="200023" cy="200023"/>
              <a:chOff x="738188" y="6003610"/>
              <a:chExt cx="200023" cy="200023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600361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71538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6004084"/>
              <a:ext cx="98415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与分-治-合的对应：DIVIDE 是“分”，两次递归调用 DANDC 是“治”，COMBINE 是“合”，SMALL 和 G 构成递归出口。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21623" cy="909257"/>
            <a:chOff x="520446" y="342900"/>
            <a:chExt cx="71216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分治法的一般方法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216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DANDC 的计算时间：T(n) = 2T(n/2) + f(n)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695534" cy="278702"/>
            <a:chOff x="526161" y="1547336"/>
            <a:chExt cx="669553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6955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假设两个子问题的输入规模大致相等（各约 n/2），计算时间可以写成递推式。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"/>
              <p:cNvSpPr txBox="1">
                <a:spLocks noGrp="1"/>
              </p:cNvSpPr>
              <p:nvPr/>
            </p:nvSpPr>
            <p:spPr>
              <a:xfrm>
                <a:off x="533400" y="1941195"/>
                <a:ext cx="5085398" cy="12763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nor m:val="on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 足够小</m:t>
                              </m:r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m:rPr>
                                  <m:nor m:val="on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否则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18" name="c1-kv-2"/>
          <p:cNvGrpSpPr/>
          <p:nvPr/>
        </p:nvGrpSpPr>
        <p:grpSpPr>
          <a:xfrm>
            <a:off x="526542" y="3415665"/>
            <a:ext cx="5092256" cy="1312735"/>
            <a:chOff x="526542" y="3415665"/>
            <a:chExt cx="5092256" cy="1312735"/>
          </a:xfrm>
        </p:grpSpPr>
        <p:sp>
          <p:nvSpPr>
            <p:cNvPr id="10" name="TextBox 10"/>
            <p:cNvSpPr txBox="1"/>
            <p:nvPr/>
          </p:nvSpPr>
          <p:spPr>
            <a:xfrm>
              <a:off x="526542" y="3415665"/>
              <a:ext cx="4454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6624" y="3415665"/>
              <a:ext cx="29487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输入规模为 n 时分治策略的计算时间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370427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542" y="3812858"/>
              <a:ext cx="4335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g(n)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6624" y="381285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输入规模足够小时直接算出答案的时间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4102418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542" y="4211002"/>
              <a:ext cx="4335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86624" y="4211002"/>
              <a:ext cx="419709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COMBINE 合成原问题解的时间（DIVIDE 的时间也并入此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项）</a:t>
              </a:r>
            </a:p>
          </p:txBody>
        </p:sp>
      </p:grpSp>
      <p:grpSp>
        <p:nvGrpSpPr>
          <p:cNvPr id="27" name="c1-card-3"/>
          <p:cNvGrpSpPr/>
          <p:nvPr/>
        </p:nvGrpSpPr>
        <p:grpSpPr>
          <a:xfrm>
            <a:off x="533400" y="4851082"/>
            <a:ext cx="5085398" cy="1511618"/>
            <a:chOff x="533400" y="4851082"/>
            <a:chExt cx="5085398" cy="1511618"/>
          </a:xfrm>
        </p:grpSpPr>
        <p:sp>
          <p:nvSpPr>
            <p:cNvPr id="19" name="Rectangle 19"/>
            <p:cNvSpPr/>
            <p:nvPr/>
          </p:nvSpPr>
          <p:spPr>
            <a:xfrm>
              <a:off x="533400" y="4851082"/>
              <a:ext cx="5085398" cy="1511618"/>
            </a:xfrm>
            <a:prstGeom prst="roundRect">
              <a:avLst>
                <a:gd name="adj" fmla="val 882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42925" y="4984432"/>
              <a:ext cx="47625" cy="124491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3905" y="5043488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35342" y="5077778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对照本章的例子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72478" y="545592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8497" y="5399723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归并排序：g(n) = a（常数），f(n) = cn，即 T(n) =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2T(n/2) + cn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772478" y="601599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28497" y="5959792"/>
              <a:ext cx="45006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二分查找：每次只递归 1 个子问题，T(n) = T(n/2) + c</a:t>
              </a:r>
            </a:p>
          </p:txBody>
        </p:sp>
      </p:grpSp>
      <p:grpSp>
        <p:nvGrpSpPr>
          <p:cNvPr id="48" name="c2-tree-1"/>
          <p:cNvGrpSpPr/>
          <p:nvPr/>
        </p:nvGrpSpPr>
        <p:grpSpPr>
          <a:xfrm>
            <a:off x="6304598" y="2025015"/>
            <a:ext cx="4973002" cy="1479233"/>
            <a:chOff x="6304598" y="2025015"/>
            <a:chExt cx="4973002" cy="1479233"/>
          </a:xfrm>
        </p:grpSpPr>
        <p:sp>
          <p:nvSpPr>
            <p:cNvPr id="28" name="Freeform 28"/>
            <p:cNvSpPr/>
            <p:nvPr/>
          </p:nvSpPr>
          <p:spPr>
            <a:xfrm>
              <a:off x="6640830" y="2765108"/>
              <a:ext cx="716280" cy="548640"/>
            </a:xfrm>
            <a:custGeom>
              <a:avLst/>
              <a:gdLst/>
              <a:ahLst/>
              <a:cxnLst/>
              <a:rect l="l" t="t" r="r" b="b"/>
              <a:pathLst>
                <a:path w="716280" h="548640">
                  <a:moveTo>
                    <a:pt x="716280" y="0"/>
                  </a:moveTo>
                  <a:lnTo>
                    <a:pt x="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7357110" y="2765108"/>
              <a:ext cx="717233" cy="548640"/>
            </a:xfrm>
            <a:custGeom>
              <a:avLst/>
              <a:gdLst/>
              <a:ahLst/>
              <a:cxnLst/>
              <a:rect l="l" t="t" r="r" b="b"/>
              <a:pathLst>
                <a:path w="717233" h="548640">
                  <a:moveTo>
                    <a:pt x="0" y="0"/>
                  </a:moveTo>
                  <a:lnTo>
                    <a:pt x="717233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507855" y="2765108"/>
              <a:ext cx="717232" cy="548640"/>
            </a:xfrm>
            <a:custGeom>
              <a:avLst/>
              <a:gdLst/>
              <a:ahLst/>
              <a:cxnLst/>
              <a:rect l="l" t="t" r="r" b="b"/>
              <a:pathLst>
                <a:path w="717232" h="548640">
                  <a:moveTo>
                    <a:pt x="717232" y="0"/>
                  </a:moveTo>
                  <a:lnTo>
                    <a:pt x="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10225088" y="2765108"/>
              <a:ext cx="716280" cy="548640"/>
            </a:xfrm>
            <a:custGeom>
              <a:avLst/>
              <a:gdLst/>
              <a:ahLst/>
              <a:cxnLst/>
              <a:rect l="l" t="t" r="r" b="b"/>
              <a:pathLst>
                <a:path w="716280" h="548640">
                  <a:moveTo>
                    <a:pt x="0" y="0"/>
                  </a:moveTo>
                  <a:lnTo>
                    <a:pt x="71628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357110" y="2216468"/>
              <a:ext cx="1434465" cy="548640"/>
            </a:xfrm>
            <a:custGeom>
              <a:avLst/>
              <a:gdLst/>
              <a:ahLst/>
              <a:cxnLst/>
              <a:rect l="l" t="t" r="r" b="b"/>
              <a:pathLst>
                <a:path w="1434465" h="548640">
                  <a:moveTo>
                    <a:pt x="1434465" y="0"/>
                  </a:moveTo>
                  <a:lnTo>
                    <a:pt x="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791575" y="2216468"/>
              <a:ext cx="1433512" cy="548640"/>
            </a:xfrm>
            <a:custGeom>
              <a:avLst/>
              <a:gdLst/>
              <a:ahLst/>
              <a:cxnLst/>
              <a:rect l="l" t="t" r="r" b="b"/>
              <a:pathLst>
                <a:path w="1433512" h="548640">
                  <a:moveTo>
                    <a:pt x="0" y="0"/>
                  </a:moveTo>
                  <a:lnTo>
                    <a:pt x="1433512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304598" y="312324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738110" y="312324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021830" y="257460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172575" y="312324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0606088" y="312324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888855" y="2574608"/>
              <a:ext cx="671512" cy="381000"/>
            </a:xfrm>
            <a:prstGeom prst="roundRect">
              <a:avLst>
                <a:gd name="adj" fmla="val 20000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532495" y="2025015"/>
              <a:ext cx="517208" cy="381000"/>
            </a:xfrm>
            <a:prstGeom prst="roundRect">
              <a:avLst>
                <a:gd name="adj" fmla="val 20000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90605" y="3248978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f(n/4)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24118" y="3248978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f(n/4)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106885" y="2699385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f(n/2)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257630" y="3248978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f(n/4)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691143" y="3248978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f(n/4)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974863" y="2699385"/>
              <a:ext cx="50044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f(n/2)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622981" y="215074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</p:grpSp>
      <p:grpSp>
        <p:nvGrpSpPr>
          <p:cNvPr id="80" name="c2-table-2"/>
          <p:cNvGrpSpPr/>
          <p:nvPr/>
        </p:nvGrpSpPr>
        <p:grpSpPr>
          <a:xfrm>
            <a:off x="5918264" y="3763328"/>
            <a:ext cx="5740336" cy="2308479"/>
            <a:chOff x="5918264" y="3763328"/>
            <a:chExt cx="5740336" cy="2308479"/>
          </a:xfrm>
        </p:grpSpPr>
        <p:sp>
          <p:nvSpPr>
            <p:cNvPr id="49" name="Rectangle 49"/>
            <p:cNvSpPr/>
            <p:nvPr/>
          </p:nvSpPr>
          <p:spPr>
            <a:xfrm>
              <a:off x="5923598" y="3763328"/>
              <a:ext cx="5735002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429235" y="388762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92759" y="38876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子问题数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899601" y="38876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每个规模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76941" y="388762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本层代价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61086" y="429339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52845" y="42933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159687" y="42933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009822" y="429339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5923598" y="457009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5923598" y="4574858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461086" y="46991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752845" y="46991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076761" y="4699159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009822" y="4699159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2f(n/2)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923598" y="4975860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80876" y="5104924"/>
              <a:ext cx="58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711382" y="510492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2ⁱ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035298" y="5104924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n/2ⁱ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09822" y="5104924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2ⁱ · f(n/2ⁱ)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923598" y="5381625"/>
              <a:ext cx="573500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923598" y="5386388"/>
              <a:ext cx="573500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26520" y="5510689"/>
              <a:ext cx="3676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 n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752845" y="551068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59687" y="551068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009822" y="5510689"/>
              <a:ext cx="599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· g(1)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5923598" y="3763328"/>
              <a:ext cx="5735002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7092315" y="3763328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8499158" y="3763328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9905048" y="3763328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5918264" y="5866448"/>
              <a:ext cx="46075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递归树逐层求和就是 T(n)；4.7 节的主定理给出了这类递推式的通用结论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每次只和中间元素比较一次，把查找范围缩小一半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3345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问题描述、分治建模与 BINSRCH 算法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正确性证明与算法实例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二元比较树与时间复杂度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算法变型与比较型查找的时间下界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71030" cy="909257"/>
            <a:chOff x="520446" y="342900"/>
            <a:chExt cx="85710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710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查找问题的分治建模：取中间下标 k，只留下一个子问题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167438" cy="1316355"/>
            <a:chOff x="533400" y="1524000"/>
            <a:chExt cx="6167438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16743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5320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已知非降序排列 a1, a2, …, an，判定给定元素 x 是否在其中。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若是，找出 x 的位置并把下标赋给 j；否则 j 置成 0。</a:t>
              </a:r>
            </a:p>
          </p:txBody>
        </p:sp>
      </p:grpSp>
      <p:grpSp>
        <p:nvGrpSpPr>
          <p:cNvPr id="34" name="c1-cells-2"/>
          <p:cNvGrpSpPr/>
          <p:nvPr/>
        </p:nvGrpSpPr>
        <p:grpSpPr>
          <a:xfrm>
            <a:off x="527304" y="3078004"/>
            <a:ext cx="6173533" cy="676751"/>
            <a:chOff x="527304" y="3078004"/>
            <a:chExt cx="6173533" cy="676751"/>
          </a:xfrm>
        </p:grpSpPr>
        <p:sp>
          <p:nvSpPr>
            <p:cNvPr id="13" name="TextBox 13"/>
            <p:cNvSpPr txBox="1"/>
            <p:nvPr/>
          </p:nvSpPr>
          <p:spPr>
            <a:xfrm>
              <a:off x="527304" y="3470910"/>
              <a:ext cx="659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14375" y="3335655"/>
              <a:ext cx="85534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42660" y="34709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a1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1569720" y="3335655"/>
              <a:ext cx="85534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944651" y="34709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425065" y="3335655"/>
              <a:ext cx="85534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660058" y="34709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ak−1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280410" y="3335655"/>
              <a:ext cx="855345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08695" y="34709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ak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135755" y="3335655"/>
              <a:ext cx="85534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370748" y="3470910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ak+1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991100" y="3335655"/>
              <a:ext cx="85534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365078" y="347091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845492" y="3335655"/>
              <a:ext cx="85534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73777" y="347091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an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97282" y="3078004"/>
              <a:ext cx="8002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I1（k−1 个）</a:t>
              </a:r>
            </a:p>
          </p:txBody>
        </p:sp>
        <p:sp>
          <p:nvSpPr>
            <p:cNvPr id="29" name="Freeform 29"/>
            <p:cNvSpPr/>
            <p:nvPr/>
          </p:nvSpPr>
          <p:spPr>
            <a:xfrm>
              <a:off x="1959292" y="32404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401180" y="3078004"/>
              <a:ext cx="61380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k（中间）</a:t>
              </a:r>
            </a:p>
          </p:txBody>
        </p:sp>
        <p:sp>
          <p:nvSpPr>
            <p:cNvPr id="31" name="Freeform 31"/>
            <p:cNvSpPr/>
            <p:nvPr/>
          </p:nvSpPr>
          <p:spPr>
            <a:xfrm>
              <a:off x="3669982" y="32404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017710" y="3078004"/>
              <a:ext cx="80022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I3（n−k 个）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5379720" y="324040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0F7A68"/>
            </a:solidFill>
            <a:ln>
              <a:noFill/>
            </a:ln>
          </p:spPr>
        </p:sp>
      </p:grpSp>
      <p:grpSp>
        <p:nvGrpSpPr>
          <p:cNvPr id="43" name="c1-kv-3"/>
          <p:cNvGrpSpPr/>
          <p:nvPr/>
        </p:nvGrpSpPr>
        <p:grpSpPr>
          <a:xfrm>
            <a:off x="525780" y="3970020"/>
            <a:ext cx="6175058" cy="1737360"/>
            <a:chOff x="525780" y="3970020"/>
            <a:chExt cx="6175058" cy="1737360"/>
          </a:xfrm>
        </p:grpSpPr>
        <p:sp>
          <p:nvSpPr>
            <p:cNvPr id="35" name="TextBox 35"/>
            <p:cNvSpPr txBox="1"/>
            <p:nvPr/>
          </p:nvSpPr>
          <p:spPr>
            <a:xfrm>
              <a:off x="525780" y="3970020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71550" y="3970020"/>
              <a:ext cx="52825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 = (n, a1, …, an, x) 分成 I1 = (k−1, a1, …, ak−1, x)、I2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 ak, x)、I3 = (n−k, ak+1, …, an, x)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572000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5780" y="4692015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71550" y="4692015"/>
              <a:ext cx="53587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ak 时 j ← k，算法结束；x &lt; ak 时在 I1 中求解；x &gt; ak 时在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I3 中求解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5293995"/>
              <a:ext cx="616743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5780" y="5414010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1550" y="5414010"/>
              <a:ext cx="24284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当前子问题的解就是 I 的解</a:t>
              </a:r>
            </a:p>
          </p:txBody>
        </p:sp>
      </p:grpSp>
      <p:grpSp>
        <p:nvGrpSpPr>
          <p:cNvPr id="46" name="c2-image-1"/>
          <p:cNvGrpSpPr/>
          <p:nvPr/>
        </p:nvGrpSpPr>
        <p:grpSpPr>
          <a:xfrm>
            <a:off x="7005638" y="1524000"/>
            <a:ext cx="4652962" cy="2267427"/>
            <a:chOff x="7005638" y="1524000"/>
            <a:chExt cx="4652962" cy="2267427"/>
          </a:xfrm>
        </p:grpSpPr>
        <p:pic>
          <p:nvPicPr>
            <p:cNvPr id="44" name="Image 44"/>
            <p:cNvPicPr>
              <a:picLocks noChangeAspect="1"/>
            </p:cNvPicPr>
            <p:nvPr/>
          </p:nvPicPr>
          <p:blipFill>
            <a:blip r:embed="rId2"/>
            <a:srcRect l="0" t="22023" r="0" b="22023"/>
            <a:stretch>
              <a:fillRect/>
            </a:stretch>
          </p:blipFill>
          <p:spPr>
            <a:xfrm>
              <a:off x="7005638" y="1524000"/>
              <a:ext cx="4652962" cy="1952625"/>
            </a:xfrm>
            <a:prstGeom prst="roundRect">
              <a:avLst>
                <a:gd name="adj" fmla="val 6829"/>
              </a:avLst>
            </a:prstGeom>
          </p:spPr>
        </p:pic>
        <p:sp>
          <p:nvSpPr>
            <p:cNvPr id="45" name="TextBox 45"/>
            <p:cNvSpPr txBox="1"/>
            <p:nvPr/>
          </p:nvSpPr>
          <p:spPr>
            <a:xfrm>
              <a:off x="7668362" y="3571399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翻厚书找一页：先翻到中间，再决定往前还是往后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7005638" y="3956685"/>
            <a:ext cx="4652962" cy="2223135"/>
            <a:chOff x="7005638" y="3956685"/>
            <a:chExt cx="4652962" cy="2223135"/>
          </a:xfrm>
        </p:grpSpPr>
        <p:sp>
          <p:nvSpPr>
            <p:cNvPr id="47" name="Rectangle 47"/>
            <p:cNvSpPr/>
            <p:nvPr/>
          </p:nvSpPr>
          <p:spPr>
            <a:xfrm>
              <a:off x="7005638" y="3956685"/>
              <a:ext cx="4652962" cy="2223135"/>
            </a:xfrm>
            <a:prstGeom prst="roundRect">
              <a:avLst>
                <a:gd name="adj" fmla="val 59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015162" y="4090035"/>
              <a:ext cx="47625" cy="195643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253288" y="416623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335596" y="420195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两个思考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259002" y="46062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417118" y="4543425"/>
              <a:ext cx="380476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取多少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：取中间位置，两侧剩余规模尽量相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259002" y="522732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17118" y="5164455"/>
              <a:ext cx="37776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为什么能丢掉另外两个子问题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：序列有序，x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ak 时 ak 及其后的元素都 ≥ ak &gt; x，x 不可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能在 I2、I3 中；x &gt; ak 时同理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257462" cy="909257"/>
            <a:chOff x="520446" y="342900"/>
            <a:chExt cx="42574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2574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BINSRCH 算法与正确性证明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660458"/>
            <a:chOff x="533400" y="1524000"/>
            <a:chExt cx="5410200" cy="36604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660458"/>
            </a:xfrm>
            <a:prstGeom prst="roundRect">
              <a:avLst>
                <a:gd name="adj" fmla="val 260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84458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BINSRCH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59892" y="1941195"/>
              <a:ext cx="4094226" cy="319011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BINSRCH(A, n, x, j)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low, high, mid, j, n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low ← 1; high ← n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low ≤ high do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mid ← ⌊(low+high)/2⌋      </a:t>
              </a: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取中间值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case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:x &lt; A(mid): high ← mid−1  </a:t>
              </a: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前一半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:x &gt; A(mid): low ← mid+1   </a:t>
              </a: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后一半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:else: j ← mid; return     </a:t>
              </a: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查找成功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endcase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← 0                        </a:t>
              </a:r>
              <a:r>
                <a:rPr lang="zh-CN" sz="13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查找失败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BINSRCH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374958"/>
            <a:ext cx="5410200" cy="782955"/>
            <a:chOff x="533400" y="5374958"/>
            <a:chExt cx="5410200" cy="782955"/>
          </a:xfrm>
        </p:grpSpPr>
        <p:sp>
          <p:nvSpPr>
            <p:cNvPr id="11" name="Rectangle 11"/>
            <p:cNvSpPr/>
            <p:nvPr/>
          </p:nvSpPr>
          <p:spPr>
            <a:xfrm>
              <a:off x="533400" y="5374958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666423"/>
              <a:ext cx="200026" cy="200026"/>
              <a:chOff x="738188" y="5666423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566642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38200" y="573309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7088" y="576643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130" y="5523548"/>
              <a:ext cx="43586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 case 语句算作一次关键字比较（三个分支），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这是分析时间的基本运算。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4633912"/>
            <a:chOff x="6248400" y="1524000"/>
            <a:chExt cx="5410200" cy="4633912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4633912"/>
            </a:xfrm>
            <a:prstGeom prst="roundRect">
              <a:avLst>
                <a:gd name="adj" fmla="val 28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57925" y="1657350"/>
              <a:ext cx="47625" cy="436721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96050" y="1733550"/>
              <a:ext cx="163163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52756" y="17692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正确性证明（非形式）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88430" y="211074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检验参数的每类取值，检验算法的每个分支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96050" y="245173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7899" y="24940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97040" y="2465070"/>
              <a:ext cx="32966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0：不进入循环，j = 0，算法终止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496050" y="278701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57899" y="28293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797040" y="2800350"/>
              <a:ext cx="43205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成功情况：若 x = A(mid)，则 j = mid，查找成功，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算法终止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496050" y="340804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57899" y="34503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797040" y="3421380"/>
              <a:ext cx="4358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x &lt; A(mid)，x 不可能在 mid~high 中，查找范围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缩小到 low~mid−1；x &gt; A(mid) 时同理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496050" y="402907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57899" y="40713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97040" y="4042410"/>
              <a:ext cx="43681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不成功情况：low、high、mid 都是整数，每轮范围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至少缩小 1，有限步内必有 low &gt; high，退出循环，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= 0，算法终止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89573" y="4945856"/>
              <a:ext cx="47271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程序的正确性证明至今还是一个尚未解决的课题，这里只给出非形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式证明。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08770" cy="909257"/>
            <a:chOff x="520446" y="342900"/>
            <a:chExt cx="650877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0877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实例：n = 9 时，四个不同的 x 各比较几次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1273831" cy="308039"/>
            <a:chOff x="525399" y="1550194"/>
            <a:chExt cx="11273831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1273831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A(1:9) = (−15, −6, 0, 7, 9, 23, 54, 82, 101)。序号表示第几次比较；绿色为找到，红色为最后一次比较后失败。</a:t>
              </a:r>
            </a:p>
          </p:txBody>
        </p:sp>
      </p:grpSp>
      <p:grpSp>
        <p:nvGrpSpPr>
          <p:cNvPr id="118" name="c1-cells-1"/>
          <p:cNvGrpSpPr/>
          <p:nvPr/>
        </p:nvGrpSpPr>
        <p:grpSpPr>
          <a:xfrm>
            <a:off x="527304" y="2015014"/>
            <a:ext cx="6173533" cy="3553301"/>
            <a:chOff x="527304" y="2015014"/>
            <a:chExt cx="6173533" cy="3553301"/>
          </a:xfrm>
        </p:grpSpPr>
        <p:sp>
          <p:nvSpPr>
            <p:cNvPr id="9" name="TextBox 9"/>
            <p:cNvSpPr txBox="1"/>
            <p:nvPr/>
          </p:nvSpPr>
          <p:spPr>
            <a:xfrm>
              <a:off x="527304" y="2406968"/>
              <a:ext cx="393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 = 9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203008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361774" y="240696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813560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019925" y="24069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2425065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2677123" y="24069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035618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288628" y="24069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46170" y="2272665"/>
              <a:ext cx="610552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899181" y="24069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257675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463087" y="24069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868228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074592" y="24069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478780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685145" y="24069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090285" y="22726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50004" y="240696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469727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081232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91784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03289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913842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24394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135899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46452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57957" y="2747010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908875" y="201501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38" name="Freeform 38"/>
            <p:cNvSpPr/>
            <p:nvPr/>
          </p:nvSpPr>
          <p:spPr>
            <a:xfrm>
              <a:off x="3913822" y="21774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27304" y="3492818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 = −15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1203008" y="3358515"/>
              <a:ext cx="610552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361774" y="349281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−15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1813560" y="335851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2019925" y="349281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2425065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2677123" y="34928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3035618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3288628" y="34928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3646170" y="335851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3899181" y="349281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4257675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463087" y="349281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868228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074592" y="349281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478780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685145" y="349281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090285" y="33585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50004" y="349281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908875" y="31008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59" name="Freeform 59"/>
            <p:cNvSpPr/>
            <p:nvPr/>
          </p:nvSpPr>
          <p:spPr>
            <a:xfrm>
              <a:off x="3913822" y="32632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2076265" y="31008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61" name="Freeform 61"/>
            <p:cNvSpPr/>
            <p:nvPr/>
          </p:nvSpPr>
          <p:spPr>
            <a:xfrm>
              <a:off x="2081212" y="32632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1464760" y="31008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63" name="Freeform 63"/>
            <p:cNvSpPr/>
            <p:nvPr/>
          </p:nvSpPr>
          <p:spPr>
            <a:xfrm>
              <a:off x="1469708" y="32632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7304" y="4388168"/>
              <a:ext cx="5804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 = 101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1203008" y="42538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1361774" y="438816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−15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1813560" y="42538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2019925" y="43881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2425065" y="42538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2677123" y="4388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3035618" y="42538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3288628" y="4388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3646170" y="425386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3899181" y="438816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4257675" y="425386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4463087" y="43881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4868228" y="425386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5074592" y="43881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478780" y="425386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685145" y="438816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090285" y="4253865"/>
              <a:ext cx="610552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82" name="TextBox 82"/>
            <p:cNvSpPr txBox="1"/>
            <p:nvPr/>
          </p:nvSpPr>
          <p:spPr>
            <a:xfrm>
              <a:off x="6250004" y="438816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3908875" y="399621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84" name="Freeform 84"/>
            <p:cNvSpPr/>
            <p:nvPr/>
          </p:nvSpPr>
          <p:spPr>
            <a:xfrm>
              <a:off x="3913822" y="41586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130933" y="399621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86" name="Freeform 86"/>
            <p:cNvSpPr/>
            <p:nvPr/>
          </p:nvSpPr>
          <p:spPr>
            <a:xfrm>
              <a:off x="5135880" y="41586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5741485" y="399621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88" name="Freeform 88"/>
            <p:cNvSpPr/>
            <p:nvPr/>
          </p:nvSpPr>
          <p:spPr>
            <a:xfrm>
              <a:off x="5746432" y="41586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89" name="TextBox 89"/>
            <p:cNvSpPr txBox="1"/>
            <p:nvPr/>
          </p:nvSpPr>
          <p:spPr>
            <a:xfrm>
              <a:off x="6352990" y="399621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④</a:t>
              </a:r>
            </a:p>
          </p:txBody>
        </p:sp>
        <p:sp>
          <p:nvSpPr>
            <p:cNvPr id="90" name="Freeform 90"/>
            <p:cNvSpPr/>
            <p:nvPr/>
          </p:nvSpPr>
          <p:spPr>
            <a:xfrm>
              <a:off x="6357938" y="415861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527304" y="5283517"/>
              <a:ext cx="393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x = 8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1203008" y="51492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3" name="TextBox 93"/>
            <p:cNvSpPr txBox="1"/>
            <p:nvPr/>
          </p:nvSpPr>
          <p:spPr>
            <a:xfrm>
              <a:off x="1361774" y="5283517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−15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1813560" y="514921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5" name="TextBox 95"/>
            <p:cNvSpPr txBox="1"/>
            <p:nvPr/>
          </p:nvSpPr>
          <p:spPr>
            <a:xfrm>
              <a:off x="2019925" y="528351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−6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2425065" y="514921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2677123" y="528351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3035618" y="5149215"/>
              <a:ext cx="610552" cy="419100"/>
            </a:xfrm>
            <a:prstGeom prst="rect">
              <a:avLst/>
            </a:prstGeom>
            <a:solidFill>
              <a:srgbClr val="FDECEA"/>
            </a:solidFill>
            <a:ln w="15240">
              <a:solidFill>
                <a:srgbClr val="B42318"/>
              </a:solidFill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3288628" y="528351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3646170" y="5149215"/>
              <a:ext cx="610552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3899181" y="528351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4257675" y="51492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4463087" y="528351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4868228" y="51492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5074592" y="528351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  <p:sp>
          <p:nvSpPr>
            <p:cNvPr id="106" name="Rectangle 106"/>
            <p:cNvSpPr/>
            <p:nvPr/>
          </p:nvSpPr>
          <p:spPr>
            <a:xfrm>
              <a:off x="5478780" y="51492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7" name="TextBox 107"/>
            <p:cNvSpPr txBox="1"/>
            <p:nvPr/>
          </p:nvSpPr>
          <p:spPr>
            <a:xfrm>
              <a:off x="5685145" y="5283517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82</a:t>
              </a:r>
            </a:p>
          </p:txBody>
        </p:sp>
        <p:sp>
          <p:nvSpPr>
            <p:cNvPr id="108" name="Rectangle 108"/>
            <p:cNvSpPr/>
            <p:nvPr/>
          </p:nvSpPr>
          <p:spPr>
            <a:xfrm>
              <a:off x="6090285" y="5149215"/>
              <a:ext cx="610552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09" name="TextBox 109"/>
            <p:cNvSpPr txBox="1"/>
            <p:nvPr/>
          </p:nvSpPr>
          <p:spPr>
            <a:xfrm>
              <a:off x="6250004" y="5283517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3908875" y="48915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①</a:t>
              </a:r>
            </a:p>
          </p:txBody>
        </p:sp>
        <p:sp>
          <p:nvSpPr>
            <p:cNvPr id="111" name="Freeform 111"/>
            <p:cNvSpPr/>
            <p:nvPr/>
          </p:nvSpPr>
          <p:spPr>
            <a:xfrm>
              <a:off x="3913822" y="50539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112" name="TextBox 112"/>
            <p:cNvSpPr txBox="1"/>
            <p:nvPr/>
          </p:nvSpPr>
          <p:spPr>
            <a:xfrm>
              <a:off x="2076265" y="48915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②</a:t>
              </a:r>
            </a:p>
          </p:txBody>
        </p:sp>
        <p:sp>
          <p:nvSpPr>
            <p:cNvPr id="113" name="Freeform 113"/>
            <p:cNvSpPr/>
            <p:nvPr/>
          </p:nvSpPr>
          <p:spPr>
            <a:xfrm>
              <a:off x="2081212" y="50539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114" name="TextBox 114"/>
            <p:cNvSpPr txBox="1"/>
            <p:nvPr/>
          </p:nvSpPr>
          <p:spPr>
            <a:xfrm>
              <a:off x="2686818" y="48915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③</a:t>
              </a:r>
            </a:p>
          </p:txBody>
        </p:sp>
        <p:sp>
          <p:nvSpPr>
            <p:cNvPr id="115" name="Freeform 115"/>
            <p:cNvSpPr/>
            <p:nvPr/>
          </p:nvSpPr>
          <p:spPr>
            <a:xfrm>
              <a:off x="2691765" y="50539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116" name="TextBox 116"/>
            <p:cNvSpPr txBox="1"/>
            <p:nvPr/>
          </p:nvSpPr>
          <p:spPr>
            <a:xfrm>
              <a:off x="3298323" y="489156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④</a:t>
              </a:r>
            </a:p>
          </p:txBody>
        </p:sp>
        <p:sp>
          <p:nvSpPr>
            <p:cNvPr id="117" name="Freeform 117"/>
            <p:cNvSpPr/>
            <p:nvPr/>
          </p:nvSpPr>
          <p:spPr>
            <a:xfrm>
              <a:off x="3303270" y="505396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</p:grpSp>
      <p:grpSp>
        <p:nvGrpSpPr>
          <p:cNvPr id="149" name="c2-table-1"/>
          <p:cNvGrpSpPr/>
          <p:nvPr/>
        </p:nvGrpSpPr>
        <p:grpSpPr>
          <a:xfrm>
            <a:off x="7005638" y="1967865"/>
            <a:ext cx="4652962" cy="2244090"/>
            <a:chOff x="7005638" y="1967865"/>
            <a:chExt cx="4652962" cy="2244090"/>
          </a:xfrm>
        </p:grpSpPr>
        <p:sp>
          <p:nvSpPr>
            <p:cNvPr id="119" name="Rectangle 119"/>
            <p:cNvSpPr/>
            <p:nvPr/>
          </p:nvSpPr>
          <p:spPr>
            <a:xfrm>
              <a:off x="7005638" y="1967865"/>
              <a:ext cx="465296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0" name="TextBox 120"/>
            <p:cNvSpPr txBox="1"/>
            <p:nvPr/>
          </p:nvSpPr>
          <p:spPr>
            <a:xfrm>
              <a:off x="7321832" y="210264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121" name="TextBox 121"/>
            <p:cNvSpPr txBox="1"/>
            <p:nvPr/>
          </p:nvSpPr>
          <p:spPr>
            <a:xfrm>
              <a:off x="8469046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依次比较</a:t>
              </a:r>
            </a:p>
          </p:txBody>
        </p:sp>
        <p:sp>
          <p:nvSpPr>
            <p:cNvPr id="122" name="TextBox 122"/>
            <p:cNvSpPr txBox="1"/>
            <p:nvPr/>
          </p:nvSpPr>
          <p:spPr>
            <a:xfrm>
              <a:off x="1003772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123" name="TextBox 123"/>
            <p:cNvSpPr txBox="1"/>
            <p:nvPr/>
          </p:nvSpPr>
          <p:spPr>
            <a:xfrm>
              <a:off x="10921644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24" name="TextBox 124"/>
            <p:cNvSpPr txBox="1"/>
            <p:nvPr/>
          </p:nvSpPr>
          <p:spPr>
            <a:xfrm>
              <a:off x="7321832" y="25512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25" name="TextBox 125"/>
            <p:cNvSpPr txBox="1"/>
            <p:nvPr/>
          </p:nvSpPr>
          <p:spPr>
            <a:xfrm>
              <a:off x="7858316" y="2551271"/>
              <a:ext cx="4135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A(5)</a:t>
              </a:r>
            </a:p>
          </p:txBody>
        </p:sp>
        <p:sp>
          <p:nvSpPr>
            <p:cNvPr id="126" name="TextBox 126"/>
            <p:cNvSpPr txBox="1"/>
            <p:nvPr/>
          </p:nvSpPr>
          <p:spPr>
            <a:xfrm>
              <a:off x="1016265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7" name="TextBox 127"/>
            <p:cNvSpPr txBox="1"/>
            <p:nvPr/>
          </p:nvSpPr>
          <p:spPr>
            <a:xfrm>
              <a:off x="10913029" y="2551271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 = 5</a:t>
              </a:r>
            </a:p>
          </p:txBody>
        </p:sp>
        <p:sp>
          <p:nvSpPr>
            <p:cNvPr id="128" name="Rectangle 128"/>
            <p:cNvSpPr/>
            <p:nvPr/>
          </p:nvSpPr>
          <p:spPr>
            <a:xfrm>
              <a:off x="7005638" y="2860358"/>
              <a:ext cx="465296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9" name="Rectangle 129"/>
            <p:cNvSpPr/>
            <p:nvPr/>
          </p:nvSpPr>
          <p:spPr>
            <a:xfrm>
              <a:off x="7005638" y="2865120"/>
              <a:ext cx="465296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30" name="TextBox 130"/>
            <p:cNvSpPr txBox="1"/>
            <p:nvPr/>
          </p:nvSpPr>
          <p:spPr>
            <a:xfrm>
              <a:off x="7222321" y="300085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−15</a:t>
              </a:r>
            </a:p>
          </p:txBody>
        </p:sp>
        <p:sp>
          <p:nvSpPr>
            <p:cNvPr id="131" name="TextBox 131"/>
            <p:cNvSpPr txBox="1"/>
            <p:nvPr/>
          </p:nvSpPr>
          <p:spPr>
            <a:xfrm>
              <a:off x="7858316" y="3000851"/>
              <a:ext cx="132383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A(5) A(2) A(1)</a:t>
              </a:r>
            </a:p>
          </p:txBody>
        </p:sp>
        <p:sp>
          <p:nvSpPr>
            <p:cNvPr id="132" name="TextBox 132"/>
            <p:cNvSpPr txBox="1"/>
            <p:nvPr/>
          </p:nvSpPr>
          <p:spPr>
            <a:xfrm>
              <a:off x="1016265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33" name="TextBox 133"/>
            <p:cNvSpPr txBox="1"/>
            <p:nvPr/>
          </p:nvSpPr>
          <p:spPr>
            <a:xfrm>
              <a:off x="10913029" y="3000851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 = 1</a:t>
              </a:r>
            </a:p>
          </p:txBody>
        </p:sp>
        <p:sp>
          <p:nvSpPr>
            <p:cNvPr id="134" name="Rectangle 134"/>
            <p:cNvSpPr/>
            <p:nvPr/>
          </p:nvSpPr>
          <p:spPr>
            <a:xfrm>
              <a:off x="7005638" y="3308985"/>
              <a:ext cx="465296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5" name="TextBox 135"/>
            <p:cNvSpPr txBox="1"/>
            <p:nvPr/>
          </p:nvSpPr>
          <p:spPr>
            <a:xfrm>
              <a:off x="7222321" y="3449479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101</a:t>
              </a:r>
            </a:p>
          </p:txBody>
        </p:sp>
        <p:sp>
          <p:nvSpPr>
            <p:cNvPr id="136" name="TextBox 136"/>
            <p:cNvSpPr txBox="1"/>
            <p:nvPr/>
          </p:nvSpPr>
          <p:spPr>
            <a:xfrm>
              <a:off x="7858316" y="3449479"/>
              <a:ext cx="17790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A(5) A(7) A(8) A(9)</a:t>
              </a:r>
            </a:p>
          </p:txBody>
        </p:sp>
        <p:sp>
          <p:nvSpPr>
            <p:cNvPr id="137" name="TextBox 137"/>
            <p:cNvSpPr txBox="1"/>
            <p:nvPr/>
          </p:nvSpPr>
          <p:spPr>
            <a:xfrm>
              <a:off x="10162652" y="344947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8" name="TextBox 138"/>
            <p:cNvSpPr txBox="1"/>
            <p:nvPr/>
          </p:nvSpPr>
          <p:spPr>
            <a:xfrm>
              <a:off x="10913029" y="3449479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j = 9</a:t>
              </a:r>
            </a:p>
          </p:txBody>
        </p:sp>
        <p:sp>
          <p:nvSpPr>
            <p:cNvPr id="139" name="Rectangle 139"/>
            <p:cNvSpPr/>
            <p:nvPr/>
          </p:nvSpPr>
          <p:spPr>
            <a:xfrm>
              <a:off x="7005638" y="3757612"/>
              <a:ext cx="465296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0" name="Rectangle 140"/>
            <p:cNvSpPr/>
            <p:nvPr/>
          </p:nvSpPr>
          <p:spPr>
            <a:xfrm>
              <a:off x="7005638" y="3762375"/>
              <a:ext cx="465296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1" name="TextBox 141"/>
            <p:cNvSpPr txBox="1"/>
            <p:nvPr/>
          </p:nvSpPr>
          <p:spPr>
            <a:xfrm>
              <a:off x="7321832" y="38981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42" name="TextBox 142"/>
            <p:cNvSpPr txBox="1"/>
            <p:nvPr/>
          </p:nvSpPr>
          <p:spPr>
            <a:xfrm>
              <a:off x="7858316" y="3898106"/>
              <a:ext cx="177900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A(5) A(2) A(3) A(4)</a:t>
              </a:r>
            </a:p>
          </p:txBody>
        </p:sp>
        <p:sp>
          <p:nvSpPr>
            <p:cNvPr id="143" name="TextBox 143"/>
            <p:cNvSpPr txBox="1"/>
            <p:nvPr/>
          </p:nvSpPr>
          <p:spPr>
            <a:xfrm>
              <a:off x="10162652" y="389810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44" name="TextBox 144"/>
            <p:cNvSpPr txBox="1"/>
            <p:nvPr/>
          </p:nvSpPr>
          <p:spPr>
            <a:xfrm>
              <a:off x="10913029" y="3898106"/>
              <a:ext cx="37481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j = 0</a:t>
              </a:r>
            </a:p>
          </p:txBody>
        </p:sp>
        <p:sp>
          <p:nvSpPr>
            <p:cNvPr id="145" name="Rectangle 145"/>
            <p:cNvSpPr/>
            <p:nvPr/>
          </p:nvSpPr>
          <p:spPr>
            <a:xfrm>
              <a:off x="7005638" y="1967865"/>
              <a:ext cx="465296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46" name="Rectangle 146"/>
            <p:cNvSpPr/>
            <p:nvPr/>
          </p:nvSpPr>
          <p:spPr>
            <a:xfrm>
              <a:off x="7745730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7" name="Rectangle 147"/>
            <p:cNvSpPr/>
            <p:nvPr/>
          </p:nvSpPr>
          <p:spPr>
            <a:xfrm>
              <a:off x="988599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8" name="Rectangle 148"/>
            <p:cNvSpPr/>
            <p:nvPr/>
          </p:nvSpPr>
          <p:spPr>
            <a:xfrm>
              <a:off x="1053750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56" name="c2-card-2"/>
          <p:cNvGrpSpPr/>
          <p:nvPr/>
        </p:nvGrpSpPr>
        <p:grpSpPr>
          <a:xfrm>
            <a:off x="7005638" y="4402455"/>
            <a:ext cx="4652962" cy="1898332"/>
            <a:chOff x="7005638" y="4402455"/>
            <a:chExt cx="4652962" cy="1898332"/>
          </a:xfrm>
        </p:grpSpPr>
        <p:sp>
          <p:nvSpPr>
            <p:cNvPr id="150" name="Rectangle 150"/>
            <p:cNvSpPr/>
            <p:nvPr/>
          </p:nvSpPr>
          <p:spPr>
            <a:xfrm>
              <a:off x="7005638" y="4402455"/>
              <a:ext cx="4652962" cy="1898332"/>
            </a:xfrm>
            <a:prstGeom prst="roundRect">
              <a:avLst>
                <a:gd name="adj" fmla="val 702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1" name="Rectangle 151"/>
            <p:cNvSpPr/>
            <p:nvPr/>
          </p:nvSpPr>
          <p:spPr>
            <a:xfrm>
              <a:off x="7015162" y="4535805"/>
              <a:ext cx="47625" cy="163163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52" name="Rectangle 152"/>
            <p:cNvSpPr/>
            <p:nvPr/>
          </p:nvSpPr>
          <p:spPr>
            <a:xfrm>
              <a:off x="7253288" y="4612005"/>
              <a:ext cx="26279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53" name="TextBox 153"/>
            <p:cNvSpPr txBox="1"/>
            <p:nvPr/>
          </p:nvSpPr>
          <p:spPr>
            <a:xfrm>
              <a:off x="7280440" y="464772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思考：对称的元素为什么比较次数不同</a:t>
              </a:r>
            </a:p>
          </p:txBody>
        </p:sp>
        <p:sp>
          <p:nvSpPr>
            <p:cNvPr id="154" name="TextBox 154"/>
            <p:cNvSpPr txBox="1"/>
            <p:nvPr/>
          </p:nvSpPr>
          <p:spPr>
            <a:xfrm>
              <a:off x="7245668" y="4989195"/>
              <a:ext cx="39109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mid 向下取整。[1, 4] 分成 [1, 1] 和 [3,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4]，[6, 9] 分成 [6, 6] 和 [8, 9]，右边总是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多留一个元素。</a:t>
              </a:r>
            </a:p>
          </p:txBody>
        </p:sp>
        <p:sp>
          <p:nvSpPr>
            <p:cNvPr id="155" name="TextBox 155"/>
            <p:cNvSpPr txBox="1"/>
            <p:nvPr/>
          </p:nvSpPr>
          <p:spPr>
            <a:xfrm>
              <a:off x="7246811" y="5891689"/>
              <a:ext cx="33730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 −15 第 3 次就找到，101 要到第 4 次。</a:t>
              </a:r>
            </a:p>
          </p:txBody>
        </p:sp>
      </p:grpSp>
      <p:grpSp>
        <p:nvGrpSpPr>
          <p:cNvPr id="1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57" name="TextBox 15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58" name="TextBox 1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70110" cy="909257"/>
            <a:chOff x="520446" y="342900"/>
            <a:chExt cx="83701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701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二元比较树：每个内结点代表一次 x 与 A(mid) 的比较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111942" cy="2457450"/>
            <a:chOff x="533400" y="1524000"/>
            <a:chExt cx="4111942" cy="24574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111942" cy="2457450"/>
            </a:xfrm>
            <a:prstGeom prst="roundRect">
              <a:avLst>
                <a:gd name="adj" fmla="val 54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9075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192881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4441" y="1763554"/>
              <a:ext cx="187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 = 9 时 BINSRCH 的比较树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2955" y="216122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39546" y="2100739"/>
              <a:ext cx="329666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内结点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（圆）：记录一个 mid 值，表示一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次元素比较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82955" y="275272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9546" y="2692241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外结点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（方框）：表示不成功查找的一种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2955" y="334422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9546" y="3283744"/>
              <a:ext cx="32605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从根出发的一条路径：一个元素的比较序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</a:t>
              </a:r>
            </a:p>
          </p:txBody>
        </p:sp>
      </p:grpSp>
      <p:grpSp>
        <p:nvGrpSpPr>
          <p:cNvPr id="23" name="c1-kv-2"/>
          <p:cNvGrpSpPr/>
          <p:nvPr/>
        </p:nvGrpSpPr>
        <p:grpSpPr>
          <a:xfrm>
            <a:off x="526161" y="4190524"/>
            <a:ext cx="4119181" cy="968311"/>
            <a:chOff x="526161" y="4190524"/>
            <a:chExt cx="4119181" cy="968311"/>
          </a:xfrm>
        </p:grpSpPr>
        <p:sp>
          <p:nvSpPr>
            <p:cNvPr id="18" name="TextBox 18"/>
            <p:cNvSpPr txBox="1"/>
            <p:nvPr/>
          </p:nvSpPr>
          <p:spPr>
            <a:xfrm>
              <a:off x="526161" y="41905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橙色路径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25334" y="4190524"/>
              <a:ext cx="29105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101：5 → 7 → 8 → 9，在 9 成功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496752"/>
              <a:ext cx="411194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26161" y="461248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红色路径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525334" y="4612481"/>
              <a:ext cx="2728595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= 8：5 → 2 → 3 → 4，到 4 的右外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结点，失败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5288280"/>
            <a:ext cx="4111942" cy="756285"/>
            <a:chOff x="533400" y="5288280"/>
            <a:chExt cx="4111942" cy="756285"/>
          </a:xfrm>
        </p:grpSpPr>
        <p:sp>
          <p:nvSpPr>
            <p:cNvPr id="24" name="Rectangle 24"/>
            <p:cNvSpPr/>
            <p:nvPr/>
          </p:nvSpPr>
          <p:spPr>
            <a:xfrm>
              <a:off x="533400" y="5288280"/>
              <a:ext cx="411194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566410"/>
              <a:ext cx="200026" cy="200026"/>
              <a:chOff x="738188" y="5566410"/>
              <a:chExt cx="200026" cy="20002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5664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38200" y="56330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27088" y="56664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511" y="5435441"/>
              <a:ext cx="310730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树的形状只由 n 决定，与数组中的值、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要找的 x 都无关。</a:t>
              </a:r>
            </a:p>
          </p:txBody>
        </p:sp>
      </p:grpSp>
      <p:grpSp>
        <p:nvGrpSpPr>
          <p:cNvPr id="80" name="c2-graph-1"/>
          <p:cNvGrpSpPr/>
          <p:nvPr/>
        </p:nvGrpSpPr>
        <p:grpSpPr>
          <a:xfrm>
            <a:off x="5079111" y="1806892"/>
            <a:ext cx="6440424" cy="4201478"/>
            <a:chOff x="5079111" y="1806892"/>
            <a:chExt cx="6440424" cy="4201478"/>
          </a:xfrm>
        </p:grpSpPr>
        <p:sp>
          <p:nvSpPr>
            <p:cNvPr id="31" name="Freeform 31"/>
            <p:cNvSpPr/>
            <p:nvPr/>
          </p:nvSpPr>
          <p:spPr>
            <a:xfrm>
              <a:off x="6391275" y="2027872"/>
              <a:ext cx="1766888" cy="830580"/>
            </a:xfrm>
            <a:custGeom>
              <a:avLst/>
              <a:gdLst/>
              <a:ahLst/>
              <a:cxnLst/>
              <a:rect l="l" t="t" r="r" b="b"/>
              <a:pathLst>
                <a:path w="1766888" h="830580">
                  <a:moveTo>
                    <a:pt x="1766888" y="0"/>
                  </a:moveTo>
                  <a:lnTo>
                    <a:pt x="0" y="830580"/>
                  </a:lnTo>
                </a:path>
              </a:pathLst>
            </a:custGeom>
            <a:noFill/>
            <a:ln w="24765">
              <a:solidFill>
                <a:srgbClr val="B42318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436292" y="2052638"/>
              <a:ext cx="1103947" cy="781050"/>
            </a:xfrm>
            <a:custGeom>
              <a:avLst/>
              <a:gdLst/>
              <a:ahLst/>
              <a:cxnLst/>
              <a:rect l="l" t="t" r="r" b="b"/>
              <a:pathLst>
                <a:path w="1103947" h="781050">
                  <a:moveTo>
                    <a:pt x="0" y="0"/>
                  </a:moveTo>
                  <a:lnTo>
                    <a:pt x="1103947" y="78105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654040" y="3059430"/>
              <a:ext cx="497205" cy="702945"/>
            </a:xfrm>
            <a:custGeom>
              <a:avLst/>
              <a:gdLst/>
              <a:ahLst/>
              <a:cxnLst/>
              <a:rect l="l" t="t" r="r" b="b"/>
              <a:pathLst>
                <a:path w="497205" h="702945">
                  <a:moveTo>
                    <a:pt x="497205" y="0"/>
                  </a:moveTo>
                  <a:lnTo>
                    <a:pt x="0" y="7029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338888" y="3059430"/>
              <a:ext cx="502920" cy="703898"/>
            </a:xfrm>
            <a:custGeom>
              <a:avLst/>
              <a:gdLst/>
              <a:ahLst/>
              <a:cxnLst/>
              <a:rect l="l" t="t" r="r" b="b"/>
              <a:pathLst>
                <a:path w="502920" h="703898">
                  <a:moveTo>
                    <a:pt x="0" y="0"/>
                  </a:moveTo>
                  <a:lnTo>
                    <a:pt x="502920" y="703898"/>
                  </a:lnTo>
                </a:path>
              </a:pathLst>
            </a:custGeom>
            <a:noFill/>
            <a:ln w="24765">
              <a:solidFill>
                <a:srgbClr val="B4231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082088" y="3059430"/>
              <a:ext cx="497205" cy="702945"/>
            </a:xfrm>
            <a:custGeom>
              <a:avLst/>
              <a:gdLst/>
              <a:ahLst/>
              <a:cxnLst/>
              <a:rect l="l" t="t" r="r" b="b"/>
              <a:pathLst>
                <a:path w="497205" h="702945">
                  <a:moveTo>
                    <a:pt x="497205" y="0"/>
                  </a:moveTo>
                  <a:lnTo>
                    <a:pt x="0" y="70294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766935" y="3059430"/>
              <a:ext cx="502920" cy="703898"/>
            </a:xfrm>
            <a:custGeom>
              <a:avLst/>
              <a:gdLst/>
              <a:ahLst/>
              <a:cxnLst/>
              <a:rect l="l" t="t" r="r" b="b"/>
              <a:pathLst>
                <a:path w="502920" h="703898">
                  <a:moveTo>
                    <a:pt x="0" y="0"/>
                  </a:moveTo>
                  <a:lnTo>
                    <a:pt x="502920" y="703898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5264468" y="4047172"/>
              <a:ext cx="241935" cy="685800"/>
            </a:xfrm>
            <a:custGeom>
              <a:avLst/>
              <a:gdLst/>
              <a:ahLst/>
              <a:cxnLst/>
              <a:rect l="l" t="t" r="r" b="b"/>
              <a:pathLst>
                <a:path w="241935" h="685800">
                  <a:moveTo>
                    <a:pt x="241935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5614035" y="4047172"/>
              <a:ext cx="242888" cy="685800"/>
            </a:xfrm>
            <a:custGeom>
              <a:avLst/>
              <a:gdLst/>
              <a:ahLst/>
              <a:cxnLst/>
              <a:rect l="l" t="t" r="r" b="b"/>
              <a:pathLst>
                <a:path w="242888" h="685800">
                  <a:moveTo>
                    <a:pt x="0" y="0"/>
                  </a:moveTo>
                  <a:lnTo>
                    <a:pt x="242888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633210" y="4047172"/>
              <a:ext cx="247650" cy="685800"/>
            </a:xfrm>
            <a:custGeom>
              <a:avLst/>
              <a:gdLst/>
              <a:ahLst/>
              <a:cxnLst/>
              <a:rect l="l" t="t" r="r" b="b"/>
              <a:pathLst>
                <a:path w="247650" h="685800">
                  <a:moveTo>
                    <a:pt x="247650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029450" y="4027170"/>
              <a:ext cx="497205" cy="702945"/>
            </a:xfrm>
            <a:custGeom>
              <a:avLst/>
              <a:gdLst/>
              <a:ahLst/>
              <a:cxnLst/>
              <a:rect l="l" t="t" r="r" b="b"/>
              <a:pathLst>
                <a:path w="497205" h="702945">
                  <a:moveTo>
                    <a:pt x="0" y="0"/>
                  </a:moveTo>
                  <a:lnTo>
                    <a:pt x="497205" y="702945"/>
                  </a:lnTo>
                </a:path>
              </a:pathLst>
            </a:custGeom>
            <a:noFill/>
            <a:ln w="24765">
              <a:solidFill>
                <a:srgbClr val="B42318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321868" y="5015865"/>
              <a:ext cx="246697" cy="733425"/>
            </a:xfrm>
            <a:custGeom>
              <a:avLst/>
              <a:gdLst/>
              <a:ahLst/>
              <a:cxnLst/>
              <a:rect l="l" t="t" r="r" b="b"/>
              <a:pathLst>
                <a:path w="246697" h="733425">
                  <a:moveTo>
                    <a:pt x="246697" y="0"/>
                  </a:moveTo>
                  <a:lnTo>
                    <a:pt x="0" y="7334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671435" y="5015865"/>
              <a:ext cx="246697" cy="733425"/>
            </a:xfrm>
            <a:custGeom>
              <a:avLst/>
              <a:gdLst/>
              <a:ahLst/>
              <a:cxnLst/>
              <a:rect l="l" t="t" r="r" b="b"/>
              <a:pathLst>
                <a:path w="246697" h="733425">
                  <a:moveTo>
                    <a:pt x="0" y="0"/>
                  </a:moveTo>
                  <a:lnTo>
                    <a:pt x="246697" y="733425"/>
                  </a:lnTo>
                </a:path>
              </a:pathLst>
            </a:custGeom>
            <a:noFill/>
            <a:ln w="24765">
              <a:solidFill>
                <a:srgbClr val="B42318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692515" y="4047172"/>
              <a:ext cx="241935" cy="685800"/>
            </a:xfrm>
            <a:custGeom>
              <a:avLst/>
              <a:gdLst/>
              <a:ahLst/>
              <a:cxnLst/>
              <a:rect l="l" t="t" r="r" b="b"/>
              <a:pathLst>
                <a:path w="241935" h="685800">
                  <a:moveTo>
                    <a:pt x="241935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042082" y="4047172"/>
              <a:ext cx="242888" cy="685800"/>
            </a:xfrm>
            <a:custGeom>
              <a:avLst/>
              <a:gdLst/>
              <a:ahLst/>
              <a:cxnLst/>
              <a:rect l="l" t="t" r="r" b="b"/>
              <a:pathLst>
                <a:path w="242888" h="685800">
                  <a:moveTo>
                    <a:pt x="0" y="0"/>
                  </a:moveTo>
                  <a:lnTo>
                    <a:pt x="242888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066972" y="4047172"/>
              <a:ext cx="242888" cy="685800"/>
            </a:xfrm>
            <a:custGeom>
              <a:avLst/>
              <a:gdLst/>
              <a:ahLst/>
              <a:cxnLst/>
              <a:rect l="l" t="t" r="r" b="b"/>
              <a:pathLst>
                <a:path w="242888" h="685800">
                  <a:moveTo>
                    <a:pt x="242888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457498" y="4027170"/>
              <a:ext cx="497205" cy="702945"/>
            </a:xfrm>
            <a:custGeom>
              <a:avLst/>
              <a:gdLst/>
              <a:ahLst/>
              <a:cxnLst/>
              <a:rect l="l" t="t" r="r" b="b"/>
              <a:pathLst>
                <a:path w="497205" h="702945">
                  <a:moveTo>
                    <a:pt x="0" y="0"/>
                  </a:moveTo>
                  <a:lnTo>
                    <a:pt x="497205" y="702945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749915" y="5015865"/>
              <a:ext cx="246698" cy="733425"/>
            </a:xfrm>
            <a:custGeom>
              <a:avLst/>
              <a:gdLst/>
              <a:ahLst/>
              <a:cxnLst/>
              <a:rect l="l" t="t" r="r" b="b"/>
              <a:pathLst>
                <a:path w="246698" h="733425">
                  <a:moveTo>
                    <a:pt x="246698" y="0"/>
                  </a:moveTo>
                  <a:lnTo>
                    <a:pt x="0" y="7334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Freeform 48"/>
            <p:cNvSpPr/>
            <p:nvPr/>
          </p:nvSpPr>
          <p:spPr>
            <a:xfrm>
              <a:off x="11099482" y="5015865"/>
              <a:ext cx="247650" cy="733425"/>
            </a:xfrm>
            <a:custGeom>
              <a:avLst/>
              <a:gdLst/>
              <a:ahLst/>
              <a:cxnLst/>
              <a:rect l="l" t="t" r="r" b="b"/>
              <a:pathLst>
                <a:path w="247650" h="733425">
                  <a:moveTo>
                    <a:pt x="0" y="0"/>
                  </a:moveTo>
                  <a:lnTo>
                    <a:pt x="247650" y="7334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8151495" y="180689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6092190" y="277463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9520238" y="277463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5408295" y="3742372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6783705" y="374237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8836342" y="3742372"/>
              <a:ext cx="304800" cy="304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10211752" y="374237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7467600" y="4710112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7" name="Ellipse 57"/>
            <p:cNvSpPr/>
            <p:nvPr/>
          </p:nvSpPr>
          <p:spPr>
            <a:xfrm>
              <a:off x="10895648" y="4710112"/>
              <a:ext cx="304800" cy="304800"/>
            </a:xfrm>
            <a:prstGeom prst="ellipse">
              <a:avLst/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089208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5773102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457950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148512" y="5749290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832408" y="5749290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8517255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9201150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9892665" y="4732972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10576560" y="5749290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11260455" y="5749290"/>
              <a:ext cx="259080" cy="259080"/>
            </a:xfrm>
            <a:prstGeom prst="roundRect">
              <a:avLst>
                <a:gd name="adj" fmla="val 14706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8251153" y="188499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191848" y="28527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619896" y="285273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507953" y="38204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883363" y="38204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936001" y="38204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311411" y="382047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567258" y="478821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995306" y="4788217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079111" y="1845945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1 级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5079111" y="2813685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2 级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5079111" y="5765483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5 级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811133" cy="909257"/>
            <a:chOff x="520446" y="342900"/>
            <a:chExt cx="981113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81113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用比较树数比较次数：n = 9 时成功平均 25/9，失败平均 34/10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table-1"/>
          <p:cNvGrpSpPr/>
          <p:nvPr/>
        </p:nvGrpSpPr>
        <p:grpSpPr>
          <a:xfrm>
            <a:off x="527685" y="1524000"/>
            <a:ext cx="6497955" cy="1155859"/>
            <a:chOff x="527685" y="1524000"/>
            <a:chExt cx="6497955" cy="1155859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16676" y="1655445"/>
              <a:ext cx="10508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成功：找 A(i)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58061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077173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597238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116351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35463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155528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674641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93753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712866" y="16554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38746" y="208502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560282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079394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99459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18572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37684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157749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676862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195974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15087" y="208502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492240" cy="860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346008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2866072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385185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3904298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4424362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4943475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62588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981700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501765" y="1524000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27685" y="2459831"/>
              <a:ext cx="4089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比较次数 = 内结点所在级数，总和 1+2+2+3+3+3+3+4+4 = 25</a:t>
              </a:r>
            </a:p>
          </p:txBody>
        </p:sp>
      </p:grpSp>
      <p:grpSp>
        <p:nvGrpSpPr>
          <p:cNvPr id="75" name="c1-table-2"/>
          <p:cNvGrpSpPr/>
          <p:nvPr/>
        </p:nvGrpSpPr>
        <p:grpSpPr>
          <a:xfrm>
            <a:off x="527685" y="2821305"/>
            <a:ext cx="6497955" cy="1155859"/>
            <a:chOff x="527685" y="2821305"/>
            <a:chExt cx="6497955" cy="1155859"/>
          </a:xfrm>
        </p:grpSpPr>
        <p:sp>
          <p:nvSpPr>
            <p:cNvPr id="40" name="Rectangle 40"/>
            <p:cNvSpPr/>
            <p:nvPr/>
          </p:nvSpPr>
          <p:spPr>
            <a:xfrm>
              <a:off x="533400" y="2821305"/>
              <a:ext cx="649224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00471" y="2952750"/>
              <a:ext cx="10832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失败：外结点 i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532343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000021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466746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934423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4402101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869778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336503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804181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71858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39536" y="295275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8746" y="3382327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534564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002242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468967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936644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4404322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4871999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338724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806402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74079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741757" y="3382327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33400" y="2821305"/>
              <a:ext cx="6492240" cy="860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2346008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2813685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3281362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3749040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4215765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4683442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5151120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5618798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6085522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6553200" y="282130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527685" y="3757136"/>
              <a:ext cx="46280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外结点 i 表示 A(i) &lt; x &lt; A(i+1)，A(0) = −∞，A(10) = +∞；总和 34</a:t>
              </a:r>
            </a:p>
          </p:txBody>
        </p:sp>
      </p:grpSp>
      <p:grpSp>
        <p:nvGrpSpPr>
          <p:cNvPr id="84" name="c1-card-3"/>
          <p:cNvGrpSpPr/>
          <p:nvPr/>
        </p:nvGrpSpPr>
        <p:grpSpPr>
          <a:xfrm>
            <a:off x="533400" y="4118610"/>
            <a:ext cx="6492240" cy="1323022"/>
            <a:chOff x="533400" y="4118610"/>
            <a:chExt cx="6492240" cy="1323022"/>
          </a:xfrm>
        </p:grpSpPr>
        <p:sp>
          <p:nvSpPr>
            <p:cNvPr id="76" name="Rectangle 76"/>
            <p:cNvSpPr/>
            <p:nvPr/>
          </p:nvSpPr>
          <p:spPr>
            <a:xfrm>
              <a:off x="533400" y="4118610"/>
              <a:ext cx="6492240" cy="1323022"/>
            </a:xfrm>
            <a:prstGeom prst="roundRect">
              <a:avLst>
                <a:gd name="adj" fmla="val 100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7" name="Rectangle 77"/>
            <p:cNvSpPr/>
            <p:nvPr/>
          </p:nvSpPr>
          <p:spPr>
            <a:xfrm>
              <a:off x="542925" y="4251960"/>
              <a:ext cx="47625" cy="105632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8" name="Rectangle 78"/>
            <p:cNvSpPr/>
            <p:nvPr/>
          </p:nvSpPr>
          <p:spPr>
            <a:xfrm>
              <a:off x="775335" y="4322445"/>
              <a:ext cx="335280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779963" y="435816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一般规律（令根在第 1 级，内结点最大级数为 k）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782955" y="475488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939546" y="4695349"/>
              <a:ext cx="52331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成功：比较次数等于所停内结点的级数，最少 1 次，最多 k 次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782955" y="507492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939546" y="5015389"/>
              <a:ext cx="57970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失败：比较次数等于所停外结点的级数减 1，最少 k−1 次，最多 k 次</a:t>
              </a:r>
            </a:p>
          </p:txBody>
        </p:sp>
      </p:grpSp>
      <p:grpSp>
        <p:nvGrpSpPr>
          <p:cNvPr id="104" name="c2-table-1"/>
          <p:cNvGrpSpPr/>
          <p:nvPr/>
        </p:nvGrpSpPr>
        <p:grpSpPr>
          <a:xfrm>
            <a:off x="7330440" y="1524000"/>
            <a:ext cx="4328160" cy="1406842"/>
            <a:chOff x="7330440" y="1524000"/>
            <a:chExt cx="4328160" cy="1406842"/>
          </a:xfrm>
        </p:grpSpPr>
        <p:sp>
          <p:nvSpPr>
            <p:cNvPr id="85" name="Rectangle 85"/>
            <p:cNvSpPr/>
            <p:nvPr/>
          </p:nvSpPr>
          <p:spPr>
            <a:xfrm>
              <a:off x="7330440" y="1524000"/>
              <a:ext cx="4328160" cy="4686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568880" y="1658779"/>
              <a:ext cx="4660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9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8513166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最好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390418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10644861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7434644" y="212836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8651757" y="212836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529009" y="212836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0279027" y="2128361"/>
              <a:ext cx="11284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25/9 ≈ 2.78</a:t>
              </a:r>
            </a:p>
          </p:txBody>
        </p:sp>
        <p:sp>
          <p:nvSpPr>
            <p:cNvPr id="94" name="Rectangle 94"/>
            <p:cNvSpPr/>
            <p:nvPr/>
          </p:nvSpPr>
          <p:spPr>
            <a:xfrm>
              <a:off x="7330440" y="2457450"/>
              <a:ext cx="432816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7330440" y="2462212"/>
              <a:ext cx="432816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7434644" y="259699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8651757" y="259699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9529009" y="259699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9" name="TextBox 99"/>
            <p:cNvSpPr txBox="1"/>
            <p:nvPr/>
          </p:nvSpPr>
          <p:spPr>
            <a:xfrm>
              <a:off x="10279027" y="2596991"/>
              <a:ext cx="11284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34/10 = 3.4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7330440" y="1524000"/>
              <a:ext cx="4328160" cy="140684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8268652" y="1524000"/>
              <a:ext cx="9525" cy="14068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2" name="Rectangle 102"/>
            <p:cNvSpPr/>
            <p:nvPr/>
          </p:nvSpPr>
          <p:spPr>
            <a:xfrm>
              <a:off x="9145905" y="1524000"/>
              <a:ext cx="9525" cy="14068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3" name="Rectangle 103"/>
            <p:cNvSpPr/>
            <p:nvPr/>
          </p:nvSpPr>
          <p:spPr>
            <a:xfrm>
              <a:off x="10023158" y="1524000"/>
              <a:ext cx="9525" cy="140684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11" name="c2-card-2"/>
          <p:cNvGrpSpPr/>
          <p:nvPr/>
        </p:nvGrpSpPr>
        <p:grpSpPr>
          <a:xfrm>
            <a:off x="7330440" y="3116580"/>
            <a:ext cx="4328160" cy="2325052"/>
            <a:chOff x="7330440" y="3116580"/>
            <a:chExt cx="4328160" cy="2325052"/>
          </a:xfrm>
        </p:grpSpPr>
        <p:sp>
          <p:nvSpPr>
            <p:cNvPr id="105" name="Rectangle 105"/>
            <p:cNvSpPr/>
            <p:nvPr/>
          </p:nvSpPr>
          <p:spPr>
            <a:xfrm>
              <a:off x="7330440" y="3116580"/>
              <a:ext cx="4328160" cy="2325052"/>
            </a:xfrm>
            <a:prstGeom prst="roundRect">
              <a:avLst>
                <a:gd name="adj" fmla="val 573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6" name="Rectangle 106"/>
            <p:cNvSpPr/>
            <p:nvPr/>
          </p:nvSpPr>
          <p:spPr>
            <a:xfrm>
              <a:off x="7339965" y="3249930"/>
              <a:ext cx="47625" cy="205835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07" name="Rectangle 107"/>
            <p:cNvSpPr/>
            <p:nvPr/>
          </p:nvSpPr>
          <p:spPr>
            <a:xfrm>
              <a:off x="7572375" y="3320415"/>
              <a:ext cx="168306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08" name="TextBox 108"/>
            <p:cNvSpPr txBox="1"/>
            <p:nvPr/>
          </p:nvSpPr>
          <p:spPr>
            <a:xfrm>
              <a:off x="7627470" y="3356134"/>
              <a:ext cx="1573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为什么失败至少 k−1 次</a:t>
              </a:r>
            </a:p>
          </p:txBody>
        </p:sp>
        <p:sp>
          <p:nvSpPr>
            <p:cNvPr id="109" name="TextBox 109"/>
            <p:cNvSpPr txBox="1"/>
            <p:nvPr/>
          </p:nvSpPr>
          <p:spPr>
            <a:xfrm>
              <a:off x="7565136" y="3693319"/>
              <a:ext cx="335978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本例 k = 4。外结点只出现在第 4 级和第 5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级，失败查找比较 3 次或 4 次。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7566279" y="4281488"/>
              <a:ext cx="37307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一般情况下外结点都在第 k 级或第 k+1 级，下一页的定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理 4.1 给出证明。</a:t>
              </a:r>
            </a:p>
          </p:txBody>
        </p:sp>
      </p:grpSp>
      <p:grpSp>
        <p:nvGrpSpPr>
          <p:cNvPr id="118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112" name="Rectangle 112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16" name="Group 116"/>
            <p:cNvGrpSpPr/>
            <p:nvPr/>
          </p:nvGrpSpPr>
          <p:grpSpPr>
            <a:xfrm>
              <a:off x="738188" y="6003608"/>
              <a:ext cx="200026" cy="200026"/>
              <a:chOff x="738188" y="6003608"/>
              <a:chExt cx="200026" cy="200026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738188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4" name="Freeform 114"/>
              <p:cNvSpPr/>
              <p:nvPr/>
            </p:nvSpPr>
            <p:spPr>
              <a:xfrm>
                <a:off x="838200" y="607028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5" name="Freeform 115"/>
              <p:cNvSpPr/>
              <p:nvPr/>
            </p:nvSpPr>
            <p:spPr>
              <a:xfrm>
                <a:off x="827088" y="610362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17" name="TextBox 117"/>
            <p:cNvSpPr txBox="1"/>
            <p:nvPr/>
          </p:nvSpPr>
          <p:spPr>
            <a:xfrm>
              <a:off x="1040511" y="6004084"/>
              <a:ext cx="7106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这里的平均值假设 n 个元素被查找的机会相同，n+1 种失败情况出现的机会也相同。</a:t>
              </a:r>
            </a:p>
          </p:txBody>
        </p:sp>
      </p:grpSp>
      <p:grpSp>
        <p:nvGrpSpPr>
          <p:cNvPr id="1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9" name="TextBox 1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20" name="TextBox 1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59493" cy="909257"/>
            <a:chOff x="520446" y="342900"/>
            <a:chExt cx="1005949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5949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4.1：比较树的深度 k = ⌊log n⌋ + 1，最坏比较 Θ(log n)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085398" cy="1602105"/>
            <a:chOff x="533400" y="1524000"/>
            <a:chExt cx="5085398" cy="16021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2402205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14344" y="1769269"/>
              <a:ext cx="23356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内结点个数 n 与最大级数 k 的关系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425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每次把区间分成大小相差不超过 1 的两半，所以比较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树的第 1~k−1 级一定是满的：前 k−1 级共 2^(k−1)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− 1 个结点，第 k 级至少 1 个、至多 2^(k−1) 个。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6"/>
              <p:cNvSpPr txBox="1">
                <a:spLocks noGrp="1"/>
              </p:cNvSpPr>
              <p:nvPr/>
            </p:nvSpPr>
            <p:spPr>
              <a:xfrm>
                <a:off x="533400" y="3316605"/>
                <a:ext cx="5085398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9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sSup>
                        <m:e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a:rPr lang="zh-CN" sz="19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7"/>
              <p:cNvSpPr txBox="1">
                <a:spLocks noGrp="1"/>
              </p:cNvSpPr>
              <p:nvPr/>
            </p:nvSpPr>
            <p:spPr>
              <a:xfrm>
                <a:off x="533400" y="4002405"/>
                <a:ext cx="5085398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</m:t>
                          </m:r>
                        </m:fName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func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⌊"/>
                          <m:sepChr m:val=""/>
                          <m:endChr m:val="⌋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func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func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0" name="c1-callout-4"/>
          <p:cNvGrpSpPr/>
          <p:nvPr/>
        </p:nvGrpSpPr>
        <p:grpSpPr>
          <a:xfrm>
            <a:off x="533400" y="4650105"/>
            <a:ext cx="5085398" cy="782955"/>
            <a:chOff x="533400" y="4650105"/>
            <a:chExt cx="5085398" cy="782955"/>
          </a:xfrm>
        </p:grpSpPr>
        <p:sp>
          <p:nvSpPr>
            <p:cNvPr id="15" name="Rectangle 15"/>
            <p:cNvSpPr/>
            <p:nvPr/>
          </p:nvSpPr>
          <p:spPr>
            <a:xfrm>
              <a:off x="533400" y="4650105"/>
              <a:ext cx="5085398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8" name="Group 18"/>
            <p:cNvGrpSpPr/>
            <p:nvPr/>
          </p:nvGrpSpPr>
          <p:grpSpPr>
            <a:xfrm>
              <a:off x="738188" y="4941570"/>
              <a:ext cx="200026" cy="200026"/>
              <a:chOff x="738188" y="4941570"/>
              <a:chExt cx="200026" cy="20002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738188" y="494157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804863" y="501935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040130" y="4798695"/>
              <a:ext cx="4120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验算 n = 9：2³ = 8 ≤ 9 &lt; 16，k = 4，与上一页的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树一致。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5923598" y="1524000"/>
            <a:ext cx="5735002" cy="1602105"/>
            <a:chOff x="5923598" y="1524000"/>
            <a:chExt cx="5735002" cy="1602105"/>
          </a:xfrm>
        </p:grpSpPr>
        <p:sp>
          <p:nvSpPr>
            <p:cNvPr id="21" name="Rectangle 21"/>
            <p:cNvSpPr/>
            <p:nvPr/>
          </p:nvSpPr>
          <p:spPr>
            <a:xfrm>
              <a:off x="5923598" y="1524000"/>
              <a:ext cx="5735002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5933122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171248" y="1733550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52833" y="1769269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4.1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63628" y="2110740"/>
              <a:ext cx="4968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n 在区间 [2^(k−1), 2ᵏ) 中，则对于一次成功的查找，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BINSRCH 至多作 k 次比较；对于一次不成功的查找，作 k−1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次或 k 次比较。</a:t>
              </a:r>
            </a:p>
          </p:txBody>
        </p:sp>
      </p:grpSp>
      <p:grpSp>
        <p:nvGrpSpPr>
          <p:cNvPr id="40" name="c2-steps-2"/>
          <p:cNvGrpSpPr/>
          <p:nvPr/>
        </p:nvGrpSpPr>
        <p:grpSpPr>
          <a:xfrm>
            <a:off x="5923598" y="3326130"/>
            <a:ext cx="5422670" cy="2112931"/>
            <a:chOff x="5923598" y="3326130"/>
            <a:chExt cx="5422670" cy="2112931"/>
          </a:xfrm>
        </p:grpSpPr>
        <p:sp>
          <p:nvSpPr>
            <p:cNvPr id="27" name="Rectangle 27"/>
            <p:cNvSpPr/>
            <p:nvPr/>
          </p:nvSpPr>
          <p:spPr>
            <a:xfrm>
              <a:off x="6056948" y="3469005"/>
              <a:ext cx="19050" cy="13011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5923598" y="332613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017221" y="339994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923598" y="397668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017221" y="40505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5923598" y="462724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017221" y="47010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35078" y="336042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成功在内结点终止，失败在外结点终止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36220" y="365426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成功的比较次数 = 内结点级数；失败的比较次数 = 外结点级数 − 1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35078" y="4010978"/>
              <a:ext cx="18109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内结点级数不超过 k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36220" y="4304824"/>
              <a:ext cx="21065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所以成功查找至多比较 k 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35078" y="4661535"/>
              <a:ext cx="25535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外结点在第 k 级或第 k+1 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336220" y="4955381"/>
              <a:ext cx="49710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1~k−1 级已满，外结点不会出现在这些级；内结点最深第 k 级，外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结点最深第 k+1 级。所以失败比较 k−1 或 k 次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1" name="Rectangle 4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130" y="5991225"/>
              <a:ext cx="92323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由定理可直接得到：成功查找最坏 Θ(log n)，最好 1 次；失败查找的最好、最坏、平均都是 Θ(log n)。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48936" cy="909257"/>
            <a:chOff x="520446" y="342900"/>
            <a:chExt cx="90489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489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成功查找的平均比较次数：借助 E = I + 2n 由失败平均推出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kv-1"/>
          <p:cNvGrpSpPr/>
          <p:nvPr/>
        </p:nvGrpSpPr>
        <p:grpSpPr>
          <a:xfrm>
            <a:off x="526161" y="1547336"/>
            <a:ext cx="4985004" cy="1543622"/>
            <a:chOff x="526161" y="1547336"/>
            <a:chExt cx="4985004" cy="154362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2886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内部路径长度 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068259" y="154733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根到所有内结点的距离（边数）之和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5356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161" y="1969294"/>
              <a:ext cx="134170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外部路径长度 E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68259" y="196929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根到所有外结点的距离之和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2745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161" y="2391251"/>
              <a:ext cx="12951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成功平均 S(n)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68259" y="2391251"/>
              <a:ext cx="27266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I/n + 1（距离加 1 = 比较次数）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69652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161" y="2812256"/>
              <a:ext cx="12951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失败平均 U(n)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68259" y="2812256"/>
              <a:ext cx="25203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E/(n+1)（距离 = 比较次数）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33400" y="3220402"/>
            <a:ext cx="4977765" cy="2151698"/>
            <a:chOff x="533400" y="3220402"/>
            <a:chExt cx="4977765" cy="2151698"/>
          </a:xfrm>
        </p:grpSpPr>
        <p:sp>
          <p:nvSpPr>
            <p:cNvPr id="19" name="Rectangle 19"/>
            <p:cNvSpPr/>
            <p:nvPr/>
          </p:nvSpPr>
          <p:spPr>
            <a:xfrm>
              <a:off x="533400" y="3220402"/>
              <a:ext cx="4977765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45795" y="3351848"/>
              <a:ext cx="7678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9 验算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49993" y="33518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数值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38746" y="3782377"/>
              <a:ext cx="659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430399" y="3782377"/>
              <a:ext cx="182148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 + 1×2 + 2×4 + 3×2 = 16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07574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080510"/>
              <a:ext cx="497776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746" y="421195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430399" y="4211955"/>
              <a:ext cx="188122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3×6 + 4×4 = 34 = I + 2×9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50627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8746" y="4642485"/>
              <a:ext cx="3959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S(n)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30399" y="4642485"/>
              <a:ext cx="11833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16/9 + 1 = 25/9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93585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4941570"/>
              <a:ext cx="4977765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8746" y="5072062"/>
              <a:ext cx="3959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U(n)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30399" y="5072062"/>
              <a:ext cx="90876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34/10 = 3.4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220402"/>
              <a:ext cx="4977765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320290" y="3220402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c1-callout-3"/>
          <p:cNvGrpSpPr/>
          <p:nvPr/>
        </p:nvGrpSpPr>
        <p:grpSpPr>
          <a:xfrm>
            <a:off x="533400" y="5556885"/>
            <a:ext cx="4977765" cy="518160"/>
            <a:chOff x="533400" y="5556885"/>
            <a:chExt cx="4977765" cy="518160"/>
          </a:xfrm>
        </p:grpSpPr>
        <p:sp>
          <p:nvSpPr>
            <p:cNvPr id="38" name="Rectangle 38"/>
            <p:cNvSpPr/>
            <p:nvPr/>
          </p:nvSpPr>
          <p:spPr>
            <a:xfrm>
              <a:off x="533400" y="5556885"/>
              <a:ext cx="4977765" cy="518160"/>
            </a:xfrm>
            <a:prstGeom prst="roundRect">
              <a:avLst>
                <a:gd name="adj" fmla="val 220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5715953"/>
              <a:ext cx="200026" cy="200026"/>
              <a:chOff x="738188" y="5715953"/>
              <a:chExt cx="200026" cy="200026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71595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57826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27088" y="581596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511" y="5716429"/>
              <a:ext cx="41668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I + 2n 对任意二元树都成立，证明见下一页。</a:t>
              </a:r>
            </a:p>
          </p:txBody>
        </p:sp>
      </p:grpSp>
      <p:grpSp>
        <p:nvGrpSpPr>
          <p:cNvPr id="46" name="c2-text-1"/>
          <p:cNvGrpSpPr/>
          <p:nvPr/>
        </p:nvGrpSpPr>
        <p:grpSpPr>
          <a:xfrm>
            <a:off x="5808726" y="1547336"/>
            <a:ext cx="4791955" cy="278702"/>
            <a:chOff x="5808726" y="1547336"/>
            <a:chExt cx="4791955" cy="278702"/>
          </a:xfrm>
        </p:grpSpPr>
        <p:sp>
          <p:nvSpPr>
            <p:cNvPr id="45" name="TextBox 45"/>
            <p:cNvSpPr txBox="1"/>
            <p:nvPr/>
          </p:nvSpPr>
          <p:spPr>
            <a:xfrm>
              <a:off x="5808726" y="1547336"/>
              <a:ext cx="47919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E = (n+1)U(n) 和 I = n(S(n) − 1) 代入 E = I + 2n：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formula8"/>
              <p:cNvSpPr txBox="1">
                <a:spLocks noGrp="1"/>
              </p:cNvSpPr>
              <p:nvPr/>
            </p:nvSpPr>
            <p:spPr>
              <a:xfrm>
                <a:off x="5815965" y="1955482"/>
                <a:ext cx="5842635" cy="22431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2n</m:t>
                          </m:r>
                        </m:e>
                        <m:e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 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den>
                              </m:f>
                            </m:e>
                          </m:d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53" name="c2-card-3"/>
          <p:cNvGrpSpPr/>
          <p:nvPr/>
        </p:nvGrpSpPr>
        <p:grpSpPr>
          <a:xfrm>
            <a:off x="5815965" y="4384358"/>
            <a:ext cx="5842635" cy="1274445"/>
            <a:chOff x="5815965" y="4384358"/>
            <a:chExt cx="5842635" cy="1274445"/>
          </a:xfrm>
        </p:grpSpPr>
        <p:sp>
          <p:nvSpPr>
            <p:cNvPr id="48" name="Rectangle 48"/>
            <p:cNvSpPr/>
            <p:nvPr/>
          </p:nvSpPr>
          <p:spPr>
            <a:xfrm>
              <a:off x="5815965" y="4384358"/>
              <a:ext cx="5842635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825490" y="4517708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057900" y="4588192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44158" y="462391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得出阶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050661" y="4961096"/>
              <a:ext cx="475742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外结点都在第 k 级或第 k+1 级，U(n) 介于 k−1 与 k 之间，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U(n) = Θ(log n)。所以 S(n) = Θ(U(n)) = Θ(log n)。</a:t>
              </a:r>
            </a:p>
          </p:txBody>
        </p:sp>
      </p:grpSp>
      <p:grpSp>
        <p:nvGrpSpPr>
          <p:cNvPr id="59" name="c2-callout-4"/>
          <p:cNvGrpSpPr/>
          <p:nvPr/>
        </p:nvGrpSpPr>
        <p:grpSpPr>
          <a:xfrm>
            <a:off x="5815965" y="5844540"/>
            <a:ext cx="5842635" cy="518160"/>
            <a:chOff x="5815965" y="5844540"/>
            <a:chExt cx="5842635" cy="518160"/>
          </a:xfrm>
        </p:grpSpPr>
        <p:sp>
          <p:nvSpPr>
            <p:cNvPr id="54" name="Rectangle 54"/>
            <p:cNvSpPr/>
            <p:nvPr/>
          </p:nvSpPr>
          <p:spPr>
            <a:xfrm>
              <a:off x="5815965" y="5844540"/>
              <a:ext cx="5842635" cy="518160"/>
            </a:xfrm>
            <a:prstGeom prst="roundRect">
              <a:avLst>
                <a:gd name="adj" fmla="val 2205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020753" y="6003608"/>
              <a:ext cx="200026" cy="200026"/>
              <a:chOff x="6020753" y="600360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020753" y="600360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087428" y="608139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323076" y="6004084"/>
              <a:ext cx="48317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 n = 9 验证：(1 + 1/9) × 3.4 − 1 = 34/9 − 1 = 25/9。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48267" cy="909257"/>
            <a:chOff x="520446" y="342900"/>
            <a:chExt cx="69482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482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E = I + 2n：删去一对外结点，对 n 归纳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887918" cy="2529173"/>
            <a:chOff x="533400" y="1533525"/>
            <a:chExt cx="5887918" cy="2529173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基础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457227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0 时树只有一个外结点（就是根），E = I = 0，等式成立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选结点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54752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时，最深的内结点 v 的两个孩子都是外结点，设 v 到根的距离为 d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2868930"/>
              <a:ext cx="1874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删去 v 的两个外孩子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162776"/>
              <a:ext cx="54726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变成外结点，内结点剩 n−1 个：I′ = I − d，E′ = E − d − 2（见右表）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52044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用归纳假设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3813334"/>
              <a:ext cx="48659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E′ = I′ + 2(n−1)，即 E − d − 2 = I − d + 2n − 2，得 E = I + 2n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241482"/>
            <a:ext cx="6059805" cy="782955"/>
            <a:chOff x="533400" y="4241482"/>
            <a:chExt cx="6059805" cy="782955"/>
          </a:xfrm>
        </p:grpSpPr>
        <p:sp>
          <p:nvSpPr>
            <p:cNvPr id="25" name="Rectangle 25"/>
            <p:cNvSpPr/>
            <p:nvPr/>
          </p:nvSpPr>
          <p:spPr>
            <a:xfrm>
              <a:off x="533400" y="4241482"/>
              <a:ext cx="605980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4532948"/>
              <a:ext cx="200026" cy="200026"/>
              <a:chOff x="738188" y="4532948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45329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45996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463296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4390072"/>
              <a:ext cx="49777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原课件把这个证明留作思考题。每个内结点给 E 比 I 多贡献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2，这就是 2n 的来历。</a:t>
              </a:r>
            </a:p>
          </p:txBody>
        </p:sp>
      </p:grpSp>
      <p:grpSp>
        <p:nvGrpSpPr>
          <p:cNvPr id="37" name="c1-callout-3"/>
          <p:cNvGrpSpPr/>
          <p:nvPr/>
        </p:nvGrpSpPr>
        <p:grpSpPr>
          <a:xfrm>
            <a:off x="533400" y="5214938"/>
            <a:ext cx="6059805" cy="533400"/>
            <a:chOff x="533400" y="5214938"/>
            <a:chExt cx="6059805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214938"/>
              <a:ext cx="6059805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5381625"/>
              <a:ext cx="200026" cy="200026"/>
              <a:chOff x="738188" y="5381625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38162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04863" y="545941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130" y="5376862"/>
              <a:ext cx="46270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验算 n = 9 的比较树：I = 16，E = 34 = 16 + 2×9。</a:t>
              </a:r>
            </a:p>
          </p:txBody>
        </p:sp>
      </p:grpSp>
      <p:grpSp>
        <p:nvGrpSpPr>
          <p:cNvPr id="60" name="c2-graph-1"/>
          <p:cNvGrpSpPr/>
          <p:nvPr/>
        </p:nvGrpSpPr>
        <p:grpSpPr>
          <a:xfrm>
            <a:off x="7325678" y="1643062"/>
            <a:ext cx="3905465" cy="2689385"/>
            <a:chOff x="7325678" y="1643062"/>
            <a:chExt cx="3905465" cy="2689385"/>
          </a:xfrm>
        </p:grpSpPr>
        <p:sp>
          <p:nvSpPr>
            <p:cNvPr id="38" name="Freeform 38"/>
            <p:cNvSpPr/>
            <p:nvPr/>
          </p:nvSpPr>
          <p:spPr>
            <a:xfrm>
              <a:off x="8087678" y="1985010"/>
              <a:ext cx="9525" cy="803910"/>
            </a:xfrm>
            <a:custGeom>
              <a:avLst/>
              <a:gdLst/>
              <a:ahLst/>
              <a:cxnLst/>
              <a:rect l="l" t="t" r="r" b="b"/>
              <a:pathLst>
                <a:path w="9525" h="803910">
                  <a:moveTo>
                    <a:pt x="0" y="0"/>
                  </a:moveTo>
                  <a:lnTo>
                    <a:pt x="0" y="80391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9" name="Freeform 39"/>
            <p:cNvSpPr/>
            <p:nvPr/>
          </p:nvSpPr>
          <p:spPr>
            <a:xfrm>
              <a:off x="7572375" y="3081338"/>
              <a:ext cx="421005" cy="581978"/>
            </a:xfrm>
            <a:custGeom>
              <a:avLst/>
              <a:gdLst/>
              <a:ahLst/>
              <a:cxnLst/>
              <a:rect l="l" t="t" r="r" b="b"/>
              <a:pathLst>
                <a:path w="421005" h="581978">
                  <a:moveTo>
                    <a:pt x="421005" y="0"/>
                  </a:moveTo>
                  <a:lnTo>
                    <a:pt x="0" y="5819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8182928" y="3081338"/>
              <a:ext cx="421005" cy="581978"/>
            </a:xfrm>
            <a:custGeom>
              <a:avLst/>
              <a:gdLst/>
              <a:ahLst/>
              <a:cxnLst/>
              <a:rect l="l" t="t" r="r" b="b"/>
              <a:pathLst>
                <a:path w="421005" h="581978">
                  <a:moveTo>
                    <a:pt x="0" y="0"/>
                  </a:moveTo>
                  <a:lnTo>
                    <a:pt x="421005" y="58197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10467975" y="1985010"/>
              <a:ext cx="9525" cy="803910"/>
            </a:xfrm>
            <a:custGeom>
              <a:avLst/>
              <a:gdLst/>
              <a:ahLst/>
              <a:cxnLst/>
              <a:rect l="l" t="t" r="r" b="b"/>
              <a:pathLst>
                <a:path w="9525" h="803910">
                  <a:moveTo>
                    <a:pt x="0" y="0"/>
                  </a:moveTo>
                  <a:lnTo>
                    <a:pt x="0" y="80391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2" name="Freeform 42"/>
            <p:cNvSpPr/>
            <p:nvPr/>
          </p:nvSpPr>
          <p:spPr>
            <a:xfrm>
              <a:off x="9173528" y="2950845"/>
              <a:ext cx="304800" cy="9525"/>
            </a:xfrm>
            <a:custGeom>
              <a:avLst/>
              <a:gdLst/>
              <a:ahLst/>
              <a:cxnLst/>
              <a:rect l="l" t="t" r="r" b="b"/>
              <a:pathLst>
                <a:path w="304800" h="9525">
                  <a:moveTo>
                    <a:pt x="0" y="0"/>
                  </a:moveTo>
                  <a:lnTo>
                    <a:pt x="304800" y="0"/>
                  </a:lnTo>
                </a:path>
              </a:pathLst>
            </a:custGeom>
            <a:noFill/>
            <a:ln w="24765">
              <a:solidFill>
                <a:srgbClr val="F26B3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9478328" y="290322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920990" y="1643062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7935278" y="2798445"/>
              <a:ext cx="304800" cy="3048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325678" y="3663315"/>
              <a:ext cx="28575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563928" y="3663315"/>
              <a:ext cx="285750" cy="28575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10301288" y="1643062"/>
              <a:ext cx="333375" cy="33337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10306050" y="2788920"/>
              <a:ext cx="323850" cy="323850"/>
            </a:xfrm>
            <a:prstGeom prst="roundRect">
              <a:avLst>
                <a:gd name="adj" fmla="val 11765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006575" y="17397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38426" y="28808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386873" y="17397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418724" y="28808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886700" y="2301240"/>
              <a:ext cx="40195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910265" y="2332672"/>
              <a:ext cx="3548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距离 d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10266998" y="2301240"/>
              <a:ext cx="401955" cy="160020"/>
            </a:xfrm>
            <a:prstGeom prst="roundRect">
              <a:avLst>
                <a:gd name="adj" fmla="val 23810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0290562" y="2332672"/>
              <a:ext cx="3548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距离 d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11582" y="4112419"/>
              <a:ext cx="1352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删去前：n 个内结点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704807" y="4112419"/>
              <a:ext cx="1526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删去后：n−1 个内结点</a:t>
              </a:r>
            </a:p>
          </p:txBody>
        </p:sp>
      </p:grpSp>
      <p:grpSp>
        <p:nvGrpSpPr>
          <p:cNvPr id="77" name="c2-table-2"/>
          <p:cNvGrpSpPr/>
          <p:nvPr/>
        </p:nvGrpSpPr>
        <p:grpSpPr>
          <a:xfrm>
            <a:off x="6898005" y="4567238"/>
            <a:ext cx="4760595" cy="1795462"/>
            <a:chOff x="6898005" y="4567238"/>
            <a:chExt cx="4760595" cy="1795462"/>
          </a:xfrm>
        </p:grpSpPr>
        <p:sp>
          <p:nvSpPr>
            <p:cNvPr id="61" name="Rectangle 61"/>
            <p:cNvSpPr/>
            <p:nvPr/>
          </p:nvSpPr>
          <p:spPr>
            <a:xfrm>
              <a:off x="6898005" y="4567238"/>
              <a:ext cx="476059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750772" y="470296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83180" y="4702969"/>
              <a:ext cx="703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808024" y="470296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005828" y="5151596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少了内结点 v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417083" y="515159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−d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898005" y="546068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6898005" y="5465445"/>
              <a:ext cx="476059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7005828" y="560022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少了两个外结点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528892" y="5600224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−2(d+1)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898005" y="590931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005828" y="6048851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 变成外结点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0765823" y="604885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+d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6898005" y="4567238"/>
              <a:ext cx="476059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5" name="Rectangle 75"/>
            <p:cNvSpPr/>
            <p:nvPr/>
          </p:nvSpPr>
          <p:spPr>
            <a:xfrm>
              <a:off x="8956358" y="4567238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070782" y="4567238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17148" cy="909257"/>
            <a:chOff x="520446" y="342900"/>
            <a:chExt cx="63171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171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BINSRCH 的时间复杂度汇总与空间复杂度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table-1"/>
          <p:cNvGrpSpPr/>
          <p:nvPr/>
        </p:nvGrpSpPr>
        <p:grpSpPr>
          <a:xfrm>
            <a:off x="533400" y="1524000"/>
            <a:ext cx="6276022" cy="1463040"/>
            <a:chOff x="533400" y="1524000"/>
            <a:chExt cx="6276022" cy="1463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276022" cy="4876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99160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计算时间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46411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最好情况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03764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最坏情况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611178" y="16630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平均情况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0080" y="215074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成功查找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633282" y="2150745"/>
              <a:ext cx="4846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Θ(1)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043286" y="2150745"/>
              <a:ext cx="811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616816" y="2150745"/>
              <a:ext cx="811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49459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499360"/>
              <a:ext cx="6276022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0080" y="263842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失败查找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469756" y="2638425"/>
              <a:ext cx="811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043286" y="2638425"/>
              <a:ext cx="811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616816" y="2638425"/>
              <a:ext cx="8116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1524000"/>
              <a:ext cx="6276022" cy="146304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084070" y="1524000"/>
              <a:ext cx="9525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657600" y="1524000"/>
              <a:ext cx="9525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231130" y="1524000"/>
              <a:ext cx="9525" cy="146304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kv-2"/>
          <p:cNvGrpSpPr/>
          <p:nvPr/>
        </p:nvGrpSpPr>
        <p:grpSpPr>
          <a:xfrm>
            <a:off x="525780" y="3202305"/>
            <a:ext cx="6283642" cy="1613535"/>
            <a:chOff x="525780" y="3202305"/>
            <a:chExt cx="6283642" cy="1613535"/>
          </a:xfrm>
        </p:grpSpPr>
        <p:sp>
          <p:nvSpPr>
            <p:cNvPr id="27" name="TextBox 27"/>
            <p:cNvSpPr txBox="1"/>
            <p:nvPr/>
          </p:nvSpPr>
          <p:spPr>
            <a:xfrm>
              <a:off x="525780" y="3202305"/>
              <a:ext cx="9395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成功·最好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880235" y="3202305"/>
              <a:ext cx="2500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第一次比较就有 x = A(mid)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2234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25780" y="3642360"/>
              <a:ext cx="9395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成功·最坏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880235" y="3642360"/>
              <a:ext cx="31047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4.1：至多 k = ⌊log n⌋ + 1 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96240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525780" y="4082415"/>
              <a:ext cx="9395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成功·平均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80235" y="4082415"/>
              <a:ext cx="34550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S(n) = (1 + 1/n)U(n) − 1 = Θ(log n)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4402455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5780" y="4522470"/>
              <a:ext cx="114150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失败·各情况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880235" y="4522470"/>
              <a:ext cx="31148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4.1：每次都比较 k−1 或 k 次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1612582"/>
            <a:chOff x="7114222" y="1524000"/>
            <a:chExt cx="4544378" cy="1612582"/>
          </a:xfrm>
        </p:grpSpPr>
        <p:sp>
          <p:nvSpPr>
            <p:cNvPr id="39" name="Rectangle 39"/>
            <p:cNvSpPr/>
            <p:nvPr/>
          </p:nvSpPr>
          <p:spPr>
            <a:xfrm>
              <a:off x="7114222" y="1524000"/>
              <a:ext cx="4544378" cy="1612582"/>
            </a:xfrm>
            <a:prstGeom prst="roundRect">
              <a:avLst>
                <a:gd name="adj" fmla="val 82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123748" y="1657350"/>
              <a:ext cx="47625" cy="134588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361872" y="173355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439279" y="17692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空间复杂度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354252" y="2110740"/>
              <a:ext cx="3606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n 个位置存放数组 A，另有 low、high、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mid、x、j 五个变量，共需 n + 5 = Θ(n)。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55396" y="2728436"/>
              <a:ext cx="33974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若不计输入数组本身，额外空间只有 Θ(1)。</a:t>
              </a:r>
            </a:p>
          </p:txBody>
        </p:sp>
      </p:grpSp>
      <p:grpSp>
        <p:nvGrpSpPr>
          <p:cNvPr id="57" name="c2-card-2"/>
          <p:cNvGrpSpPr/>
          <p:nvPr/>
        </p:nvGrpSpPr>
        <p:grpSpPr>
          <a:xfrm>
            <a:off x="7114222" y="3327082"/>
            <a:ext cx="4544378" cy="2233612"/>
            <a:chOff x="7114222" y="3327082"/>
            <a:chExt cx="4544378" cy="2233612"/>
          </a:xfrm>
        </p:grpSpPr>
        <p:sp>
          <p:nvSpPr>
            <p:cNvPr id="46" name="Rectangle 46"/>
            <p:cNvSpPr/>
            <p:nvPr/>
          </p:nvSpPr>
          <p:spPr>
            <a:xfrm>
              <a:off x="7114222" y="3327082"/>
              <a:ext cx="4544378" cy="2233612"/>
            </a:xfrm>
            <a:prstGeom prst="roundRect">
              <a:avLst>
                <a:gd name="adj" fmla="val 59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7123748" y="3460432"/>
              <a:ext cx="47625" cy="196691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61872" y="3536632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426477" y="357235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算法结束后的思考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361872" y="3900488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423722" y="3942778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62862" y="3913822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二分思想下的查找算法，时间复杂度是固定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不变的吗？会受算法描述细节的影响吗？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361872" y="4521518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7423722" y="4563808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62862" y="4534852"/>
              <a:ext cx="3615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BINSRCH 是解决查找问题的最优算法吗？能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否进一步优化？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355396" y="5152549"/>
              <a:ext cx="38469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问题 1 看下一页的两种变型，问题 2 看定理 4.2。</a:t>
              </a:r>
            </a:p>
          </p:txBody>
        </p:sp>
      </p:grpSp>
      <p:grpSp>
        <p:nvGrpSpPr>
          <p:cNvPr id="64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8" name="Rectangle 58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130" y="5991225"/>
              <a:ext cx="75472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只有成功查找可能 1 次结束；失败查找不论 x 落在哪个区间，都要一直比到外结点。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两种变型：写法的细节会改变比较次数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410200" cy="3822382"/>
            <a:chOff x="533400" y="1524000"/>
            <a:chExt cx="5410200" cy="38223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822382"/>
            </a:xfrm>
            <a:prstGeom prst="roundRect">
              <a:avLst>
                <a:gd name="adj" fmla="val 24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87635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变型一：case 语句换成 if 语句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0502" y="1939862"/>
              <a:ext cx="2589962" cy="33476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8"/>
                </a:lnSpc>
              </a:pPr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BINSRCH(A, n, x, j)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low, high, mid, j, n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low ← 1; high ← n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low ≤ high do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mid ← ⌊(low+high)/2⌋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x &lt; A(mid)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then high ← mid−1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else if x &gt; A(mid)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then low ← mid+1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else j ← mid; return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endif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j ← 0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BINSRCH</a:t>
              </a:r>
            </a:p>
          </p:txBody>
        </p:sp>
      </p:grpSp>
      <p:grpSp>
        <p:nvGrpSpPr>
          <p:cNvPr id="17" name="c1-callout-2"/>
          <p:cNvGrpSpPr/>
          <p:nvPr/>
        </p:nvGrpSpPr>
        <p:grpSpPr>
          <a:xfrm>
            <a:off x="533400" y="5521642"/>
            <a:ext cx="5410200" cy="729615"/>
            <a:chOff x="533400" y="5521642"/>
            <a:chExt cx="5410200" cy="729615"/>
          </a:xfrm>
        </p:grpSpPr>
        <p:sp>
          <p:nvSpPr>
            <p:cNvPr id="11" name="Rectangle 11"/>
            <p:cNvSpPr/>
            <p:nvPr/>
          </p:nvSpPr>
          <p:spPr>
            <a:xfrm>
              <a:off x="533400" y="5521642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26129" y="5782746"/>
              <a:ext cx="224134" cy="192560"/>
              <a:chOff x="726129" y="5782746"/>
              <a:chExt cx="224134" cy="19256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838200" y="585311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726129" y="578274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38200" y="593090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892" y="5667375"/>
              <a:ext cx="44199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一次 if 只有两个分支。走 else 分支时 x 要先后和 A(mid)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比较两次，最坏情况下每轮都比较两次。</a:t>
              </a:r>
            </a:p>
          </p:txBody>
        </p:sp>
      </p:grpSp>
      <p:grpSp>
        <p:nvGrpSpPr>
          <p:cNvPr id="21" name="c2-code-1"/>
          <p:cNvGrpSpPr/>
          <p:nvPr/>
        </p:nvGrpSpPr>
        <p:grpSpPr>
          <a:xfrm>
            <a:off x="6248400" y="1524000"/>
            <a:ext cx="5410200" cy="3379470"/>
            <a:chOff x="6248400" y="1524000"/>
            <a:chExt cx="5410200" cy="3379470"/>
          </a:xfrm>
        </p:grpSpPr>
        <p:sp>
          <p:nvSpPr>
            <p:cNvPr id="18" name="Rectangle 18"/>
            <p:cNvSpPr/>
            <p:nvPr/>
          </p:nvSpPr>
          <p:spPr>
            <a:xfrm>
              <a:off x="6248400" y="1524000"/>
              <a:ext cx="5410200" cy="3379470"/>
            </a:xfrm>
            <a:prstGeom prst="roundRect">
              <a:avLst>
                <a:gd name="adj" fmla="val 2818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76797" y="1675924"/>
              <a:ext cx="23323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变型二：BINSRCH1，循环中只比较一次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75502" y="1939862"/>
              <a:ext cx="3941178" cy="2903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8"/>
                </a:lnSpc>
              </a:pPr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BINSRCH1(A, n, x, j)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low, high, mid, j, n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low ← 1; high ← n+1  </a:t>
              </a:r>
              <a:r>
                <a:rPr lang="zh-CN" sz="12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high 总比可能取值大 1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low &lt; high−1 do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mid ← ⌊(low+high)/2⌋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x &lt; A(mid)       </a:t>
              </a:r>
              <a:r>
                <a:rPr lang="zh-CN" sz="12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循环中只比较一次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then high ← mid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else low ← mid    </a:t>
              </a:r>
              <a:r>
                <a:rPr lang="en-US" sz="123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x ≥ A(mid)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x = A(low) then j ← low  </a:t>
              </a:r>
              <a:r>
                <a:rPr lang="zh-CN" sz="12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x 出现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else j ← 0    </a:t>
              </a:r>
              <a:r>
                <a:rPr lang="zh-CN" sz="123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x 不出现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BINSRCH1</a:t>
              </a:r>
            </a:p>
          </p:txBody>
        </p:sp>
      </p:grpSp>
      <p:grpSp>
        <p:nvGrpSpPr>
          <p:cNvPr id="27" name="c2-callout-2"/>
          <p:cNvGrpSpPr/>
          <p:nvPr/>
        </p:nvGrpSpPr>
        <p:grpSpPr>
          <a:xfrm>
            <a:off x="6248400" y="5078730"/>
            <a:ext cx="5410200" cy="1172528"/>
            <a:chOff x="6248400" y="5078730"/>
            <a:chExt cx="5410200" cy="1172528"/>
          </a:xfrm>
        </p:grpSpPr>
        <p:sp>
          <p:nvSpPr>
            <p:cNvPr id="22" name="Rectangle 22"/>
            <p:cNvSpPr/>
            <p:nvPr/>
          </p:nvSpPr>
          <p:spPr>
            <a:xfrm>
              <a:off x="6248400" y="5078730"/>
              <a:ext cx="5410200" cy="1172528"/>
            </a:xfrm>
            <a:prstGeom prst="roundRect">
              <a:avLst>
                <a:gd name="adj" fmla="val 9748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6453188" y="5564505"/>
              <a:ext cx="200026" cy="200026"/>
              <a:chOff x="6453188" y="5564505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6453188" y="556450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6519863" y="564229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6755892" y="5321618"/>
              <a:ext cx="437711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不论 x 在哪里，循环都要做到区间只剩 1 个元素才停，最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好、最坏、平均对成功和不成功查找都是 Θ(log n)。n = 9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时共比较 4 或 5 次。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8" name="TextBox 2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363151" cy="909257"/>
            <a:chOff x="520446" y="342900"/>
            <a:chExt cx="93631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3631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比较型查找的比较树：线性查找深 n 级，二分查找约 log n 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044788" cy="308039"/>
            <a:chOff x="525399" y="1550194"/>
            <a:chExt cx="1004478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04478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对已排序的 n 个元素，有没有比较型查找算法最坏情况下比二分查找还快？把算法画成二元比较树来分析。</a:t>
              </a:r>
            </a:p>
          </p:txBody>
        </p:sp>
      </p:grpSp>
      <p:grpSp>
        <p:nvGrpSpPr>
          <p:cNvPr id="10" name="c1-text-1"/>
          <p:cNvGrpSpPr/>
          <p:nvPr/>
        </p:nvGrpSpPr>
        <p:grpSpPr>
          <a:xfrm>
            <a:off x="1236521" y="1992630"/>
            <a:ext cx="2272313" cy="293370"/>
            <a:chOff x="1236521" y="1992630"/>
            <a:chExt cx="2272313" cy="293370"/>
          </a:xfrm>
        </p:grpSpPr>
        <p:sp>
          <p:nvSpPr>
            <p:cNvPr id="9" name="TextBox 9"/>
            <p:cNvSpPr txBox="1"/>
            <p:nvPr/>
          </p:nvSpPr>
          <p:spPr>
            <a:xfrm>
              <a:off x="1236521" y="1992630"/>
              <a:ext cx="22723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线性查找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：最坏比较 </a:t>
              </a:r>
              <a:r>
                <a:rPr lang="en-US" sz="150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次</a:t>
              </a:r>
            </a:p>
          </p:txBody>
        </p:sp>
      </p:grpSp>
      <p:grpSp>
        <p:nvGrpSpPr>
          <p:cNvPr id="31" name="c1-graph-2"/>
          <p:cNvGrpSpPr/>
          <p:nvPr/>
        </p:nvGrpSpPr>
        <p:grpSpPr>
          <a:xfrm>
            <a:off x="726758" y="2486025"/>
            <a:ext cx="3365182" cy="2823210"/>
            <a:chOff x="726758" y="2486025"/>
            <a:chExt cx="3365182" cy="2823210"/>
          </a:xfrm>
        </p:grpSpPr>
        <p:sp>
          <p:nvSpPr>
            <p:cNvPr id="11" name="Freeform 11"/>
            <p:cNvSpPr/>
            <p:nvPr/>
          </p:nvSpPr>
          <p:spPr>
            <a:xfrm>
              <a:off x="1124902" y="2766060"/>
              <a:ext cx="436245" cy="408623"/>
            </a:xfrm>
            <a:custGeom>
              <a:avLst/>
              <a:gdLst/>
              <a:ahLst/>
              <a:cxnLst/>
              <a:rect l="l" t="t" r="r" b="b"/>
              <a:pathLst>
                <a:path w="436245" h="408623">
                  <a:moveTo>
                    <a:pt x="436245" y="0"/>
                  </a:moveTo>
                  <a:lnTo>
                    <a:pt x="0" y="40862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60232" y="2766060"/>
              <a:ext cx="436245" cy="408623"/>
            </a:xfrm>
            <a:custGeom>
              <a:avLst/>
              <a:gdLst/>
              <a:ahLst/>
              <a:cxnLst/>
              <a:rect l="l" t="t" r="r" b="b"/>
              <a:pathLst>
                <a:path w="436245" h="408623">
                  <a:moveTo>
                    <a:pt x="0" y="0"/>
                  </a:moveTo>
                  <a:lnTo>
                    <a:pt x="436245" y="40862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60232" y="3454718"/>
              <a:ext cx="436245" cy="407670"/>
            </a:xfrm>
            <a:custGeom>
              <a:avLst/>
              <a:gdLst/>
              <a:ahLst/>
              <a:cxnLst/>
              <a:rect l="l" t="t" r="r" b="b"/>
              <a:pathLst>
                <a:path w="436245" h="407670">
                  <a:moveTo>
                    <a:pt x="436245" y="0"/>
                  </a:moveTo>
                  <a:lnTo>
                    <a:pt x="0" y="40767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532698" y="3454718"/>
              <a:ext cx="563880" cy="916305"/>
            </a:xfrm>
            <a:custGeom>
              <a:avLst/>
              <a:gdLst/>
              <a:ahLst/>
              <a:cxnLst/>
              <a:rect l="l" t="t" r="r" b="b"/>
              <a:pathLst>
                <a:path w="563880" h="916305">
                  <a:moveTo>
                    <a:pt x="0" y="0"/>
                  </a:moveTo>
                  <a:lnTo>
                    <a:pt x="563880" y="916305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15" name="Freeform 15"/>
            <p:cNvSpPr/>
            <p:nvPr/>
          </p:nvSpPr>
          <p:spPr>
            <a:xfrm>
              <a:off x="2603182" y="4651058"/>
              <a:ext cx="422910" cy="378142"/>
            </a:xfrm>
            <a:custGeom>
              <a:avLst/>
              <a:gdLst/>
              <a:ahLst/>
              <a:cxnLst/>
              <a:rect l="l" t="t" r="r" b="b"/>
              <a:pathLst>
                <a:path w="422910" h="378142">
                  <a:moveTo>
                    <a:pt x="422910" y="0"/>
                  </a:moveTo>
                  <a:lnTo>
                    <a:pt x="0" y="3781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23272" y="4651058"/>
              <a:ext cx="380048" cy="378142"/>
            </a:xfrm>
            <a:custGeom>
              <a:avLst/>
              <a:gdLst/>
              <a:ahLst/>
              <a:cxnLst/>
              <a:rect l="l" t="t" r="r" b="b"/>
              <a:pathLst>
                <a:path w="380048" h="378142">
                  <a:moveTo>
                    <a:pt x="0" y="0"/>
                  </a:moveTo>
                  <a:lnTo>
                    <a:pt x="380048" y="37814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364932" y="2486025"/>
              <a:ext cx="690562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26758" y="317468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101215" y="3174682"/>
              <a:ext cx="690562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463040" y="3862388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836545" y="4371022"/>
              <a:ext cx="690562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2198370" y="5029200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596640" y="5029200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453535" y="2561273"/>
              <a:ext cx="5143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x:A(1)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7722" y="324897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188865" y="3248978"/>
              <a:ext cx="5143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x:A(2)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64005" y="393668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927457" y="4445318"/>
              <a:ext cx="5096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x:A(n)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299335" y="51034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97605" y="51034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</p:grpSp>
      <p:grpSp>
        <p:nvGrpSpPr>
          <p:cNvPr id="33" name="c2-text-1"/>
          <p:cNvGrpSpPr/>
          <p:nvPr/>
        </p:nvGrpSpPr>
        <p:grpSpPr>
          <a:xfrm>
            <a:off x="6453259" y="1992630"/>
            <a:ext cx="3268837" cy="293370"/>
            <a:chOff x="6453259" y="1992630"/>
            <a:chExt cx="3268837" cy="293370"/>
          </a:xfrm>
        </p:grpSpPr>
        <p:sp>
          <p:nvSpPr>
            <p:cNvPr id="32" name="TextBox 32"/>
            <p:cNvSpPr txBox="1"/>
            <p:nvPr/>
          </p:nvSpPr>
          <p:spPr>
            <a:xfrm>
              <a:off x="6453259" y="1992630"/>
              <a:ext cx="32688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：最坏比较 </a:t>
              </a:r>
              <a:r>
                <a:rPr lang="en-US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⌈log(n+1)⌉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次</a:t>
              </a:r>
            </a:p>
          </p:txBody>
        </p:sp>
      </p:grpSp>
      <p:grpSp>
        <p:nvGrpSpPr>
          <p:cNvPr id="78" name="c2-graph-2"/>
          <p:cNvGrpSpPr/>
          <p:nvPr/>
        </p:nvGrpSpPr>
        <p:grpSpPr>
          <a:xfrm>
            <a:off x="4554855" y="2486025"/>
            <a:ext cx="7065645" cy="2763202"/>
            <a:chOff x="4554855" y="2486025"/>
            <a:chExt cx="7065645" cy="2763202"/>
          </a:xfrm>
        </p:grpSpPr>
        <p:sp>
          <p:nvSpPr>
            <p:cNvPr id="34" name="Freeform 34"/>
            <p:cNvSpPr/>
            <p:nvPr/>
          </p:nvSpPr>
          <p:spPr>
            <a:xfrm>
              <a:off x="6637020" y="2766060"/>
              <a:ext cx="1116330" cy="468630"/>
            </a:xfrm>
            <a:custGeom>
              <a:avLst/>
              <a:gdLst/>
              <a:ahLst/>
              <a:cxnLst/>
              <a:rect l="l" t="t" r="r" b="b"/>
              <a:pathLst>
                <a:path w="1116330" h="468630">
                  <a:moveTo>
                    <a:pt x="1116330" y="0"/>
                  </a:moveTo>
                  <a:lnTo>
                    <a:pt x="0" y="4686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422005" y="2766060"/>
              <a:ext cx="1117282" cy="468630"/>
            </a:xfrm>
            <a:custGeom>
              <a:avLst/>
              <a:gdLst/>
              <a:ahLst/>
              <a:cxnLst/>
              <a:rect l="l" t="t" r="r" b="b"/>
              <a:pathLst>
                <a:path w="1117282" h="468630">
                  <a:moveTo>
                    <a:pt x="0" y="0"/>
                  </a:moveTo>
                  <a:lnTo>
                    <a:pt x="1117282" y="46863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5277802" y="3514725"/>
              <a:ext cx="835342" cy="617220"/>
            </a:xfrm>
            <a:custGeom>
              <a:avLst/>
              <a:gdLst/>
              <a:ahLst/>
              <a:cxnLst/>
              <a:rect l="l" t="t" r="r" b="b"/>
              <a:pathLst>
                <a:path w="835342" h="617220">
                  <a:moveTo>
                    <a:pt x="835342" y="0"/>
                  </a:moveTo>
                  <a:lnTo>
                    <a:pt x="0" y="6172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7" name="Freeform 37"/>
            <p:cNvSpPr/>
            <p:nvPr/>
          </p:nvSpPr>
          <p:spPr>
            <a:xfrm>
              <a:off x="6402705" y="3514725"/>
              <a:ext cx="441960" cy="617220"/>
            </a:xfrm>
            <a:custGeom>
              <a:avLst/>
              <a:gdLst/>
              <a:ahLst/>
              <a:cxnLst/>
              <a:rect l="l" t="t" r="r" b="b"/>
              <a:pathLst>
                <a:path w="441960" h="617220">
                  <a:moveTo>
                    <a:pt x="0" y="0"/>
                  </a:moveTo>
                  <a:lnTo>
                    <a:pt x="441960" y="6172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8" name="Freeform 38"/>
            <p:cNvSpPr/>
            <p:nvPr/>
          </p:nvSpPr>
          <p:spPr>
            <a:xfrm>
              <a:off x="9330690" y="3514725"/>
              <a:ext cx="441960" cy="617220"/>
            </a:xfrm>
            <a:custGeom>
              <a:avLst/>
              <a:gdLst/>
              <a:ahLst/>
              <a:cxnLst/>
              <a:rect l="l" t="t" r="r" b="b"/>
              <a:pathLst>
                <a:path w="441960" h="617220">
                  <a:moveTo>
                    <a:pt x="441960" y="0"/>
                  </a:moveTo>
                  <a:lnTo>
                    <a:pt x="0" y="6172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39" name="Freeform 39"/>
            <p:cNvSpPr/>
            <p:nvPr/>
          </p:nvSpPr>
          <p:spPr>
            <a:xfrm>
              <a:off x="10062210" y="3514725"/>
              <a:ext cx="835342" cy="617220"/>
            </a:xfrm>
            <a:custGeom>
              <a:avLst/>
              <a:gdLst/>
              <a:ahLst/>
              <a:cxnLst/>
              <a:rect l="l" t="t" r="r" b="b"/>
              <a:pathLst>
                <a:path w="835342" h="617220">
                  <a:moveTo>
                    <a:pt x="0" y="0"/>
                  </a:moveTo>
                  <a:lnTo>
                    <a:pt x="835342" y="61722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0" name="Freeform 40"/>
            <p:cNvSpPr/>
            <p:nvPr/>
          </p:nvSpPr>
          <p:spPr>
            <a:xfrm>
              <a:off x="4850130" y="4411980"/>
              <a:ext cx="190500" cy="557213"/>
            </a:xfrm>
            <a:custGeom>
              <a:avLst/>
              <a:gdLst/>
              <a:ahLst/>
              <a:cxnLst/>
              <a:rect l="l" t="t" r="r" b="b"/>
              <a:pathLst>
                <a:path w="190500" h="557213">
                  <a:moveTo>
                    <a:pt x="190500" y="0"/>
                  </a:moveTo>
                  <a:lnTo>
                    <a:pt x="0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5148262" y="4411980"/>
              <a:ext cx="237172" cy="557213"/>
            </a:xfrm>
            <a:custGeom>
              <a:avLst/>
              <a:gdLst/>
              <a:ahLst/>
              <a:cxnLst/>
              <a:rect l="l" t="t" r="r" b="b"/>
              <a:pathLst>
                <a:path w="237172" h="557213">
                  <a:moveTo>
                    <a:pt x="0" y="0"/>
                  </a:moveTo>
                  <a:lnTo>
                    <a:pt x="237172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6647498" y="4411980"/>
              <a:ext cx="238125" cy="557213"/>
            </a:xfrm>
            <a:custGeom>
              <a:avLst/>
              <a:gdLst/>
              <a:ahLst/>
              <a:cxnLst/>
              <a:rect l="l" t="t" r="r" b="b"/>
              <a:pathLst>
                <a:path w="238125" h="557213">
                  <a:moveTo>
                    <a:pt x="238125" y="0"/>
                  </a:moveTo>
                  <a:lnTo>
                    <a:pt x="0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004685" y="4411980"/>
              <a:ext cx="238125" cy="557213"/>
            </a:xfrm>
            <a:custGeom>
              <a:avLst/>
              <a:gdLst/>
              <a:ahLst/>
              <a:cxnLst/>
              <a:rect l="l" t="t" r="r" b="b"/>
              <a:pathLst>
                <a:path w="238125" h="557213">
                  <a:moveTo>
                    <a:pt x="0" y="0"/>
                  </a:moveTo>
                  <a:lnTo>
                    <a:pt x="238125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933498" y="4411980"/>
              <a:ext cx="237172" cy="557213"/>
            </a:xfrm>
            <a:custGeom>
              <a:avLst/>
              <a:gdLst/>
              <a:ahLst/>
              <a:cxnLst/>
              <a:rect l="l" t="t" r="r" b="b"/>
              <a:pathLst>
                <a:path w="237172" h="557213">
                  <a:moveTo>
                    <a:pt x="237172" y="0"/>
                  </a:moveTo>
                  <a:lnTo>
                    <a:pt x="0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289732" y="4411980"/>
              <a:ext cx="238125" cy="557213"/>
            </a:xfrm>
            <a:custGeom>
              <a:avLst/>
              <a:gdLst/>
              <a:ahLst/>
              <a:cxnLst/>
              <a:rect l="l" t="t" r="r" b="b"/>
              <a:pathLst>
                <a:path w="238125" h="557213">
                  <a:moveTo>
                    <a:pt x="0" y="0"/>
                  </a:moveTo>
                  <a:lnTo>
                    <a:pt x="238125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10789920" y="4411980"/>
              <a:ext cx="238125" cy="557213"/>
            </a:xfrm>
            <a:custGeom>
              <a:avLst/>
              <a:gdLst/>
              <a:ahLst/>
              <a:cxnLst/>
              <a:rect l="l" t="t" r="r" b="b"/>
              <a:pathLst>
                <a:path w="238125" h="557213">
                  <a:moveTo>
                    <a:pt x="238125" y="0"/>
                  </a:moveTo>
                  <a:lnTo>
                    <a:pt x="0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1134725" y="4411980"/>
              <a:ext cx="190500" cy="557213"/>
            </a:xfrm>
            <a:custGeom>
              <a:avLst/>
              <a:gdLst/>
              <a:ahLst/>
              <a:cxnLst/>
              <a:rect l="l" t="t" r="r" b="b"/>
              <a:pathLst>
                <a:path w="190500" h="557213">
                  <a:moveTo>
                    <a:pt x="0" y="0"/>
                  </a:moveTo>
                  <a:lnTo>
                    <a:pt x="190500" y="55721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7387590" y="2486025"/>
              <a:ext cx="140017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5602605" y="3234690"/>
              <a:ext cx="1400175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9134475" y="3234690"/>
              <a:ext cx="1477328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4743450" y="4131945"/>
              <a:ext cx="690562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6168390" y="4131945"/>
              <a:ext cx="1554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8453438" y="4131945"/>
              <a:ext cx="15544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10742295" y="4131945"/>
              <a:ext cx="690562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4554855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197792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340792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054215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625840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9340215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10482262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11125200" y="4969192"/>
              <a:ext cx="495300" cy="280035"/>
            </a:xfrm>
            <a:prstGeom prst="roundRect">
              <a:avLst>
                <a:gd name="adj" fmla="val 34014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500151" y="2561273"/>
              <a:ext cx="11750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x:A(⌊(n+1)/2⌋)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5715166" y="3308985"/>
              <a:ext cx="11750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x:A(⌊(n+1)/4⌋)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244503" y="3308985"/>
              <a:ext cx="12582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x:A(⌊(3n+1)/4⌋)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831100" y="4206240"/>
              <a:ext cx="5143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x:A(1)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274933" y="4206240"/>
              <a:ext cx="13413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x:A(⌊(n+1)/2⌋−1)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559980" y="4206240"/>
              <a:ext cx="13413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x:A(⌊(n+1)/2⌋+1)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832255" y="4206240"/>
              <a:ext cx="5096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x:A(n)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4655820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5298758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441758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155180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726805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441180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583228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226165" y="504348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</p:grpSp>
      <p:grpSp>
        <p:nvGrpSpPr>
          <p:cNvPr id="85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79" name="Rectangle 79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1040130" y="5728335"/>
              <a:ext cx="100069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两棵树都有 n 个内结点，对应 x 可能出现的 n 个位置；最坏情况的比较次数等于内结点的最大级数。虚线表示省略了中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间若干级。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86594" cy="909257"/>
            <a:chOff x="520446" y="342900"/>
            <a:chExt cx="7986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二分查找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86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 4.2：比较型查找最坏至少比较 ⌈log(n+1)⌉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544378" cy="2386012"/>
            <a:chOff x="533400" y="1524000"/>
            <a:chExt cx="4544378" cy="23860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386012"/>
            </a:xfrm>
            <a:prstGeom prst="roundRect">
              <a:avLst>
                <a:gd name="adj" fmla="val 558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1931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84860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6920" y="1763554"/>
              <a:ext cx="6216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 4.2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3909822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A(1:n) 含有 n（n ≥ 1）个不同元素，A(1) &lt;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A(2) &lt; … &lt; A(n)。以比较为基础判断 x 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A(1:n) 的任何算法，最坏情况下所需的最小比较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 FIND(n) 满足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11"/>
                <p:cNvSpPr txBox="1">
                  <a:spLocks noGrp="1"/>
                </p:cNvSpPr>
                <p:nvPr/>
              </p:nvSpPr>
              <p:spPr>
                <a:xfrm>
                  <a:off x="775335" y="3211830"/>
                  <a:ext cx="4098608" cy="4762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FIND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d>
                          <m:dPr>
                            <m:begChr m:val="⌈"/>
                            <m:sepChr m:val=""/>
                            <m:endChr m:val="⌉"/>
                            <m:grow m:val="on"/>
                            <m:ctrlPr>
                              <a:rPr lang="zh-CN" sz="18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8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fName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19" name="c1-callout-2"/>
          <p:cNvGrpSpPr/>
          <p:nvPr/>
        </p:nvGrpSpPr>
        <p:grpSpPr>
          <a:xfrm>
            <a:off x="533400" y="4095750"/>
            <a:ext cx="4544378" cy="1281112"/>
            <a:chOff x="533400" y="4095750"/>
            <a:chExt cx="4544378" cy="1281112"/>
          </a:xfrm>
        </p:grpSpPr>
        <p:sp>
          <p:nvSpPr>
            <p:cNvPr id="14" name="Rectangle 14"/>
            <p:cNvSpPr/>
            <p:nvPr/>
          </p:nvSpPr>
          <p:spPr>
            <a:xfrm>
              <a:off x="533400" y="4095750"/>
              <a:ext cx="4544378" cy="1281112"/>
            </a:xfrm>
            <a:prstGeom prst="roundRect">
              <a:avLst>
                <a:gd name="adj" fmla="val 892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635818"/>
              <a:ext cx="200026" cy="200026"/>
              <a:chOff x="738188" y="4635818"/>
              <a:chExt cx="200026" cy="200026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738188" y="46358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04863" y="471360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511" y="4242911"/>
              <a:ext cx="3531108" cy="1067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不存在最坏情况计算时间低于 Θ(log n) 的比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较型查找算法。BINSRCH 最坏比较 ⌊log n⌋ +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 次，恰好等于 ⌈log(n+1)⌉，是最坏情况下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的最优算法。</a:t>
              </a:r>
            </a:p>
          </p:txBody>
        </p:sp>
      </p:grpSp>
      <p:grpSp>
        <p:nvGrpSpPr>
          <p:cNvPr id="37" name="c2-steps-1"/>
          <p:cNvGrpSpPr/>
          <p:nvPr/>
        </p:nvGrpSpPr>
        <p:grpSpPr>
          <a:xfrm>
            <a:off x="5382578" y="1533525"/>
            <a:ext cx="6378092" cy="2411159"/>
            <a:chOff x="5382578" y="1533525"/>
            <a:chExt cx="6378092" cy="2411159"/>
          </a:xfrm>
        </p:grpSpPr>
        <p:sp>
          <p:nvSpPr>
            <p:cNvPr id="20" name="Rectangle 20"/>
            <p:cNvSpPr/>
            <p:nvPr/>
          </p:nvSpPr>
          <p:spPr>
            <a:xfrm>
              <a:off x="5515928" y="1676400"/>
              <a:ext cx="19050" cy="18621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5382578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476201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82578" y="21545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476201" y="22283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82578" y="277558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476201" y="284940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5382578" y="339566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476201" y="34694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794438" y="156638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画比较树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795582" y="1846898"/>
              <a:ext cx="5965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任何比较型查找算法都对应一棵二元比较树，最坏比较次数等于内结点的最大级数 k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94438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数内结点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795582" y="2467927"/>
              <a:ext cx="53673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可能出现在 n 个不同位置，每个位置都要有内结点对应，至少 n 个内结点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794438" y="2808446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数容量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795582" y="3088957"/>
              <a:ext cx="57712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内结点级数都不超过 k 的二元树，至多有 1 + 2 + … + 2^(k−1) = 2ᵏ − 1 个内结点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794438" y="34294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得出下界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95582" y="3709988"/>
              <a:ext cx="53062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≤ 2ᵏ − 1，即 k ≥ log(n+1)，k 是整数，所以 FIND(n) = k ≥ ⌈log(n+1)⌉</a:t>
              </a:r>
            </a:p>
          </p:txBody>
        </p:sp>
      </p:grpSp>
      <p:grpSp>
        <p:nvGrpSpPr>
          <p:cNvPr id="58" name="c2-table-2"/>
          <p:cNvGrpSpPr/>
          <p:nvPr/>
        </p:nvGrpSpPr>
        <p:grpSpPr>
          <a:xfrm>
            <a:off x="5376862" y="4120515"/>
            <a:ext cx="6281738" cy="1155859"/>
            <a:chOff x="5376862" y="4120515"/>
            <a:chExt cx="6281738" cy="1155859"/>
          </a:xfrm>
        </p:grpSpPr>
        <p:sp>
          <p:nvSpPr>
            <p:cNvPr id="38" name="Rectangle 38"/>
            <p:cNvSpPr/>
            <p:nvPr/>
          </p:nvSpPr>
          <p:spPr>
            <a:xfrm>
              <a:off x="5382578" y="4120515"/>
              <a:ext cx="6276022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236699" y="4251960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最大级数 k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16863" y="42519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970291" y="42519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722766" y="42519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76193" y="42519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229621" y="425196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487924" y="4681538"/>
              <a:ext cx="13457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最多内结点 2ᵏ − 1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19084" y="46815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972512" y="46815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724987" y="468153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433990" y="468153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187417" y="4681538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382578" y="4120515"/>
              <a:ext cx="6276022" cy="86010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888605" y="412051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8641080" y="412051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394508" y="412051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47935" y="412051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900410" y="4120515"/>
              <a:ext cx="9525" cy="8601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376862" y="5056346"/>
              <a:ext cx="5409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例：n = 9 &gt; 7，k = 3 的树放不下 9 个内结点，任何比较型查找最坏至少比较 4 次</a:t>
              </a:r>
            </a:p>
          </p:txBody>
        </p:sp>
      </p:grpSp>
      <p:grpSp>
        <p:nvGrpSpPr>
          <p:cNvPr id="65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59" name="Rectangle 59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511" y="6004084"/>
              <a:ext cx="874095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思考题：三分查找每轮最多比较 2 次、范围缩为 1/3，最坏约 2log₃n ≈ 1.26 log n 次，比二分查找多。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913376" cy="3351847"/>
            <a:chOff x="667512" y="1835468"/>
            <a:chExt cx="4913376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9034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先把两半各自排好序，再一趟合并成一个有序序列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插入排序回顾与分治设计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1897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MERGESORT 与 MERGE 算法及实例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9638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计算时间 O(n log n) 与算法优化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3063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比较型排序的时间下界 Ω(n log n)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52848" cy="909257"/>
            <a:chOff x="520446" y="342900"/>
            <a:chExt cx="775284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5284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排序问题：插入排序最坏 O(n²)，改用分治法设计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952500"/>
            <a:chOff x="533400" y="1524000"/>
            <a:chExt cx="5410200" cy="9525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952500"/>
            </a:xfrm>
            <a:prstGeom prst="roundRect">
              <a:avLst>
                <a:gd name="adj" fmla="val 1400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68580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344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问题描述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给定一个含有 n 个元素的集合，要求把它们按非降次序排列。</a:t>
              </a:r>
            </a:p>
          </p:txBody>
        </p:sp>
      </p:grpSp>
      <p:grpSp>
        <p:nvGrpSpPr>
          <p:cNvPr id="16" name="c1-code-2"/>
          <p:cNvGrpSpPr/>
          <p:nvPr/>
        </p:nvGrpSpPr>
        <p:grpSpPr>
          <a:xfrm>
            <a:off x="533400" y="2651760"/>
            <a:ext cx="5410200" cy="1163955"/>
            <a:chOff x="533400" y="2651760"/>
            <a:chExt cx="5410200" cy="1163955"/>
          </a:xfrm>
        </p:grpSpPr>
        <p:sp>
          <p:nvSpPr>
            <p:cNvPr id="13" name="Rectangle 13"/>
            <p:cNvSpPr/>
            <p:nvPr/>
          </p:nvSpPr>
          <p:spPr>
            <a:xfrm>
              <a:off x="533400" y="2651760"/>
              <a:ext cx="5410200" cy="1163955"/>
            </a:xfrm>
            <a:prstGeom prst="roundRect">
              <a:avLst>
                <a:gd name="adj" fmla="val 818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" y="2803684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一般方法：直接插入排序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60502" y="3066669"/>
              <a:ext cx="2808656" cy="6844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8"/>
                </a:lnSpc>
              </a:pPr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j ← 2 to n do</a:t>
              </a:r>
              <a:br/>
              <a:r>
                <a:rPr lang="zh-CN" sz="123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将 A(j) 放入已排序的 A(1:j−1) 中</a:t>
              </a:r>
              <a:br/>
              <a:r>
                <a:rPr lang="en-US" sz="123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</p:grpSp>
      <p:grpSp>
        <p:nvGrpSpPr>
          <p:cNvPr id="32" name="c1-table-3"/>
          <p:cNvGrpSpPr/>
          <p:nvPr/>
        </p:nvGrpSpPr>
        <p:grpSpPr>
          <a:xfrm>
            <a:off x="533400" y="3990022"/>
            <a:ext cx="5410200" cy="1217295"/>
            <a:chOff x="533400" y="3990022"/>
            <a:chExt cx="5410200" cy="1217295"/>
          </a:xfrm>
        </p:grpSpPr>
        <p:sp>
          <p:nvSpPr>
            <p:cNvPr id="17" name="Rectangle 17"/>
            <p:cNvSpPr/>
            <p:nvPr/>
          </p:nvSpPr>
          <p:spPr>
            <a:xfrm>
              <a:off x="533400" y="3990022"/>
              <a:ext cx="5410200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9346" y="41143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83753" y="41143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53917" y="411432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什么时候出现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33412" y="452008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499235" y="4520089"/>
              <a:ext cx="3835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581275" y="4520089"/>
              <a:ext cx="23894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输入已有序，每个 A(j) 只比较 1 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7967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801552"/>
              <a:ext cx="5410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3412" y="49258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499235" y="4925854"/>
              <a:ext cx="468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581275" y="4925854"/>
              <a:ext cx="32249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输入逆序，A(j) 要比较 j−1 次，共 n(n−1)/2 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990022"/>
              <a:ext cx="5410200" cy="12172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394460" y="3990022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2476500" y="3990022"/>
              <a:ext cx="9525" cy="12172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9" name="c1-callout-4"/>
          <p:cNvGrpSpPr/>
          <p:nvPr/>
        </p:nvGrpSpPr>
        <p:grpSpPr>
          <a:xfrm>
            <a:off x="533400" y="5382578"/>
            <a:ext cx="5410200" cy="729615"/>
            <a:chOff x="533400" y="5382578"/>
            <a:chExt cx="5410200" cy="729615"/>
          </a:xfrm>
        </p:grpSpPr>
        <p:sp>
          <p:nvSpPr>
            <p:cNvPr id="33" name="Rectangle 33"/>
            <p:cNvSpPr/>
            <p:nvPr/>
          </p:nvSpPr>
          <p:spPr>
            <a:xfrm>
              <a:off x="533400" y="5382578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5647373"/>
              <a:ext cx="200026" cy="200026"/>
              <a:chOff x="738188" y="5647373"/>
              <a:chExt cx="200026" cy="200026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56473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38200" y="5714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27088" y="574738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5528310"/>
              <a:ext cx="44885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合并两个有序序列时只需比较两个“排头”，因为每个序列剩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下的元素都不小于它的排头。</a:t>
              </a:r>
            </a:p>
          </p:txBody>
        </p:sp>
      </p:grpSp>
      <p:grpSp>
        <p:nvGrpSpPr>
          <p:cNvPr id="53" name="c2-steps-1"/>
          <p:cNvGrpSpPr/>
          <p:nvPr/>
        </p:nvGrpSpPr>
        <p:grpSpPr>
          <a:xfrm>
            <a:off x="6248400" y="1533525"/>
            <a:ext cx="4912487" cy="1900714"/>
            <a:chOff x="6248400" y="1533525"/>
            <a:chExt cx="4912487" cy="1900714"/>
          </a:xfrm>
        </p:grpSpPr>
        <p:sp>
          <p:nvSpPr>
            <p:cNvPr id="40" name="Rectangle 40"/>
            <p:cNvSpPr/>
            <p:nvPr/>
          </p:nvSpPr>
          <p:spPr>
            <a:xfrm>
              <a:off x="6381750" y="1676400"/>
              <a:ext cx="19050" cy="13811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248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42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48400" y="232791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42024" y="240172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48400" y="29146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42024" y="29884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660642" y="1564957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61785" y="1833086"/>
              <a:ext cx="44991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A(1), …, A(n) 平均分为两个子集：A(1), …, A(⌊n/2⌋) 和 A(⌊n/2⌋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+1), …, A(n)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60642" y="235934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61785" y="262747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递归调用，分别把两个子集排好序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660642" y="2946082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61785" y="3214211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把两个排好序的子集合并为一个有序集合</a:t>
              </a:r>
            </a:p>
          </p:txBody>
        </p:sp>
      </p:grpSp>
      <p:grpSp>
        <p:nvGrpSpPr>
          <p:cNvPr id="56" name="c2-image-2"/>
          <p:cNvGrpSpPr/>
          <p:nvPr/>
        </p:nvGrpSpPr>
        <p:grpSpPr>
          <a:xfrm>
            <a:off x="6248400" y="3602355"/>
            <a:ext cx="5410200" cy="2782824"/>
            <a:chOff x="6248400" y="3602355"/>
            <a:chExt cx="5410200" cy="2782824"/>
          </a:xfrm>
        </p:grpSpPr>
        <p:pic>
          <p:nvPicPr>
            <p:cNvPr id="54" name="Image 54"/>
            <p:cNvPicPr>
              <a:picLocks noChangeAspect="1"/>
            </p:cNvPicPr>
            <p:nvPr/>
          </p:nvPicPr>
          <p:blipFill>
            <a:blip r:embed="rId2"/>
            <a:srcRect l="0" t="19402" r="0" b="19401"/>
            <a:stretch>
              <a:fillRect/>
            </a:stretch>
          </p:blipFill>
          <p:spPr>
            <a:xfrm>
              <a:off x="6248400" y="3602355"/>
              <a:ext cx="5410200" cy="2483168"/>
            </a:xfrm>
            <a:prstGeom prst="roundRect">
              <a:avLst>
                <a:gd name="adj" fmla="val 5370"/>
              </a:avLst>
            </a:prstGeom>
          </p:spPr>
        </p:pic>
        <p:sp>
          <p:nvSpPr>
            <p:cNvPr id="55" name="TextBox 55"/>
            <p:cNvSpPr txBox="1"/>
            <p:nvPr/>
          </p:nvSpPr>
          <p:spPr>
            <a:xfrm>
              <a:off x="7181279" y="6179820"/>
              <a:ext cx="35444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两队已按身高排好，门口每次只比较两个排头，矮的先进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878105" cy="909257"/>
            <a:chOff x="520446" y="342900"/>
            <a:chExt cx="787810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87810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MERGESORT：递归排好两半，再调用 MERGE 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085398" cy="2687002"/>
            <a:chOff x="533400" y="1524000"/>
            <a:chExt cx="5085398" cy="268700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085398" cy="2687002"/>
            </a:xfrm>
            <a:prstGeom prst="roundRect">
              <a:avLst>
                <a:gd name="adj" fmla="val 354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1007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MERGESORT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59892" y="1941195"/>
              <a:ext cx="2936939" cy="2214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0"/>
                </a:lnSpc>
              </a:pPr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MERGESORT(low, high)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low, high, mid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low &lt; high then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mid ← ⌊(low+high)/2⌋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call MERGESORT(low, mid)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call MERGESORT(mid+1, high)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call MERGE(low, mid, high)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en-US" sz="13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MERGESORT</a:t>
              </a:r>
            </a:p>
          </p:txBody>
        </p:sp>
      </p:grpSp>
      <p:grpSp>
        <p:nvGrpSpPr>
          <p:cNvPr id="19" name="c1-kv-2"/>
          <p:cNvGrpSpPr/>
          <p:nvPr/>
        </p:nvGrpSpPr>
        <p:grpSpPr>
          <a:xfrm>
            <a:off x="525780" y="4426268"/>
            <a:ext cx="5093018" cy="1737360"/>
            <a:chOff x="525780" y="4426268"/>
            <a:chExt cx="5093018" cy="1737360"/>
          </a:xfrm>
        </p:grpSpPr>
        <p:sp>
          <p:nvSpPr>
            <p:cNvPr id="11" name="TextBox 11"/>
            <p:cNvSpPr txBox="1"/>
            <p:nvPr/>
          </p:nvSpPr>
          <p:spPr>
            <a:xfrm>
              <a:off x="525780" y="4426268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两次递归调用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64055" y="4426268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分别对两个子问题排序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4746308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5780" y="4866322"/>
              <a:ext cx="6761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MERGE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964055" y="4866322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合并两个已排好序的子集，得到原问题的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5468302"/>
              <a:ext cx="508539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5780" y="5588318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递归出口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64055" y="5588318"/>
              <a:ext cx="322516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low ≥ high：子集只剩 1 个元素，本身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有序</a:t>
              </a:r>
            </a:p>
          </p:txBody>
        </p:sp>
      </p:grpSp>
      <p:grpSp>
        <p:nvGrpSpPr>
          <p:cNvPr id="50" name="c2-cells-1"/>
          <p:cNvGrpSpPr/>
          <p:nvPr/>
        </p:nvGrpSpPr>
        <p:grpSpPr>
          <a:xfrm>
            <a:off x="5917882" y="1569720"/>
            <a:ext cx="5740718" cy="1585912"/>
            <a:chOff x="5917882" y="1569720"/>
            <a:chExt cx="5740718" cy="1585912"/>
          </a:xfrm>
        </p:grpSpPr>
        <p:sp>
          <p:nvSpPr>
            <p:cNvPr id="20" name="TextBox 20"/>
            <p:cNvSpPr txBox="1"/>
            <p:nvPr/>
          </p:nvSpPr>
          <p:spPr>
            <a:xfrm>
              <a:off x="5917882" y="195881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38862" y="1819275"/>
              <a:ext cx="92011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32306" y="1958816"/>
              <a:ext cx="5332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A(low)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058978" y="1819275"/>
              <a:ext cx="92011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469784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979092" y="1819275"/>
              <a:ext cx="920115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172536" y="1958816"/>
              <a:ext cx="5332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A(mid)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899208" y="1819275"/>
              <a:ext cx="92011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004346" y="1958816"/>
              <a:ext cx="709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A(mid+1)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9818370" y="1819275"/>
              <a:ext cx="92011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10229176" y="19588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10738485" y="1819275"/>
              <a:ext cx="920115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0904638" y="195881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A(high)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559173" y="1569720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34" name="Freeform 34"/>
            <p:cNvSpPr/>
            <p:nvPr/>
          </p:nvSpPr>
          <p:spPr>
            <a:xfrm>
              <a:off x="6560820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335420" y="1569720"/>
              <a:ext cx="476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9321165" y="172402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917882" y="254936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138862" y="2409825"/>
              <a:ext cx="920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32306" y="2549366"/>
              <a:ext cx="5332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B(low)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058978" y="2409825"/>
              <a:ext cx="920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469784" y="25493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979092" y="2409825"/>
              <a:ext cx="920115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8899208" y="2409825"/>
              <a:ext cx="920115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818370" y="2409825"/>
              <a:ext cx="920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229176" y="25493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0738485" y="2409825"/>
              <a:ext cx="920115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0904638" y="2549366"/>
              <a:ext cx="5878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B(high)</a:t>
              </a:r>
            </a:p>
          </p:txBody>
        </p:sp>
        <p:sp>
          <p:nvSpPr>
            <p:cNvPr id="48" name="Freeform 48"/>
            <p:cNvSpPr/>
            <p:nvPr/>
          </p:nvSpPr>
          <p:spPr>
            <a:xfrm>
              <a:off x="6560820" y="2847975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762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75075" y="2979420"/>
              <a:ext cx="476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</p:grpSp>
      <p:grpSp>
        <p:nvGrpSpPr>
          <p:cNvPr id="65" name="c2-card-2"/>
          <p:cNvGrpSpPr/>
          <p:nvPr/>
        </p:nvGrpSpPr>
        <p:grpSpPr>
          <a:xfrm>
            <a:off x="5923598" y="3318510"/>
            <a:ext cx="5735002" cy="2786062"/>
            <a:chOff x="5923598" y="3318510"/>
            <a:chExt cx="5735002" cy="2786062"/>
          </a:xfrm>
        </p:grpSpPr>
        <p:sp>
          <p:nvSpPr>
            <p:cNvPr id="51" name="Rectangle 51"/>
            <p:cNvSpPr/>
            <p:nvPr/>
          </p:nvSpPr>
          <p:spPr>
            <a:xfrm>
              <a:off x="5923598" y="3318510"/>
              <a:ext cx="5735002" cy="2786062"/>
            </a:xfrm>
            <a:prstGeom prst="roundRect">
              <a:avLst>
                <a:gd name="adj" fmla="val 47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5933122" y="3451860"/>
              <a:ext cx="47625" cy="251936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6171248" y="3528060"/>
              <a:ext cx="344900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153964" y="3563779"/>
              <a:ext cx="34845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MERGE 的思想：每次取两个排头中较小的放入 B(i)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171248" y="389191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33097" y="39342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72238" y="3905250"/>
              <a:ext cx="41151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≤ mid 且 j ≤ high：B(i) ← min(A(h), A(j))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6171248" y="422719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233097" y="42694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72238" y="4240530"/>
              <a:ext cx="415337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&gt; mid 且 j ≤ high：左半已取完，B(i) ← A(j)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6171248" y="456247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33097" y="46047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72238" y="4575810"/>
              <a:ext cx="42052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≤ mid 且 j &gt; high：右半已取完，B(i) ← A(h)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164770" y="4907756"/>
              <a:ext cx="37090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每放入一个元素，i 和被取走一侧的指针各加 1。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442721" cy="909257"/>
            <a:chOff x="520446" y="342900"/>
            <a:chExt cx="74427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4427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 算法：两个指针向后扫，剩下的整段照抄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1" name="c1-code-1"/>
          <p:cNvGrpSpPr/>
          <p:nvPr/>
        </p:nvGrpSpPr>
        <p:grpSpPr>
          <a:xfrm>
            <a:off x="533400" y="1524000"/>
            <a:ext cx="6492240" cy="4244340"/>
            <a:chOff x="533400" y="1524000"/>
            <a:chExt cx="6492240" cy="42443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244340"/>
            </a:xfrm>
            <a:prstGeom prst="roundRect">
              <a:avLst>
                <a:gd name="adj" fmla="val 224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74944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 MERGE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3077528"/>
              <a:ext cx="6454140" cy="19716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61187" y="1937290"/>
              <a:ext cx="4006545" cy="37631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52"/>
                </a:lnSpc>
              </a:pPr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MERGE(low, mid, high)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integer h, i, j, k, low, mid, high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global A(low:high); local B(low:high)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h ← low; i ← low; j ← mid+1</a:t>
              </a:r>
              <a:br/>
              <a:r>
                <a:rPr lang="zh-CN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处理两个已排好序的集合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while h ≤ mid and j ≤ high do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A(h) ≤ A(j) then B(i) ← A(h); h ← h+1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       else B(i) ← A(j); j ← j+1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 ← i+1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zh-CN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</a:t>
              </a:r>
              <a:r>
                <a:rPr lang="zh-CN" sz="110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剩余元素处理过程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if h &gt; mid then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 k ← j to high do B(i) ← A(k); i ← i+1 repeat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else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 k ← h to mid do B(i) ← A(k); i ← i+1 repeat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endif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k ← low to high do A(k) ← B(k) repeat</a:t>
              </a:r>
              <a:br/>
              <a:r>
                <a:rPr lang="en-US" sz="110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MERGE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7330440" y="1524000"/>
            <a:ext cx="4328160" cy="2117408"/>
            <a:chOff x="7330440" y="1524000"/>
            <a:chExt cx="4328160" cy="2117408"/>
          </a:xfrm>
        </p:grpSpPr>
        <p:sp>
          <p:nvSpPr>
            <p:cNvPr id="12" name="Rectangle 12"/>
            <p:cNvSpPr/>
            <p:nvPr/>
          </p:nvSpPr>
          <p:spPr>
            <a:xfrm>
              <a:off x="7330440" y="1524000"/>
              <a:ext cx="4328160" cy="2117408"/>
            </a:xfrm>
            <a:prstGeom prst="roundRect">
              <a:avLst>
                <a:gd name="adj" fmla="val 629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3" name="Rectangle 13"/>
            <p:cNvSpPr/>
            <p:nvPr/>
          </p:nvSpPr>
          <p:spPr>
            <a:xfrm>
              <a:off x="7339965" y="1657350"/>
              <a:ext cx="47625" cy="185070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560945" y="1716405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36383" y="175069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读代码的要点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569517" y="21288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25537" y="2072640"/>
              <a:ext cx="33741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A(h) ≤ A(j)：相等时先取左半的元素，相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等元素的相对次序不变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69517" y="268890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25537" y="2632710"/>
              <a:ext cx="37211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每比较一次就放好一个元素，比较次数 ≤ n − 1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69517" y="299180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25537" y="293560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一侧取完后，另一侧剩下的元素整段复制即可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569517" y="329374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725537" y="3237548"/>
              <a:ext cx="36861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最后把 B 复制回 A；辅助数组 B 占 Θ(n) 空间</a:t>
              </a:r>
            </a:p>
          </p:txBody>
        </p:sp>
      </p:grpSp>
      <p:grpSp>
        <p:nvGrpSpPr>
          <p:cNvPr id="30" name="c2-callout-2"/>
          <p:cNvGrpSpPr/>
          <p:nvPr/>
        </p:nvGrpSpPr>
        <p:grpSpPr>
          <a:xfrm>
            <a:off x="7330440" y="3815715"/>
            <a:ext cx="4328160" cy="729615"/>
            <a:chOff x="7330440" y="3815715"/>
            <a:chExt cx="4328160" cy="729615"/>
          </a:xfrm>
        </p:grpSpPr>
        <p:sp>
          <p:nvSpPr>
            <p:cNvPr id="25" name="Rectangle 25"/>
            <p:cNvSpPr/>
            <p:nvPr/>
          </p:nvSpPr>
          <p:spPr>
            <a:xfrm>
              <a:off x="7330440" y="3815715"/>
              <a:ext cx="4328160" cy="729615"/>
            </a:xfrm>
            <a:prstGeom prst="roundRect">
              <a:avLst>
                <a:gd name="adj" fmla="val 15666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535228" y="4080512"/>
              <a:ext cx="200023" cy="200023"/>
              <a:chOff x="7535228" y="4080512"/>
              <a:chExt cx="200023" cy="200023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535228" y="40805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668578" y="41471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7837932" y="3962400"/>
              <a:ext cx="34855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合并两个各含 n/2 个元素的有序段，元素比较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次数在 n/2 到 n−1 之间。</a:t>
              </a:r>
            </a:p>
          </p:txBody>
        </p:sp>
      </p:grpSp>
      <p:grpSp>
        <p:nvGrpSpPr>
          <p:cNvPr id="36" name="c2-card-3"/>
          <p:cNvGrpSpPr/>
          <p:nvPr/>
        </p:nvGrpSpPr>
        <p:grpSpPr>
          <a:xfrm>
            <a:off x="7330440" y="4720590"/>
            <a:ext cx="4328160" cy="1466850"/>
            <a:chOff x="7330440" y="4720590"/>
            <a:chExt cx="4328160" cy="1466850"/>
          </a:xfrm>
        </p:grpSpPr>
        <p:sp>
          <p:nvSpPr>
            <p:cNvPr id="31" name="Rectangle 31"/>
            <p:cNvSpPr/>
            <p:nvPr/>
          </p:nvSpPr>
          <p:spPr>
            <a:xfrm>
              <a:off x="7330440" y="4720590"/>
              <a:ext cx="4328160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339965" y="4853940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560945" y="4912995"/>
              <a:ext cx="14097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4382" y="4947285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循环不变式（补充）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54087" y="5269230"/>
              <a:ext cx="363131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每次进入 while 循环体时，B(low..i−1) 按非降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序放着 A(low..h−1) 与 A(mid+1..j−1) 的全部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元素，而且都不大于 A(h) 和 A(j)。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28462" cy="909257"/>
            <a:chOff x="520446" y="342900"/>
            <a:chExt cx="82284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284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实例：对 (6, 3, 9, 4, 1) 调用 MERGESORT(1, 5)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ree-1"/>
          <p:cNvGrpSpPr/>
          <p:nvPr/>
        </p:nvGrpSpPr>
        <p:grpSpPr>
          <a:xfrm>
            <a:off x="813435" y="1797368"/>
            <a:ext cx="4850130" cy="3318510"/>
            <a:chOff x="813435" y="1797368"/>
            <a:chExt cx="4850130" cy="3318510"/>
          </a:xfrm>
        </p:grpSpPr>
        <p:sp>
          <p:nvSpPr>
            <p:cNvPr id="7" name="Freeform 7"/>
            <p:cNvSpPr/>
            <p:nvPr/>
          </p:nvSpPr>
          <p:spPr>
            <a:xfrm>
              <a:off x="1074420" y="3939540"/>
              <a:ext cx="541020" cy="966788"/>
            </a:xfrm>
            <a:custGeom>
              <a:avLst/>
              <a:gdLst/>
              <a:ahLst/>
              <a:cxnLst/>
              <a:rect l="l" t="t" r="r" b="b"/>
              <a:pathLst>
                <a:path w="541020" h="966788">
                  <a:moveTo>
                    <a:pt x="541020" y="0"/>
                  </a:moveTo>
                  <a:lnTo>
                    <a:pt x="0" y="9667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615440" y="3939540"/>
              <a:ext cx="541020" cy="966788"/>
            </a:xfrm>
            <a:custGeom>
              <a:avLst/>
              <a:gdLst/>
              <a:ahLst/>
              <a:cxnLst/>
              <a:rect l="l" t="t" r="r" b="b"/>
              <a:pathLst>
                <a:path w="541020" h="966788">
                  <a:moveTo>
                    <a:pt x="0" y="0"/>
                  </a:moveTo>
                  <a:lnTo>
                    <a:pt x="541020" y="9667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615440" y="2973705"/>
              <a:ext cx="541020" cy="965835"/>
            </a:xfrm>
            <a:custGeom>
              <a:avLst/>
              <a:gdLst/>
              <a:ahLst/>
              <a:cxnLst/>
              <a:rect l="l" t="t" r="r" b="b"/>
              <a:pathLst>
                <a:path w="541020" h="965835">
                  <a:moveTo>
                    <a:pt x="541020" y="0"/>
                  </a:moveTo>
                  <a:lnTo>
                    <a:pt x="0" y="965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56460" y="2973705"/>
              <a:ext cx="1082040" cy="965835"/>
            </a:xfrm>
            <a:custGeom>
              <a:avLst/>
              <a:gdLst/>
              <a:ahLst/>
              <a:cxnLst/>
              <a:rect l="l" t="t" r="r" b="b"/>
              <a:pathLst>
                <a:path w="1082040" h="965835">
                  <a:moveTo>
                    <a:pt x="0" y="0"/>
                  </a:moveTo>
                  <a:lnTo>
                    <a:pt x="1082040" y="965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320540" y="2973705"/>
              <a:ext cx="541020" cy="965835"/>
            </a:xfrm>
            <a:custGeom>
              <a:avLst/>
              <a:gdLst/>
              <a:ahLst/>
              <a:cxnLst/>
              <a:rect l="l" t="t" r="r" b="b"/>
              <a:pathLst>
                <a:path w="541020" h="965835">
                  <a:moveTo>
                    <a:pt x="541020" y="0"/>
                  </a:moveTo>
                  <a:lnTo>
                    <a:pt x="0" y="965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861560" y="2973705"/>
              <a:ext cx="541020" cy="965835"/>
            </a:xfrm>
            <a:custGeom>
              <a:avLst/>
              <a:gdLst/>
              <a:ahLst/>
              <a:cxnLst/>
              <a:rect l="l" t="t" r="r" b="b"/>
              <a:pathLst>
                <a:path w="541020" h="965835">
                  <a:moveTo>
                    <a:pt x="0" y="0"/>
                  </a:moveTo>
                  <a:lnTo>
                    <a:pt x="541020" y="9658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156460" y="2006918"/>
              <a:ext cx="1082040" cy="966788"/>
            </a:xfrm>
            <a:custGeom>
              <a:avLst/>
              <a:gdLst/>
              <a:ahLst/>
              <a:cxnLst/>
              <a:rect l="l" t="t" r="r" b="b"/>
              <a:pathLst>
                <a:path w="1082040" h="966788">
                  <a:moveTo>
                    <a:pt x="1082040" y="0"/>
                  </a:moveTo>
                  <a:lnTo>
                    <a:pt x="0" y="9667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238500" y="2006918"/>
              <a:ext cx="1623060" cy="966788"/>
            </a:xfrm>
            <a:custGeom>
              <a:avLst/>
              <a:gdLst/>
              <a:ahLst/>
              <a:cxnLst/>
              <a:rect l="l" t="t" r="r" b="b"/>
              <a:pathLst>
                <a:path w="1623060" h="966788">
                  <a:moveTo>
                    <a:pt x="0" y="0"/>
                  </a:moveTo>
                  <a:lnTo>
                    <a:pt x="1623060" y="9667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813435" y="4696778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895475" y="4696778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354455" y="3729990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977515" y="3729990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895475" y="2764155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59555" y="3729990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141595" y="3729990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600575" y="2764155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2977515" y="1797368"/>
              <a:ext cx="521970" cy="419100"/>
            </a:xfrm>
            <a:prstGeom prst="roundRect">
              <a:avLst>
                <a:gd name="adj" fmla="val 18182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02943" y="4831080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1, 1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984983" y="4831080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2, 2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443963" y="3865245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1, 2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067023" y="3865245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3, 3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84983" y="2898457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1, 3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49063" y="3865245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4, 4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231103" y="3865245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5, 5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690083" y="2898457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4, 5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67023" y="1932622"/>
              <a:ext cx="34295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1, 5</a:t>
              </a:r>
            </a:p>
          </p:txBody>
        </p:sp>
      </p:grpSp>
      <p:grpSp>
        <p:nvGrpSpPr>
          <p:cNvPr id="40" name="c1-callout-2"/>
          <p:cNvGrpSpPr/>
          <p:nvPr/>
        </p:nvGrpSpPr>
        <p:grpSpPr>
          <a:xfrm>
            <a:off x="533400" y="5579745"/>
            <a:ext cx="5410200" cy="782955"/>
            <a:chOff x="533400" y="5579745"/>
            <a:chExt cx="5410200" cy="782955"/>
          </a:xfrm>
        </p:grpSpPr>
        <p:sp>
          <p:nvSpPr>
            <p:cNvPr id="34" name="Rectangle 34"/>
            <p:cNvSpPr/>
            <p:nvPr/>
          </p:nvSpPr>
          <p:spPr>
            <a:xfrm>
              <a:off x="533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130" y="5728335"/>
              <a:ext cx="45300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结点上的数是一次调用的 low, high；灰色结点只含单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个元素，直接返回。</a:t>
              </a:r>
            </a:p>
          </p:txBody>
        </p:sp>
      </p:grpSp>
      <p:grpSp>
        <p:nvGrpSpPr>
          <p:cNvPr id="72" name="c2-table-1"/>
          <p:cNvGrpSpPr/>
          <p:nvPr/>
        </p:nvGrpSpPr>
        <p:grpSpPr>
          <a:xfrm>
            <a:off x="6242685" y="1524000"/>
            <a:ext cx="5415915" cy="2766537"/>
            <a:chOff x="6242685" y="1524000"/>
            <a:chExt cx="5415915" cy="2766537"/>
          </a:xfrm>
        </p:grpSpPr>
        <p:sp>
          <p:nvSpPr>
            <p:cNvPr id="41" name="Rectangle 41"/>
            <p:cNvSpPr/>
            <p:nvPr/>
          </p:nvSpPr>
          <p:spPr>
            <a:xfrm>
              <a:off x="6248400" y="1524000"/>
              <a:ext cx="5410200" cy="675322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21082" y="177307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次序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274204" y="1659731"/>
              <a:ext cx="977341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MERGE(low,</a:t>
              </a:r>
              <a:br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mid, high)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48674" y="177307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合并的两段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95681" y="1773079"/>
              <a:ext cx="8647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合并后的 A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543640" y="233505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67773" y="2335054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1, 1, 2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957290" y="2335054"/>
              <a:ext cx="8572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(6) 与 (3)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81236" y="2335054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3 6 9 4 1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248400" y="26431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248400" y="264795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43640" y="27836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467773" y="2783681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1, 2, 3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884056" y="2783681"/>
              <a:ext cx="10037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 6) 与 (9)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581236" y="2783681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3 6 9 4 1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3092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543640" y="323230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67773" y="3232309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4, 4, 5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957290" y="3232309"/>
              <a:ext cx="8572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(4) 与 (1)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581236" y="3232309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3 6 9 1 4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248400" y="354139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248400" y="3546158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43640" y="368093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467773" y="3680936"/>
              <a:ext cx="5902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1, 3, 5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737590" y="3680936"/>
              <a:ext cx="12966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(3 6 9) 与 (1 4)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564220" y="3680936"/>
              <a:ext cx="72762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1 3 4 6 9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248400" y="1524000"/>
              <a:ext cx="5410200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6946582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8569642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10192702" y="1524000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242685" y="4070509"/>
              <a:ext cx="4750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MERGE 按递归返回的顺序被调用：左子树的合并全部做完才轮到右子树</a:t>
              </a:r>
            </a:p>
          </p:txBody>
        </p:sp>
      </p:grpSp>
      <p:grpSp>
        <p:nvGrpSpPr>
          <p:cNvPr id="78" name="c2-card-2"/>
          <p:cNvGrpSpPr/>
          <p:nvPr/>
        </p:nvGrpSpPr>
        <p:grpSpPr>
          <a:xfrm>
            <a:off x="6248400" y="4436745"/>
            <a:ext cx="5410200" cy="1602105"/>
            <a:chOff x="6248400" y="4436745"/>
            <a:chExt cx="5410200" cy="1602105"/>
          </a:xfrm>
        </p:grpSpPr>
        <p:sp>
          <p:nvSpPr>
            <p:cNvPr id="73" name="Rectangle 73"/>
            <p:cNvSpPr/>
            <p:nvPr/>
          </p:nvSpPr>
          <p:spPr>
            <a:xfrm>
              <a:off x="6248400" y="4436745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4" name="Rectangle 74"/>
            <p:cNvSpPr/>
            <p:nvPr/>
          </p:nvSpPr>
          <p:spPr>
            <a:xfrm>
              <a:off x="6257925" y="457009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6496050" y="4646295"/>
              <a:ext cx="276987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6518300" y="468201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思考：算法的调用过程受问题实例影响吗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488430" y="5023485"/>
              <a:ext cx="47205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不受影响。调用哪些 (low, high)、MERGE 以什么顺序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执行只由 n 决定；元素的值只影响 MERGE 内部的比较结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果。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047964" cy="909257"/>
            <a:chOff x="520446" y="342900"/>
            <a:chExt cx="604796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04796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逐步看最后一次合并 MERGE(1, 3, 5)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474512" cy="308039"/>
            <a:chOff x="525399" y="1550194"/>
            <a:chExt cx="947451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47451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左半 A(1:3) = (3, 6, 9)，右半 A(4:5) = (1, 4)。每一步比较 A(h) 与 A(j)，较小者放入 B(i)。</a:t>
              </a:r>
            </a:p>
          </p:txBody>
        </p:sp>
      </p:grpSp>
      <p:grpSp>
        <p:nvGrpSpPr>
          <p:cNvPr id="64" name="c1-cells-1"/>
          <p:cNvGrpSpPr/>
          <p:nvPr/>
        </p:nvGrpSpPr>
        <p:grpSpPr>
          <a:xfrm>
            <a:off x="526923" y="2016442"/>
            <a:ext cx="5200459" cy="3247073"/>
            <a:chOff x="526923" y="2016442"/>
            <a:chExt cx="5200459" cy="3247073"/>
          </a:xfrm>
        </p:grpSpPr>
        <p:sp>
          <p:nvSpPr>
            <p:cNvPr id="9" name="TextBox 9"/>
            <p:cNvSpPr txBox="1"/>
            <p:nvPr/>
          </p:nvSpPr>
          <p:spPr>
            <a:xfrm>
              <a:off x="526923" y="241220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462088" y="2282190"/>
              <a:ext cx="853440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832575" y="24122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315528" y="2282190"/>
              <a:ext cx="853440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685062" y="24122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168015" y="2282190"/>
              <a:ext cx="853440" cy="4191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3538502" y="24122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021455" y="2282190"/>
              <a:ext cx="85344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390990" y="24122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873942" y="2282190"/>
              <a:ext cx="853440" cy="4191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44430" y="24122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47574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00062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553502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405989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59429" y="2757964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842658" y="2016442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h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1850708" y="218694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419626" y="2016442"/>
              <a:ext cx="551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4409122" y="218694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0" y="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C2410C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6923" y="3202781"/>
              <a:ext cx="728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 第 1 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462088" y="3072765"/>
              <a:ext cx="85344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832575" y="32027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2315528" y="30727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3168015" y="30727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021455" y="30727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4873942" y="30727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6923" y="3793331"/>
              <a:ext cx="728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 第 2 步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1462088" y="366331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1832575" y="37933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315528" y="3663315"/>
              <a:ext cx="85344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2685062" y="37933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3168015" y="366331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4021455" y="366331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4873942" y="366331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6923" y="4383881"/>
              <a:ext cx="7281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 第 3 步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462088" y="425386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832575" y="4383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315528" y="425386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2685062" y="4383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168015" y="4253865"/>
              <a:ext cx="85344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538502" y="43838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021455" y="42538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4873942" y="4253865"/>
              <a:ext cx="853440" cy="4191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2F4B9A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6923" y="4974431"/>
              <a:ext cx="8647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B 复制剩余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1462088" y="484441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1832575" y="49744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2315528" y="484441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2685062" y="49744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3168015" y="4844415"/>
              <a:ext cx="85344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3538502" y="49744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4021455" y="4844415"/>
              <a:ext cx="85344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4390990" y="49744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4873942" y="4844415"/>
              <a:ext cx="853440" cy="419100"/>
            </a:xfrm>
            <a:prstGeom prst="rect">
              <a:avLst/>
            </a:pr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244430" y="49744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71" name="c1-callout-2"/>
          <p:cNvGrpSpPr/>
          <p:nvPr/>
        </p:nvGrpSpPr>
        <p:grpSpPr>
          <a:xfrm>
            <a:off x="533400" y="5454015"/>
            <a:ext cx="5193982" cy="782955"/>
            <a:chOff x="533400" y="5454015"/>
            <a:chExt cx="5193982" cy="782955"/>
          </a:xfrm>
        </p:grpSpPr>
        <p:sp>
          <p:nvSpPr>
            <p:cNvPr id="65" name="Rectangle 65"/>
            <p:cNvSpPr/>
            <p:nvPr/>
          </p:nvSpPr>
          <p:spPr>
            <a:xfrm>
              <a:off x="533400" y="545401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5745480"/>
              <a:ext cx="200026" cy="200026"/>
              <a:chOff x="738188" y="5745480"/>
              <a:chExt cx="200026" cy="200026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57454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38200" y="58121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27088" y="58454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130" y="5602605"/>
              <a:ext cx="41586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 for 循环把 B(1:5) 复制回 A(1:5)，排序完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成。</a:t>
              </a:r>
            </a:p>
          </p:txBody>
        </p:sp>
      </p:grpSp>
      <p:grpSp>
        <p:nvGrpSpPr>
          <p:cNvPr id="102" name="c2-table-1"/>
          <p:cNvGrpSpPr/>
          <p:nvPr/>
        </p:nvGrpSpPr>
        <p:grpSpPr>
          <a:xfrm>
            <a:off x="6032182" y="1967865"/>
            <a:ext cx="5626418" cy="2470785"/>
            <a:chOff x="6032182" y="1967865"/>
            <a:chExt cx="5626418" cy="2470785"/>
          </a:xfrm>
        </p:grpSpPr>
        <p:sp>
          <p:nvSpPr>
            <p:cNvPr id="72" name="Rectangle 72"/>
            <p:cNvSpPr/>
            <p:nvPr/>
          </p:nvSpPr>
          <p:spPr>
            <a:xfrm>
              <a:off x="6032182" y="1967865"/>
              <a:ext cx="5626418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220536" y="210264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754122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091607" y="2102644"/>
              <a:ext cx="5200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放入 B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407383" y="21026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指针变化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6256937" y="255127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702933" y="2551271"/>
              <a:ext cx="17146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A(1) = 3 与 A(4) = 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9297782" y="255127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966198" y="255127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= 5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032182" y="286035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032182" y="286512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256937" y="300085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702933" y="3000851"/>
              <a:ext cx="17146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A(1) = 3 与 A(5) = 4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297782" y="300085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966198" y="3000851"/>
              <a:ext cx="4006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= 2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032182" y="330898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6256937" y="356282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6702933" y="3562826"/>
              <a:ext cx="171463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A(2) = 6 与 A(5) = 4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9297782" y="356282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9966198" y="3449479"/>
              <a:ext cx="14922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j = 6 &gt; high，循环结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</a:t>
              </a:r>
            </a:p>
          </p:txBody>
        </p:sp>
        <p:sp>
          <p:nvSpPr>
            <p:cNvPr id="92" name="Rectangle 92"/>
            <p:cNvSpPr/>
            <p:nvPr/>
          </p:nvSpPr>
          <p:spPr>
            <a:xfrm>
              <a:off x="6032182" y="398430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3" name="Rectangle 93"/>
            <p:cNvSpPr/>
            <p:nvPr/>
          </p:nvSpPr>
          <p:spPr>
            <a:xfrm>
              <a:off x="6032182" y="398907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6256937" y="412480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6702933" y="412480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右半已取完，不再比较</a:t>
              </a:r>
            </a:p>
          </p:txBody>
        </p:sp>
        <p:sp>
          <p:nvSpPr>
            <p:cNvPr id="96" name="TextBox 96"/>
            <p:cNvSpPr txBox="1"/>
            <p:nvPr/>
          </p:nvSpPr>
          <p:spPr>
            <a:xfrm>
              <a:off x="9177162" y="4124801"/>
              <a:ext cx="3489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6, 9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966198" y="4124801"/>
              <a:ext cx="10130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复制 A(2:3)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6032182" y="1967865"/>
              <a:ext cx="5626418" cy="24707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9" name="Rectangle 99"/>
            <p:cNvSpPr/>
            <p:nvPr/>
          </p:nvSpPr>
          <p:spPr>
            <a:xfrm>
              <a:off x="6590348" y="1967865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0" name="Rectangle 100"/>
            <p:cNvSpPr/>
            <p:nvPr/>
          </p:nvSpPr>
          <p:spPr>
            <a:xfrm>
              <a:off x="8840152" y="1967865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1" name="Rectangle 101"/>
            <p:cNvSpPr/>
            <p:nvPr/>
          </p:nvSpPr>
          <p:spPr>
            <a:xfrm>
              <a:off x="9853612" y="1967865"/>
              <a:ext cx="9525" cy="24707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108" name="c2-callout-2"/>
          <p:cNvGrpSpPr/>
          <p:nvPr/>
        </p:nvGrpSpPr>
        <p:grpSpPr>
          <a:xfrm>
            <a:off x="6032182" y="4629150"/>
            <a:ext cx="5626418" cy="1607820"/>
            <a:chOff x="6032182" y="4629150"/>
            <a:chExt cx="5626418" cy="1607820"/>
          </a:xfrm>
        </p:grpSpPr>
        <p:sp>
          <p:nvSpPr>
            <p:cNvPr id="103" name="Rectangle 103"/>
            <p:cNvSpPr/>
            <p:nvPr/>
          </p:nvSpPr>
          <p:spPr>
            <a:xfrm>
              <a:off x="6032182" y="4629150"/>
              <a:ext cx="5626418" cy="1607820"/>
            </a:xfrm>
            <a:prstGeom prst="roundRect">
              <a:avLst>
                <a:gd name="adj" fmla="val 710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06" name="Group 106"/>
            <p:cNvGrpSpPr/>
            <p:nvPr/>
          </p:nvGrpSpPr>
          <p:grpSpPr>
            <a:xfrm>
              <a:off x="6236970" y="5333048"/>
              <a:ext cx="200026" cy="200026"/>
              <a:chOff x="6236970" y="5333048"/>
              <a:chExt cx="200026" cy="200026"/>
            </a:xfrm>
          </p:grpSpPr>
          <p:sp>
            <p:nvSpPr>
              <p:cNvPr id="104" name="Freeform 104"/>
              <p:cNvSpPr/>
              <p:nvPr/>
            </p:nvSpPr>
            <p:spPr>
              <a:xfrm>
                <a:off x="6236970" y="53330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05" name="Freeform 105"/>
              <p:cNvSpPr/>
              <p:nvPr/>
            </p:nvSpPr>
            <p:spPr>
              <a:xfrm>
                <a:off x="6303645" y="541083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07" name="TextBox 107"/>
            <p:cNvSpPr txBox="1"/>
            <p:nvPr/>
          </p:nvSpPr>
          <p:spPr>
            <a:xfrm>
              <a:off x="6538912" y="5052060"/>
              <a:ext cx="46539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共比较 3 次。一般地，合并长为 m1、m2 的两段，比较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次数在 min(m1, m2) 与 m1 + m2 − 1 之间，本例为 2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到 4。</a:t>
              </a:r>
            </a:p>
          </p:txBody>
        </p:sp>
      </p:grpSp>
      <p:grpSp>
        <p:nvGrpSpPr>
          <p:cNvPr id="11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9" name="TextBox 10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10" name="TextBox 11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030697" cy="909257"/>
            <a:chOff x="520446" y="342900"/>
            <a:chExt cx="90306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0306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归并排序的计算时间：T(n) = an + cn log n = O(n log 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3"/>
              <p:cNvSpPr txBox="1">
                <a:spLocks noGrp="1"/>
              </p:cNvSpPr>
              <p:nvPr/>
            </p:nvSpPr>
            <p:spPr>
              <a:xfrm>
                <a:off x="533400" y="1524000"/>
                <a:ext cx="5626418" cy="1147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&gt;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5" name="c1-steps-2"/>
          <p:cNvGrpSpPr/>
          <p:nvPr/>
        </p:nvGrpSpPr>
        <p:grpSpPr>
          <a:xfrm>
            <a:off x="533400" y="2871788"/>
            <a:ext cx="5045045" cy="2529172"/>
            <a:chOff x="533400" y="2871788"/>
            <a:chExt cx="5045045" cy="2529172"/>
          </a:xfrm>
        </p:grpSpPr>
        <p:sp>
          <p:nvSpPr>
            <p:cNvPr id="8" name="Rectangle 8"/>
            <p:cNvSpPr/>
            <p:nvPr/>
          </p:nvSpPr>
          <p:spPr>
            <a:xfrm>
              <a:off x="666750" y="3014662"/>
              <a:ext cx="19050" cy="19526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" name="Ellipse 9"/>
            <p:cNvSpPr/>
            <p:nvPr/>
          </p:nvSpPr>
          <p:spPr>
            <a:xfrm>
              <a:off x="533400" y="287178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27024" y="29456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352234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27024" y="35961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417385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27024" y="424767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48244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27024" y="4898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4880" y="2906078"/>
              <a:ext cx="20860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展开一次（令 n = 2ᵏ）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3199924"/>
              <a:ext cx="399730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2(2T(n/4) + cn/2) + cn = 2²T(n/4) + 2cn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4880" y="355663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再展开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3850481"/>
              <a:ext cx="418952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2²(2T(n/8) + cn/4) + 2cn = 2³T(n/8) + 3cn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4880" y="4208145"/>
              <a:ext cx="8648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展开 k 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4501039"/>
              <a:ext cx="29312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2ᵏ T(1) + kcn = an + cn log 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4880" y="4858702"/>
              <a:ext cx="12470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不是 2 的幂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6023" y="5151596"/>
              <a:ext cx="46324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2ᵏ &lt; n ≤ 2^(k+1) 时 T(n) ≤ T(2^(k+1))，仍为 O(n log n)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5579745"/>
            <a:ext cx="5626418" cy="782955"/>
            <a:chOff x="533400" y="5579745"/>
            <a:chExt cx="5626418" cy="782955"/>
          </a:xfrm>
        </p:grpSpPr>
        <p:sp>
          <p:nvSpPr>
            <p:cNvPr id="26" name="Rectangle 26"/>
            <p:cNvSpPr/>
            <p:nvPr/>
          </p:nvSpPr>
          <p:spPr>
            <a:xfrm>
              <a:off x="533400" y="5579745"/>
              <a:ext cx="5626418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5728335"/>
              <a:ext cx="46062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步用到 T(n) 随 n 单调不减：输入变多，归并排序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的工作量不会变少。</a:t>
              </a:r>
            </a:p>
          </p:txBody>
        </p:sp>
      </p:grpSp>
      <p:grpSp>
        <p:nvGrpSpPr>
          <p:cNvPr id="53" name="c2-tree-1"/>
          <p:cNvGrpSpPr/>
          <p:nvPr/>
        </p:nvGrpSpPr>
        <p:grpSpPr>
          <a:xfrm>
            <a:off x="6844665" y="1631632"/>
            <a:ext cx="4433887" cy="1689736"/>
            <a:chOff x="6844665" y="1631632"/>
            <a:chExt cx="4433887" cy="1689736"/>
          </a:xfrm>
        </p:grpSpPr>
        <p:sp>
          <p:nvSpPr>
            <p:cNvPr id="33" name="Freeform 33"/>
            <p:cNvSpPr/>
            <p:nvPr/>
          </p:nvSpPr>
          <p:spPr>
            <a:xfrm>
              <a:off x="7114222" y="2476500"/>
              <a:ext cx="648653" cy="635317"/>
            </a:xfrm>
            <a:custGeom>
              <a:avLst/>
              <a:gdLst/>
              <a:ahLst/>
              <a:cxnLst/>
              <a:rect l="l" t="t" r="r" b="b"/>
              <a:pathLst>
                <a:path w="648653" h="635317">
                  <a:moveTo>
                    <a:pt x="648653" y="0"/>
                  </a:moveTo>
                  <a:lnTo>
                    <a:pt x="0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762875" y="2476500"/>
              <a:ext cx="649605" cy="635317"/>
            </a:xfrm>
            <a:custGeom>
              <a:avLst/>
              <a:gdLst/>
              <a:ahLst/>
              <a:cxnLst/>
              <a:rect l="l" t="t" r="r" b="b"/>
              <a:pathLst>
                <a:path w="649605" h="635317">
                  <a:moveTo>
                    <a:pt x="0" y="0"/>
                  </a:moveTo>
                  <a:lnTo>
                    <a:pt x="649605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710738" y="2476500"/>
              <a:ext cx="649605" cy="635317"/>
            </a:xfrm>
            <a:custGeom>
              <a:avLst/>
              <a:gdLst/>
              <a:ahLst/>
              <a:cxnLst/>
              <a:rect l="l" t="t" r="r" b="b"/>
              <a:pathLst>
                <a:path w="649605" h="635317">
                  <a:moveTo>
                    <a:pt x="649605" y="0"/>
                  </a:moveTo>
                  <a:lnTo>
                    <a:pt x="0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360342" y="2476500"/>
              <a:ext cx="648652" cy="635317"/>
            </a:xfrm>
            <a:custGeom>
              <a:avLst/>
              <a:gdLst/>
              <a:ahLst/>
              <a:cxnLst/>
              <a:rect l="l" t="t" r="r" b="b"/>
              <a:pathLst>
                <a:path w="648652" h="635317">
                  <a:moveTo>
                    <a:pt x="0" y="0"/>
                  </a:moveTo>
                  <a:lnTo>
                    <a:pt x="648652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762875" y="1841182"/>
              <a:ext cx="1299210" cy="635317"/>
            </a:xfrm>
            <a:custGeom>
              <a:avLst/>
              <a:gdLst/>
              <a:ahLst/>
              <a:cxnLst/>
              <a:rect l="l" t="t" r="r" b="b"/>
              <a:pathLst>
                <a:path w="1299210" h="635317">
                  <a:moveTo>
                    <a:pt x="1299210" y="0"/>
                  </a:moveTo>
                  <a:lnTo>
                    <a:pt x="0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062085" y="1841182"/>
              <a:ext cx="1298258" cy="635317"/>
            </a:xfrm>
            <a:custGeom>
              <a:avLst/>
              <a:gdLst/>
              <a:ahLst/>
              <a:cxnLst/>
              <a:rect l="l" t="t" r="r" b="b"/>
              <a:pathLst>
                <a:path w="1298258" h="635317">
                  <a:moveTo>
                    <a:pt x="0" y="0"/>
                  </a:moveTo>
                  <a:lnTo>
                    <a:pt x="1298258" y="63531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844665" y="2902268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8143875" y="2902268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494270" y="2266950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9442132" y="2902268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10740390" y="2902268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090785" y="2266950"/>
              <a:ext cx="538162" cy="419100"/>
            </a:xfrm>
            <a:prstGeom prst="roundRect">
              <a:avLst>
                <a:gd name="adj" fmla="val 18182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8852535" y="1631632"/>
              <a:ext cx="419100" cy="419100"/>
            </a:xfrm>
            <a:prstGeom prst="roundRect">
              <a:avLst>
                <a:gd name="adj" fmla="val 18182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934363" y="30418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cn/4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232621" y="30418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cn/4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83016" y="24064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cn/2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530878" y="30418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cn/4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829136" y="3041809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cn/4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180483" y="2406491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cn/2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969298" y="177117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cn</a:t>
              </a:r>
            </a:p>
          </p:txBody>
        </p:sp>
      </p:grpSp>
      <p:grpSp>
        <p:nvGrpSpPr>
          <p:cNvPr id="79" name="c2-table-2"/>
          <p:cNvGrpSpPr/>
          <p:nvPr/>
        </p:nvGrpSpPr>
        <p:grpSpPr>
          <a:xfrm>
            <a:off x="6458902" y="3619500"/>
            <a:ext cx="5199698" cy="2539842"/>
            <a:chOff x="6458902" y="3619500"/>
            <a:chExt cx="5199698" cy="2539842"/>
          </a:xfrm>
        </p:grpSpPr>
        <p:sp>
          <p:nvSpPr>
            <p:cNvPr id="54" name="Rectangle 54"/>
            <p:cNvSpPr/>
            <p:nvPr/>
          </p:nvSpPr>
          <p:spPr>
            <a:xfrm>
              <a:off x="6464618" y="3619500"/>
              <a:ext cx="519398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422591" y="375523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934298" y="375523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结点数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394048" y="37552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本层代价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458992" y="42038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145382" y="420385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643903" y="42038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45119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64618" y="45167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458992" y="46524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145382" y="4652486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208811" y="4652486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· cn/2 = cn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464618" y="49615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458992" y="51011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145382" y="5101114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208811" y="5101114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· cn/4 = cn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64618" y="54102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464618" y="541496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806785" y="5549741"/>
              <a:ext cx="14168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 = log n（叶子）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145382" y="554974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350970" y="5549741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· a = an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6464618" y="3619500"/>
              <a:ext cx="519398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8562022" y="36195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826942" y="36195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458902" y="5939314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前 k 层每层 cn，合计 cn log n；叶子层 an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归并排序的两处开销，以及对应的改进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table-1"/>
          <p:cNvGrpSpPr/>
          <p:nvPr/>
        </p:nvGrpSpPr>
        <p:grpSpPr>
          <a:xfrm>
            <a:off x="533400" y="1524000"/>
            <a:ext cx="5626418" cy="2054543"/>
            <a:chOff x="533400" y="1524000"/>
            <a:chExt cx="5626418" cy="2054543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4481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26857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开销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57853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改进办法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2270" y="2096452"/>
              <a:ext cx="18996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时间：递归调用本身消耗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很多时间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995422" y="2096452"/>
              <a:ext cx="29283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子集元素个数很少时，改用直接插入排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序，减少小规模子问题的递归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64890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653665"/>
              <a:ext cx="5626418" cy="92487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2270" y="2781300"/>
              <a:ext cx="1906095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空间：辅助数组 B 占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Θ(n)，每次 MERGE 都要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B 复制回 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95422" y="2781300"/>
              <a:ext cx="2782634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用链接数组 LINK(1:n) 代替 B：LINK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中的元素是 A 中元素的指针，指向下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一个元素所在的下标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1524000"/>
              <a:ext cx="5626418" cy="2053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2891790" y="1524000"/>
              <a:ext cx="9525" cy="2053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25" name="c1-callout-2"/>
          <p:cNvGrpSpPr/>
          <p:nvPr/>
        </p:nvGrpSpPr>
        <p:grpSpPr>
          <a:xfrm>
            <a:off x="533400" y="3752850"/>
            <a:ext cx="5626418" cy="729615"/>
            <a:chOff x="533400" y="3752850"/>
            <a:chExt cx="5626418" cy="729615"/>
          </a:xfrm>
        </p:grpSpPr>
        <p:sp>
          <p:nvSpPr>
            <p:cNvPr id="19" name="Rectangle 19"/>
            <p:cNvSpPr/>
            <p:nvPr/>
          </p:nvSpPr>
          <p:spPr>
            <a:xfrm>
              <a:off x="533400" y="3752850"/>
              <a:ext cx="5626418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017645"/>
              <a:ext cx="200026" cy="200025"/>
              <a:chOff x="738188" y="4017645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0176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40620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41732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892" y="3899535"/>
              <a:ext cx="45914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 LINK 时合并只修改链接，不搬动元素，省掉了从 B 复制回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 的时间。</a:t>
              </a:r>
            </a:p>
          </p:txBody>
        </p:sp>
      </p:grpSp>
      <p:grpSp>
        <p:nvGrpSpPr>
          <p:cNvPr id="53" name="c1-cells-3"/>
          <p:cNvGrpSpPr/>
          <p:nvPr/>
        </p:nvGrpSpPr>
        <p:grpSpPr>
          <a:xfrm>
            <a:off x="527685" y="4657725"/>
            <a:ext cx="5040630" cy="1099185"/>
            <a:chOff x="527685" y="4657725"/>
            <a:chExt cx="5040630" cy="1099185"/>
          </a:xfrm>
        </p:grpSpPr>
        <p:sp>
          <p:nvSpPr>
            <p:cNvPr id="26" name="TextBox 26"/>
            <p:cNvSpPr txBox="1"/>
            <p:nvPr/>
          </p:nvSpPr>
          <p:spPr>
            <a:xfrm>
              <a:off x="527685" y="477821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958215" y="465772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369974" y="47782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1880235" y="465772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291994" y="47782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802255" y="465772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14014" y="47782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724275" y="465772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136034" y="47782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646295" y="465772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058054" y="47782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84106" y="50925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306126" y="50925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228146" y="50925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150166" y="50925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072186" y="5092541"/>
              <a:ext cx="702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27685" y="5496401"/>
              <a:ext cx="337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LINK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58215" y="5375910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369974" y="54964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1880235" y="5375910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291994" y="54964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2802255" y="5375910"/>
              <a:ext cx="922020" cy="381000"/>
            </a:xfrm>
            <a:prstGeom prst="rect">
              <a:avLst/>
            </a:prstGeom>
            <a:solidFill>
              <a:srgbClr val="F4F6FB"/>
            </a:solidFill>
            <a:ln w="15240">
              <a:solidFill>
                <a:srgbClr val="D9DFE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214014" y="54964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724275" y="5375910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136034" y="54964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4646295" y="5375910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058054" y="54964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  <p:grpSp>
        <p:nvGrpSpPr>
          <p:cNvPr id="55" name="c1-text-4"/>
          <p:cNvGrpSpPr/>
          <p:nvPr/>
        </p:nvGrpSpPr>
        <p:grpSpPr>
          <a:xfrm>
            <a:off x="527685" y="5950744"/>
            <a:ext cx="5160518" cy="441008"/>
            <a:chOff x="527685" y="5950744"/>
            <a:chExt cx="5160518" cy="441008"/>
          </a:xfrm>
        </p:grpSpPr>
        <p:sp>
          <p:nvSpPr>
            <p:cNvPr id="54" name="TextBox 54"/>
            <p:cNvSpPr txBox="1"/>
            <p:nvPr/>
          </p:nvSpPr>
          <p:spPr>
            <a:xfrm>
              <a:off x="527685" y="5950744"/>
              <a:ext cx="5160518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排好序后的 LINK 示例：从 head = 5 出发，沿 5 → 2 → 4 → 1 → 3 依次读出 1, 3, 4,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6, 9；LINK = 0 表示结束。</a:t>
              </a:r>
            </a:p>
          </p:txBody>
        </p:sp>
      </p:grpSp>
      <p:grpSp>
        <p:nvGrpSpPr>
          <p:cNvPr id="61" name="c2-card-1"/>
          <p:cNvGrpSpPr/>
          <p:nvPr/>
        </p:nvGrpSpPr>
        <p:grpSpPr>
          <a:xfrm>
            <a:off x="6464618" y="1524000"/>
            <a:ext cx="5193982" cy="1209675"/>
            <a:chOff x="6464618" y="1524000"/>
            <a:chExt cx="5193982" cy="1209675"/>
          </a:xfrm>
        </p:grpSpPr>
        <p:sp>
          <p:nvSpPr>
            <p:cNvPr id="56" name="Rectangle 56"/>
            <p:cNvSpPr/>
            <p:nvPr/>
          </p:nvSpPr>
          <p:spPr>
            <a:xfrm>
              <a:off x="6464618" y="1524000"/>
              <a:ext cx="519398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165735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95122" y="1716405"/>
              <a:ext cx="19431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42557" y="1750695"/>
              <a:ext cx="18482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思考：自底向上归并（补充）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688264" y="2072640"/>
              <a:ext cx="44971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不用递归，从长度为 1 的有序段开始两两合并，段长依次为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1、2、4、……，不再需要系统栈空间。</a:t>
              </a:r>
            </a:p>
          </p:txBody>
        </p:sp>
      </p:grpSp>
      <p:grpSp>
        <p:nvGrpSpPr>
          <p:cNvPr id="106" name="c2-cells-2"/>
          <p:cNvGrpSpPr/>
          <p:nvPr/>
        </p:nvGrpSpPr>
        <p:grpSpPr>
          <a:xfrm>
            <a:off x="6458902" y="2908935"/>
            <a:ext cx="5160646" cy="1992630"/>
            <a:chOff x="6458902" y="2908935"/>
            <a:chExt cx="5160646" cy="1992630"/>
          </a:xfrm>
        </p:grpSpPr>
        <p:sp>
          <p:nvSpPr>
            <p:cNvPr id="62" name="TextBox 62"/>
            <p:cNvSpPr txBox="1"/>
            <p:nvPr/>
          </p:nvSpPr>
          <p:spPr>
            <a:xfrm>
              <a:off x="6458902" y="302942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009448" y="290893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21206" y="3029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7931468" y="290893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343226" y="3029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853488" y="290893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265246" y="3029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9775508" y="290893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10187266" y="3029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10697528" y="290893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11109286" y="30294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458902" y="356663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段长 2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7009448" y="344614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7421206" y="3566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6" name="Rectangle 76"/>
            <p:cNvSpPr/>
            <p:nvPr/>
          </p:nvSpPr>
          <p:spPr>
            <a:xfrm>
              <a:off x="7931468" y="344614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343226" y="3566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8853488" y="344614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79" name="TextBox 79"/>
            <p:cNvSpPr txBox="1"/>
            <p:nvPr/>
          </p:nvSpPr>
          <p:spPr>
            <a:xfrm>
              <a:off x="9265246" y="3566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0" name="Rectangle 80"/>
            <p:cNvSpPr/>
            <p:nvPr/>
          </p:nvSpPr>
          <p:spPr>
            <a:xfrm>
              <a:off x="9775508" y="344614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10187266" y="3566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82" name="Rectangle 82"/>
            <p:cNvSpPr/>
            <p:nvPr/>
          </p:nvSpPr>
          <p:spPr>
            <a:xfrm>
              <a:off x="10697528" y="344614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11109286" y="356663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6458902" y="410384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段长 4</a:t>
              </a:r>
            </a:p>
          </p:txBody>
        </p:sp>
        <p:sp>
          <p:nvSpPr>
            <p:cNvPr id="85" name="Rectangle 85"/>
            <p:cNvSpPr/>
            <p:nvPr/>
          </p:nvSpPr>
          <p:spPr>
            <a:xfrm>
              <a:off x="7009448" y="398335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421206" y="4103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7931468" y="398335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88" name="TextBox 88"/>
            <p:cNvSpPr txBox="1"/>
            <p:nvPr/>
          </p:nvSpPr>
          <p:spPr>
            <a:xfrm>
              <a:off x="8343226" y="4103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8853488" y="398335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9265246" y="4103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91" name="Rectangle 91"/>
            <p:cNvSpPr/>
            <p:nvPr/>
          </p:nvSpPr>
          <p:spPr>
            <a:xfrm>
              <a:off x="9775508" y="3983355"/>
              <a:ext cx="922020" cy="381000"/>
            </a:xfrm>
            <a:prstGeom prst="rect">
              <a:avLst/>
            </a:prstGeom>
            <a:solidFill>
              <a:srgbClr val="E8EDF8"/>
            </a:solidFill>
            <a:ln w="15240">
              <a:solidFill>
                <a:srgbClr val="2F4B9A"/>
              </a:solidFill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10187266" y="4103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10697528" y="3983355"/>
              <a:ext cx="922020" cy="3810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94" name="TextBox 94"/>
            <p:cNvSpPr txBox="1"/>
            <p:nvPr/>
          </p:nvSpPr>
          <p:spPr>
            <a:xfrm>
              <a:off x="11109286" y="41038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6458902" y="4641056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段长 8</a:t>
              </a:r>
            </a:p>
          </p:txBody>
        </p:sp>
        <p:sp>
          <p:nvSpPr>
            <p:cNvPr id="96" name="Rectangle 96"/>
            <p:cNvSpPr/>
            <p:nvPr/>
          </p:nvSpPr>
          <p:spPr>
            <a:xfrm>
              <a:off x="7009448" y="4520565"/>
              <a:ext cx="92202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7" name="TextBox 97"/>
            <p:cNvSpPr txBox="1"/>
            <p:nvPr/>
          </p:nvSpPr>
          <p:spPr>
            <a:xfrm>
              <a:off x="7421206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8" name="Rectangle 98"/>
            <p:cNvSpPr/>
            <p:nvPr/>
          </p:nvSpPr>
          <p:spPr>
            <a:xfrm>
              <a:off x="7931468" y="4520565"/>
              <a:ext cx="92202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99" name="TextBox 99"/>
            <p:cNvSpPr txBox="1"/>
            <p:nvPr/>
          </p:nvSpPr>
          <p:spPr>
            <a:xfrm>
              <a:off x="8343226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00" name="Rectangle 100"/>
            <p:cNvSpPr/>
            <p:nvPr/>
          </p:nvSpPr>
          <p:spPr>
            <a:xfrm>
              <a:off x="8853488" y="4520565"/>
              <a:ext cx="92202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1" name="TextBox 101"/>
            <p:cNvSpPr txBox="1"/>
            <p:nvPr/>
          </p:nvSpPr>
          <p:spPr>
            <a:xfrm>
              <a:off x="9265246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02" name="Rectangle 102"/>
            <p:cNvSpPr/>
            <p:nvPr/>
          </p:nvSpPr>
          <p:spPr>
            <a:xfrm>
              <a:off x="9775508" y="4520565"/>
              <a:ext cx="92202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3" name="TextBox 103"/>
            <p:cNvSpPr txBox="1"/>
            <p:nvPr/>
          </p:nvSpPr>
          <p:spPr>
            <a:xfrm>
              <a:off x="10187266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104" name="Rectangle 104"/>
            <p:cNvSpPr/>
            <p:nvPr/>
          </p:nvSpPr>
          <p:spPr>
            <a:xfrm>
              <a:off x="10697528" y="4520565"/>
              <a:ext cx="922020" cy="381000"/>
            </a:xfrm>
            <a:prstGeom prst="rect">
              <a:avLst/>
            </a:prstGeom>
            <a:solidFill>
              <a:srgbClr val="E3F5F1"/>
            </a:solidFill>
            <a:ln w="15240">
              <a:solidFill>
                <a:srgbClr val="14A38B"/>
              </a:solidFill>
            </a:ln>
          </p:spPr>
        </p:sp>
        <p:sp>
          <p:nvSpPr>
            <p:cNvPr id="105" name="TextBox 105"/>
            <p:cNvSpPr txBox="1"/>
            <p:nvPr/>
          </p:nvSpPr>
          <p:spPr>
            <a:xfrm>
              <a:off x="11109286" y="46410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  <p:grpSp>
        <p:nvGrpSpPr>
          <p:cNvPr id="113" name="c2-callout-3"/>
          <p:cNvGrpSpPr/>
          <p:nvPr/>
        </p:nvGrpSpPr>
        <p:grpSpPr>
          <a:xfrm>
            <a:off x="6464618" y="5076825"/>
            <a:ext cx="5193982" cy="1270635"/>
            <a:chOff x="6464618" y="5076825"/>
            <a:chExt cx="5193982" cy="1270635"/>
          </a:xfrm>
        </p:grpSpPr>
        <p:sp>
          <p:nvSpPr>
            <p:cNvPr id="107" name="Rectangle 107"/>
            <p:cNvSpPr/>
            <p:nvPr/>
          </p:nvSpPr>
          <p:spPr>
            <a:xfrm>
              <a:off x="6464618" y="5076825"/>
              <a:ext cx="5193982" cy="1270635"/>
            </a:xfrm>
            <a:prstGeom prst="roundRect">
              <a:avLst>
                <a:gd name="adj" fmla="val 899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11" name="Group 111"/>
            <p:cNvGrpSpPr/>
            <p:nvPr/>
          </p:nvGrpSpPr>
          <p:grpSpPr>
            <a:xfrm>
              <a:off x="6669405" y="5613083"/>
              <a:ext cx="200026" cy="200026"/>
              <a:chOff x="6669405" y="5613083"/>
              <a:chExt cx="200026" cy="200026"/>
            </a:xfrm>
          </p:grpSpPr>
          <p:sp>
            <p:nvSpPr>
              <p:cNvPr id="108" name="Freeform 108"/>
              <p:cNvSpPr/>
              <p:nvPr/>
            </p:nvSpPr>
            <p:spPr>
              <a:xfrm>
                <a:off x="6669405" y="56130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09" name="Freeform 109"/>
              <p:cNvSpPr/>
              <p:nvPr/>
            </p:nvSpPr>
            <p:spPr>
              <a:xfrm>
                <a:off x="6769418" y="56797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10" name="Freeform 110"/>
              <p:cNvSpPr/>
              <p:nvPr/>
            </p:nvSpPr>
            <p:spPr>
              <a:xfrm>
                <a:off x="6758305" y="57130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12" name="TextBox 112"/>
            <p:cNvSpPr txBox="1"/>
            <p:nvPr/>
          </p:nvSpPr>
          <p:spPr>
            <a:xfrm>
              <a:off x="6972110" y="5494020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同色相邻的格子是一个已排好序的段；最后多出的单个段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直接保留到下一趟。</a:t>
              </a:r>
            </a:p>
          </p:txBody>
        </p:sp>
      </p:grpSp>
      <p:grpSp>
        <p:nvGrpSpPr>
          <p:cNvPr id="11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14" name="TextBox 11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32916" cy="909257"/>
            <a:chOff x="520446" y="342900"/>
            <a:chExt cx="593291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3291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排序的二元比较树：对 3 个关键字排序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270129" cy="308039"/>
            <a:chOff x="525399" y="1550194"/>
            <a:chExt cx="1027012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27012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 A(1), …, A(n) 各不相同。内结点 i:j 表示比较 A(i) 与 A(j)；方框是外结点，写出从小到大排列的下标。</a:t>
              </a:r>
            </a:p>
          </p:txBody>
        </p:sp>
      </p:grpSp>
      <p:grpSp>
        <p:nvGrpSpPr>
          <p:cNvPr id="61" name="c1-graph-1"/>
          <p:cNvGrpSpPr/>
          <p:nvPr/>
        </p:nvGrpSpPr>
        <p:grpSpPr>
          <a:xfrm>
            <a:off x="1200150" y="2015490"/>
            <a:ext cx="9791700" cy="3277934"/>
            <a:chOff x="1200150" y="2015490"/>
            <a:chExt cx="9791700" cy="3277934"/>
          </a:xfrm>
        </p:grpSpPr>
        <p:sp>
          <p:nvSpPr>
            <p:cNvPr id="9" name="Freeform 9"/>
            <p:cNvSpPr/>
            <p:nvPr/>
          </p:nvSpPr>
          <p:spPr>
            <a:xfrm>
              <a:off x="3428048" y="2317432"/>
              <a:ext cx="2443162" cy="814388"/>
            </a:xfrm>
            <a:custGeom>
              <a:avLst/>
              <a:gdLst/>
              <a:ahLst/>
              <a:cxnLst/>
              <a:rect l="l" t="t" r="r" b="b"/>
              <a:pathLst>
                <a:path w="2443162" h="814388">
                  <a:moveTo>
                    <a:pt x="2443162" y="0"/>
                  </a:moveTo>
                  <a:lnTo>
                    <a:pt x="0" y="8143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6320790" y="2317432"/>
              <a:ext cx="2443162" cy="814388"/>
            </a:xfrm>
            <a:custGeom>
              <a:avLst/>
              <a:gdLst/>
              <a:ahLst/>
              <a:cxnLst/>
              <a:rect l="l" t="t" r="r" b="b"/>
              <a:pathLst>
                <a:path w="2443162" h="814388">
                  <a:moveTo>
                    <a:pt x="0" y="0"/>
                  </a:moveTo>
                  <a:lnTo>
                    <a:pt x="2443162" y="8143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1811655" y="3324225"/>
              <a:ext cx="1186815" cy="685800"/>
            </a:xfrm>
            <a:custGeom>
              <a:avLst/>
              <a:gdLst/>
              <a:ahLst/>
              <a:cxnLst/>
              <a:rect l="l" t="t" r="r" b="b"/>
              <a:pathLst>
                <a:path w="1186815" h="685800">
                  <a:moveTo>
                    <a:pt x="1186815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395662" y="3345180"/>
              <a:ext cx="950595" cy="685800"/>
            </a:xfrm>
            <a:custGeom>
              <a:avLst/>
              <a:gdLst/>
              <a:ahLst/>
              <a:cxnLst/>
              <a:rect l="l" t="t" r="r" b="b"/>
              <a:pathLst>
                <a:path w="950595" h="685800">
                  <a:moveTo>
                    <a:pt x="0" y="0"/>
                  </a:moveTo>
                  <a:lnTo>
                    <a:pt x="950595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7845742" y="3345180"/>
              <a:ext cx="950595" cy="685800"/>
            </a:xfrm>
            <a:custGeom>
              <a:avLst/>
              <a:gdLst/>
              <a:ahLst/>
              <a:cxnLst/>
              <a:rect l="l" t="t" r="r" b="b"/>
              <a:pathLst>
                <a:path w="950595" h="685800">
                  <a:moveTo>
                    <a:pt x="950595" y="0"/>
                  </a:moveTo>
                  <a:lnTo>
                    <a:pt x="0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9193530" y="3324225"/>
              <a:ext cx="1186815" cy="685800"/>
            </a:xfrm>
            <a:custGeom>
              <a:avLst/>
              <a:gdLst/>
              <a:ahLst/>
              <a:cxnLst/>
              <a:rect l="l" t="t" r="r" b="b"/>
              <a:pathLst>
                <a:path w="1186815" h="685800">
                  <a:moveTo>
                    <a:pt x="0" y="0"/>
                  </a:moveTo>
                  <a:lnTo>
                    <a:pt x="1186815" y="68580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517582" y="4315778"/>
              <a:ext cx="834390" cy="657225"/>
            </a:xfrm>
            <a:custGeom>
              <a:avLst/>
              <a:gdLst/>
              <a:ahLst/>
              <a:cxnLst/>
              <a:rect l="l" t="t" r="r" b="b"/>
              <a:pathLst>
                <a:path w="834390" h="657225">
                  <a:moveTo>
                    <a:pt x="834390" y="0"/>
                  </a:moveTo>
                  <a:lnTo>
                    <a:pt x="0" y="6572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709160" y="4333875"/>
              <a:ext cx="663893" cy="639128"/>
            </a:xfrm>
            <a:custGeom>
              <a:avLst/>
              <a:gdLst/>
              <a:ahLst/>
              <a:cxnLst/>
              <a:rect l="l" t="t" r="r" b="b"/>
              <a:pathLst>
                <a:path w="663893" h="639128">
                  <a:moveTo>
                    <a:pt x="0" y="0"/>
                  </a:moveTo>
                  <a:lnTo>
                    <a:pt x="663893" y="6391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6818948" y="4333875"/>
              <a:ext cx="663893" cy="639128"/>
            </a:xfrm>
            <a:custGeom>
              <a:avLst/>
              <a:gdLst/>
              <a:ahLst/>
              <a:cxnLst/>
              <a:rect l="l" t="t" r="r" b="b"/>
              <a:pathLst>
                <a:path w="663893" h="639128">
                  <a:moveTo>
                    <a:pt x="663893" y="0"/>
                  </a:moveTo>
                  <a:lnTo>
                    <a:pt x="0" y="63912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40028" y="4315778"/>
              <a:ext cx="834390" cy="657225"/>
            </a:xfrm>
            <a:custGeom>
              <a:avLst/>
              <a:gdLst/>
              <a:ahLst/>
              <a:cxnLst/>
              <a:rect l="l" t="t" r="r" b="b"/>
              <a:pathLst>
                <a:path w="834390" h="657225">
                  <a:moveTo>
                    <a:pt x="0" y="0"/>
                  </a:moveTo>
                  <a:lnTo>
                    <a:pt x="834390" y="65722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5868352" y="2015490"/>
              <a:ext cx="455295" cy="4552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2975610" y="2978468"/>
              <a:ext cx="455295" cy="4552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8761095" y="2978468"/>
              <a:ext cx="455295" cy="4552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1200150" y="4010025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311015" y="3942398"/>
              <a:ext cx="455295" cy="4552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7425690" y="3942398"/>
              <a:ext cx="455295" cy="4552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10323195" y="4010025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2980372" y="4973002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5205412" y="4973002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317932" y="4973002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542972" y="4973002"/>
              <a:ext cx="668655" cy="320040"/>
            </a:xfrm>
            <a:prstGeom prst="roundRect">
              <a:avLst>
                <a:gd name="adj" fmla="val 29762"/>
              </a:avLst>
            </a:prstGeom>
            <a:solidFill>
              <a:srgbClr val="E3F5F1"/>
            </a:solidFill>
            <a:ln w="17145">
              <a:solidFill>
                <a:srgbClr val="14A38B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49967" y="216789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1:2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57224" y="313182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2:3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42709" y="3131820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2:3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95152" y="409479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1,2,3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92629" y="40947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1:3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507304" y="4094798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1:3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18197" y="409479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3,2,1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075375" y="505872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1,3,2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300415" y="505872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3,1,2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12935" y="505872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2,1,3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637975" y="5058728"/>
              <a:ext cx="47865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2,3,1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303395" y="2631758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300149" y="266652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A(1)&lt;A(2)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196138" y="2631758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191939" y="266652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A(1)&gt;A(2)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2059305" y="3573780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2055106" y="3608546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A(2)&lt;A(3)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3525202" y="3594735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521004" y="3629501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A(2)&gt;A(3)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7975282" y="3594735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971084" y="3629501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A(2)&lt;A(3)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441180" y="3573780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436981" y="3608546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A(2)&gt;A(3)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589020" y="4551998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584821" y="458676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A(1)&lt;A(3)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694872" y="4560570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691626" y="4595336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A(1)&gt;A(3)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804660" y="4560570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800461" y="4595336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A(1)&lt;A(3)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7910512" y="4551998"/>
              <a:ext cx="692468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907266" y="458676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A(1)&gt;A(3)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2" name="Rectangle 62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728335"/>
              <a:ext cx="9949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 个关键字有 3! = 6 种排列，对应 6 个外结点；树高为 3，最坏情况比较 3 次。一般地，n 个关键字的比较树至少有 n!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个外结点。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838101" cy="909257"/>
            <a:chOff x="520446" y="342900"/>
            <a:chExt cx="883810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84594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3860" y="407194"/>
              <a:ext cx="16850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归并排序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83810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定理：比较型排序在最坏情况下至少要 Ω(n log n) 次比较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351717" cy="2536126"/>
            <a:chOff x="533400" y="1533525"/>
            <a:chExt cx="5351717" cy="2536126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8526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08692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16074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273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655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38613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4599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6023" y="1564481"/>
              <a:ext cx="13091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外结点至少 n! 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7166" y="1818322"/>
              <a:ext cx="372819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个关键字有 n! 种排列，不同的排列必须走到不同的外结点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6023" y="21169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树高与外结点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7166" y="2371725"/>
              <a:ext cx="4744593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最坏比较次数 T(n) 等于树高；高为 T(n) 的二元树至多 2^T(n) 个外结点，所以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2^T(n) ≥ n!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6023" y="2863691"/>
              <a:ext cx="56565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放缩 n!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7166" y="3118485"/>
              <a:ext cx="38130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只保留 n, n−1, …, ⌈n/2⌉ 这 ⌊n/2⌋+1 个因子，每个都 ≥ n/2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6023" y="341614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取对数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7166" y="3670935"/>
              <a:ext cx="4937951" cy="3987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22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≥ (n/2)log(n/2)；n ≥ 4 时 n/2 ≥ √n，即 log(n/2) ≥ (1/2)log n，得 T(n) ≥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(n/4)log n</a:t>
              </a:r>
            </a:p>
          </p:txBody>
        </p:sp>
      </p:grpSp>
      <p:grpSp>
        <p:nvGrpSpPr>
          <p:cNvPr id="50" name="c1-table-2"/>
          <p:cNvGrpSpPr/>
          <p:nvPr/>
        </p:nvGrpSpPr>
        <p:grpSpPr>
          <a:xfrm>
            <a:off x="528447" y="4231005"/>
            <a:ext cx="5847588" cy="1408461"/>
            <a:chOff x="528447" y="4231005"/>
            <a:chExt cx="5847588" cy="1408461"/>
          </a:xfrm>
        </p:grpSpPr>
        <p:sp>
          <p:nvSpPr>
            <p:cNvPr id="25" name="Rectangle 25"/>
            <p:cNvSpPr/>
            <p:nvPr/>
          </p:nvSpPr>
          <p:spPr>
            <a:xfrm>
              <a:off x="533400" y="4231005"/>
              <a:ext cx="5842635" cy="38100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1538811" y="43491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99946" y="43491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818143" y="434911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94573" y="434911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565456" y="4349115"/>
              <a:ext cx="3371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28078" y="4730115"/>
              <a:ext cx="9167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 ⌈log₂n!⌉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01889" y="473011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1215" y="473011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98460" y="473011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573230" y="4730115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8530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498919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4993958"/>
              <a:ext cx="5842635" cy="3810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8078" y="511111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归并排序最坏比较次数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2646045" y="5003482"/>
              <a:ext cx="799148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001889" y="5111115"/>
              <a:ext cx="8841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781215" y="511111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598460" y="5111115"/>
              <a:ext cx="1661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573230" y="5111115"/>
              <a:ext cx="3216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8977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231005"/>
              <a:ext cx="5842635" cy="11439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631758" y="4231005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3449955" y="4231005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4268152" y="4231005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086350" y="4231005"/>
              <a:ext cx="9525" cy="11439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8447" y="5448776"/>
              <a:ext cx="55685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归并排序最坏次数按 W(n) = W(⌈n/2⌉) + W(⌊n/2⌋) + n − 1 算；n = 1000 时只比下界多约 5%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formula20"/>
              <p:cNvSpPr txBox="1">
                <a:spLocks noGrp="1"/>
              </p:cNvSpPr>
              <p:nvPr/>
            </p:nvSpPr>
            <p:spPr>
              <a:xfrm>
                <a:off x="6680835" y="1524000"/>
                <a:ext cx="4977765" cy="1272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!≥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⋯</m:t>
                      </m:r>
                      <m:d>
                        <m:dPr>
                          <m:begChr m:val="⌈"/>
                          <m:sepChr m:val=""/>
                          <m:endChr m:val="⌉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num>
                                <m:den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formula21"/>
              <p:cNvSpPr txBox="1">
                <a:spLocks noGrp="1"/>
              </p:cNvSpPr>
              <p:nvPr/>
            </p:nvSpPr>
            <p:spPr>
              <a:xfrm>
                <a:off x="6680835" y="2961322"/>
                <a:ext cx="4977765" cy="12725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type m:val="bar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num>
                            <m:den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</m:e>
                      </m:func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≥</m:t>
                      </m:r>
                      <m:f>
                        <m:fPr>
                          <m:type m:val="bar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num>
                        <m:den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den>
                      </m:f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log</m:t>
                          </m:r>
                        </m:fName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func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 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≥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4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formula22"/>
              <p:cNvSpPr txBox="1">
                <a:spLocks noGrp="1"/>
              </p:cNvSpPr>
              <p:nvPr/>
            </p:nvSpPr>
            <p:spPr>
              <a:xfrm>
                <a:off x="6680835" y="4398645"/>
                <a:ext cx="4977765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func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59" name="c2-callout-4"/>
          <p:cNvGrpSpPr/>
          <p:nvPr/>
        </p:nvGrpSpPr>
        <p:grpSpPr>
          <a:xfrm>
            <a:off x="6680835" y="5020628"/>
            <a:ext cx="4977765" cy="702945"/>
            <a:chOff x="6680835" y="5020628"/>
            <a:chExt cx="4977765" cy="702945"/>
          </a:xfrm>
        </p:grpSpPr>
        <p:sp>
          <p:nvSpPr>
            <p:cNvPr id="54" name="Rectangle 54"/>
            <p:cNvSpPr/>
            <p:nvPr/>
          </p:nvSpPr>
          <p:spPr>
            <a:xfrm>
              <a:off x="6680835" y="5020628"/>
              <a:ext cx="4977765" cy="702945"/>
            </a:xfrm>
            <a:prstGeom prst="roundRect">
              <a:avLst>
                <a:gd name="adj" fmla="val 16260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885623" y="5272088"/>
              <a:ext cx="200026" cy="200026"/>
              <a:chOff x="6885623" y="5272088"/>
              <a:chExt cx="200026" cy="200026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885623" y="52720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952298" y="53498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7188708" y="5165884"/>
              <a:ext cx="39550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归并排序最坏情况下是 O(n log n)，达到这个下界。从</a:t>
              </a:r>
              <a:br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数量级角度看，归并排序是最坏情况下的最优算法。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0" name="Rectangle 60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28373"/>
              <a:ext cx="200026" cy="200025"/>
              <a:chOff x="738188" y="6028373"/>
              <a:chExt cx="200026" cy="200025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2837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77926" y="607282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12642" y="618394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1273" y="6039326"/>
              <a:ext cx="51612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用 n = 3 核对：2ᵀ ≥ 3! = 6，T ≥ 3，上一页比较树的高度正好是 3。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376035" cy="3675697"/>
            <a:chOff x="667512" y="1835468"/>
            <a:chExt cx="6376035" cy="367569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斯特拉森矩阵乘法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366129" cy="6465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550"/>
                </a:lnSpc>
              </a:pPr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普通分块后子问题太多，速度不变；把 8 次子矩阵乘法减到 7 次才真</a:t>
              </a:r>
              <a:br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正变快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421195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4154805"/>
              <a:ext cx="25074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矩阵相乘的直接算法 O(n³)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56628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509135"/>
              <a:ext cx="23055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普通分块分治仍是 O(n³)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92061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863465"/>
              <a:ext cx="22667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斯特拉森的 7 个中间矩阵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527494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5217795"/>
              <a:ext cx="27538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时间复杂度 O(n^log7) 与启示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14167" cy="909257"/>
            <a:chOff x="520446" y="342900"/>
            <a:chExt cx="86141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斯特拉森矩阵乘法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141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矩阵相乘：直接计算 O(n³)，普通分块分治还是 O(n³)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544378" cy="2451735"/>
            <a:chOff x="533400" y="1524000"/>
            <a:chExt cx="4544378" cy="24517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451735"/>
            </a:xfrm>
            <a:prstGeom prst="roundRect">
              <a:avLst>
                <a:gd name="adj" fmla="val 54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8503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38728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假定 n×n 矩阵 A、B 的级数 n 是 2 的幂，否则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添加适当的全零行和全零列。乘积矩阵 C 的元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4"/>
                <p:cNvSpPr txBox="1">
                  <a:spLocks noGrp="1"/>
                </p:cNvSpPr>
                <p:nvPr/>
              </p:nvSpPr>
              <p:spPr>
                <a:xfrm>
                  <a:off x="781050" y="2992755"/>
                  <a:ext cx="4087178" cy="75438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,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j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 xml:space="preserve"> </m:t>
                            </m:r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B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j</m:t>
                                </m:r>
                              </m:e>
                            </m:d>
                          </m:e>
                        </m:nary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2" name="c1-kv-2"/>
          <p:cNvGrpSpPr/>
          <p:nvPr/>
        </p:nvGrpSpPr>
        <p:grpSpPr>
          <a:xfrm>
            <a:off x="525780" y="4191000"/>
            <a:ext cx="4551998" cy="1173480"/>
            <a:chOff x="525780" y="4191000"/>
            <a:chExt cx="4551998" cy="1173480"/>
          </a:xfrm>
        </p:grpSpPr>
        <p:sp>
          <p:nvSpPr>
            <p:cNvPr id="14" name="TextBox 14"/>
            <p:cNvSpPr txBox="1"/>
            <p:nvPr/>
          </p:nvSpPr>
          <p:spPr>
            <a:xfrm>
              <a:off x="525780" y="419100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基本运算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16418" y="419100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乘法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4511040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5780" y="4631055"/>
              <a:ext cx="10887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一个 C[i,j]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16418" y="4631055"/>
              <a:ext cx="20547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次乘法和 n−1 次加法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951095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5780" y="5071110"/>
              <a:ext cx="6095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矩阵 C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16418" y="5071110"/>
              <a:ext cx="307114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 n² 个元素，n³ 次乘法，O(n³)</a:t>
              </a:r>
            </a:p>
          </p:txBody>
        </p:sp>
      </p:grpSp>
      <p:grpSp>
        <p:nvGrpSpPr>
          <p:cNvPr id="24" name="c2-text-1"/>
          <p:cNvGrpSpPr/>
          <p:nvPr/>
        </p:nvGrpSpPr>
        <p:grpSpPr>
          <a:xfrm>
            <a:off x="5374958" y="1548765"/>
            <a:ext cx="5503164" cy="293370"/>
            <a:chOff x="5374958" y="1548765"/>
            <a:chExt cx="5503164" cy="293370"/>
          </a:xfrm>
        </p:grpSpPr>
        <p:sp>
          <p:nvSpPr>
            <p:cNvPr id="23" name="TextBox 23"/>
            <p:cNvSpPr txBox="1"/>
            <p:nvPr/>
          </p:nvSpPr>
          <p:spPr>
            <a:xfrm>
              <a:off x="5374958" y="1548765"/>
              <a:ext cx="55031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分治：把 A、B、C 都分成 4 个 (n/2)×(n/2) 的方形子矩阵。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formula25"/>
              <p:cNvSpPr txBox="1">
                <a:spLocks noGrp="1"/>
              </p:cNvSpPr>
              <p:nvPr/>
            </p:nvSpPr>
            <p:spPr>
              <a:xfrm>
                <a:off x="5382578" y="1973580"/>
                <a:ext cx="6276022" cy="9515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A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count m:val="1"/>
                                  </m:mcPr>
                                </m:mc>
                                <m:mc>
                                  <m:mcPr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e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B</m:t>
                                    </m:r>
                                  </m:e>
                                  <m:sub>
                                    <m:r>
                                      <a:rPr lang="zh-CN" sz="18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formula26"/>
              <p:cNvSpPr txBox="1">
                <a:spLocks noGrp="1"/>
              </p:cNvSpPr>
              <p:nvPr/>
            </p:nvSpPr>
            <p:spPr>
              <a:xfrm>
                <a:off x="5382578" y="3115628"/>
                <a:ext cx="6276022" cy="9515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</m:t>
                              </m:r>
                            </m:sub>
                          </m:s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sub>
                          </m:s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22</m:t>
                              </m:r>
                            </m:sub>
                          </m:sSub>
                        </m:e>
                        <m:e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sub>
                          </m:s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22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sub>
                          </m:sSub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  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21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22</m:t>
                              </m:r>
                            </m:sub>
                          </m:sSub>
                          <m:sSub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22</m:t>
                              </m:r>
                            </m:sub>
                          </m:sSub>
                        </m:e>
                      </m:eqArr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formula27"/>
              <p:cNvSpPr txBox="1">
                <a:spLocks noGrp="1"/>
              </p:cNvSpPr>
              <p:nvPr/>
            </p:nvSpPr>
            <p:spPr>
              <a:xfrm>
                <a:off x="5382578" y="4256722"/>
                <a:ext cx="6276022" cy="9048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8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  <m:e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</m:t>
                              </m:r>
                              <m:sSup>
                                <m:e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  <m:sup>
                                  <m:r>
                                    <a:rPr lang="zh-CN" sz="18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&gt;</m:t>
                              </m:r>
                              <m:r>
                                <a:rPr lang="zh-CN" sz="18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4" name="c2-callout-5"/>
          <p:cNvGrpSpPr/>
          <p:nvPr/>
        </p:nvGrpSpPr>
        <p:grpSpPr>
          <a:xfrm>
            <a:off x="5382578" y="5352098"/>
            <a:ext cx="6276022" cy="1059180"/>
            <a:chOff x="5382578" y="5352098"/>
            <a:chExt cx="6276022" cy="1059180"/>
          </a:xfrm>
        </p:grpSpPr>
        <p:sp>
          <p:nvSpPr>
            <p:cNvPr id="28" name="Rectangle 28"/>
            <p:cNvSpPr/>
            <p:nvPr/>
          </p:nvSpPr>
          <p:spPr>
            <a:xfrm>
              <a:off x="5382578" y="5352098"/>
              <a:ext cx="6276022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5575307" y="5777983"/>
              <a:ext cx="224134" cy="192560"/>
              <a:chOff x="5575307" y="5777983"/>
              <a:chExt cx="224134" cy="19256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687378" y="58483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5575307" y="57779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5687378" y="59261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5889308" y="5500688"/>
              <a:ext cx="52158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解出来仍是 O(n³)：每次递归做 8 次子矩阵乘法，另加 4 次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(n/2)×(n/2) 矩阵加法（代价 dn²），子问题个数太多，没有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提速。</a:t>
              </a:r>
            </a:p>
          </p:txBody>
        </p:sp>
      </p:grpSp>
      <p:grpSp>
        <p:nvGrpSpPr>
          <p:cNvPr id="3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5" name="TextBox 35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38032" cy="909257"/>
            <a:chOff x="520446" y="342900"/>
            <a:chExt cx="9238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斯特拉森矩阵乘法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38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斯特拉森的技巧：7 次乘法算出中间矩阵，再用加减法拼出 C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c1-text-1"/>
          <p:cNvGrpSpPr/>
          <p:nvPr/>
        </p:nvGrpSpPr>
        <p:grpSpPr>
          <a:xfrm>
            <a:off x="526542" y="1545907"/>
            <a:ext cx="4994338" cy="529780"/>
            <a:chOff x="526542" y="1545907"/>
            <a:chExt cx="4994338" cy="529780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994338" cy="5297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92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第一步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：7 次乘法、10 次加（减）法，算出 7 个 (n/2)×(n/2) 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中间矩阵</a:t>
              </a:r>
            </a:p>
          </p:txBody>
        </p:sp>
      </p:grpSp>
      <p:grpSp>
        <p:nvGrpSpPr>
          <p:cNvPr id="47" name="c1-table-2"/>
          <p:cNvGrpSpPr/>
          <p:nvPr/>
        </p:nvGrpSpPr>
        <p:grpSpPr>
          <a:xfrm>
            <a:off x="528447" y="2192655"/>
            <a:ext cx="5415153" cy="3464909"/>
            <a:chOff x="528447" y="2192655"/>
            <a:chExt cx="5415153" cy="3464909"/>
          </a:xfrm>
        </p:grpSpPr>
        <p:sp>
          <p:nvSpPr>
            <p:cNvPr id="9" name="Rectangle 9"/>
            <p:cNvSpPr/>
            <p:nvPr/>
          </p:nvSpPr>
          <p:spPr>
            <a:xfrm>
              <a:off x="533400" y="2192655"/>
              <a:ext cx="5410200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86194" y="23140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中间矩阵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06623" y="231409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76279" y="231409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加减次数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79014" y="271414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50670" y="2714149"/>
              <a:ext cx="1158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A₁₁(B₁₂ − B₂₂)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436365" y="27141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9879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99275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9014" y="311419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550670" y="3114199"/>
              <a:ext cx="1158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(A₁₁ + A₁₂)B₂₂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36365" y="31141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3880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9014" y="351424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M₃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50670" y="3514249"/>
              <a:ext cx="1158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(A₂₁ + A₂₂)B₁₁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36365" y="35142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7880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33400" y="379285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79014" y="391429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50670" y="3914299"/>
              <a:ext cx="11584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A₂₂(B₂₁ − B₁₁)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36365" y="39142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1881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79014" y="431434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M₅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550670" y="4314349"/>
              <a:ext cx="1779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(A₁₁ + A₂₂)(B₁₁ + B₂₂)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436365" y="43143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45881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533400" y="4592955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79014" y="471439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M₆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50670" y="4714399"/>
              <a:ext cx="1779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(A₁₂ − A₂₂)(B₂₁ + B₂₂)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5436365" y="47143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98824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79014" y="511444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M₇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550670" y="5114449"/>
              <a:ext cx="17797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(A₁₁ − A₂₁)(B₁₁ + B₁₂)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436365" y="511444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2192655"/>
              <a:ext cx="5410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1448752" y="2192655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018722" y="2192655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28447" y="5466874"/>
              <a:ext cx="34567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每个 M 只做一次子矩阵乘法（递归调用），加减合计 10 次</a:t>
              </a:r>
            </a:p>
          </p:txBody>
        </p:sp>
      </p:grpSp>
      <p:grpSp>
        <p:nvGrpSpPr>
          <p:cNvPr id="49" name="c2-text-1"/>
          <p:cNvGrpSpPr/>
          <p:nvPr/>
        </p:nvGrpSpPr>
        <p:grpSpPr>
          <a:xfrm>
            <a:off x="6241542" y="1545907"/>
            <a:ext cx="4198639" cy="264033"/>
            <a:chOff x="6241542" y="1545907"/>
            <a:chExt cx="4198639" cy="264033"/>
          </a:xfrm>
        </p:grpSpPr>
        <p:sp>
          <p:nvSpPr>
            <p:cNvPr id="48" name="TextBox 48"/>
            <p:cNvSpPr txBox="1"/>
            <p:nvPr/>
          </p:nvSpPr>
          <p:spPr>
            <a:xfrm>
              <a:off x="6241542" y="1545907"/>
              <a:ext cx="41986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第二步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：8 次加（减）法，由 M₁…M₇ 拼出 C 的四块</a:t>
              </a:r>
            </a:p>
          </p:txBody>
        </p:sp>
      </p:grpSp>
      <p:grpSp>
        <p:nvGrpSpPr>
          <p:cNvPr id="74" name="c2-table-2"/>
          <p:cNvGrpSpPr/>
          <p:nvPr/>
        </p:nvGrpSpPr>
        <p:grpSpPr>
          <a:xfrm>
            <a:off x="6248400" y="1926908"/>
            <a:ext cx="5410200" cy="2434590"/>
            <a:chOff x="6248400" y="1926908"/>
            <a:chExt cx="5410200" cy="2434590"/>
          </a:xfrm>
        </p:grpSpPr>
        <p:sp>
          <p:nvSpPr>
            <p:cNvPr id="50" name="Rectangle 50"/>
            <p:cNvSpPr/>
            <p:nvPr/>
          </p:nvSpPr>
          <p:spPr>
            <a:xfrm>
              <a:off x="6248400" y="1926908"/>
              <a:ext cx="5410200" cy="679132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28994" y="217265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子矩阵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674036" y="2172652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计算式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934510" y="2052638"/>
              <a:ext cx="528066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890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加减次</a:t>
              </a:r>
              <a:br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35259" y="2730818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C₁₁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264527" y="2730818"/>
              <a:ext cx="1674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M₅ + M₄ − M₂ + M₆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141707" y="2730818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248400" y="304038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248400" y="3045142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35259" y="3169920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264527" y="3169920"/>
              <a:ext cx="7338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 + M₂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141707" y="3169920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248400" y="347948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35259" y="3609022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C₂₁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264527" y="3609022"/>
              <a:ext cx="7338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M₃ + M₄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141707" y="3609022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6248400" y="391763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Rectangle 67"/>
            <p:cNvSpPr/>
            <p:nvPr/>
          </p:nvSpPr>
          <p:spPr>
            <a:xfrm>
              <a:off x="6248400" y="3922395"/>
              <a:ext cx="5410200" cy="43910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535259" y="4048125"/>
              <a:ext cx="3463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C₂₂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264527" y="4048125"/>
              <a:ext cx="16747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M₅ + M₁ − M₃ − M₇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141707" y="4048125"/>
              <a:ext cx="1136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6248400" y="1926908"/>
              <a:ext cx="5410200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2" name="Rectangle 72"/>
            <p:cNvSpPr/>
            <p:nvPr/>
          </p:nvSpPr>
          <p:spPr>
            <a:xfrm>
              <a:off x="7163752" y="1926908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10733722" y="1926908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86" name="c2-card-3"/>
          <p:cNvGrpSpPr/>
          <p:nvPr/>
        </p:nvGrpSpPr>
        <p:grpSpPr>
          <a:xfrm>
            <a:off x="6248400" y="4531995"/>
            <a:ext cx="5410200" cy="1828800"/>
            <a:chOff x="6248400" y="4531995"/>
            <a:chExt cx="5410200" cy="1828800"/>
          </a:xfrm>
        </p:grpSpPr>
        <p:sp>
          <p:nvSpPr>
            <p:cNvPr id="75" name="Rectangle 75"/>
            <p:cNvSpPr/>
            <p:nvPr/>
          </p:nvSpPr>
          <p:spPr>
            <a:xfrm>
              <a:off x="6248400" y="4531995"/>
              <a:ext cx="5410200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257925" y="4665345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6473190" y="4718685"/>
              <a:ext cx="242316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499986" y="4751546"/>
              <a:ext cx="2369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验算（补充，结果与直接计算 AB 相同）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466332" y="5062538"/>
              <a:ext cx="41749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A = [1 2; 3 4]，B = [5 6; 7 8]，每块是 1×1：</a:t>
              </a:r>
            </a:p>
          </p:txBody>
        </p:sp>
        <p:sp>
          <p:nvSpPr>
            <p:cNvPr id="80" name="Ellipse 80"/>
            <p:cNvSpPr/>
            <p:nvPr/>
          </p:nvSpPr>
          <p:spPr>
            <a:xfrm>
              <a:off x="6481762" y="541877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1" name="TextBox 81"/>
            <p:cNvSpPr txBox="1"/>
            <p:nvPr/>
          </p:nvSpPr>
          <p:spPr>
            <a:xfrm>
              <a:off x="6637782" y="5362575"/>
              <a:ext cx="3402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M₁…M₇ = −2, 24, 35, 8, 65, −30, −22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6481762" y="571881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637782" y="5662612"/>
              <a:ext cx="41799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C₁₁ = 65 + 8 − 24 − 30 = 19，C₁₂ = −2 + 24 = 22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6481762" y="601980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637782" y="5963602"/>
              <a:ext cx="40743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C₂₁ = 35 + 8 = 43，C₂₂ = 65 − 2 − 35 + 22 = 50</a:t>
              </a:r>
            </a:p>
          </p:txBody>
        </p:sp>
      </p:grpSp>
      <p:grpSp>
        <p:nvGrpSpPr>
          <p:cNvPr id="8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7" name="TextBox 8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247553" cy="909257"/>
            <a:chOff x="520446" y="342900"/>
            <a:chExt cx="82475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斯特拉森矩阵乘法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2475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斯特拉森算法的计算时间：O(n^log7) ≈ O(n^2.81)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9123992" cy="278702"/>
            <a:chOff x="526161" y="1547336"/>
            <a:chExt cx="9123992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91239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递推式：T(n) = b（n = 2），T(n) = 7T(n/2) + an²（n &gt; 2）。令 n = 2ᵏ，逐层展开 k−1 次，直到 T(2)。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28"/>
              <p:cNvSpPr txBox="1">
                <a:spLocks noGrp="1"/>
              </p:cNvSpPr>
              <p:nvPr/>
            </p:nvSpPr>
            <p:spPr>
              <a:xfrm>
                <a:off x="533400" y="1941195"/>
                <a:ext cx="5626418" cy="30365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/</m:t>
                                      </m:r>
                                      <m: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2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bar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8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7</m:t>
                                          </m:r>
                                        </m:num>
                                        <m:den>
                                          <m: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=⋯</m:t>
                          </m:r>
                        </m:e>
                        <m:e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7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</m:sSup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58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</m:t>
                          </m:r>
                          <m:sSup>
                            <m:e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58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  <m:ctrlP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7</m:t>
                                          </m:r>
                                        </m:num>
                                        <m:den>
                                          <m:r>
                                            <a:rPr lang="zh-CN" sz="158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4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</m:num>
                                <m:den>
                                  <m:r>
                                    <a:rPr lang="zh-CN" sz="158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8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5" name="c1-card-2"/>
          <p:cNvGrpSpPr/>
          <p:nvPr/>
        </p:nvGrpSpPr>
        <p:grpSpPr>
          <a:xfrm>
            <a:off x="533400" y="5153025"/>
            <a:ext cx="5626418" cy="1209675"/>
            <a:chOff x="533400" y="5153025"/>
            <a:chExt cx="5626418" cy="1209675"/>
          </a:xfrm>
        </p:grpSpPr>
        <p:sp>
          <p:nvSpPr>
            <p:cNvPr id="10" name="Rectangle 10"/>
            <p:cNvSpPr/>
            <p:nvPr/>
          </p:nvSpPr>
          <p:spPr>
            <a:xfrm>
              <a:off x="533400" y="5153025"/>
              <a:ext cx="5626418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542925" y="5286375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3905" y="534543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55345" y="537972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5702618"/>
              <a:ext cx="470287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原课件展开到 T(1)，与递推式出口 n = 2 差一层；这里展开到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T(2)，结论不变。</a:t>
              </a:r>
            </a:p>
          </p:txBody>
        </p:sp>
      </p:grpSp>
      <p:grpSp>
        <p:nvGrpSpPr>
          <p:cNvPr id="33" name="c2-steps-1"/>
          <p:cNvGrpSpPr/>
          <p:nvPr/>
        </p:nvGrpSpPr>
        <p:grpSpPr>
          <a:xfrm>
            <a:off x="6464618" y="1950720"/>
            <a:ext cx="5200339" cy="2280762"/>
            <a:chOff x="6464618" y="1950720"/>
            <a:chExt cx="5200339" cy="2280762"/>
          </a:xfrm>
        </p:grpSpPr>
        <p:sp>
          <p:nvSpPr>
            <p:cNvPr id="16" name="Rectangle 16"/>
            <p:cNvSpPr/>
            <p:nvPr/>
          </p:nvSpPr>
          <p:spPr>
            <a:xfrm>
              <a:off x="6597968" y="2093595"/>
              <a:ext cx="19050" cy="176117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6464618" y="195072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558241" y="202453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6464618" y="253841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58241" y="26122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6464618" y="312515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58241" y="3198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464618" y="371189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558241" y="3785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876860" y="198310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等比数列求和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878002" y="2250281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(7/4)^(k−2) + … + 1 = ((7/4)^(k−1) − 1)/(7/4 − 1) &lt; (4/3)(7/4)ᵏ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76860" y="256984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化简第二项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878002" y="2837021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n²(7/4)ᵏ = n² · 7ᵏ/4ᵏ = 7ᵏ（因为 4ᵏ = n²）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876860" y="3156585"/>
              <a:ext cx="5393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换回 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878002" y="3424714"/>
              <a:ext cx="47869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7ᵏ = 7^(log n) = n^(log 7)；第一项 7^(k−1)T(2) = (b/7)·n^(log 7)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876860" y="37433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878002" y="4011454"/>
              <a:ext cx="22966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&lt; (b/7 + 4a/3) · n^(log 7)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formula29"/>
              <p:cNvSpPr txBox="1">
                <a:spLocks noGrp="1"/>
              </p:cNvSpPr>
              <p:nvPr/>
            </p:nvSpPr>
            <p:spPr>
              <a:xfrm>
                <a:off x="6464618" y="4400550"/>
                <a:ext cx="5193982" cy="10582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zh-CN" sz="18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7</m:t>
                                  </m:r>
                                </m:e>
                              </m:func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2.81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40" name="c2-callout-3"/>
          <p:cNvGrpSpPr/>
          <p:nvPr/>
        </p:nvGrpSpPr>
        <p:grpSpPr>
          <a:xfrm>
            <a:off x="6464618" y="5633085"/>
            <a:ext cx="5193982" cy="729615"/>
            <a:chOff x="6464618" y="5633085"/>
            <a:chExt cx="5193982" cy="729615"/>
          </a:xfrm>
        </p:grpSpPr>
        <p:sp>
          <p:nvSpPr>
            <p:cNvPr id="35" name="Rectangle 35"/>
            <p:cNvSpPr/>
            <p:nvPr/>
          </p:nvSpPr>
          <p:spPr>
            <a:xfrm>
              <a:off x="6464618" y="5633085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669405" y="5897880"/>
              <a:ext cx="200026" cy="200026"/>
              <a:chOff x="6669405" y="5897880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669405" y="5897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736080" y="597566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972110" y="5779770"/>
              <a:ext cx="423995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递推式是 T(n) = 7T(n/2) + Θ(n²)，用 4.7 节的主定理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可以直接得到同样的结果。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9294495" cy="909257"/>
            <a:chOff x="520446" y="342900"/>
            <a:chExt cx="929449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414588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96156" y="407194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斯特拉森矩阵乘法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929449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从矩阵乘法得到的结论：分治不一定提速，关键在子问题个数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059805" cy="1823085"/>
            <a:chOff x="533400" y="1524000"/>
            <a:chExt cx="6059805" cy="182308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4366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2563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递推式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164724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子问题数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588038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3412" y="205406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直接计算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966912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424810" y="20540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95862" y="2054066"/>
              <a:ext cx="468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O(n³)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307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35530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3412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普通分块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966912" y="2459831"/>
              <a:ext cx="1547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8T(n/2) + dn²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24810" y="24598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95862" y="2459831"/>
              <a:ext cx="4916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O(n³)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365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29656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66912" y="2965609"/>
              <a:ext cx="1547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7T(n/2) + an²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24810" y="296560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95862" y="2865596"/>
              <a:ext cx="87020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O(n^log7) ≈</a:t>
              </a:r>
              <a:br/>
              <a:r>
                <a:rPr lang="en-US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O(n^2.81)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1524000"/>
              <a:ext cx="6059805" cy="18230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1862138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043362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891088" y="1524000"/>
              <a:ext cx="9525" cy="18230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7" name="c1-card-2"/>
          <p:cNvGrpSpPr/>
          <p:nvPr/>
        </p:nvGrpSpPr>
        <p:grpSpPr>
          <a:xfrm>
            <a:off x="533400" y="3522345"/>
            <a:ext cx="6059805" cy="1466850"/>
            <a:chOff x="533400" y="3522345"/>
            <a:chExt cx="6059805" cy="1466850"/>
          </a:xfrm>
        </p:grpSpPr>
        <p:sp>
          <p:nvSpPr>
            <p:cNvPr id="32" name="Rectangle 32"/>
            <p:cNvSpPr/>
            <p:nvPr/>
          </p:nvSpPr>
          <p:spPr>
            <a:xfrm>
              <a:off x="533400" y="3522345"/>
              <a:ext cx="6059805" cy="14668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542925" y="3655695"/>
              <a:ext cx="47625" cy="120015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63905" y="3714750"/>
              <a:ext cx="1022985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8943" y="3749040"/>
              <a:ext cx="872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7 和 8 差多少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7047" y="4070985"/>
              <a:ext cx="514864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1024 = 2¹⁰ 时递归 10 层，递归到 1×1 时的乘法次数：普通分块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8¹⁰ = n³ ≈ 1.07×10⁹，斯特拉森 7¹⁰ ≈ 2.8×10⁸，相差 (8/7)¹⁰ 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3.8 倍。n 越大差距越大。</a:t>
              </a:r>
            </a:p>
          </p:txBody>
        </p:sp>
      </p:grpSp>
      <p:grpSp>
        <p:nvGrpSpPr>
          <p:cNvPr id="43" name="c1-callout-3"/>
          <p:cNvGrpSpPr/>
          <p:nvPr/>
        </p:nvGrpSpPr>
        <p:grpSpPr>
          <a:xfrm>
            <a:off x="533400" y="5163502"/>
            <a:ext cx="6059805" cy="1145858"/>
            <a:chOff x="533400" y="5163502"/>
            <a:chExt cx="6059805" cy="1145858"/>
          </a:xfrm>
        </p:grpSpPr>
        <p:sp>
          <p:nvSpPr>
            <p:cNvPr id="38" name="Rectangle 38"/>
            <p:cNvSpPr/>
            <p:nvPr/>
          </p:nvSpPr>
          <p:spPr>
            <a:xfrm>
              <a:off x="533400" y="5163502"/>
              <a:ext cx="6059805" cy="1145858"/>
            </a:xfrm>
            <a:prstGeom prst="roundRect">
              <a:avLst>
                <a:gd name="adj" fmla="val 9975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38188" y="5636897"/>
              <a:ext cx="200023" cy="200023"/>
              <a:chOff x="738188" y="5636897"/>
              <a:chExt cx="200023" cy="200023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5636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71538" y="5703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892" y="5517833"/>
              <a:ext cx="51572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分治法不一定总会提高算法效率；减少子问题个数是降低时间复杂度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的一个有效途径。</a:t>
              </a:r>
            </a:p>
          </p:txBody>
        </p:sp>
      </p:grpSp>
      <p:grpSp>
        <p:nvGrpSpPr>
          <p:cNvPr id="50" name="c2-card-1"/>
          <p:cNvGrpSpPr/>
          <p:nvPr/>
        </p:nvGrpSpPr>
        <p:grpSpPr>
          <a:xfrm>
            <a:off x="6898005" y="1524000"/>
            <a:ext cx="4760595" cy="1937385"/>
            <a:chOff x="6898005" y="1524000"/>
            <a:chExt cx="4760595" cy="1937385"/>
          </a:xfrm>
        </p:grpSpPr>
        <p:sp>
          <p:nvSpPr>
            <p:cNvPr id="44" name="Rectangle 44"/>
            <p:cNvSpPr/>
            <p:nvPr/>
          </p:nvSpPr>
          <p:spPr>
            <a:xfrm>
              <a:off x="6898005" y="1524000"/>
              <a:ext cx="4760595" cy="1937385"/>
            </a:xfrm>
            <a:prstGeom prst="roundRect">
              <a:avLst>
                <a:gd name="adj" fmla="val 68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07530" y="1657350"/>
              <a:ext cx="47625" cy="167068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128510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219950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延伸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121652" y="2072640"/>
              <a:ext cx="410279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Hopcroft 和 Kerr 在 1971 年证明：计算两个 2×2 矩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阵的乘积，7 次乘法是必要的。要继续改进，只能研究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3×3、5×5 等矩阵的更好算法。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22795" y="2886551"/>
              <a:ext cx="410794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补充：后来的算法已把指数降到 2.38 以下，但常数因子很大，实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际中很少使用。</a:t>
              </a:r>
            </a:p>
          </p:txBody>
        </p:sp>
      </p:grpSp>
      <p:grpSp>
        <p:nvGrpSpPr>
          <p:cNvPr id="73" name="c2-table-2"/>
          <p:cNvGrpSpPr/>
          <p:nvPr/>
        </p:nvGrpSpPr>
        <p:grpSpPr>
          <a:xfrm>
            <a:off x="6892671" y="3636645"/>
            <a:ext cx="4765929" cy="2714244"/>
            <a:chOff x="6892671" y="3636645"/>
            <a:chExt cx="4765929" cy="2714244"/>
          </a:xfrm>
        </p:grpSpPr>
        <p:sp>
          <p:nvSpPr>
            <p:cNvPr id="51" name="Rectangle 51"/>
            <p:cNvSpPr/>
            <p:nvPr/>
          </p:nvSpPr>
          <p:spPr>
            <a:xfrm>
              <a:off x="6898005" y="3636645"/>
              <a:ext cx="476059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7161493" y="3760946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子问题个数 a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087010" y="3760946"/>
              <a:ext cx="18113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T(n) = aT(n/2) + Θ(n²)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562176" y="41667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425815" y="4166711"/>
              <a:ext cx="437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Θ(n³)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898005" y="444341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898005" y="4448175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562176" y="457247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425815" y="4572476"/>
              <a:ext cx="16661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Θ(n^log7) ≈ Θ(n^2.81)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898005" y="484917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7562176" y="49782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25815" y="4978241"/>
              <a:ext cx="16661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Θ(n^log5) ≈ Θ(n^2.32)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6898005" y="52549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898005" y="5259705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562176" y="538400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425815" y="5384006"/>
              <a:ext cx="8180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Θ(n² log n)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6898005" y="566070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494893" y="5789771"/>
              <a:ext cx="233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425815" y="5789771"/>
              <a:ext cx="437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Θ(n²)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898005" y="3636645"/>
              <a:ext cx="4760595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8321040" y="363664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892671" y="6145530"/>
              <a:ext cx="296490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5、4、3 只作对比（用 4.7 节主定理求得）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613063" cy="2997517"/>
            <a:chOff x="667512" y="1835468"/>
            <a:chExt cx="5613063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42900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二维极大点问题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60315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按 x 坐标一分为二，右半的极大点决定左半哪些点被淘汰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支配规则与极大点的定义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中位线划分、递归出口与合并规则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每层排序与预排序两种做法的时间复杂度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二维极大点问题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极大点：没有被任何其他点支配的点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544378" cy="2300288"/>
            <a:chOff x="533400" y="1524000"/>
            <a:chExt cx="4544378" cy="23002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66762" y="211074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2782" y="2054542"/>
              <a:ext cx="364845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支配规则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：在二维空间中，如果 x1 &gt; x2 且 y1 &gt;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y2，称点 (x1, y1) 支配点 (x2, y2)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12708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极大点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：如果一个点没有被其他点支配，则称它为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极大点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22611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169920"/>
              <a:ext cx="38113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求极大点问题：已知 n 个点的集合，找出其中的所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有极大点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994785"/>
            <a:ext cx="4544378" cy="1185862"/>
            <a:chOff x="533400" y="3994785"/>
            <a:chExt cx="4544378" cy="1185862"/>
          </a:xfrm>
        </p:grpSpPr>
        <p:sp>
          <p:nvSpPr>
            <p:cNvPr id="18" name="Rectangle 18"/>
            <p:cNvSpPr/>
            <p:nvPr/>
          </p:nvSpPr>
          <p:spPr>
            <a:xfrm>
              <a:off x="533400" y="3994785"/>
              <a:ext cx="4544378" cy="1185862"/>
            </a:xfrm>
            <a:prstGeom prst="roundRect">
              <a:avLst>
                <a:gd name="adj" fmla="val 112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4128135"/>
              <a:ext cx="47625" cy="91916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58190" y="418147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2759" y="421433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直接方法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332" y="4525328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对每个点检查其余所有点是否支配它，比较每一对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点，时间复杂度 O(n²)。</a:t>
              </a:r>
            </a:p>
          </p:txBody>
        </p:sp>
      </p:grpSp>
      <p:grpSp>
        <p:nvGrpSpPr>
          <p:cNvPr id="30" name="c1-callout-3"/>
          <p:cNvGrpSpPr/>
          <p:nvPr/>
        </p:nvGrpSpPr>
        <p:grpSpPr>
          <a:xfrm>
            <a:off x="533400" y="5350192"/>
            <a:ext cx="4544378" cy="978218"/>
            <a:chOff x="533400" y="5350192"/>
            <a:chExt cx="4544378" cy="978218"/>
          </a:xfrm>
        </p:grpSpPr>
        <p:sp>
          <p:nvSpPr>
            <p:cNvPr id="24" name="Rectangle 24"/>
            <p:cNvSpPr/>
            <p:nvPr/>
          </p:nvSpPr>
          <p:spPr>
            <a:xfrm>
              <a:off x="533400" y="5350192"/>
              <a:ext cx="4544378" cy="978218"/>
            </a:xfrm>
            <a:prstGeom prst="roundRect">
              <a:avLst>
                <a:gd name="adj" fmla="val 1168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8" name="Group 28"/>
            <p:cNvGrpSpPr/>
            <p:nvPr/>
          </p:nvGrpSpPr>
          <p:grpSpPr>
            <a:xfrm>
              <a:off x="738188" y="5738813"/>
              <a:ext cx="200026" cy="200025"/>
              <a:chOff x="738188" y="5738813"/>
              <a:chExt cx="200026" cy="200025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738188" y="573881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777926" y="578326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12642" y="589438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1040892" y="5495925"/>
              <a:ext cx="3622738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右图 14 个点中，绿色的 P1、P2、P8、P9、P10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是极大点。从左往右看，它们一个比一个低，连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成一条阶梯。</a:t>
              </a:r>
            </a:p>
          </p:txBody>
        </p:sp>
      </p:grpSp>
      <p:grpSp>
        <p:nvGrpSpPr>
          <p:cNvPr id="70" name="c2-graph-1"/>
          <p:cNvGrpSpPr/>
          <p:nvPr/>
        </p:nvGrpSpPr>
        <p:grpSpPr>
          <a:xfrm>
            <a:off x="5523548" y="1564958"/>
            <a:ext cx="6111934" cy="4627244"/>
            <a:chOff x="5523548" y="1564958"/>
            <a:chExt cx="6111934" cy="4627244"/>
          </a:xfrm>
        </p:grpSpPr>
        <p:sp>
          <p:nvSpPr>
            <p:cNvPr id="31" name="Freeform 31"/>
            <p:cNvSpPr/>
            <p:nvPr/>
          </p:nvSpPr>
          <p:spPr>
            <a:xfrm>
              <a:off x="5590222" y="6072188"/>
              <a:ext cx="5840730" cy="9525"/>
            </a:xfrm>
            <a:custGeom>
              <a:avLst/>
              <a:gdLst/>
              <a:ahLst/>
              <a:cxnLst/>
              <a:rect l="l" t="t" r="r" b="b"/>
              <a:pathLst>
                <a:path w="5840730" h="9525">
                  <a:moveTo>
                    <a:pt x="0" y="0"/>
                  </a:moveTo>
                  <a:lnTo>
                    <a:pt x="584073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11430952" y="602456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5571172" y="1807845"/>
              <a:ext cx="9525" cy="4245292"/>
            </a:xfrm>
            <a:custGeom>
              <a:avLst/>
              <a:gdLst/>
              <a:ahLst/>
              <a:cxnLst/>
              <a:rect l="l" t="t" r="r" b="b"/>
              <a:pathLst>
                <a:path w="9525" h="4245292">
                  <a:moveTo>
                    <a:pt x="0" y="424529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5523548" y="171259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5" name="Freeform 35"/>
            <p:cNvSpPr/>
            <p:nvPr/>
          </p:nvSpPr>
          <p:spPr>
            <a:xfrm>
              <a:off x="6772275" y="2319338"/>
              <a:ext cx="973455" cy="446722"/>
            </a:xfrm>
            <a:custGeom>
              <a:avLst/>
              <a:gdLst/>
              <a:ahLst/>
              <a:cxnLst/>
              <a:rect l="l" t="t" r="r" b="b"/>
              <a:pathLst>
                <a:path w="973455" h="446722">
                  <a:moveTo>
                    <a:pt x="0" y="0"/>
                  </a:moveTo>
                  <a:lnTo>
                    <a:pt x="973455" y="446722"/>
                  </a:lnTo>
                </a:path>
              </a:pathLst>
            </a:custGeom>
            <a:noFill/>
            <a:ln w="17145">
              <a:solidFill>
                <a:srgbClr val="14A38B"/>
              </a:solidFill>
              <a:custDash>
                <a:ds d="333333" sp="222222"/>
              </a:custDash>
            </a:ln>
          </p:spPr>
        </p:sp>
        <p:sp>
          <p:nvSpPr>
            <p:cNvPr id="36" name="Freeform 36"/>
            <p:cNvSpPr/>
            <p:nvPr/>
          </p:nvSpPr>
          <p:spPr>
            <a:xfrm>
              <a:off x="7904798" y="2828925"/>
              <a:ext cx="1343978" cy="461962"/>
            </a:xfrm>
            <a:custGeom>
              <a:avLst/>
              <a:gdLst/>
              <a:ahLst/>
              <a:cxnLst/>
              <a:rect l="l" t="t" r="r" b="b"/>
              <a:pathLst>
                <a:path w="1343978" h="461962">
                  <a:moveTo>
                    <a:pt x="0" y="0"/>
                  </a:moveTo>
                  <a:lnTo>
                    <a:pt x="1343978" y="461962"/>
                  </a:lnTo>
                </a:path>
              </a:pathLst>
            </a:custGeom>
            <a:noFill/>
            <a:ln w="17145">
              <a:solidFill>
                <a:srgbClr val="14A38B"/>
              </a:solidFill>
              <a:custDash>
                <a:ds d="333333" sp="222222"/>
              </a:custDash>
            </a:ln>
          </p:spPr>
        </p:sp>
        <p:sp>
          <p:nvSpPr>
            <p:cNvPr id="37" name="Freeform 37"/>
            <p:cNvSpPr/>
            <p:nvPr/>
          </p:nvSpPr>
          <p:spPr>
            <a:xfrm>
              <a:off x="9407842" y="3354705"/>
              <a:ext cx="980122" cy="446723"/>
            </a:xfrm>
            <a:custGeom>
              <a:avLst/>
              <a:gdLst/>
              <a:ahLst/>
              <a:cxnLst/>
              <a:rect l="l" t="t" r="r" b="b"/>
              <a:pathLst>
                <a:path w="980122" h="446723">
                  <a:moveTo>
                    <a:pt x="0" y="0"/>
                  </a:moveTo>
                  <a:lnTo>
                    <a:pt x="980122" y="446723"/>
                  </a:lnTo>
                </a:path>
              </a:pathLst>
            </a:custGeom>
            <a:noFill/>
            <a:ln w="17145">
              <a:solidFill>
                <a:srgbClr val="14A38B"/>
              </a:solidFill>
              <a:custDash>
                <a:ds d="333333" sp="222222"/>
              </a:custDash>
            </a:ln>
          </p:spPr>
        </p:sp>
        <p:sp>
          <p:nvSpPr>
            <p:cNvPr id="38" name="Freeform 38"/>
            <p:cNvSpPr/>
            <p:nvPr/>
          </p:nvSpPr>
          <p:spPr>
            <a:xfrm>
              <a:off x="10513695" y="3908108"/>
              <a:ext cx="501015" cy="752475"/>
            </a:xfrm>
            <a:custGeom>
              <a:avLst/>
              <a:gdLst/>
              <a:ahLst/>
              <a:cxnLst/>
              <a:rect l="l" t="t" r="r" b="b"/>
              <a:pathLst>
                <a:path w="501015" h="752475">
                  <a:moveTo>
                    <a:pt x="0" y="0"/>
                  </a:moveTo>
                  <a:lnTo>
                    <a:pt x="501015" y="752475"/>
                  </a:lnTo>
                </a:path>
              </a:pathLst>
            </a:custGeom>
            <a:noFill/>
            <a:ln w="17145">
              <a:solidFill>
                <a:srgbClr val="14A38B"/>
              </a:solidFill>
              <a:custDash>
                <a:ds d="333333" sp="222222"/>
              </a:custDash>
            </a:ln>
          </p:spPr>
        </p:sp>
        <p:sp>
          <p:nvSpPr>
            <p:cNvPr id="39" name="Ellipse 39"/>
            <p:cNvSpPr/>
            <p:nvPr/>
          </p:nvSpPr>
          <p:spPr>
            <a:xfrm>
              <a:off x="5561648" y="6062662"/>
              <a:ext cx="19050" cy="190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617970" y="2207895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7747635" y="2725102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8143875" y="463105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7622858" y="4137660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7014210" y="550735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6712268" y="4137660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5877878" y="445198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254490" y="3243262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10389870" y="3760470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9" name="Ellipse 49"/>
            <p:cNvSpPr/>
            <p:nvPr/>
          </p:nvSpPr>
          <p:spPr>
            <a:xfrm>
              <a:off x="10986135" y="4655820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0" name="Ellipse 50"/>
            <p:cNvSpPr/>
            <p:nvPr/>
          </p:nvSpPr>
          <p:spPr>
            <a:xfrm>
              <a:off x="9655492" y="445198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Ellipse 51"/>
            <p:cNvSpPr/>
            <p:nvPr/>
          </p:nvSpPr>
          <p:spPr>
            <a:xfrm>
              <a:off x="8821102" y="481012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2" name="Ellipse 52"/>
            <p:cNvSpPr/>
            <p:nvPr/>
          </p:nvSpPr>
          <p:spPr>
            <a:xfrm>
              <a:off x="9499282" y="550735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Ellipse 53"/>
            <p:cNvSpPr/>
            <p:nvPr/>
          </p:nvSpPr>
          <p:spPr>
            <a:xfrm>
              <a:off x="10258425" y="5149215"/>
              <a:ext cx="114300" cy="1143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1555988" y="6015990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531426" y="1564958"/>
              <a:ext cx="79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822758" y="2232184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952422" y="2750344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310562" y="463724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P3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789545" y="414385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180898" y="5512594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P5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78955" y="414385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P6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044565" y="445817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P7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459278" y="326755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P8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594658" y="378571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P9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190922" y="4681061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P10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822180" y="4458176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P11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987790" y="4816316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P12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9665970" y="5512594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P13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425112" y="5154454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P14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475123" cy="909257"/>
            <a:chOff x="520446" y="342900"/>
            <a:chExt cx="104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二维极大点问题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4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分治设计：中位线分成 SL 和 SR，递归求极大点，再按支配规则合并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554601" cy="2582514"/>
            <a:chOff x="533400" y="1533525"/>
            <a:chExt cx="4554601" cy="2582514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7706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419350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4931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3042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3780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分：中位线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41419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作垂直于 x 轴的中位线 L：点按 x 排序后取第 n/2 个点的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位置，分成 SL、SR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45364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治：递归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746534"/>
              <a:ext cx="414197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分别找出 SL 和 SR 的极大点；集合只有一个点时，它就是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极大点（递归出口）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33851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合：支配规则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632359"/>
              <a:ext cx="4068826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SL 的极大点 p 若 yp 小于 SR 中极大点的最大 y 值，p 被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支配，舍弃；SR 的极大点全部保留</a:t>
              </a:r>
            </a:p>
          </p:txBody>
        </p:sp>
      </p:grpSp>
      <p:grpSp>
        <p:nvGrpSpPr>
          <p:cNvPr id="27" name="c1-callout-2"/>
          <p:cNvGrpSpPr/>
          <p:nvPr/>
        </p:nvGrpSpPr>
        <p:grpSpPr>
          <a:xfrm>
            <a:off x="533400" y="4294822"/>
            <a:ext cx="4760595" cy="1059180"/>
            <a:chOff x="533400" y="4294822"/>
            <a:chExt cx="4760595" cy="1059180"/>
          </a:xfrm>
        </p:grpSpPr>
        <p:sp>
          <p:nvSpPr>
            <p:cNvPr id="21" name="Rectangle 21"/>
            <p:cNvSpPr/>
            <p:nvPr/>
          </p:nvSpPr>
          <p:spPr>
            <a:xfrm>
              <a:off x="533400" y="4294822"/>
              <a:ext cx="4760595" cy="1059180"/>
            </a:xfrm>
            <a:prstGeom prst="roundRect">
              <a:avLst>
                <a:gd name="adj" fmla="val 1079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4724400"/>
              <a:ext cx="200026" cy="200026"/>
              <a:chOff x="738188" y="4724400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472440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47910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482441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4443412"/>
              <a:ext cx="3853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中位线可以是任何曲线，选垂直于 x 轴的直线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最简单，这样 SL 中每个点的 x 值都小于 SR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中每个点的 x 值。</a:t>
              </a:r>
            </a:p>
          </p:txBody>
        </p:sp>
      </p:grpSp>
      <p:grpSp>
        <p:nvGrpSpPr>
          <p:cNvPr id="61" name="c2-graph-1"/>
          <p:cNvGrpSpPr/>
          <p:nvPr/>
        </p:nvGrpSpPr>
        <p:grpSpPr>
          <a:xfrm>
            <a:off x="5733098" y="1568291"/>
            <a:ext cx="5910691" cy="4057746"/>
            <a:chOff x="5733098" y="1568291"/>
            <a:chExt cx="5910691" cy="4057746"/>
          </a:xfrm>
        </p:grpSpPr>
        <p:sp>
          <p:nvSpPr>
            <p:cNvPr id="28" name="Freeform 28"/>
            <p:cNvSpPr/>
            <p:nvPr/>
          </p:nvSpPr>
          <p:spPr>
            <a:xfrm>
              <a:off x="5799772" y="5410200"/>
              <a:ext cx="5628322" cy="9525"/>
            </a:xfrm>
            <a:custGeom>
              <a:avLst/>
              <a:gdLst/>
              <a:ahLst/>
              <a:cxnLst/>
              <a:rect l="l" t="t" r="r" b="b"/>
              <a:pathLst>
                <a:path w="5628322" h="9525">
                  <a:moveTo>
                    <a:pt x="0" y="0"/>
                  </a:moveTo>
                  <a:lnTo>
                    <a:pt x="56283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1428095" y="53625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5780722" y="2098358"/>
              <a:ext cx="9525" cy="3292792"/>
            </a:xfrm>
            <a:custGeom>
              <a:avLst/>
              <a:gdLst/>
              <a:ahLst/>
              <a:cxnLst/>
              <a:rect l="l" t="t" r="r" b="b"/>
              <a:pathLst>
                <a:path w="9525" h="3292792">
                  <a:moveTo>
                    <a:pt x="0" y="329279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733098" y="200310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646795" y="2003108"/>
              <a:ext cx="9525" cy="3300412"/>
            </a:xfrm>
            <a:custGeom>
              <a:avLst/>
              <a:gdLst/>
              <a:ahLst/>
              <a:cxnLst/>
              <a:rect l="l" t="t" r="r" b="b"/>
              <a:pathLst>
                <a:path w="9525" h="3300412">
                  <a:moveTo>
                    <a:pt x="0" y="0"/>
                  </a:moveTo>
                  <a:lnTo>
                    <a:pt x="0" y="3300412"/>
                  </a:lnTo>
                </a:path>
              </a:pathLst>
            </a:custGeom>
            <a:noFill/>
            <a:ln w="22860">
              <a:solidFill>
                <a:srgbClr val="2F4B9A"/>
              </a:solidFill>
              <a:custDash>
                <a:ds d="250000" sp="166667"/>
              </a:custDash>
            </a:ln>
          </p:spPr>
        </p:sp>
        <p:sp>
          <p:nvSpPr>
            <p:cNvPr id="33" name="Freeform 33"/>
            <p:cNvSpPr/>
            <p:nvPr/>
          </p:nvSpPr>
          <p:spPr>
            <a:xfrm>
              <a:off x="5879782" y="3057525"/>
              <a:ext cx="3438525" cy="9525"/>
            </a:xfrm>
            <a:custGeom>
              <a:avLst/>
              <a:gdLst/>
              <a:ahLst/>
              <a:cxnLst/>
              <a:rect l="l" t="t" r="r" b="b"/>
              <a:pathLst>
                <a:path w="3438525" h="9525">
                  <a:moveTo>
                    <a:pt x="0" y="0"/>
                  </a:moveTo>
                  <a:lnTo>
                    <a:pt x="3438525" y="0"/>
                  </a:lnTo>
                </a:path>
              </a:pathLst>
            </a:custGeom>
            <a:noFill/>
            <a:ln w="17145">
              <a:solidFill>
                <a:srgbClr val="F26B3A"/>
              </a:solidFill>
              <a:custDash>
                <a:ds d="333333" sp="222222"/>
              </a:custDash>
            </a:ln>
          </p:spPr>
        </p:sp>
        <p:sp>
          <p:nvSpPr>
            <p:cNvPr id="34" name="Ellipse 34"/>
            <p:cNvSpPr/>
            <p:nvPr/>
          </p:nvSpPr>
          <p:spPr>
            <a:xfrm>
              <a:off x="5771198" y="5400675"/>
              <a:ext cx="19050" cy="190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Ellipse 35"/>
            <p:cNvSpPr/>
            <p:nvPr/>
          </p:nvSpPr>
          <p:spPr>
            <a:xfrm>
              <a:off x="6789420" y="2096452"/>
              <a:ext cx="152400" cy="1524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7880032" y="2539365"/>
              <a:ext cx="152400" cy="15240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8243888" y="4150995"/>
              <a:ext cx="152400" cy="15240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7769542" y="375856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7181850" y="492823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6890385" y="375856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Ellipse 41"/>
            <p:cNvSpPr/>
            <p:nvPr/>
          </p:nvSpPr>
          <p:spPr>
            <a:xfrm>
              <a:off x="6084570" y="4027170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Ellipse 42"/>
            <p:cNvSpPr/>
            <p:nvPr/>
          </p:nvSpPr>
          <p:spPr>
            <a:xfrm>
              <a:off x="9334500" y="2981325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3" name="Ellipse 43"/>
            <p:cNvSpPr/>
            <p:nvPr/>
          </p:nvSpPr>
          <p:spPr>
            <a:xfrm>
              <a:off x="10430828" y="3424238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4" name="Ellipse 44"/>
            <p:cNvSpPr/>
            <p:nvPr/>
          </p:nvSpPr>
          <p:spPr>
            <a:xfrm>
              <a:off x="11007090" y="4188142"/>
              <a:ext cx="152400" cy="15240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Ellipse 45"/>
            <p:cNvSpPr/>
            <p:nvPr/>
          </p:nvSpPr>
          <p:spPr>
            <a:xfrm>
              <a:off x="9732645" y="4027170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Ellipse 46"/>
            <p:cNvSpPr/>
            <p:nvPr/>
          </p:nvSpPr>
          <p:spPr>
            <a:xfrm>
              <a:off x="8926830" y="4332922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Ellipse 47"/>
            <p:cNvSpPr/>
            <p:nvPr/>
          </p:nvSpPr>
          <p:spPr>
            <a:xfrm>
              <a:off x="9581198" y="4928235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10314622" y="4622482"/>
              <a:ext cx="95250" cy="952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551491" y="5344478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734573" y="1830705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y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94208" y="2121694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084820" y="2563654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97907" y="4176236"/>
              <a:ext cx="39359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P3 舍弃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539288" y="300656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P8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635615" y="344852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P9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211878" y="4213384"/>
              <a:ext cx="20197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P10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47710" y="1568291"/>
              <a:ext cx="18530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SL 的极大点：P1、P2、P3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231612" y="1568291"/>
              <a:ext cx="19450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SR 的极大点：P8、P9、P10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62786" y="5420678"/>
              <a:ext cx="568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中位线 L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937391" y="2782729"/>
              <a:ext cx="126209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SR 中最大的 y（P8）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2" name="Rectangle 6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130" y="5991225"/>
              <a:ext cx="86378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SR 的极大点不会被 SL 中的点支配：SL 中的点 x 值都更小。所以合并时只需检查 SL 的极大点。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70710" cy="909257"/>
            <a:chOff x="520446" y="342900"/>
            <a:chExt cx="857071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二维极大点问题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7071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算法描述；若每次递归都重新排序，T(n) = Θ(n log²n)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card-1"/>
          <p:cNvGrpSpPr/>
          <p:nvPr/>
        </p:nvGrpSpPr>
        <p:grpSpPr>
          <a:xfrm>
            <a:off x="533400" y="1524000"/>
            <a:ext cx="4977765" cy="2893695"/>
            <a:chOff x="533400" y="1524000"/>
            <a:chExt cx="4977765" cy="28936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893695"/>
            </a:xfrm>
            <a:prstGeom prst="roundRect">
              <a:avLst>
                <a:gd name="adj" fmla="val 460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2699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489710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1705" y="1769269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分治法求二维极大点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478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input：n 个平面点的集合 S；output：S 的极大点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1050" y="24326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2899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2040" y="2446020"/>
              <a:ext cx="40443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 S 只有一个点，输出该点为极大点；否则寻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找中位线 L，把 S 划分为两个子集 SL 和 SR，使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每个子集含有 n/2 个点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1050" y="333946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42899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2040" y="3352800"/>
              <a:ext cx="25580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递归找出 SL 和 SR 的极大点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1050" y="367474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2899" y="37170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82040" y="3688080"/>
              <a:ext cx="40062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 SL 的每个极大点 p，如果 yp 小于 SR 中极大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点的 y 值（取最大者），舍弃点 p</a:t>
              </a:r>
            </a:p>
          </p:txBody>
        </p:sp>
      </p:grpSp>
      <p:grpSp>
        <p:nvGrpSpPr>
          <p:cNvPr id="28" name="c1-callout-2"/>
          <p:cNvGrpSpPr/>
          <p:nvPr/>
        </p:nvGrpSpPr>
        <p:grpSpPr>
          <a:xfrm>
            <a:off x="533400" y="4608195"/>
            <a:ext cx="4977765" cy="1456372"/>
            <a:chOff x="533400" y="4608195"/>
            <a:chExt cx="4977765" cy="1456372"/>
          </a:xfrm>
        </p:grpSpPr>
        <p:sp>
          <p:nvSpPr>
            <p:cNvPr id="22" name="Rectangle 22"/>
            <p:cNvSpPr/>
            <p:nvPr/>
          </p:nvSpPr>
          <p:spPr>
            <a:xfrm>
              <a:off x="533400" y="4608195"/>
              <a:ext cx="4977765" cy="1456372"/>
            </a:xfrm>
            <a:prstGeom prst="roundRect">
              <a:avLst>
                <a:gd name="adj" fmla="val 7848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235893"/>
              <a:ext cx="200026" cy="200026"/>
              <a:chOff x="738188" y="5235893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2358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38200" y="53025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27088" y="53359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130" y="5093018"/>
              <a:ext cx="39871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合并只需先扫一遍 SR 的极大点求出最大 y 值，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再扫一遍 SL 的极大点，O(n)。</a:t>
              </a:r>
            </a:p>
          </p:txBody>
        </p:sp>
      </p:grpSp>
      <p:grpSp>
        <p:nvGrpSpPr>
          <p:cNvPr id="48" name="c2-table-1"/>
          <p:cNvGrpSpPr/>
          <p:nvPr/>
        </p:nvGrpSpPr>
        <p:grpSpPr>
          <a:xfrm>
            <a:off x="5815965" y="1524000"/>
            <a:ext cx="5842635" cy="1795462"/>
            <a:chOff x="5815965" y="1524000"/>
            <a:chExt cx="5842635" cy="1795462"/>
          </a:xfrm>
        </p:grpSpPr>
        <p:sp>
          <p:nvSpPr>
            <p:cNvPr id="29" name="Rectangle 29"/>
            <p:cNvSpPr/>
            <p:nvPr/>
          </p:nvSpPr>
          <p:spPr>
            <a:xfrm>
              <a:off x="5815965" y="1524000"/>
              <a:ext cx="584263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4579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环节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14891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66161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23788" y="210835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741033" y="2108359"/>
              <a:ext cx="26235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对当前点集按 x 值排序，取中位线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130028" y="2108359"/>
              <a:ext cx="8739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5965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23788" y="255698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741033" y="2556986"/>
              <a:ext cx="13296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递归求解 SL、SR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30028" y="2556986"/>
              <a:ext cx="69513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2T(n/2)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23788" y="3005614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741033" y="3005614"/>
              <a:ext cx="26738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SR 的最大 y，扫描 SL 的极大点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130028" y="3005614"/>
              <a:ext cx="4382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1524000"/>
              <a:ext cx="5842635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628448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01744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formula30"/>
              <p:cNvSpPr txBox="1">
                <a:spLocks noGrp="1"/>
              </p:cNvSpPr>
              <p:nvPr/>
            </p:nvSpPr>
            <p:spPr>
              <a:xfrm>
                <a:off x="5815965" y="3509962"/>
                <a:ext cx="5842635" cy="10601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</m:func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&gt;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55" name="c2-card-3"/>
          <p:cNvGrpSpPr/>
          <p:nvPr/>
        </p:nvGrpSpPr>
        <p:grpSpPr>
          <a:xfrm>
            <a:off x="5815965" y="4760595"/>
            <a:ext cx="5842635" cy="1602105"/>
            <a:chOff x="5815965" y="4760595"/>
            <a:chExt cx="5842635" cy="1602105"/>
          </a:xfrm>
        </p:grpSpPr>
        <p:sp>
          <p:nvSpPr>
            <p:cNvPr id="50" name="Rectangle 50"/>
            <p:cNvSpPr/>
            <p:nvPr/>
          </p:nvSpPr>
          <p:spPr>
            <a:xfrm>
              <a:off x="5815965" y="4760595"/>
              <a:ext cx="5842635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25490" y="4893945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063615" y="497014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153823" y="500586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55995" y="5347335"/>
              <a:ext cx="5158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原课件在此处标注 Ω(n log n)，这只是下界。递归树第 i 层有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2ⁱ 个子问题，各排序 (n/2ⁱ)log(n/2ⁱ) 次量级，逐层相加得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cn[log n + (log n − 1) + … + 1] = Θ(n log²n)。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458436" cy="909257"/>
            <a:chOff x="520446" y="342900"/>
            <a:chExt cx="84584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二维极大点问题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4584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预排序：把排序移到递归之外，总时间降到 O(n log 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steps-1"/>
          <p:cNvGrpSpPr/>
          <p:nvPr/>
        </p:nvGrpSpPr>
        <p:grpSpPr>
          <a:xfrm>
            <a:off x="533400" y="1533525"/>
            <a:ext cx="4977257" cy="2112930"/>
            <a:chOff x="533400" y="1533525"/>
            <a:chExt cx="4977257" cy="2112930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1536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44880" y="156781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预处理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46023" y="1861661"/>
              <a:ext cx="38291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递归开始前按 x 值把全部点排序一次，O(n log n)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2218372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2512219"/>
              <a:ext cx="45646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子问题的点在排好的序列中是连续的一段，查询该序列确定中位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线，不超过 O(n)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3104198"/>
              <a:ext cx="2171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3397091"/>
              <a:ext cx="34954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 SR 的最大 y 值，扫描 SL 的极大点，O(n)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formula31"/>
              <p:cNvSpPr txBox="1">
                <a:spLocks noGrp="1"/>
              </p:cNvSpPr>
              <p:nvPr/>
            </p:nvSpPr>
            <p:spPr>
              <a:xfrm>
                <a:off x="533400" y="3825240"/>
                <a:ext cx="5410200" cy="156400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O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&gt;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7" name="c1-callout-3"/>
          <p:cNvGrpSpPr/>
          <p:nvPr/>
        </p:nvGrpSpPr>
        <p:grpSpPr>
          <a:xfrm>
            <a:off x="533400" y="5579745"/>
            <a:ext cx="5410200" cy="782955"/>
            <a:chOff x="533400" y="5579745"/>
            <a:chExt cx="5410200" cy="782955"/>
          </a:xfrm>
        </p:grpSpPr>
        <p:sp>
          <p:nvSpPr>
            <p:cNvPr id="22" name="Rectangle 22"/>
            <p:cNvSpPr/>
            <p:nvPr/>
          </p:nvSpPr>
          <p:spPr>
            <a:xfrm>
              <a:off x="533400" y="557974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04863" y="594899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130" y="5728335"/>
              <a:ext cx="4320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递归部分 T(n) = O(n log n)，加上预排序 O(n log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n)，总时间 O(n log n)，优于直接方法的 O(n²)。</a:t>
              </a:r>
            </a:p>
          </p:txBody>
        </p:sp>
      </p:grpSp>
      <p:grpSp>
        <p:nvGrpSpPr>
          <p:cNvPr id="42" name="c2-table-1"/>
          <p:cNvGrpSpPr/>
          <p:nvPr/>
        </p:nvGrpSpPr>
        <p:grpSpPr>
          <a:xfrm>
            <a:off x="6248400" y="1524000"/>
            <a:ext cx="5410200" cy="1950720"/>
            <a:chOff x="6248400" y="1524000"/>
            <a:chExt cx="5410200" cy="1950720"/>
          </a:xfrm>
        </p:grpSpPr>
        <p:sp>
          <p:nvSpPr>
            <p:cNvPr id="28" name="Rectangle 28"/>
            <p:cNvSpPr/>
            <p:nvPr/>
          </p:nvSpPr>
          <p:spPr>
            <a:xfrm>
              <a:off x="6248400" y="1524000"/>
              <a:ext cx="5410200" cy="4876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4569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50792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55080" y="21507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直接比较每一对点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68765" y="2150745"/>
              <a:ext cx="6277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24945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48400" y="2499360"/>
              <a:ext cx="5410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5080" y="263842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分治，每层重新排序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68765" y="2638425"/>
              <a:ext cx="103441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 log²n)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29822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55080" y="3126105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预排序 + 分治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68765" y="3126105"/>
              <a:ext cx="107467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19507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057322" y="1524000"/>
              <a:ext cx="9525" cy="19507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rd-2"/>
          <p:cNvGrpSpPr/>
          <p:nvPr/>
        </p:nvGrpSpPr>
        <p:grpSpPr>
          <a:xfrm>
            <a:off x="6248400" y="3665220"/>
            <a:ext cx="5410200" cy="1990725"/>
            <a:chOff x="6248400" y="3665220"/>
            <a:chExt cx="5410200" cy="1990725"/>
          </a:xfrm>
        </p:grpSpPr>
        <p:sp>
          <p:nvSpPr>
            <p:cNvPr id="43" name="Rectangle 43"/>
            <p:cNvSpPr/>
            <p:nvPr/>
          </p:nvSpPr>
          <p:spPr>
            <a:xfrm>
              <a:off x="6248400" y="3665220"/>
              <a:ext cx="5410200" cy="1990725"/>
            </a:xfrm>
            <a:prstGeom prst="roundRect">
              <a:avLst>
                <a:gd name="adj" fmla="val 66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57925" y="3798570"/>
              <a:ext cx="47625" cy="1724025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96050" y="3874770"/>
              <a:ext cx="3090862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4433" y="3910489"/>
              <a:ext cx="30931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思考：SL 和 SR 先求解哪一个更合理（补充）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88430" y="4251960"/>
              <a:ext cx="47015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先求 SR，得到 SR 中最大的 y 值 y*。SL 中 y 值小于 y*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的点一定被支配（它们的 x 值也更小），可以在递归求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 SL 之前就删掉，缩小 SL 的规模。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489573" y="5155406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这个做法减少实际工作量，但最坏情况下的时间阶不变。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579745" cy="2997517"/>
            <a:chOff x="667512" y="1835468"/>
            <a:chExt cx="5579745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分治法的优化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56983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分治法并非处处有效，效率低有两个来源，各有一条对策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8418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 1：子问题个数多，发生在“治”的环节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4962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 2：递归过程内工作量过多，发生在“分/合”的环节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优化思路：变多为少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2979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5008" y="407194"/>
              <a:ext cx="19865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分治法的优化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分治法为什么会慢，以及两条对应的优化策略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9324213" cy="293370"/>
            <a:chOff x="525780" y="1548765"/>
            <a:chExt cx="932421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93242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一些情况下分治法比蛮力法（直接求解）明显提高了效率，但并不是处处有效。优化思路是“变多为少”。</a:t>
              </a:r>
            </a:p>
          </p:txBody>
        </p:sp>
      </p:grpSp>
      <p:grpSp>
        <p:nvGrpSpPr>
          <p:cNvPr id="29" name="c1-flow-1"/>
          <p:cNvGrpSpPr/>
          <p:nvPr/>
        </p:nvGrpSpPr>
        <p:grpSpPr>
          <a:xfrm>
            <a:off x="793432" y="2081212"/>
            <a:ext cx="10605136" cy="1768793"/>
            <a:chOff x="793432" y="2081212"/>
            <a:chExt cx="10605136" cy="1768793"/>
          </a:xfrm>
        </p:grpSpPr>
        <p:sp>
          <p:nvSpPr>
            <p:cNvPr id="9" name="Freeform 9"/>
            <p:cNvSpPr/>
            <p:nvPr/>
          </p:nvSpPr>
          <p:spPr>
            <a:xfrm>
              <a:off x="3982402" y="248602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396740" y="24336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7690485" y="2486025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8104822" y="243363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982402" y="3548062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96740" y="34956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7690485" y="3548062"/>
              <a:ext cx="414338" cy="9525"/>
            </a:xfrm>
            <a:custGeom>
              <a:avLst/>
              <a:gdLst/>
              <a:ahLst/>
              <a:cxnLst/>
              <a:rect l="l" t="t" r="r" b="b"/>
              <a:pathLst>
                <a:path w="414338" h="9525">
                  <a:moveTo>
                    <a:pt x="0" y="0"/>
                  </a:moveTo>
                  <a:lnTo>
                    <a:pt x="414338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8104822" y="34956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93432" y="2273618"/>
              <a:ext cx="3188970" cy="424815"/>
            </a:xfrm>
            <a:prstGeom prst="roundRect">
              <a:avLst>
                <a:gd name="adj" fmla="val 17937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01515" y="2081212"/>
              <a:ext cx="3188970" cy="809625"/>
            </a:xfrm>
            <a:prstGeom prst="roundRect">
              <a:avLst>
                <a:gd name="adj" fmla="val 11765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8209598" y="2184082"/>
              <a:ext cx="3188970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3432" y="3246120"/>
              <a:ext cx="3188970" cy="603885"/>
            </a:xfrm>
            <a:prstGeom prst="roundRect">
              <a:avLst>
                <a:gd name="adj" fmla="val 12618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501515" y="3246120"/>
              <a:ext cx="3188970" cy="603885"/>
            </a:xfrm>
            <a:prstGeom prst="roundRect">
              <a:avLst>
                <a:gd name="adj" fmla="val 15773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8209598" y="3246120"/>
              <a:ext cx="3188970" cy="603885"/>
            </a:xfrm>
            <a:prstGeom prst="roundRect">
              <a:avLst>
                <a:gd name="adj" fmla="val 15773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343901" y="2402205"/>
              <a:ext cx="20880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 1：子问题个数多（治）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794504" y="2196465"/>
              <a:ext cx="2602992" cy="646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 1：找子问题之间的依赖关系，能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由其他子问题的解简单算出的，就不再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递归求解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502586" y="2299335"/>
              <a:ext cx="260299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斯特拉森：8 个子问题减为 7 个；归并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排序：减少小规模下的子问题个数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32142" y="3361372"/>
              <a:ext cx="251155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原因 2：递归过程内工作量过多（分/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805934" y="3361372"/>
              <a:ext cx="258013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策略 2：把某些工作提取到递归过程之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外预处理，减少递归内部的工作量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91156" y="3361372"/>
              <a:ext cx="2625852" cy="4404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2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二维极大点：预先按 x 值排序，求子问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题时查询该序列确定中位线</a:t>
              </a:r>
            </a:p>
          </p:txBody>
        </p:sp>
      </p:grpSp>
      <p:grpSp>
        <p:nvGrpSpPr>
          <p:cNvPr id="45" name="c1-table-2"/>
          <p:cNvGrpSpPr/>
          <p:nvPr/>
        </p:nvGrpSpPr>
        <p:grpSpPr>
          <a:xfrm>
            <a:off x="533400" y="4265295"/>
            <a:ext cx="11125200" cy="1290638"/>
            <a:chOff x="533400" y="4265295"/>
            <a:chExt cx="11125200" cy="1290638"/>
          </a:xfrm>
        </p:grpSpPr>
        <p:sp>
          <p:nvSpPr>
            <p:cNvPr id="30" name="Rectangle 30"/>
            <p:cNvSpPr/>
            <p:nvPr/>
          </p:nvSpPr>
          <p:spPr>
            <a:xfrm>
              <a:off x="533400" y="4265295"/>
              <a:ext cx="1112520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589722" y="43957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01756" y="43957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优化前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240393" y="43957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优化后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8746" y="4826317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斯特拉森矩阵乘法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086672" y="4826317"/>
              <a:ext cx="2013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8T(n/2) + O(n²) = O(n³)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425309" y="4826317"/>
              <a:ext cx="243169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7T(n/2) + O(n²) = O(n^log7)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12064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125402"/>
              <a:ext cx="1112520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8746" y="5256848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二维极大点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086672" y="5256848"/>
              <a:ext cx="264459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2T(n/2) + O(n log n) = Θ(n log²n)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25309" y="5256848"/>
              <a:ext cx="234096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2T(n/2) + O(n) = O(n log n)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4265295"/>
              <a:ext cx="11125200" cy="129063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2976562" y="426529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315200" y="4265295"/>
              <a:ext cx="9525" cy="129063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46" name="Rectangle 4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04084"/>
              <a:ext cx="68881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对递推式 T(n) = aT(n/b) + f(n) 来说，策略 1 是减小 a，策略 2 是减小 f(n)。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6679254" cy="2997517"/>
            <a:chOff x="667512" y="1835468"/>
            <a:chExt cx="6679254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第七部分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49047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主定理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6693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不必每次展开递推式，比较 f(n) 与 n^(log_b a) 的阶就能读出结果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主定理的三种情况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用递归树理解三种情况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用主定理分析本章的算法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71263" cy="909257"/>
            <a:chOff x="520446" y="342900"/>
            <a:chExt cx="73712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主定理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712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主定理：比较 f(n) 与 n^(log_b a) 谁的阶更高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10920855" cy="278702"/>
            <a:chOff x="526161" y="1547336"/>
            <a:chExt cx="10920855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1092085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 a ≥ 1、b &gt; 1 为常数，f(n) 为函数，T(n) 是定义在非负整数上的函数，且 T(n) = aT(n/b) + f(n)，则 T(n) 有如下渐近界：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32"/>
              <p:cNvSpPr txBox="1">
                <a:spLocks noGrp="1"/>
              </p:cNvSpPr>
              <p:nvPr/>
            </p:nvSpPr>
            <p:spPr>
              <a:xfrm>
                <a:off x="533400" y="1941195"/>
                <a:ext cx="5842635" cy="8086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1.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ε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&gt;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sub>
                                  </m:sSub>
                                </m:fNam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ε</m:t>
                              </m:r>
                            </m:sup>
                          </m:sSup>
                        </m:e>
                      </m:d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sub>
                                  </m:sSub>
                                </m:fNam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func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33"/>
              <p:cNvSpPr txBox="1">
                <a:spLocks noGrp="1"/>
              </p:cNvSpPr>
              <p:nvPr/>
            </p:nvSpPr>
            <p:spPr>
              <a:xfrm>
                <a:off x="533400" y="2925128"/>
                <a:ext cx="5842635" cy="8086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2.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sub>
                                  </m:sSub>
                                </m:fNam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func>
                            </m:sup>
                          </m:sSup>
                        </m:e>
                      </m:d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sub>
                                  </m:sSub>
                                </m:fNam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func>
                            </m:sup>
                          </m:sSup>
                          <m:func>
                            <m:funcPr/>
                            <m:fName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func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34"/>
              <p:cNvSpPr txBox="1">
                <a:spLocks noGrp="1"/>
              </p:cNvSpPr>
              <p:nvPr/>
            </p:nvSpPr>
            <p:spPr>
              <a:xfrm>
                <a:off x="533400" y="3909060"/>
                <a:ext cx="5842635" cy="8086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3.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ε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&gt;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0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=Ω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e>
                                    <m:sub>
                                      <m:r>
                                        <a:rPr lang="zh-CN" sz="150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b</m:t>
                                      </m:r>
                                    </m:sub>
                                  </m:sSub>
                                </m:fName>
                                <m:e>
                                  <m:r>
                                    <a:rPr lang="zh-CN" sz="150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ε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formula35"/>
              <p:cNvSpPr txBox="1">
                <a:spLocks noGrp="1"/>
              </p:cNvSpPr>
              <p:nvPr/>
            </p:nvSpPr>
            <p:spPr>
              <a:xfrm>
                <a:off x="533400" y="4893945"/>
                <a:ext cx="5842635" cy="8086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且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∃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 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&lt;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nor m:val="on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足够大时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/</m:t>
                          </m:r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≤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cf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⇒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 xml:space="preserve"> </m:t>
                      </m:r>
                      <m: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5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5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5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21" name="c2-kv-1"/>
          <p:cNvGrpSpPr/>
          <p:nvPr/>
        </p:nvGrpSpPr>
        <p:grpSpPr>
          <a:xfrm>
            <a:off x="6675120" y="1959769"/>
            <a:ext cx="4983480" cy="1361123"/>
            <a:chOff x="6675120" y="1959769"/>
            <a:chExt cx="4983480" cy="1361123"/>
          </a:xfrm>
        </p:grpSpPr>
        <p:sp>
          <p:nvSpPr>
            <p:cNvPr id="13" name="TextBox 13"/>
            <p:cNvSpPr txBox="1"/>
            <p:nvPr/>
          </p:nvSpPr>
          <p:spPr>
            <a:xfrm>
              <a:off x="6675120" y="19597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情况 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351395" y="1959769"/>
              <a:ext cx="4135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的数量级低于 n^(log_b a)，结果由子问题（叶子）决定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680835" y="221361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75120" y="2318861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情况 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1395" y="2318861"/>
              <a:ext cx="4263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的数量级等于 n^(log_b a)，每层代价同阶，再乘 log n 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680835" y="257270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675120" y="267795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情况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351395" y="2677954"/>
              <a:ext cx="4043934" cy="6429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6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的数量级高于 n^(log_b a)，结果由根上的分与合决定；条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 af(n/b) ≤ cf(n) 说明 a 个子问题的 f 之和不超过 f(n) 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常数倍</a:t>
              </a:r>
            </a:p>
          </p:txBody>
        </p:sp>
      </p:grpSp>
      <p:grpSp>
        <p:nvGrpSpPr>
          <p:cNvPr id="27" name="c2-card-2"/>
          <p:cNvGrpSpPr/>
          <p:nvPr/>
        </p:nvGrpSpPr>
        <p:grpSpPr>
          <a:xfrm>
            <a:off x="6680835" y="3451860"/>
            <a:ext cx="4977765" cy="1209675"/>
            <a:chOff x="6680835" y="3451860"/>
            <a:chExt cx="4977765" cy="1209675"/>
          </a:xfrm>
        </p:grpSpPr>
        <p:sp>
          <p:nvSpPr>
            <p:cNvPr id="22" name="Rectangle 22"/>
            <p:cNvSpPr/>
            <p:nvPr/>
          </p:nvSpPr>
          <p:spPr>
            <a:xfrm>
              <a:off x="6680835" y="3451860"/>
              <a:ext cx="4977765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690360" y="358521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911340" y="364426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002780" y="367855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04482" y="4000500"/>
              <a:ext cx="42313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原课件写作“T(n) 为非负整数”，应为定义在非负整数上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的函数；情况 3 的 ε 也须满足 ε &gt; 0。</a:t>
              </a:r>
            </a:p>
          </p:txBody>
        </p:sp>
      </p:grpSp>
      <p:grpSp>
        <p:nvGrpSpPr>
          <p:cNvPr id="34" name="c2-callout-3"/>
          <p:cNvGrpSpPr/>
          <p:nvPr/>
        </p:nvGrpSpPr>
        <p:grpSpPr>
          <a:xfrm>
            <a:off x="6680835" y="4836795"/>
            <a:ext cx="4977765" cy="729615"/>
            <a:chOff x="6680835" y="4836795"/>
            <a:chExt cx="4977765" cy="729615"/>
          </a:xfrm>
        </p:grpSpPr>
        <p:sp>
          <p:nvSpPr>
            <p:cNvPr id="28" name="Rectangle 28"/>
            <p:cNvSpPr/>
            <p:nvPr/>
          </p:nvSpPr>
          <p:spPr>
            <a:xfrm>
              <a:off x="6680835" y="4836795"/>
              <a:ext cx="497776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6885623" y="5101590"/>
              <a:ext cx="200026" cy="200025"/>
              <a:chOff x="6885623" y="5101590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6885623" y="51015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6925361" y="51460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6960077" y="52571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7188327" y="4982528"/>
              <a:ext cx="402564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例：T(n) = 2T(n/2) + n，f(n) = n 与 n^(log₂2) 同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阶，情况 2，Θ(n log n)。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5" name="Rectangle 3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892" y="6023610"/>
              <a:ext cx="102545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三种情况之间有空隙：f(n) 与 n^(log_b a) 只差对数因子时（如 a = b = 2、f(n) = n log n）主定理不适用，要用递归树求和。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主定理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用递归树理解主定理：每层代价构成等比数列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ree-1"/>
          <p:cNvGrpSpPr/>
          <p:nvPr/>
        </p:nvGrpSpPr>
        <p:grpSpPr>
          <a:xfrm>
            <a:off x="547688" y="1607820"/>
            <a:ext cx="5164454" cy="1479232"/>
            <a:chOff x="547688" y="1607820"/>
            <a:chExt cx="5164454" cy="1479232"/>
          </a:xfrm>
        </p:grpSpPr>
        <p:sp>
          <p:nvSpPr>
            <p:cNvPr id="7" name="Freeform 7"/>
            <p:cNvSpPr/>
            <p:nvPr/>
          </p:nvSpPr>
          <p:spPr>
            <a:xfrm>
              <a:off x="903922" y="2346960"/>
              <a:ext cx="741998" cy="549593"/>
            </a:xfrm>
            <a:custGeom>
              <a:avLst/>
              <a:gdLst/>
              <a:ahLst/>
              <a:cxnLst/>
              <a:rect l="l" t="t" r="r" b="b"/>
              <a:pathLst>
                <a:path w="741998" h="549593">
                  <a:moveTo>
                    <a:pt x="741998" y="0"/>
                  </a:moveTo>
                  <a:lnTo>
                    <a:pt x="0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645920" y="2346960"/>
              <a:ext cx="9525" cy="549593"/>
            </a:xfrm>
            <a:custGeom>
              <a:avLst/>
              <a:gdLst/>
              <a:ahLst/>
              <a:cxnLst/>
              <a:rect l="l" t="t" r="r" b="b"/>
              <a:pathLst>
                <a:path w="9525" h="549593">
                  <a:moveTo>
                    <a:pt x="0" y="0"/>
                  </a:moveTo>
                  <a:lnTo>
                    <a:pt x="0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1645920" y="2346960"/>
              <a:ext cx="741997" cy="549593"/>
            </a:xfrm>
            <a:custGeom>
              <a:avLst/>
              <a:gdLst/>
              <a:ahLst/>
              <a:cxnLst/>
              <a:rect l="l" t="t" r="r" b="b"/>
              <a:pathLst>
                <a:path w="741997" h="549593">
                  <a:moveTo>
                    <a:pt x="0" y="0"/>
                  </a:moveTo>
                  <a:lnTo>
                    <a:pt x="741997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871912" y="2346960"/>
              <a:ext cx="741997" cy="549593"/>
            </a:xfrm>
            <a:custGeom>
              <a:avLst/>
              <a:gdLst/>
              <a:ahLst/>
              <a:cxnLst/>
              <a:rect l="l" t="t" r="r" b="b"/>
              <a:pathLst>
                <a:path w="741997" h="549593">
                  <a:moveTo>
                    <a:pt x="741997" y="0"/>
                  </a:moveTo>
                  <a:lnTo>
                    <a:pt x="0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4613910" y="2346960"/>
              <a:ext cx="9525" cy="549593"/>
            </a:xfrm>
            <a:custGeom>
              <a:avLst/>
              <a:gdLst/>
              <a:ahLst/>
              <a:cxnLst/>
              <a:rect l="l" t="t" r="r" b="b"/>
              <a:pathLst>
                <a:path w="9525" h="549593">
                  <a:moveTo>
                    <a:pt x="0" y="0"/>
                  </a:moveTo>
                  <a:lnTo>
                    <a:pt x="0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613910" y="2346960"/>
              <a:ext cx="741997" cy="549593"/>
            </a:xfrm>
            <a:custGeom>
              <a:avLst/>
              <a:gdLst/>
              <a:ahLst/>
              <a:cxnLst/>
              <a:rect l="l" t="t" r="r" b="b"/>
              <a:pathLst>
                <a:path w="741997" h="549593">
                  <a:moveTo>
                    <a:pt x="0" y="0"/>
                  </a:moveTo>
                  <a:lnTo>
                    <a:pt x="741997" y="5495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645920" y="1798320"/>
              <a:ext cx="1483995" cy="548640"/>
            </a:xfrm>
            <a:custGeom>
              <a:avLst/>
              <a:gdLst/>
              <a:ahLst/>
              <a:cxnLst/>
              <a:rect l="l" t="t" r="r" b="b"/>
              <a:pathLst>
                <a:path w="1483995" h="548640">
                  <a:moveTo>
                    <a:pt x="1483995" y="0"/>
                  </a:moveTo>
                  <a:lnTo>
                    <a:pt x="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129915" y="1798320"/>
              <a:ext cx="9525" cy="548640"/>
            </a:xfrm>
            <a:custGeom>
              <a:avLst/>
              <a:gdLst/>
              <a:ahLst/>
              <a:cxnLst/>
              <a:rect l="l" t="t" r="r" b="b"/>
              <a:pathLst>
                <a:path w="9525" h="548640">
                  <a:moveTo>
                    <a:pt x="0" y="0"/>
                  </a:moveTo>
                  <a:lnTo>
                    <a:pt x="0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3129915" y="1798320"/>
              <a:ext cx="1483995" cy="548640"/>
            </a:xfrm>
            <a:custGeom>
              <a:avLst/>
              <a:gdLst/>
              <a:ahLst/>
              <a:cxnLst/>
              <a:rect l="l" t="t" r="r" b="b"/>
              <a:pathLst>
                <a:path w="1483995" h="548640">
                  <a:moveTo>
                    <a:pt x="0" y="0"/>
                  </a:moveTo>
                  <a:lnTo>
                    <a:pt x="1483995" y="5486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7688" y="2706052"/>
              <a:ext cx="71247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1455420" y="2706052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031682" y="2706052"/>
              <a:ext cx="71247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1325880" y="2156460"/>
              <a:ext cx="641032" cy="381000"/>
            </a:xfrm>
            <a:prstGeom prst="roundRect">
              <a:avLst>
                <a:gd name="adj" fmla="val 20000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939415" y="2156460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515678" y="2706052"/>
              <a:ext cx="71247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423410" y="2706052"/>
              <a:ext cx="381000" cy="381000"/>
            </a:xfrm>
            <a:prstGeom prst="roundRect">
              <a:avLst>
                <a:gd name="adj" fmla="val 20000"/>
              </a:avLst>
            </a:prstGeom>
            <a:solidFill>
              <a:srgbClr val="F4F6FB"/>
            </a:solidFill>
            <a:ln w="17145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99672" y="2706052"/>
              <a:ext cx="712470" cy="38100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2F4B9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4293870" y="2156460"/>
              <a:ext cx="641032" cy="381000"/>
            </a:xfrm>
            <a:prstGeom prst="roundRect">
              <a:avLst>
                <a:gd name="adj" fmla="val 20000"/>
              </a:avLst>
            </a:prstGeom>
            <a:solidFill>
              <a:srgbClr val="E8EDF8"/>
            </a:solidFill>
            <a:ln w="17145">
              <a:solidFill>
                <a:srgbClr val="2F4B9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2881312" y="1607820"/>
              <a:ext cx="497205" cy="381000"/>
            </a:xfrm>
            <a:prstGeom prst="roundRect">
              <a:avLst>
                <a:gd name="adj" fmla="val 20000"/>
              </a:avLst>
            </a:prstGeom>
            <a:solidFill>
              <a:srgbClr val="2F4B9A"/>
            </a:solidFill>
            <a:ln w="17145">
              <a:solidFill>
                <a:srgbClr val="2F4B9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2311" y="283606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f(n/b²)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02873" y="283606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16306" y="283606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f(n/b²)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412402" y="2286476"/>
              <a:ext cx="467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f(n/b)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086868" y="2286476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600301" y="283606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f(n/b²)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70863" y="2836069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…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084296" y="2836069"/>
              <a:ext cx="5432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f(n/b²)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80392" y="2286476"/>
              <a:ext cx="4670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43B7A"/>
                  </a:solidFill>
                  <a:latin typeface="+mn-lt"/>
                  <a:ea typeface="+mn-ea"/>
                  <a:cs typeface="+mn-cs"/>
                </a:rPr>
                <a:t>f(n/b)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972586" y="1737836"/>
              <a:ext cx="3146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</p:grpSp>
      <p:grpSp>
        <p:nvGrpSpPr>
          <p:cNvPr id="68" name="c1-table-2"/>
          <p:cNvGrpSpPr/>
          <p:nvPr/>
        </p:nvGrpSpPr>
        <p:grpSpPr>
          <a:xfrm>
            <a:off x="528066" y="3346132"/>
            <a:ext cx="5199316" cy="2308479"/>
            <a:chOff x="528066" y="3346132"/>
            <a:chExt cx="5199316" cy="2308479"/>
          </a:xfrm>
        </p:grpSpPr>
        <p:sp>
          <p:nvSpPr>
            <p:cNvPr id="37" name="Rectangle 37"/>
            <p:cNvSpPr/>
            <p:nvPr/>
          </p:nvSpPr>
          <p:spPr>
            <a:xfrm>
              <a:off x="533400" y="3346132"/>
              <a:ext cx="5193982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79983" y="347043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973974" y="34704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子问题数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227464" y="34704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每个规模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604779" y="34704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本层代价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11834" y="387619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234060" y="38761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3487550" y="387619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196715" y="387619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1529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33400" y="4157662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11834" y="428196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234060" y="428196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3404624" y="428196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n/b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196715" y="428196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· f(n/b)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455866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31623" y="4687729"/>
              <a:ext cx="58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192597" y="468772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aⁱ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3363161" y="4687729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n/bⁱ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196715" y="4687729"/>
              <a:ext cx="931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aⁱ · f(n/bⁱ)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49644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33400" y="4969192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90196" y="5093494"/>
              <a:ext cx="5417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log_b n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857124" y="5093494"/>
              <a:ext cx="848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n^(log_b a)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3487550" y="5093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4196715" y="5093494"/>
              <a:ext cx="11057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Θ(n^(log_b a))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533400" y="3346132"/>
              <a:ext cx="5193982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1584008" y="334613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2967990" y="334613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4091940" y="3346132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28066" y="5449252"/>
              <a:ext cx="29154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叶子层子问题个数 a^(log_b n) = n^(log_b a)</a:t>
              </a:r>
            </a:p>
          </p:txBody>
        </p:sp>
      </p:grpSp>
      <p:grpSp>
        <p:nvGrpSpPr>
          <p:cNvPr id="75" name="c2-card-1"/>
          <p:cNvGrpSpPr/>
          <p:nvPr/>
        </p:nvGrpSpPr>
        <p:grpSpPr>
          <a:xfrm>
            <a:off x="6032182" y="1524000"/>
            <a:ext cx="5626418" cy="1473518"/>
            <a:chOff x="6032182" y="1524000"/>
            <a:chExt cx="5626418" cy="1473518"/>
          </a:xfrm>
        </p:grpSpPr>
        <p:sp>
          <p:nvSpPr>
            <p:cNvPr id="69" name="Rectangle 69"/>
            <p:cNvSpPr/>
            <p:nvPr/>
          </p:nvSpPr>
          <p:spPr>
            <a:xfrm>
              <a:off x="6032182" y="1524000"/>
              <a:ext cx="5626418" cy="1473518"/>
            </a:xfrm>
            <a:prstGeom prst="roundRect">
              <a:avLst>
                <a:gd name="adj" fmla="val 90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6041708" y="1657350"/>
              <a:ext cx="47625" cy="120681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Rectangle 71"/>
            <p:cNvSpPr/>
            <p:nvPr/>
          </p:nvSpPr>
          <p:spPr>
            <a:xfrm>
              <a:off x="6262688" y="1716405"/>
              <a:ext cx="1941195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6304820" y="1750695"/>
              <a:ext cx="185693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简化形式（f(n) = Θ(n^d)）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6255830" y="2072640"/>
              <a:ext cx="484860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f(n) = Θ(nᵈ)，第 i 层代价为 nᵈ · (a/bᵈ)ⁱ，是公比为 a/bᵈ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的等比数列。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256972" y="2629376"/>
              <a:ext cx="5167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是子问题个数，b 是原问题与子问题的规模比，f(n) 是分与合所需的时间。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formula36"/>
              <p:cNvSpPr txBox="1">
                <a:spLocks noGrp="1"/>
              </p:cNvSpPr>
              <p:nvPr/>
            </p:nvSpPr>
            <p:spPr>
              <a:xfrm>
                <a:off x="6032182" y="3171825"/>
                <a:ext cx="5626418" cy="13925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65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 m:val="on"/>
                          <m:ctrlPr>
                            <a:rPr lang="zh-CN" sz="165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eqArr>
                            <m:eqArrPr>
                              <m:baseJc m:val="center"/>
                            </m:eqArrPr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  <m:sup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&lt;</m:t>
                              </m:r>
                              <m:sSup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p>
                              </m:sSup>
                            </m: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  <m:sup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d</m:t>
                                      </m:r>
                                    </m:sup>
                                  </m:sSup>
                                  <m:func>
                                    <m:funcPr/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</m:func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sSup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p>
                              </m:sSup>
                            </m:e>
                            <m:e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&amp;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Θ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p>
                                    <m:e>
                                      <m:r>
                                        <a:rPr lang="zh-CN" sz="165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  <m:sup>
                                      <m:func>
                                        <m:funcPr/>
                                        <m:fName>
                                          <m:sSub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zh-CN" sz="165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log</m:t>
                                              </m:r>
                                            </m:e>
                                            <m:sub>
                                              <m:r>
                                                <a:rPr lang="zh-CN" sz="1650" dirty="0">
                                                  <a:solidFill>
                                                    <a:srgbClr val="1F2937"/>
                                                  </a:solidFill>
                                                  <a:latin typeface="Cambria Math"/>
                                                  <a:ea typeface="Cambria Math"/>
                                                  <a:cs typeface="Cambria Math"/>
                                                </a:rPr>
                                                <m:t>b</m:t>
                                              </m:r>
                                            </m:sub>
                                          </m:sSub>
                                        </m:fName>
                                        <m:e>
                                          <m:r>
                                            <a:rPr lang="zh-CN" sz="165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a</m:t>
                                          </m:r>
                                        </m:e>
                                      </m:func>
                                    </m:sup>
                                  </m:sSup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 </m:t>
                              </m:r>
                              <m: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zh-CN" sz="165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&gt;</m:t>
                              </m:r>
                              <m:sSup>
                                <m:e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b</m:t>
                                  </m:r>
                                </m:e>
                                <m:sup>
                                  <m:r>
                                    <a:rPr lang="zh-CN" sz="165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d</m:t>
                                  </m:r>
                                </m:sup>
                              </m:sSup>
                            </m:e>
                          </m:eqArr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96" name="c2-table-3"/>
          <p:cNvGrpSpPr/>
          <p:nvPr/>
        </p:nvGrpSpPr>
        <p:grpSpPr>
          <a:xfrm>
            <a:off x="6032182" y="4739640"/>
            <a:ext cx="5626418" cy="1623060"/>
            <a:chOff x="6032182" y="4739640"/>
            <a:chExt cx="5626418" cy="1623060"/>
          </a:xfrm>
        </p:grpSpPr>
        <p:sp>
          <p:nvSpPr>
            <p:cNvPr id="77" name="Rectangle 77"/>
            <p:cNvSpPr/>
            <p:nvPr/>
          </p:nvSpPr>
          <p:spPr>
            <a:xfrm>
              <a:off x="6032182" y="4739640"/>
              <a:ext cx="5626418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353124" y="4863941"/>
              <a:ext cx="7087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公比 a/bᵈ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162087" y="486394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哪一层占主导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0573699" y="4863941"/>
              <a:ext cx="369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6132195" y="5269706"/>
              <a:ext cx="233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 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482840" y="526970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0 层（根）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9958388" y="5269706"/>
              <a:ext cx="437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Θ(nᵈ)</a:t>
              </a:r>
            </a:p>
          </p:txBody>
        </p:sp>
        <p:sp>
          <p:nvSpPr>
            <p:cNvPr id="84" name="Rectangle 84"/>
            <p:cNvSpPr/>
            <p:nvPr/>
          </p:nvSpPr>
          <p:spPr>
            <a:xfrm>
              <a:off x="6032182" y="554640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5" name="Rectangle 85"/>
            <p:cNvSpPr/>
            <p:nvPr/>
          </p:nvSpPr>
          <p:spPr>
            <a:xfrm>
              <a:off x="6032182" y="555117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6132195" y="5675471"/>
              <a:ext cx="233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482840" y="5675471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每层都是 nᵈ，共约 log_b n 层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958388" y="5675471"/>
              <a:ext cx="8180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Θ(nᵈ log n)</a:t>
              </a:r>
            </a:p>
          </p:txBody>
        </p:sp>
        <p:sp>
          <p:nvSpPr>
            <p:cNvPr id="89" name="Rectangle 89"/>
            <p:cNvSpPr/>
            <p:nvPr/>
          </p:nvSpPr>
          <p:spPr>
            <a:xfrm>
              <a:off x="6032182" y="59521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132195" y="6081236"/>
              <a:ext cx="2330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 1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7482840" y="608123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最后一层（叶子）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9958388" y="6081236"/>
              <a:ext cx="11057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Θ(n^(log_b a))</a:t>
              </a:r>
            </a:p>
          </p:txBody>
        </p:sp>
        <p:sp>
          <p:nvSpPr>
            <p:cNvPr id="93" name="Rectangle 93"/>
            <p:cNvSpPr/>
            <p:nvPr/>
          </p:nvSpPr>
          <p:spPr>
            <a:xfrm>
              <a:off x="6032182" y="4739640"/>
              <a:ext cx="5626418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94" name="Rectangle 94"/>
            <p:cNvSpPr/>
            <p:nvPr/>
          </p:nvSpPr>
          <p:spPr>
            <a:xfrm>
              <a:off x="7378065" y="47396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5" name="Rectangle 95"/>
            <p:cNvSpPr/>
            <p:nvPr/>
          </p:nvSpPr>
          <p:spPr>
            <a:xfrm>
              <a:off x="9853612" y="47396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7" name="TextBox 97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主定理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用主定理分析本章的算法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0" name="c1-table-1"/>
          <p:cNvGrpSpPr/>
          <p:nvPr/>
        </p:nvGrpSpPr>
        <p:grpSpPr>
          <a:xfrm>
            <a:off x="533400" y="1524000"/>
            <a:ext cx="11125200" cy="2971800"/>
            <a:chOff x="533400" y="1524000"/>
            <a:chExt cx="11125200" cy="29718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47828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78808" y="165258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递推式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077216" y="1652588"/>
              <a:ext cx="92935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与 bᵈ 比较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15555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结果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07645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60929" y="2076450"/>
              <a:ext cx="16824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T(n/2) + Θ(1)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198489" y="2076450"/>
              <a:ext cx="14257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1 = 2⁰（d = 0）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091232" y="2076450"/>
              <a:ext cx="6493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372678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25012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860929" y="2501265"/>
              <a:ext cx="156758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2T(n/2) + cn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198489" y="2501265"/>
              <a:ext cx="14257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2 = 2¹（d = 1）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091232" y="2501265"/>
              <a:ext cx="786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 log n)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27927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2926080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普通分块矩阵乘法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60929" y="2926080"/>
              <a:ext cx="18560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8T(n/2) + Θ(n²)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198489" y="2926080"/>
              <a:ext cx="1013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8 &gt; 2² = 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091232" y="2926080"/>
              <a:ext cx="1423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Θ(n^log8) = Θ(n³)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3216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322135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3349942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斯特拉森矩阵乘法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860929" y="3349942"/>
              <a:ext cx="18560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7T(n/2) + Θ(n²)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198489" y="3349942"/>
              <a:ext cx="10137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7 &gt; 2² = 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998268" y="3230880"/>
              <a:ext cx="2650808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1232" y="3349942"/>
              <a:ext cx="178508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Θ(n^log7) ≈ Θ(n^2.81)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364140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889" y="3774757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极大点（预排序）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860929" y="3774757"/>
              <a:ext cx="17979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2T(n/2) + O(n)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98489" y="3774757"/>
              <a:ext cx="14257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2 = 2¹（d = 1）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1232" y="3774757"/>
              <a:ext cx="8193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33400" y="40662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33400" y="407098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35889" y="4198620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极大点（每层排序）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60929" y="4198620"/>
              <a:ext cx="21643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2T(n/2) + Θ(n log n)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105525" y="4080510"/>
              <a:ext cx="2873692" cy="4057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98489" y="4198620"/>
              <a:ext cx="230611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不是 nᵈ 形式，落在空隙中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91232" y="4198620"/>
              <a:ext cx="18457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递归树求和得 Θ(n log²n)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1524000"/>
              <a:ext cx="11125200" cy="297084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2753678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091238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983980" y="1524000"/>
              <a:ext cx="9525" cy="297084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1-card-2"/>
          <p:cNvGrpSpPr/>
          <p:nvPr/>
        </p:nvGrpSpPr>
        <p:grpSpPr>
          <a:xfrm>
            <a:off x="533400" y="4674870"/>
            <a:ext cx="11208832" cy="1012508"/>
            <a:chOff x="533400" y="4674870"/>
            <a:chExt cx="11208832" cy="1012508"/>
          </a:xfrm>
        </p:grpSpPr>
        <p:sp>
          <p:nvSpPr>
            <p:cNvPr id="51" name="Rectangle 51"/>
            <p:cNvSpPr/>
            <p:nvPr/>
          </p:nvSpPr>
          <p:spPr>
            <a:xfrm>
              <a:off x="533400" y="4674870"/>
              <a:ext cx="11125200" cy="1012508"/>
            </a:xfrm>
            <a:prstGeom prst="roundRect">
              <a:avLst>
                <a:gd name="adj" fmla="val 131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542925" y="4808220"/>
              <a:ext cx="47625" cy="74580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69620" y="487299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61060" y="490728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2381" y="5234464"/>
              <a:ext cx="1097985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原课件第 61 页的 O(nlog⁷) 应为 O(n^(log 7))；第 62 页的 Θ(n^(log_bᵃ)) 应为 Θ(n^(log_b a))。本讲义中 log 都以 2 为底。</a:t>
              </a:r>
            </a:p>
          </p:txBody>
        </p:sp>
      </p:grpSp>
      <p:grpSp>
        <p:nvGrpSpPr>
          <p:cNvPr id="6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7" name="Rectangle 5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1228"/>
              <a:ext cx="200026" cy="200025"/>
              <a:chOff x="738188" y="6011228"/>
              <a:chExt cx="200026" cy="200025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738188" y="601122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77926" y="605567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12642" y="616680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11704"/>
              <a:ext cx="99070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套用步骤：读出 a、b、f(n)，比较 f(n) 与 n^(log_b a) 的阶，按情况写结果；情况 3 还要验证 af(n/b) ≤ cf(n)。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725928" cy="909257"/>
            <a:chOff x="520446" y="342900"/>
            <a:chExt cx="77259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主定理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7259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练习：用展开法和主定理求 T(n) = 3T(n/2) + cn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483215" cy="569595"/>
            <a:chOff x="525780" y="1548765"/>
            <a:chExt cx="1048321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4832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 T(1) = c，n = 2ᵏ。把问题分成 3 个规模为 n/2 的子问题、分与合用线性时间的分治算法（如大整数乘法的 Karatsuba 算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法）就满足这个递推式。</a:t>
              </a:r>
            </a:p>
          </p:txBody>
        </p:sp>
      </p:grpSp>
      <p:grpSp>
        <p:nvGrpSpPr>
          <p:cNvPr id="10" name="c1-text-1"/>
          <p:cNvGrpSpPr/>
          <p:nvPr/>
        </p:nvGrpSpPr>
        <p:grpSpPr>
          <a:xfrm>
            <a:off x="526161" y="2254091"/>
            <a:ext cx="1352601" cy="278702"/>
            <a:chOff x="526161" y="2254091"/>
            <a:chExt cx="1352601" cy="278702"/>
          </a:xfrm>
        </p:grpSpPr>
        <p:sp>
          <p:nvSpPr>
            <p:cNvPr id="9" name="TextBox 9"/>
            <p:cNvSpPr txBox="1"/>
            <p:nvPr/>
          </p:nvSpPr>
          <p:spPr>
            <a:xfrm>
              <a:off x="526161" y="225409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方法一：展开法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37"/>
              <p:cNvSpPr txBox="1">
                <a:spLocks noGrp="1"/>
              </p:cNvSpPr>
              <p:nvPr/>
            </p:nvSpPr>
            <p:spPr>
              <a:xfrm>
                <a:off x="533400" y="2662238"/>
                <a:ext cx="6059805" cy="27584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l"/>
                <a14:m>
                  <m:oMathPara xmlns:a="http://schemas.openxmlformats.org/drawingml/2006/main" xmlns:m="http://schemas.openxmlformats.org/officeDocument/2006/math">
                    <m:oMathParaPr>
                      <m:jc m:val="left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cn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/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=⋯=</m:t>
                          </m:r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p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cn</m:t>
                          </m:r>
                          <m:nary>
                            <m:naryPr>
                              <m:chr m:val="∑"/>
                              <m:limLoc m:val="undOvr"/>
                              <m:grow m:val="off"/>
                              <m:subHide m:val="off"/>
                              <m:supHide m:val="off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  <m:ctrl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num>
                                        <m:den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p>
                              </m:sSup>
                            </m:e>
                          </m:nary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⋅</m:t>
                          </m:r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2cn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 m:val="on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type m:val="bar"/>
                                          <m:ctrl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3</m:t>
                                          </m:r>
                                        </m:num>
                                        <m:den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−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3c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⋅</m:t>
                          </m:r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2cn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3c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func>
                                <m:funcPr/>
                                <m:fName>
                                  <m:r>
                                    <m:rPr>
                                      <m:sty m:val="p"/>
                                    </m:r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3</m:t>
                                  </m:r>
                                </m:e>
                              </m:func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2cn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7" name="c1-callout-3"/>
          <p:cNvGrpSpPr/>
          <p:nvPr/>
        </p:nvGrpSpPr>
        <p:grpSpPr>
          <a:xfrm>
            <a:off x="533400" y="5606415"/>
            <a:ext cx="6059805" cy="756285"/>
            <a:chOff x="533400" y="5606415"/>
            <a:chExt cx="6059805" cy="756285"/>
          </a:xfrm>
        </p:grpSpPr>
        <p:sp>
          <p:nvSpPr>
            <p:cNvPr id="12" name="Rectangle 12"/>
            <p:cNvSpPr/>
            <p:nvPr/>
          </p:nvSpPr>
          <p:spPr>
            <a:xfrm>
              <a:off x="533400" y="5606415"/>
              <a:ext cx="6059805" cy="756285"/>
            </a:xfrm>
            <a:prstGeom prst="roundRect">
              <a:avLst>
                <a:gd name="adj" fmla="val 15113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04863" y="596233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040511" y="5753576"/>
              <a:ext cx="490169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T(n) = Θ(n^log3) ≈ Θ(n^1.585)。验算 n = 2：3T(1) + 2c =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5c，公式给出 3c·3 − 2c·2 = 5c。</a:t>
              </a:r>
            </a:p>
          </p:txBody>
        </p:sp>
      </p:grpSp>
      <p:grpSp>
        <p:nvGrpSpPr>
          <p:cNvPr id="19" name="c2-text-1"/>
          <p:cNvGrpSpPr/>
          <p:nvPr/>
        </p:nvGrpSpPr>
        <p:grpSpPr>
          <a:xfrm>
            <a:off x="6890766" y="2254091"/>
            <a:ext cx="1352601" cy="278702"/>
            <a:chOff x="6890766" y="2254091"/>
            <a:chExt cx="1352601" cy="278702"/>
          </a:xfrm>
        </p:grpSpPr>
        <p:sp>
          <p:nvSpPr>
            <p:cNvPr id="18" name="TextBox 18"/>
            <p:cNvSpPr txBox="1"/>
            <p:nvPr/>
          </p:nvSpPr>
          <p:spPr>
            <a:xfrm>
              <a:off x="6890766" y="2254091"/>
              <a:ext cx="135260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方法二：主定理</a:t>
              </a:r>
            </a:p>
          </p:txBody>
        </p:sp>
      </p:grpSp>
      <p:grpSp>
        <p:nvGrpSpPr>
          <p:cNvPr id="33" name="c2-steps-2"/>
          <p:cNvGrpSpPr/>
          <p:nvPr/>
        </p:nvGrpSpPr>
        <p:grpSpPr>
          <a:xfrm>
            <a:off x="6898005" y="2671762"/>
            <a:ext cx="4068470" cy="1790129"/>
            <a:chOff x="6898005" y="2671762"/>
            <a:chExt cx="4068470" cy="1790129"/>
          </a:xfrm>
        </p:grpSpPr>
        <p:sp>
          <p:nvSpPr>
            <p:cNvPr id="20" name="Rectangle 20"/>
            <p:cNvSpPr/>
            <p:nvPr/>
          </p:nvSpPr>
          <p:spPr>
            <a:xfrm>
              <a:off x="7031355" y="2814638"/>
              <a:ext cx="19050" cy="1242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6898005" y="267176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91629" y="274558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898005" y="329279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991629" y="336661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898005" y="391382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991629" y="39876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09866" y="270462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读出参数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11009" y="2985135"/>
              <a:ext cx="29488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3，b = 2，f(n) = cn = Θ(n¹)，d = 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309866" y="332565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11009" y="3606165"/>
              <a:ext cx="26938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bᵈ = 2 &lt; a = 3，即 log₂3 ≈ 1.585 &gt; d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09866" y="3946684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写结果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311009" y="4227195"/>
              <a:ext cx="36554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 1（简化形式 a &gt; bᵈ），T(n) = Θ(n^(log 3))</a:t>
              </a:r>
            </a:p>
          </p:txBody>
        </p:sp>
      </p:grpSp>
      <p:grpSp>
        <p:nvGrpSpPr>
          <p:cNvPr id="39" name="c2-card-3"/>
          <p:cNvGrpSpPr/>
          <p:nvPr/>
        </p:nvGrpSpPr>
        <p:grpSpPr>
          <a:xfrm>
            <a:off x="6898005" y="4637722"/>
            <a:ext cx="4760595" cy="1545908"/>
            <a:chOff x="6898005" y="4637722"/>
            <a:chExt cx="4760595" cy="1545908"/>
          </a:xfrm>
        </p:grpSpPr>
        <p:sp>
          <p:nvSpPr>
            <p:cNvPr id="34" name="Rectangle 34"/>
            <p:cNvSpPr/>
            <p:nvPr/>
          </p:nvSpPr>
          <p:spPr>
            <a:xfrm>
              <a:off x="6898005" y="4637722"/>
              <a:ext cx="4760595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907530" y="4771072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139940" y="4841558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213397" y="487727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递归树的视角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32701" y="5214461"/>
              <a:ext cx="403606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i 层代价 cn·(3/2)ⁱ，公比 3/2 &gt; 1，越往下越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大；最底层有 3ᵏ = n^(log 3) 个叶子，总代价由叶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子层决定。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16024" cy="909257"/>
            <a:chOff x="520446" y="342900"/>
            <a:chExt cx="171602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 · 主定理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557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85900"/>
            <a:chOff x="533400" y="1524000"/>
            <a:chExt cx="541020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9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3232" y="2054542"/>
              <a:ext cx="4756880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12 时 BINSRCH 成功查找最多比较几次？不成功查找比较几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3232" y="2612708"/>
              <a:ext cx="4975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2³ ≤ 12 &lt; 2⁴，k = 4。成功最多 4 次；不成功 3 或 4 次。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179445"/>
            <a:ext cx="5410200" cy="1485900"/>
            <a:chOff x="533400" y="3179445"/>
            <a:chExt cx="5410200" cy="1485900"/>
          </a:xfrm>
        </p:grpSpPr>
        <p:sp>
          <p:nvSpPr>
            <p:cNvPr id="13" name="Rectangle 13"/>
            <p:cNvSpPr/>
            <p:nvPr/>
          </p:nvSpPr>
          <p:spPr>
            <a:xfrm>
              <a:off x="533400" y="3179445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0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09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3232" y="3710940"/>
              <a:ext cx="43192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MERGESORT(1, 6) 依次以哪些 (low, mid, high) 调用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3232" y="4268152"/>
              <a:ext cx="47843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(1,1,2)、(1,2,3)、(4,4,5)、(4,5,6)、(1,3,6)。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835842"/>
            <a:ext cx="5410200" cy="1485900"/>
            <a:chOff x="533400" y="4835842"/>
            <a:chExt cx="5410200" cy="1485900"/>
          </a:xfrm>
        </p:grpSpPr>
        <p:sp>
          <p:nvSpPr>
            <p:cNvPr id="19" name="Rectangle 19"/>
            <p:cNvSpPr/>
            <p:nvPr/>
          </p:nvSpPr>
          <p:spPr>
            <a:xfrm>
              <a:off x="533400" y="4835842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5022532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9547" y="5055394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3232" y="5366385"/>
              <a:ext cx="50424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用主定理求 T(n) = 4T(n/2) + n² 与 T(n) = 3T(n/4) + n。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3232" y="5666423"/>
              <a:ext cx="48592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 a = 4 = 2²，Θ(n² log n)；后者 a = 3 &lt; 4，Θ(n)。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485900"/>
            <a:chOff x="6248400" y="1524000"/>
            <a:chExt cx="5410200" cy="1485900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485900"/>
            </a:xfrm>
            <a:prstGeom prst="roundRect">
              <a:avLst>
                <a:gd name="adj" fmla="val 89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35090" y="1710690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4547" y="1743551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28232" y="2054542"/>
              <a:ext cx="38503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12 的比较树 I = 25，求 E、S(n)、U(n)。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28232" y="2355532"/>
              <a:ext cx="434282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= I + 2n = 49；S(n) = 25/12 + 1 = 37/12；U(n)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49/13。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3179445"/>
            <a:ext cx="5410200" cy="1228725"/>
            <a:chOff x="6248400" y="3179445"/>
            <a:chExt cx="5410200" cy="1228725"/>
          </a:xfrm>
        </p:grpSpPr>
        <p:sp>
          <p:nvSpPr>
            <p:cNvPr id="31" name="Rectangle 31"/>
            <p:cNvSpPr/>
            <p:nvPr/>
          </p:nvSpPr>
          <p:spPr>
            <a:xfrm>
              <a:off x="6248400" y="3179445"/>
              <a:ext cx="5410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35090" y="3366135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4547" y="3398996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28232" y="3710940"/>
              <a:ext cx="45948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合并两个各含 4 个元素的有序段，最少、最多比较几次？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28232" y="4010977"/>
              <a:ext cx="47933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最少 4 次（一段全部小于另一段的排头），最多 7 次。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578668"/>
            <a:ext cx="5410200" cy="1743075"/>
            <a:chOff x="6248400" y="4578668"/>
            <a:chExt cx="5410200" cy="1743075"/>
          </a:xfrm>
        </p:grpSpPr>
        <p:sp>
          <p:nvSpPr>
            <p:cNvPr id="37" name="Rectangle 37"/>
            <p:cNvSpPr/>
            <p:nvPr/>
          </p:nvSpPr>
          <p:spPr>
            <a:xfrm>
              <a:off x="6248400" y="4578668"/>
              <a:ext cx="5410200" cy="1743075"/>
            </a:xfrm>
            <a:prstGeom prst="roundRect">
              <a:avLst>
                <a:gd name="adj" fmla="val 765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35090" y="4765358"/>
              <a:ext cx="379095" cy="23812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4547" y="4798219"/>
              <a:ext cx="2001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28232" y="5109210"/>
              <a:ext cx="4606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点集 {(1,5), (2,3), (4,4), (3,1), (5,2)} 以 x ≤ 2 为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SL 分治，结果是？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28232" y="5666423"/>
              <a:ext cx="47285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SR 的极大点 (4,4)、(5,2)，最大 y = 4；SL 中 (2,3) 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舍弃。结果 (1,5)、(4,4)、(5,2)。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10490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5916" y="4071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第4章 分治法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3" name="c1-table-1"/>
          <p:cNvGrpSpPr/>
          <p:nvPr/>
        </p:nvGrpSpPr>
        <p:grpSpPr>
          <a:xfrm>
            <a:off x="533400" y="1524000"/>
            <a:ext cx="6492240" cy="2228850"/>
            <a:chOff x="533400" y="1524000"/>
            <a:chExt cx="6492240" cy="22288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6079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35390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33648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931905" y="164830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219546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时间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33412" y="215407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二分查找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02130" y="2154079"/>
              <a:ext cx="1051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取中间下标 mid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229927" y="2054066"/>
              <a:ext cx="88620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只解 1 个子问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98645" y="215407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不需要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827395" y="2154079"/>
              <a:ext cx="6061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Θ(log n)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53079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53555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26598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归并排序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802130" y="265985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对半分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229927" y="2659856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个子问题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398645" y="2659856"/>
              <a:ext cx="1004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MERGE，O(n)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827395" y="2659856"/>
              <a:ext cx="7343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 log n)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293655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3412" y="30656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02130" y="3065621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分成 4 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229927" y="3065621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个子问题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398645" y="3065621"/>
              <a:ext cx="1200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次加减，O(n²)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827395" y="3065621"/>
              <a:ext cx="724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O(n².81)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334232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533400" y="3347085"/>
              <a:ext cx="649224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3412" y="347138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二维极大点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802130" y="3471386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x 取中位线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29927" y="3471386"/>
              <a:ext cx="7426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个子问题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398645" y="3471386"/>
              <a:ext cx="8358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扫描，O(n)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827395" y="3471386"/>
              <a:ext cx="7648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1524000"/>
              <a:ext cx="6492240" cy="22288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1697355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3125152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4293870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722620" y="1524000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1-bullets-2"/>
          <p:cNvGrpSpPr/>
          <p:nvPr/>
        </p:nvGrpSpPr>
        <p:grpSpPr>
          <a:xfrm>
            <a:off x="533400" y="3937635"/>
            <a:ext cx="6140958" cy="1467040"/>
            <a:chOff x="533400" y="3937635"/>
            <a:chExt cx="6140958" cy="1467040"/>
          </a:xfrm>
        </p:grpSpPr>
        <p:sp>
          <p:nvSpPr>
            <p:cNvPr id="44" name="Ellipse 44"/>
            <p:cNvSpPr/>
            <p:nvPr/>
          </p:nvSpPr>
          <p:spPr>
            <a:xfrm>
              <a:off x="533400" y="3937635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89078" y="39769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14197" y="3950018"/>
              <a:ext cx="58601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分治法：分-治-合，子问题相互独立（不共享更小的公共子问题），自顶向下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533400" y="450627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89078" y="45446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14197" y="4518660"/>
              <a:ext cx="58299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计算时间写成 T(n) = aT(n/b) + f(n)，用展开法、递归树或主定理求解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33400" y="4817745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89078" y="48561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14197" y="4830128"/>
              <a:ext cx="52745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比较型查找最坏至少 ⌈log(n+1)⌉ 次，比较型排序最坏 Ω(n log n)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533400" y="512921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89078" y="516759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4197" y="5140642"/>
              <a:ext cx="51659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提速两条路：减少子问题个数 a，或把工作移到递归外减小 f(n)</a:t>
              </a:r>
            </a:p>
          </p:txBody>
        </p:sp>
      </p:grpSp>
      <p:grpSp>
        <p:nvGrpSpPr>
          <p:cNvPr id="71" name="c2-card-1"/>
          <p:cNvGrpSpPr/>
          <p:nvPr/>
        </p:nvGrpSpPr>
        <p:grpSpPr>
          <a:xfrm>
            <a:off x="7330440" y="1524000"/>
            <a:ext cx="4328160" cy="3828098"/>
            <a:chOff x="7330440" y="1524000"/>
            <a:chExt cx="4328160" cy="3828098"/>
          </a:xfrm>
        </p:grpSpPr>
        <p:sp>
          <p:nvSpPr>
            <p:cNvPr id="57" name="Rectangle 57"/>
            <p:cNvSpPr/>
            <p:nvPr/>
          </p:nvSpPr>
          <p:spPr>
            <a:xfrm>
              <a:off x="7330440" y="1524000"/>
              <a:ext cx="4328160" cy="3828098"/>
            </a:xfrm>
            <a:prstGeom prst="roundRect">
              <a:avLst>
                <a:gd name="adj" fmla="val 348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7339965" y="1657350"/>
              <a:ext cx="47625" cy="356139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7560945" y="171640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20381" y="175069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本讲义对原课件的更正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7569517" y="21288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725537" y="2072640"/>
              <a:ext cx="339985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DANDC 中 DIVIDE 的范围应为 p ≤ m &lt; q（第 6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7569517" y="268890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725537" y="2632710"/>
              <a:ext cx="34941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每层重新排序的极大点算法应为 Θ(n log²n)，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原课件只写了下界 Ω(n log n)（第 39 页）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7569517" y="324897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725537" y="3192780"/>
              <a:ext cx="335699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主定理叙述：T(n) 是定义在非负整数上的函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数，情况 3 要求 ε &gt; 0（第 44 页）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7569517" y="380809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7725537" y="3751898"/>
              <a:ext cx="34598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O(nlog⁷) 应为 O(n^(log 7))，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Θ(n^(log_bᵃ)) 应为 Θ(n^(log_b a))（第 46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页）</a:t>
              </a:r>
            </a:p>
          </p:txBody>
        </p:sp>
        <p:sp>
          <p:nvSpPr>
            <p:cNvPr id="69" name="Ellipse 69"/>
            <p:cNvSpPr/>
            <p:nvPr/>
          </p:nvSpPr>
          <p:spPr>
            <a:xfrm>
              <a:off x="7569517" y="462534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725537" y="4569142"/>
              <a:ext cx="32541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斯特拉森递推展开应止于出口 T(2)（第 34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页，结论不变）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2" name="Rectangle 7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892" y="6023610"/>
              <a:ext cx="89133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复习时重点练手算：比较树上的平均比较次数、MERGESORT 的调用与合并顺序、用展开法和主定理解递推式。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第4章 分治法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lgo_ch4">
  <a:themeElements>
    <a:clrScheme name="algo_ch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go_ch4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lgo_ch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2026-09-23T06:09:11Z</dcterms:created>
  <dcterms:modified xsi:type="dcterms:W3CDTF">2026-09-23T06:09:11Z</dcterms:modified>
  <cp:category/>
  <cp:contentStatus/>
</cp:coreProperties>
</file>