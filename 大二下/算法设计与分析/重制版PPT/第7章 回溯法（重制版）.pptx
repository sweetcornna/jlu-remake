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lgo_ch7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lgo_ch7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22ff3230d164a495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6e4b6381178e084.png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2ec816631d957577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632198" cy="3437763"/>
            <a:chOff x="666750" y="1619250"/>
            <a:chExt cx="463219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986915" cy="3429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2035" y="1718310"/>
              <a:ext cx="1754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算法设计与分析 · 第7章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173431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在解空间树上深度优先搜索，走不通就退回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多米诺性质与解空间树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蒙特卡罗效率估计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4857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n-皇后与子集和数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3949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图的 m-着色判定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91495" cy="205359"/>
            <a:chOff x="680466" y="6192202"/>
            <a:chExt cx="4491495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914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自学复习版｜据吉林大学《算法设计与分析》第7章课件整理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0490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916" y="40719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多米诺性质、约束条件、解空间树、动态树、算法框架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效率估计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7888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影响效率的四个因素，蒙特卡罗方法与 ESTIMATE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618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n-皇后问题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6140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限界函数 PLACE、NQUEENS、4-皇后搜索过程、8-皇后估计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子集和数问题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5262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两种元组表示、限界函数、SUMOFSUB 与实例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图着色问题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0973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m-着色判定、MCOLORING、实例搜索树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解空间树的分类、回溯法的效率与改进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为问题写出解向量、显式约束和隐式约束，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并检验多米诺性质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区分问题状态、解状态、答案状态，以及活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结点、E-结点、死结点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写出回溯法的递归与非递归框架，套用到 n-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皇后、子集和数、图着色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手工画出小规模实例的动态树，标出被限界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函数杀死的结点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用蒙特卡罗方法估计回溯算法要生成的结点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913376" cy="3351847"/>
            <a:chOff x="667512" y="1835468"/>
            <a:chExt cx="491337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回溯法的一般方法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什么问题适合回溯，搜索在一棵什么样的树上进行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适用问题与多米诺性质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约束条件与解空间树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静态树、动态树与结点状态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回溯法的算法框架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回溯法：按深度优先搜索解，走不通就退回上一步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735002" cy="2352675"/>
            <a:chOff x="533400" y="1524000"/>
            <a:chExt cx="5735002" cy="2352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735002" cy="2352675"/>
            </a:xfrm>
            <a:prstGeom prst="roundRect">
              <a:avLst>
                <a:gd name="adj" fmla="val 56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859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21398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回溯法（Backtracking）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回溯法是一种搜索算法，也是通用的解题法：以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深度优先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的方式系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统地搜索问题的解，每走一步都检查当前的部分解还有没有希望。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70605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64985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有希望：继续往下走，确定下一个分量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300894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295275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没有希望：放弃这条路，退回上一步换一个选择，这一步称为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回</a:t>
              </a:r>
              <a:br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溯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8190" y="3508534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一直搜索到找出所要求的解，或者所有可能都试过为止。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4051935"/>
            <a:ext cx="5735002" cy="1574482"/>
            <a:chOff x="533400" y="4051935"/>
            <a:chExt cx="5735002" cy="1574482"/>
          </a:xfrm>
        </p:grpSpPr>
        <p:sp>
          <p:nvSpPr>
            <p:cNvPr id="19" name="Rectangle 19"/>
            <p:cNvSpPr/>
            <p:nvPr/>
          </p:nvSpPr>
          <p:spPr>
            <a:xfrm>
              <a:off x="533400" y="4051935"/>
              <a:ext cx="5735002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185285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3905" y="424434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59346" y="427863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14247" y="428434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迷宫游戏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2478" y="467391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497" y="461772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从入口出发，每到一个岔路口，先任选一条没走过的路走下去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2478" y="497681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28497" y="492061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走进死胡同，就退回最近的岔路口，换一条路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72478" y="527970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28497" y="522351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退回到入口且无路可换，说明迷宫没有出口</a:t>
              </a:r>
            </a:p>
          </p:txBody>
        </p:sp>
      </p:grpSp>
      <p:grpSp>
        <p:nvGrpSpPr>
          <p:cNvPr id="33" name="c2-image-1"/>
          <p:cNvGrpSpPr/>
          <p:nvPr/>
        </p:nvGrpSpPr>
        <p:grpSpPr>
          <a:xfrm>
            <a:off x="6573202" y="1524000"/>
            <a:ext cx="5085398" cy="4201097"/>
            <a:chOff x="6573202" y="1524000"/>
            <a:chExt cx="5085398" cy="4201097"/>
          </a:xfrm>
        </p:grpSpPr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2"/>
            <a:srcRect l="1120" t="0" r="1120" b="0"/>
            <a:stretch>
              <a:fillRect/>
            </a:stretch>
          </p:blipFill>
          <p:spPr>
            <a:xfrm>
              <a:off x="6573202" y="1524000"/>
              <a:ext cx="5085398" cy="3901440"/>
            </a:xfrm>
            <a:prstGeom prst="roundRect">
              <a:avLst>
                <a:gd name="adj" fmla="val 3417"/>
              </a:avLst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7413879" y="5519738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线始终连着来路，走进死胡同就沿线退回上一个岔路口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4" name="Rectangle 3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892" y="6023610"/>
              <a:ext cx="94640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回溯法和穷举法面对的是同一个解空间。回溯法边构造解边检查，能提前放弃不可能成功的部分解，所以通常快得多。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适用的问题：多阶段决策，解写成元组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951220" cy="2506028"/>
            <a:chOff x="533400" y="1524000"/>
            <a:chExt cx="5951220" cy="25060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506028"/>
            </a:xfrm>
            <a:prstGeom prst="roundRect">
              <a:avLst>
                <a:gd name="adj" fmla="val 53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3932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64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问题特点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2955" y="216122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39546" y="2100739"/>
              <a:ext cx="500989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多阶段决策问题（组合问题）：解向量用元组表示，分量 xᵢ 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自某个有穷集 Sᵢ，1 ≤ i ≤ n，n 表示问题规模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2955" y="275272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9546" y="2692241"/>
              <a:ext cx="507301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固定长 n-元组 (x₁, …, xₙ)，或可变长 k-元组 (x₁, …, xₖ)，k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n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2955" y="334422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328374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问题满足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多米诺性质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2955" y="366426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9546" y="360378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适合求解组合数较大、硬性枚举代价太高的问题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4215765"/>
            <a:ext cx="5951220" cy="1823085"/>
            <a:chOff x="533400" y="4215765"/>
            <a:chExt cx="5951220" cy="1823085"/>
          </a:xfrm>
        </p:grpSpPr>
        <p:sp>
          <p:nvSpPr>
            <p:cNvPr id="20" name="Rectangle 20"/>
            <p:cNvSpPr/>
            <p:nvPr/>
          </p:nvSpPr>
          <p:spPr>
            <a:xfrm>
              <a:off x="533400" y="4215765"/>
              <a:ext cx="5951220" cy="1823085"/>
            </a:xfrm>
            <a:prstGeom prst="roundRect">
              <a:avLst>
                <a:gd name="adj" fmla="val 73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4349115"/>
              <a:ext cx="47625" cy="15563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75335" y="441960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65543" y="44553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8096" y="4792504"/>
              <a:ext cx="519023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原课件写作"可变长 k-元组 (x₁, …, xₖ)，k&lt;n"。k 可以等于 n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（例如子集和数问题的解可以选中全部 n 个数），应为 k ≤ n，与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7.4 节的写法一致。</a:t>
              </a:r>
            </a:p>
          </p:txBody>
        </p:sp>
      </p:grpSp>
      <p:grpSp>
        <p:nvGrpSpPr>
          <p:cNvPr id="41" name="c2-table-1"/>
          <p:cNvGrpSpPr/>
          <p:nvPr/>
        </p:nvGrpSpPr>
        <p:grpSpPr>
          <a:xfrm>
            <a:off x="6789420" y="1524000"/>
            <a:ext cx="4869180" cy="1717358"/>
            <a:chOff x="6789420" y="1524000"/>
            <a:chExt cx="4869180" cy="1717358"/>
          </a:xfrm>
        </p:grpSpPr>
        <p:sp>
          <p:nvSpPr>
            <p:cNvPr id="26" name="Rectangle 26"/>
            <p:cNvSpPr/>
            <p:nvPr/>
          </p:nvSpPr>
          <p:spPr>
            <a:xfrm>
              <a:off x="6789420" y="1524000"/>
              <a:ext cx="486918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207187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问题的目标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348788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95565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94766" y="2085022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满足约束条件的一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个解或多个解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550212" y="2085022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通常用限界函数表示约束条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92384" y="219170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组合搜索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789420" y="259270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789420" y="2597468"/>
              <a:ext cx="486918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94766" y="2728912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满足约束条件的最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550212" y="2728912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另外定义目标函数，使目标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函数取极值的解是最优解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692384" y="283559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组合优化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789420" y="1524000"/>
              <a:ext cx="4869180" cy="17173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8440102" y="1524000"/>
              <a:ext cx="9525" cy="17173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582275" y="1524000"/>
              <a:ext cx="9525" cy="17173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table-2"/>
          <p:cNvGrpSpPr/>
          <p:nvPr/>
        </p:nvGrpSpPr>
        <p:grpSpPr>
          <a:xfrm>
            <a:off x="6783705" y="3426142"/>
            <a:ext cx="4874895" cy="2657000"/>
            <a:chOff x="6783705" y="3426142"/>
            <a:chExt cx="4874895" cy="2657000"/>
          </a:xfrm>
        </p:grpSpPr>
        <p:sp>
          <p:nvSpPr>
            <p:cNvPr id="42" name="Rectangle 42"/>
            <p:cNvSpPr/>
            <p:nvPr/>
          </p:nvSpPr>
          <p:spPr>
            <a:xfrm>
              <a:off x="6789420" y="3426142"/>
              <a:ext cx="486918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44119" y="3557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本章问题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27020" y="3557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解向量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920519" y="3557588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Sᵢ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94766" y="4094798"/>
              <a:ext cx="5218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n-皇后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063484" y="3988118"/>
              <a:ext cx="21229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(x₁, …, xₙ)，xᵢ 是第 i 行皇后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的列号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498074" y="4094798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 …, n}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789420" y="449580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789420" y="4500562"/>
              <a:ext cx="486918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94766" y="47377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063484" y="4631055"/>
              <a:ext cx="19857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(x₁, …, xₙ)，xᵢ 表示是否选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wᵢ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498074" y="4737735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{0, 1}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89420" y="513873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94766" y="5381625"/>
              <a:ext cx="9297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图的 m-着色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63484" y="5274945"/>
              <a:ext cx="21229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(x₁, …, xₙ)，xᵢ 是顶点 i 的颜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色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498074" y="5381625"/>
              <a:ext cx="7633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 …, m}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789420" y="3426142"/>
              <a:ext cx="4869180" cy="2360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953375" y="3426142"/>
              <a:ext cx="9525" cy="2360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387965" y="3426142"/>
              <a:ext cx="9525" cy="2360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783705" y="5863114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这三个问题都是找满足约束的解，属于组合搜索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多米诺性质：部分解不成立，扩展之后也不成立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951220" cy="2066925"/>
            <a:chOff x="533400" y="1524000"/>
            <a:chExt cx="5951220" cy="20669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066925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0022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多米诺性质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522630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P(x₁, …, xᵢ) 是关于向量 (x₁, …, xᵢ) 的某种性质的判定。当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P(x₁, …, xᵢ₊₁) 为真时，一定有 P(x₁, …, xᵢ) 为真，0 &lt; i &lt; n。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4"/>
                <p:cNvSpPr txBox="1">
                  <a:spLocks noGrp="1"/>
                </p:cNvSpPr>
                <p:nvPr/>
              </p:nvSpPr>
              <p:spPr>
                <a:xfrm>
                  <a:off x="775335" y="2687002"/>
                  <a:ext cx="55054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⇒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,…,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69239" y="3199448"/>
              <a:ext cx="47725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逆否形式：P(x₁, …, xᵢ) 不成立，则 P(x₁, …, xᵢ₊₁) 也不成立。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776662"/>
            <a:ext cx="5951220" cy="1545908"/>
            <a:chOff x="533400" y="3776662"/>
            <a:chExt cx="5951220" cy="1545908"/>
          </a:xfrm>
        </p:grpSpPr>
        <p:sp>
          <p:nvSpPr>
            <p:cNvPr id="16" name="Rectangle 16"/>
            <p:cNvSpPr/>
            <p:nvPr/>
          </p:nvSpPr>
          <p:spPr>
            <a:xfrm>
              <a:off x="533400" y="3776662"/>
              <a:ext cx="5951220" cy="1545908"/>
            </a:xfrm>
            <a:prstGeom prst="roundRect">
              <a:avLst>
                <a:gd name="adj" fmla="val 8626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7235" y="398049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27443" y="40162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9996" y="4353401"/>
              <a:ext cx="524433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满足多米诺性质的组合问题，可以根据约束条件和目标函数，不断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检验正在构造的部分解 (x₁, …, xᵢ)。一旦发现不成立，后续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xᵢ₊₁, …, xₙ 的任何取值都不必再考虑。</a:t>
              </a:r>
            </a:p>
          </p:txBody>
        </p:sp>
      </p:grpSp>
      <p:grpSp>
        <p:nvGrpSpPr>
          <p:cNvPr id="23" name="c2-image-1"/>
          <p:cNvGrpSpPr/>
          <p:nvPr/>
        </p:nvGrpSpPr>
        <p:grpSpPr>
          <a:xfrm>
            <a:off x="6789420" y="1524000"/>
            <a:ext cx="4869180" cy="4174332"/>
            <a:chOff x="6789420" y="1524000"/>
            <a:chExt cx="4869180" cy="4174332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rcRect l="2690" t="0" r="2690" b="0"/>
            <a:stretch>
              <a:fillRect/>
            </a:stretch>
          </p:blipFill>
          <p:spPr>
            <a:xfrm>
              <a:off x="6789420" y="1524000"/>
              <a:ext cx="4869180" cy="3859530"/>
            </a:xfrm>
            <a:prstGeom prst="roundRect">
              <a:avLst>
                <a:gd name="adj" fmla="val 3455"/>
              </a:avLst>
            </a:prstGeom>
          </p:spPr>
        </p:pic>
        <p:sp>
          <p:nvSpPr>
            <p:cNvPr id="22" name="TextBox 22"/>
            <p:cNvSpPr txBox="1"/>
            <p:nvPr/>
          </p:nvSpPr>
          <p:spPr>
            <a:xfrm>
              <a:off x="7710551" y="5478304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剪掉一根枝条，它上面的细枝也跟着一起去掉</a:t>
              </a:r>
            </a:p>
          </p:txBody>
        </p:sp>
      </p:grpSp>
      <p:grpSp>
        <p:nvGrpSpPr>
          <p:cNvPr id="30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24" name="Rectangle 2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511" y="6004084"/>
              <a:ext cx="10378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不满足多米诺性质就不能这样剪枝。例：子集和数问题若允许负数，部分和暂时超过 M，后面加上负数仍可能恰好等于 M。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多米诺性质让限界函数可以提前检验，测试次数大大减少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821180"/>
            <a:chOff x="533400" y="1524000"/>
            <a:chExt cx="5410200" cy="18211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21180"/>
            </a:xfrm>
            <a:prstGeom prst="roundRect">
              <a:avLst>
                <a:gd name="adj" fmla="val 73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5448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硬性处理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39178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设限界函数 B 实现问题的约束条件，|Sᵢ| = mᵢ。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43173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375535"/>
              <a:ext cx="3430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生成全部 m = m₁ × m₂ × … × mₙ 个 n-元组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73462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678430"/>
              <a:ext cx="4906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对每个 n-元组都检测一次 B(x₁, …, xₙ)，从而找出问题的解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8190" y="2977039"/>
              <a:ext cx="3079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必须等元组构造完整才能检验，共检测 m 次。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520440"/>
            <a:ext cx="5410200" cy="2071688"/>
            <a:chOff x="533400" y="3520440"/>
            <a:chExt cx="5410200" cy="2071688"/>
          </a:xfrm>
        </p:grpSpPr>
        <p:sp>
          <p:nvSpPr>
            <p:cNvPr id="18" name="Rectangle 18"/>
            <p:cNvSpPr/>
            <p:nvPr/>
          </p:nvSpPr>
          <p:spPr>
            <a:xfrm>
              <a:off x="533400" y="3520440"/>
              <a:ext cx="5410200" cy="2071688"/>
            </a:xfrm>
            <a:prstGeom prst="roundRect">
              <a:avLst>
                <a:gd name="adj" fmla="val 64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653790"/>
              <a:ext cx="47625" cy="180498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3905" y="371284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1344" y="374713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回溯法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412527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4069080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无需等待：对正在构造中的部分向量 (x₁, …, xᵢ) 提前检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2478" y="468534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497" y="4629150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发现它不能导致问题的解，就终止该向量继续构造，不再构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 xᵢ₊₁, …, xₙ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2478" y="524446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28497" y="5188268"/>
              <a:ext cx="37484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这一次剪枝就少生成 mᵢ₊₁ × … × mₙ 个 n-元组</a:t>
              </a:r>
            </a:p>
          </p:txBody>
        </p:sp>
      </p:grpSp>
      <p:grpSp>
        <p:nvGrpSpPr>
          <p:cNvPr id="45" name="c2-table-1"/>
          <p:cNvGrpSpPr/>
          <p:nvPr/>
        </p:nvGrpSpPr>
        <p:grpSpPr>
          <a:xfrm>
            <a:off x="6243066" y="1524000"/>
            <a:ext cx="5415534" cy="1854137"/>
            <a:chOff x="6243066" y="1524000"/>
            <a:chExt cx="5415534" cy="1854137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68484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55117" y="17716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05522" y="17716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硬性处理检测的元组数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766744" y="1651635"/>
              <a:ext cx="17282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890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回溯法通过检验的结点</a:t>
              </a:r>
              <a:br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50164" y="2336482"/>
              <a:ext cx="5870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4-皇后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59820" y="2336482"/>
              <a:ext cx="7224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4⁴ = 256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24039" y="2336482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48400" y="26489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48400" y="2653665"/>
              <a:ext cx="5410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50164" y="2781300"/>
              <a:ext cx="5870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8-皇后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809976" y="2781300"/>
              <a:ext cx="14221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8⁸ = 16,777,216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74106" y="2781300"/>
              <a:ext cx="51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2,057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1524000"/>
              <a:ext cx="5410200" cy="1573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434262" y="1524000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598342" y="1524000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43066" y="3172778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回溯法一栏为脚本穷举统计，含根结点，求的是全部解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6248400" y="3511868"/>
            <a:ext cx="5410200" cy="2080260"/>
            <a:chOff x="6248400" y="3511868"/>
            <a:chExt cx="5410200" cy="2080260"/>
          </a:xfrm>
        </p:grpSpPr>
        <p:sp>
          <p:nvSpPr>
            <p:cNvPr id="46" name="Rectangle 46"/>
            <p:cNvSpPr/>
            <p:nvPr/>
          </p:nvSpPr>
          <p:spPr>
            <a:xfrm>
              <a:off x="6248400" y="3511868"/>
              <a:ext cx="5410200" cy="2080260"/>
            </a:xfrm>
            <a:prstGeom prst="roundRect">
              <a:avLst>
                <a:gd name="adj" fmla="val 64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257925" y="3645218"/>
              <a:ext cx="47625" cy="18135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78905" y="3704272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54343" y="373856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怎样读这张表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72047" y="4060508"/>
              <a:ext cx="479717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8-皇后只有 2057 个部分解通过了检验。回溯法逐行逐列试探，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试探次数也只有 8 × 1965 = 15720 次（1965 个非叶的活结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点，每个试 8 列），远小于硬性处理的 1600 多万次。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2" name="Rectangle 5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892" y="6023610"/>
              <a:ext cx="66198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问题的多米诺性质是回溯法提高效率的关键：测试次数比硬性处理的 m 次少得多。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基本概念：显式约束、隐式约束、解空间与三类状态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kv-1"/>
          <p:cNvGrpSpPr/>
          <p:nvPr/>
        </p:nvGrpSpPr>
        <p:grpSpPr>
          <a:xfrm>
            <a:off x="525780" y="1548765"/>
            <a:ext cx="5634038" cy="2617470"/>
            <a:chOff x="525780" y="1548765"/>
            <a:chExt cx="5634038" cy="26174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显式约束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66862" y="1548765"/>
              <a:ext cx="42252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 xᵢ 的取值集合 Sᵢ；可能与问题实例有关，也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可能无关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隐式约束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66862" y="2270760"/>
              <a:ext cx="43395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描述各 xᵢ 彼此相关的情况，与问题实例有关，对应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8727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99275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解空间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6862" y="29927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满足显式约束条件的所有元组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31279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43281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可行解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66862" y="343281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解空间中满足隐式约束条件的元组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7528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38728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解空间树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66862" y="387286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基于解空间画成的树形状</a:t>
              </a:r>
            </a:p>
          </p:txBody>
        </p:sp>
      </p:grpSp>
      <p:grpSp>
        <p:nvGrpSpPr>
          <p:cNvPr id="33" name="c1-table-2"/>
          <p:cNvGrpSpPr/>
          <p:nvPr/>
        </p:nvGrpSpPr>
        <p:grpSpPr>
          <a:xfrm>
            <a:off x="533400" y="4297680"/>
            <a:ext cx="5626418" cy="1346835"/>
            <a:chOff x="533400" y="4297680"/>
            <a:chExt cx="5626418" cy="1346835"/>
          </a:xfrm>
        </p:grpSpPr>
        <p:sp>
          <p:nvSpPr>
            <p:cNvPr id="22" name="Rectangle 22"/>
            <p:cNvSpPr/>
            <p:nvPr/>
          </p:nvSpPr>
          <p:spPr>
            <a:xfrm>
              <a:off x="533400" y="4297680"/>
              <a:ext cx="5626418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194803" y="44334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显式约束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008488" y="44334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取值集合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1223" y="4882039"/>
              <a:ext cx="5195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 ≥ 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67190" y="4882039"/>
              <a:ext cx="16513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Sᵢ = {所有非负实数}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51901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519493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5330666"/>
              <a:ext cx="8999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 = 0 或 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67190" y="5330666"/>
              <a:ext cx="9779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Sᵢ = {0, 1}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297680"/>
              <a:ext cx="5626418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554605" y="429768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2-card-1"/>
          <p:cNvGrpSpPr/>
          <p:nvPr/>
        </p:nvGrpSpPr>
        <p:grpSpPr>
          <a:xfrm>
            <a:off x="6464618" y="1524000"/>
            <a:ext cx="5193982" cy="2893695"/>
            <a:chOff x="6464618" y="1524000"/>
            <a:chExt cx="5193982" cy="2893695"/>
          </a:xfrm>
        </p:grpSpPr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2893695"/>
            </a:xfrm>
            <a:prstGeom prst="roundRect">
              <a:avLst>
                <a:gd name="adj" fmla="val 46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74142" y="1657350"/>
              <a:ext cx="47625" cy="262699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12268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7782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解空间树中的状态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04648" y="211074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回溯法解决问题的过程，就是在解空间树上搜索答案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状态结点的过程。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717983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76098" y="273177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问题状态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：解空间树中的所有结点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717983" y="312991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76098" y="306705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解状态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X：由根到结点 X 的路径确定了解空间中的一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个元组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717983" y="375094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76098" y="368808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答案状态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X：由根到解状态结点 X 的路径确定了问题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的一个解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6464618" y="4608195"/>
            <a:ext cx="5193982" cy="1059180"/>
            <a:chOff x="6464618" y="4608195"/>
            <a:chExt cx="5193982" cy="1059180"/>
          </a:xfrm>
        </p:grpSpPr>
        <p:sp>
          <p:nvSpPr>
            <p:cNvPr id="46" name="Rectangle 46"/>
            <p:cNvSpPr/>
            <p:nvPr/>
          </p:nvSpPr>
          <p:spPr>
            <a:xfrm>
              <a:off x="6464618" y="4608195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669405" y="5037775"/>
              <a:ext cx="200023" cy="200023"/>
              <a:chOff x="6669405" y="5037775"/>
              <a:chExt cx="200023" cy="20002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669405" y="50377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802755" y="51044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971348" y="4756785"/>
              <a:ext cx="40728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答案状态 ⊆ 解状态 ⊆ 问题状态。哪些结点是解状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态，取决于元组怎样表示（见子集和数的两种表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示）。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01456" cy="909257"/>
            <a:chOff x="520446" y="342900"/>
            <a:chExt cx="66014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014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例：4-皇后问题的元组、约束条件与解空间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6492240" cy="1274445"/>
            <a:chOff x="533400" y="1524000"/>
            <a:chExt cx="6492240" cy="12744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64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569518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4×4 棋盘上放 4 个皇后，使每两个皇后之间都不能互相"攻击"，即任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意两个皇后不在同一行、同一列及同一条斜线上。</a:t>
              </a:r>
            </a:p>
          </p:txBody>
        </p:sp>
      </p:grpSp>
      <p:grpSp>
        <p:nvGrpSpPr>
          <p:cNvPr id="30" name="c1-steps-2"/>
          <p:cNvGrpSpPr/>
          <p:nvPr/>
        </p:nvGrpSpPr>
        <p:grpSpPr>
          <a:xfrm>
            <a:off x="533400" y="2993708"/>
            <a:ext cx="6281166" cy="2632138"/>
            <a:chOff x="533400" y="2993708"/>
            <a:chExt cx="6281166" cy="2632138"/>
          </a:xfrm>
        </p:grpSpPr>
        <p:sp>
          <p:nvSpPr>
            <p:cNvPr id="13" name="Rectangle 13"/>
            <p:cNvSpPr/>
            <p:nvPr/>
          </p:nvSpPr>
          <p:spPr>
            <a:xfrm>
              <a:off x="666750" y="3136582"/>
              <a:ext cx="19050" cy="20831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299370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0675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61473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688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4567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5305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50768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51506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02656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确定元组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307080"/>
              <a:ext cx="58681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固定长 4-元组 (x₁, x₂, x₃, x₄)：皇后 i 放在第 i 行第 xᵢ 列，各皇后天然不同行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364759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确定约束条件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3928110"/>
              <a:ext cx="56205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显式约束 Sᵢ = {1, 2, 3, 4}，1 ≤ i ≤ 4；隐式约束：没有两个 xᵢ 相同，且没有两个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皇后在同一条斜线上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448960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检验多米诺性质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4770120"/>
              <a:ext cx="46808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 i 个皇后之间已经互相攻击，再往后放皇后也消除不了这个冲突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261" y="511063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确定解空间树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404" y="53911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见下一页</a:t>
              </a:r>
            </a:p>
          </p:txBody>
        </p:sp>
      </p:grpSp>
      <p:grpSp>
        <p:nvGrpSpPr>
          <p:cNvPr id="32" name="c2-text-1"/>
          <p:cNvGrpSpPr/>
          <p:nvPr/>
        </p:nvGrpSpPr>
        <p:grpSpPr>
          <a:xfrm>
            <a:off x="7324344" y="1544002"/>
            <a:ext cx="4398112" cy="234696"/>
            <a:chOff x="7324344" y="1544002"/>
            <a:chExt cx="4398112" cy="234696"/>
          </a:xfrm>
        </p:grpSpPr>
        <p:sp>
          <p:nvSpPr>
            <p:cNvPr id="31" name="TextBox 31"/>
            <p:cNvSpPr txBox="1"/>
            <p:nvPr/>
          </p:nvSpPr>
          <p:spPr>
            <a:xfrm>
              <a:off x="7324344" y="1544002"/>
              <a:ext cx="43981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一个可行解 (2, 4, 1, 3)：格内数字是皇后编号，左侧是行号</a:t>
              </a:r>
            </a:p>
          </p:txBody>
        </p:sp>
      </p:grpSp>
      <p:grpSp>
        <p:nvGrpSpPr>
          <p:cNvPr id="57" name="c2-cells-2"/>
          <p:cNvGrpSpPr/>
          <p:nvPr/>
        </p:nvGrpSpPr>
        <p:grpSpPr>
          <a:xfrm>
            <a:off x="7324344" y="1916430"/>
            <a:ext cx="2149221" cy="1921192"/>
            <a:chOff x="7324344" y="1916430"/>
            <a:chExt cx="2149221" cy="1921192"/>
          </a:xfrm>
        </p:grpSpPr>
        <p:sp>
          <p:nvSpPr>
            <p:cNvPr id="33" name="TextBox 33"/>
            <p:cNvSpPr txBox="1"/>
            <p:nvPr/>
          </p:nvSpPr>
          <p:spPr>
            <a:xfrm>
              <a:off x="7324344" y="20821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551420" y="1916430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032432" y="1916430"/>
              <a:ext cx="480060" cy="480060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219721" y="20821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512492" y="1916430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93505" y="1916430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324344" y="256222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551420" y="239744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8032432" y="239744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512492" y="239744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8993505" y="2397442"/>
              <a:ext cx="480060" cy="480060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180793" y="256222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24344" y="30432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551420" y="2877502"/>
              <a:ext cx="480060" cy="480060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739661" y="30432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032432" y="287750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512492" y="287750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993505" y="287750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324344" y="352329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551420" y="335756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8032432" y="335756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512492" y="3357562"/>
              <a:ext cx="480060" cy="480060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699781" y="352329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8993505" y="3357562"/>
              <a:ext cx="480060" cy="48006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</p:grpSp>
      <p:grpSp>
        <p:nvGrpSpPr>
          <p:cNvPr id="69" name="c2-table-3"/>
          <p:cNvGrpSpPr/>
          <p:nvPr/>
        </p:nvGrpSpPr>
        <p:grpSpPr>
          <a:xfrm>
            <a:off x="7330440" y="4023360"/>
            <a:ext cx="4328160" cy="1291590"/>
            <a:chOff x="7330440" y="4023360"/>
            <a:chExt cx="4328160" cy="1291590"/>
          </a:xfrm>
        </p:grpSpPr>
        <p:sp>
          <p:nvSpPr>
            <p:cNvPr id="58" name="Rectangle 58"/>
            <p:cNvSpPr/>
            <p:nvPr/>
          </p:nvSpPr>
          <p:spPr>
            <a:xfrm>
              <a:off x="7330440" y="4023360"/>
              <a:ext cx="432816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256651" y="41548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显式约束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339959" y="415480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解空间大小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435786" y="4585335"/>
              <a:ext cx="14638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Sᵢ = {1, 2, 3, 4}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946576" y="4585335"/>
              <a:ext cx="6422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4⁴ = 256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7330440" y="4879658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330440" y="4884420"/>
              <a:ext cx="432816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435786" y="5014912"/>
              <a:ext cx="15929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再要求各 xᵢ 互不相同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946576" y="5014912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4! = 24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330440" y="4023360"/>
              <a:ext cx="4328160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9836468" y="4023360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70" name="Rectangle 7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511" y="6004084"/>
              <a:ext cx="102511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把一部分隐式约束（各 xᵢ 互不相同）并入元组的取法，解空间从 nⁿ 缩小到 n!，与问题实例无关，解空间树成为排列树。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14212" cy="909257"/>
            <a:chOff x="520446" y="342900"/>
            <a:chExt cx="721421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142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4-皇后问题的解空间树：排列树，共 65 个结点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002248" cy="308039"/>
            <a:chOff x="525399" y="1550194"/>
            <a:chExt cx="1000224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00224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= 4 时叶结点 4! = 24 个，解空间是从根到叶的所有路径。结点按深度优先编号，边上数字是 xᵢ 的取值。</a:t>
              </a:r>
            </a:p>
          </p:txBody>
        </p:sp>
      </p:grpSp>
      <p:grpSp>
        <p:nvGrpSpPr>
          <p:cNvPr id="187" name="c1-graph-1"/>
          <p:cNvGrpSpPr/>
          <p:nvPr/>
        </p:nvGrpSpPr>
        <p:grpSpPr>
          <a:xfrm>
            <a:off x="724566" y="2030730"/>
            <a:ext cx="10191834" cy="3176588"/>
            <a:chOff x="724566" y="2030730"/>
            <a:chExt cx="10191834" cy="3176588"/>
          </a:xfrm>
        </p:grpSpPr>
        <p:sp>
          <p:nvSpPr>
            <p:cNvPr id="9" name="Freeform 9"/>
            <p:cNvSpPr/>
            <p:nvPr/>
          </p:nvSpPr>
          <p:spPr>
            <a:xfrm>
              <a:off x="3252788" y="2202180"/>
              <a:ext cx="3494722" cy="665798"/>
            </a:xfrm>
            <a:custGeom>
              <a:avLst/>
              <a:gdLst/>
              <a:ahLst/>
              <a:cxnLst/>
              <a:rect l="l" t="t" r="r" b="b"/>
              <a:pathLst>
                <a:path w="3494722" h="665798">
                  <a:moveTo>
                    <a:pt x="3494722" y="0"/>
                  </a:moveTo>
                  <a:lnTo>
                    <a:pt x="0" y="66579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043112" y="2975610"/>
              <a:ext cx="929640" cy="564833"/>
            </a:xfrm>
            <a:custGeom>
              <a:avLst/>
              <a:gdLst/>
              <a:ahLst/>
              <a:cxnLst/>
              <a:rect l="l" t="t" r="r" b="b"/>
              <a:pathLst>
                <a:path w="929640" h="564833">
                  <a:moveTo>
                    <a:pt x="929640" y="0"/>
                  </a:moveTo>
                  <a:lnTo>
                    <a:pt x="0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670685" y="3759518"/>
              <a:ext cx="183832" cy="441008"/>
            </a:xfrm>
            <a:custGeom>
              <a:avLst/>
              <a:gdLst/>
              <a:ahLst/>
              <a:cxnLst/>
              <a:rect l="l" t="t" r="r" b="b"/>
              <a:pathLst>
                <a:path w="183832" h="441008">
                  <a:moveTo>
                    <a:pt x="183832" y="0"/>
                  </a:moveTo>
                  <a:lnTo>
                    <a:pt x="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612582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969770" y="3760470"/>
              <a:ext cx="176212" cy="440055"/>
            </a:xfrm>
            <a:custGeom>
              <a:avLst/>
              <a:gdLst/>
              <a:ahLst/>
              <a:cxnLst/>
              <a:rect l="l" t="t" r="r" b="b"/>
              <a:pathLst>
                <a:path w="176212" h="440055">
                  <a:moveTo>
                    <a:pt x="0" y="0"/>
                  </a:moveTo>
                  <a:lnTo>
                    <a:pt x="176212" y="4400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202180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103245" y="3048952"/>
              <a:ext cx="9525" cy="418147"/>
            </a:xfrm>
            <a:custGeom>
              <a:avLst/>
              <a:gdLst/>
              <a:ahLst/>
              <a:cxnLst/>
              <a:rect l="l" t="t" r="r" b="b"/>
              <a:pathLst>
                <a:path w="9525" h="418147">
                  <a:moveTo>
                    <a:pt x="0" y="0"/>
                  </a:moveTo>
                  <a:lnTo>
                    <a:pt x="0" y="41814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861310" y="3759518"/>
              <a:ext cx="183833" cy="441008"/>
            </a:xfrm>
            <a:custGeom>
              <a:avLst/>
              <a:gdLst/>
              <a:ahLst/>
              <a:cxnLst/>
              <a:rect l="l" t="t" r="r" b="b"/>
              <a:pathLst>
                <a:path w="183833" h="441008">
                  <a:moveTo>
                    <a:pt x="183833" y="0"/>
                  </a:moveTo>
                  <a:lnTo>
                    <a:pt x="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803208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160395" y="3760470"/>
              <a:ext cx="175260" cy="440055"/>
            </a:xfrm>
            <a:custGeom>
              <a:avLst/>
              <a:gdLst/>
              <a:ahLst/>
              <a:cxnLst/>
              <a:rect l="l" t="t" r="r" b="b"/>
              <a:pathLst>
                <a:path w="175260" h="440055">
                  <a:moveTo>
                    <a:pt x="0" y="0"/>
                  </a:moveTo>
                  <a:lnTo>
                    <a:pt x="175260" y="4400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392805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233738" y="2975610"/>
              <a:ext cx="929640" cy="564833"/>
            </a:xfrm>
            <a:custGeom>
              <a:avLst/>
              <a:gdLst/>
              <a:ahLst/>
              <a:cxnLst/>
              <a:rect l="l" t="t" r="r" b="b"/>
              <a:pathLst>
                <a:path w="929640" h="564833">
                  <a:moveTo>
                    <a:pt x="0" y="0"/>
                  </a:moveTo>
                  <a:lnTo>
                    <a:pt x="929640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051935" y="3759518"/>
              <a:ext cx="182880" cy="441008"/>
            </a:xfrm>
            <a:custGeom>
              <a:avLst/>
              <a:gdLst/>
              <a:ahLst/>
              <a:cxnLst/>
              <a:rect l="l" t="t" r="r" b="b"/>
              <a:pathLst>
                <a:path w="182880" h="441008">
                  <a:moveTo>
                    <a:pt x="182880" y="0"/>
                  </a:moveTo>
                  <a:lnTo>
                    <a:pt x="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992880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350068" y="3760470"/>
              <a:ext cx="176212" cy="440055"/>
            </a:xfrm>
            <a:custGeom>
              <a:avLst/>
              <a:gdLst/>
              <a:ahLst/>
              <a:cxnLst/>
              <a:rect l="l" t="t" r="r" b="b"/>
              <a:pathLst>
                <a:path w="176212" h="440055">
                  <a:moveTo>
                    <a:pt x="0" y="0"/>
                  </a:moveTo>
                  <a:lnTo>
                    <a:pt x="176212" y="4400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583430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718935" y="2319338"/>
              <a:ext cx="133350" cy="431483"/>
            </a:xfrm>
            <a:custGeom>
              <a:avLst/>
              <a:gdLst/>
              <a:ahLst/>
              <a:cxnLst/>
              <a:rect l="l" t="t" r="r" b="b"/>
              <a:pathLst>
                <a:path w="133350" h="431483">
                  <a:moveTo>
                    <a:pt x="133350" y="0"/>
                  </a:moveTo>
                  <a:lnTo>
                    <a:pt x="0" y="43148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614035" y="2975610"/>
              <a:ext cx="930593" cy="564833"/>
            </a:xfrm>
            <a:custGeom>
              <a:avLst/>
              <a:gdLst/>
              <a:ahLst/>
              <a:cxnLst/>
              <a:rect l="l" t="t" r="r" b="b"/>
              <a:pathLst>
                <a:path w="930593" h="564833">
                  <a:moveTo>
                    <a:pt x="930593" y="0"/>
                  </a:moveTo>
                  <a:lnTo>
                    <a:pt x="0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5242560" y="3759518"/>
              <a:ext cx="182880" cy="441008"/>
            </a:xfrm>
            <a:custGeom>
              <a:avLst/>
              <a:gdLst/>
              <a:ahLst/>
              <a:cxnLst/>
              <a:rect l="l" t="t" r="r" b="b"/>
              <a:pathLst>
                <a:path w="182880" h="441008">
                  <a:moveTo>
                    <a:pt x="182880" y="0"/>
                  </a:moveTo>
                  <a:lnTo>
                    <a:pt x="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5183505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5540692" y="3760470"/>
              <a:ext cx="176212" cy="440055"/>
            </a:xfrm>
            <a:custGeom>
              <a:avLst/>
              <a:gdLst/>
              <a:ahLst/>
              <a:cxnLst/>
              <a:rect l="l" t="t" r="r" b="b"/>
              <a:pathLst>
                <a:path w="176212" h="440055">
                  <a:moveTo>
                    <a:pt x="0" y="0"/>
                  </a:moveTo>
                  <a:lnTo>
                    <a:pt x="176212" y="4400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5773102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674168" y="3048952"/>
              <a:ext cx="9525" cy="418147"/>
            </a:xfrm>
            <a:custGeom>
              <a:avLst/>
              <a:gdLst/>
              <a:ahLst/>
              <a:cxnLst/>
              <a:rect l="l" t="t" r="r" b="b"/>
              <a:pathLst>
                <a:path w="9525" h="418147">
                  <a:moveTo>
                    <a:pt x="0" y="0"/>
                  </a:moveTo>
                  <a:lnTo>
                    <a:pt x="0" y="41814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432232" y="3759518"/>
              <a:ext cx="183833" cy="441008"/>
            </a:xfrm>
            <a:custGeom>
              <a:avLst/>
              <a:gdLst/>
              <a:ahLst/>
              <a:cxnLst/>
              <a:rect l="l" t="t" r="r" b="b"/>
              <a:pathLst>
                <a:path w="183833" h="441008">
                  <a:moveTo>
                    <a:pt x="183833" y="0"/>
                  </a:moveTo>
                  <a:lnTo>
                    <a:pt x="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374130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733222" y="3759518"/>
              <a:ext cx="182880" cy="441008"/>
            </a:xfrm>
            <a:custGeom>
              <a:avLst/>
              <a:gdLst/>
              <a:ahLst/>
              <a:cxnLst/>
              <a:rect l="l" t="t" r="r" b="b"/>
              <a:pathLst>
                <a:path w="182880" h="441008">
                  <a:moveTo>
                    <a:pt x="0" y="0"/>
                  </a:moveTo>
                  <a:lnTo>
                    <a:pt x="18288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975158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6804660" y="2975610"/>
              <a:ext cx="929640" cy="564833"/>
            </a:xfrm>
            <a:custGeom>
              <a:avLst/>
              <a:gdLst/>
              <a:ahLst/>
              <a:cxnLst/>
              <a:rect l="l" t="t" r="r" b="b"/>
              <a:pathLst>
                <a:path w="929640" h="564833">
                  <a:moveTo>
                    <a:pt x="0" y="0"/>
                  </a:moveTo>
                  <a:lnTo>
                    <a:pt x="929640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622858" y="3759518"/>
              <a:ext cx="183833" cy="441008"/>
            </a:xfrm>
            <a:custGeom>
              <a:avLst/>
              <a:gdLst/>
              <a:ahLst/>
              <a:cxnLst/>
              <a:rect l="l" t="t" r="r" b="b"/>
              <a:pathLst>
                <a:path w="183833" h="441008">
                  <a:moveTo>
                    <a:pt x="183833" y="0"/>
                  </a:moveTo>
                  <a:lnTo>
                    <a:pt x="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564755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923848" y="3759518"/>
              <a:ext cx="182880" cy="441008"/>
            </a:xfrm>
            <a:custGeom>
              <a:avLst/>
              <a:gdLst/>
              <a:ahLst/>
              <a:cxnLst/>
              <a:rect l="l" t="t" r="r" b="b"/>
              <a:pathLst>
                <a:path w="182880" h="441008">
                  <a:moveTo>
                    <a:pt x="0" y="0"/>
                  </a:moveTo>
                  <a:lnTo>
                    <a:pt x="182880" y="4410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164830" y="4493895"/>
              <a:ext cx="9525" cy="418148"/>
            </a:xfrm>
            <a:custGeom>
              <a:avLst/>
              <a:gdLst/>
              <a:ahLst/>
              <a:cxnLst/>
              <a:rect l="l" t="t" r="r" b="b"/>
              <a:pathLst>
                <a:path w="9525" h="418148">
                  <a:moveTo>
                    <a:pt x="0" y="0"/>
                  </a:moveTo>
                  <a:lnTo>
                    <a:pt x="0" y="4181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042785" y="2219325"/>
              <a:ext cx="2011680" cy="631508"/>
            </a:xfrm>
            <a:custGeom>
              <a:avLst/>
              <a:gdLst/>
              <a:ahLst/>
              <a:cxnLst/>
              <a:rect l="l" t="t" r="r" b="b"/>
              <a:pathLst>
                <a:path w="2011680" h="631508">
                  <a:moveTo>
                    <a:pt x="0" y="0"/>
                  </a:moveTo>
                  <a:lnTo>
                    <a:pt x="2011680" y="6315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046595" y="2202180"/>
              <a:ext cx="3494723" cy="665798"/>
            </a:xfrm>
            <a:custGeom>
              <a:avLst/>
              <a:gdLst/>
              <a:ahLst/>
              <a:cxnLst/>
              <a:rect l="l" t="t" r="r" b="b"/>
              <a:pathLst>
                <a:path w="3494723" h="665798">
                  <a:moveTo>
                    <a:pt x="0" y="0"/>
                  </a:moveTo>
                  <a:lnTo>
                    <a:pt x="3494723" y="66579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6754178" y="2030730"/>
              <a:ext cx="285750" cy="28575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2960370" y="275367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1769745" y="347662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1469708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1469708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2059305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2059305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2960370" y="347662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2660332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2660332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3249930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3249930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4150995" y="347662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3850005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3850005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4440555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9" name="Ellipse 59"/>
            <p:cNvSpPr/>
            <p:nvPr/>
          </p:nvSpPr>
          <p:spPr>
            <a:xfrm>
              <a:off x="4440555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6531292" y="275367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1" name="Ellipse 61"/>
            <p:cNvSpPr/>
            <p:nvPr/>
          </p:nvSpPr>
          <p:spPr>
            <a:xfrm>
              <a:off x="5341620" y="347662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2" name="Ellipse 62"/>
            <p:cNvSpPr/>
            <p:nvPr/>
          </p:nvSpPr>
          <p:spPr>
            <a:xfrm>
              <a:off x="5040630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5040630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4" name="Ellipse 64"/>
            <p:cNvSpPr/>
            <p:nvPr/>
          </p:nvSpPr>
          <p:spPr>
            <a:xfrm>
              <a:off x="5630228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5" name="Ellipse 65"/>
            <p:cNvSpPr/>
            <p:nvPr/>
          </p:nvSpPr>
          <p:spPr>
            <a:xfrm>
              <a:off x="5630228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6" name="Ellipse 66"/>
            <p:cNvSpPr/>
            <p:nvPr/>
          </p:nvSpPr>
          <p:spPr>
            <a:xfrm>
              <a:off x="6531292" y="347662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7" name="Ellipse 67"/>
            <p:cNvSpPr/>
            <p:nvPr/>
          </p:nvSpPr>
          <p:spPr>
            <a:xfrm>
              <a:off x="6231255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8" name="Ellipse 68"/>
            <p:cNvSpPr/>
            <p:nvPr/>
          </p:nvSpPr>
          <p:spPr>
            <a:xfrm>
              <a:off x="6231255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9" name="Ellipse 69"/>
            <p:cNvSpPr/>
            <p:nvPr/>
          </p:nvSpPr>
          <p:spPr>
            <a:xfrm>
              <a:off x="6832282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0" name="Ellipse 70"/>
            <p:cNvSpPr/>
            <p:nvPr/>
          </p:nvSpPr>
          <p:spPr>
            <a:xfrm>
              <a:off x="6832282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1" name="Ellipse 71"/>
            <p:cNvSpPr/>
            <p:nvPr/>
          </p:nvSpPr>
          <p:spPr>
            <a:xfrm>
              <a:off x="7721918" y="347662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2" name="Ellipse 72"/>
            <p:cNvSpPr/>
            <p:nvPr/>
          </p:nvSpPr>
          <p:spPr>
            <a:xfrm>
              <a:off x="7421880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3" name="Ellipse 73"/>
            <p:cNvSpPr/>
            <p:nvPr/>
          </p:nvSpPr>
          <p:spPr>
            <a:xfrm>
              <a:off x="7421880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4" name="Ellipse 74"/>
            <p:cNvSpPr/>
            <p:nvPr/>
          </p:nvSpPr>
          <p:spPr>
            <a:xfrm>
              <a:off x="8021955" y="419862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5" name="Ellipse 75"/>
            <p:cNvSpPr/>
            <p:nvPr/>
          </p:nvSpPr>
          <p:spPr>
            <a:xfrm>
              <a:off x="8021955" y="49215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6" name="Ellipse 76"/>
            <p:cNvSpPr/>
            <p:nvPr/>
          </p:nvSpPr>
          <p:spPr>
            <a:xfrm>
              <a:off x="9057322" y="275367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7" name="Ellipse 77"/>
            <p:cNvSpPr/>
            <p:nvPr/>
          </p:nvSpPr>
          <p:spPr>
            <a:xfrm>
              <a:off x="10547985" y="275367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850903" y="210883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3057096" y="283083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866471" y="35537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566433" y="42767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566433" y="49987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2156031" y="42767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2156031" y="49987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3057096" y="35537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2757058" y="42767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2716243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05841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3305841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4206906" y="355377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3905916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3905916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4496466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4496466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6587203" y="283083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5397531" y="355377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5096541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5096541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5686138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5686138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6587203" y="355377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6287166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6287166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6888193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6888193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7777828" y="355377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7477791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7477791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8077866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8077866" y="49987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9113233" y="283083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8974658" y="307419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子树省略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0603896" y="283083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10465321" y="307419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子树省略</a:t>
              </a:r>
            </a:p>
          </p:txBody>
        </p:sp>
        <p:sp>
          <p:nvSpPr>
            <p:cNvPr id="115" name="Rectangle 115"/>
            <p:cNvSpPr/>
            <p:nvPr/>
          </p:nvSpPr>
          <p:spPr>
            <a:xfrm>
              <a:off x="4932998" y="245649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6" name="TextBox 116"/>
            <p:cNvSpPr txBox="1"/>
            <p:nvPr/>
          </p:nvSpPr>
          <p:spPr>
            <a:xfrm>
              <a:off x="4965506" y="24855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7" name="Rectangle 117"/>
            <p:cNvSpPr/>
            <p:nvPr/>
          </p:nvSpPr>
          <p:spPr>
            <a:xfrm>
              <a:off x="2441258" y="317944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2472813" y="32084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9" name="Rectangle 119"/>
            <p:cNvSpPr/>
            <p:nvPr/>
          </p:nvSpPr>
          <p:spPr>
            <a:xfrm>
              <a:off x="1696402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0" name="TextBox 120"/>
            <p:cNvSpPr txBox="1"/>
            <p:nvPr/>
          </p:nvSpPr>
          <p:spPr>
            <a:xfrm>
              <a:off x="1727958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1" name="Rectangle 121"/>
            <p:cNvSpPr/>
            <p:nvPr/>
          </p:nvSpPr>
          <p:spPr>
            <a:xfrm>
              <a:off x="1545908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2" name="TextBox 122"/>
            <p:cNvSpPr txBox="1"/>
            <p:nvPr/>
          </p:nvSpPr>
          <p:spPr>
            <a:xfrm>
              <a:off x="1577463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3" name="Rectangle 123"/>
            <p:cNvSpPr/>
            <p:nvPr/>
          </p:nvSpPr>
          <p:spPr>
            <a:xfrm>
              <a:off x="1990725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2022281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2135505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2167061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7" name="Rectangle 127"/>
            <p:cNvSpPr/>
            <p:nvPr/>
          </p:nvSpPr>
          <p:spPr>
            <a:xfrm>
              <a:off x="3036570" y="317944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8" name="TextBox 128"/>
            <p:cNvSpPr txBox="1"/>
            <p:nvPr/>
          </p:nvSpPr>
          <p:spPr>
            <a:xfrm>
              <a:off x="3068126" y="32084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9" name="Rectangle 129"/>
            <p:cNvSpPr/>
            <p:nvPr/>
          </p:nvSpPr>
          <p:spPr>
            <a:xfrm>
              <a:off x="2886075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2917631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1" name="Rectangle 131"/>
            <p:cNvSpPr/>
            <p:nvPr/>
          </p:nvSpPr>
          <p:spPr>
            <a:xfrm>
              <a:off x="2736532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2768088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3" name="Rectangle 133"/>
            <p:cNvSpPr/>
            <p:nvPr/>
          </p:nvSpPr>
          <p:spPr>
            <a:xfrm>
              <a:off x="3181350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4" name="TextBox 134"/>
            <p:cNvSpPr txBox="1"/>
            <p:nvPr/>
          </p:nvSpPr>
          <p:spPr>
            <a:xfrm>
              <a:off x="3212906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5" name="Rectangle 135"/>
            <p:cNvSpPr/>
            <p:nvPr/>
          </p:nvSpPr>
          <p:spPr>
            <a:xfrm>
              <a:off x="3326130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6" name="TextBox 136"/>
            <p:cNvSpPr txBox="1"/>
            <p:nvPr/>
          </p:nvSpPr>
          <p:spPr>
            <a:xfrm>
              <a:off x="3357686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7" name="Rectangle 137"/>
            <p:cNvSpPr/>
            <p:nvPr/>
          </p:nvSpPr>
          <p:spPr>
            <a:xfrm>
              <a:off x="3631882" y="317944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8" name="TextBox 138"/>
            <p:cNvSpPr txBox="1"/>
            <p:nvPr/>
          </p:nvSpPr>
          <p:spPr>
            <a:xfrm>
              <a:off x="3663438" y="32084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4076700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0" name="TextBox 140"/>
            <p:cNvSpPr txBox="1"/>
            <p:nvPr/>
          </p:nvSpPr>
          <p:spPr>
            <a:xfrm>
              <a:off x="4108256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1" name="Rectangle 141"/>
            <p:cNvSpPr/>
            <p:nvPr/>
          </p:nvSpPr>
          <p:spPr>
            <a:xfrm>
              <a:off x="3926205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2" name="TextBox 142"/>
            <p:cNvSpPr txBox="1"/>
            <p:nvPr/>
          </p:nvSpPr>
          <p:spPr>
            <a:xfrm>
              <a:off x="3957761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3" name="Rectangle 143"/>
            <p:cNvSpPr/>
            <p:nvPr/>
          </p:nvSpPr>
          <p:spPr>
            <a:xfrm>
              <a:off x="4371975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4403531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5" name="Rectangle 145"/>
            <p:cNvSpPr/>
            <p:nvPr/>
          </p:nvSpPr>
          <p:spPr>
            <a:xfrm>
              <a:off x="4515802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6" name="TextBox 146"/>
            <p:cNvSpPr txBox="1"/>
            <p:nvPr/>
          </p:nvSpPr>
          <p:spPr>
            <a:xfrm>
              <a:off x="4548311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7" name="Rectangle 147"/>
            <p:cNvSpPr/>
            <p:nvPr/>
          </p:nvSpPr>
          <p:spPr>
            <a:xfrm>
              <a:off x="6718935" y="245649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8" name="TextBox 148"/>
            <p:cNvSpPr txBox="1"/>
            <p:nvPr/>
          </p:nvSpPr>
          <p:spPr>
            <a:xfrm>
              <a:off x="6750491" y="24855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9" name="Rectangle 149"/>
            <p:cNvSpPr/>
            <p:nvPr/>
          </p:nvSpPr>
          <p:spPr>
            <a:xfrm>
              <a:off x="6012180" y="317944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0" name="TextBox 150"/>
            <p:cNvSpPr txBox="1"/>
            <p:nvPr/>
          </p:nvSpPr>
          <p:spPr>
            <a:xfrm>
              <a:off x="6043736" y="32084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1" name="Rectangle 151"/>
            <p:cNvSpPr/>
            <p:nvPr/>
          </p:nvSpPr>
          <p:spPr>
            <a:xfrm>
              <a:off x="5267325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5298881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3" name="Rectangle 153"/>
            <p:cNvSpPr/>
            <p:nvPr/>
          </p:nvSpPr>
          <p:spPr>
            <a:xfrm>
              <a:off x="5116830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4" name="TextBox 154"/>
            <p:cNvSpPr txBox="1"/>
            <p:nvPr/>
          </p:nvSpPr>
          <p:spPr>
            <a:xfrm>
              <a:off x="5148386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55" name="Rectangle 155"/>
            <p:cNvSpPr/>
            <p:nvPr/>
          </p:nvSpPr>
          <p:spPr>
            <a:xfrm>
              <a:off x="5561648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6" name="TextBox 156"/>
            <p:cNvSpPr txBox="1"/>
            <p:nvPr/>
          </p:nvSpPr>
          <p:spPr>
            <a:xfrm>
              <a:off x="5593203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57" name="Rectangle 157"/>
            <p:cNvSpPr/>
            <p:nvPr/>
          </p:nvSpPr>
          <p:spPr>
            <a:xfrm>
              <a:off x="5706428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8" name="TextBox 158"/>
            <p:cNvSpPr txBox="1"/>
            <p:nvPr/>
          </p:nvSpPr>
          <p:spPr>
            <a:xfrm>
              <a:off x="5737983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9" name="Rectangle 159"/>
            <p:cNvSpPr/>
            <p:nvPr/>
          </p:nvSpPr>
          <p:spPr>
            <a:xfrm>
              <a:off x="6607492" y="317944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0" name="TextBox 160"/>
            <p:cNvSpPr txBox="1"/>
            <p:nvPr/>
          </p:nvSpPr>
          <p:spPr>
            <a:xfrm>
              <a:off x="6639048" y="32084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1" name="Rectangle 161"/>
            <p:cNvSpPr/>
            <p:nvPr/>
          </p:nvSpPr>
          <p:spPr>
            <a:xfrm>
              <a:off x="6457950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2" name="TextBox 162"/>
            <p:cNvSpPr txBox="1"/>
            <p:nvPr/>
          </p:nvSpPr>
          <p:spPr>
            <a:xfrm>
              <a:off x="6489506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3" name="Rectangle 163"/>
            <p:cNvSpPr/>
            <p:nvPr/>
          </p:nvSpPr>
          <p:spPr>
            <a:xfrm>
              <a:off x="6307455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4" name="TextBox 164"/>
            <p:cNvSpPr txBox="1"/>
            <p:nvPr/>
          </p:nvSpPr>
          <p:spPr>
            <a:xfrm>
              <a:off x="6339011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5" name="Rectangle 165"/>
            <p:cNvSpPr/>
            <p:nvPr/>
          </p:nvSpPr>
          <p:spPr>
            <a:xfrm>
              <a:off x="6757988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6" name="TextBox 166"/>
            <p:cNvSpPr txBox="1"/>
            <p:nvPr/>
          </p:nvSpPr>
          <p:spPr>
            <a:xfrm>
              <a:off x="6789543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7" name="Rectangle 167"/>
            <p:cNvSpPr/>
            <p:nvPr/>
          </p:nvSpPr>
          <p:spPr>
            <a:xfrm>
              <a:off x="6908482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8" name="TextBox 168"/>
            <p:cNvSpPr txBox="1"/>
            <p:nvPr/>
          </p:nvSpPr>
          <p:spPr>
            <a:xfrm>
              <a:off x="6940038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9" name="Rectangle 169"/>
            <p:cNvSpPr/>
            <p:nvPr/>
          </p:nvSpPr>
          <p:spPr>
            <a:xfrm>
              <a:off x="7202805" y="317944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0" name="TextBox 170"/>
            <p:cNvSpPr txBox="1"/>
            <p:nvPr/>
          </p:nvSpPr>
          <p:spPr>
            <a:xfrm>
              <a:off x="7234361" y="32084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71" name="Rectangle 171"/>
            <p:cNvSpPr/>
            <p:nvPr/>
          </p:nvSpPr>
          <p:spPr>
            <a:xfrm>
              <a:off x="7647622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2" name="TextBox 172"/>
            <p:cNvSpPr txBox="1"/>
            <p:nvPr/>
          </p:nvSpPr>
          <p:spPr>
            <a:xfrm>
              <a:off x="7679178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3" name="Rectangle 173"/>
            <p:cNvSpPr/>
            <p:nvPr/>
          </p:nvSpPr>
          <p:spPr>
            <a:xfrm>
              <a:off x="7498080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4" name="TextBox 174"/>
            <p:cNvSpPr txBox="1"/>
            <p:nvPr/>
          </p:nvSpPr>
          <p:spPr>
            <a:xfrm>
              <a:off x="7529636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5" name="Rectangle 175"/>
            <p:cNvSpPr/>
            <p:nvPr/>
          </p:nvSpPr>
          <p:spPr>
            <a:xfrm>
              <a:off x="7948612" y="390144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6" name="TextBox 176"/>
            <p:cNvSpPr txBox="1"/>
            <p:nvPr/>
          </p:nvSpPr>
          <p:spPr>
            <a:xfrm>
              <a:off x="7980168" y="39314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7" name="Rectangle 177"/>
            <p:cNvSpPr/>
            <p:nvPr/>
          </p:nvSpPr>
          <p:spPr>
            <a:xfrm>
              <a:off x="8098155" y="462438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8" name="TextBox 178"/>
            <p:cNvSpPr txBox="1"/>
            <p:nvPr/>
          </p:nvSpPr>
          <p:spPr>
            <a:xfrm>
              <a:off x="8129711" y="46534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9" name="Rectangle 179"/>
            <p:cNvSpPr/>
            <p:nvPr/>
          </p:nvSpPr>
          <p:spPr>
            <a:xfrm>
              <a:off x="7981950" y="245649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0" name="TextBox 180"/>
            <p:cNvSpPr txBox="1"/>
            <p:nvPr/>
          </p:nvSpPr>
          <p:spPr>
            <a:xfrm>
              <a:off x="8013506" y="24855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1" name="Rectangle 181"/>
            <p:cNvSpPr/>
            <p:nvPr/>
          </p:nvSpPr>
          <p:spPr>
            <a:xfrm>
              <a:off x="8726805" y="245649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2" name="TextBox 182"/>
            <p:cNvSpPr txBox="1"/>
            <p:nvPr/>
          </p:nvSpPr>
          <p:spPr>
            <a:xfrm>
              <a:off x="8758361" y="24855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724566" y="242220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24566" y="31442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724566" y="3867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186" name="TextBox 186"/>
            <p:cNvSpPr txBox="1"/>
            <p:nvPr/>
          </p:nvSpPr>
          <p:spPr>
            <a:xfrm>
              <a:off x="724566" y="458914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</p:grpSp>
      <p:grpSp>
        <p:nvGrpSpPr>
          <p:cNvPr id="194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188" name="Rectangle 188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2" name="Group 192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189" name="Freeform 189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90" name="Freeform 190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91" name="Freeform 191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93" name="TextBox 193"/>
            <p:cNvSpPr txBox="1"/>
            <p:nvPr/>
          </p:nvSpPr>
          <p:spPr>
            <a:xfrm>
              <a:off x="1040130" y="5728335"/>
              <a:ext cx="9892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各层结点数 1、4、12、24、24，合计 65。结点 34、50 的子树与结点 2、18 的子树形状相同（各 16 个结点），图中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省略。</a:t>
              </a:r>
            </a:p>
          </p:txBody>
        </p:sp>
      </p:grpSp>
      <p:grpSp>
        <p:nvGrpSpPr>
          <p:cNvPr id="1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5" name="TextBox 19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96" name="TextBox 1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子集和数问题：同一个问题可以用两种元组表示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289794" cy="597598"/>
            <a:chOff x="525399" y="1550194"/>
            <a:chExt cx="10289794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289794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已知 n 个正数 wᵢ（1 ≤ i ≤ n）和 M，要求找出 wᵢ 中和数是 M 的所有子集。例：n = 4，(w₁, w₂, w₃, w₄) = (11,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13, 24, 7)，M = 31。</a:t>
              </a:r>
            </a:p>
          </p:txBody>
        </p:sp>
      </p:grpSp>
      <p:grpSp>
        <p:nvGrpSpPr>
          <p:cNvPr id="42" name="c1-table-1"/>
          <p:cNvGrpSpPr/>
          <p:nvPr/>
        </p:nvGrpSpPr>
        <p:grpSpPr>
          <a:xfrm>
            <a:off x="533400" y="2257425"/>
            <a:ext cx="11125200" cy="3141345"/>
            <a:chOff x="533400" y="2257425"/>
            <a:chExt cx="11125200" cy="3141345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44244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445533" y="2393156"/>
              <a:ext cx="21862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固定长 n-元组 (x₁, …, xₙ)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74053" y="2393156"/>
              <a:ext cx="30732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可变长 k-元组 (x₁, …, xₖ)，1 ≤ k ≤ 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84178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分量含义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21446" y="2841784"/>
              <a:ext cx="38383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 表示是否选择 wᵢ：选择则 xᵢ = 1，否则 xᵢ = 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871526" y="2841784"/>
              <a:ext cx="34419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 是被选中的 w 的下标，不同的解 k 值不同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15087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15468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2904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显式约束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21446" y="329041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 ∈ {0, 1}，1 ≤ i ≤ 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871526" y="3290411"/>
              <a:ext cx="22444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 ∈ {j | 1 ≤ j ≤ n}，1 ≤ i ≤ k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994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7390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隐式约束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21446" y="3739039"/>
              <a:ext cx="9254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wᵢxᵢ = M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71526" y="3739039"/>
              <a:ext cx="39088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没有两个 xᵢ 相同，xᵢ &lt; xᵢ₊₁，相应 w 之和等于 M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04812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05288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418861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本例的可行解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21446" y="4188619"/>
              <a:ext cx="35884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11+13+7：(1, 1, 0, 1)；24+7：(0, 0, 1, 1)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1526" y="4188619"/>
              <a:ext cx="28647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11+13+7：(1, 2, 4)；24+7：(3, 4)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4967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463724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解空间大小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21446" y="4637246"/>
              <a:ext cx="17877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2ⁿ = 2⁴ = 16 个 4-元组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71526" y="4637246"/>
              <a:ext cx="21927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2ⁿ = 16 个元组（含空向量）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94538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95014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1223" y="508587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哪些结点是解状态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421446" y="508587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叶结点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71526" y="50858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所有结点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2257425"/>
              <a:ext cx="11125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308860" y="225742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758940" y="225742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3" name="Rectangle 43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871210"/>
              <a:ext cx="200026" cy="200025"/>
              <a:chOff x="738188" y="5871210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728335"/>
              <a:ext cx="98736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两种表示的多米诺性质相同：部分解向量之和大于 M，包含它的解向量之和也大于 M（各 wᵢ 为正）。要求 xᵢ &lt; xᵢ₊₁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是为了避免 (1,2,4) 与 (1,4,2) 这类重复。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30617" cy="909257"/>
            <a:chOff x="520446" y="342900"/>
            <a:chExt cx="89306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306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固定长 4-元组的解空间树：31 个结点，叶结点才是解状态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906845" cy="308039"/>
            <a:chOff x="525399" y="1550194"/>
            <a:chExt cx="890684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90684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左分支 xᵢ = 1（选 wᵢ），右分支 xᵢ = 0；结点按深度优先顺序编号。绿色为本例的答案状态。</a:t>
              </a:r>
            </a:p>
          </p:txBody>
        </p:sp>
      </p:grpSp>
      <p:grpSp>
        <p:nvGrpSpPr>
          <p:cNvPr id="165" name="c1-graph-1"/>
          <p:cNvGrpSpPr/>
          <p:nvPr/>
        </p:nvGrpSpPr>
        <p:grpSpPr>
          <a:xfrm>
            <a:off x="724566" y="2030730"/>
            <a:ext cx="10542556" cy="3313748"/>
            <a:chOff x="724566" y="2030730"/>
            <a:chExt cx="10542556" cy="3313748"/>
          </a:xfrm>
        </p:grpSpPr>
        <p:sp>
          <p:nvSpPr>
            <p:cNvPr id="9" name="Freeform 9"/>
            <p:cNvSpPr/>
            <p:nvPr/>
          </p:nvSpPr>
          <p:spPr>
            <a:xfrm>
              <a:off x="3994785" y="2217420"/>
              <a:ext cx="2233612" cy="669608"/>
            </a:xfrm>
            <a:custGeom>
              <a:avLst/>
              <a:gdLst/>
              <a:ahLst/>
              <a:cxnLst/>
              <a:rect l="l" t="t" r="r" b="b"/>
              <a:pathLst>
                <a:path w="2233612" h="669608">
                  <a:moveTo>
                    <a:pt x="2233612" y="0"/>
                  </a:moveTo>
                  <a:lnTo>
                    <a:pt x="0" y="6696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11768" y="3008948"/>
              <a:ext cx="1005840" cy="601028"/>
            </a:xfrm>
            <a:custGeom>
              <a:avLst/>
              <a:gdLst/>
              <a:ahLst/>
              <a:cxnLst/>
              <a:rect l="l" t="t" r="r" b="b"/>
              <a:pathLst>
                <a:path w="1005840" h="601028">
                  <a:moveTo>
                    <a:pt x="1005840" y="0"/>
                  </a:moveTo>
                  <a:lnTo>
                    <a:pt x="0" y="6010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044065" y="3804285"/>
              <a:ext cx="438150" cy="523875"/>
            </a:xfrm>
            <a:custGeom>
              <a:avLst/>
              <a:gdLst/>
              <a:ahLst/>
              <a:cxnLst/>
              <a:rect l="l" t="t" r="r" b="b"/>
              <a:pathLst>
                <a:path w="438150" h="523875">
                  <a:moveTo>
                    <a:pt x="438150" y="0"/>
                  </a:moveTo>
                  <a:lnTo>
                    <a:pt x="0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683068" y="4585335"/>
              <a:ext cx="203835" cy="476250"/>
            </a:xfrm>
            <a:custGeom>
              <a:avLst/>
              <a:gdLst/>
              <a:ahLst/>
              <a:cxnLst/>
              <a:rect l="l" t="t" r="r" b="b"/>
              <a:pathLst>
                <a:path w="203835" h="476250">
                  <a:moveTo>
                    <a:pt x="203835" y="0"/>
                  </a:moveTo>
                  <a:lnTo>
                    <a:pt x="0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004060" y="4585335"/>
              <a:ext cx="196215" cy="475297"/>
            </a:xfrm>
            <a:custGeom>
              <a:avLst/>
              <a:gdLst/>
              <a:ahLst/>
              <a:cxnLst/>
              <a:rect l="l" t="t" r="r" b="b"/>
              <a:pathLst>
                <a:path w="196215" h="475297">
                  <a:moveTo>
                    <a:pt x="0" y="0"/>
                  </a:moveTo>
                  <a:lnTo>
                    <a:pt x="196215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678430" y="3804285"/>
              <a:ext cx="438150" cy="523875"/>
            </a:xfrm>
            <a:custGeom>
              <a:avLst/>
              <a:gdLst/>
              <a:ahLst/>
              <a:cxnLst/>
              <a:rect l="l" t="t" r="r" b="b"/>
              <a:pathLst>
                <a:path w="438150" h="523875">
                  <a:moveTo>
                    <a:pt x="0" y="0"/>
                  </a:moveTo>
                  <a:lnTo>
                    <a:pt x="438150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951798" y="4585335"/>
              <a:ext cx="202883" cy="476250"/>
            </a:xfrm>
            <a:custGeom>
              <a:avLst/>
              <a:gdLst/>
              <a:ahLst/>
              <a:cxnLst/>
              <a:rect l="l" t="t" r="r" b="b"/>
              <a:pathLst>
                <a:path w="202883" h="476250">
                  <a:moveTo>
                    <a:pt x="202883" y="0"/>
                  </a:moveTo>
                  <a:lnTo>
                    <a:pt x="0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272790" y="4585335"/>
              <a:ext cx="195262" cy="475297"/>
            </a:xfrm>
            <a:custGeom>
              <a:avLst/>
              <a:gdLst/>
              <a:ahLst/>
              <a:cxnLst/>
              <a:rect l="l" t="t" r="r" b="b"/>
              <a:pathLst>
                <a:path w="195262" h="475297">
                  <a:moveTo>
                    <a:pt x="0" y="0"/>
                  </a:moveTo>
                  <a:lnTo>
                    <a:pt x="195262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979545" y="3009900"/>
              <a:ext cx="995362" cy="599122"/>
            </a:xfrm>
            <a:custGeom>
              <a:avLst/>
              <a:gdLst/>
              <a:ahLst/>
              <a:cxnLst/>
              <a:rect l="l" t="t" r="r" b="b"/>
              <a:pathLst>
                <a:path w="995362" h="599122">
                  <a:moveTo>
                    <a:pt x="0" y="0"/>
                  </a:moveTo>
                  <a:lnTo>
                    <a:pt x="995362" y="59912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569142" y="3804285"/>
              <a:ext cx="439102" cy="523875"/>
            </a:xfrm>
            <a:custGeom>
              <a:avLst/>
              <a:gdLst/>
              <a:ahLst/>
              <a:cxnLst/>
              <a:rect l="l" t="t" r="r" b="b"/>
              <a:pathLst>
                <a:path w="439102" h="523875">
                  <a:moveTo>
                    <a:pt x="439102" y="0"/>
                  </a:moveTo>
                  <a:lnTo>
                    <a:pt x="0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4218622" y="4585335"/>
              <a:ext cx="195262" cy="475297"/>
            </a:xfrm>
            <a:custGeom>
              <a:avLst/>
              <a:gdLst/>
              <a:ahLst/>
              <a:cxnLst/>
              <a:rect l="l" t="t" r="r" b="b"/>
              <a:pathLst>
                <a:path w="195262" h="475297">
                  <a:moveTo>
                    <a:pt x="195262" y="0"/>
                  </a:moveTo>
                  <a:lnTo>
                    <a:pt x="0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531042" y="4585335"/>
              <a:ext cx="203835" cy="476250"/>
            </a:xfrm>
            <a:custGeom>
              <a:avLst/>
              <a:gdLst/>
              <a:ahLst/>
              <a:cxnLst/>
              <a:rect l="l" t="t" r="r" b="b"/>
              <a:pathLst>
                <a:path w="203835" h="476250">
                  <a:moveTo>
                    <a:pt x="0" y="0"/>
                  </a:moveTo>
                  <a:lnTo>
                    <a:pt x="203835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203508" y="3804285"/>
              <a:ext cx="438150" cy="523875"/>
            </a:xfrm>
            <a:custGeom>
              <a:avLst/>
              <a:gdLst/>
              <a:ahLst/>
              <a:cxnLst/>
              <a:rect l="l" t="t" r="r" b="b"/>
              <a:pathLst>
                <a:path w="438150" h="523875">
                  <a:moveTo>
                    <a:pt x="0" y="0"/>
                  </a:moveTo>
                  <a:lnTo>
                    <a:pt x="438150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486400" y="4585335"/>
              <a:ext cx="195262" cy="475297"/>
            </a:xfrm>
            <a:custGeom>
              <a:avLst/>
              <a:gdLst/>
              <a:ahLst/>
              <a:cxnLst/>
              <a:rect l="l" t="t" r="r" b="b"/>
              <a:pathLst>
                <a:path w="195262" h="475297">
                  <a:moveTo>
                    <a:pt x="195262" y="0"/>
                  </a:moveTo>
                  <a:lnTo>
                    <a:pt x="0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5799772" y="4585335"/>
              <a:ext cx="202883" cy="476250"/>
            </a:xfrm>
            <a:custGeom>
              <a:avLst/>
              <a:gdLst/>
              <a:ahLst/>
              <a:cxnLst/>
              <a:rect l="l" t="t" r="r" b="b"/>
              <a:pathLst>
                <a:path w="202883" h="476250">
                  <a:moveTo>
                    <a:pt x="0" y="0"/>
                  </a:moveTo>
                  <a:lnTo>
                    <a:pt x="202883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6519862" y="2217420"/>
              <a:ext cx="2233612" cy="669608"/>
            </a:xfrm>
            <a:custGeom>
              <a:avLst/>
              <a:gdLst/>
              <a:ahLst/>
              <a:cxnLst/>
              <a:rect l="l" t="t" r="r" b="b"/>
              <a:pathLst>
                <a:path w="2233612" h="669608">
                  <a:moveTo>
                    <a:pt x="0" y="0"/>
                  </a:moveTo>
                  <a:lnTo>
                    <a:pt x="2233612" y="6696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773352" y="3009900"/>
              <a:ext cx="995362" cy="599122"/>
            </a:xfrm>
            <a:custGeom>
              <a:avLst/>
              <a:gdLst/>
              <a:ahLst/>
              <a:cxnLst/>
              <a:rect l="l" t="t" r="r" b="b"/>
              <a:pathLst>
                <a:path w="995362" h="599122">
                  <a:moveTo>
                    <a:pt x="995362" y="0"/>
                  </a:moveTo>
                  <a:lnTo>
                    <a:pt x="0" y="59912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106602" y="3804285"/>
              <a:ext cx="438150" cy="523875"/>
            </a:xfrm>
            <a:custGeom>
              <a:avLst/>
              <a:gdLst/>
              <a:ahLst/>
              <a:cxnLst/>
              <a:rect l="l" t="t" r="r" b="b"/>
              <a:pathLst>
                <a:path w="438150" h="523875">
                  <a:moveTo>
                    <a:pt x="438150" y="0"/>
                  </a:moveTo>
                  <a:lnTo>
                    <a:pt x="0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6745605" y="4585335"/>
              <a:ext cx="202882" cy="476250"/>
            </a:xfrm>
            <a:custGeom>
              <a:avLst/>
              <a:gdLst/>
              <a:ahLst/>
              <a:cxnLst/>
              <a:rect l="l" t="t" r="r" b="b"/>
              <a:pathLst>
                <a:path w="202882" h="476250">
                  <a:moveTo>
                    <a:pt x="202882" y="0"/>
                  </a:moveTo>
                  <a:lnTo>
                    <a:pt x="0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066598" y="4585335"/>
              <a:ext cx="195262" cy="475297"/>
            </a:xfrm>
            <a:custGeom>
              <a:avLst/>
              <a:gdLst/>
              <a:ahLst/>
              <a:cxnLst/>
              <a:rect l="l" t="t" r="r" b="b"/>
              <a:pathLst>
                <a:path w="195262" h="475297">
                  <a:moveTo>
                    <a:pt x="0" y="0"/>
                  </a:moveTo>
                  <a:lnTo>
                    <a:pt x="195262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740015" y="3804285"/>
              <a:ext cx="439103" cy="523875"/>
            </a:xfrm>
            <a:custGeom>
              <a:avLst/>
              <a:gdLst/>
              <a:ahLst/>
              <a:cxnLst/>
              <a:rect l="l" t="t" r="r" b="b"/>
              <a:pathLst>
                <a:path w="439103" h="523875">
                  <a:moveTo>
                    <a:pt x="0" y="0"/>
                  </a:moveTo>
                  <a:lnTo>
                    <a:pt x="439103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8013382" y="4585335"/>
              <a:ext cx="203835" cy="476250"/>
            </a:xfrm>
            <a:custGeom>
              <a:avLst/>
              <a:gdLst/>
              <a:ahLst/>
              <a:cxnLst/>
              <a:rect l="l" t="t" r="r" b="b"/>
              <a:pathLst>
                <a:path w="203835" h="476250">
                  <a:moveTo>
                    <a:pt x="203835" y="0"/>
                  </a:moveTo>
                  <a:lnTo>
                    <a:pt x="0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334375" y="4585335"/>
              <a:ext cx="195262" cy="475297"/>
            </a:xfrm>
            <a:custGeom>
              <a:avLst/>
              <a:gdLst/>
              <a:ahLst/>
              <a:cxnLst/>
              <a:rect l="l" t="t" r="r" b="b"/>
              <a:pathLst>
                <a:path w="195262" h="475297">
                  <a:moveTo>
                    <a:pt x="0" y="0"/>
                  </a:moveTo>
                  <a:lnTo>
                    <a:pt x="195262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030652" y="3008948"/>
              <a:ext cx="1005840" cy="601028"/>
            </a:xfrm>
            <a:custGeom>
              <a:avLst/>
              <a:gdLst/>
              <a:ahLst/>
              <a:cxnLst/>
              <a:rect l="l" t="t" r="r" b="b"/>
              <a:pathLst>
                <a:path w="1005840" h="601028">
                  <a:moveTo>
                    <a:pt x="0" y="0"/>
                  </a:moveTo>
                  <a:lnTo>
                    <a:pt x="1005840" y="6010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631680" y="3804285"/>
              <a:ext cx="438150" cy="523875"/>
            </a:xfrm>
            <a:custGeom>
              <a:avLst/>
              <a:gdLst/>
              <a:ahLst/>
              <a:cxnLst/>
              <a:rect l="l" t="t" r="r" b="b"/>
              <a:pathLst>
                <a:path w="438150" h="523875">
                  <a:moveTo>
                    <a:pt x="438150" y="0"/>
                  </a:moveTo>
                  <a:lnTo>
                    <a:pt x="0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280208" y="4585335"/>
              <a:ext cx="195262" cy="475297"/>
            </a:xfrm>
            <a:custGeom>
              <a:avLst/>
              <a:gdLst/>
              <a:ahLst/>
              <a:cxnLst/>
              <a:rect l="l" t="t" r="r" b="b"/>
              <a:pathLst>
                <a:path w="195262" h="475297">
                  <a:moveTo>
                    <a:pt x="195262" y="0"/>
                  </a:moveTo>
                  <a:lnTo>
                    <a:pt x="0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593580" y="4585335"/>
              <a:ext cx="202882" cy="476250"/>
            </a:xfrm>
            <a:custGeom>
              <a:avLst/>
              <a:gdLst/>
              <a:ahLst/>
              <a:cxnLst/>
              <a:rect l="l" t="t" r="r" b="b"/>
              <a:pathLst>
                <a:path w="202882" h="476250">
                  <a:moveTo>
                    <a:pt x="0" y="0"/>
                  </a:moveTo>
                  <a:lnTo>
                    <a:pt x="202882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266045" y="3804285"/>
              <a:ext cx="438150" cy="523875"/>
            </a:xfrm>
            <a:custGeom>
              <a:avLst/>
              <a:gdLst/>
              <a:ahLst/>
              <a:cxnLst/>
              <a:rect l="l" t="t" r="r" b="b"/>
              <a:pathLst>
                <a:path w="438150" h="523875">
                  <a:moveTo>
                    <a:pt x="0" y="0"/>
                  </a:moveTo>
                  <a:lnTo>
                    <a:pt x="438150" y="5238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0547985" y="4585335"/>
              <a:ext cx="196215" cy="475297"/>
            </a:xfrm>
            <a:custGeom>
              <a:avLst/>
              <a:gdLst/>
              <a:ahLst/>
              <a:cxnLst/>
              <a:rect l="l" t="t" r="r" b="b"/>
              <a:pathLst>
                <a:path w="196215" h="475297">
                  <a:moveTo>
                    <a:pt x="196215" y="0"/>
                  </a:moveTo>
                  <a:lnTo>
                    <a:pt x="0" y="4752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0861358" y="4585335"/>
              <a:ext cx="203835" cy="476250"/>
            </a:xfrm>
            <a:custGeom>
              <a:avLst/>
              <a:gdLst/>
              <a:ahLst/>
              <a:cxnLst/>
              <a:rect l="l" t="t" r="r" b="b"/>
              <a:pathLst>
                <a:path w="203835" h="476250">
                  <a:moveTo>
                    <a:pt x="0" y="0"/>
                  </a:moveTo>
                  <a:lnTo>
                    <a:pt x="203835" y="4762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6231255" y="2030730"/>
              <a:ext cx="285750" cy="28575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3706178" y="27879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2437448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1803082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1481138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2114550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3071812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2748915" y="5058728"/>
              <a:ext cx="285750" cy="2857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3383280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4962525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4329112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4017645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4651058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5596890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5285422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5919788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8756332" y="278796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7499985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6865620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6542722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9" name="Ellipse 59"/>
            <p:cNvSpPr/>
            <p:nvPr/>
          </p:nvSpPr>
          <p:spPr>
            <a:xfrm>
              <a:off x="7177088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8133398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1" name="Ellipse 61"/>
            <p:cNvSpPr/>
            <p:nvPr/>
          </p:nvSpPr>
          <p:spPr>
            <a:xfrm>
              <a:off x="7811452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2" name="Ellipse 62"/>
            <p:cNvSpPr/>
            <p:nvPr/>
          </p:nvSpPr>
          <p:spPr>
            <a:xfrm>
              <a:off x="8444865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10025062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4" name="Ellipse 64"/>
            <p:cNvSpPr/>
            <p:nvPr/>
          </p:nvSpPr>
          <p:spPr>
            <a:xfrm>
              <a:off x="9390698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5" name="Ellipse 65"/>
            <p:cNvSpPr/>
            <p:nvPr/>
          </p:nvSpPr>
          <p:spPr>
            <a:xfrm>
              <a:off x="9079230" y="5058728"/>
              <a:ext cx="285750" cy="2857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66" name="Ellipse 66"/>
            <p:cNvSpPr/>
            <p:nvPr/>
          </p:nvSpPr>
          <p:spPr>
            <a:xfrm>
              <a:off x="9713595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7" name="Ellipse 67"/>
            <p:cNvSpPr/>
            <p:nvPr/>
          </p:nvSpPr>
          <p:spPr>
            <a:xfrm>
              <a:off x="10659428" y="4302442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8" name="Ellipse 68"/>
            <p:cNvSpPr/>
            <p:nvPr/>
          </p:nvSpPr>
          <p:spPr>
            <a:xfrm>
              <a:off x="10347960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9" name="Ellipse 69"/>
            <p:cNvSpPr/>
            <p:nvPr/>
          </p:nvSpPr>
          <p:spPr>
            <a:xfrm>
              <a:off x="10981372" y="505872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327981" y="210883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3802903" y="28651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2534173" y="36223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899808" y="437959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577863" y="513683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2211276" y="513683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3168538" y="437959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2845641" y="513683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3480006" y="513683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018436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4385023" y="4379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4073556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706968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5652801" y="4379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5341333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5975698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812243" y="28651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7555896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6921531" y="4379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6598633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7232998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189308" y="4379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867363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500776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0080973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446608" y="4379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9135141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9769506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10715338" y="4379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403871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037283" y="513683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5044440" y="247364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5075996" y="25036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3148012" y="323088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3179568" y="325993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5" name="Rectangle 105"/>
            <p:cNvSpPr/>
            <p:nvPr/>
          </p:nvSpPr>
          <p:spPr>
            <a:xfrm>
              <a:off x="2196465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2228021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1718310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1749866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2035492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2067048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2830830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2" name="TextBox 112"/>
            <p:cNvSpPr txBox="1"/>
            <p:nvPr/>
          </p:nvSpPr>
          <p:spPr>
            <a:xfrm>
              <a:off x="2862386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3" name="Rectangle 113"/>
            <p:cNvSpPr/>
            <p:nvPr/>
          </p:nvSpPr>
          <p:spPr>
            <a:xfrm>
              <a:off x="2986088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3018596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5" name="Rectangle 115"/>
            <p:cNvSpPr/>
            <p:nvPr/>
          </p:nvSpPr>
          <p:spPr>
            <a:xfrm>
              <a:off x="3303270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6" name="TextBox 116"/>
            <p:cNvSpPr txBox="1"/>
            <p:nvPr/>
          </p:nvSpPr>
          <p:spPr>
            <a:xfrm>
              <a:off x="3334826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7" name="Rectangle 117"/>
            <p:cNvSpPr/>
            <p:nvPr/>
          </p:nvSpPr>
          <p:spPr>
            <a:xfrm>
              <a:off x="4410075" y="323088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4442583" y="325993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9" name="Rectangle 119"/>
            <p:cNvSpPr/>
            <p:nvPr/>
          </p:nvSpPr>
          <p:spPr>
            <a:xfrm>
              <a:off x="4722495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0" name="TextBox 120"/>
            <p:cNvSpPr txBox="1"/>
            <p:nvPr/>
          </p:nvSpPr>
          <p:spPr>
            <a:xfrm>
              <a:off x="4754051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1" name="Rectangle 121"/>
            <p:cNvSpPr/>
            <p:nvPr/>
          </p:nvSpPr>
          <p:spPr>
            <a:xfrm>
              <a:off x="4249102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2" name="TextBox 122"/>
            <p:cNvSpPr txBox="1"/>
            <p:nvPr/>
          </p:nvSpPr>
          <p:spPr>
            <a:xfrm>
              <a:off x="4280658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3" name="Rectangle 123"/>
            <p:cNvSpPr/>
            <p:nvPr/>
          </p:nvSpPr>
          <p:spPr>
            <a:xfrm>
              <a:off x="4566285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4597841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5355908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5387463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7" name="Rectangle 127"/>
            <p:cNvSpPr/>
            <p:nvPr/>
          </p:nvSpPr>
          <p:spPr>
            <a:xfrm>
              <a:off x="5517832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8" name="TextBox 128"/>
            <p:cNvSpPr txBox="1"/>
            <p:nvPr/>
          </p:nvSpPr>
          <p:spPr>
            <a:xfrm>
              <a:off x="5549388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9" name="Rectangle 129"/>
            <p:cNvSpPr/>
            <p:nvPr/>
          </p:nvSpPr>
          <p:spPr>
            <a:xfrm>
              <a:off x="5835015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5866571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1" name="Rectangle 131"/>
            <p:cNvSpPr/>
            <p:nvPr/>
          </p:nvSpPr>
          <p:spPr>
            <a:xfrm>
              <a:off x="7570470" y="247364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7602026" y="25036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3" name="Rectangle 133"/>
            <p:cNvSpPr/>
            <p:nvPr/>
          </p:nvSpPr>
          <p:spPr>
            <a:xfrm>
              <a:off x="8203882" y="323088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4" name="TextBox 134"/>
            <p:cNvSpPr txBox="1"/>
            <p:nvPr/>
          </p:nvSpPr>
          <p:spPr>
            <a:xfrm>
              <a:off x="8235438" y="325993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5" name="Rectangle 135"/>
            <p:cNvSpPr/>
            <p:nvPr/>
          </p:nvSpPr>
          <p:spPr>
            <a:xfrm>
              <a:off x="7259002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6" name="TextBox 136"/>
            <p:cNvSpPr txBox="1"/>
            <p:nvPr/>
          </p:nvSpPr>
          <p:spPr>
            <a:xfrm>
              <a:off x="7290558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7" name="Rectangle 137"/>
            <p:cNvSpPr/>
            <p:nvPr/>
          </p:nvSpPr>
          <p:spPr>
            <a:xfrm>
              <a:off x="6779895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8" name="TextBox 138"/>
            <p:cNvSpPr txBox="1"/>
            <p:nvPr/>
          </p:nvSpPr>
          <p:spPr>
            <a:xfrm>
              <a:off x="6811451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7097078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0" name="TextBox 140"/>
            <p:cNvSpPr txBox="1"/>
            <p:nvPr/>
          </p:nvSpPr>
          <p:spPr>
            <a:xfrm>
              <a:off x="7128633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1" name="Rectangle 141"/>
            <p:cNvSpPr/>
            <p:nvPr/>
          </p:nvSpPr>
          <p:spPr>
            <a:xfrm>
              <a:off x="7892415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2" name="TextBox 142"/>
            <p:cNvSpPr txBox="1"/>
            <p:nvPr/>
          </p:nvSpPr>
          <p:spPr>
            <a:xfrm>
              <a:off x="7923971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3" name="Rectangle 143"/>
            <p:cNvSpPr/>
            <p:nvPr/>
          </p:nvSpPr>
          <p:spPr>
            <a:xfrm>
              <a:off x="8048625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8080181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5" name="Rectangle 145"/>
            <p:cNvSpPr/>
            <p:nvPr/>
          </p:nvSpPr>
          <p:spPr>
            <a:xfrm>
              <a:off x="8365808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6" name="TextBox 146"/>
            <p:cNvSpPr txBox="1"/>
            <p:nvPr/>
          </p:nvSpPr>
          <p:spPr>
            <a:xfrm>
              <a:off x="8397363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7" name="Rectangle 147"/>
            <p:cNvSpPr/>
            <p:nvPr/>
          </p:nvSpPr>
          <p:spPr>
            <a:xfrm>
              <a:off x="9466898" y="323088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8" name="TextBox 148"/>
            <p:cNvSpPr txBox="1"/>
            <p:nvPr/>
          </p:nvSpPr>
          <p:spPr>
            <a:xfrm>
              <a:off x="9498453" y="325993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9" name="Rectangle 149"/>
            <p:cNvSpPr/>
            <p:nvPr/>
          </p:nvSpPr>
          <p:spPr>
            <a:xfrm>
              <a:off x="9784080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0" name="TextBox 150"/>
            <p:cNvSpPr txBox="1"/>
            <p:nvPr/>
          </p:nvSpPr>
          <p:spPr>
            <a:xfrm>
              <a:off x="9815636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1" name="Rectangle 151"/>
            <p:cNvSpPr/>
            <p:nvPr/>
          </p:nvSpPr>
          <p:spPr>
            <a:xfrm>
              <a:off x="9311640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9343196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3" name="Rectangle 153"/>
            <p:cNvSpPr/>
            <p:nvPr/>
          </p:nvSpPr>
          <p:spPr>
            <a:xfrm>
              <a:off x="9627870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4" name="TextBox 154"/>
            <p:cNvSpPr txBox="1"/>
            <p:nvPr/>
          </p:nvSpPr>
          <p:spPr>
            <a:xfrm>
              <a:off x="9659426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5" name="Rectangle 155"/>
            <p:cNvSpPr/>
            <p:nvPr/>
          </p:nvSpPr>
          <p:spPr>
            <a:xfrm>
              <a:off x="10418445" y="39881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6" name="TextBox 156"/>
            <p:cNvSpPr txBox="1"/>
            <p:nvPr/>
          </p:nvSpPr>
          <p:spPr>
            <a:xfrm>
              <a:off x="10450001" y="40171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7" name="Rectangle 157"/>
            <p:cNvSpPr/>
            <p:nvPr/>
          </p:nvSpPr>
          <p:spPr>
            <a:xfrm>
              <a:off x="10579418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8" name="TextBox 158"/>
            <p:cNvSpPr txBox="1"/>
            <p:nvPr/>
          </p:nvSpPr>
          <p:spPr>
            <a:xfrm>
              <a:off x="10610973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9" name="Rectangle 159"/>
            <p:cNvSpPr/>
            <p:nvPr/>
          </p:nvSpPr>
          <p:spPr>
            <a:xfrm>
              <a:off x="10896600" y="47444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0" name="TextBox 160"/>
            <p:cNvSpPr txBox="1"/>
            <p:nvPr/>
          </p:nvSpPr>
          <p:spPr>
            <a:xfrm>
              <a:off x="10928156" y="47744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724566" y="243935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724566" y="31956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724566" y="39528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724566" y="47101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</p:grpSp>
      <p:grpSp>
        <p:nvGrpSpPr>
          <p:cNvPr id="171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166" name="Rectangle 166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169" name="Group 169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167" name="Freeform 167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68" name="Freeform 168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70" name="TextBox 170"/>
            <p:cNvSpPr txBox="1"/>
            <p:nvPr/>
          </p:nvSpPr>
          <p:spPr>
            <a:xfrm>
              <a:off x="1040130" y="5728335"/>
              <a:ext cx="9949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问题状态：全部 31 个结点；解状态：16 个叶结点；答案状态：结点 8 (1,1,0,1) 和结点 27 (0,0,1,1)。从根到叶结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点的一条路径确定解空间中的一个元组。</a:t>
              </a:r>
            </a:p>
          </p:txBody>
        </p:sp>
      </p:grpSp>
      <p:grpSp>
        <p:nvGrpSpPr>
          <p:cNvPr id="1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2" name="TextBox 17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73898" cy="909257"/>
            <a:chOff x="520446" y="342900"/>
            <a:chExt cx="92738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738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可变长 k-元组的解空间树：16 个结点，每个结点都是解状态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8" name="c1-graph-1"/>
          <p:cNvGrpSpPr/>
          <p:nvPr/>
        </p:nvGrpSpPr>
        <p:grpSpPr>
          <a:xfrm>
            <a:off x="694194" y="1551622"/>
            <a:ext cx="5535156" cy="2718435"/>
            <a:chOff x="694194" y="1551622"/>
            <a:chExt cx="5535156" cy="2718435"/>
          </a:xfrm>
        </p:grpSpPr>
        <p:sp>
          <p:nvSpPr>
            <p:cNvPr id="7" name="Freeform 7"/>
            <p:cNvSpPr/>
            <p:nvPr/>
          </p:nvSpPr>
          <p:spPr>
            <a:xfrm>
              <a:off x="2847975" y="1741170"/>
              <a:ext cx="1411605" cy="509588"/>
            </a:xfrm>
            <a:custGeom>
              <a:avLst/>
              <a:gdLst/>
              <a:ahLst/>
              <a:cxnLst/>
              <a:rect l="l" t="t" r="r" b="b"/>
              <a:pathLst>
                <a:path w="1411605" h="509588">
                  <a:moveTo>
                    <a:pt x="1411605" y="0"/>
                  </a:moveTo>
                  <a:lnTo>
                    <a:pt x="0" y="509588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021205" y="2389822"/>
              <a:ext cx="569595" cy="431482"/>
            </a:xfrm>
            <a:custGeom>
              <a:avLst/>
              <a:gdLst/>
              <a:ahLst/>
              <a:cxnLst/>
              <a:rect l="l" t="t" r="r" b="b"/>
              <a:pathLst>
                <a:path w="569595" h="431482">
                  <a:moveTo>
                    <a:pt x="569595" y="0"/>
                  </a:moveTo>
                  <a:lnTo>
                    <a:pt x="0" y="431482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650682" y="3042285"/>
              <a:ext cx="182880" cy="347662"/>
            </a:xfrm>
            <a:custGeom>
              <a:avLst/>
              <a:gdLst/>
              <a:ahLst/>
              <a:cxnLst/>
              <a:rect l="l" t="t" r="r" b="b"/>
              <a:pathLst>
                <a:path w="182880" h="347662">
                  <a:moveTo>
                    <a:pt x="182880" y="0"/>
                  </a:moveTo>
                  <a:lnTo>
                    <a:pt x="0" y="347662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582102" y="3669030"/>
              <a:ext cx="9525" cy="314325"/>
            </a:xfrm>
            <a:custGeom>
              <a:avLst/>
              <a:gdLst/>
              <a:ahLst/>
              <a:cxnLst/>
              <a:rect l="l" t="t" r="r" b="b"/>
              <a:pathLst>
                <a:path w="9525" h="314325">
                  <a:moveTo>
                    <a:pt x="0" y="0"/>
                  </a:moveTo>
                  <a:lnTo>
                    <a:pt x="0" y="314325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971675" y="3042285"/>
              <a:ext cx="182880" cy="347662"/>
            </a:xfrm>
            <a:custGeom>
              <a:avLst/>
              <a:gdLst/>
              <a:ahLst/>
              <a:cxnLst/>
              <a:rect l="l" t="t" r="r" b="b"/>
              <a:pathLst>
                <a:path w="182880" h="347662">
                  <a:moveTo>
                    <a:pt x="0" y="0"/>
                  </a:moveTo>
                  <a:lnTo>
                    <a:pt x="182880" y="34766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747010" y="2444115"/>
              <a:ext cx="86678" cy="323850"/>
            </a:xfrm>
            <a:custGeom>
              <a:avLst/>
              <a:gdLst/>
              <a:ahLst/>
              <a:cxnLst/>
              <a:rect l="l" t="t" r="r" b="b"/>
              <a:pathLst>
                <a:path w="86678" h="323850">
                  <a:moveTo>
                    <a:pt x="0" y="0"/>
                  </a:moveTo>
                  <a:lnTo>
                    <a:pt x="86678" y="3238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872740" y="3059430"/>
              <a:ext cx="9525" cy="313373"/>
            </a:xfrm>
            <a:custGeom>
              <a:avLst/>
              <a:gdLst/>
              <a:ahLst/>
              <a:cxnLst/>
              <a:rect l="l" t="t" r="r" b="b"/>
              <a:pathLst>
                <a:path w="9525" h="313373">
                  <a:moveTo>
                    <a:pt x="0" y="0"/>
                  </a:moveTo>
                  <a:lnTo>
                    <a:pt x="0" y="31337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827020" y="2389822"/>
              <a:ext cx="569595" cy="431482"/>
            </a:xfrm>
            <a:custGeom>
              <a:avLst/>
              <a:gdLst/>
              <a:ahLst/>
              <a:cxnLst/>
              <a:rect l="l" t="t" r="r" b="b"/>
              <a:pathLst>
                <a:path w="569595" h="431482">
                  <a:moveTo>
                    <a:pt x="0" y="0"/>
                  </a:moveTo>
                  <a:lnTo>
                    <a:pt x="569595" y="43148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418648" y="1837372"/>
              <a:ext cx="40005" cy="316230"/>
            </a:xfrm>
            <a:custGeom>
              <a:avLst/>
              <a:gdLst/>
              <a:ahLst/>
              <a:cxnLst/>
              <a:rect l="l" t="t" r="r" b="b"/>
              <a:pathLst>
                <a:path w="40005" h="316230">
                  <a:moveTo>
                    <a:pt x="0" y="0"/>
                  </a:moveTo>
                  <a:lnTo>
                    <a:pt x="40005" y="3162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226242" y="2431732"/>
              <a:ext cx="182880" cy="347662"/>
            </a:xfrm>
            <a:custGeom>
              <a:avLst/>
              <a:gdLst/>
              <a:ahLst/>
              <a:cxnLst/>
              <a:rect l="l" t="t" r="r" b="b"/>
              <a:pathLst>
                <a:path w="182880" h="347662">
                  <a:moveTo>
                    <a:pt x="182880" y="0"/>
                  </a:moveTo>
                  <a:lnTo>
                    <a:pt x="0" y="34766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156710" y="3059430"/>
              <a:ext cx="9525" cy="313373"/>
            </a:xfrm>
            <a:custGeom>
              <a:avLst/>
              <a:gdLst/>
              <a:ahLst/>
              <a:cxnLst/>
              <a:rect l="l" t="t" r="r" b="b"/>
              <a:pathLst>
                <a:path w="9525" h="313373">
                  <a:moveTo>
                    <a:pt x="0" y="0"/>
                  </a:moveTo>
                  <a:lnTo>
                    <a:pt x="0" y="31337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547235" y="2431732"/>
              <a:ext cx="182880" cy="347662"/>
            </a:xfrm>
            <a:custGeom>
              <a:avLst/>
              <a:gdLst/>
              <a:ahLst/>
              <a:cxnLst/>
              <a:rect l="l" t="t" r="r" b="b"/>
              <a:pathLst>
                <a:path w="182880" h="347662">
                  <a:moveTo>
                    <a:pt x="0" y="0"/>
                  </a:moveTo>
                  <a:lnTo>
                    <a:pt x="182880" y="34766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4527232" y="1764982"/>
              <a:ext cx="792480" cy="461010"/>
            </a:xfrm>
            <a:custGeom>
              <a:avLst/>
              <a:gdLst/>
              <a:ahLst/>
              <a:cxnLst/>
              <a:rect l="l" t="t" r="r" b="b"/>
              <a:pathLst>
                <a:path w="792480" h="461010">
                  <a:moveTo>
                    <a:pt x="0" y="0"/>
                  </a:moveTo>
                  <a:lnTo>
                    <a:pt x="792480" y="4610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447348" y="2448878"/>
              <a:ext cx="9525" cy="313372"/>
            </a:xfrm>
            <a:custGeom>
              <a:avLst/>
              <a:gdLst/>
              <a:ahLst/>
              <a:cxnLst/>
              <a:rect l="l" t="t" r="r" b="b"/>
              <a:pathLst>
                <a:path w="9525" h="313372">
                  <a:moveTo>
                    <a:pt x="0" y="0"/>
                  </a:moveTo>
                  <a:lnTo>
                    <a:pt x="0" y="31337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538662" y="1741170"/>
              <a:ext cx="1411605" cy="509588"/>
            </a:xfrm>
            <a:custGeom>
              <a:avLst/>
              <a:gdLst/>
              <a:ahLst/>
              <a:cxnLst/>
              <a:rect l="l" t="t" r="r" b="b"/>
              <a:pathLst>
                <a:path w="1411605" h="509588">
                  <a:moveTo>
                    <a:pt x="0" y="0"/>
                  </a:moveTo>
                  <a:lnTo>
                    <a:pt x="1411605" y="5095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4260532" y="1551622"/>
              <a:ext cx="278130" cy="27813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2569845" y="2161222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764030" y="2771775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1443038" y="3382327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1443038" y="3991927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2085022" y="3382327"/>
              <a:ext cx="278130" cy="27813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2733675" y="2771775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2733675" y="3382327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3375660" y="2771775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4338638" y="2161222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4017645" y="2771775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4017645" y="3382327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4660582" y="2771775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5308282" y="2161222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5308282" y="2771775"/>
              <a:ext cx="278130" cy="27813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5951220" y="2161222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356550" y="16302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665863" y="22398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860048" y="285035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00961" y="345995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500961" y="407050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142946" y="345995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829693" y="285035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791599" y="345995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471678" y="285035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434655" y="22398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113663" y="285035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075569" y="345995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718506" y="285035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404300" y="22398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366206" y="285035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47238" y="22398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3487102" y="19173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351865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2239328" y="25269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270883" y="25560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675448" y="31375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707003" y="31665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514475" y="37471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546983" y="377713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996440" y="31375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2027996" y="31665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2724150" y="25269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2755706" y="25560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2806065" y="31375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2837621" y="31665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3045142" y="25269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3076698" y="25560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4371975" y="19173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4403531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4251008" y="25269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4282563" y="25560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4090035" y="31375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4121591" y="31665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4572000" y="25269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4603556" y="25560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4856798" y="19173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4888353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5380672" y="25269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5412228" y="25560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5177790" y="19173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520934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94194" y="189023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94194" y="250078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694194" y="311038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694194" y="372094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</p:grpSp>
      <p:grpSp>
        <p:nvGrpSpPr>
          <p:cNvPr id="124" name="c1-table-2"/>
          <p:cNvGrpSpPr/>
          <p:nvPr/>
        </p:nvGrpSpPr>
        <p:grpSpPr>
          <a:xfrm>
            <a:off x="528066" y="4472940"/>
            <a:ext cx="6065139" cy="1902714"/>
            <a:chOff x="528066" y="4472940"/>
            <a:chExt cx="6065139" cy="1902714"/>
          </a:xfrm>
        </p:grpSpPr>
        <p:sp>
          <p:nvSpPr>
            <p:cNvPr id="89" name="Rectangle 89"/>
            <p:cNvSpPr/>
            <p:nvPr/>
          </p:nvSpPr>
          <p:spPr>
            <a:xfrm>
              <a:off x="533400" y="4472940"/>
              <a:ext cx="605980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916091" y="4597241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元组长度 k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2362479" y="45972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3089236" y="45972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3907434" y="45972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4877079" y="45972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5967691" y="45972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633412" y="50030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结点编号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2364552" y="50030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3008384" y="50030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2–5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3785118" y="500300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6–11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4713300" y="500300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12–15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5928302" y="50030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533400" y="527970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533400" y="528447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633412" y="5408771"/>
              <a:ext cx="10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结点数 C(4, k)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2364552" y="54087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3091310" y="54087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3909507" y="54087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4879152" y="54087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5969765" y="54087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0" name="Rectangle 110"/>
            <p:cNvSpPr/>
            <p:nvPr/>
          </p:nvSpPr>
          <p:spPr>
            <a:xfrm>
              <a:off x="533400" y="56854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33412" y="581453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橙色路径上的元组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179853" y="581453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空向量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3008384" y="581453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3721039" y="5814536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(1, 2)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4585142" y="5814536"/>
              <a:ext cx="682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(1, 2, 3)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5570212" y="5814536"/>
              <a:ext cx="893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(1, 2, 3, 4)</a:t>
              </a:r>
            </a:p>
          </p:txBody>
        </p:sp>
        <p:sp>
          <p:nvSpPr>
            <p:cNvPr id="117" name="Rectangle 117"/>
            <p:cNvSpPr/>
            <p:nvPr/>
          </p:nvSpPr>
          <p:spPr>
            <a:xfrm>
              <a:off x="533400" y="4472940"/>
              <a:ext cx="6059805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2043112" y="44729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9" name="Rectangle 119"/>
            <p:cNvSpPr/>
            <p:nvPr/>
          </p:nvSpPr>
          <p:spPr>
            <a:xfrm>
              <a:off x="2770822" y="44729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0" name="Rectangle 120"/>
            <p:cNvSpPr/>
            <p:nvPr/>
          </p:nvSpPr>
          <p:spPr>
            <a:xfrm>
              <a:off x="3497580" y="44729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1" name="Rectangle 121"/>
            <p:cNvSpPr/>
            <p:nvPr/>
          </p:nvSpPr>
          <p:spPr>
            <a:xfrm>
              <a:off x="4406265" y="44729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5436870" y="44729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528066" y="6170295"/>
              <a:ext cx="44349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k 层是从 4 个下标中取 k 个的全部组合，1 + 4 + 6 + 4 + 1 = 2⁴ = 16</a:t>
              </a:r>
            </a:p>
          </p:txBody>
        </p:sp>
      </p:grpSp>
      <p:grpSp>
        <p:nvGrpSpPr>
          <p:cNvPr id="135" name="c2-card-1"/>
          <p:cNvGrpSpPr/>
          <p:nvPr/>
        </p:nvGrpSpPr>
        <p:grpSpPr>
          <a:xfrm>
            <a:off x="6898005" y="1524000"/>
            <a:ext cx="4760595" cy="2071688"/>
            <a:chOff x="6898005" y="1524000"/>
            <a:chExt cx="4760595" cy="2071688"/>
          </a:xfrm>
        </p:grpSpPr>
        <p:sp>
          <p:nvSpPr>
            <p:cNvPr id="125" name="Rectangle 125"/>
            <p:cNvSpPr/>
            <p:nvPr/>
          </p:nvSpPr>
          <p:spPr>
            <a:xfrm>
              <a:off x="6898005" y="1524000"/>
              <a:ext cx="4760595" cy="2071688"/>
            </a:xfrm>
            <a:prstGeom prst="roundRect">
              <a:avLst>
                <a:gd name="adj" fmla="val 64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6" name="Rectangle 126"/>
            <p:cNvSpPr/>
            <p:nvPr/>
          </p:nvSpPr>
          <p:spPr>
            <a:xfrm>
              <a:off x="6907530" y="1657350"/>
              <a:ext cx="47625" cy="180498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7" name="Rectangle 127"/>
            <p:cNvSpPr/>
            <p:nvPr/>
          </p:nvSpPr>
          <p:spPr>
            <a:xfrm>
              <a:off x="7128510" y="17164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28" name="TextBox 128"/>
            <p:cNvSpPr txBox="1"/>
            <p:nvPr/>
          </p:nvSpPr>
          <p:spPr>
            <a:xfrm>
              <a:off x="7203948" y="17506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这棵树的结构</a:t>
              </a:r>
            </a:p>
          </p:txBody>
        </p:sp>
        <p:sp>
          <p:nvSpPr>
            <p:cNvPr id="129" name="Ellipse 129"/>
            <p:cNvSpPr/>
            <p:nvPr/>
          </p:nvSpPr>
          <p:spPr>
            <a:xfrm>
              <a:off x="7137082" y="212883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7293102" y="207264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根结点是空向量，结点按层编号（宽度优先）</a:t>
              </a:r>
            </a:p>
          </p:txBody>
        </p:sp>
        <p:sp>
          <p:nvSpPr>
            <p:cNvPr id="131" name="Ellipse 131"/>
            <p:cNvSpPr/>
            <p:nvPr/>
          </p:nvSpPr>
          <p:spPr>
            <a:xfrm>
              <a:off x="7137082" y="243173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7293102" y="2375535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结点的儿子只取比最后一个下标更大的下标，例如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2) 的儿子是 (1, 2, 3) 和 (1, 2, 4)</a:t>
              </a:r>
            </a:p>
          </p:txBody>
        </p:sp>
        <p:sp>
          <p:nvSpPr>
            <p:cNvPr id="133" name="Ellipse 133"/>
            <p:cNvSpPr/>
            <p:nvPr/>
          </p:nvSpPr>
          <p:spPr>
            <a:xfrm>
              <a:off x="7137082" y="299180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4" name="TextBox 134"/>
            <p:cNvSpPr txBox="1"/>
            <p:nvPr/>
          </p:nvSpPr>
          <p:spPr>
            <a:xfrm>
              <a:off x="7293102" y="2935605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从根到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任何结点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的一条路径都确定解空间中的一个元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</a:t>
              </a:r>
            </a:p>
          </p:txBody>
        </p:sp>
      </p:grpSp>
      <p:grpSp>
        <p:nvGrpSpPr>
          <p:cNvPr id="150" name="c2-table-2"/>
          <p:cNvGrpSpPr/>
          <p:nvPr/>
        </p:nvGrpSpPr>
        <p:grpSpPr>
          <a:xfrm>
            <a:off x="6898005" y="3770948"/>
            <a:ext cx="4760595" cy="1623060"/>
            <a:chOff x="6898005" y="3770948"/>
            <a:chExt cx="4760595" cy="1623060"/>
          </a:xfrm>
        </p:grpSpPr>
        <p:sp>
          <p:nvSpPr>
            <p:cNvPr id="136" name="Rectangle 136"/>
            <p:cNvSpPr/>
            <p:nvPr/>
          </p:nvSpPr>
          <p:spPr>
            <a:xfrm>
              <a:off x="6898005" y="3770948"/>
              <a:ext cx="476059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7" name="TextBox 137"/>
            <p:cNvSpPr txBox="1"/>
            <p:nvPr/>
          </p:nvSpPr>
          <p:spPr>
            <a:xfrm>
              <a:off x="7454938" y="38952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9836188" y="38952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本例</a:t>
              </a:r>
            </a:p>
          </p:txBody>
        </p:sp>
        <p:sp>
          <p:nvSpPr>
            <p:cNvPr id="139" name="TextBox 139"/>
            <p:cNvSpPr txBox="1"/>
            <p:nvPr/>
          </p:nvSpPr>
          <p:spPr>
            <a:xfrm>
              <a:off x="6998017" y="430101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问题状态</a:t>
              </a:r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8425815" y="4301014"/>
              <a:ext cx="1021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 16 个结点</a:t>
              </a:r>
            </a:p>
          </p:txBody>
        </p:sp>
        <p:sp>
          <p:nvSpPr>
            <p:cNvPr id="141" name="Rectangle 141"/>
            <p:cNvSpPr/>
            <p:nvPr/>
          </p:nvSpPr>
          <p:spPr>
            <a:xfrm>
              <a:off x="6898005" y="457771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2" name="Rectangle 142"/>
            <p:cNvSpPr/>
            <p:nvPr/>
          </p:nvSpPr>
          <p:spPr>
            <a:xfrm>
              <a:off x="6898005" y="4582478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3" name="TextBox 143"/>
            <p:cNvSpPr txBox="1"/>
            <p:nvPr/>
          </p:nvSpPr>
          <p:spPr>
            <a:xfrm>
              <a:off x="6998017" y="470677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解状态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8425815" y="4706779"/>
              <a:ext cx="1021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 16 个结点</a:t>
              </a:r>
            </a:p>
          </p:txBody>
        </p:sp>
        <p:sp>
          <p:nvSpPr>
            <p:cNvPr id="145" name="Rectangle 145"/>
            <p:cNvSpPr/>
            <p:nvPr/>
          </p:nvSpPr>
          <p:spPr>
            <a:xfrm>
              <a:off x="6898005" y="498348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6" name="TextBox 146"/>
            <p:cNvSpPr txBox="1"/>
            <p:nvPr/>
          </p:nvSpPr>
          <p:spPr>
            <a:xfrm>
              <a:off x="6998017" y="51125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答案状态</a:t>
              </a:r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8425815" y="5112544"/>
              <a:ext cx="2408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 13 (1, 2, 4)，结点 11 (3, 4)</a:t>
              </a:r>
            </a:p>
          </p:txBody>
        </p:sp>
        <p:sp>
          <p:nvSpPr>
            <p:cNvPr id="148" name="Rectangle 148"/>
            <p:cNvSpPr/>
            <p:nvPr/>
          </p:nvSpPr>
          <p:spPr>
            <a:xfrm>
              <a:off x="6898005" y="3770948"/>
              <a:ext cx="4760595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49" name="Rectangle 149"/>
            <p:cNvSpPr/>
            <p:nvPr/>
          </p:nvSpPr>
          <p:spPr>
            <a:xfrm>
              <a:off x="8321040" y="3770948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57" name="c2-callout-3"/>
          <p:cNvGrpSpPr/>
          <p:nvPr/>
        </p:nvGrpSpPr>
        <p:grpSpPr>
          <a:xfrm>
            <a:off x="6898005" y="5569268"/>
            <a:ext cx="4760595" cy="765810"/>
            <a:chOff x="6898005" y="5569268"/>
            <a:chExt cx="4760595" cy="765810"/>
          </a:xfrm>
        </p:grpSpPr>
        <p:sp>
          <p:nvSpPr>
            <p:cNvPr id="151" name="Rectangle 151"/>
            <p:cNvSpPr/>
            <p:nvPr/>
          </p:nvSpPr>
          <p:spPr>
            <a:xfrm>
              <a:off x="6898005" y="5569268"/>
              <a:ext cx="4760595" cy="765810"/>
            </a:xfrm>
            <a:prstGeom prst="roundRect">
              <a:avLst>
                <a:gd name="adj" fmla="val 149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5" name="Group 155"/>
            <p:cNvGrpSpPr/>
            <p:nvPr/>
          </p:nvGrpSpPr>
          <p:grpSpPr>
            <a:xfrm>
              <a:off x="7102793" y="5851208"/>
              <a:ext cx="200026" cy="200026"/>
              <a:chOff x="7102793" y="5851208"/>
              <a:chExt cx="200026" cy="200026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7102793" y="58512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3" name="Freeform 153"/>
              <p:cNvSpPr/>
              <p:nvPr/>
            </p:nvSpPr>
            <p:spPr>
              <a:xfrm>
                <a:off x="7202805" y="59178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4" name="Freeform 154"/>
              <p:cNvSpPr/>
              <p:nvPr/>
            </p:nvSpPr>
            <p:spPr>
              <a:xfrm>
                <a:off x="7191693" y="59512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56" name="TextBox 156"/>
            <p:cNvSpPr txBox="1"/>
            <p:nvPr/>
          </p:nvSpPr>
          <p:spPr>
            <a:xfrm>
              <a:off x="7405497" y="5733098"/>
              <a:ext cx="390563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两种表示的解空间都是 16 个元组；固定长表示的树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多出 15 个非叶结点，它们不对应元组。</a:t>
              </a:r>
            </a:p>
          </p:txBody>
        </p:sp>
      </p:grpSp>
      <p:grpSp>
        <p:nvGrpSpPr>
          <p:cNvPr id="1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8" name="TextBox 15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静态树与动态树：搜索时结点有活、正在扩展、死三种状态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kv-1"/>
          <p:cNvGrpSpPr/>
          <p:nvPr/>
        </p:nvGrpSpPr>
        <p:grpSpPr>
          <a:xfrm>
            <a:off x="525780" y="1548765"/>
            <a:ext cx="4551998" cy="1297305"/>
            <a:chOff x="525780" y="1548765"/>
            <a:chExt cx="4551998" cy="129730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静态树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68742" y="154876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即解空间树，树结构与所要解决的问题实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例无关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动态树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68742" y="2270760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树结构与实例相关，在求解过程中生成结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2977515"/>
            <a:ext cx="4544378" cy="2675572"/>
            <a:chOff x="533400" y="2977515"/>
            <a:chExt cx="4544378" cy="2675572"/>
          </a:xfrm>
        </p:grpSpPr>
        <p:sp>
          <p:nvSpPr>
            <p:cNvPr id="13" name="Rectangle 13"/>
            <p:cNvSpPr/>
            <p:nvPr/>
          </p:nvSpPr>
          <p:spPr>
            <a:xfrm>
              <a:off x="533400" y="2977515"/>
              <a:ext cx="4544378" cy="2675572"/>
            </a:xfrm>
            <a:prstGeom prst="roundRect">
              <a:avLst>
                <a:gd name="adj" fmla="val 49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110865"/>
              <a:ext cx="47625" cy="240887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3187065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1705" y="322278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动态树中结点的状态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62712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564255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活结点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：自己已经生成，而儿子结点还没有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全部生成的结点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424815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4185285"/>
              <a:ext cx="366426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E-结点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（正在扩展的结点）：当前正在生成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儿子结点的活结点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486918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4806315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死结点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：不再进一步扩展，或者儿子结点已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全部生成的结点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5382578" y="1524000"/>
            <a:ext cx="6276022" cy="3155632"/>
            <a:chOff x="5382578" y="1524000"/>
            <a:chExt cx="6276022" cy="3155632"/>
          </a:xfrm>
        </p:grpSpPr>
        <p:sp>
          <p:nvSpPr>
            <p:cNvPr id="24" name="Rectangle 24"/>
            <p:cNvSpPr/>
            <p:nvPr/>
          </p:nvSpPr>
          <p:spPr>
            <a:xfrm>
              <a:off x="5382578" y="1524000"/>
              <a:ext cx="6276022" cy="675322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597398" y="1659731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状态生成方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89583" y="1773079"/>
              <a:ext cx="12571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E-结点怎样变化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551226" y="1659731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活结点保存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742663" y="17730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对应方法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90401" y="2561749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第一种：深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度优先生成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45796" y="2335054"/>
              <a:ext cx="2418842" cy="929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 E-结点 R 一旦生成新儿子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C，C 就成为新的 E-结点；检测完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子树 C 后，R 再次成为 E-结点，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生成下一个儿子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507093" y="2561749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沿当前路径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36758" y="267509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82578" y="332327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82578" y="3328035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490401" y="3463766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第二种：宽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度优先生成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745796" y="3463766"/>
              <a:ext cx="235381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 E-结点一直保持到变成死结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点为止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07093" y="35771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队列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36758" y="357711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分枝限界法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82578" y="399954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490401" y="4139089"/>
              <a:ext cx="850951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第二种：D-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检索生成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745796" y="42524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同上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507093" y="425243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636758" y="4252436"/>
              <a:ext cx="5578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D-检索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82578" y="1524000"/>
              <a:ext cx="6276022" cy="315563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33210" y="1524000"/>
              <a:ext cx="9525" cy="31556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394508" y="1524000"/>
              <a:ext cx="9525" cy="31556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524172" y="1524000"/>
              <a:ext cx="9525" cy="31556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llout-2"/>
          <p:cNvGrpSpPr/>
          <p:nvPr/>
        </p:nvGrpSpPr>
        <p:grpSpPr>
          <a:xfrm>
            <a:off x="5382578" y="4870132"/>
            <a:ext cx="6276022" cy="782955"/>
            <a:chOff x="5382578" y="4870132"/>
            <a:chExt cx="6276022" cy="782955"/>
          </a:xfrm>
        </p:grpSpPr>
        <p:sp>
          <p:nvSpPr>
            <p:cNvPr id="49" name="Rectangle 49"/>
            <p:cNvSpPr/>
            <p:nvPr/>
          </p:nvSpPr>
          <p:spPr>
            <a:xfrm>
              <a:off x="5382578" y="4870132"/>
              <a:ext cx="627602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5587365" y="5161598"/>
              <a:ext cx="200026" cy="200025"/>
              <a:chOff x="5587365" y="5161598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5587365" y="51615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5627104" y="52060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661819" y="53171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5889308" y="5018722"/>
              <a:ext cx="5158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两种方法都用限界函数杀死不可能导致答案的结点，区别在于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E-结点什么时候让出扩展权。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回溯法的设计思想：定义解空间树，再深度优先搜索并剪枝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5423916" cy="3473196"/>
            <a:chOff x="533400" y="1533525"/>
            <a:chExt cx="5423916" cy="347319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92512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61664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6904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45865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5324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156638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定义解空间树结构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1846898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确定元组、显式约束条件、隐式约束条件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18741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检验多米诺性质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2467927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保证被剪掉的子树中确实没有答案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280844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向纵深移动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088957"/>
              <a:ext cx="50109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根结点是第一个活结点，也是当前 E-结点；沿 E-结点向纵深移至一个新的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活结点，它成为新的 E-结点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365045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3930968"/>
              <a:ext cx="49499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 E-结点不能再向纵深移动时成为死结点，回溯至最近的活结点，使它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成为新的 E-结点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449151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4772025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找到所要求的解，或解空间中已没有活结点</a:t>
              </a:r>
            </a:p>
          </p:txBody>
        </p:sp>
      </p:grpSp>
      <p:grpSp>
        <p:nvGrpSpPr>
          <p:cNvPr id="37" name="c1-kv-2"/>
          <p:cNvGrpSpPr/>
          <p:nvPr/>
        </p:nvGrpSpPr>
        <p:grpSpPr>
          <a:xfrm>
            <a:off x="526161" y="5206841"/>
            <a:ext cx="5633657" cy="1121665"/>
            <a:chOff x="526161" y="5206841"/>
            <a:chExt cx="5633657" cy="1121665"/>
          </a:xfrm>
        </p:grpSpPr>
        <p:sp>
          <p:nvSpPr>
            <p:cNvPr id="29" name="TextBox 29"/>
            <p:cNvSpPr txBox="1"/>
            <p:nvPr/>
          </p:nvSpPr>
          <p:spPr>
            <a:xfrm>
              <a:off x="526161" y="520684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约束函数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25334" y="5206841"/>
              <a:ext cx="37605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查部分解是否违反隐式约束，如 PLACE、OK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55130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6161" y="562879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限界函数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25334" y="5628799"/>
              <a:ext cx="37516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求最优解时剪掉不可能更优的分支（第8章）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9340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6161" y="604980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本章写法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25334" y="6049804"/>
              <a:ext cx="36270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两类条件统称限界函数 B，只做可行性剪枝</a:t>
              </a:r>
            </a:p>
          </p:txBody>
        </p:sp>
      </p:grpSp>
      <p:grpSp>
        <p:nvGrpSpPr>
          <p:cNvPr id="39" name="c2-text-1"/>
          <p:cNvGrpSpPr/>
          <p:nvPr/>
        </p:nvGrpSpPr>
        <p:grpSpPr>
          <a:xfrm>
            <a:off x="6458522" y="1544002"/>
            <a:ext cx="3582314" cy="234696"/>
            <a:chOff x="6458522" y="1544002"/>
            <a:chExt cx="3582314" cy="234696"/>
          </a:xfrm>
        </p:grpSpPr>
        <p:sp>
          <p:nvSpPr>
            <p:cNvPr id="38" name="TextBox 38"/>
            <p:cNvSpPr txBox="1"/>
            <p:nvPr/>
          </p:nvSpPr>
          <p:spPr>
            <a:xfrm>
              <a:off x="6458522" y="1544002"/>
              <a:ext cx="35823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4-皇后问题动态树的开头部分（编号沿用排列树）</a:t>
              </a:r>
            </a:p>
          </p:txBody>
        </p:sp>
      </p:grpSp>
      <p:grpSp>
        <p:nvGrpSpPr>
          <p:cNvPr id="73" name="c2-graph-2"/>
          <p:cNvGrpSpPr/>
          <p:nvPr/>
        </p:nvGrpSpPr>
        <p:grpSpPr>
          <a:xfrm>
            <a:off x="6585298" y="2000250"/>
            <a:ext cx="4188429" cy="2635091"/>
            <a:chOff x="6585298" y="2000250"/>
            <a:chExt cx="4188429" cy="2635091"/>
          </a:xfrm>
        </p:grpSpPr>
        <p:sp>
          <p:nvSpPr>
            <p:cNvPr id="40" name="Freeform 40"/>
            <p:cNvSpPr/>
            <p:nvPr/>
          </p:nvSpPr>
          <p:spPr>
            <a:xfrm>
              <a:off x="8863965" y="2286952"/>
              <a:ext cx="9525" cy="423863"/>
            </a:xfrm>
            <a:custGeom>
              <a:avLst/>
              <a:gdLst/>
              <a:ahLst/>
              <a:cxnLst/>
              <a:rect l="l" t="t" r="r" b="b"/>
              <a:pathLst>
                <a:path w="9525" h="423863">
                  <a:moveTo>
                    <a:pt x="0" y="0"/>
                  </a:moveTo>
                  <a:lnTo>
                    <a:pt x="0" y="42386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921942" y="2942272"/>
              <a:ext cx="820102" cy="554355"/>
            </a:xfrm>
            <a:custGeom>
              <a:avLst/>
              <a:gdLst/>
              <a:ahLst/>
              <a:cxnLst/>
              <a:rect l="l" t="t" r="r" b="b"/>
              <a:pathLst>
                <a:path w="820102" h="554355">
                  <a:moveTo>
                    <a:pt x="820102" y="0"/>
                  </a:moveTo>
                  <a:lnTo>
                    <a:pt x="0" y="5543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8986838" y="2942272"/>
              <a:ext cx="819150" cy="554355"/>
            </a:xfrm>
            <a:custGeom>
              <a:avLst/>
              <a:gdLst/>
              <a:ahLst/>
              <a:cxnLst/>
              <a:rect l="l" t="t" r="r" b="b"/>
              <a:pathLst>
                <a:path w="819150" h="554355">
                  <a:moveTo>
                    <a:pt x="0" y="0"/>
                  </a:moveTo>
                  <a:lnTo>
                    <a:pt x="819150" y="5543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321165" y="3685222"/>
              <a:ext cx="503872" cy="509588"/>
            </a:xfrm>
            <a:custGeom>
              <a:avLst/>
              <a:gdLst/>
              <a:ahLst/>
              <a:cxnLst/>
              <a:rect l="l" t="t" r="r" b="b"/>
              <a:pathLst>
                <a:path w="503872" h="509588">
                  <a:moveTo>
                    <a:pt x="503872" y="0"/>
                  </a:moveTo>
                  <a:lnTo>
                    <a:pt x="0" y="5095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032682" y="3685222"/>
              <a:ext cx="499110" cy="509588"/>
            </a:xfrm>
            <a:custGeom>
              <a:avLst/>
              <a:gdLst/>
              <a:ahLst/>
              <a:cxnLst/>
              <a:rect l="l" t="t" r="r" b="b"/>
              <a:pathLst>
                <a:path w="499110" h="509588">
                  <a:moveTo>
                    <a:pt x="0" y="0"/>
                  </a:moveTo>
                  <a:lnTo>
                    <a:pt x="499110" y="5095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8725852" y="2000250"/>
              <a:ext cx="276225" cy="276225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8725852" y="2721292"/>
              <a:ext cx="276225" cy="27622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7661910" y="3441382"/>
              <a:ext cx="276225" cy="27622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9790748" y="3441382"/>
              <a:ext cx="276225" cy="27622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9079230" y="4162425"/>
              <a:ext cx="276225" cy="27622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10497502" y="4162425"/>
              <a:ext cx="276225" cy="27622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817816" y="20726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17816" y="279368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53873" y="35147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15228" y="3753326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882711" y="35147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171193" y="42348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132548" y="4473416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548651" y="423481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550821" y="4473416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8797290" y="242030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828846" y="24493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264842" y="314039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296398" y="31703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329738" y="314039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9361293" y="317039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506902" y="38614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538458" y="38904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10215562" y="38614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0247118" y="38904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585298" y="238506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585298" y="31061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585298" y="382714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</p:grpSp>
      <p:grpSp>
        <p:nvGrpSpPr>
          <p:cNvPr id="80" name="c2-callout-3"/>
          <p:cNvGrpSpPr/>
          <p:nvPr/>
        </p:nvGrpSpPr>
        <p:grpSpPr>
          <a:xfrm>
            <a:off x="6464618" y="4873942"/>
            <a:ext cx="5193982" cy="1399222"/>
            <a:chOff x="6464618" y="4873942"/>
            <a:chExt cx="5193982" cy="1399222"/>
          </a:xfrm>
        </p:grpSpPr>
        <p:sp>
          <p:nvSpPr>
            <p:cNvPr id="74" name="Rectangle 74"/>
            <p:cNvSpPr/>
            <p:nvPr/>
          </p:nvSpPr>
          <p:spPr>
            <a:xfrm>
              <a:off x="6464618" y="4873942"/>
              <a:ext cx="5193982" cy="1399222"/>
            </a:xfrm>
            <a:prstGeom prst="roundRect">
              <a:avLst>
                <a:gd name="adj" fmla="val 816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6657347" y="5469373"/>
              <a:ext cx="224134" cy="192560"/>
              <a:chOff x="6657347" y="5469373"/>
              <a:chExt cx="224134" cy="19256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6769418" y="553974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6657347" y="546937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6769418" y="56175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6971729" y="5342096"/>
              <a:ext cx="394589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结点 3、9、11 处限界函数取假，这些结点被杀死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（kill），它们的子树不再生成。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01029" cy="909257"/>
            <a:chOff x="520446" y="342900"/>
            <a:chExt cx="88010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01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7.1 回溯法的非递归描述：k 加 1 前进，k 减 1 回溯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4544378" cy="3048952"/>
            <a:chOff x="533400" y="1524000"/>
            <a:chExt cx="4544378" cy="30489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3048952"/>
            </a:xfrm>
            <a:prstGeom prst="roundRect">
              <a:avLst>
                <a:gd name="adj" fmla="val 43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78225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2741" y="17635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形式化描述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假设要找出所有的答案结点。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248126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420779"/>
              <a:ext cx="361226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(x₁, …, xᵢ₋₁) 是状态空间树中由根出发的一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条路径，到达结点 Y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07276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012281"/>
              <a:ext cx="363931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T(x₁, …, xᵢ₋₁) 是 xᵢ 的取值集合：对每个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xᵢ，(x₁, …, xᵢ) 是由根到 Y 的一个儿子结点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的路径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393573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3875246"/>
              <a:ext cx="37204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 Bᵢ：路径 (x₁, …, xᵢ) 不可能延伸到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答案结点时取假，否则取真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758690"/>
            <a:ext cx="4544378" cy="756285"/>
            <a:chOff x="533400" y="4758690"/>
            <a:chExt cx="4544378" cy="756285"/>
          </a:xfrm>
        </p:grpSpPr>
        <p:sp>
          <p:nvSpPr>
            <p:cNvPr id="19" name="Rectangle 19"/>
            <p:cNvSpPr/>
            <p:nvPr/>
          </p:nvSpPr>
          <p:spPr>
            <a:xfrm>
              <a:off x="533400" y="4758690"/>
              <a:ext cx="4544378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26129" y="5033128"/>
              <a:ext cx="224134" cy="192560"/>
              <a:chOff x="726129" y="5033128"/>
              <a:chExt cx="224134" cy="19256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838200" y="510349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26129" y="503312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8200" y="5181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511" y="4905851"/>
              <a:ext cx="353110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Bᵢ 取真只表示"有可能"到达答案结点；取假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才是确定的结论。</a:t>
              </a:r>
            </a:p>
          </p:txBody>
        </p:sp>
      </p:grpSp>
      <p:grpSp>
        <p:nvGrpSpPr>
          <p:cNvPr id="29" name="c2-code-1"/>
          <p:cNvGrpSpPr/>
          <p:nvPr/>
        </p:nvGrpSpPr>
        <p:grpSpPr>
          <a:xfrm>
            <a:off x="5382578" y="1524000"/>
            <a:ext cx="6276022" cy="3748088"/>
            <a:chOff x="5382578" y="1524000"/>
            <a:chExt cx="6276022" cy="3748088"/>
          </a:xfrm>
        </p:grpSpPr>
        <p:sp>
          <p:nvSpPr>
            <p:cNvPr id="26" name="Rectangle 26"/>
            <p:cNvSpPr/>
            <p:nvPr/>
          </p:nvSpPr>
          <p:spPr>
            <a:xfrm>
              <a:off x="5382578" y="1524000"/>
              <a:ext cx="6276022" cy="3748088"/>
            </a:xfrm>
            <a:prstGeom prst="roundRect">
              <a:avLst>
                <a:gd name="adj" fmla="val 254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510974" y="1675924"/>
              <a:ext cx="15621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7.1 BACKTRACK(n)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510212" y="1937861"/>
              <a:ext cx="3517646" cy="3263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BACKTRACK(n)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k, n; local X(1:n)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k ←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k &gt; 0 do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还剩有没检验过的 X(k) 使得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X(k) ∈ T(X(1),…,X(k-1)) and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B(X(1),…,X(k)) = true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then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if (X(1),…,X(k)) 是一条抵达答案结点的路径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then print(X(1),…,X(k))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k ← k + 1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考虑下一个分量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k ← k - 1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回溯到上一层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BACKTRACK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30" name="Rectangle 3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511" y="6004084"/>
              <a:ext cx="94090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"还剩有没检验过的 X(k)" 意味着每一层要记住试到了哪个值：回溯到第 k 层时，从上次停下的值往后继续试。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59248" cy="909257"/>
            <a:chOff x="520446" y="342900"/>
            <a:chExt cx="73592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592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7.2 回溯法的递归描述，以及框架的正确性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842635" cy="2733675"/>
            <a:chOff x="533400" y="1524000"/>
            <a:chExt cx="5842635" cy="2733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3929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7.2 RBACKTRACK(k)，初始调用 RBACKTRACK(1)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361182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RBACKTRACK(k)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进入时 X(1),…,X(k-1) 已经被赋值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global X(1:n); integer k, n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for 满足下式的每个 X(k):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X(k) ∈ T(X(1),…,X(k-1)) and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B(X(1),…,X(k)) = true  do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(X(1),…,X(k)) 是一条抵达答案结点的路径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then print(X(1),…,X(k))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call RBACKTRACK(k+1)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RBACKTRACK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4448175"/>
            <a:ext cx="5842635" cy="782955"/>
            <a:chOff x="533400" y="4448175"/>
            <a:chExt cx="5842635" cy="782955"/>
          </a:xfrm>
        </p:grpSpPr>
        <p:sp>
          <p:nvSpPr>
            <p:cNvPr id="11" name="Rectangle 11"/>
            <p:cNvSpPr/>
            <p:nvPr/>
          </p:nvSpPr>
          <p:spPr>
            <a:xfrm>
              <a:off x="533400" y="444817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4739640"/>
              <a:ext cx="200026" cy="200026"/>
              <a:chOff x="738188" y="4739640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47396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48063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483965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4596765"/>
              <a:ext cx="4796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递归版由 for 循环记住每层试到的值；非递归版靠数组 X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和下标 k 的加减实现同样的前进与后退。</a:t>
              </a:r>
            </a:p>
          </p:txBody>
        </p:sp>
      </p:grpSp>
      <p:grpSp>
        <p:nvGrpSpPr>
          <p:cNvPr id="21" name="c1-text-3"/>
          <p:cNvGrpSpPr/>
          <p:nvPr/>
        </p:nvGrpSpPr>
        <p:grpSpPr>
          <a:xfrm>
            <a:off x="526923" y="5443061"/>
            <a:ext cx="4329410" cy="841819"/>
            <a:chOff x="526923" y="5443061"/>
            <a:chExt cx="4329410" cy="841819"/>
          </a:xfrm>
        </p:grpSpPr>
        <p:sp>
          <p:nvSpPr>
            <p:cNvPr id="18" name="TextBox 18"/>
            <p:cNvSpPr txBox="1"/>
            <p:nvPr/>
          </p:nvSpPr>
          <p:spPr>
            <a:xfrm>
              <a:off x="526923" y="5443061"/>
              <a:ext cx="43294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解空间树的结点总数：子集树（每层 2 个分支）2·2ⁿ − 1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6923" y="5739289"/>
              <a:ext cx="37521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排列树（第 k 层 n(n−1)…(n−k+1) 个）共约 e·n!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6923" y="6035516"/>
              <a:ext cx="40106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 m 叉树（每层 m 个分支）(m·mⁿ − 1)/(m − 1)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680835" y="1524000"/>
            <a:ext cx="4977765" cy="2272665"/>
            <a:chOff x="6680835" y="1524000"/>
            <a:chExt cx="4977765" cy="2272665"/>
          </a:xfrm>
        </p:grpSpPr>
        <p:sp>
          <p:nvSpPr>
            <p:cNvPr id="22" name="Rectangle 22"/>
            <p:cNvSpPr/>
            <p:nvPr/>
          </p:nvSpPr>
          <p:spPr>
            <a:xfrm>
              <a:off x="6680835" y="1524000"/>
              <a:ext cx="4977765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690360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928485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06844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正确性要点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928485" y="209740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990334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29475" y="2110740"/>
              <a:ext cx="4044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不漏解：只剪掉 B 取假的结点；由多米诺性质，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这些结点的子树中没有答案结点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928485" y="271843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90334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29475" y="2731770"/>
              <a:ext cx="3987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不重复：T 中每个取值只试一次，每条从根出发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的路径只生成一次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928485" y="333946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990334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229475" y="335280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会终止：解空间树有限，每个结点最多生成一次</a:t>
              </a:r>
            </a:p>
          </p:txBody>
        </p:sp>
      </p:grpSp>
      <p:grpSp>
        <p:nvGrpSpPr>
          <p:cNvPr id="47" name="c2-table-2"/>
          <p:cNvGrpSpPr/>
          <p:nvPr/>
        </p:nvGrpSpPr>
        <p:grpSpPr>
          <a:xfrm>
            <a:off x="6680835" y="3987165"/>
            <a:ext cx="4977765" cy="1573530"/>
            <a:chOff x="6680835" y="3987165"/>
            <a:chExt cx="4977765" cy="1573530"/>
          </a:xfrm>
        </p:grpSpPr>
        <p:sp>
          <p:nvSpPr>
            <p:cNvPr id="36" name="Rectangle 36"/>
            <p:cNvSpPr/>
            <p:nvPr/>
          </p:nvSpPr>
          <p:spPr>
            <a:xfrm>
              <a:off x="6680835" y="3987165"/>
              <a:ext cx="497776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99262" y="41228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588144" y="41228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88658" y="457152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84046" y="4571524"/>
              <a:ext cx="30229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O(n)：只保存根到当前结点的一条路径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680835" y="487965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680835" y="4884420"/>
              <a:ext cx="497776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88658" y="513349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84046" y="5020151"/>
              <a:ext cx="32804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生成的结点数 × 每个结点的检验时间，见 7.2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680835" y="3987165"/>
              <a:ext cx="4977765" cy="1573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871460" y="3987165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246114" cy="3351847"/>
            <a:chOff x="667512" y="1835468"/>
            <a:chExt cx="624611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回溯法的效率估计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同一算法对不同实例生成的结点数差别很大，动手之前先估一估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决定回溯法效率的四个因素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最坏情况与实例差异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蒙特卡罗方法的一般思想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090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效率估计算法 ESTIMATE 及其特点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94495" cy="909257"/>
            <a:chOff x="520446" y="342900"/>
            <a:chExt cx="929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回溯法的效率估计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9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决定回溯法效率的四个因素：第四个造成不同实例的巨大差异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27685" y="1524000"/>
            <a:ext cx="6173153" cy="2993232"/>
            <a:chOff x="527685" y="1524000"/>
            <a:chExt cx="6173153" cy="29932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167438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0331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因素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0457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对应的量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41238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912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生成下一个 X(k) 的时间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38628" y="2108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生成一个结点的时间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88383" y="210835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单个结点的开销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616743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179136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满足显式约束的 X(k) 的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738628" y="267033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子结点的数量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8383" y="267033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决定解空间树的规模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32309"/>
              <a:ext cx="18887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 Bᵢ 的计算时间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38628" y="323230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检验一个结点的时间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88383" y="323230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单个结点的开销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41395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46158"/>
              <a:ext cx="616743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680936"/>
              <a:ext cx="154345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对所有 i，满足 Bᵢ 的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X(k) 的数目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738628" y="379428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通过检验的结点数量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88383" y="3680936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决定动态树大小，随实例</a:t>
              </a:r>
              <a:br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6167438" cy="2697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626042" y="1524000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475798" y="1524000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7685" y="4297204"/>
              <a:ext cx="5152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原课件思考题"哪一个因素会导致不同实例产生的结点数不同"的答案是第四个</a:t>
              </a:r>
            </a:p>
          </p:txBody>
        </p:sp>
      </p:grpSp>
      <p:grpSp>
        <p:nvGrpSpPr>
          <p:cNvPr id="39" name="c1-callout-2"/>
          <p:cNvGrpSpPr/>
          <p:nvPr/>
        </p:nvGrpSpPr>
        <p:grpSpPr>
          <a:xfrm>
            <a:off x="533400" y="4663440"/>
            <a:ext cx="6167438" cy="864870"/>
            <a:chOff x="533400" y="4663440"/>
            <a:chExt cx="6167438" cy="864870"/>
          </a:xfrm>
        </p:grpSpPr>
        <p:sp>
          <p:nvSpPr>
            <p:cNvPr id="33" name="Rectangle 33"/>
            <p:cNvSpPr/>
            <p:nvPr/>
          </p:nvSpPr>
          <p:spPr>
            <a:xfrm>
              <a:off x="533400" y="4663440"/>
              <a:ext cx="6167438" cy="864870"/>
            </a:xfrm>
            <a:prstGeom prst="roundRect">
              <a:avLst>
                <a:gd name="adj" fmla="val 1321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4995863"/>
              <a:ext cx="200026" cy="200025"/>
              <a:chOff x="738188" y="4995863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49958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50403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51514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4852988"/>
              <a:ext cx="5177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Bᵢ 能大大减少生成的结点数；但剪枝越强的 Bᵢ 往往计算越费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时间，两者要折中。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7005638" y="1524000"/>
            <a:ext cx="4652962" cy="2754630"/>
            <a:chOff x="7005638" y="1524000"/>
            <a:chExt cx="4652962" cy="2754630"/>
          </a:xfrm>
        </p:grpSpPr>
        <p:sp>
          <p:nvSpPr>
            <p:cNvPr id="40" name="Rectangle 40"/>
            <p:cNvSpPr/>
            <p:nvPr/>
          </p:nvSpPr>
          <p:spPr>
            <a:xfrm>
              <a:off x="7005638" y="1524000"/>
              <a:ext cx="4652962" cy="2754630"/>
            </a:xfrm>
            <a:prstGeom prst="roundRect">
              <a:avLst>
                <a:gd name="adj" fmla="val 48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015162" y="1657350"/>
              <a:ext cx="47625" cy="248793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253288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335596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效率估计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45668" y="2110740"/>
              <a:ext cx="40443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解空间的结点数是 2ⁿ 或 n! 时，回溯算法最坏情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况下的时间复杂度为 O(p(n)·2ⁿ) 或 O(q(n)·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n!)，p(n)、q(n) 为 n 的多项式。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45668" y="3017520"/>
              <a:ext cx="3987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回溯法对同一问题不同实例的差异很大，n 很大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时对某些实例仍十分有效。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46811" y="3635216"/>
              <a:ext cx="37518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因此在对某个实例采用回溯法之前，应估算它的工作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量。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7005638" y="4469130"/>
            <a:ext cx="4652962" cy="1059180"/>
            <a:chOff x="7005638" y="4469130"/>
            <a:chExt cx="4652962" cy="1059180"/>
          </a:xfrm>
        </p:grpSpPr>
        <p:sp>
          <p:nvSpPr>
            <p:cNvPr id="48" name="Rectangle 48"/>
            <p:cNvSpPr/>
            <p:nvPr/>
          </p:nvSpPr>
          <p:spPr>
            <a:xfrm>
              <a:off x="7005638" y="4469130"/>
              <a:ext cx="4652962" cy="1059180"/>
            </a:xfrm>
            <a:prstGeom prst="roundRect">
              <a:avLst>
                <a:gd name="adj" fmla="val 10791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210425" y="4898710"/>
              <a:ext cx="200023" cy="200023"/>
              <a:chOff x="7210425" y="489871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210425" y="48987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343775" y="49653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512368" y="461772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估算对象：动态树中不受限界的结点个数，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即活结点的个数。可以用蒙特卡罗方法估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回溯法的效率估计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蒙特卡罗方法：沿一条随机路径推断每一层有多少结点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318633" cy="2764440"/>
            <a:chOff x="533400" y="1533525"/>
            <a:chExt cx="5318633" cy="2764440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7204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限界函数固定不变，对状态空间树同一层的结点都适用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看当前结点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49060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 是随机路径上第 i 层的结点，限界函数确定 x 有 mᵢ 个可用的儿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子结点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10419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随机选一个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397091"/>
              <a:ext cx="47946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从这 mᵢ 个儿子中随机选中一个作为下一层的 x，重复上述过程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7547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停止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04860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当前结点是叶结点，或者儿子结点都被限界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7"/>
              <p:cNvSpPr txBox="1">
                <a:spLocks noGrp="1"/>
              </p:cNvSpPr>
              <p:nvPr/>
            </p:nvSpPr>
            <p:spPr>
              <a:xfrm>
                <a:off x="533400" y="4475798"/>
                <a:ext cx="5626418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+⋯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32" name="c1-callout-3"/>
          <p:cNvGrpSpPr/>
          <p:nvPr/>
        </p:nvGrpSpPr>
        <p:grpSpPr>
          <a:xfrm>
            <a:off x="533400" y="5123498"/>
            <a:ext cx="5626418" cy="1059180"/>
            <a:chOff x="533400" y="5123498"/>
            <a:chExt cx="5626418" cy="1059180"/>
          </a:xfrm>
        </p:grpSpPr>
        <p:sp>
          <p:nvSpPr>
            <p:cNvPr id="26" name="Rectangle 26"/>
            <p:cNvSpPr/>
            <p:nvPr/>
          </p:nvSpPr>
          <p:spPr>
            <a:xfrm>
              <a:off x="533400" y="5123498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553075"/>
              <a:ext cx="200026" cy="200026"/>
              <a:chOff x="738188" y="5553075"/>
              <a:chExt cx="200026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55530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5619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27088" y="565308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5272088"/>
              <a:ext cx="46634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路径走到第 k+1 层结点 v 的概率 p(v) = 1/(m₁…mₖ)，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正好是这时 r 的倒数，于是 E(r) = Σ p(v)·(1/p(v))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该层结点数：m 的期望等于不受限界的结点数。</a:t>
              </a:r>
            </a:p>
          </p:txBody>
        </p:sp>
      </p:grpSp>
      <p:grpSp>
        <p:nvGrpSpPr>
          <p:cNvPr id="51" name="c2-graph-1"/>
          <p:cNvGrpSpPr/>
          <p:nvPr/>
        </p:nvGrpSpPr>
        <p:grpSpPr>
          <a:xfrm>
            <a:off x="6945630" y="1619250"/>
            <a:ext cx="4609372" cy="2000250"/>
            <a:chOff x="6945630" y="1619250"/>
            <a:chExt cx="4609372" cy="2000250"/>
          </a:xfrm>
        </p:grpSpPr>
        <p:sp>
          <p:nvSpPr>
            <p:cNvPr id="33" name="Freeform 33"/>
            <p:cNvSpPr/>
            <p:nvPr/>
          </p:nvSpPr>
          <p:spPr>
            <a:xfrm>
              <a:off x="7213282" y="1849755"/>
              <a:ext cx="943928" cy="658178"/>
            </a:xfrm>
            <a:custGeom>
              <a:avLst/>
              <a:gdLst/>
              <a:ahLst/>
              <a:cxnLst/>
              <a:rect l="l" t="t" r="r" b="b"/>
              <a:pathLst>
                <a:path w="943928" h="658178">
                  <a:moveTo>
                    <a:pt x="943928" y="0"/>
                  </a:moveTo>
                  <a:lnTo>
                    <a:pt x="0" y="6581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980045" y="1902142"/>
              <a:ext cx="241935" cy="553403"/>
            </a:xfrm>
            <a:custGeom>
              <a:avLst/>
              <a:gdLst/>
              <a:ahLst/>
              <a:cxnLst/>
              <a:rect l="l" t="t" r="r" b="b"/>
              <a:pathLst>
                <a:path w="241935" h="553403">
                  <a:moveTo>
                    <a:pt x="241935" y="0"/>
                  </a:moveTo>
                  <a:lnTo>
                    <a:pt x="0" y="553403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357235" y="1895475"/>
              <a:ext cx="318135" cy="566738"/>
            </a:xfrm>
            <a:custGeom>
              <a:avLst/>
              <a:gdLst/>
              <a:ahLst/>
              <a:cxnLst/>
              <a:rect l="l" t="t" r="r" b="b"/>
              <a:pathLst>
                <a:path w="318135" h="566738">
                  <a:moveTo>
                    <a:pt x="0" y="0"/>
                  </a:moveTo>
                  <a:lnTo>
                    <a:pt x="318135" y="56673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410575" y="1844040"/>
              <a:ext cx="1042035" cy="669607"/>
            </a:xfrm>
            <a:custGeom>
              <a:avLst/>
              <a:gdLst/>
              <a:ahLst/>
              <a:cxnLst/>
              <a:rect l="l" t="t" r="r" b="b"/>
              <a:pathLst>
                <a:path w="1042035" h="669607">
                  <a:moveTo>
                    <a:pt x="0" y="0"/>
                  </a:moveTo>
                  <a:lnTo>
                    <a:pt x="1042035" y="6696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383780" y="2720340"/>
              <a:ext cx="447675" cy="631507"/>
            </a:xfrm>
            <a:custGeom>
              <a:avLst/>
              <a:gdLst/>
              <a:ahLst/>
              <a:cxnLst/>
              <a:rect l="l" t="t" r="r" b="b"/>
              <a:pathLst>
                <a:path w="447675" h="631507">
                  <a:moveTo>
                    <a:pt x="447675" y="0"/>
                  </a:moveTo>
                  <a:lnTo>
                    <a:pt x="0" y="6315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919085" y="2747962"/>
              <a:ext cx="9525" cy="576262"/>
            </a:xfrm>
            <a:custGeom>
              <a:avLst/>
              <a:gdLst/>
              <a:ahLst/>
              <a:cxnLst/>
              <a:rect l="l" t="t" r="r" b="b"/>
              <a:pathLst>
                <a:path w="9525" h="576262">
                  <a:moveTo>
                    <a:pt x="0" y="0"/>
                  </a:moveTo>
                  <a:lnTo>
                    <a:pt x="0" y="576262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8006715" y="2720340"/>
              <a:ext cx="447675" cy="631507"/>
            </a:xfrm>
            <a:custGeom>
              <a:avLst/>
              <a:gdLst/>
              <a:ahLst/>
              <a:cxnLst/>
              <a:rect l="l" t="t" r="r" b="b"/>
              <a:pathLst>
                <a:path w="447675" h="631507">
                  <a:moveTo>
                    <a:pt x="0" y="0"/>
                  </a:moveTo>
                  <a:lnTo>
                    <a:pt x="447675" y="6315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8140065" y="1619250"/>
              <a:ext cx="285750" cy="28575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6945630" y="245268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7776210" y="2452688"/>
              <a:ext cx="285750" cy="28575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8606790" y="245268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9438322" y="2452688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7153275" y="333375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7776210" y="3333750"/>
              <a:ext cx="285750" cy="28575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8399145" y="333375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362443" y="1640681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层：1 个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303076" y="2474119"/>
              <a:ext cx="10498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层：m₁ 个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101038" y="3355181"/>
              <a:ext cx="14539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层：约 m₁m₂ 个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464618" y="4095750"/>
            <a:ext cx="5193982" cy="2086928"/>
            <a:chOff x="6464618" y="4095750"/>
            <a:chExt cx="5193982" cy="2086928"/>
          </a:xfrm>
        </p:grpSpPr>
        <p:sp>
          <p:nvSpPr>
            <p:cNvPr id="52" name="Rectangle 52"/>
            <p:cNvSpPr/>
            <p:nvPr/>
          </p:nvSpPr>
          <p:spPr>
            <a:xfrm>
              <a:off x="6464618" y="4095750"/>
              <a:ext cx="5193982" cy="2086928"/>
            </a:xfrm>
            <a:prstGeom prst="roundRect">
              <a:avLst>
                <a:gd name="adj" fmla="val 639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74142" y="4229100"/>
              <a:ext cx="47625" cy="182022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712268" y="430530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81775" y="434101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为什么这样推断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704648" y="4682490"/>
              <a:ext cx="44538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层有 m₁ 个结点。随机选中的那个结点有 m₂ 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儿子通过检验，假定第 2 层每个结点都如此，第 3 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就约有 m₁m₂ 个结点，依此类推。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705791" y="5585936"/>
              <a:ext cx="38900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mᵢ 相当于第 i 层结点平均没受限界的儿子结点数。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31998" cy="909257"/>
            <a:chOff x="520446" y="342900"/>
            <a:chExt cx="80319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回溯法的效率估计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319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7.3 ESTIMATE：一次随机路径给出一个估计值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545205"/>
            <a:chOff x="533400" y="1524000"/>
            <a:chExt cx="5951220" cy="35452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4007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7.3 ESTIMATE()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588766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ESTIMATE()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沿状态空间树中一条随机路径，产生这棵树中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不受限界结点的估计数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m ← 1; r ← 1; k ←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loop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Tk ← {X(k) : X(k) ∈ T(X(1),…,X(k-1))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and Bk(X(1),…,X(k))}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SIZE(Tk) = 0 then exit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 ← r * SIZE(Tk)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第 k 层的结点数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 ← m + r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前 k 层的结点总数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X(k) ← CHOOSE(Tk)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从 Tk 中随机挑一个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k ← k + 1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m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ESTIMATE</a:t>
              </a:r>
            </a:p>
          </p:txBody>
        </p:sp>
      </p:grpSp>
      <p:grpSp>
        <p:nvGrpSpPr>
          <p:cNvPr id="15" name="c1-text-2"/>
          <p:cNvGrpSpPr/>
          <p:nvPr/>
        </p:nvGrpSpPr>
        <p:grpSpPr>
          <a:xfrm>
            <a:off x="527304" y="5273992"/>
            <a:ext cx="3587344" cy="1078612"/>
            <a:chOff x="527304" y="5273992"/>
            <a:chExt cx="3587344" cy="1078612"/>
          </a:xfrm>
        </p:grpSpPr>
        <p:sp>
          <p:nvSpPr>
            <p:cNvPr id="11" name="TextBox 11"/>
            <p:cNvSpPr txBox="1"/>
            <p:nvPr/>
          </p:nvSpPr>
          <p:spPr>
            <a:xfrm>
              <a:off x="527304" y="5273992"/>
              <a:ext cx="27422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m：已数到的结点数，初值 1 是根结点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7304" y="5555932"/>
              <a:ext cx="35354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r：第 k 层的结点数 m₁…mₖ，每层乘上 SIZE(Tk)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7304" y="5836920"/>
              <a:ext cx="35873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Tk：当前结点通过限界函数的儿子集合，每层重算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7304" y="6117908"/>
              <a:ext cx="2541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CHOOSE：从 Tk 中等概率取一个值</a:t>
              </a:r>
            </a:p>
          </p:txBody>
        </p:sp>
      </p:grpSp>
      <p:grpSp>
        <p:nvGrpSpPr>
          <p:cNvPr id="32" name="c2-compare-1"/>
          <p:cNvGrpSpPr/>
          <p:nvPr/>
        </p:nvGrpSpPr>
        <p:grpSpPr>
          <a:xfrm>
            <a:off x="6789420" y="1524000"/>
            <a:ext cx="4869180" cy="2398395"/>
            <a:chOff x="6789420" y="1524000"/>
            <a:chExt cx="4869180" cy="2398395"/>
          </a:xfrm>
        </p:grpSpPr>
        <p:sp>
          <p:nvSpPr>
            <p:cNvPr id="16" name="Rectangle 16"/>
            <p:cNvSpPr/>
            <p:nvPr/>
          </p:nvSpPr>
          <p:spPr>
            <a:xfrm>
              <a:off x="6789420" y="1524000"/>
              <a:ext cx="2225040" cy="2398395"/>
            </a:xfrm>
            <a:prstGeom prst="roundRect">
              <a:avLst>
                <a:gd name="adj" fmla="val 5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798945" y="1657350"/>
              <a:ext cx="47625" cy="21316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024116" y="175117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038975" y="214979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95566" y="2090261"/>
              <a:ext cx="14571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要找出所有答案结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点时非常有用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038975" y="274129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195566" y="2681764"/>
              <a:ext cx="14571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限界函数固定不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变，计算方便，对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同一层结点都适用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9433560" y="1524000"/>
              <a:ext cx="2225040" cy="2398395"/>
            </a:xfrm>
            <a:prstGeom prst="roundRect">
              <a:avLst>
                <a:gd name="adj" fmla="val 5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9443085" y="1657350"/>
              <a:ext cx="47625" cy="21316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68256" y="175117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9683115" y="214979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839706" y="2090261"/>
              <a:ext cx="14571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只求一个解时，实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际生成的结点数远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小于 m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9683115" y="301275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39706" y="2953226"/>
              <a:ext cx="14571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随着检索进行，限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界函数本应更强，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实际的 m 会更小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9062085" y="256127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132425" y="265747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6789420" y="4107180"/>
            <a:ext cx="4869180" cy="1018222"/>
            <a:chOff x="6789420" y="4107180"/>
            <a:chExt cx="4869180" cy="1018222"/>
          </a:xfrm>
        </p:grpSpPr>
        <p:sp>
          <p:nvSpPr>
            <p:cNvPr id="33" name="Rectangle 33"/>
            <p:cNvSpPr/>
            <p:nvPr/>
          </p:nvSpPr>
          <p:spPr>
            <a:xfrm>
              <a:off x="6789420" y="4107180"/>
              <a:ext cx="4869180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994208" y="4516755"/>
              <a:ext cx="200026" cy="200025"/>
              <a:chOff x="6994208" y="4516755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994208" y="45167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033946" y="45612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068662" y="46723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7296531" y="4255294"/>
              <a:ext cx="398195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一条路径的估计值波动很大，实际使用时多取几条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随机路径求平均。这个估计值的数学期望恰好等于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动态树中不受限界的结点数。</a:t>
              </a:r>
            </a:p>
          </p:txBody>
        </p:sp>
      </p:grpSp>
      <p:grpSp>
        <p:nvGrpSpPr>
          <p:cNvPr id="46" name="c2-callout-3"/>
          <p:cNvGrpSpPr/>
          <p:nvPr/>
        </p:nvGrpSpPr>
        <p:grpSpPr>
          <a:xfrm>
            <a:off x="6789420" y="5311140"/>
            <a:ext cx="4869180" cy="993458"/>
            <a:chOff x="6789420" y="5311140"/>
            <a:chExt cx="4869180" cy="993458"/>
          </a:xfrm>
        </p:grpSpPr>
        <p:sp>
          <p:nvSpPr>
            <p:cNvPr id="40" name="Rectangle 40"/>
            <p:cNvSpPr/>
            <p:nvPr/>
          </p:nvSpPr>
          <p:spPr>
            <a:xfrm>
              <a:off x="6789420" y="5311140"/>
              <a:ext cx="4869180" cy="993458"/>
            </a:xfrm>
            <a:prstGeom prst="roundRect">
              <a:avLst>
                <a:gd name="adj" fmla="val 1150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82149" y="5704641"/>
              <a:ext cx="224134" cy="192560"/>
              <a:chOff x="6982149" y="5704641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094220" y="577500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82149" y="570464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094220" y="585279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7296531" y="5577364"/>
              <a:ext cx="396392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手算易错：r 是连乘、m 是累加；被杀死的儿子不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计入 m。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490449" cy="3351847"/>
            <a:chOff x="667512" y="1835468"/>
            <a:chExt cx="649044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53485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n-皇后问题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4805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用"行差的绝对值等于列差的绝对值"判断斜线冲突，逐行放置皇后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问题描述与限界函数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639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PLACE 与 NQUEENS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547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4-皇后问题的搜索过程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547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8-皇后问题的效率估计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667619" cy="909257"/>
            <a:chOff x="520446" y="342900"/>
            <a:chExt cx="10667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6676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限界函数：两个皇后在同一斜线上，当且仅当行差与列差的绝对值相等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253538" cy="293370"/>
            <a:chOff x="525780" y="1548765"/>
            <a:chExt cx="9253538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2535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皇后 i 放在第 i 行第 xᵢ 列。显式约束 xᵢ ∈ {1, …, n}，解空间 nⁿ；要求各 xᵢ 互不相同时解空间为 n!。</a:t>
              </a:r>
            </a:p>
          </p:txBody>
        </p:sp>
      </p:grpSp>
      <p:grpSp>
        <p:nvGrpSpPr>
          <p:cNvPr id="10" name="c1-text-1"/>
          <p:cNvGrpSpPr/>
          <p:nvPr/>
        </p:nvGrpSpPr>
        <p:grpSpPr>
          <a:xfrm>
            <a:off x="527304" y="1974532"/>
            <a:ext cx="2493912" cy="234696"/>
            <a:chOff x="527304" y="1974532"/>
            <a:chExt cx="249391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1974532"/>
              <a:ext cx="2493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左上到右下的斜线："行 − 列"相同</a:t>
              </a:r>
            </a:p>
          </p:txBody>
        </p:sp>
      </p:grpSp>
      <p:grpSp>
        <p:nvGrpSpPr>
          <p:cNvPr id="66" name="c1-cells-2"/>
          <p:cNvGrpSpPr/>
          <p:nvPr/>
        </p:nvGrpSpPr>
        <p:grpSpPr>
          <a:xfrm>
            <a:off x="528066" y="2342198"/>
            <a:ext cx="2006536" cy="1790700"/>
            <a:chOff x="528066" y="2342198"/>
            <a:chExt cx="2006536" cy="1790700"/>
          </a:xfrm>
        </p:grpSpPr>
        <p:sp>
          <p:nvSpPr>
            <p:cNvPr id="11" name="TextBox 11"/>
            <p:cNvSpPr txBox="1"/>
            <p:nvPr/>
          </p:nvSpPr>
          <p:spPr>
            <a:xfrm>
              <a:off x="528066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43902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76823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102042" y="234219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94148" y="245554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460182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552288" y="245554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818322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910428" y="245554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-3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176462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268568" y="245554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8066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43902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6823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1102042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34963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460182" y="270033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552288" y="281368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818322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910428" y="281368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-2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176462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268568" y="281368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28066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43902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76823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1102042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34963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460182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593103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818322" y="305847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910428" y="31718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176462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268568" y="31718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28066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43902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76823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102042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234963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460182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593103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1818322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951243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176462" y="341661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268568" y="35299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28066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43902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76823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102042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234963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460182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593103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818322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951243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2176462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2309383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</p:grpSp>
      <p:grpSp>
        <p:nvGrpSpPr>
          <p:cNvPr id="68" name="c1-text-3"/>
          <p:cNvGrpSpPr/>
          <p:nvPr/>
        </p:nvGrpSpPr>
        <p:grpSpPr>
          <a:xfrm>
            <a:off x="527304" y="4332922"/>
            <a:ext cx="2732532" cy="470916"/>
            <a:chOff x="527304" y="4332922"/>
            <a:chExt cx="2732532" cy="470916"/>
          </a:xfrm>
        </p:grpSpPr>
        <p:sp>
          <p:nvSpPr>
            <p:cNvPr id="67" name="TextBox 67"/>
            <p:cNvSpPr txBox="1"/>
            <p:nvPr/>
          </p:nvSpPr>
          <p:spPr>
            <a:xfrm>
              <a:off x="527304" y="4332922"/>
              <a:ext cx="273253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格内为行号 − 列号，高亮一条值为 −1 的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斜线</a:t>
              </a:r>
            </a:p>
          </p:txBody>
        </p:sp>
      </p:grpSp>
      <p:grpSp>
        <p:nvGrpSpPr>
          <p:cNvPr id="75" name="c1-card-4"/>
          <p:cNvGrpSpPr/>
          <p:nvPr/>
        </p:nvGrpSpPr>
        <p:grpSpPr>
          <a:xfrm>
            <a:off x="533400" y="4936808"/>
            <a:ext cx="2839402" cy="1405890"/>
            <a:chOff x="533400" y="4936808"/>
            <a:chExt cx="2839402" cy="1405890"/>
          </a:xfrm>
        </p:grpSpPr>
        <p:sp>
          <p:nvSpPr>
            <p:cNvPr id="69" name="Rectangle 69"/>
            <p:cNvSpPr/>
            <p:nvPr/>
          </p:nvSpPr>
          <p:spPr>
            <a:xfrm>
              <a:off x="533400" y="4936808"/>
              <a:ext cx="2839402" cy="1405890"/>
            </a:xfrm>
            <a:prstGeom prst="roundRect">
              <a:avLst>
                <a:gd name="adj" fmla="val 94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542925" y="5070158"/>
              <a:ext cx="47625" cy="11391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769620" y="513492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61060" y="516921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2381" y="5495449"/>
              <a:ext cx="23275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3) 与 (4, 5)：都是 −1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62381" y="5813584"/>
              <a:ext cx="16488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|3 − 5| = 2 = |2 − 4|</a:t>
              </a:r>
            </a:p>
          </p:txBody>
        </p:sp>
      </p:grpSp>
      <p:grpSp>
        <p:nvGrpSpPr>
          <p:cNvPr id="77" name="c2-text-1"/>
          <p:cNvGrpSpPr/>
          <p:nvPr/>
        </p:nvGrpSpPr>
        <p:grpSpPr>
          <a:xfrm>
            <a:off x="3671507" y="1974532"/>
            <a:ext cx="2493912" cy="234696"/>
            <a:chOff x="3671507" y="1974532"/>
            <a:chExt cx="2493912" cy="234696"/>
          </a:xfrm>
        </p:grpSpPr>
        <p:sp>
          <p:nvSpPr>
            <p:cNvPr id="76" name="TextBox 76"/>
            <p:cNvSpPr txBox="1"/>
            <p:nvPr/>
          </p:nvSpPr>
          <p:spPr>
            <a:xfrm>
              <a:off x="3671507" y="1974532"/>
              <a:ext cx="2493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右上到左下的斜线："行 + 列"相同</a:t>
              </a:r>
            </a:p>
          </p:txBody>
        </p:sp>
      </p:grpSp>
      <p:grpSp>
        <p:nvGrpSpPr>
          <p:cNvPr id="133" name="c2-cells-2"/>
          <p:cNvGrpSpPr/>
          <p:nvPr/>
        </p:nvGrpSpPr>
        <p:grpSpPr>
          <a:xfrm>
            <a:off x="3672268" y="2342198"/>
            <a:ext cx="2006537" cy="1790700"/>
            <a:chOff x="3672268" y="2342198"/>
            <a:chExt cx="2006537" cy="1790700"/>
          </a:xfrm>
        </p:grpSpPr>
        <p:sp>
          <p:nvSpPr>
            <p:cNvPr id="78" name="TextBox 78"/>
            <p:cNvSpPr txBox="1"/>
            <p:nvPr/>
          </p:nvSpPr>
          <p:spPr>
            <a:xfrm>
              <a:off x="3672268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3888105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4021026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4246245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4379166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4604385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4737306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4962525" y="234219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5095446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5320665" y="234219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5453586" y="2455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3672268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3888105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4021026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4246245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4379166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4604385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4737306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4962525" y="270033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5095446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5320665" y="270033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5453586" y="28136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3672268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3888105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4021026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4246245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4379166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05" name="Rectangle 105"/>
            <p:cNvSpPr/>
            <p:nvPr/>
          </p:nvSpPr>
          <p:spPr>
            <a:xfrm>
              <a:off x="4604385" y="305847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4737306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4962525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5095446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5320665" y="305847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5453586" y="31718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3672268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12" name="Rectangle 112"/>
            <p:cNvSpPr/>
            <p:nvPr/>
          </p:nvSpPr>
          <p:spPr>
            <a:xfrm>
              <a:off x="3888105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4021026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4246245" y="341661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4379166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16" name="Rectangle 116"/>
            <p:cNvSpPr/>
            <p:nvPr/>
          </p:nvSpPr>
          <p:spPr>
            <a:xfrm>
              <a:off x="4604385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4737306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18" name="Rectangle 118"/>
            <p:cNvSpPr/>
            <p:nvPr/>
          </p:nvSpPr>
          <p:spPr>
            <a:xfrm>
              <a:off x="4962525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5095446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20" name="Rectangle 120"/>
            <p:cNvSpPr/>
            <p:nvPr/>
          </p:nvSpPr>
          <p:spPr>
            <a:xfrm>
              <a:off x="5320665" y="341661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5453586" y="352996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3672268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23" name="Rectangle 123"/>
            <p:cNvSpPr/>
            <p:nvPr/>
          </p:nvSpPr>
          <p:spPr>
            <a:xfrm>
              <a:off x="3888105" y="3774758"/>
              <a:ext cx="358140" cy="35814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4021026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4246245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4379166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27" name="Rectangle 127"/>
            <p:cNvSpPr/>
            <p:nvPr/>
          </p:nvSpPr>
          <p:spPr>
            <a:xfrm>
              <a:off x="4604385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28" name="TextBox 128"/>
            <p:cNvSpPr txBox="1"/>
            <p:nvPr/>
          </p:nvSpPr>
          <p:spPr>
            <a:xfrm>
              <a:off x="4737306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29" name="Rectangle 129"/>
            <p:cNvSpPr/>
            <p:nvPr/>
          </p:nvSpPr>
          <p:spPr>
            <a:xfrm>
              <a:off x="4962525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5095446" y="38881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31" name="Rectangle 131"/>
            <p:cNvSpPr/>
            <p:nvPr/>
          </p:nvSpPr>
          <p:spPr>
            <a:xfrm>
              <a:off x="5320665" y="3774758"/>
              <a:ext cx="358140" cy="35814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5412771" y="388810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  <p:grpSp>
        <p:nvGrpSpPr>
          <p:cNvPr id="135" name="c2-text-3"/>
          <p:cNvGrpSpPr/>
          <p:nvPr/>
        </p:nvGrpSpPr>
        <p:grpSpPr>
          <a:xfrm>
            <a:off x="3671507" y="4332922"/>
            <a:ext cx="2648712" cy="470916"/>
            <a:chOff x="3671507" y="4332922"/>
            <a:chExt cx="2648712" cy="470916"/>
          </a:xfrm>
        </p:grpSpPr>
        <p:sp>
          <p:nvSpPr>
            <p:cNvPr id="134" name="TextBox 134"/>
            <p:cNvSpPr txBox="1"/>
            <p:nvPr/>
          </p:nvSpPr>
          <p:spPr>
            <a:xfrm>
              <a:off x="3671507" y="4332922"/>
              <a:ext cx="264871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格内为行号 + 列号，高亮一条值为 6 的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斜线</a:t>
              </a:r>
            </a:p>
          </p:txBody>
        </p:sp>
      </p:grpSp>
      <p:grpSp>
        <p:nvGrpSpPr>
          <p:cNvPr id="142" name="c2-card-4"/>
          <p:cNvGrpSpPr/>
          <p:nvPr/>
        </p:nvGrpSpPr>
        <p:grpSpPr>
          <a:xfrm>
            <a:off x="3677602" y="4936808"/>
            <a:ext cx="2839402" cy="1405890"/>
            <a:chOff x="3677602" y="4936808"/>
            <a:chExt cx="2839402" cy="1405890"/>
          </a:xfrm>
        </p:grpSpPr>
        <p:sp>
          <p:nvSpPr>
            <p:cNvPr id="136" name="Rectangle 136"/>
            <p:cNvSpPr/>
            <p:nvPr/>
          </p:nvSpPr>
          <p:spPr>
            <a:xfrm>
              <a:off x="3677602" y="4936808"/>
              <a:ext cx="2839402" cy="1405890"/>
            </a:xfrm>
            <a:prstGeom prst="roundRect">
              <a:avLst>
                <a:gd name="adj" fmla="val 94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7" name="Rectangle 137"/>
            <p:cNvSpPr/>
            <p:nvPr/>
          </p:nvSpPr>
          <p:spPr>
            <a:xfrm>
              <a:off x="3687128" y="5070158"/>
              <a:ext cx="47625" cy="11391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38" name="Rectangle 138"/>
            <p:cNvSpPr/>
            <p:nvPr/>
          </p:nvSpPr>
          <p:spPr>
            <a:xfrm>
              <a:off x="3913822" y="513492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39" name="TextBox 139"/>
            <p:cNvSpPr txBox="1"/>
            <p:nvPr/>
          </p:nvSpPr>
          <p:spPr>
            <a:xfrm>
              <a:off x="4005262" y="516921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3906584" y="5495449"/>
              <a:ext cx="22223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5) 与 (4, 2)：都是 6</a:t>
              </a:r>
            </a:p>
          </p:txBody>
        </p:sp>
        <p:sp>
          <p:nvSpPr>
            <p:cNvPr id="141" name="TextBox 141"/>
            <p:cNvSpPr txBox="1"/>
            <p:nvPr/>
          </p:nvSpPr>
          <p:spPr>
            <a:xfrm>
              <a:off x="3906584" y="5813584"/>
              <a:ext cx="16488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|5 − 2| = 3 = |1 − 4|</a:t>
              </a:r>
            </a:p>
          </p:txBody>
        </p:sp>
      </p:grpSp>
      <p:grpSp>
        <p:nvGrpSpPr>
          <p:cNvPr id="153" name="c3-card-1"/>
          <p:cNvGrpSpPr/>
          <p:nvPr/>
        </p:nvGrpSpPr>
        <p:grpSpPr>
          <a:xfrm>
            <a:off x="6821805" y="1954530"/>
            <a:ext cx="4836795" cy="2686050"/>
            <a:chOff x="6821805" y="1954530"/>
            <a:chExt cx="4836795" cy="2686050"/>
          </a:xfrm>
        </p:grpSpPr>
        <p:sp>
          <p:nvSpPr>
            <p:cNvPr id="143" name="Rectangle 143"/>
            <p:cNvSpPr/>
            <p:nvPr/>
          </p:nvSpPr>
          <p:spPr>
            <a:xfrm>
              <a:off x="6821805" y="1954530"/>
              <a:ext cx="4836795" cy="2686050"/>
            </a:xfrm>
            <a:prstGeom prst="roundRect">
              <a:avLst>
                <a:gd name="adj" fmla="val 49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4" name="Rectangle 144"/>
            <p:cNvSpPr/>
            <p:nvPr/>
          </p:nvSpPr>
          <p:spPr>
            <a:xfrm>
              <a:off x="6831330" y="2087880"/>
              <a:ext cx="47625" cy="24193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5" name="Rectangle 145"/>
            <p:cNvSpPr/>
            <p:nvPr/>
          </p:nvSpPr>
          <p:spPr>
            <a:xfrm>
              <a:off x="7058025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6" name="TextBox 146"/>
            <p:cNvSpPr txBox="1"/>
            <p:nvPr/>
          </p:nvSpPr>
          <p:spPr>
            <a:xfrm>
              <a:off x="7149465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推导</a:t>
              </a:r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7050786" y="2513171"/>
              <a:ext cx="36436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设两个皇后位于 (i, X(i)) 和 (k, X(k))：</a:t>
              </a:r>
            </a:p>
          </p:txBody>
        </p:sp>
        <p:sp>
          <p:nvSpPr>
            <p:cNvPr id="148" name="Ellipse 148"/>
            <p:cNvSpPr/>
            <p:nvPr/>
          </p:nvSpPr>
          <p:spPr>
            <a:xfrm>
              <a:off x="7065645" y="289083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9" name="TextBox 149"/>
            <p:cNvSpPr txBox="1"/>
            <p:nvPr/>
          </p:nvSpPr>
          <p:spPr>
            <a:xfrm>
              <a:off x="7222236" y="2831306"/>
              <a:ext cx="399097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左上到右下：i − X(i) = k − X(k)，即 X(i) − X(k)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i − k</a:t>
              </a:r>
            </a:p>
          </p:txBody>
        </p:sp>
        <p:sp>
          <p:nvSpPr>
            <p:cNvPr id="150" name="Ellipse 150"/>
            <p:cNvSpPr/>
            <p:nvPr/>
          </p:nvSpPr>
          <p:spPr>
            <a:xfrm>
              <a:off x="7065645" y="348043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1" name="TextBox 151"/>
            <p:cNvSpPr txBox="1"/>
            <p:nvPr/>
          </p:nvSpPr>
          <p:spPr>
            <a:xfrm>
              <a:off x="7222236" y="3419951"/>
              <a:ext cx="399097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右上到左下：i + X(i) = k + X(k)，即 X(i) − X(k)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k − i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2" name="formula11"/>
                <p:cNvSpPr txBox="1">
                  <a:spLocks noGrp="1"/>
                </p:cNvSpPr>
                <p:nvPr/>
              </p:nvSpPr>
              <p:spPr>
                <a:xfrm>
                  <a:off x="7058025" y="3986212"/>
                  <a:ext cx="4402455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58" name="c3-card-2"/>
          <p:cNvGrpSpPr/>
          <p:nvPr/>
        </p:nvGrpSpPr>
        <p:grpSpPr>
          <a:xfrm>
            <a:off x="6821805" y="4820602"/>
            <a:ext cx="4836795" cy="1522095"/>
            <a:chOff x="6821805" y="4820602"/>
            <a:chExt cx="4836795" cy="1522095"/>
          </a:xfrm>
        </p:grpSpPr>
        <p:sp>
          <p:nvSpPr>
            <p:cNvPr id="154" name="Rectangle 154"/>
            <p:cNvSpPr/>
            <p:nvPr/>
          </p:nvSpPr>
          <p:spPr>
            <a:xfrm>
              <a:off x="6821805" y="4820602"/>
              <a:ext cx="4836795" cy="1522095"/>
            </a:xfrm>
            <a:prstGeom prst="roundRect">
              <a:avLst>
                <a:gd name="adj" fmla="val 8761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5" name="Rectangle 155"/>
            <p:cNvSpPr/>
            <p:nvPr/>
          </p:nvSpPr>
          <p:spPr>
            <a:xfrm>
              <a:off x="7019925" y="5018722"/>
              <a:ext cx="1267778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156" name="TextBox 156"/>
            <p:cNvSpPr txBox="1"/>
            <p:nvPr/>
          </p:nvSpPr>
          <p:spPr>
            <a:xfrm>
              <a:off x="7070741" y="5053012"/>
              <a:ext cx="11651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PLACE(k) 的判断</a:t>
              </a:r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7012686" y="5379244"/>
              <a:ext cx="41622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 k−1 行已放好。X(k) 与每个 X(i)（i &lt; k）比较，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出现 X(k) = X(i) 或 |X(i) − X(k)| = |i − k| 就返回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false，否则返回 true。</a:t>
              </a:r>
            </a:p>
          </p:txBody>
        </p:sp>
      </p:grpSp>
      <p:grpSp>
        <p:nvGrpSpPr>
          <p:cNvPr id="1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9" name="TextBox 15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60145" cy="909257"/>
            <a:chOff x="520446" y="342900"/>
            <a:chExt cx="61601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601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7.4 PLACE 与算法 7.5 NQUEENS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328160" cy="3545205"/>
            <a:chOff x="533400" y="1524000"/>
            <a:chExt cx="4328160" cy="35452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7727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7.4 能否放置一个新皇后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2529078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PLACE(k)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皇后能放在第 k 行第 X(k) 列时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返回 true，否则返回 false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X 是全局数组，已置入 k 个值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i, k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 ←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i &lt; k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X(i) = X(k) or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ABS(X(i)-X(k)) = ABS(i-k)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then return false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 ← i + 1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true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PLACE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5166360" y="1524000"/>
            <a:ext cx="6492240" cy="3748088"/>
            <a:chOff x="5166360" y="1524000"/>
            <a:chExt cx="6492240" cy="3748088"/>
          </a:xfrm>
        </p:grpSpPr>
        <p:sp>
          <p:nvSpPr>
            <p:cNvPr id="11" name="Rectangle 11"/>
            <p:cNvSpPr/>
            <p:nvPr/>
          </p:nvSpPr>
          <p:spPr>
            <a:xfrm>
              <a:off x="5166360" y="1524000"/>
              <a:ext cx="6492240" cy="3748088"/>
            </a:xfrm>
            <a:prstGeom prst="roundRect">
              <a:avLst>
                <a:gd name="adj" fmla="val 254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94757" y="1675924"/>
              <a:ext cx="19251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7.5 n-皇后问题的回溯算法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93995" y="1937861"/>
              <a:ext cx="3965702" cy="3263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NQUEENS(n)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k, n, X(1:n)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X(1) ← 0; k ←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k &gt; 0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X(k) ← X(k) + 1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while X(k) ≤ n and not PLACE(k)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X(k) ← X(k) + 1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当前列不能放，放到下一列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X(k) ≤ n then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if k = n then print(X)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else k ← k + 1; X(k) ← 0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准备放下一个皇后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 k ← k - 1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没有合适的位置，回溯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NQUEENS</a:t>
              </a:r>
            </a:p>
          </p:txBody>
        </p:sp>
      </p:grpSp>
      <p:grpSp>
        <p:nvGrpSpPr>
          <p:cNvPr id="21" name="takeaway"/>
          <p:cNvGrpSpPr/>
          <p:nvPr/>
        </p:nvGrpSpPr>
        <p:grpSpPr>
          <a:xfrm>
            <a:off x="533400" y="5829300"/>
            <a:ext cx="11170920" cy="533400"/>
            <a:chOff x="533400" y="5829300"/>
            <a:chExt cx="11170920" cy="533400"/>
          </a:xfrm>
        </p:grpSpPr>
        <p:sp>
          <p:nvSpPr>
            <p:cNvPr id="15" name="Rectangle 1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5991225"/>
              <a:ext cx="1066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NQUEENS 是算法 7.1 的具体化：内层 while 找下一个通过 PLACE 的列，找到就前进（k+1），找不到就回溯（k−1）。</a:t>
              </a:r>
            </a:p>
          </p:txBody>
        </p:sp>
      </p:grpSp>
      <p:grpSp>
        <p:nvGrpSpPr>
          <p:cNvPr id="2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" name="TextBox 2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31810" cy="909257"/>
            <a:chOff x="520446" y="342900"/>
            <a:chExt cx="68318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318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NQUEENS 为什么不漏解，最坏要花多少时间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ard-1"/>
          <p:cNvGrpSpPr/>
          <p:nvPr/>
        </p:nvGrpSpPr>
        <p:grpSpPr>
          <a:xfrm>
            <a:off x="533400" y="1524000"/>
            <a:ext cx="5626418" cy="2893695"/>
            <a:chOff x="533400" y="1524000"/>
            <a:chExt cx="5626418" cy="28936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893695"/>
            </a:xfrm>
            <a:prstGeom prst="roundRect">
              <a:avLst>
                <a:gd name="adj" fmla="val 46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2699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457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正确性要点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1050" y="209740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899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2040" y="2110740"/>
              <a:ext cx="43163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行：第 k 个皇后固定放在第 k 行，不会有行冲突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1050" y="243268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2899" y="24749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2040" y="2446020"/>
              <a:ext cx="4263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列与斜线：PLACE 检查新皇后与前 k−1 个皇后；前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k−1 个皇后之间的冲突在它们放下时已经检查过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1050" y="305371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2899" y="30960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82040" y="306705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不漏不重：每行的列号从 1 递增试到 n；回溯回来时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X(k) 接着上次的列加 1，不会重复试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1050" y="367474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2899" y="37170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82040" y="3688080"/>
              <a:ext cx="4530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找全部解：k = n 时打印后不前进，继续试第 n 行的下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一列，所以能输出全部解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4608195"/>
            <a:ext cx="5626418" cy="808672"/>
            <a:chOff x="533400" y="4608195"/>
            <a:chExt cx="5626418" cy="808672"/>
          </a:xfrm>
        </p:grpSpPr>
        <p:sp>
          <p:nvSpPr>
            <p:cNvPr id="24" name="Rectangle 24"/>
            <p:cNvSpPr/>
            <p:nvPr/>
          </p:nvSpPr>
          <p:spPr>
            <a:xfrm>
              <a:off x="533400" y="4608195"/>
              <a:ext cx="5626418" cy="808672"/>
            </a:xfrm>
            <a:prstGeom prst="roundRect">
              <a:avLst>
                <a:gd name="adj" fmla="val 1413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4912995"/>
              <a:ext cx="200026" cy="200026"/>
              <a:chOff x="738188" y="4912995"/>
              <a:chExt cx="200026" cy="20002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49129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04863" y="499078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130" y="4770120"/>
              <a:ext cx="35966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脚本验证：4-皇后有 2 个解 (2,4,1,3) 和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(3,1,4,2)；8-皇后有 92 个解。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6464618" y="1524000"/>
            <a:ext cx="5193982" cy="2919412"/>
            <a:chOff x="6464618" y="1524000"/>
            <a:chExt cx="5193982" cy="2919412"/>
          </a:xfrm>
        </p:grpSpPr>
        <p:sp>
          <p:nvSpPr>
            <p:cNvPr id="30" name="Rectangle 30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16879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76626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72441" y="2108359"/>
              <a:ext cx="9406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PLACE 一次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38376" y="2108359"/>
              <a:ext cx="16058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O(k)，不超过 O(n)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72441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每个活结点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38376" y="2556986"/>
              <a:ext cx="26618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最多试 n 列，每列调用一次 PLACE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28660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72441" y="311896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活结点个数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38376" y="3005614"/>
              <a:ext cx="30040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列互不相同，不超过排列树结点数 1 + n +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n(n−1) + … + n! ≤ e·n!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64618" y="354139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64618" y="3546158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72441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最坏时间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38376" y="3680936"/>
              <a:ext cx="28677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O(n²·n!)，属于 O(q(n)·n!) 的形式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39900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72441" y="41305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38376" y="4130516"/>
              <a:ext cx="11099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O(n)：数组 X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1524000"/>
              <a:ext cx="5193982" cy="29194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225790" y="1524000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callout-2"/>
          <p:cNvGrpSpPr/>
          <p:nvPr/>
        </p:nvGrpSpPr>
        <p:grpSpPr>
          <a:xfrm>
            <a:off x="6464618" y="4633912"/>
            <a:ext cx="5193982" cy="782955"/>
            <a:chOff x="6464618" y="4633912"/>
            <a:chExt cx="5193982" cy="782955"/>
          </a:xfrm>
        </p:grpSpPr>
        <p:sp>
          <p:nvSpPr>
            <p:cNvPr id="52" name="Rectangle 52"/>
            <p:cNvSpPr/>
            <p:nvPr/>
          </p:nvSpPr>
          <p:spPr>
            <a:xfrm>
              <a:off x="6464618" y="4633912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669405" y="4925378"/>
              <a:ext cx="200026" cy="200026"/>
              <a:chOff x="6669405" y="4925378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669405" y="49253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769418" y="49920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758305" y="50253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971348" y="4782502"/>
              <a:ext cx="4177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实际生成的结点远少于上界：8-皇后排列树有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109,601 个结点，通过 PLACE 的只有 2,057 个。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89091" cy="909257"/>
            <a:chOff x="520446" y="342900"/>
            <a:chExt cx="83890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890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4-皇后的搜索过程（一）：结点 2 的子树里找不到答案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9" name="c1-graph-1"/>
          <p:cNvGrpSpPr/>
          <p:nvPr/>
        </p:nvGrpSpPr>
        <p:grpSpPr>
          <a:xfrm>
            <a:off x="636936" y="1621155"/>
            <a:ext cx="4347344" cy="3923824"/>
            <a:chOff x="636936" y="1621155"/>
            <a:chExt cx="4347344" cy="3923824"/>
          </a:xfrm>
        </p:grpSpPr>
        <p:sp>
          <p:nvSpPr>
            <p:cNvPr id="7" name="Freeform 7"/>
            <p:cNvSpPr/>
            <p:nvPr/>
          </p:nvSpPr>
          <p:spPr>
            <a:xfrm>
              <a:off x="2747010" y="1865948"/>
              <a:ext cx="847725" cy="663893"/>
            </a:xfrm>
            <a:custGeom>
              <a:avLst/>
              <a:gdLst/>
              <a:ahLst/>
              <a:cxnLst/>
              <a:rect l="l" t="t" r="r" b="b"/>
              <a:pathLst>
                <a:path w="847725" h="663893">
                  <a:moveTo>
                    <a:pt x="847725" y="0"/>
                  </a:moveTo>
                  <a:lnTo>
                    <a:pt x="0" y="66389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569720" y="2719388"/>
              <a:ext cx="926783" cy="672465"/>
            </a:xfrm>
            <a:custGeom>
              <a:avLst/>
              <a:gdLst/>
              <a:ahLst/>
              <a:cxnLst/>
              <a:rect l="l" t="t" r="r" b="b"/>
              <a:pathLst>
                <a:path w="926783" h="672465">
                  <a:moveTo>
                    <a:pt x="926783" y="0"/>
                  </a:moveTo>
                  <a:lnTo>
                    <a:pt x="0" y="6724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483168" y="2781300"/>
              <a:ext cx="109538" cy="548640"/>
            </a:xfrm>
            <a:custGeom>
              <a:avLst/>
              <a:gdLst/>
              <a:ahLst/>
              <a:cxnLst/>
              <a:rect l="l" t="t" r="r" b="b"/>
              <a:pathLst>
                <a:path w="109538" h="548640">
                  <a:moveTo>
                    <a:pt x="109538" y="0"/>
                  </a:moveTo>
                  <a:lnTo>
                    <a:pt x="0" y="54864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71700" y="3630930"/>
              <a:ext cx="222885" cy="564833"/>
            </a:xfrm>
            <a:custGeom>
              <a:avLst/>
              <a:gdLst/>
              <a:ahLst/>
              <a:cxnLst/>
              <a:rect l="l" t="t" r="r" b="b"/>
              <a:pathLst>
                <a:path w="222885" h="564833">
                  <a:moveTo>
                    <a:pt x="222885" y="0"/>
                  </a:moveTo>
                  <a:lnTo>
                    <a:pt x="0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509838" y="3630930"/>
              <a:ext cx="222885" cy="564833"/>
            </a:xfrm>
            <a:custGeom>
              <a:avLst/>
              <a:gdLst/>
              <a:ahLst/>
              <a:cxnLst/>
              <a:rect l="l" t="t" r="r" b="b"/>
              <a:pathLst>
                <a:path w="222885" h="564833">
                  <a:moveTo>
                    <a:pt x="0" y="0"/>
                  </a:moveTo>
                  <a:lnTo>
                    <a:pt x="222885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750820" y="2719388"/>
              <a:ext cx="925830" cy="672465"/>
            </a:xfrm>
            <a:custGeom>
              <a:avLst/>
              <a:gdLst/>
              <a:ahLst/>
              <a:cxnLst/>
              <a:rect l="l" t="t" r="r" b="b"/>
              <a:pathLst>
                <a:path w="925830" h="672465">
                  <a:moveTo>
                    <a:pt x="0" y="0"/>
                  </a:moveTo>
                  <a:lnTo>
                    <a:pt x="925830" y="6724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524250" y="3630930"/>
              <a:ext cx="221933" cy="564833"/>
            </a:xfrm>
            <a:custGeom>
              <a:avLst/>
              <a:gdLst/>
              <a:ahLst/>
              <a:cxnLst/>
              <a:rect l="l" t="t" r="r" b="b"/>
              <a:pathLst>
                <a:path w="221933" h="564833">
                  <a:moveTo>
                    <a:pt x="221933" y="0"/>
                  </a:moveTo>
                  <a:lnTo>
                    <a:pt x="0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466148" y="4499610"/>
              <a:ext cx="9525" cy="542925"/>
            </a:xfrm>
            <a:custGeom>
              <a:avLst/>
              <a:gdLst/>
              <a:ahLst/>
              <a:cxnLst/>
              <a:rect l="l" t="t" r="r" b="b"/>
              <a:pathLst>
                <a:path w="9525" h="542925">
                  <a:moveTo>
                    <a:pt x="0" y="0"/>
                  </a:moveTo>
                  <a:lnTo>
                    <a:pt x="0" y="5429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861435" y="3630930"/>
              <a:ext cx="222885" cy="564833"/>
            </a:xfrm>
            <a:custGeom>
              <a:avLst/>
              <a:gdLst/>
              <a:ahLst/>
              <a:cxnLst/>
              <a:rect l="l" t="t" r="r" b="b"/>
              <a:pathLst>
                <a:path w="222885" h="564833">
                  <a:moveTo>
                    <a:pt x="0" y="0"/>
                  </a:moveTo>
                  <a:lnTo>
                    <a:pt x="222885" y="5648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842385" y="1865948"/>
              <a:ext cx="847725" cy="663893"/>
            </a:xfrm>
            <a:custGeom>
              <a:avLst/>
              <a:gdLst/>
              <a:ahLst/>
              <a:cxnLst/>
              <a:rect l="l" t="t" r="r" b="b"/>
              <a:pathLst>
                <a:path w="847725" h="663893">
                  <a:moveTo>
                    <a:pt x="0" y="0"/>
                  </a:moveTo>
                  <a:lnTo>
                    <a:pt x="847725" y="66389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570922" y="1621155"/>
              <a:ext cx="295275" cy="295275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2475548" y="2479358"/>
              <a:ext cx="295275" cy="2952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1295400" y="3336608"/>
              <a:ext cx="295275" cy="2952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2304098" y="3336608"/>
              <a:ext cx="295275" cy="2952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1965960" y="4194810"/>
              <a:ext cx="295275" cy="2952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2642235" y="4194810"/>
              <a:ext cx="295275" cy="2952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3656648" y="3336608"/>
              <a:ext cx="295275" cy="2952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3318510" y="4194810"/>
              <a:ext cx="295275" cy="2952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3318510" y="5053012"/>
              <a:ext cx="295275" cy="2952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3994785" y="4194810"/>
              <a:ext cx="295275" cy="2952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4666298" y="2479358"/>
              <a:ext cx="295275" cy="2952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672411" y="170402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577036" y="256127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396888" y="341947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58243" y="3667601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05586" y="341947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67448" y="42767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28803" y="4524851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02908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705078" y="4524851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717321" y="34194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379183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379183" y="513492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381353" y="5383054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055458" y="4276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057628" y="4524851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726971" y="256127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43590" y="2809399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下一页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104198" y="211931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135753" y="21483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965960" y="297751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997516" y="300656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470785" y="297751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502341" y="300656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216468" y="383476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248023" y="38647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554605" y="383476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586161" y="38647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3147060" y="297751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178616" y="300656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568065" y="383476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599621" y="38647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3399472" y="469296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3431028" y="472201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906202" y="383476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937758" y="386476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4199572" y="211931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4231128" y="21483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36936" y="20850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36936" y="294227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36936" y="38004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36936" y="46577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</p:grpSp>
      <p:grpSp>
        <p:nvGrpSpPr>
          <p:cNvPr id="112" name="c2-table-1"/>
          <p:cNvGrpSpPr/>
          <p:nvPr/>
        </p:nvGrpSpPr>
        <p:grpSpPr>
          <a:xfrm>
            <a:off x="5598795" y="1524000"/>
            <a:ext cx="6059805" cy="4085272"/>
            <a:chOff x="5598795" y="1524000"/>
            <a:chExt cx="6059805" cy="4085272"/>
          </a:xfrm>
        </p:grpSpPr>
        <p:sp>
          <p:nvSpPr>
            <p:cNvPr id="70" name="Rectangle 70"/>
            <p:cNvSpPr/>
            <p:nvPr/>
          </p:nvSpPr>
          <p:spPr>
            <a:xfrm>
              <a:off x="5598795" y="1524000"/>
              <a:ext cx="6059805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34079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路径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642860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结点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602534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检验结果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362399" y="208502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759979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310182" y="2085022"/>
              <a:ext cx="29085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皇后 1 放在第 1 列，结点 2 成为 E-结点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5598795" y="237934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5598795" y="2384108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243664" y="2515552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(1, 2)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759979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310182" y="2515552"/>
              <a:ext cx="26813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kill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：与皇后 1 同斜线，回溯到结点 2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5598795" y="28098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243664" y="2946082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(1, 3)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759979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310182" y="2946082"/>
              <a:ext cx="18908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通过，结点 8 成为 E-结点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5598795" y="32394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5598795" y="3244215"/>
              <a:ext cx="6059805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5826062" y="3375660"/>
              <a:ext cx="136474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3, 2)、(1, 3,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4)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7590358" y="3482340"/>
              <a:ext cx="4402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9、11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310182" y="3482340"/>
              <a:ext cx="27297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kill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：都与皇后 2 同斜线，结点 8 死亡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598795" y="388334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243664" y="4019550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(1, 4)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715555" y="401955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310182" y="4019550"/>
              <a:ext cx="19796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通过，结点 13 成为 E-结点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5598795" y="43138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5598795" y="4318635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6124929" y="4449128"/>
              <a:ext cx="7670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(1, 4, 2)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7715555" y="444912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310182" y="4449128"/>
              <a:ext cx="19796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通过，结点 14 成为 E-结点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5598795" y="474345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006194" y="4879658"/>
              <a:ext cx="10044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(1, 4, 2, 3)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7715555" y="487965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310182" y="4879658"/>
              <a:ext cx="26570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kill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：与皇后 3 同斜线，结点 14 死亡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5598795" y="517398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5598795" y="5178742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6124929" y="5310188"/>
              <a:ext cx="7670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(1, 4, 3)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7715555" y="531018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8310182" y="5310188"/>
              <a:ext cx="19866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kill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：与皇后 1、2 都同斜线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5598795" y="1524000"/>
              <a:ext cx="6059805" cy="40843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7412355" y="1524000"/>
              <a:ext cx="9525" cy="40843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1" name="Rectangle 111"/>
            <p:cNvSpPr/>
            <p:nvPr/>
          </p:nvSpPr>
          <p:spPr>
            <a:xfrm>
              <a:off x="8200072" y="1524000"/>
              <a:ext cx="9525" cy="40843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1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113" name="Rectangle 11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17" name="Group 117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15" name="Freeform 115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16" name="Freeform 116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18" name="TextBox 118"/>
            <p:cNvSpPr txBox="1"/>
            <p:nvPr/>
          </p:nvSpPr>
          <p:spPr>
            <a:xfrm>
              <a:off x="1040511" y="6004084"/>
              <a:ext cx="94769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结点 2 的所有儿子都不能导致答案棋盘格局，结点 2 也被杀死；回溯到根结点 1，生成结点 18，路径变为 (2)。</a:t>
              </a:r>
            </a:p>
          </p:txBody>
        </p:sp>
      </p:grpSp>
      <p:grpSp>
        <p:nvGrpSpPr>
          <p:cNvPr id="12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0" name="TextBox 12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774230" cy="909257"/>
            <a:chOff x="520446" y="342900"/>
            <a:chExt cx="97742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7742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4-皇后的搜索过程（二）：从结点 18 找到可行解 (2, 4, 1, 3)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5" name="c1-graph-1"/>
          <p:cNvGrpSpPr/>
          <p:nvPr/>
        </p:nvGrpSpPr>
        <p:grpSpPr>
          <a:xfrm>
            <a:off x="627519" y="1556385"/>
            <a:ext cx="5391328" cy="2862739"/>
            <a:chOff x="627519" y="1556385"/>
            <a:chExt cx="5391328" cy="2862739"/>
          </a:xfrm>
        </p:grpSpPr>
        <p:sp>
          <p:nvSpPr>
            <p:cNvPr id="7" name="Freeform 7"/>
            <p:cNvSpPr/>
            <p:nvPr/>
          </p:nvSpPr>
          <p:spPr>
            <a:xfrm>
              <a:off x="2644140" y="1755458"/>
              <a:ext cx="1089660" cy="481012"/>
            </a:xfrm>
            <a:custGeom>
              <a:avLst/>
              <a:gdLst/>
              <a:ahLst/>
              <a:cxnLst/>
              <a:rect l="l" t="t" r="r" b="b"/>
              <a:pathLst>
                <a:path w="1089660" h="481012">
                  <a:moveTo>
                    <a:pt x="1089660" y="0"/>
                  </a:moveTo>
                  <a:lnTo>
                    <a:pt x="0" y="48101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511618" y="2366010"/>
              <a:ext cx="865822" cy="461010"/>
            </a:xfrm>
            <a:custGeom>
              <a:avLst/>
              <a:gdLst/>
              <a:ahLst/>
              <a:cxnLst/>
              <a:rect l="l" t="t" r="r" b="b"/>
              <a:pathLst>
                <a:path w="865822" h="461010">
                  <a:moveTo>
                    <a:pt x="865822" y="0"/>
                  </a:moveTo>
                  <a:lnTo>
                    <a:pt x="0" y="4610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384108" y="2439352"/>
              <a:ext cx="85725" cy="314325"/>
            </a:xfrm>
            <a:custGeom>
              <a:avLst/>
              <a:gdLst/>
              <a:ahLst/>
              <a:cxnLst/>
              <a:rect l="l" t="t" r="r" b="b"/>
              <a:pathLst>
                <a:path w="85725" h="314325">
                  <a:moveTo>
                    <a:pt x="85725" y="0"/>
                  </a:moveTo>
                  <a:lnTo>
                    <a:pt x="0" y="3143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093595" y="3027998"/>
              <a:ext cx="180975" cy="339090"/>
            </a:xfrm>
            <a:custGeom>
              <a:avLst/>
              <a:gdLst/>
              <a:ahLst/>
              <a:cxnLst/>
              <a:rect l="l" t="t" r="r" b="b"/>
              <a:pathLst>
                <a:path w="180975" h="339090">
                  <a:moveTo>
                    <a:pt x="180975" y="0"/>
                  </a:moveTo>
                  <a:lnTo>
                    <a:pt x="0" y="3390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414588" y="3027998"/>
              <a:ext cx="181928" cy="339090"/>
            </a:xfrm>
            <a:custGeom>
              <a:avLst/>
              <a:gdLst/>
              <a:ahLst/>
              <a:cxnLst/>
              <a:rect l="l" t="t" r="r" b="b"/>
              <a:pathLst>
                <a:path w="181928" h="339090">
                  <a:moveTo>
                    <a:pt x="0" y="0"/>
                  </a:moveTo>
                  <a:lnTo>
                    <a:pt x="181928" y="3390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639378" y="2366010"/>
              <a:ext cx="860107" cy="461010"/>
            </a:xfrm>
            <a:custGeom>
              <a:avLst/>
              <a:gdLst/>
              <a:ahLst/>
              <a:cxnLst/>
              <a:rect l="l" t="t" r="r" b="b"/>
              <a:pathLst>
                <a:path w="860107" h="461010">
                  <a:moveTo>
                    <a:pt x="0" y="0"/>
                  </a:moveTo>
                  <a:lnTo>
                    <a:pt x="860107" y="4610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378518" y="3027998"/>
              <a:ext cx="181928" cy="339090"/>
            </a:xfrm>
            <a:custGeom>
              <a:avLst/>
              <a:gdLst/>
              <a:ahLst/>
              <a:cxnLst/>
              <a:rect l="l" t="t" r="r" b="b"/>
              <a:pathLst>
                <a:path w="181928" h="339090">
                  <a:moveTo>
                    <a:pt x="181928" y="0"/>
                  </a:moveTo>
                  <a:lnTo>
                    <a:pt x="0" y="3390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308985" y="3646170"/>
              <a:ext cx="9525" cy="303847"/>
            </a:xfrm>
            <a:custGeom>
              <a:avLst/>
              <a:gdLst/>
              <a:ahLst/>
              <a:cxnLst/>
              <a:rect l="l" t="t" r="r" b="b"/>
              <a:pathLst>
                <a:path w="9525" h="303847">
                  <a:moveTo>
                    <a:pt x="0" y="0"/>
                  </a:moveTo>
                  <a:lnTo>
                    <a:pt x="0" y="30384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700462" y="3027998"/>
              <a:ext cx="180975" cy="339090"/>
            </a:xfrm>
            <a:custGeom>
              <a:avLst/>
              <a:gdLst/>
              <a:ahLst/>
              <a:cxnLst/>
              <a:rect l="l" t="t" r="r" b="b"/>
              <a:pathLst>
                <a:path w="180975" h="339090">
                  <a:moveTo>
                    <a:pt x="0" y="0"/>
                  </a:moveTo>
                  <a:lnTo>
                    <a:pt x="180975" y="3390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005262" y="1755458"/>
              <a:ext cx="1096328" cy="481012"/>
            </a:xfrm>
            <a:custGeom>
              <a:avLst/>
              <a:gdLst/>
              <a:ahLst/>
              <a:cxnLst/>
              <a:rect l="l" t="t" r="r" b="b"/>
              <a:pathLst>
                <a:path w="1096328" h="481012">
                  <a:moveTo>
                    <a:pt x="0" y="0"/>
                  </a:moveTo>
                  <a:lnTo>
                    <a:pt x="1096328" y="481012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702492" y="2397442"/>
              <a:ext cx="426720" cy="398145"/>
            </a:xfrm>
            <a:custGeom>
              <a:avLst/>
              <a:gdLst/>
              <a:ahLst/>
              <a:cxnLst/>
              <a:rect l="l" t="t" r="r" b="b"/>
              <a:pathLst>
                <a:path w="426720" h="398145">
                  <a:moveTo>
                    <a:pt x="426720" y="0"/>
                  </a:moveTo>
                  <a:lnTo>
                    <a:pt x="0" y="3981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236845" y="2444115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345430" y="2397442"/>
              <a:ext cx="425767" cy="398145"/>
            </a:xfrm>
            <a:custGeom>
              <a:avLst/>
              <a:gdLst/>
              <a:ahLst/>
              <a:cxnLst/>
              <a:rect l="l" t="t" r="r" b="b"/>
              <a:pathLst>
                <a:path w="425767" h="398145">
                  <a:moveTo>
                    <a:pt x="0" y="0"/>
                  </a:moveTo>
                  <a:lnTo>
                    <a:pt x="425767" y="398145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879782" y="3045142"/>
              <a:ext cx="9525" cy="303848"/>
            </a:xfrm>
            <a:custGeom>
              <a:avLst/>
              <a:gdLst/>
              <a:ahLst/>
              <a:cxnLst/>
              <a:rect l="l" t="t" r="r" b="b"/>
              <a:pathLst>
                <a:path w="9525" h="303848">
                  <a:moveTo>
                    <a:pt x="0" y="0"/>
                  </a:moveTo>
                  <a:lnTo>
                    <a:pt x="0" y="303848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879782" y="3646170"/>
              <a:ext cx="9525" cy="303847"/>
            </a:xfrm>
            <a:custGeom>
              <a:avLst/>
              <a:gdLst/>
              <a:ahLst/>
              <a:cxnLst/>
              <a:rect l="l" t="t" r="r" b="b"/>
              <a:pathLst>
                <a:path w="9525" h="303847">
                  <a:moveTo>
                    <a:pt x="0" y="0"/>
                  </a:moveTo>
                  <a:lnTo>
                    <a:pt x="0" y="303847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3730942" y="1556385"/>
              <a:ext cx="278130" cy="27813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2368868" y="2157412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241108" y="2757488"/>
              <a:ext cx="278130" cy="27813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2205990" y="2757488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1884045" y="3358515"/>
              <a:ext cx="278130" cy="27813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2526982" y="3358515"/>
              <a:ext cx="278130" cy="27813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3490912" y="2757488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3169920" y="3358515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3169920" y="3959542"/>
              <a:ext cx="278130" cy="27813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3812857" y="3358515"/>
              <a:ext cx="278130" cy="27813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5097780" y="2157412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4454842" y="2757488"/>
              <a:ext cx="278130" cy="27813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5097780" y="2757488"/>
              <a:ext cx="278130" cy="27813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5740717" y="2757488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5740717" y="3358515"/>
              <a:ext cx="278130" cy="2781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5740717" y="3959542"/>
              <a:ext cx="278130" cy="27813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826960" y="16349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464885" y="223599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337125" y="283606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295378" y="3070384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302008" y="283606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980063" y="343709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938316" y="3671411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84906" y="343709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581253" y="3671411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548836" y="283606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227844" y="343709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227844" y="40371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224191" y="4257199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870781" y="343709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867128" y="3671411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155704" y="223599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512766" y="283606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509113" y="3070384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155704" y="283606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152051" y="3070384"/>
              <a:ext cx="1695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kill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798641" y="283606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798641" y="343709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798641" y="403717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122295" y="19173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153851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1877378" y="25184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908933" y="254746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2359342" y="25184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2391851" y="254746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2117408" y="311848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2148963" y="3148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2438400" y="311848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469956" y="3148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3002280" y="25184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3033836" y="254746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3402330" y="311848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3434838" y="3148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3242310" y="371951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3273866" y="37485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3724275" y="311848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3755831" y="3148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4486275" y="191738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4517831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4849178" y="25184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4880733" y="254746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5170170" y="25184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5201726" y="254746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5492115" y="25184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5523671" y="254746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5813108" y="311848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5844663" y="31484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5813108" y="371951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5844663" y="374856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27519" y="189023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627519" y="249126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627519" y="309229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627519" y="36923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</p:grpSp>
      <p:grpSp>
        <p:nvGrpSpPr>
          <p:cNvPr id="97" name="c1-text-2"/>
          <p:cNvGrpSpPr/>
          <p:nvPr/>
        </p:nvGrpSpPr>
        <p:grpSpPr>
          <a:xfrm>
            <a:off x="527685" y="4578191"/>
            <a:ext cx="4836211" cy="220028"/>
            <a:chOff x="527685" y="4578191"/>
            <a:chExt cx="4836211" cy="220028"/>
          </a:xfrm>
        </p:grpSpPr>
        <p:sp>
          <p:nvSpPr>
            <p:cNvPr id="96" name="TextBox 96"/>
            <p:cNvSpPr txBox="1"/>
            <p:nvPr/>
          </p:nvSpPr>
          <p:spPr>
            <a:xfrm>
              <a:off x="527685" y="4578191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 18、29、30、31 的棋盘：浅橙色格是刚放下的皇后，绿色是可行解</a:t>
              </a:r>
            </a:p>
          </p:txBody>
        </p:sp>
      </p:grpSp>
      <p:grpSp>
        <p:nvGrpSpPr>
          <p:cNvPr id="187" name="c1-cells-3"/>
          <p:cNvGrpSpPr/>
          <p:nvPr/>
        </p:nvGrpSpPr>
        <p:grpSpPr>
          <a:xfrm>
            <a:off x="533400" y="4929188"/>
            <a:ext cx="4940617" cy="1040129"/>
            <a:chOff x="533400" y="4929188"/>
            <a:chExt cx="4940617" cy="1040129"/>
          </a:xfrm>
        </p:grpSpPr>
        <p:sp>
          <p:nvSpPr>
            <p:cNvPr id="98" name="Rectangle 98"/>
            <p:cNvSpPr/>
            <p:nvPr/>
          </p:nvSpPr>
          <p:spPr>
            <a:xfrm>
              <a:off x="533400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793432" y="4929188"/>
              <a:ext cx="260032" cy="260032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880878" y="499824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1053465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1313498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1573530" y="4929188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1833562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2093595" y="4929188"/>
              <a:ext cx="260032" cy="260032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2181040" y="499824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2353628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2613660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2873692" y="4929188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3133725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1" name="Rectangle 111"/>
            <p:cNvSpPr/>
            <p:nvPr/>
          </p:nvSpPr>
          <p:spPr>
            <a:xfrm>
              <a:off x="3393758" y="4929188"/>
              <a:ext cx="260032" cy="260032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12" name="TextBox 112"/>
            <p:cNvSpPr txBox="1"/>
            <p:nvPr/>
          </p:nvSpPr>
          <p:spPr>
            <a:xfrm>
              <a:off x="3481203" y="499824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3" name="Rectangle 113"/>
            <p:cNvSpPr/>
            <p:nvPr/>
          </p:nvSpPr>
          <p:spPr>
            <a:xfrm>
              <a:off x="3653790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4" name="Rectangle 114"/>
            <p:cNvSpPr/>
            <p:nvPr/>
          </p:nvSpPr>
          <p:spPr>
            <a:xfrm>
              <a:off x="3913822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4173855" y="4929188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4433888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7" name="Rectangle 117"/>
            <p:cNvSpPr/>
            <p:nvPr/>
          </p:nvSpPr>
          <p:spPr>
            <a:xfrm>
              <a:off x="4693920" y="4929188"/>
              <a:ext cx="260032" cy="26003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4781365" y="499824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9" name="Rectangle 119"/>
            <p:cNvSpPr/>
            <p:nvPr/>
          </p:nvSpPr>
          <p:spPr>
            <a:xfrm>
              <a:off x="4953952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0" name="Rectangle 120"/>
            <p:cNvSpPr/>
            <p:nvPr/>
          </p:nvSpPr>
          <p:spPr>
            <a:xfrm>
              <a:off x="5213985" y="4929188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1" name="Rectangle 121"/>
            <p:cNvSpPr/>
            <p:nvPr/>
          </p:nvSpPr>
          <p:spPr>
            <a:xfrm>
              <a:off x="533400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793432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3" name="Rectangle 123"/>
            <p:cNvSpPr/>
            <p:nvPr/>
          </p:nvSpPr>
          <p:spPr>
            <a:xfrm>
              <a:off x="1053465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4" name="Rectangle 124"/>
            <p:cNvSpPr/>
            <p:nvPr/>
          </p:nvSpPr>
          <p:spPr>
            <a:xfrm>
              <a:off x="1313498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5" name="Rectangle 125"/>
            <p:cNvSpPr/>
            <p:nvPr/>
          </p:nvSpPr>
          <p:spPr>
            <a:xfrm>
              <a:off x="1573530" y="5189220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1660975" y="525827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27" name="Rectangle 127"/>
            <p:cNvSpPr/>
            <p:nvPr/>
          </p:nvSpPr>
          <p:spPr>
            <a:xfrm>
              <a:off x="1833562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8" name="Rectangle 128"/>
            <p:cNvSpPr/>
            <p:nvPr/>
          </p:nvSpPr>
          <p:spPr>
            <a:xfrm>
              <a:off x="2093595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9" name="Rectangle 129"/>
            <p:cNvSpPr/>
            <p:nvPr/>
          </p:nvSpPr>
          <p:spPr>
            <a:xfrm>
              <a:off x="2353628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0" name="Rectangle 130"/>
            <p:cNvSpPr/>
            <p:nvPr/>
          </p:nvSpPr>
          <p:spPr>
            <a:xfrm>
              <a:off x="2613660" y="5189220"/>
              <a:ext cx="260032" cy="260032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31" name="TextBox 131"/>
            <p:cNvSpPr txBox="1"/>
            <p:nvPr/>
          </p:nvSpPr>
          <p:spPr>
            <a:xfrm>
              <a:off x="2701105" y="525827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2" name="Rectangle 132"/>
            <p:cNvSpPr/>
            <p:nvPr/>
          </p:nvSpPr>
          <p:spPr>
            <a:xfrm>
              <a:off x="2873692" y="5189220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33" name="TextBox 133"/>
            <p:cNvSpPr txBox="1"/>
            <p:nvPr/>
          </p:nvSpPr>
          <p:spPr>
            <a:xfrm>
              <a:off x="2961138" y="525827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34" name="Rectangle 134"/>
            <p:cNvSpPr/>
            <p:nvPr/>
          </p:nvSpPr>
          <p:spPr>
            <a:xfrm>
              <a:off x="3133725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5" name="Rectangle 135"/>
            <p:cNvSpPr/>
            <p:nvPr/>
          </p:nvSpPr>
          <p:spPr>
            <a:xfrm>
              <a:off x="3393758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6" name="Rectangle 136"/>
            <p:cNvSpPr/>
            <p:nvPr/>
          </p:nvSpPr>
          <p:spPr>
            <a:xfrm>
              <a:off x="3653790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7" name="Rectangle 137"/>
            <p:cNvSpPr/>
            <p:nvPr/>
          </p:nvSpPr>
          <p:spPr>
            <a:xfrm>
              <a:off x="3913822" y="5189220"/>
              <a:ext cx="260032" cy="260032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38" name="TextBox 138"/>
            <p:cNvSpPr txBox="1"/>
            <p:nvPr/>
          </p:nvSpPr>
          <p:spPr>
            <a:xfrm>
              <a:off x="4001268" y="525827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4173855" y="5189220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40" name="TextBox 140"/>
            <p:cNvSpPr txBox="1"/>
            <p:nvPr/>
          </p:nvSpPr>
          <p:spPr>
            <a:xfrm>
              <a:off x="4261300" y="525827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141" name="Rectangle 141"/>
            <p:cNvSpPr/>
            <p:nvPr/>
          </p:nvSpPr>
          <p:spPr>
            <a:xfrm>
              <a:off x="4433888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2" name="Rectangle 142"/>
            <p:cNvSpPr/>
            <p:nvPr/>
          </p:nvSpPr>
          <p:spPr>
            <a:xfrm>
              <a:off x="4693920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3" name="Rectangle 143"/>
            <p:cNvSpPr/>
            <p:nvPr/>
          </p:nvSpPr>
          <p:spPr>
            <a:xfrm>
              <a:off x="4953952" y="5189220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4" name="Rectangle 144"/>
            <p:cNvSpPr/>
            <p:nvPr/>
          </p:nvSpPr>
          <p:spPr>
            <a:xfrm>
              <a:off x="5213985" y="5189220"/>
              <a:ext cx="260032" cy="26003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45" name="TextBox 145"/>
            <p:cNvSpPr txBox="1"/>
            <p:nvPr/>
          </p:nvSpPr>
          <p:spPr>
            <a:xfrm>
              <a:off x="5301430" y="525827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6" name="Rectangle 146"/>
            <p:cNvSpPr/>
            <p:nvPr/>
          </p:nvSpPr>
          <p:spPr>
            <a:xfrm>
              <a:off x="533400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7" name="Rectangle 147"/>
            <p:cNvSpPr/>
            <p:nvPr/>
          </p:nvSpPr>
          <p:spPr>
            <a:xfrm>
              <a:off x="793432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8" name="Rectangle 148"/>
            <p:cNvSpPr/>
            <p:nvPr/>
          </p:nvSpPr>
          <p:spPr>
            <a:xfrm>
              <a:off x="1053465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9" name="Rectangle 149"/>
            <p:cNvSpPr/>
            <p:nvPr/>
          </p:nvSpPr>
          <p:spPr>
            <a:xfrm>
              <a:off x="1313498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0" name="Rectangle 150"/>
            <p:cNvSpPr/>
            <p:nvPr/>
          </p:nvSpPr>
          <p:spPr>
            <a:xfrm>
              <a:off x="1573530" y="5449252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51" name="Rectangle 151"/>
            <p:cNvSpPr/>
            <p:nvPr/>
          </p:nvSpPr>
          <p:spPr>
            <a:xfrm>
              <a:off x="1833562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2" name="Rectangle 152"/>
            <p:cNvSpPr/>
            <p:nvPr/>
          </p:nvSpPr>
          <p:spPr>
            <a:xfrm>
              <a:off x="2093595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3" name="Rectangle 153"/>
            <p:cNvSpPr/>
            <p:nvPr/>
          </p:nvSpPr>
          <p:spPr>
            <a:xfrm>
              <a:off x="2353628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4" name="Rectangle 154"/>
            <p:cNvSpPr/>
            <p:nvPr/>
          </p:nvSpPr>
          <p:spPr>
            <a:xfrm>
              <a:off x="2613660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5" name="Rectangle 155"/>
            <p:cNvSpPr/>
            <p:nvPr/>
          </p:nvSpPr>
          <p:spPr>
            <a:xfrm>
              <a:off x="2873692" y="5449252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56" name="Rectangle 156"/>
            <p:cNvSpPr/>
            <p:nvPr/>
          </p:nvSpPr>
          <p:spPr>
            <a:xfrm>
              <a:off x="3133725" y="5449252"/>
              <a:ext cx="260032" cy="260032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57" name="TextBox 157"/>
            <p:cNvSpPr txBox="1"/>
            <p:nvPr/>
          </p:nvSpPr>
          <p:spPr>
            <a:xfrm>
              <a:off x="3221170" y="551830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8" name="Rectangle 158"/>
            <p:cNvSpPr/>
            <p:nvPr/>
          </p:nvSpPr>
          <p:spPr>
            <a:xfrm>
              <a:off x="3393758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9" name="Rectangle 159"/>
            <p:cNvSpPr/>
            <p:nvPr/>
          </p:nvSpPr>
          <p:spPr>
            <a:xfrm>
              <a:off x="3653790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0" name="Rectangle 160"/>
            <p:cNvSpPr/>
            <p:nvPr/>
          </p:nvSpPr>
          <p:spPr>
            <a:xfrm>
              <a:off x="3913822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1" name="Rectangle 161"/>
            <p:cNvSpPr/>
            <p:nvPr/>
          </p:nvSpPr>
          <p:spPr>
            <a:xfrm>
              <a:off x="4173855" y="5449252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62" name="Rectangle 162"/>
            <p:cNvSpPr/>
            <p:nvPr/>
          </p:nvSpPr>
          <p:spPr>
            <a:xfrm>
              <a:off x="4433888" y="5449252"/>
              <a:ext cx="260032" cy="26003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63" name="TextBox 163"/>
            <p:cNvSpPr txBox="1"/>
            <p:nvPr/>
          </p:nvSpPr>
          <p:spPr>
            <a:xfrm>
              <a:off x="4521333" y="551830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4" name="Rectangle 164"/>
            <p:cNvSpPr/>
            <p:nvPr/>
          </p:nvSpPr>
          <p:spPr>
            <a:xfrm>
              <a:off x="4693920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5" name="Rectangle 165"/>
            <p:cNvSpPr/>
            <p:nvPr/>
          </p:nvSpPr>
          <p:spPr>
            <a:xfrm>
              <a:off x="4953952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6" name="Rectangle 166"/>
            <p:cNvSpPr/>
            <p:nvPr/>
          </p:nvSpPr>
          <p:spPr>
            <a:xfrm>
              <a:off x="5213985" y="5449252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7" name="Rectangle 167"/>
            <p:cNvSpPr/>
            <p:nvPr/>
          </p:nvSpPr>
          <p:spPr>
            <a:xfrm>
              <a:off x="533400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8" name="Rectangle 168"/>
            <p:cNvSpPr/>
            <p:nvPr/>
          </p:nvSpPr>
          <p:spPr>
            <a:xfrm>
              <a:off x="793432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9" name="Rectangle 169"/>
            <p:cNvSpPr/>
            <p:nvPr/>
          </p:nvSpPr>
          <p:spPr>
            <a:xfrm>
              <a:off x="1053465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0" name="Rectangle 170"/>
            <p:cNvSpPr/>
            <p:nvPr/>
          </p:nvSpPr>
          <p:spPr>
            <a:xfrm>
              <a:off x="1313498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1" name="Rectangle 171"/>
            <p:cNvSpPr/>
            <p:nvPr/>
          </p:nvSpPr>
          <p:spPr>
            <a:xfrm>
              <a:off x="1573530" y="5709285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72" name="Rectangle 172"/>
            <p:cNvSpPr/>
            <p:nvPr/>
          </p:nvSpPr>
          <p:spPr>
            <a:xfrm>
              <a:off x="1833562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3" name="Rectangle 173"/>
            <p:cNvSpPr/>
            <p:nvPr/>
          </p:nvSpPr>
          <p:spPr>
            <a:xfrm>
              <a:off x="2093595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4" name="Rectangle 174"/>
            <p:cNvSpPr/>
            <p:nvPr/>
          </p:nvSpPr>
          <p:spPr>
            <a:xfrm>
              <a:off x="2353628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5" name="Rectangle 175"/>
            <p:cNvSpPr/>
            <p:nvPr/>
          </p:nvSpPr>
          <p:spPr>
            <a:xfrm>
              <a:off x="2613660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6" name="Rectangle 176"/>
            <p:cNvSpPr/>
            <p:nvPr/>
          </p:nvSpPr>
          <p:spPr>
            <a:xfrm>
              <a:off x="2873692" y="5709285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77" name="Rectangle 177"/>
            <p:cNvSpPr/>
            <p:nvPr/>
          </p:nvSpPr>
          <p:spPr>
            <a:xfrm>
              <a:off x="3133725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8" name="Rectangle 178"/>
            <p:cNvSpPr/>
            <p:nvPr/>
          </p:nvSpPr>
          <p:spPr>
            <a:xfrm>
              <a:off x="3393758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9" name="Rectangle 179"/>
            <p:cNvSpPr/>
            <p:nvPr/>
          </p:nvSpPr>
          <p:spPr>
            <a:xfrm>
              <a:off x="3653790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80" name="Rectangle 180"/>
            <p:cNvSpPr/>
            <p:nvPr/>
          </p:nvSpPr>
          <p:spPr>
            <a:xfrm>
              <a:off x="3913822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81" name="Rectangle 181"/>
            <p:cNvSpPr/>
            <p:nvPr/>
          </p:nvSpPr>
          <p:spPr>
            <a:xfrm>
              <a:off x="4173855" y="5709285"/>
              <a:ext cx="260032" cy="26003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82" name="Rectangle 182"/>
            <p:cNvSpPr/>
            <p:nvPr/>
          </p:nvSpPr>
          <p:spPr>
            <a:xfrm>
              <a:off x="4433888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83" name="Rectangle 183"/>
            <p:cNvSpPr/>
            <p:nvPr/>
          </p:nvSpPr>
          <p:spPr>
            <a:xfrm>
              <a:off x="4693920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84" name="Rectangle 184"/>
            <p:cNvSpPr/>
            <p:nvPr/>
          </p:nvSpPr>
          <p:spPr>
            <a:xfrm>
              <a:off x="4953952" y="5709285"/>
              <a:ext cx="260032" cy="260032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85" name="TextBox 185"/>
            <p:cNvSpPr txBox="1"/>
            <p:nvPr/>
          </p:nvSpPr>
          <p:spPr>
            <a:xfrm>
              <a:off x="5041398" y="577834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6" name="Rectangle 186"/>
            <p:cNvSpPr/>
            <p:nvPr/>
          </p:nvSpPr>
          <p:spPr>
            <a:xfrm>
              <a:off x="5213985" y="5709285"/>
              <a:ext cx="260032" cy="260032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</p:grpSp>
      <p:grpSp>
        <p:nvGrpSpPr>
          <p:cNvPr id="221" name="c2-table-1"/>
          <p:cNvGrpSpPr/>
          <p:nvPr/>
        </p:nvGrpSpPr>
        <p:grpSpPr>
          <a:xfrm>
            <a:off x="6680835" y="1524000"/>
            <a:ext cx="4977765" cy="2840355"/>
            <a:chOff x="6680835" y="1524000"/>
            <a:chExt cx="4977765" cy="2840355"/>
          </a:xfrm>
        </p:grpSpPr>
        <p:sp>
          <p:nvSpPr>
            <p:cNvPr id="188" name="Rectangle 188"/>
            <p:cNvSpPr/>
            <p:nvPr/>
          </p:nvSpPr>
          <p:spPr>
            <a:xfrm>
              <a:off x="6680835" y="1524000"/>
              <a:ext cx="497776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9" name="TextBox 189"/>
            <p:cNvSpPr txBox="1"/>
            <p:nvPr/>
          </p:nvSpPr>
          <p:spPr>
            <a:xfrm>
              <a:off x="727110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路径</a:t>
              </a:r>
            </a:p>
          </p:txBody>
        </p:sp>
        <p:sp>
          <p:nvSpPr>
            <p:cNvPr id="190" name="TextBox 190"/>
            <p:cNvSpPr txBox="1"/>
            <p:nvPr/>
          </p:nvSpPr>
          <p:spPr>
            <a:xfrm>
              <a:off x="836648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结点</a:t>
              </a:r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995782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检验结果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7291272" y="205406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8434329" y="205406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194" name="TextBox 194"/>
            <p:cNvSpPr txBox="1"/>
            <p:nvPr/>
          </p:nvSpPr>
          <p:spPr>
            <a:xfrm>
              <a:off x="8971598" y="2054066"/>
              <a:ext cx="18477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通过，结点 18 成为 E-结点</a:t>
              </a:r>
            </a:p>
          </p:txBody>
        </p:sp>
        <p:sp>
          <p:nvSpPr>
            <p:cNvPr id="195" name="Rectangle 195"/>
            <p:cNvSpPr/>
            <p:nvPr/>
          </p:nvSpPr>
          <p:spPr>
            <a:xfrm>
              <a:off x="6680835" y="23307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6" name="Rectangle 196"/>
            <p:cNvSpPr/>
            <p:nvPr/>
          </p:nvSpPr>
          <p:spPr>
            <a:xfrm>
              <a:off x="6680835" y="2335530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7" name="TextBox 197"/>
            <p:cNvSpPr txBox="1"/>
            <p:nvPr/>
          </p:nvSpPr>
          <p:spPr>
            <a:xfrm>
              <a:off x="7180452" y="2459831"/>
              <a:ext cx="494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(2, 1)</a:t>
              </a:r>
            </a:p>
          </p:txBody>
        </p:sp>
        <p:sp>
          <p:nvSpPr>
            <p:cNvPr id="198" name="TextBox 198"/>
            <p:cNvSpPr txBox="1"/>
            <p:nvPr/>
          </p:nvSpPr>
          <p:spPr>
            <a:xfrm>
              <a:off x="8434329" y="24598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8971598" y="2459831"/>
              <a:ext cx="17713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kill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：与皇后 1 在同一斜线</a:t>
              </a:r>
            </a:p>
          </p:txBody>
        </p:sp>
        <p:sp>
          <p:nvSpPr>
            <p:cNvPr id="200" name="Rectangle 200"/>
            <p:cNvSpPr/>
            <p:nvPr/>
          </p:nvSpPr>
          <p:spPr>
            <a:xfrm>
              <a:off x="6680835" y="273653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1" name="TextBox 201"/>
            <p:cNvSpPr txBox="1"/>
            <p:nvPr/>
          </p:nvSpPr>
          <p:spPr>
            <a:xfrm>
              <a:off x="7180452" y="2865596"/>
              <a:ext cx="494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(2, 3)</a:t>
              </a:r>
            </a:p>
          </p:txBody>
        </p:sp>
        <p:sp>
          <p:nvSpPr>
            <p:cNvPr id="202" name="TextBox 202"/>
            <p:cNvSpPr txBox="1"/>
            <p:nvPr/>
          </p:nvSpPr>
          <p:spPr>
            <a:xfrm>
              <a:off x="8434329" y="286559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8971598" y="2865596"/>
              <a:ext cx="17713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kill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：与皇后 1 在同一斜线</a:t>
              </a:r>
            </a:p>
          </p:txBody>
        </p:sp>
        <p:sp>
          <p:nvSpPr>
            <p:cNvPr id="204" name="Rectangle 204"/>
            <p:cNvSpPr/>
            <p:nvPr/>
          </p:nvSpPr>
          <p:spPr>
            <a:xfrm>
              <a:off x="6680835" y="314229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5" name="Rectangle 205"/>
            <p:cNvSpPr/>
            <p:nvPr/>
          </p:nvSpPr>
          <p:spPr>
            <a:xfrm>
              <a:off x="6680835" y="3147060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6" name="TextBox 206"/>
            <p:cNvSpPr txBox="1"/>
            <p:nvPr/>
          </p:nvSpPr>
          <p:spPr>
            <a:xfrm>
              <a:off x="7180452" y="3271361"/>
              <a:ext cx="494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(2, 4)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8434329" y="32713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8971598" y="3271361"/>
              <a:ext cx="18477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通过，结点 29 成为 E-结点</a:t>
              </a:r>
            </a:p>
          </p:txBody>
        </p:sp>
        <p:sp>
          <p:nvSpPr>
            <p:cNvPr id="209" name="Rectangle 209"/>
            <p:cNvSpPr/>
            <p:nvPr/>
          </p:nvSpPr>
          <p:spPr>
            <a:xfrm>
              <a:off x="6680835" y="354806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0" name="TextBox 210"/>
            <p:cNvSpPr txBox="1"/>
            <p:nvPr/>
          </p:nvSpPr>
          <p:spPr>
            <a:xfrm>
              <a:off x="7069633" y="3677126"/>
              <a:ext cx="715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(2, 4, 1)</a:t>
              </a:r>
            </a:p>
          </p:txBody>
        </p:sp>
        <p:sp>
          <p:nvSpPr>
            <p:cNvPr id="211" name="TextBox 211"/>
            <p:cNvSpPr txBox="1"/>
            <p:nvPr/>
          </p:nvSpPr>
          <p:spPr>
            <a:xfrm>
              <a:off x="8434329" y="367712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212" name="TextBox 212"/>
            <p:cNvSpPr txBox="1"/>
            <p:nvPr/>
          </p:nvSpPr>
          <p:spPr>
            <a:xfrm>
              <a:off x="8971598" y="3677126"/>
              <a:ext cx="18477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通过，结点 30 成为 E-结点</a:t>
              </a:r>
            </a:p>
          </p:txBody>
        </p:sp>
        <p:sp>
          <p:nvSpPr>
            <p:cNvPr id="213" name="Rectangle 213"/>
            <p:cNvSpPr/>
            <p:nvPr/>
          </p:nvSpPr>
          <p:spPr>
            <a:xfrm>
              <a:off x="6680835" y="39538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4" name="Rectangle 214"/>
            <p:cNvSpPr/>
            <p:nvPr/>
          </p:nvSpPr>
          <p:spPr>
            <a:xfrm>
              <a:off x="6680835" y="3958590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5" name="TextBox 215"/>
            <p:cNvSpPr txBox="1"/>
            <p:nvPr/>
          </p:nvSpPr>
          <p:spPr>
            <a:xfrm>
              <a:off x="6958814" y="4082891"/>
              <a:ext cx="93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(2, 4, 1, 3)</a:t>
              </a:r>
            </a:p>
          </p:txBody>
        </p:sp>
        <p:sp>
          <p:nvSpPr>
            <p:cNvPr id="216" name="TextBox 216"/>
            <p:cNvSpPr txBox="1"/>
            <p:nvPr/>
          </p:nvSpPr>
          <p:spPr>
            <a:xfrm>
              <a:off x="8434329" y="408289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217" name="TextBox 217"/>
            <p:cNvSpPr txBox="1"/>
            <p:nvPr/>
          </p:nvSpPr>
          <p:spPr>
            <a:xfrm>
              <a:off x="8971598" y="408289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找到一个可行解</a:t>
              </a:r>
            </a:p>
          </p:txBody>
        </p:sp>
        <p:sp>
          <p:nvSpPr>
            <p:cNvPr id="218" name="Rectangle 218"/>
            <p:cNvSpPr/>
            <p:nvPr/>
          </p:nvSpPr>
          <p:spPr>
            <a:xfrm>
              <a:off x="6680835" y="1524000"/>
              <a:ext cx="4977765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19" name="Rectangle 219"/>
            <p:cNvSpPr/>
            <p:nvPr/>
          </p:nvSpPr>
          <p:spPr>
            <a:xfrm>
              <a:off x="816959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0" name="Rectangle 220"/>
            <p:cNvSpPr/>
            <p:nvPr/>
          </p:nvSpPr>
          <p:spPr>
            <a:xfrm>
              <a:off x="886682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28" name="c2-card-2"/>
          <p:cNvGrpSpPr/>
          <p:nvPr/>
        </p:nvGrpSpPr>
        <p:grpSpPr>
          <a:xfrm>
            <a:off x="6680835" y="4539615"/>
            <a:ext cx="4977765" cy="1680210"/>
            <a:chOff x="6680835" y="4539615"/>
            <a:chExt cx="4977765" cy="1680210"/>
          </a:xfrm>
        </p:grpSpPr>
        <p:sp>
          <p:nvSpPr>
            <p:cNvPr id="222" name="Rectangle 222"/>
            <p:cNvSpPr/>
            <p:nvPr/>
          </p:nvSpPr>
          <p:spPr>
            <a:xfrm>
              <a:off x="6680835" y="4539615"/>
              <a:ext cx="4977765" cy="1680210"/>
            </a:xfrm>
            <a:prstGeom prst="roundRect">
              <a:avLst>
                <a:gd name="adj" fmla="val 79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3" name="Rectangle 223"/>
            <p:cNvSpPr/>
            <p:nvPr/>
          </p:nvSpPr>
          <p:spPr>
            <a:xfrm>
              <a:off x="6690360" y="4672965"/>
              <a:ext cx="47625" cy="14135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4" name="Rectangle 224"/>
            <p:cNvSpPr/>
            <p:nvPr/>
          </p:nvSpPr>
          <p:spPr>
            <a:xfrm>
              <a:off x="6911340" y="473202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5" name="TextBox 225"/>
            <p:cNvSpPr txBox="1"/>
            <p:nvPr/>
          </p:nvSpPr>
          <p:spPr>
            <a:xfrm>
              <a:off x="6998780" y="476631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数一数</a:t>
              </a:r>
            </a:p>
          </p:txBody>
        </p:sp>
        <p:sp>
          <p:nvSpPr>
            <p:cNvPr id="226" name="TextBox 226"/>
            <p:cNvSpPr txBox="1"/>
            <p:nvPr/>
          </p:nvSpPr>
          <p:spPr>
            <a:xfrm>
              <a:off x="6904482" y="5088255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到找到第一个解为止，动态树只生成了 16 个结点（含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根），而解空间树有 65 个结点。</a:t>
              </a:r>
            </a:p>
          </p:txBody>
        </p:sp>
        <p:sp>
          <p:nvSpPr>
            <p:cNvPr id="227" name="TextBox 227"/>
            <p:cNvSpPr txBox="1"/>
            <p:nvPr/>
          </p:nvSpPr>
          <p:spPr>
            <a:xfrm>
              <a:off x="6905625" y="5644039"/>
              <a:ext cx="436397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继续搜索还能找到另一个解 (3, 1, 4, 2)，它是 (2, 4, 1, 3) 左右翻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转后的棋盘。</a:t>
              </a:r>
            </a:p>
          </p:txBody>
        </p:sp>
      </p:grpSp>
      <p:grpSp>
        <p:nvGrpSpPr>
          <p:cNvPr id="2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9" name="TextBox 22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30" name="TextBox 2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74580" cy="909257"/>
            <a:chOff x="520446" y="342900"/>
            <a:chExt cx="79745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745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8-皇后问题：解空间有多大，回溯实际要走多少结点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951220" cy="2023110"/>
            <a:chOff x="533400" y="1524000"/>
            <a:chExt cx="5951220" cy="20231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78636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处理方式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2362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元组个数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69803" y="164830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状态空间树结点个数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101386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硬性处理（Sᵢ =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{1,…,8}）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37460" y="2154079"/>
              <a:ext cx="1179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8⁸ = 16,777,216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23398" y="2054066"/>
              <a:ext cx="133426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+ 8 + 8² + … + 8⁸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19,173,961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3079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35555"/>
              <a:ext cx="595122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659856"/>
              <a:ext cx="154548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没有两个 xᵢ 相同（排列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37460" y="2759869"/>
              <a:ext cx="810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8! = 40,320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23398" y="2759869"/>
              <a:ext cx="20845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+ 8 + 8·7 + … + 8! = 109,601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3658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3265646"/>
              <a:ext cx="1568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 + PLACE（实际）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37460" y="3265646"/>
              <a:ext cx="524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 个解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23398" y="3265646"/>
              <a:ext cx="1722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通过检验的结点 2,057 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951220" cy="20231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432685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218622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2" name="c1-card-2"/>
          <p:cNvGrpSpPr/>
          <p:nvPr/>
        </p:nvGrpSpPr>
        <p:grpSpPr>
          <a:xfrm>
            <a:off x="533400" y="3722370"/>
            <a:ext cx="5951220" cy="1466850"/>
            <a:chOff x="533400" y="3722370"/>
            <a:chExt cx="5951220" cy="1466850"/>
          </a:xfrm>
        </p:grpSpPr>
        <p:sp>
          <p:nvSpPr>
            <p:cNvPr id="27" name="Rectangle 27"/>
            <p:cNvSpPr/>
            <p:nvPr/>
          </p:nvSpPr>
          <p:spPr>
            <a:xfrm>
              <a:off x="533400" y="3722370"/>
              <a:ext cx="5951220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385572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3905" y="391477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55345" y="39490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7047" y="4271010"/>
              <a:ext cx="53286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原课件写作"状态空间树结点个数：1+8+8*7+8*7*6+…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+8*7*6*5*4*3*2*1 = 69281"。按式子求和应为 109,601；69,281 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加了最后一项 8! = 40,320。</a:t>
              </a:r>
            </a:p>
          </p:txBody>
        </p:sp>
      </p:grpSp>
      <p:grpSp>
        <p:nvGrpSpPr>
          <p:cNvPr id="39" name="c1-callout-3"/>
          <p:cNvGrpSpPr/>
          <p:nvPr/>
        </p:nvGrpSpPr>
        <p:grpSpPr>
          <a:xfrm>
            <a:off x="533400" y="5363528"/>
            <a:ext cx="5951220" cy="862012"/>
            <a:chOff x="533400" y="5363528"/>
            <a:chExt cx="5951220" cy="862012"/>
          </a:xfrm>
        </p:grpSpPr>
        <p:sp>
          <p:nvSpPr>
            <p:cNvPr id="33" name="Rectangle 33"/>
            <p:cNvSpPr/>
            <p:nvPr/>
          </p:nvSpPr>
          <p:spPr>
            <a:xfrm>
              <a:off x="533400" y="5363528"/>
              <a:ext cx="5951220" cy="862012"/>
            </a:xfrm>
            <a:prstGeom prst="roundRect">
              <a:avLst>
                <a:gd name="adj" fmla="val 13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694998"/>
              <a:ext cx="200026" cy="200025"/>
              <a:chOff x="738188" y="5694998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6949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57394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58505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5575935"/>
              <a:ext cx="49857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限界函数实现了隐式约束以后到底剩多少结点，事先并不知道，可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以先用蒙特卡罗方法估计。</a:t>
              </a:r>
            </a:p>
          </p:txBody>
        </p:sp>
      </p:grpSp>
      <p:grpSp>
        <p:nvGrpSpPr>
          <p:cNvPr id="92" name="c2-table-1"/>
          <p:cNvGrpSpPr/>
          <p:nvPr/>
        </p:nvGrpSpPr>
        <p:grpSpPr>
          <a:xfrm>
            <a:off x="6784086" y="1524000"/>
            <a:ext cx="4874514" cy="4743069"/>
            <a:chOff x="6784086" y="1524000"/>
            <a:chExt cx="4874514" cy="4743069"/>
          </a:xfrm>
        </p:grpSpPr>
        <p:sp>
          <p:nvSpPr>
            <p:cNvPr id="40" name="Rectangle 40"/>
            <p:cNvSpPr/>
            <p:nvPr/>
          </p:nvSpPr>
          <p:spPr>
            <a:xfrm>
              <a:off x="6789420" y="1524000"/>
              <a:ext cx="4869180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179197" y="1648301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 k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31619" y="164830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排列树结点数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46910" y="1648301"/>
              <a:ext cx="1476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通过 PLACE 的结点数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78331" y="2054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318249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464232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789420" y="233076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789420" y="2335530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78331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18249" y="24598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464232" y="24598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789420" y="273653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278331" y="2865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235323" y="286559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381306" y="286559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789420" y="314229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789420" y="3147060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278331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152397" y="32713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336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98380" y="32713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140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789420" y="354806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278331" y="36771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986545" y="367712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1,680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98380" y="367712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344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789420" y="395382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789420" y="3958590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278331" y="40828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986545" y="408289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6,720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298380" y="40828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568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789420" y="435959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278331" y="44886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903619" y="448865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20,160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98380" y="44886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550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789420" y="476535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789420" y="4770120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278331" y="48944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903619" y="489442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40,320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98380" y="489442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312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6789420" y="517112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278331" y="53001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903619" y="530018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40,320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381306" y="530018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6789420" y="557688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6789420" y="5581650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7171093" y="57059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820694" y="570595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109,601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132528" y="570595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2,057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6789420" y="1524000"/>
              <a:ext cx="4869180" cy="44634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9" name="Rectangle 89"/>
            <p:cNvSpPr/>
            <p:nvPr/>
          </p:nvSpPr>
          <p:spPr>
            <a:xfrm>
              <a:off x="7861935" y="1524000"/>
              <a:ext cx="9525" cy="44634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9507855" y="1524000"/>
              <a:ext cx="9525" cy="44634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6784086" y="6061710"/>
              <a:ext cx="31627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k 层表示已放好 k 个皇后，数据由脚本穷举得到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14894" cy="909257"/>
            <a:chOff x="520446" y="342900"/>
            <a:chExt cx="59148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148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8-皇后的蒙特卡罗估计：两条随机路径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755712" cy="264033"/>
            <a:chOff x="526542" y="1545907"/>
            <a:chExt cx="775571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7557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棋盘左侧数字是该行皇后可放的列数 mᵢ（与前面各皇后都不冲突的列），格内数字是皇后编号。</a:t>
              </a:r>
            </a:p>
          </p:txBody>
        </p:sp>
      </p:grpSp>
      <p:grpSp>
        <p:nvGrpSpPr>
          <p:cNvPr id="10" name="c1-text-1"/>
          <p:cNvGrpSpPr/>
          <p:nvPr/>
        </p:nvGrpSpPr>
        <p:grpSpPr>
          <a:xfrm>
            <a:off x="527685" y="1947386"/>
            <a:ext cx="4024668" cy="220028"/>
            <a:chOff x="527685" y="1947386"/>
            <a:chExt cx="4024668" cy="220028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1947386"/>
              <a:ext cx="40246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路径 1：依次放在第 2、4、1、3、5 列，第 6 行已无列可放</a:t>
              </a:r>
            </a:p>
          </p:txBody>
        </p:sp>
      </p:grpSp>
      <p:grpSp>
        <p:nvGrpSpPr>
          <p:cNvPr id="86" name="c1-cells-2"/>
          <p:cNvGrpSpPr/>
          <p:nvPr/>
        </p:nvGrpSpPr>
        <p:grpSpPr>
          <a:xfrm>
            <a:off x="528066" y="2292668"/>
            <a:ext cx="3032379" cy="2816542"/>
            <a:chOff x="528066" y="2292668"/>
            <a:chExt cx="3032379" cy="2816542"/>
          </a:xfrm>
        </p:grpSpPr>
        <p:sp>
          <p:nvSpPr>
            <p:cNvPr id="11" name="TextBox 11"/>
            <p:cNvSpPr txBox="1"/>
            <p:nvPr/>
          </p:nvSpPr>
          <p:spPr>
            <a:xfrm>
              <a:off x="528066" y="24031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43902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095375" y="2292668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225438" y="24031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447800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800225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151698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504122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855595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208020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8066" y="275558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3902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1095375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447800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800225" y="2645092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929336" y="275558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151698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2504122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855595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208020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8066" y="310800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43902" y="2996565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3966" y="310800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1095375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447800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800225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151698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504122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2855595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3208020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8066" y="345948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43902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95375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447800" y="3348990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577863" y="345948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800225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151698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2504122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2855595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3208020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8066" y="38119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43902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95375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447800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1800225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2151698" y="3701415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281761" y="38119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2504122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2855595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3208020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28066" y="41633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43902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95375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1447800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1800225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2151698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2504122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2855595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3208020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743902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1095375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1447800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1800225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2151698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2504122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2855595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3208020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743902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95375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1447800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1800225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2151698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83" name="Rectangle 83"/>
            <p:cNvSpPr/>
            <p:nvPr/>
          </p:nvSpPr>
          <p:spPr>
            <a:xfrm>
              <a:off x="2504122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2855595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3208020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7" name="formula22"/>
              <p:cNvSpPr txBox="1">
                <a:spLocks noGrp="1"/>
              </p:cNvSpPr>
              <p:nvPr/>
            </p:nvSpPr>
            <p:spPr>
              <a:xfrm>
                <a:off x="533400" y="5278755"/>
                <a:ext cx="54102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8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8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5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8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5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4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8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5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4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8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5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4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1649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89" name="c2-text-1"/>
          <p:cNvGrpSpPr/>
          <p:nvPr/>
        </p:nvGrpSpPr>
        <p:grpSpPr>
          <a:xfrm>
            <a:off x="6242685" y="1947386"/>
            <a:ext cx="4500361" cy="220028"/>
            <a:chOff x="6242685" y="1947386"/>
            <a:chExt cx="4500361" cy="220028"/>
          </a:xfrm>
        </p:grpSpPr>
        <p:sp>
          <p:nvSpPr>
            <p:cNvPr id="88" name="TextBox 88"/>
            <p:cNvSpPr txBox="1"/>
            <p:nvPr/>
          </p:nvSpPr>
          <p:spPr>
            <a:xfrm>
              <a:off x="6242685" y="1947386"/>
              <a:ext cx="45003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路径 2：依次放在第 1、8、6、3、7、2、4 列，第 8 行已无列可放</a:t>
              </a:r>
            </a:p>
          </p:txBody>
        </p:sp>
      </p:grpSp>
      <p:grpSp>
        <p:nvGrpSpPr>
          <p:cNvPr id="169" name="c2-cells-2"/>
          <p:cNvGrpSpPr/>
          <p:nvPr/>
        </p:nvGrpSpPr>
        <p:grpSpPr>
          <a:xfrm>
            <a:off x="6243066" y="2292668"/>
            <a:ext cx="3032379" cy="2816542"/>
            <a:chOff x="6243066" y="2292668"/>
            <a:chExt cx="3032379" cy="2816542"/>
          </a:xfrm>
        </p:grpSpPr>
        <p:sp>
          <p:nvSpPr>
            <p:cNvPr id="90" name="TextBox 90"/>
            <p:cNvSpPr txBox="1"/>
            <p:nvPr/>
          </p:nvSpPr>
          <p:spPr>
            <a:xfrm>
              <a:off x="6243066" y="24031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6458902" y="2292668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588966" y="24031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6810375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94" name="Rectangle 94"/>
            <p:cNvSpPr/>
            <p:nvPr/>
          </p:nvSpPr>
          <p:spPr>
            <a:xfrm>
              <a:off x="7162800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7515225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96" name="Rectangle 96"/>
            <p:cNvSpPr/>
            <p:nvPr/>
          </p:nvSpPr>
          <p:spPr>
            <a:xfrm>
              <a:off x="7866698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97" name="Rectangle 97"/>
            <p:cNvSpPr/>
            <p:nvPr/>
          </p:nvSpPr>
          <p:spPr>
            <a:xfrm>
              <a:off x="8219122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98" name="Rectangle 98"/>
            <p:cNvSpPr/>
            <p:nvPr/>
          </p:nvSpPr>
          <p:spPr>
            <a:xfrm>
              <a:off x="8570595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8923020" y="229266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6243066" y="275558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6458902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6810375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7162800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7515225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7866698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8219122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8570595" y="264509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8923020" y="2645092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9053083" y="275558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6243066" y="310800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6458902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2" name="Rectangle 112"/>
            <p:cNvSpPr/>
            <p:nvPr/>
          </p:nvSpPr>
          <p:spPr>
            <a:xfrm>
              <a:off x="6810375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3" name="Rectangle 113"/>
            <p:cNvSpPr/>
            <p:nvPr/>
          </p:nvSpPr>
          <p:spPr>
            <a:xfrm>
              <a:off x="7162800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4" name="Rectangle 114"/>
            <p:cNvSpPr/>
            <p:nvPr/>
          </p:nvSpPr>
          <p:spPr>
            <a:xfrm>
              <a:off x="7515225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7866698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8219122" y="2996565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8349186" y="310800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18" name="Rectangle 118"/>
            <p:cNvSpPr/>
            <p:nvPr/>
          </p:nvSpPr>
          <p:spPr>
            <a:xfrm>
              <a:off x="8570595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19" name="Rectangle 119"/>
            <p:cNvSpPr/>
            <p:nvPr/>
          </p:nvSpPr>
          <p:spPr>
            <a:xfrm>
              <a:off x="8923020" y="299656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0" name="TextBox 120"/>
            <p:cNvSpPr txBox="1"/>
            <p:nvPr/>
          </p:nvSpPr>
          <p:spPr>
            <a:xfrm>
              <a:off x="6243066" y="345948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1" name="Rectangle 121"/>
            <p:cNvSpPr/>
            <p:nvPr/>
          </p:nvSpPr>
          <p:spPr>
            <a:xfrm>
              <a:off x="6458902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6810375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3" name="Rectangle 123"/>
            <p:cNvSpPr/>
            <p:nvPr/>
          </p:nvSpPr>
          <p:spPr>
            <a:xfrm>
              <a:off x="7162800" y="3348990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7292863" y="345948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7515225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6" name="Rectangle 126"/>
            <p:cNvSpPr/>
            <p:nvPr/>
          </p:nvSpPr>
          <p:spPr>
            <a:xfrm>
              <a:off x="7866698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7" name="Rectangle 127"/>
            <p:cNvSpPr/>
            <p:nvPr/>
          </p:nvSpPr>
          <p:spPr>
            <a:xfrm>
              <a:off x="8219122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8" name="Rectangle 128"/>
            <p:cNvSpPr/>
            <p:nvPr/>
          </p:nvSpPr>
          <p:spPr>
            <a:xfrm>
              <a:off x="8570595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29" name="Rectangle 129"/>
            <p:cNvSpPr/>
            <p:nvPr/>
          </p:nvSpPr>
          <p:spPr>
            <a:xfrm>
              <a:off x="8923020" y="3348990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6243066" y="38119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1" name="Rectangle 131"/>
            <p:cNvSpPr/>
            <p:nvPr/>
          </p:nvSpPr>
          <p:spPr>
            <a:xfrm>
              <a:off x="6458902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2" name="Rectangle 132"/>
            <p:cNvSpPr/>
            <p:nvPr/>
          </p:nvSpPr>
          <p:spPr>
            <a:xfrm>
              <a:off x="6810375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3" name="Rectangle 133"/>
            <p:cNvSpPr/>
            <p:nvPr/>
          </p:nvSpPr>
          <p:spPr>
            <a:xfrm>
              <a:off x="7162800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4" name="Rectangle 134"/>
            <p:cNvSpPr/>
            <p:nvPr/>
          </p:nvSpPr>
          <p:spPr>
            <a:xfrm>
              <a:off x="7515225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5" name="Rectangle 135"/>
            <p:cNvSpPr/>
            <p:nvPr/>
          </p:nvSpPr>
          <p:spPr>
            <a:xfrm>
              <a:off x="7866698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6" name="Rectangle 136"/>
            <p:cNvSpPr/>
            <p:nvPr/>
          </p:nvSpPr>
          <p:spPr>
            <a:xfrm>
              <a:off x="8219122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37" name="Rectangle 137"/>
            <p:cNvSpPr/>
            <p:nvPr/>
          </p:nvSpPr>
          <p:spPr>
            <a:xfrm>
              <a:off x="8570595" y="3701415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38" name="TextBox 138"/>
            <p:cNvSpPr txBox="1"/>
            <p:nvPr/>
          </p:nvSpPr>
          <p:spPr>
            <a:xfrm>
              <a:off x="8700658" y="38119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8923020" y="370141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0" name="TextBox 140"/>
            <p:cNvSpPr txBox="1"/>
            <p:nvPr/>
          </p:nvSpPr>
          <p:spPr>
            <a:xfrm>
              <a:off x="6243066" y="41633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1" name="Rectangle 141"/>
            <p:cNvSpPr/>
            <p:nvPr/>
          </p:nvSpPr>
          <p:spPr>
            <a:xfrm>
              <a:off x="6458902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2" name="Rectangle 142"/>
            <p:cNvSpPr/>
            <p:nvPr/>
          </p:nvSpPr>
          <p:spPr>
            <a:xfrm>
              <a:off x="6810375" y="4052888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43" name="TextBox 143"/>
            <p:cNvSpPr txBox="1"/>
            <p:nvPr/>
          </p:nvSpPr>
          <p:spPr>
            <a:xfrm>
              <a:off x="6940438" y="41633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44" name="Rectangle 144"/>
            <p:cNvSpPr/>
            <p:nvPr/>
          </p:nvSpPr>
          <p:spPr>
            <a:xfrm>
              <a:off x="7162800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5" name="Rectangle 145"/>
            <p:cNvSpPr/>
            <p:nvPr/>
          </p:nvSpPr>
          <p:spPr>
            <a:xfrm>
              <a:off x="7515225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6" name="Rectangle 146"/>
            <p:cNvSpPr/>
            <p:nvPr/>
          </p:nvSpPr>
          <p:spPr>
            <a:xfrm>
              <a:off x="7866698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7" name="Rectangle 147"/>
            <p:cNvSpPr/>
            <p:nvPr/>
          </p:nvSpPr>
          <p:spPr>
            <a:xfrm>
              <a:off x="8219122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8" name="Rectangle 148"/>
            <p:cNvSpPr/>
            <p:nvPr/>
          </p:nvSpPr>
          <p:spPr>
            <a:xfrm>
              <a:off x="8570595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49" name="Rectangle 149"/>
            <p:cNvSpPr/>
            <p:nvPr/>
          </p:nvSpPr>
          <p:spPr>
            <a:xfrm>
              <a:off x="8923020" y="4052888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0" name="TextBox 150"/>
            <p:cNvSpPr txBox="1"/>
            <p:nvPr/>
          </p:nvSpPr>
          <p:spPr>
            <a:xfrm>
              <a:off x="6243066" y="45158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1" name="Rectangle 151"/>
            <p:cNvSpPr/>
            <p:nvPr/>
          </p:nvSpPr>
          <p:spPr>
            <a:xfrm>
              <a:off x="6458902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2" name="Rectangle 152"/>
            <p:cNvSpPr/>
            <p:nvPr/>
          </p:nvSpPr>
          <p:spPr>
            <a:xfrm>
              <a:off x="6810375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3" name="Rectangle 153"/>
            <p:cNvSpPr/>
            <p:nvPr/>
          </p:nvSpPr>
          <p:spPr>
            <a:xfrm>
              <a:off x="7162800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4" name="Rectangle 154"/>
            <p:cNvSpPr/>
            <p:nvPr/>
          </p:nvSpPr>
          <p:spPr>
            <a:xfrm>
              <a:off x="7515225" y="4405312"/>
              <a:ext cx="352425" cy="352425"/>
            </a:xfrm>
            <a:prstGeom prst="rect">
              <a:avLst/>
            </a:prstGeom>
            <a:solidFill>
              <a:srgbClr val="2F4B9A"/>
            </a:solidFill>
            <a:ln w="15240">
              <a:solidFill>
                <a:srgbClr val="2F4B9A"/>
              </a:solidFill>
            </a:ln>
          </p:spPr>
        </p:sp>
        <p:sp>
          <p:nvSpPr>
            <p:cNvPr id="155" name="TextBox 155"/>
            <p:cNvSpPr txBox="1"/>
            <p:nvPr/>
          </p:nvSpPr>
          <p:spPr>
            <a:xfrm>
              <a:off x="7644336" y="45158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56" name="Rectangle 156"/>
            <p:cNvSpPr/>
            <p:nvPr/>
          </p:nvSpPr>
          <p:spPr>
            <a:xfrm>
              <a:off x="7866698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7" name="Rectangle 157"/>
            <p:cNvSpPr/>
            <p:nvPr/>
          </p:nvSpPr>
          <p:spPr>
            <a:xfrm>
              <a:off x="8219122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8" name="Rectangle 158"/>
            <p:cNvSpPr/>
            <p:nvPr/>
          </p:nvSpPr>
          <p:spPr>
            <a:xfrm>
              <a:off x="8570595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59" name="Rectangle 159"/>
            <p:cNvSpPr/>
            <p:nvPr/>
          </p:nvSpPr>
          <p:spPr>
            <a:xfrm>
              <a:off x="8923020" y="4405312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0" name="TextBox 160"/>
            <p:cNvSpPr txBox="1"/>
            <p:nvPr/>
          </p:nvSpPr>
          <p:spPr>
            <a:xfrm>
              <a:off x="6243066" y="486822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1" name="Rectangle 161"/>
            <p:cNvSpPr/>
            <p:nvPr/>
          </p:nvSpPr>
          <p:spPr>
            <a:xfrm>
              <a:off x="6458902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2" name="Rectangle 162"/>
            <p:cNvSpPr/>
            <p:nvPr/>
          </p:nvSpPr>
          <p:spPr>
            <a:xfrm>
              <a:off x="6810375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3" name="Rectangle 163"/>
            <p:cNvSpPr/>
            <p:nvPr/>
          </p:nvSpPr>
          <p:spPr>
            <a:xfrm>
              <a:off x="7162800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4" name="Rectangle 164"/>
            <p:cNvSpPr/>
            <p:nvPr/>
          </p:nvSpPr>
          <p:spPr>
            <a:xfrm>
              <a:off x="7515225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5" name="Rectangle 165"/>
            <p:cNvSpPr/>
            <p:nvPr/>
          </p:nvSpPr>
          <p:spPr>
            <a:xfrm>
              <a:off x="7866698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6" name="Rectangle 166"/>
            <p:cNvSpPr/>
            <p:nvPr/>
          </p:nvSpPr>
          <p:spPr>
            <a:xfrm>
              <a:off x="8219122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7" name="Rectangle 167"/>
            <p:cNvSpPr/>
            <p:nvPr/>
          </p:nvSpPr>
          <p:spPr>
            <a:xfrm>
              <a:off x="8570595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168" name="Rectangle 168"/>
            <p:cNvSpPr/>
            <p:nvPr/>
          </p:nvSpPr>
          <p:spPr>
            <a:xfrm>
              <a:off x="8923020" y="4756785"/>
              <a:ext cx="352425" cy="35242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formula23"/>
              <p:cNvSpPr txBox="1">
                <a:spLocks noGrp="1"/>
              </p:cNvSpPr>
              <p:nvPr/>
            </p:nvSpPr>
            <p:spPr>
              <a:xfrm>
                <a:off x="6248400" y="5278755"/>
                <a:ext cx="54102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8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48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192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384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384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384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384</m:t>
                      </m:r>
                      <m:r>
                        <m:rPr>
                          <m:sty m:val="p"/>
                        </m:rP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1785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7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171" name="Rectangle 17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75" name="Group 175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172" name="Freeform 172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3" name="Freeform 173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4" name="Freeform 174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76" name="TextBox 176"/>
            <p:cNvSpPr txBox="1"/>
            <p:nvPr/>
          </p:nvSpPr>
          <p:spPr>
            <a:xfrm>
              <a:off x="1040892" y="6028373"/>
              <a:ext cx="93549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 的第 i+1 项是 m₁m₂…mᵢ，遇到 mᵢ = 0 的行就停止：路径 1 求和到 8·5·4·3·2，路径 2 求和到 8·6·4·2·1·1·1。</a:t>
              </a:r>
            </a:p>
          </p:txBody>
        </p:sp>
      </p:grpSp>
      <p:grpSp>
        <p:nvGrpSpPr>
          <p:cNvPr id="1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8" name="TextBox 17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79" name="TextBox 1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94573" cy="909257"/>
            <a:chOff x="520446" y="342900"/>
            <a:chExt cx="88945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977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02" y="407194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n-皇后问题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945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估计值和真实值对比：不受限界的结点约占排列树的 1.9%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410200" cy="2244090"/>
            <a:chOff x="533400" y="1524000"/>
            <a:chExt cx="5410200" cy="22440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0862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60570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不受限界结点数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108359"/>
              <a:ext cx="16602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路径 1 (2,4,1,3,5)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348961" y="210835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1,649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556986"/>
              <a:ext cx="20583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路径 2 (1,8,6,3,7,2,4)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48961" y="255698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1,785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005614"/>
              <a:ext cx="26786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万条随机路径的平均值（脚本）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24953" y="3005614"/>
              <a:ext cx="7108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2,056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47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31946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454241"/>
              <a:ext cx="30657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穷举统计通过 PLACE 的结点（精确值）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005262" y="3328988"/>
              <a:ext cx="192881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348961" y="34542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2,057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1524000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99097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formula25"/>
              <p:cNvSpPr txBox="1">
                <a:spLocks noGrp="1"/>
              </p:cNvSpPr>
              <p:nvPr/>
            </p:nvSpPr>
            <p:spPr>
              <a:xfrm>
                <a:off x="533400" y="3958590"/>
                <a:ext cx="5410200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2057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109601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1.88%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34" name="c1-callout-3"/>
          <p:cNvGrpSpPr/>
          <p:nvPr/>
        </p:nvGrpSpPr>
        <p:grpSpPr>
          <a:xfrm>
            <a:off x="533400" y="4766310"/>
            <a:ext cx="5410200" cy="1344930"/>
            <a:chOff x="533400" y="4766310"/>
            <a:chExt cx="5410200" cy="1344930"/>
          </a:xfrm>
        </p:grpSpPr>
        <p:sp>
          <p:nvSpPr>
            <p:cNvPr id="28" name="Rectangle 28"/>
            <p:cNvSpPr/>
            <p:nvPr/>
          </p:nvSpPr>
          <p:spPr>
            <a:xfrm>
              <a:off x="533400" y="4766310"/>
              <a:ext cx="5410200" cy="1344930"/>
            </a:xfrm>
            <a:prstGeom prst="roundRect">
              <a:avLst>
                <a:gd name="adj" fmla="val 84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338763"/>
              <a:ext cx="200026" cy="200025"/>
              <a:chOff x="738188" y="5338763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3387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53832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54943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130" y="5195888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单条路径的估计偏差很大（本例两条都偏小），取很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多条路径求平均，平均值就接近真实值。</a:t>
              </a:r>
            </a:p>
          </p:txBody>
        </p:sp>
      </p:grpSp>
      <p:grpSp>
        <p:nvGrpSpPr>
          <p:cNvPr id="43" name="c2-card-1"/>
          <p:cNvGrpSpPr/>
          <p:nvPr/>
        </p:nvGrpSpPr>
        <p:grpSpPr>
          <a:xfrm>
            <a:off x="6248400" y="1524000"/>
            <a:ext cx="5410200" cy="2794635"/>
            <a:chOff x="6248400" y="1524000"/>
            <a:chExt cx="5410200" cy="2794635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2794635"/>
            </a:xfrm>
            <a:prstGeom prst="roundRect">
              <a:avLst>
                <a:gd name="adj" fmla="val 47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25279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59880" y="2110740"/>
              <a:ext cx="40824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原课件路径 2 写作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1+8+8×6+8×6×4+8×6×4×2+8×6×4×2×1+8×6×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4×2×1×1 = 1401，漏加了第 7 个皇后对应的一项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8×6×4×2×1×1×1 = 384，应为 1785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501765" y="33661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59880" y="3303270"/>
              <a:ext cx="44253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原课件的结论"多次实验后取平均值 1625，约占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1625/69281 = 2.34%"，分母用了错误的结点总数；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109,601 计算，1625 只占 1.48%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248400" y="4509135"/>
            <a:ext cx="5410200" cy="1602105"/>
            <a:chOff x="6248400" y="4509135"/>
            <a:chExt cx="5410200" cy="1602105"/>
          </a:xfrm>
        </p:grpSpPr>
        <p:sp>
          <p:nvSpPr>
            <p:cNvPr id="44" name="Rectangle 44"/>
            <p:cNvSpPr/>
            <p:nvPr/>
          </p:nvSpPr>
          <p:spPr>
            <a:xfrm>
              <a:off x="6248400" y="4509135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57950" y="47186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48158" y="47544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50330" y="509587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限界函数把 8-皇后要生成的结点从 10 万多个降到 2 千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个左右。运行前做几次蒙特卡罗估计，就能判断回溯法对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这个实例是否可行。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091521" cy="3351847"/>
            <a:chOff x="667512" y="1835468"/>
            <a:chExt cx="4091521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816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用已选之和 s 与剩余之和 r 写出限界函数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5191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问题描述与 6-元组解空间树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限界函数的两个条件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3149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递归回溯算法 SUMOFSUB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效率估计与实例运行结果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15286" cy="909257"/>
            <a:chOff x="520446" y="342900"/>
            <a:chExt cx="831528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1528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子集和数问题：用固定长 n-元组表示，本节实例 n = 6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2272665"/>
            <a:chOff x="533400" y="1524000"/>
            <a:chExt cx="5626418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958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假定有 n 个不同的正数 W(1:n)，找出这些数中所有使得和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M 的组合。元素 W(i) 称为权。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4739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用固定长 n-元组 X 表示解，X(i) 取 1 或 0，表示解中是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否包含权数 W(i)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352800"/>
              <a:ext cx="34093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隐式约束：Σ W(i)X(i) = M，1 ≤ i ≤ n</a:t>
              </a:r>
            </a:p>
          </p:txBody>
        </p:sp>
      </p:grpSp>
      <p:grpSp>
        <p:nvGrpSpPr>
          <p:cNvPr id="31" name="c1-table-2"/>
          <p:cNvGrpSpPr/>
          <p:nvPr/>
        </p:nvGrpSpPr>
        <p:grpSpPr>
          <a:xfrm>
            <a:off x="533400" y="3987165"/>
            <a:ext cx="5626418" cy="2022158"/>
            <a:chOff x="533400" y="3987165"/>
            <a:chExt cx="5626418" cy="2022158"/>
          </a:xfrm>
        </p:grpSpPr>
        <p:sp>
          <p:nvSpPr>
            <p:cNvPr id="17" name="Rectangle 17"/>
            <p:cNvSpPr/>
            <p:nvPr/>
          </p:nvSpPr>
          <p:spPr>
            <a:xfrm>
              <a:off x="533400" y="3987165"/>
              <a:ext cx="5626418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455947" y="4122896"/>
              <a:ext cx="14181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6-元组的解空间树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7613" y="41228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结点个数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1223" y="457152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解状态（叶结点）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04488" y="457152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2⁶ = 64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8796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4884420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513349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部分解结点（非叶结点）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04488" y="5020151"/>
              <a:ext cx="19799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2⁰ + 2¹ + … + 2⁵ = 2⁶ − 1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555593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569547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问题状态（全部结点）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04488" y="5695474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+ 63 = 127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987165"/>
              <a:ext cx="5626418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791902" y="398716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2-card-1"/>
          <p:cNvGrpSpPr/>
          <p:nvPr/>
        </p:nvGrpSpPr>
        <p:grpSpPr>
          <a:xfrm>
            <a:off x="6464618" y="1524000"/>
            <a:ext cx="5193982" cy="3561398"/>
            <a:chOff x="6464618" y="1524000"/>
            <a:chExt cx="5193982" cy="3561398"/>
          </a:xfrm>
        </p:grpSpPr>
        <p:sp>
          <p:nvSpPr>
            <p:cNvPr id="32" name="Rectangle 32"/>
            <p:cNvSpPr/>
            <p:nvPr/>
          </p:nvSpPr>
          <p:spPr>
            <a:xfrm>
              <a:off x="6464618" y="1524000"/>
              <a:ext cx="5193982" cy="3561398"/>
            </a:xfrm>
            <a:prstGeom prst="roundRect">
              <a:avLst>
                <a:gd name="adj" fmla="val 37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74142" y="1657350"/>
              <a:ext cx="47625" cy="32946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实例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704648" y="2110740"/>
              <a:ext cx="45478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6，M = 30，W = (5, 10, 12, 13, 15, 18)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04648" y="2465070"/>
              <a:ext cx="4482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 已按非降次序排列，全部之和为 73。脚本穷举得到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个解：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712268" y="3061335"/>
              <a:ext cx="4736782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837176" y="319706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913988" y="31970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选中的权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107229" y="3645694"/>
              <a:ext cx="15779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(1, 1, 0, 0, 1, 0)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23524" y="3645694"/>
              <a:ext cx="883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+ 10 + 15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712268" y="3953828"/>
              <a:ext cx="47367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712268" y="3958590"/>
              <a:ext cx="47367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107229" y="4094321"/>
              <a:ext cx="15779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(1, 0, 1, 1, 0, 0)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23524" y="4094321"/>
              <a:ext cx="883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+ 12 + 13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712268" y="4403408"/>
              <a:ext cx="47367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107229" y="4542949"/>
              <a:ext cx="15779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(0, 0, 1, 0, 0, 1)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969990" y="4542949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+ 18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712268" y="3061335"/>
              <a:ext cx="4736782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9076372" y="306133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2-callout-2"/>
          <p:cNvGrpSpPr/>
          <p:nvPr/>
        </p:nvGrpSpPr>
        <p:grpSpPr>
          <a:xfrm>
            <a:off x="6464618" y="5275898"/>
            <a:ext cx="5193982" cy="782955"/>
            <a:chOff x="6464618" y="5275898"/>
            <a:chExt cx="5193982" cy="782955"/>
          </a:xfrm>
        </p:grpSpPr>
        <p:sp>
          <p:nvSpPr>
            <p:cNvPr id="53" name="Rectangle 53"/>
            <p:cNvSpPr/>
            <p:nvPr/>
          </p:nvSpPr>
          <p:spPr>
            <a:xfrm>
              <a:off x="6464618" y="5275898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657347" y="5563671"/>
              <a:ext cx="224134" cy="192560"/>
              <a:chOff x="6657347" y="5563671"/>
              <a:chExt cx="224134" cy="1925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769418" y="563403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657347" y="556367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769418" y="571182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971348" y="5424488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不用限界函数时，状态空间树中所有结点都会被访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问到：64 个叶结点和 63 个部分解结点。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1208" y="342900"/>
            <a:ext cx="11115934" cy="896112"/>
            <a:chOff x="521208" y="342900"/>
            <a:chExt cx="11115934" cy="896112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1208" y="769620"/>
              <a:ext cx="1111593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限界函数：剩下的全选也不够 M，或者加上最小的剩余数就超过 M，都要剪掉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428895" cy="308039"/>
            <a:chOff x="525399" y="1550194"/>
            <a:chExt cx="642889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4288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 s 为已选权之和，r 为尚未考虑的权之和（前 k 个分量已确定）。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67865"/>
            <a:ext cx="5626418" cy="2040255"/>
            <a:chOff x="533400" y="1967865"/>
            <a:chExt cx="5626418" cy="204025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626418" cy="2040255"/>
            </a:xfrm>
            <a:prstGeom prst="roundRect">
              <a:avLst>
                <a:gd name="adj" fmla="val 65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7735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7308" y="221313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条件一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9"/>
                <p:cNvSpPr txBox="1">
                  <a:spLocks noGrp="1"/>
                </p:cNvSpPr>
                <p:nvPr/>
              </p:nvSpPr>
              <p:spPr>
                <a:xfrm>
                  <a:off x="781050" y="2529840"/>
                  <a:ext cx="5169218" cy="6286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d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278505"/>
              <a:ext cx="4911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不满足时，后面的权全部选上也凑不够 M，X(1), …, X(k)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不能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导致答案结点。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4198620"/>
            <a:ext cx="5626418" cy="2080260"/>
            <a:chOff x="533400" y="4198620"/>
            <a:chExt cx="5626418" cy="2080260"/>
          </a:xfrm>
        </p:grpSpPr>
        <p:sp>
          <p:nvSpPr>
            <p:cNvPr id="16" name="Rectangle 16"/>
            <p:cNvSpPr/>
            <p:nvPr/>
          </p:nvSpPr>
          <p:spPr>
            <a:xfrm>
              <a:off x="533400" y="4198620"/>
              <a:ext cx="5626418" cy="2080260"/>
            </a:xfrm>
            <a:prstGeom prst="roundRect">
              <a:avLst>
                <a:gd name="adj" fmla="val 64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331970"/>
              <a:ext cx="47625" cy="181356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408170"/>
              <a:ext cx="20735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9190" y="4443889"/>
              <a:ext cx="19963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条件二（W 按非降次序排列）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30"/>
                <p:cNvSpPr txBox="1">
                  <a:spLocks noGrp="1"/>
                </p:cNvSpPr>
                <p:nvPr/>
              </p:nvSpPr>
              <p:spPr>
                <a:xfrm>
                  <a:off x="781050" y="4760595"/>
                  <a:ext cx="5169218" cy="6286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d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W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73430" y="5509260"/>
              <a:ext cx="4806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不满足时，剩下最小的 W(k+1) 加进来都超过 M，更大的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权更不行。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464618" y="1967865"/>
            <a:ext cx="5193982" cy="1544955"/>
            <a:chOff x="6464618" y="1967865"/>
            <a:chExt cx="5193982" cy="1544955"/>
          </a:xfrm>
        </p:grpSpPr>
        <p:sp>
          <p:nvSpPr>
            <p:cNvPr id="23" name="Rectangle 23"/>
            <p:cNvSpPr/>
            <p:nvPr/>
          </p:nvSpPr>
          <p:spPr>
            <a:xfrm>
              <a:off x="6464618" y="1967865"/>
              <a:ext cx="5193982" cy="1544955"/>
            </a:xfrm>
            <a:prstGeom prst="roundRect">
              <a:avLst>
                <a:gd name="adj" fmla="val 86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2101215"/>
              <a:ext cx="47625" cy="12782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12268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94576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限界函数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04648" y="2554605"/>
              <a:ext cx="35407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Bₖ(X(1), …, X(k)) = true，当且仅当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31"/>
                <p:cNvSpPr txBox="1">
                  <a:spLocks noGrp="1"/>
                </p:cNvSpPr>
                <p:nvPr/>
              </p:nvSpPr>
              <p:spPr>
                <a:xfrm>
                  <a:off x="6712268" y="2865120"/>
                  <a:ext cx="4736782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m:rPr>
                            <m:nor m:val="on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且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W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5" name="c2-card-2"/>
          <p:cNvGrpSpPr/>
          <p:nvPr/>
        </p:nvGrpSpPr>
        <p:grpSpPr>
          <a:xfrm>
            <a:off x="6464618" y="3703320"/>
            <a:ext cx="5193982" cy="1602105"/>
            <a:chOff x="6464618" y="3703320"/>
            <a:chExt cx="5193982" cy="1602105"/>
          </a:xfrm>
        </p:grpSpPr>
        <p:sp>
          <p:nvSpPr>
            <p:cNvPr id="30" name="Rectangle 30"/>
            <p:cNvSpPr/>
            <p:nvPr/>
          </p:nvSpPr>
          <p:spPr>
            <a:xfrm>
              <a:off x="6464618" y="3703320"/>
              <a:ext cx="5193982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4142" y="383667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712268" y="391287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03428" y="39485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04648" y="4290060"/>
              <a:ext cx="44062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原课件写作"当满足条件 s + r ≥ M 时，X(1), …,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X(k) 能导致一个答案结点"。这只是必要条件：满足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它不保证能凑出 M，不满足则一定不能。</a:t>
              </a:r>
            </a:p>
          </p:txBody>
        </p:sp>
      </p:grpSp>
      <p:grpSp>
        <p:nvGrpSpPr>
          <p:cNvPr id="42" name="c2-callout-3"/>
          <p:cNvGrpSpPr/>
          <p:nvPr/>
        </p:nvGrpSpPr>
        <p:grpSpPr>
          <a:xfrm>
            <a:off x="6464618" y="5495925"/>
            <a:ext cx="5193982" cy="782955"/>
            <a:chOff x="6464618" y="5495925"/>
            <a:chExt cx="5193982" cy="782955"/>
          </a:xfrm>
        </p:grpSpPr>
        <p:sp>
          <p:nvSpPr>
            <p:cNvPr id="36" name="Rectangle 36"/>
            <p:cNvSpPr/>
            <p:nvPr/>
          </p:nvSpPr>
          <p:spPr>
            <a:xfrm>
              <a:off x="6464618" y="549592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57347" y="5783698"/>
              <a:ext cx="224134" cy="192560"/>
              <a:chOff x="6657347" y="5783698"/>
              <a:chExt cx="224134" cy="1925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769418" y="585406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657347" y="578369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769418" y="59318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971348" y="5644515"/>
              <a:ext cx="42729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已选之和恰好等于 M 时直接输出答案，这个结点不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再往下扩展。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74282" cy="909257"/>
            <a:chOff x="520446" y="342900"/>
            <a:chExt cx="817428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7428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7.6 SUMOFSUB：左儿子选 W(k)，右儿子不选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708458" cy="3458528"/>
            <a:chOff x="533400" y="1524000"/>
            <a:chExt cx="6708458" cy="34585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3458528"/>
            </a:xfrm>
            <a:prstGeom prst="roundRect">
              <a:avLst>
                <a:gd name="adj" fmla="val 275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0366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7.6 子集和数的递归回溯算法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530" y="1936956"/>
              <a:ext cx="4713059" cy="2972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55"/>
                </a:lnSpc>
              </a:pP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SUMOFSUB(s, k, r)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0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找出 W(1:n) 中和数为 M 的所有子集。进入时 X(1..k-1) 已确定，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0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s = W(1)X(1)+…+W(k-1)X(k-1)，r = W(k)+…+W(n)，W 按非降次序排列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W(1:n), M, n; boolean X(1:n); integer s, k, r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0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生成左儿子。由于 B(k-1) = true，因此 s+W(k) ≤ M 且 s+r ≥ M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X(k) ← 1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s + W(k) = M then print(X(1..k))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if s + W(k) + W(k+1) ≤ M then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call SUMOFSUB(s+W(k), k+1, r-W(k))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endif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endif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0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生成右儿子并计算 B(k) 的值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s + r - W(k) ≥ M and s + W(k+1) ≤ M then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X(k) ← 0; call SUMOFSUB(s, k+1, r-W(k))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endif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SUMOFSUB</a:t>
              </a:r>
            </a:p>
          </p:txBody>
        </p:sp>
      </p:grpSp>
      <p:grpSp>
        <p:nvGrpSpPr>
          <p:cNvPr id="26" name="c2-graph-1"/>
          <p:cNvGrpSpPr/>
          <p:nvPr/>
        </p:nvGrpSpPr>
        <p:grpSpPr>
          <a:xfrm>
            <a:off x="8005321" y="1540193"/>
            <a:ext cx="3027445" cy="1730216"/>
            <a:chOff x="8005321" y="1540193"/>
            <a:chExt cx="3027445" cy="1730216"/>
          </a:xfrm>
        </p:grpSpPr>
        <p:sp>
          <p:nvSpPr>
            <p:cNvPr id="11" name="Freeform 11"/>
            <p:cNvSpPr/>
            <p:nvPr/>
          </p:nvSpPr>
          <p:spPr>
            <a:xfrm>
              <a:off x="8580120" y="1955482"/>
              <a:ext cx="847725" cy="858202"/>
            </a:xfrm>
            <a:custGeom>
              <a:avLst/>
              <a:gdLst/>
              <a:ahLst/>
              <a:cxnLst/>
              <a:rect l="l" t="t" r="r" b="b"/>
              <a:pathLst>
                <a:path w="847725" h="858202">
                  <a:moveTo>
                    <a:pt x="847725" y="0"/>
                  </a:moveTo>
                  <a:lnTo>
                    <a:pt x="0" y="85820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9777412" y="1955482"/>
              <a:ext cx="847725" cy="858202"/>
            </a:xfrm>
            <a:custGeom>
              <a:avLst/>
              <a:gdLst/>
              <a:ahLst/>
              <a:cxnLst/>
              <a:rect l="l" t="t" r="r" b="b"/>
              <a:pathLst>
                <a:path w="847725" h="858202">
                  <a:moveTo>
                    <a:pt x="0" y="0"/>
                  </a:moveTo>
                  <a:lnTo>
                    <a:pt x="847725" y="85820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9364028" y="1540193"/>
              <a:ext cx="478155" cy="478155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8193405" y="2813685"/>
              <a:ext cx="516255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0495598" y="2813685"/>
              <a:ext cx="516255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37151" y="1717834"/>
              <a:ext cx="3319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Xₖ₋₁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94570" y="1727359"/>
              <a:ext cx="95476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s, r，Bₖ₋₁ = true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85578" y="2882741"/>
              <a:ext cx="3319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Xₖ=1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05321" y="3108484"/>
              <a:ext cx="89242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s+W(k), r−W(k)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7771" y="2882741"/>
              <a:ext cx="3319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Xₖ=0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74684" y="3108484"/>
              <a:ext cx="55808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s, r−W(k)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809672" y="2306002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833637" y="233505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左子树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0006965" y="2306002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030930" y="233505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右子树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7546658" y="3519488"/>
            <a:ext cx="4111942" cy="2025968"/>
            <a:chOff x="7546658" y="3519488"/>
            <a:chExt cx="4111942" cy="2025968"/>
          </a:xfrm>
        </p:grpSpPr>
        <p:sp>
          <p:nvSpPr>
            <p:cNvPr id="27" name="Rectangle 27"/>
            <p:cNvSpPr/>
            <p:nvPr/>
          </p:nvSpPr>
          <p:spPr>
            <a:xfrm>
              <a:off x="7546658" y="3519488"/>
              <a:ext cx="4111942" cy="2025968"/>
            </a:xfrm>
            <a:prstGeom prst="roundRect">
              <a:avLst>
                <a:gd name="adj" fmla="val 65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556182" y="3652838"/>
              <a:ext cx="47625" cy="175926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777162" y="37118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868602" y="37461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785735" y="412432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941754" y="4068127"/>
              <a:ext cx="24140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原课件左儿子处的递归调用写成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SUBOFSUB，应为 SUMOFSUB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785735" y="468439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41754" y="4628198"/>
              <a:ext cx="329698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 print(X)。X(k+1..n) 可能还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留着前面分支的旧值，应只输出 X(1..k)，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其余分量视为 0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6" name="Rectangle 36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892" y="6023610"/>
              <a:ext cx="87974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初始调用 SUMOFSUB(0, 1, W(1)+…+W(n))。右儿子的 s 不变且 s &lt; M，所以只有左儿子可能恰好凑成 M。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714479" cy="909257"/>
            <a:chOff x="520446" y="342900"/>
            <a:chExt cx="47144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7144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SUMOFSUB 的正确性与复杂度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card-1"/>
          <p:cNvGrpSpPr/>
          <p:nvPr/>
        </p:nvGrpSpPr>
        <p:grpSpPr>
          <a:xfrm>
            <a:off x="533400" y="1524000"/>
            <a:ext cx="5951220" cy="4602480"/>
            <a:chOff x="533400" y="1524000"/>
            <a:chExt cx="5951220" cy="46024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602480"/>
            </a:xfrm>
            <a:prstGeom prst="roundRect">
              <a:avLst>
                <a:gd name="adj" fmla="val 28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33578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248507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6437" y="176355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正确性要点（调用时保持的不变式）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5335" y="2088832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3680" y="2128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228" y="2100739"/>
              <a:ext cx="474840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每次调用时 s = W(1)X(1)+…+W(k−1)X(k−1)，r = W(k)+…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+W(n)，且 s + W(k) ≤ M、s + r ≥ M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5335" y="2680335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3680" y="27197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6228" y="2692241"/>
              <a:ext cx="491070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左儿子：(s + W(k)) + (r − W(k)) = s + r ≥ M 自然成立，只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需再查 s + W(k) + W(k+1) ≤ M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5335" y="3271838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3680" y="331122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6228" y="3283744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右儿子：两个条件都要查；通过后，新参数仍满足不变式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5335" y="3591877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33680" y="363126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6228" y="3603784"/>
              <a:ext cx="489267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不越界：k = n 时不变式给出 s + W(n) = M，左儿子直接输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出；右儿子的第一个条件 s ≥ M 不成立，按短路求值不会访问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W(n+1)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9239" y="4463415"/>
              <a:ext cx="50947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初始调用 SUMOFSUB(0, 1, W(1)+…+W(n))，要求 W(1) ≤ M 且全部权之和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≥ M。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6789420" y="1524000"/>
            <a:ext cx="4869180" cy="2581275"/>
            <a:chOff x="6789420" y="1524000"/>
            <a:chExt cx="4869180" cy="2581275"/>
          </a:xfrm>
        </p:grpSpPr>
        <p:sp>
          <p:nvSpPr>
            <p:cNvPr id="25" name="Rectangle 25"/>
            <p:cNvSpPr/>
            <p:nvPr/>
          </p:nvSpPr>
          <p:spPr>
            <a:xfrm>
              <a:off x="6789420" y="1524000"/>
              <a:ext cx="486918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44950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8409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94766" y="208502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预处理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50212" y="2085022"/>
              <a:ext cx="13706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 排序 O(n log n)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789420" y="237934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89420" y="2384108"/>
              <a:ext cx="486918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94766" y="251555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每个结点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50212" y="2515552"/>
              <a:ext cx="29096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O(1)：s、r 随参数递推，不必重新求和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789420" y="280987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94766" y="294608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最坏结点数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550212" y="2946082"/>
              <a:ext cx="5157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O(2ⁿ)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789420" y="323945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89420" y="3244215"/>
              <a:ext cx="486918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94766" y="33756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输出一个解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50212" y="3375660"/>
              <a:ext cx="4108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789420" y="366998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94766" y="38061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550212" y="3806190"/>
              <a:ext cx="18405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O(n)：递归深度不超过 n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789420" y="1524000"/>
              <a:ext cx="4869180" cy="2581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440102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rd-2"/>
          <p:cNvGrpSpPr/>
          <p:nvPr/>
        </p:nvGrpSpPr>
        <p:grpSpPr>
          <a:xfrm>
            <a:off x="6789420" y="4290060"/>
            <a:ext cx="4869180" cy="1836420"/>
            <a:chOff x="6789420" y="4290060"/>
            <a:chExt cx="4869180" cy="1836420"/>
          </a:xfrm>
        </p:grpSpPr>
        <p:sp>
          <p:nvSpPr>
            <p:cNvPr id="47" name="Rectangle 47"/>
            <p:cNvSpPr/>
            <p:nvPr/>
          </p:nvSpPr>
          <p:spPr>
            <a:xfrm>
              <a:off x="6789420" y="4290060"/>
              <a:ext cx="4869180" cy="1836420"/>
            </a:xfrm>
            <a:prstGeom prst="roundRect">
              <a:avLst>
                <a:gd name="adj" fmla="val 72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798945" y="4423410"/>
              <a:ext cx="47625" cy="156972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031355" y="449389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100862" y="452961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思考（原课件）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43329" y="4534376"/>
              <a:ext cx="18300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如果不将 W 预排序？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24116" y="4885849"/>
              <a:ext cx="4189349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条件二依赖"W(k+1) 是剩余权中最小的"。不排序时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应改用剩余权的最小值 min{W(k+1), …, W(n)}（可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以从后往前预先算好）；只保留条件一也正确，但剪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枝能力变弱，生成的结点一般会增多。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94435" cy="909257"/>
            <a:chOff x="520446" y="342900"/>
            <a:chExt cx="73944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944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效率估计实例：一条随机路径给出估计值 m = 15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98338" cy="308039"/>
            <a:chOff x="525399" y="1550194"/>
            <a:chExt cx="1069833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9833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 = 30，W = (5, 10, 12, 13, 15, 18)。每层生成当前结点的两个儿子并检验，再从通过的儿子中随机选一个。</a:t>
              </a:r>
            </a:p>
          </p:txBody>
        </p:sp>
      </p:grpSp>
      <p:grpSp>
        <p:nvGrpSpPr>
          <p:cNvPr id="76" name="c1-graph-1"/>
          <p:cNvGrpSpPr/>
          <p:nvPr/>
        </p:nvGrpSpPr>
        <p:grpSpPr>
          <a:xfrm>
            <a:off x="589311" y="2027872"/>
            <a:ext cx="4599714" cy="3487579"/>
            <a:chOff x="589311" y="2027872"/>
            <a:chExt cx="4599714" cy="3487579"/>
          </a:xfrm>
        </p:grpSpPr>
        <p:sp>
          <p:nvSpPr>
            <p:cNvPr id="9" name="Freeform 9"/>
            <p:cNvSpPr/>
            <p:nvPr/>
          </p:nvSpPr>
          <p:spPr>
            <a:xfrm>
              <a:off x="1395412" y="2271712"/>
              <a:ext cx="608648" cy="415290"/>
            </a:xfrm>
            <a:custGeom>
              <a:avLst/>
              <a:gdLst/>
              <a:ahLst/>
              <a:cxnLst/>
              <a:rect l="l" t="t" r="r" b="b"/>
              <a:pathLst>
                <a:path w="608648" h="415290">
                  <a:moveTo>
                    <a:pt x="608648" y="0"/>
                  </a:moveTo>
                  <a:lnTo>
                    <a:pt x="0" y="4152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271712" y="2272665"/>
              <a:ext cx="603885" cy="413385"/>
            </a:xfrm>
            <a:custGeom>
              <a:avLst/>
              <a:gdLst/>
              <a:ahLst/>
              <a:cxnLst/>
              <a:rect l="l" t="t" r="r" b="b"/>
              <a:pathLst>
                <a:path w="603885" h="413385">
                  <a:moveTo>
                    <a:pt x="0" y="0"/>
                  </a:moveTo>
                  <a:lnTo>
                    <a:pt x="603885" y="413385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343150" y="2874645"/>
              <a:ext cx="536258" cy="402908"/>
            </a:xfrm>
            <a:custGeom>
              <a:avLst/>
              <a:gdLst/>
              <a:ahLst/>
              <a:cxnLst/>
              <a:rect l="l" t="t" r="r" b="b"/>
              <a:pathLst>
                <a:path w="536258" h="402908">
                  <a:moveTo>
                    <a:pt x="536258" y="0"/>
                  </a:moveTo>
                  <a:lnTo>
                    <a:pt x="0" y="402908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67852" y="3505200"/>
              <a:ext cx="249555" cy="336233"/>
            </a:xfrm>
            <a:custGeom>
              <a:avLst/>
              <a:gdLst/>
              <a:ahLst/>
              <a:cxnLst/>
              <a:rect l="l" t="t" r="r" b="b"/>
              <a:pathLst>
                <a:path w="249555" h="336233">
                  <a:moveTo>
                    <a:pt x="249555" y="0"/>
                  </a:moveTo>
                  <a:lnTo>
                    <a:pt x="0" y="3362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310765" y="3504248"/>
              <a:ext cx="253365" cy="338138"/>
            </a:xfrm>
            <a:custGeom>
              <a:avLst/>
              <a:gdLst/>
              <a:ahLst/>
              <a:cxnLst/>
              <a:rect l="l" t="t" r="r" b="b"/>
              <a:pathLst>
                <a:path w="253365" h="338138">
                  <a:moveTo>
                    <a:pt x="0" y="0"/>
                  </a:moveTo>
                  <a:lnTo>
                    <a:pt x="253365" y="338138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367915" y="4108132"/>
              <a:ext cx="206693" cy="324802"/>
            </a:xfrm>
            <a:custGeom>
              <a:avLst/>
              <a:gdLst/>
              <a:ahLst/>
              <a:cxnLst/>
              <a:rect l="l" t="t" r="r" b="b"/>
              <a:pathLst>
                <a:path w="206693" h="324802">
                  <a:moveTo>
                    <a:pt x="206693" y="0"/>
                  </a:moveTo>
                  <a:lnTo>
                    <a:pt x="0" y="32480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748915" y="4108132"/>
              <a:ext cx="206692" cy="324802"/>
            </a:xfrm>
            <a:custGeom>
              <a:avLst/>
              <a:gdLst/>
              <a:ahLst/>
              <a:cxnLst/>
              <a:rect l="l" t="t" r="r" b="b"/>
              <a:pathLst>
                <a:path w="206692" h="324802">
                  <a:moveTo>
                    <a:pt x="0" y="0"/>
                  </a:moveTo>
                  <a:lnTo>
                    <a:pt x="206692" y="324802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848928" y="4717732"/>
              <a:ext cx="129540" cy="300037"/>
            </a:xfrm>
            <a:custGeom>
              <a:avLst/>
              <a:gdLst/>
              <a:ahLst/>
              <a:cxnLst/>
              <a:rect l="l" t="t" r="r" b="b"/>
              <a:pathLst>
                <a:path w="129540" h="300037">
                  <a:moveTo>
                    <a:pt x="129540" y="0"/>
                  </a:moveTo>
                  <a:lnTo>
                    <a:pt x="0" y="30003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105150" y="4717732"/>
              <a:ext cx="126683" cy="299085"/>
            </a:xfrm>
            <a:custGeom>
              <a:avLst/>
              <a:gdLst/>
              <a:ahLst/>
              <a:cxnLst/>
              <a:rect l="l" t="t" r="r" b="b"/>
              <a:pathLst>
                <a:path w="126683" h="299085">
                  <a:moveTo>
                    <a:pt x="0" y="0"/>
                  </a:moveTo>
                  <a:lnTo>
                    <a:pt x="126683" y="29908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138488" y="2874645"/>
              <a:ext cx="536258" cy="402908"/>
            </a:xfrm>
            <a:custGeom>
              <a:avLst/>
              <a:gdLst/>
              <a:ahLst/>
              <a:cxnLst/>
              <a:rect l="l" t="t" r="r" b="b"/>
              <a:pathLst>
                <a:path w="536258" h="402908">
                  <a:moveTo>
                    <a:pt x="0" y="0"/>
                  </a:moveTo>
                  <a:lnTo>
                    <a:pt x="536258" y="4029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1985010" y="2027872"/>
              <a:ext cx="304800" cy="30480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109662" y="262509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2856548" y="2625090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2061210" y="3222308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1619250" y="3819525"/>
              <a:ext cx="304800" cy="3048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2508885" y="3819525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2127885" y="4416742"/>
              <a:ext cx="304800" cy="3048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889885" y="4416742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2632710" y="5013960"/>
              <a:ext cx="304800" cy="3048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3142298" y="5013960"/>
              <a:ext cx="304800" cy="3048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3651885" y="3222308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091261" y="21155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15913" y="27127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62798" y="27127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167461" y="330993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725501" y="39062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734812" y="4159091"/>
              <a:ext cx="7367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615136" y="39062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234136" y="45034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243447" y="4756309"/>
              <a:ext cx="7367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96136" y="450342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698146" y="51006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748272" y="5353526"/>
              <a:ext cx="7367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207733" y="51006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257860" y="5353526"/>
              <a:ext cx="7367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758136" y="330993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633538" y="240030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665093" y="24303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2506980" y="240030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538536" y="24303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545080" y="29975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576636" y="302752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1925955" y="35947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957511" y="36237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370772" y="359473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402328" y="36237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2404110" y="419195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2435666" y="42210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2785110" y="419195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816666" y="42210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847022" y="478917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2878578" y="481822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102292" y="478917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133848" y="481822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3339465" y="299751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3371973" y="302752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89311" y="23660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89311" y="296322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89311" y="356044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89311" y="415671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9311" y="475392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257871" y="2058829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1 层：1 个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4257871" y="2656046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2 层：2 个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4257871" y="3253264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3 层：2 个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4257871" y="3850481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4 层：1 个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4257871" y="4447699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5 层：1 个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4257871" y="5044916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6 层：0 个</a:t>
              </a:r>
            </a:p>
          </p:txBody>
        </p:sp>
      </p:grpSp>
      <p:grpSp>
        <p:nvGrpSpPr>
          <p:cNvPr id="120" name="c2-table-1"/>
          <p:cNvGrpSpPr/>
          <p:nvPr/>
        </p:nvGrpSpPr>
        <p:grpSpPr>
          <a:xfrm>
            <a:off x="5593080" y="1967865"/>
            <a:ext cx="6065520" cy="2988469"/>
            <a:chOff x="5593080" y="1967865"/>
            <a:chExt cx="6065520" cy="2988469"/>
          </a:xfrm>
        </p:grpSpPr>
        <p:sp>
          <p:nvSpPr>
            <p:cNvPr id="77" name="Rectangle 77"/>
            <p:cNvSpPr/>
            <p:nvPr/>
          </p:nvSpPr>
          <p:spPr>
            <a:xfrm>
              <a:off x="5598795" y="1967865"/>
              <a:ext cx="605980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5779529" y="210264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618590" y="2102644"/>
              <a:ext cx="991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左儿子 x = 1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557880" y="2102644"/>
              <a:ext cx="991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右儿子 x = 0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151593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通过数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05594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选中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5815930" y="255127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252401" y="2551271"/>
              <a:ext cx="13882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2：s=5，r=68，T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191691" y="2551271"/>
              <a:ext cx="13882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3：s=0，r=68，T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036267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180874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5598795" y="28603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5598795" y="2865120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5815930" y="300085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252401" y="3000851"/>
              <a:ext cx="14829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4：s=10，r=58，T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8191691" y="3000851"/>
              <a:ext cx="13882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5：s=0，r=58，T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36267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180874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5598795" y="33089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5815930" y="344947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6252401" y="3449479"/>
              <a:ext cx="14879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6：s=22，r=46，</a:t>
              </a:r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191691" y="3449479"/>
              <a:ext cx="14829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7：s=10，r=46，T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36267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180874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5598795" y="37576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5598795" y="376237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5815930" y="38981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6252401" y="3898106"/>
              <a:ext cx="14879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8：s=23，r=33，</a:t>
              </a:r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8191691" y="3898106"/>
              <a:ext cx="14829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9：s=10，r=33，T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036267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1180874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5598795" y="42071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5815930" y="434673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6252401" y="4346734"/>
              <a:ext cx="15827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10：s=25，r=18，</a:t>
              </a:r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8191691" y="4346734"/>
              <a:ext cx="15827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11：s=10，r=18，</a:t>
              </a:r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10362677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1180874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5598795" y="1967865"/>
              <a:ext cx="6059805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613981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807910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7" name="Rectangle 117"/>
            <p:cNvSpPr/>
            <p:nvPr/>
          </p:nvSpPr>
          <p:spPr>
            <a:xfrm>
              <a:off x="1001744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1080516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5593080" y="4736306"/>
              <a:ext cx="3299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 值为 T 的条件：s + r ≥ 30 且 s + W(k+1) ≤ 30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formula33"/>
              <p:cNvSpPr txBox="1">
                <a:spLocks noGrp="1"/>
              </p:cNvSpPr>
              <p:nvPr/>
            </p:nvSpPr>
            <p:spPr>
              <a:xfrm>
                <a:off x="5598795" y="5102542"/>
                <a:ext cx="605980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15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2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122" name="Rectangle 12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26" name="Group 126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4" name="Freeform 124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5" name="Freeform 125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27" name="TextBox 127"/>
            <p:cNvSpPr txBox="1"/>
            <p:nvPr/>
          </p:nvSpPr>
          <p:spPr>
            <a:xfrm>
              <a:off x="1040130" y="5991225"/>
              <a:ext cx="99311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对照：实际运行 SUMOFSUB 共调用 20 次（含根），即有 20 个结点通过限界函数并被扩展，这一次估计偏小。</a:t>
              </a:r>
            </a:p>
          </p:txBody>
        </p:sp>
      </p:grpSp>
      <p:grpSp>
        <p:nvGrpSpPr>
          <p:cNvPr id="1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9" name="TextBox 12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30202" cy="909257"/>
            <a:chOff x="520446" y="342900"/>
            <a:chExt cx="77302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302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实例运行：SUMOFSUB 生成的动态树共 41 个结点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055423" cy="308039"/>
            <a:chOff x="525399" y="1550194"/>
            <a:chExt cx="1005542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05542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左分支 xₖ = 1，右分支 xₖ = 0，按生成顺序编号。白色：活结点；绿色：答案结点；灰色：被杀死的结点。</a:t>
              </a:r>
            </a:p>
          </p:txBody>
        </p:sp>
      </p:grpSp>
      <p:grpSp>
        <p:nvGrpSpPr>
          <p:cNvPr id="217" name="c1-graph-1"/>
          <p:cNvGrpSpPr/>
          <p:nvPr/>
        </p:nvGrpSpPr>
        <p:grpSpPr>
          <a:xfrm>
            <a:off x="613123" y="1996440"/>
            <a:ext cx="10832117" cy="3382328"/>
            <a:chOff x="613123" y="1996440"/>
            <a:chExt cx="10832117" cy="3382328"/>
          </a:xfrm>
        </p:grpSpPr>
        <p:sp>
          <p:nvSpPr>
            <p:cNvPr id="9" name="Freeform 9"/>
            <p:cNvSpPr/>
            <p:nvPr/>
          </p:nvSpPr>
          <p:spPr>
            <a:xfrm>
              <a:off x="3108008" y="2170748"/>
              <a:ext cx="2138362" cy="453390"/>
            </a:xfrm>
            <a:custGeom>
              <a:avLst/>
              <a:gdLst/>
              <a:ahLst/>
              <a:cxnLst/>
              <a:rect l="l" t="t" r="r" b="b"/>
              <a:pathLst>
                <a:path w="2138362" h="453390">
                  <a:moveTo>
                    <a:pt x="2138362" y="0"/>
                  </a:moveTo>
                  <a:lnTo>
                    <a:pt x="0" y="4533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919288" y="2716530"/>
              <a:ext cx="900112" cy="394335"/>
            </a:xfrm>
            <a:custGeom>
              <a:avLst/>
              <a:gdLst/>
              <a:ahLst/>
              <a:cxnLst/>
              <a:rect l="l" t="t" r="r" b="b"/>
              <a:pathLst>
                <a:path w="900112" h="394335">
                  <a:moveTo>
                    <a:pt x="900112" y="0"/>
                  </a:moveTo>
                  <a:lnTo>
                    <a:pt x="0" y="3943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433512" y="3287078"/>
              <a:ext cx="246698" cy="285750"/>
            </a:xfrm>
            <a:custGeom>
              <a:avLst/>
              <a:gdLst/>
              <a:ahLst/>
              <a:cxnLst/>
              <a:rect l="l" t="t" r="r" b="b"/>
              <a:pathLst>
                <a:path w="246698" h="285750">
                  <a:moveTo>
                    <a:pt x="246698" y="0"/>
                  </a:moveTo>
                  <a:lnTo>
                    <a:pt x="0" y="2857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77378" y="3288030"/>
              <a:ext cx="238125" cy="282892"/>
            </a:xfrm>
            <a:custGeom>
              <a:avLst/>
              <a:gdLst/>
              <a:ahLst/>
              <a:cxnLst/>
              <a:rect l="l" t="t" r="r" b="b"/>
              <a:pathLst>
                <a:path w="238125" h="282892">
                  <a:moveTo>
                    <a:pt x="0" y="0"/>
                  </a:moveTo>
                  <a:lnTo>
                    <a:pt x="238125" y="28289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925002" y="3810952"/>
              <a:ext cx="198120" cy="270510"/>
            </a:xfrm>
            <a:custGeom>
              <a:avLst/>
              <a:gdLst/>
              <a:ahLst/>
              <a:cxnLst/>
              <a:rect l="l" t="t" r="r" b="b"/>
              <a:pathLst>
                <a:path w="198120" h="270510">
                  <a:moveTo>
                    <a:pt x="198120" y="0"/>
                  </a:moveTo>
                  <a:lnTo>
                    <a:pt x="0" y="2705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301240" y="3811905"/>
              <a:ext cx="190500" cy="267653"/>
            </a:xfrm>
            <a:custGeom>
              <a:avLst/>
              <a:gdLst/>
              <a:ahLst/>
              <a:cxnLst/>
              <a:rect l="l" t="t" r="r" b="b"/>
              <a:pathLst>
                <a:path w="190500" h="267653">
                  <a:moveTo>
                    <a:pt x="0" y="0"/>
                  </a:moveTo>
                  <a:lnTo>
                    <a:pt x="190500" y="26765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401252" y="4341495"/>
              <a:ext cx="114300" cy="240983"/>
            </a:xfrm>
            <a:custGeom>
              <a:avLst/>
              <a:gdLst/>
              <a:ahLst/>
              <a:cxnLst/>
              <a:rect l="l" t="t" r="r" b="b"/>
              <a:pathLst>
                <a:path w="114300" h="240983">
                  <a:moveTo>
                    <a:pt x="114300" y="0"/>
                  </a:moveTo>
                  <a:lnTo>
                    <a:pt x="0" y="24098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47950" y="4340542"/>
              <a:ext cx="120967" cy="242888"/>
            </a:xfrm>
            <a:custGeom>
              <a:avLst/>
              <a:gdLst/>
              <a:ahLst/>
              <a:cxnLst/>
              <a:rect l="l" t="t" r="r" b="b"/>
              <a:pathLst>
                <a:path w="120967" h="242888">
                  <a:moveTo>
                    <a:pt x="0" y="0"/>
                  </a:moveTo>
                  <a:lnTo>
                    <a:pt x="120967" y="2428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098482" y="2716530"/>
              <a:ext cx="900112" cy="394335"/>
            </a:xfrm>
            <a:custGeom>
              <a:avLst/>
              <a:gdLst/>
              <a:ahLst/>
              <a:cxnLst/>
              <a:rect l="l" t="t" r="r" b="b"/>
              <a:pathLst>
                <a:path w="900112" h="394335">
                  <a:moveTo>
                    <a:pt x="0" y="0"/>
                  </a:moveTo>
                  <a:lnTo>
                    <a:pt x="900112" y="3943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693795" y="3275648"/>
              <a:ext cx="332422" cy="308610"/>
            </a:xfrm>
            <a:custGeom>
              <a:avLst/>
              <a:gdLst/>
              <a:ahLst/>
              <a:cxnLst/>
              <a:rect l="l" t="t" r="r" b="b"/>
              <a:pathLst>
                <a:path w="332422" h="308610">
                  <a:moveTo>
                    <a:pt x="332422" y="0"/>
                  </a:moveTo>
                  <a:lnTo>
                    <a:pt x="0" y="3086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393758" y="3824288"/>
              <a:ext cx="120015" cy="242888"/>
            </a:xfrm>
            <a:custGeom>
              <a:avLst/>
              <a:gdLst/>
              <a:ahLst/>
              <a:cxnLst/>
              <a:rect l="l" t="t" r="r" b="b"/>
              <a:pathLst>
                <a:path w="120015" h="242888">
                  <a:moveTo>
                    <a:pt x="120015" y="0"/>
                  </a:moveTo>
                  <a:lnTo>
                    <a:pt x="0" y="2428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647122" y="3825240"/>
              <a:ext cx="114300" cy="240982"/>
            </a:xfrm>
            <a:custGeom>
              <a:avLst/>
              <a:gdLst/>
              <a:ahLst/>
              <a:cxnLst/>
              <a:rect l="l" t="t" r="r" b="b"/>
              <a:pathLst>
                <a:path w="114300" h="240982">
                  <a:moveTo>
                    <a:pt x="0" y="0"/>
                  </a:moveTo>
                  <a:lnTo>
                    <a:pt x="114300" y="24098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251008" y="3274695"/>
              <a:ext cx="341947" cy="310515"/>
            </a:xfrm>
            <a:custGeom>
              <a:avLst/>
              <a:gdLst/>
              <a:ahLst/>
              <a:cxnLst/>
              <a:rect l="l" t="t" r="r" b="b"/>
              <a:pathLst>
                <a:path w="341947" h="310515">
                  <a:moveTo>
                    <a:pt x="0" y="0"/>
                  </a:moveTo>
                  <a:lnTo>
                    <a:pt x="341947" y="3105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416742" y="3810952"/>
              <a:ext cx="198120" cy="270510"/>
            </a:xfrm>
            <a:custGeom>
              <a:avLst/>
              <a:gdLst/>
              <a:ahLst/>
              <a:cxnLst/>
              <a:rect l="l" t="t" r="r" b="b"/>
              <a:pathLst>
                <a:path w="198120" h="270510">
                  <a:moveTo>
                    <a:pt x="198120" y="0"/>
                  </a:moveTo>
                  <a:lnTo>
                    <a:pt x="0" y="2705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793932" y="3811905"/>
              <a:ext cx="190500" cy="267653"/>
            </a:xfrm>
            <a:custGeom>
              <a:avLst/>
              <a:gdLst/>
              <a:ahLst/>
              <a:cxnLst/>
              <a:rect l="l" t="t" r="r" b="b"/>
              <a:pathLst>
                <a:path w="190500" h="267653">
                  <a:moveTo>
                    <a:pt x="0" y="0"/>
                  </a:moveTo>
                  <a:lnTo>
                    <a:pt x="190500" y="26765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892992" y="4341495"/>
              <a:ext cx="114300" cy="240983"/>
            </a:xfrm>
            <a:custGeom>
              <a:avLst/>
              <a:gdLst/>
              <a:ahLst/>
              <a:cxnLst/>
              <a:rect l="l" t="t" r="r" b="b"/>
              <a:pathLst>
                <a:path w="114300" h="240983">
                  <a:moveTo>
                    <a:pt x="114300" y="0"/>
                  </a:moveTo>
                  <a:lnTo>
                    <a:pt x="0" y="24098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5137785" y="4341495"/>
              <a:ext cx="114300" cy="240983"/>
            </a:xfrm>
            <a:custGeom>
              <a:avLst/>
              <a:gdLst/>
              <a:ahLst/>
              <a:cxnLst/>
              <a:rect l="l" t="t" r="r" b="b"/>
              <a:pathLst>
                <a:path w="114300" h="240983">
                  <a:moveTo>
                    <a:pt x="0" y="0"/>
                  </a:moveTo>
                  <a:lnTo>
                    <a:pt x="114300" y="24098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544502" y="2170748"/>
              <a:ext cx="2138362" cy="453390"/>
            </a:xfrm>
            <a:custGeom>
              <a:avLst/>
              <a:gdLst/>
              <a:ahLst/>
              <a:cxnLst/>
              <a:rect l="l" t="t" r="r" b="b"/>
              <a:pathLst>
                <a:path w="2138362" h="453390">
                  <a:moveTo>
                    <a:pt x="0" y="0"/>
                  </a:moveTo>
                  <a:lnTo>
                    <a:pt x="2138362" y="4533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6396990" y="2703195"/>
              <a:ext cx="1289685" cy="421005"/>
            </a:xfrm>
            <a:custGeom>
              <a:avLst/>
              <a:gdLst/>
              <a:ahLst/>
              <a:cxnLst/>
              <a:rect l="l" t="t" r="r" b="b"/>
              <a:pathLst>
                <a:path w="1289685" h="421005">
                  <a:moveTo>
                    <a:pt x="1289685" y="0"/>
                  </a:moveTo>
                  <a:lnTo>
                    <a:pt x="0" y="4210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5915978" y="3288030"/>
              <a:ext cx="238125" cy="282892"/>
            </a:xfrm>
            <a:custGeom>
              <a:avLst/>
              <a:gdLst/>
              <a:ahLst/>
              <a:cxnLst/>
              <a:rect l="l" t="t" r="r" b="b"/>
              <a:pathLst>
                <a:path w="238125" h="282892">
                  <a:moveTo>
                    <a:pt x="238125" y="0"/>
                  </a:moveTo>
                  <a:lnTo>
                    <a:pt x="0" y="28289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6351270" y="3287078"/>
              <a:ext cx="245745" cy="285750"/>
            </a:xfrm>
            <a:custGeom>
              <a:avLst/>
              <a:gdLst/>
              <a:ahLst/>
              <a:cxnLst/>
              <a:rect l="l" t="t" r="r" b="b"/>
              <a:pathLst>
                <a:path w="245745" h="285750">
                  <a:moveTo>
                    <a:pt x="0" y="0"/>
                  </a:moveTo>
                  <a:lnTo>
                    <a:pt x="245745" y="2857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408420" y="3810952"/>
              <a:ext cx="198120" cy="270510"/>
            </a:xfrm>
            <a:custGeom>
              <a:avLst/>
              <a:gdLst/>
              <a:ahLst/>
              <a:cxnLst/>
              <a:rect l="l" t="t" r="r" b="b"/>
              <a:pathLst>
                <a:path w="198120" h="270510">
                  <a:moveTo>
                    <a:pt x="198120" y="0"/>
                  </a:moveTo>
                  <a:lnTo>
                    <a:pt x="0" y="2705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784658" y="3811905"/>
              <a:ext cx="190500" cy="267653"/>
            </a:xfrm>
            <a:custGeom>
              <a:avLst/>
              <a:gdLst/>
              <a:ahLst/>
              <a:cxnLst/>
              <a:rect l="l" t="t" r="r" b="b"/>
              <a:pathLst>
                <a:path w="190500" h="267653">
                  <a:moveTo>
                    <a:pt x="0" y="0"/>
                  </a:moveTo>
                  <a:lnTo>
                    <a:pt x="190500" y="26765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884670" y="4341495"/>
              <a:ext cx="114300" cy="240983"/>
            </a:xfrm>
            <a:custGeom>
              <a:avLst/>
              <a:gdLst/>
              <a:ahLst/>
              <a:cxnLst/>
              <a:rect l="l" t="t" r="r" b="b"/>
              <a:pathLst>
                <a:path w="114300" h="240983">
                  <a:moveTo>
                    <a:pt x="114300" y="0"/>
                  </a:moveTo>
                  <a:lnTo>
                    <a:pt x="0" y="24098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131368" y="4340542"/>
              <a:ext cx="120967" cy="242888"/>
            </a:xfrm>
            <a:custGeom>
              <a:avLst/>
              <a:gdLst/>
              <a:ahLst/>
              <a:cxnLst/>
              <a:rect l="l" t="t" r="r" b="b"/>
              <a:pathLst>
                <a:path w="120967" h="242888">
                  <a:moveTo>
                    <a:pt x="0" y="0"/>
                  </a:moveTo>
                  <a:lnTo>
                    <a:pt x="120967" y="2428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976235" y="2703195"/>
              <a:ext cx="1279208" cy="421005"/>
            </a:xfrm>
            <a:custGeom>
              <a:avLst/>
              <a:gdLst/>
              <a:ahLst/>
              <a:cxnLst/>
              <a:rect l="l" t="t" r="r" b="b"/>
              <a:pathLst>
                <a:path w="1279208" h="421005">
                  <a:moveTo>
                    <a:pt x="0" y="0"/>
                  </a:moveTo>
                  <a:lnTo>
                    <a:pt x="1279208" y="4210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382000" y="3233738"/>
              <a:ext cx="879157" cy="392430"/>
            </a:xfrm>
            <a:custGeom>
              <a:avLst/>
              <a:gdLst/>
              <a:ahLst/>
              <a:cxnLst/>
              <a:rect l="l" t="t" r="r" b="b"/>
              <a:pathLst>
                <a:path w="879157" h="392430">
                  <a:moveTo>
                    <a:pt x="879157" y="0"/>
                  </a:moveTo>
                  <a:lnTo>
                    <a:pt x="0" y="3924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907655" y="3804285"/>
              <a:ext cx="237172" cy="282893"/>
            </a:xfrm>
            <a:custGeom>
              <a:avLst/>
              <a:gdLst/>
              <a:ahLst/>
              <a:cxnLst/>
              <a:rect l="l" t="t" r="r" b="b"/>
              <a:pathLst>
                <a:path w="237172" h="282893">
                  <a:moveTo>
                    <a:pt x="237172" y="0"/>
                  </a:moveTo>
                  <a:lnTo>
                    <a:pt x="0" y="28289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8342948" y="3803332"/>
              <a:ext cx="245745" cy="284797"/>
            </a:xfrm>
            <a:custGeom>
              <a:avLst/>
              <a:gdLst/>
              <a:ahLst/>
              <a:cxnLst/>
              <a:rect l="l" t="t" r="r" b="b"/>
              <a:pathLst>
                <a:path w="245745" h="284797">
                  <a:moveTo>
                    <a:pt x="0" y="0"/>
                  </a:moveTo>
                  <a:lnTo>
                    <a:pt x="245745" y="2847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8400098" y="4327208"/>
              <a:ext cx="198120" cy="269558"/>
            </a:xfrm>
            <a:custGeom>
              <a:avLst/>
              <a:gdLst/>
              <a:ahLst/>
              <a:cxnLst/>
              <a:rect l="l" t="t" r="r" b="b"/>
              <a:pathLst>
                <a:path w="198120" h="269558">
                  <a:moveTo>
                    <a:pt x="198120" y="0"/>
                  </a:moveTo>
                  <a:lnTo>
                    <a:pt x="0" y="2695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8776335" y="4328160"/>
              <a:ext cx="190500" cy="267653"/>
            </a:xfrm>
            <a:custGeom>
              <a:avLst/>
              <a:gdLst/>
              <a:ahLst/>
              <a:cxnLst/>
              <a:rect l="l" t="t" r="r" b="b"/>
              <a:pathLst>
                <a:path w="190500" h="267653">
                  <a:moveTo>
                    <a:pt x="0" y="0"/>
                  </a:moveTo>
                  <a:lnTo>
                    <a:pt x="190500" y="26765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875395" y="4857750"/>
              <a:ext cx="114300" cy="240982"/>
            </a:xfrm>
            <a:custGeom>
              <a:avLst/>
              <a:gdLst/>
              <a:ahLst/>
              <a:cxnLst/>
              <a:rect l="l" t="t" r="r" b="b"/>
              <a:pathLst>
                <a:path w="114300" h="240982">
                  <a:moveTo>
                    <a:pt x="114300" y="0"/>
                  </a:moveTo>
                  <a:lnTo>
                    <a:pt x="0" y="24098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123045" y="4856798"/>
              <a:ext cx="120015" cy="242888"/>
            </a:xfrm>
            <a:custGeom>
              <a:avLst/>
              <a:gdLst/>
              <a:ahLst/>
              <a:cxnLst/>
              <a:rect l="l" t="t" r="r" b="b"/>
              <a:pathLst>
                <a:path w="120015" h="242888">
                  <a:moveTo>
                    <a:pt x="0" y="0"/>
                  </a:moveTo>
                  <a:lnTo>
                    <a:pt x="120015" y="2428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539288" y="3234690"/>
              <a:ext cx="867727" cy="390525"/>
            </a:xfrm>
            <a:custGeom>
              <a:avLst/>
              <a:gdLst/>
              <a:ahLst/>
              <a:cxnLst/>
              <a:rect l="l" t="t" r="r" b="b"/>
              <a:pathLst>
                <a:path w="867727" h="390525">
                  <a:moveTo>
                    <a:pt x="0" y="0"/>
                  </a:moveTo>
                  <a:lnTo>
                    <a:pt x="867727" y="3905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161270" y="3798570"/>
              <a:ext cx="280035" cy="295275"/>
            </a:xfrm>
            <a:custGeom>
              <a:avLst/>
              <a:gdLst/>
              <a:ahLst/>
              <a:cxnLst/>
              <a:rect l="l" t="t" r="r" b="b"/>
              <a:pathLst>
                <a:path w="280035" h="295275">
                  <a:moveTo>
                    <a:pt x="280035" y="0"/>
                  </a:moveTo>
                  <a:lnTo>
                    <a:pt x="0" y="2952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9868852" y="4340542"/>
              <a:ext cx="120015" cy="242888"/>
            </a:xfrm>
            <a:custGeom>
              <a:avLst/>
              <a:gdLst/>
              <a:ahLst/>
              <a:cxnLst/>
              <a:rect l="l" t="t" r="r" b="b"/>
              <a:pathLst>
                <a:path w="120015" h="242888">
                  <a:moveTo>
                    <a:pt x="120015" y="0"/>
                  </a:moveTo>
                  <a:lnTo>
                    <a:pt x="0" y="2428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122218" y="4341495"/>
              <a:ext cx="113347" cy="240983"/>
            </a:xfrm>
            <a:custGeom>
              <a:avLst/>
              <a:gdLst/>
              <a:ahLst/>
              <a:cxnLst/>
              <a:rect l="l" t="t" r="r" b="b"/>
              <a:pathLst>
                <a:path w="113347" h="240983">
                  <a:moveTo>
                    <a:pt x="0" y="0"/>
                  </a:moveTo>
                  <a:lnTo>
                    <a:pt x="113347" y="24098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651808" y="3797618"/>
              <a:ext cx="288607" cy="297180"/>
            </a:xfrm>
            <a:custGeom>
              <a:avLst/>
              <a:gdLst/>
              <a:ahLst/>
              <a:cxnLst/>
              <a:rect l="l" t="t" r="r" b="b"/>
              <a:pathLst>
                <a:path w="288607" h="297180">
                  <a:moveTo>
                    <a:pt x="0" y="0"/>
                  </a:moveTo>
                  <a:lnTo>
                    <a:pt x="288607" y="2971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867072" y="4341495"/>
              <a:ext cx="114300" cy="240983"/>
            </a:xfrm>
            <a:custGeom>
              <a:avLst/>
              <a:gdLst/>
              <a:ahLst/>
              <a:cxnLst/>
              <a:rect l="l" t="t" r="r" b="b"/>
              <a:pathLst>
                <a:path w="114300" h="240983">
                  <a:moveTo>
                    <a:pt x="114300" y="0"/>
                  </a:moveTo>
                  <a:lnTo>
                    <a:pt x="0" y="24098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1114722" y="4340542"/>
              <a:ext cx="120015" cy="242888"/>
            </a:xfrm>
            <a:custGeom>
              <a:avLst/>
              <a:gdLst/>
              <a:ahLst/>
              <a:cxnLst/>
              <a:rect l="l" t="t" r="r" b="b"/>
              <a:pathLst>
                <a:path w="120015" h="242888">
                  <a:moveTo>
                    <a:pt x="0" y="0"/>
                  </a:moveTo>
                  <a:lnTo>
                    <a:pt x="120015" y="2428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5252085" y="1996440"/>
              <a:ext cx="285750" cy="28575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2815590" y="251269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1636395" y="302895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1191578" y="354520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2070735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1692592" y="4061460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2437448" y="406146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2192655" y="4577715"/>
              <a:ext cx="285750" cy="2857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2693670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3994785" y="302895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9" name="Ellipse 59"/>
            <p:cNvSpPr/>
            <p:nvPr/>
          </p:nvSpPr>
          <p:spPr>
            <a:xfrm>
              <a:off x="3438525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3183255" y="4061460"/>
              <a:ext cx="285750" cy="2857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61" name="Ellipse 61"/>
            <p:cNvSpPr/>
            <p:nvPr/>
          </p:nvSpPr>
          <p:spPr>
            <a:xfrm>
              <a:off x="3683318" y="4061460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2" name="Ellipse 62"/>
            <p:cNvSpPr/>
            <p:nvPr/>
          </p:nvSpPr>
          <p:spPr>
            <a:xfrm>
              <a:off x="4562475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4184332" y="4061460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4" name="Ellipse 64"/>
            <p:cNvSpPr/>
            <p:nvPr/>
          </p:nvSpPr>
          <p:spPr>
            <a:xfrm>
              <a:off x="4929188" y="406146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5" name="Ellipse 65"/>
            <p:cNvSpPr/>
            <p:nvPr/>
          </p:nvSpPr>
          <p:spPr>
            <a:xfrm>
              <a:off x="4684395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6" name="Ellipse 66"/>
            <p:cNvSpPr/>
            <p:nvPr/>
          </p:nvSpPr>
          <p:spPr>
            <a:xfrm>
              <a:off x="5173980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7" name="Ellipse 67"/>
            <p:cNvSpPr/>
            <p:nvPr/>
          </p:nvSpPr>
          <p:spPr>
            <a:xfrm>
              <a:off x="7688580" y="251269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8" name="Ellipse 68"/>
            <p:cNvSpPr/>
            <p:nvPr/>
          </p:nvSpPr>
          <p:spPr>
            <a:xfrm>
              <a:off x="6109335" y="302895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9" name="Ellipse 69"/>
            <p:cNvSpPr/>
            <p:nvPr/>
          </p:nvSpPr>
          <p:spPr>
            <a:xfrm>
              <a:off x="5674995" y="354520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70" name="Ellipse 70"/>
            <p:cNvSpPr/>
            <p:nvPr/>
          </p:nvSpPr>
          <p:spPr>
            <a:xfrm>
              <a:off x="6554152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1" name="Ellipse 71"/>
            <p:cNvSpPr/>
            <p:nvPr/>
          </p:nvSpPr>
          <p:spPr>
            <a:xfrm>
              <a:off x="6176010" y="4061460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72" name="Ellipse 72"/>
            <p:cNvSpPr/>
            <p:nvPr/>
          </p:nvSpPr>
          <p:spPr>
            <a:xfrm>
              <a:off x="6920865" y="406146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3" name="Ellipse 73"/>
            <p:cNvSpPr/>
            <p:nvPr/>
          </p:nvSpPr>
          <p:spPr>
            <a:xfrm>
              <a:off x="6676072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74" name="Ellipse 74"/>
            <p:cNvSpPr/>
            <p:nvPr/>
          </p:nvSpPr>
          <p:spPr>
            <a:xfrm>
              <a:off x="7177088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75" name="Ellipse 75"/>
            <p:cNvSpPr/>
            <p:nvPr/>
          </p:nvSpPr>
          <p:spPr>
            <a:xfrm>
              <a:off x="9257348" y="302895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6" name="Ellipse 76"/>
            <p:cNvSpPr/>
            <p:nvPr/>
          </p:nvSpPr>
          <p:spPr>
            <a:xfrm>
              <a:off x="8100060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7" name="Ellipse 77"/>
            <p:cNvSpPr/>
            <p:nvPr/>
          </p:nvSpPr>
          <p:spPr>
            <a:xfrm>
              <a:off x="7666672" y="4061460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78" name="Ellipse 78"/>
            <p:cNvSpPr/>
            <p:nvPr/>
          </p:nvSpPr>
          <p:spPr>
            <a:xfrm>
              <a:off x="8544878" y="406146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9" name="Ellipse 79"/>
            <p:cNvSpPr/>
            <p:nvPr/>
          </p:nvSpPr>
          <p:spPr>
            <a:xfrm>
              <a:off x="8166735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80" name="Ellipse 80"/>
            <p:cNvSpPr/>
            <p:nvPr/>
          </p:nvSpPr>
          <p:spPr>
            <a:xfrm>
              <a:off x="8912542" y="457771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1" name="Ellipse 81"/>
            <p:cNvSpPr/>
            <p:nvPr/>
          </p:nvSpPr>
          <p:spPr>
            <a:xfrm>
              <a:off x="8667750" y="5093018"/>
              <a:ext cx="285750" cy="28575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82" name="Ellipse 82"/>
            <p:cNvSpPr/>
            <p:nvPr/>
          </p:nvSpPr>
          <p:spPr>
            <a:xfrm>
              <a:off x="9168765" y="5093018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83" name="Ellipse 83"/>
            <p:cNvSpPr/>
            <p:nvPr/>
          </p:nvSpPr>
          <p:spPr>
            <a:xfrm>
              <a:off x="10403205" y="3545205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4" name="Ellipse 84"/>
            <p:cNvSpPr/>
            <p:nvPr/>
          </p:nvSpPr>
          <p:spPr>
            <a:xfrm>
              <a:off x="9913620" y="406146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5" name="Ellipse 85"/>
            <p:cNvSpPr/>
            <p:nvPr/>
          </p:nvSpPr>
          <p:spPr>
            <a:xfrm>
              <a:off x="9657398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86" name="Ellipse 86"/>
            <p:cNvSpPr/>
            <p:nvPr/>
          </p:nvSpPr>
          <p:spPr>
            <a:xfrm>
              <a:off x="10158412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87" name="Ellipse 87"/>
            <p:cNvSpPr/>
            <p:nvPr/>
          </p:nvSpPr>
          <p:spPr>
            <a:xfrm>
              <a:off x="10904220" y="4061460"/>
              <a:ext cx="285750" cy="2857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8" name="Ellipse 88"/>
            <p:cNvSpPr/>
            <p:nvPr/>
          </p:nvSpPr>
          <p:spPr>
            <a:xfrm>
              <a:off x="10659428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89" name="Ellipse 89"/>
            <p:cNvSpPr/>
            <p:nvPr/>
          </p:nvSpPr>
          <p:spPr>
            <a:xfrm>
              <a:off x="11159490" y="4577715"/>
              <a:ext cx="285750" cy="28575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5348811" y="207454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2912316" y="258984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733121" y="3106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288303" y="36223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2167461" y="362235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789318" y="41386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2534173" y="41386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2289381" y="46548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2790396" y="46548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4050696" y="31061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3494436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3239166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3739228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4618386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4240243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4985098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4740306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5229891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7744491" y="258984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6165246" y="31061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5730906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6610063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6231921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6976776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6731983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7232998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9313258" y="31061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8155971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7722583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8600788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8222646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8968453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8723661" y="51711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9224676" y="517112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  <p:sp>
          <p:nvSpPr>
            <p:cNvPr id="124" name="TextBox 124"/>
            <p:cNvSpPr txBox="1"/>
            <p:nvPr/>
          </p:nvSpPr>
          <p:spPr>
            <a:xfrm>
              <a:off x="10459116" y="36223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9969531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9713308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10214323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10960131" y="413861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10715338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11215401" y="46548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  <p:sp>
          <p:nvSpPr>
            <p:cNvPr id="131" name="Rectangle 131"/>
            <p:cNvSpPr/>
            <p:nvPr/>
          </p:nvSpPr>
          <p:spPr>
            <a:xfrm>
              <a:off x="4110038" y="231933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4141593" y="23483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3" name="Rectangle 133"/>
            <p:cNvSpPr/>
            <p:nvPr/>
          </p:nvSpPr>
          <p:spPr>
            <a:xfrm>
              <a:off x="2302192" y="283559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4" name="TextBox 134"/>
            <p:cNvSpPr txBox="1"/>
            <p:nvPr/>
          </p:nvSpPr>
          <p:spPr>
            <a:xfrm>
              <a:off x="2333748" y="28646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5" name="Rectangle 135"/>
            <p:cNvSpPr/>
            <p:nvPr/>
          </p:nvSpPr>
          <p:spPr>
            <a:xfrm>
              <a:off x="1489710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6" name="TextBox 136"/>
            <p:cNvSpPr txBox="1"/>
            <p:nvPr/>
          </p:nvSpPr>
          <p:spPr>
            <a:xfrm>
              <a:off x="1522218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7" name="Rectangle 137"/>
            <p:cNvSpPr/>
            <p:nvPr/>
          </p:nvSpPr>
          <p:spPr>
            <a:xfrm>
              <a:off x="1929765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8" name="TextBox 138"/>
            <p:cNvSpPr txBox="1"/>
            <p:nvPr/>
          </p:nvSpPr>
          <p:spPr>
            <a:xfrm>
              <a:off x="1961321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1957388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0" name="TextBox 140"/>
            <p:cNvSpPr txBox="1"/>
            <p:nvPr/>
          </p:nvSpPr>
          <p:spPr>
            <a:xfrm>
              <a:off x="1988943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1" name="Rectangle 141"/>
            <p:cNvSpPr/>
            <p:nvPr/>
          </p:nvSpPr>
          <p:spPr>
            <a:xfrm>
              <a:off x="2329815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2" name="TextBox 142"/>
            <p:cNvSpPr txBox="1"/>
            <p:nvPr/>
          </p:nvSpPr>
          <p:spPr>
            <a:xfrm>
              <a:off x="2361371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3" name="Rectangle 143"/>
            <p:cNvSpPr/>
            <p:nvPr/>
          </p:nvSpPr>
          <p:spPr>
            <a:xfrm>
              <a:off x="2391728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2423283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5" name="Rectangle 145"/>
            <p:cNvSpPr/>
            <p:nvPr/>
          </p:nvSpPr>
          <p:spPr>
            <a:xfrm>
              <a:off x="2641282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6" name="TextBox 146"/>
            <p:cNvSpPr txBox="1"/>
            <p:nvPr/>
          </p:nvSpPr>
          <p:spPr>
            <a:xfrm>
              <a:off x="2672838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7" name="Rectangle 147"/>
            <p:cNvSpPr/>
            <p:nvPr/>
          </p:nvSpPr>
          <p:spPr>
            <a:xfrm>
              <a:off x="3481388" y="283559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8" name="TextBox 148"/>
            <p:cNvSpPr txBox="1"/>
            <p:nvPr/>
          </p:nvSpPr>
          <p:spPr>
            <a:xfrm>
              <a:off x="3512943" y="28646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9" name="Rectangle 149"/>
            <p:cNvSpPr/>
            <p:nvPr/>
          </p:nvSpPr>
          <p:spPr>
            <a:xfrm>
              <a:off x="3792855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0" name="TextBox 150"/>
            <p:cNvSpPr txBox="1"/>
            <p:nvPr/>
          </p:nvSpPr>
          <p:spPr>
            <a:xfrm>
              <a:off x="3824411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1" name="Rectangle 151"/>
            <p:cNvSpPr/>
            <p:nvPr/>
          </p:nvSpPr>
          <p:spPr>
            <a:xfrm>
              <a:off x="3387090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3418646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3" name="Rectangle 153"/>
            <p:cNvSpPr/>
            <p:nvPr/>
          </p:nvSpPr>
          <p:spPr>
            <a:xfrm>
              <a:off x="3637598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4" name="TextBox 154"/>
            <p:cNvSpPr txBox="1"/>
            <p:nvPr/>
          </p:nvSpPr>
          <p:spPr>
            <a:xfrm>
              <a:off x="3669153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5" name="Rectangle 155"/>
            <p:cNvSpPr/>
            <p:nvPr/>
          </p:nvSpPr>
          <p:spPr>
            <a:xfrm>
              <a:off x="4354830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6" name="TextBox 156"/>
            <p:cNvSpPr txBox="1"/>
            <p:nvPr/>
          </p:nvSpPr>
          <p:spPr>
            <a:xfrm>
              <a:off x="4386386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7" name="Rectangle 157"/>
            <p:cNvSpPr/>
            <p:nvPr/>
          </p:nvSpPr>
          <p:spPr>
            <a:xfrm>
              <a:off x="4449128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8" name="TextBox 158"/>
            <p:cNvSpPr txBox="1"/>
            <p:nvPr/>
          </p:nvSpPr>
          <p:spPr>
            <a:xfrm>
              <a:off x="4480683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9" name="Rectangle 159"/>
            <p:cNvSpPr/>
            <p:nvPr/>
          </p:nvSpPr>
          <p:spPr>
            <a:xfrm>
              <a:off x="4822508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0" name="TextBox 160"/>
            <p:cNvSpPr txBox="1"/>
            <p:nvPr/>
          </p:nvSpPr>
          <p:spPr>
            <a:xfrm>
              <a:off x="4854063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1" name="Rectangle 161"/>
            <p:cNvSpPr/>
            <p:nvPr/>
          </p:nvSpPr>
          <p:spPr>
            <a:xfrm>
              <a:off x="4883468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2" name="TextBox 162"/>
            <p:cNvSpPr txBox="1"/>
            <p:nvPr/>
          </p:nvSpPr>
          <p:spPr>
            <a:xfrm>
              <a:off x="4915023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3" name="Rectangle 163"/>
            <p:cNvSpPr/>
            <p:nvPr/>
          </p:nvSpPr>
          <p:spPr>
            <a:xfrm>
              <a:off x="5128260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4" name="TextBox 164"/>
            <p:cNvSpPr txBox="1"/>
            <p:nvPr/>
          </p:nvSpPr>
          <p:spPr>
            <a:xfrm>
              <a:off x="5159816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5" name="Rectangle 165"/>
            <p:cNvSpPr/>
            <p:nvPr/>
          </p:nvSpPr>
          <p:spPr>
            <a:xfrm>
              <a:off x="6546532" y="231933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6" name="TextBox 166"/>
            <p:cNvSpPr txBox="1"/>
            <p:nvPr/>
          </p:nvSpPr>
          <p:spPr>
            <a:xfrm>
              <a:off x="6578088" y="234838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7" name="Rectangle 167"/>
            <p:cNvSpPr/>
            <p:nvPr/>
          </p:nvSpPr>
          <p:spPr>
            <a:xfrm>
              <a:off x="6975158" y="283559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8" name="TextBox 168"/>
            <p:cNvSpPr txBox="1"/>
            <p:nvPr/>
          </p:nvSpPr>
          <p:spPr>
            <a:xfrm>
              <a:off x="7006713" y="28646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9" name="Rectangle 169"/>
            <p:cNvSpPr/>
            <p:nvPr/>
          </p:nvSpPr>
          <p:spPr>
            <a:xfrm>
              <a:off x="5968365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0" name="TextBox 170"/>
            <p:cNvSpPr txBox="1"/>
            <p:nvPr/>
          </p:nvSpPr>
          <p:spPr>
            <a:xfrm>
              <a:off x="5999921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1" name="Rectangle 171"/>
            <p:cNvSpPr/>
            <p:nvPr/>
          </p:nvSpPr>
          <p:spPr>
            <a:xfrm>
              <a:off x="6407468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2" name="TextBox 172"/>
            <p:cNvSpPr txBox="1"/>
            <p:nvPr/>
          </p:nvSpPr>
          <p:spPr>
            <a:xfrm>
              <a:off x="6439023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3" name="Rectangle 173"/>
            <p:cNvSpPr/>
            <p:nvPr/>
          </p:nvSpPr>
          <p:spPr>
            <a:xfrm>
              <a:off x="6440805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4" name="TextBox 174"/>
            <p:cNvSpPr txBox="1"/>
            <p:nvPr/>
          </p:nvSpPr>
          <p:spPr>
            <a:xfrm>
              <a:off x="6472361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5" name="Rectangle 175"/>
            <p:cNvSpPr/>
            <p:nvPr/>
          </p:nvSpPr>
          <p:spPr>
            <a:xfrm>
              <a:off x="6813232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6" name="TextBox 176"/>
            <p:cNvSpPr txBox="1"/>
            <p:nvPr/>
          </p:nvSpPr>
          <p:spPr>
            <a:xfrm>
              <a:off x="6844788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7" name="Rectangle 177"/>
            <p:cNvSpPr/>
            <p:nvPr/>
          </p:nvSpPr>
          <p:spPr>
            <a:xfrm>
              <a:off x="6875145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8" name="TextBox 178"/>
            <p:cNvSpPr txBox="1"/>
            <p:nvPr/>
          </p:nvSpPr>
          <p:spPr>
            <a:xfrm>
              <a:off x="6906701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9" name="Rectangle 179"/>
            <p:cNvSpPr/>
            <p:nvPr/>
          </p:nvSpPr>
          <p:spPr>
            <a:xfrm>
              <a:off x="7124700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0" name="TextBox 180"/>
            <p:cNvSpPr txBox="1"/>
            <p:nvPr/>
          </p:nvSpPr>
          <p:spPr>
            <a:xfrm>
              <a:off x="7156256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1" name="Rectangle 181"/>
            <p:cNvSpPr/>
            <p:nvPr/>
          </p:nvSpPr>
          <p:spPr>
            <a:xfrm>
              <a:off x="8548688" y="283559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2" name="TextBox 182"/>
            <p:cNvSpPr txBox="1"/>
            <p:nvPr/>
          </p:nvSpPr>
          <p:spPr>
            <a:xfrm>
              <a:off x="8581196" y="286464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3" name="Rectangle 183"/>
            <p:cNvSpPr/>
            <p:nvPr/>
          </p:nvSpPr>
          <p:spPr>
            <a:xfrm>
              <a:off x="8755380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4" name="TextBox 184"/>
            <p:cNvSpPr txBox="1"/>
            <p:nvPr/>
          </p:nvSpPr>
          <p:spPr>
            <a:xfrm>
              <a:off x="8786936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5" name="Rectangle 185"/>
            <p:cNvSpPr/>
            <p:nvPr/>
          </p:nvSpPr>
          <p:spPr>
            <a:xfrm>
              <a:off x="7959090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6" name="TextBox 186"/>
            <p:cNvSpPr txBox="1"/>
            <p:nvPr/>
          </p:nvSpPr>
          <p:spPr>
            <a:xfrm>
              <a:off x="7990646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7" name="Rectangle 187"/>
            <p:cNvSpPr/>
            <p:nvPr/>
          </p:nvSpPr>
          <p:spPr>
            <a:xfrm>
              <a:off x="8399145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8" name="TextBox 188"/>
            <p:cNvSpPr txBox="1"/>
            <p:nvPr/>
          </p:nvSpPr>
          <p:spPr>
            <a:xfrm>
              <a:off x="8430701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9" name="Rectangle 189"/>
            <p:cNvSpPr/>
            <p:nvPr/>
          </p:nvSpPr>
          <p:spPr>
            <a:xfrm>
              <a:off x="8432482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0" name="TextBox 190"/>
            <p:cNvSpPr txBox="1"/>
            <p:nvPr/>
          </p:nvSpPr>
          <p:spPr>
            <a:xfrm>
              <a:off x="8464038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1" name="Rectangle 191"/>
            <p:cNvSpPr/>
            <p:nvPr/>
          </p:nvSpPr>
          <p:spPr>
            <a:xfrm>
              <a:off x="8804910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2" name="TextBox 192"/>
            <p:cNvSpPr txBox="1"/>
            <p:nvPr/>
          </p:nvSpPr>
          <p:spPr>
            <a:xfrm>
              <a:off x="8836466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93" name="Rectangle 193"/>
            <p:cNvSpPr/>
            <p:nvPr/>
          </p:nvSpPr>
          <p:spPr>
            <a:xfrm>
              <a:off x="8865870" y="489966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4" name="TextBox 194"/>
            <p:cNvSpPr txBox="1"/>
            <p:nvPr/>
          </p:nvSpPr>
          <p:spPr>
            <a:xfrm>
              <a:off x="8897426" y="4928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5" name="Rectangle 195"/>
            <p:cNvSpPr/>
            <p:nvPr/>
          </p:nvSpPr>
          <p:spPr>
            <a:xfrm>
              <a:off x="9116378" y="489966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6" name="TextBox 196"/>
            <p:cNvSpPr txBox="1"/>
            <p:nvPr/>
          </p:nvSpPr>
          <p:spPr>
            <a:xfrm>
              <a:off x="9147933" y="49287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97" name="Rectangle 197"/>
            <p:cNvSpPr/>
            <p:nvPr/>
          </p:nvSpPr>
          <p:spPr>
            <a:xfrm>
              <a:off x="9906000" y="335089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8" name="TextBox 198"/>
            <p:cNvSpPr txBox="1"/>
            <p:nvPr/>
          </p:nvSpPr>
          <p:spPr>
            <a:xfrm>
              <a:off x="9937556" y="338089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99" name="Rectangle 199"/>
            <p:cNvSpPr/>
            <p:nvPr/>
          </p:nvSpPr>
          <p:spPr>
            <a:xfrm>
              <a:off x="10234612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0" name="TextBox 200"/>
            <p:cNvSpPr txBox="1"/>
            <p:nvPr/>
          </p:nvSpPr>
          <p:spPr>
            <a:xfrm>
              <a:off x="10266168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1" name="Rectangle 201"/>
            <p:cNvSpPr/>
            <p:nvPr/>
          </p:nvSpPr>
          <p:spPr>
            <a:xfrm>
              <a:off x="9862185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2" name="TextBox 202"/>
            <p:cNvSpPr txBox="1"/>
            <p:nvPr/>
          </p:nvSpPr>
          <p:spPr>
            <a:xfrm>
              <a:off x="9893741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3" name="Rectangle 203"/>
            <p:cNvSpPr/>
            <p:nvPr/>
          </p:nvSpPr>
          <p:spPr>
            <a:xfrm>
              <a:off x="10111740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4" name="TextBox 204"/>
            <p:cNvSpPr txBox="1"/>
            <p:nvPr/>
          </p:nvSpPr>
          <p:spPr>
            <a:xfrm>
              <a:off x="10144248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5" name="Rectangle 205"/>
            <p:cNvSpPr/>
            <p:nvPr/>
          </p:nvSpPr>
          <p:spPr>
            <a:xfrm>
              <a:off x="10729912" y="386715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6" name="TextBox 206"/>
            <p:cNvSpPr txBox="1"/>
            <p:nvPr/>
          </p:nvSpPr>
          <p:spPr>
            <a:xfrm>
              <a:off x="10761468" y="389715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7" name="Rectangle 207"/>
            <p:cNvSpPr/>
            <p:nvPr/>
          </p:nvSpPr>
          <p:spPr>
            <a:xfrm>
              <a:off x="10857548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8" name="TextBox 208"/>
            <p:cNvSpPr txBox="1"/>
            <p:nvPr/>
          </p:nvSpPr>
          <p:spPr>
            <a:xfrm>
              <a:off x="10889103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9" name="Rectangle 209"/>
            <p:cNvSpPr/>
            <p:nvPr/>
          </p:nvSpPr>
          <p:spPr>
            <a:xfrm>
              <a:off x="11108055" y="4383405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0" name="TextBox 210"/>
            <p:cNvSpPr txBox="1"/>
            <p:nvPr/>
          </p:nvSpPr>
          <p:spPr>
            <a:xfrm>
              <a:off x="11139611" y="441245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11" name="TextBox 211"/>
            <p:cNvSpPr txBox="1"/>
            <p:nvPr/>
          </p:nvSpPr>
          <p:spPr>
            <a:xfrm>
              <a:off x="613123" y="22840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212" name="TextBox 212"/>
            <p:cNvSpPr txBox="1"/>
            <p:nvPr/>
          </p:nvSpPr>
          <p:spPr>
            <a:xfrm>
              <a:off x="613123" y="28003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213" name="TextBox 213"/>
            <p:cNvSpPr txBox="1"/>
            <p:nvPr/>
          </p:nvSpPr>
          <p:spPr>
            <a:xfrm>
              <a:off x="613123" y="331660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613123" y="383286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215" name="TextBox 215"/>
            <p:cNvSpPr txBox="1"/>
            <p:nvPr/>
          </p:nvSpPr>
          <p:spPr>
            <a:xfrm>
              <a:off x="613123" y="434911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216" name="TextBox 216"/>
            <p:cNvSpPr txBox="1"/>
            <p:nvPr/>
          </p:nvSpPr>
          <p:spPr>
            <a:xfrm>
              <a:off x="613123" y="486441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x₆</a:t>
              </a:r>
            </a:p>
          </p:txBody>
        </p:sp>
      </p:grpSp>
      <p:grpSp>
        <p:nvGrpSpPr>
          <p:cNvPr id="223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218" name="Rectangle 218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21" name="Group 221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20" name="Freeform 220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22" name="TextBox 222"/>
            <p:cNvSpPr txBox="1"/>
            <p:nvPr/>
          </p:nvSpPr>
          <p:spPr>
            <a:xfrm>
              <a:off x="1040130" y="5728335"/>
              <a:ext cx="99974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活结点 20 个（含根，即 SUMOFSUB 的 20 次调用），答案结点 3 个（8、12、33），被杀死的结点 18 个。不用限界函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数要访问 127 个结点。</a:t>
              </a:r>
            </a:p>
          </p:txBody>
        </p:sp>
      </p:grpSp>
      <p:grpSp>
        <p:nvGrpSpPr>
          <p:cNvPr id="22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4" name="TextBox 22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25" name="TextBox 22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12389" cy="909257"/>
            <a:chOff x="520446" y="342900"/>
            <a:chExt cx="90123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123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实例运行（一）：逐个 E-结点检验两个儿子（结点 1–19）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227989" cy="264033"/>
            <a:chOff x="526542" y="1545907"/>
            <a:chExt cx="722798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227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左儿子只需再查 s + W(k+1) ≤ 30（s + r ≥ 30 由父结点保证）；右儿子两个条件都要查。</a:t>
              </a:r>
            </a:p>
          </p:txBody>
        </p:sp>
      </p:grpSp>
      <p:grpSp>
        <p:nvGrpSpPr>
          <p:cNvPr id="72" name="c1-table-1"/>
          <p:cNvGrpSpPr/>
          <p:nvPr/>
        </p:nvGrpSpPr>
        <p:grpSpPr>
          <a:xfrm>
            <a:off x="533400" y="1928812"/>
            <a:ext cx="11125200" cy="4400550"/>
            <a:chOff x="533400" y="1928812"/>
            <a:chExt cx="11125200" cy="440055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11125200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42185" y="2050256"/>
              <a:ext cx="4969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E-结点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91523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06685" y="2050256"/>
              <a:ext cx="13556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左儿子（选 W(k)）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35608" y="2050256"/>
              <a:ext cx="15063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右儿子（不选 W(k)）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0555" y="2450306"/>
              <a:ext cx="1160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1（s=0，r=73）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59372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45230" y="2450306"/>
              <a:ext cx="1644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2：s = 5，5+10 ≤ 30，T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17117" y="2450306"/>
              <a:ext cx="2059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19：0+68 ≥ 30，0+10 ≤ 30，T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241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7289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850356"/>
              <a:ext cx="1160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2（s=5，r=68）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59372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45230" y="2850356"/>
              <a:ext cx="1810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3：s = 15，15+12 ≤ 30，T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17117" y="2850356"/>
              <a:ext cx="2059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10：5+58 ≥ 30，5+12 ≤ 30，T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1242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250406"/>
              <a:ext cx="124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3（s=15，r=58）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59372" y="32504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45230" y="3250406"/>
              <a:ext cx="1814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4：s = 27，27+13 &gt; 30，</a:t>
              </a:r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17117" y="3250406"/>
              <a:ext cx="214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5：15+46 ≥ 30，15+13 ≤ 30，T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5242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5290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0555" y="3650456"/>
              <a:ext cx="124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5（s=15，r=46）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59372" y="36504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45230" y="3650456"/>
              <a:ext cx="1814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6：s = 28，28+15 &gt; 30，</a:t>
              </a:r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17117" y="3650456"/>
              <a:ext cx="214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7：15+33 ≥ 30，15+15 ≤ 30，T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9243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0555" y="4050506"/>
              <a:ext cx="124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7（s=15，r=33）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059372" y="40505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745230" y="4050506"/>
              <a:ext cx="14513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8：15+15 = 30，</a:t>
              </a:r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17117" y="4050506"/>
              <a:ext cx="21464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9：15+18 ≥ 30，15+18 &gt; 30，</a:t>
              </a:r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3243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43291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555" y="4450556"/>
              <a:ext cx="124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10（s=5，r=58）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059372" y="44505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745230" y="4450556"/>
              <a:ext cx="18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11：s = 17，17+13 ≤ 30，T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17117" y="4450556"/>
              <a:ext cx="2059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14：5+46 ≥ 30，5+13 ≤ 30，T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7244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0555" y="4850606"/>
              <a:ext cx="13344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11（s=17，r=46）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059372" y="48506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745230" y="4850606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12：17+13 = 30，</a:t>
              </a:r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17117" y="4850606"/>
              <a:ext cx="22293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13：17+33 ≥ 30，17+15 &gt; 30，</a:t>
              </a:r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51244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33400" y="51292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0555" y="5250656"/>
              <a:ext cx="124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14（s=5，r=46）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059372" y="52506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745230" y="5250656"/>
              <a:ext cx="18976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15：s = 18，18+15 &gt; 30，</a:t>
              </a:r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17117" y="5250656"/>
              <a:ext cx="2059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16：5+33 ≥ 30，5+15 ≤ 30，T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55245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0555" y="5650706"/>
              <a:ext cx="124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16（s=5，r=33）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059372" y="56507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745230" y="5650706"/>
              <a:ext cx="18976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17：s = 20，20+18 &gt; 30，</a:t>
              </a:r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417117" y="5650706"/>
              <a:ext cx="12417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18：5+18 &lt; 30，</a:t>
              </a:r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33400" y="59245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533400" y="59293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30555" y="6050756"/>
              <a:ext cx="1247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19（s=0，r=68）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3059372" y="60507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745230" y="6050756"/>
              <a:ext cx="18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20：s = 10，10+12 ≤ 30，T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417117" y="6050756"/>
              <a:ext cx="2059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27：0+58 ≥ 30，0+12 ≤ 30，T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533400" y="1928812"/>
              <a:ext cx="11125200" cy="44005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2642235" y="1928812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3643312" y="1928812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7315200" y="1928812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11814" cy="909257"/>
            <a:chOff x="520446" y="342900"/>
            <a:chExt cx="85118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118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实例运行（二）：结点 20–39 的检验，输出答案 12+18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0" name="c1-table-1"/>
          <p:cNvGrpSpPr/>
          <p:nvPr/>
        </p:nvGrpSpPr>
        <p:grpSpPr>
          <a:xfrm>
            <a:off x="533400" y="1524000"/>
            <a:ext cx="11125200" cy="4732020"/>
            <a:chOff x="533400" y="1524000"/>
            <a:chExt cx="11125200" cy="47320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24463" y="1655445"/>
              <a:ext cx="5324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E-结点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80373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58298" y="1655445"/>
              <a:ext cx="14523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左儿子（选 W(k)）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81836" y="1655445"/>
              <a:ext cx="16139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右儿子（不选 W(k)）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8746" y="2085022"/>
              <a:ext cx="1429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20（s=10，r=58）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53067" y="208502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53422" y="2085022"/>
              <a:ext cx="2033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21：s = 22，22+13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25309" y="2085022"/>
              <a:ext cx="23838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22：10+46 ≥ 30，10+13 ≤ 30，T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793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84108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746" y="2515552"/>
              <a:ext cx="1429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22（s=10，r=46）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53067" y="251555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53422" y="2515552"/>
              <a:ext cx="2033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23：s = 23，23+15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25309" y="2515552"/>
              <a:ext cx="23838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24：10+33 ≥ 30，10+15 ≤ 30，T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098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2946082"/>
              <a:ext cx="1429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24（s=10，r=33）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53067" y="294608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53422" y="2946082"/>
              <a:ext cx="2033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25：s = 25，25+18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25309" y="2946082"/>
              <a:ext cx="1419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26：10+18 &lt;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394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24421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8746" y="3375660"/>
              <a:ext cx="13364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27（s=0，r=58）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53067" y="337566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53422" y="3375660"/>
              <a:ext cx="2028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28：s = 12，12+13 ≤ 30，T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25309" y="3375660"/>
              <a:ext cx="22061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35：0+46 ≥ 30，0+13 ≤ 30，T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6699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8746" y="3806190"/>
              <a:ext cx="1429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28（s=12，r=46）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53067" y="380619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53422" y="3806190"/>
              <a:ext cx="2033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29：s = 25，25+15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25309" y="3806190"/>
              <a:ext cx="23838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30：12+33 ≥ 30，12+15 ≤ 30，T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1005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410527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8746" y="4235768"/>
              <a:ext cx="1429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30（s=12，r=33）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053067" y="423576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753422" y="4235768"/>
              <a:ext cx="2033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31：s = 27，27+18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25309" y="4235768"/>
              <a:ext cx="23838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32：12+18 ≥ 30，12+18 ≤ 30，T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53009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8746" y="4666298"/>
              <a:ext cx="1429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32（s=12，r=18）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053067" y="466629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x₆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753422" y="4666298"/>
              <a:ext cx="16437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33：12+18 = 30，</a:t>
              </a:r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425309" y="4666298"/>
              <a:ext cx="14273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34：s = 12 ≠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49606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33400" y="4965382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8746" y="5096828"/>
              <a:ext cx="13364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35（s=0，r=46）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053067" y="509682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753422" y="5096828"/>
              <a:ext cx="2028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36：s = 13，13+15 ≤ 30，T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425309" y="5096828"/>
              <a:ext cx="22061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39：0+33 ≥ 30，0+15 ≤ 30，T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53901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8746" y="5526405"/>
              <a:ext cx="14297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36（s=13，r=33）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053067" y="552640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753422" y="5526405"/>
              <a:ext cx="2033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37：s = 28，28+18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425309" y="5526405"/>
              <a:ext cx="23885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38：13+18 ≥ 30，13+18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33400" y="58207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533400" y="5825490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8746" y="5956935"/>
              <a:ext cx="13364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39（s=0，r=33）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053067" y="595693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x₅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3753422" y="5956935"/>
              <a:ext cx="2033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40：s = 15，15+18 &gt;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25309" y="5956935"/>
              <a:ext cx="13304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41：0+18 &lt; 30，</a:t>
              </a:r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33400" y="1524000"/>
              <a:ext cx="11125200" cy="47320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2642235" y="1524000"/>
              <a:ext cx="9525" cy="47320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3643312" y="1524000"/>
              <a:ext cx="9525" cy="47320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7315200" y="1524000"/>
              <a:ext cx="9525" cy="47320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74442" cy="909257"/>
            <a:chOff x="520446" y="342900"/>
            <a:chExt cx="64744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子集和数问题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744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与原课件实例对照：动态树应有 41 个结点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5951220" cy="3826192"/>
            <a:chOff x="533400" y="1524000"/>
            <a:chExt cx="5951220" cy="38261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8804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86875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原课件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12107" y="16597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本讲义（脚本复核）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36179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(1,0,0,0) 的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07146" y="2221706"/>
              <a:ext cx="1571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写作 20，B 值为 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12146" y="2108359"/>
              <a:ext cx="197180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5，5+33 ≥ 30 且 5+15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30，B 值为 T（结点 16）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951220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259383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(0,1,0,0,0) 的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07146" y="3010376"/>
              <a:ext cx="6505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写作 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12146" y="2897029"/>
              <a:ext cx="18823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10，B 值仍为 F（结点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4615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79904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第一张表最后一行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07146" y="3799046"/>
              <a:ext cx="15696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 | 10 | 46 | 13 | 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12146" y="3685699"/>
              <a:ext cx="19311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与后一张表的结点 13（s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0，r = 68）矛盾，应删去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22148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226242"/>
              <a:ext cx="595122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47436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答案结点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307146" y="4361021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没有画出，把输出答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案时所在的结点涂红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12146" y="4361021"/>
              <a:ext cx="19799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 3 个答案结点 8、12、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89680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503729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动态树结点总数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07146" y="503729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12146" y="503729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5951220" cy="38261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194560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099560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2-card-1"/>
          <p:cNvGrpSpPr/>
          <p:nvPr/>
        </p:nvGrpSpPr>
        <p:grpSpPr>
          <a:xfrm>
            <a:off x="6789420" y="1524000"/>
            <a:ext cx="4869180" cy="1887855"/>
            <a:chOff x="6789420" y="1524000"/>
            <a:chExt cx="4869180" cy="1887855"/>
          </a:xfrm>
        </p:grpSpPr>
        <p:sp>
          <p:nvSpPr>
            <p:cNvPr id="36" name="Rectangle 36"/>
            <p:cNvSpPr/>
            <p:nvPr/>
          </p:nvSpPr>
          <p:spPr>
            <a:xfrm>
              <a:off x="6789420" y="1524000"/>
              <a:ext cx="4869180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798945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03707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12727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29450" y="2110740"/>
              <a:ext cx="42348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原课件实例把 (1,0,0,0) 误判为 F，漏画了它的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两个儿子；也没有画出 3 个答案结点和与它们同一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父结点的 3 个被杀死的兄弟。补上这 8 个结点，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 41 个。</a:t>
              </a:r>
            </a:p>
          </p:txBody>
        </p:sp>
      </p:grpSp>
      <p:grpSp>
        <p:nvGrpSpPr>
          <p:cNvPr id="52" name="c2-card-2"/>
          <p:cNvGrpSpPr/>
          <p:nvPr/>
        </p:nvGrpSpPr>
        <p:grpSpPr>
          <a:xfrm>
            <a:off x="6789420" y="3602355"/>
            <a:ext cx="4869180" cy="2272665"/>
            <a:chOff x="6789420" y="3602355"/>
            <a:chExt cx="4869180" cy="2272665"/>
          </a:xfrm>
        </p:grpSpPr>
        <p:sp>
          <p:nvSpPr>
            <p:cNvPr id="42" name="Rectangle 42"/>
            <p:cNvSpPr/>
            <p:nvPr/>
          </p:nvSpPr>
          <p:spPr>
            <a:xfrm>
              <a:off x="6789420" y="3602355"/>
              <a:ext cx="486918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798945" y="3735705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037070" y="381190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106577" y="384762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自己画动态树时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042785" y="425196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00900" y="4189095"/>
              <a:ext cx="3901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 E-结点都生成左右两个儿子并检验，被杀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死的儿子也画出（灰色）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042785" y="48729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00900" y="4810125"/>
              <a:ext cx="39077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恰好等于 M 的结点是答案结点，不再扩展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042785" y="52082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200900" y="5145405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活结点、答案结点、被杀死的结点都要计入结点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总数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324750" cy="3351847"/>
            <a:chOff x="667512" y="1835468"/>
            <a:chExt cx="432475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图着色问题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3148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 m 种颜色给顶点着色，相邻顶点颜色不同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5595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问题描述与 m-着色判定问题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1052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解空间树：完全 m 叉树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21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MCOLORING 与 OK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3778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实例：5 个顶点、3 种颜色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08554" cy="909257"/>
            <a:chOff x="520446" y="342900"/>
            <a:chExt cx="54085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图着色问题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085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图着色问题与图的 m-着色判定问题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951220" cy="2133600"/>
            <a:chOff x="533400" y="1524000"/>
            <a:chExt cx="5951220" cy="2133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3244215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4237" y="1769269"/>
              <a:ext cx="32578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图着色问题（Graph Coloring Problem，GCP）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1396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又称着色问题。给定无向连通图 G = (V, E)，V 为顶点集合，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为边集合，用不同的颜色给图中顶点着色，要求任何两个相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邻顶点的着色不同。问：最少需要多少种颜色？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3014186"/>
              <a:ext cx="48247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这是最著名的 NP-完全问题之一（严格说，NP-完全的是它的判定形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式）。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848100"/>
            <a:ext cx="5951220" cy="2183130"/>
            <a:chOff x="533400" y="3848100"/>
            <a:chExt cx="5951220" cy="2183130"/>
          </a:xfrm>
        </p:grpSpPr>
        <p:sp>
          <p:nvSpPr>
            <p:cNvPr id="14" name="Rectangle 14"/>
            <p:cNvSpPr/>
            <p:nvPr/>
          </p:nvSpPr>
          <p:spPr>
            <a:xfrm>
              <a:off x="533400" y="3848100"/>
              <a:ext cx="5951220" cy="2183130"/>
            </a:xfrm>
            <a:prstGeom prst="roundRect">
              <a:avLst>
                <a:gd name="adj" fmla="val 61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981450"/>
              <a:ext cx="47625" cy="191643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4057650"/>
              <a:ext cx="1586865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9019" y="4093369"/>
              <a:ext cx="14709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图的 m-着色判定问题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4434840"/>
              <a:ext cx="5292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给定无向连通图 G = (V, E) 和 m 种不同颜色，问：是否存在任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何两个相邻顶点颜色不同的着色方案？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51187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5055870"/>
              <a:ext cx="52856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本节用回溯法求解；判定答案为"是"时，要求给出着色方案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573" y="5386864"/>
              <a:ext cx="52148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地图着色可以转成图着色：每个区域作为一个顶点，有公共边界的两个区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域之间连一条边（右图来自原课件中的 5 区域地图）。</a:t>
              </a:r>
            </a:p>
          </p:txBody>
        </p:sp>
      </p:grpSp>
      <p:grpSp>
        <p:nvGrpSpPr>
          <p:cNvPr id="41" name="c2-graph-1"/>
          <p:cNvGrpSpPr/>
          <p:nvPr/>
        </p:nvGrpSpPr>
        <p:grpSpPr>
          <a:xfrm>
            <a:off x="7475220" y="1571625"/>
            <a:ext cx="2318068" cy="2238375"/>
            <a:chOff x="7475220" y="1571625"/>
            <a:chExt cx="2318068" cy="2238375"/>
          </a:xfrm>
        </p:grpSpPr>
        <p:sp>
          <p:nvSpPr>
            <p:cNvPr id="23" name="Freeform 23"/>
            <p:cNvSpPr/>
            <p:nvPr/>
          </p:nvSpPr>
          <p:spPr>
            <a:xfrm>
              <a:off x="7840980" y="1858328"/>
              <a:ext cx="1304925" cy="712470"/>
            </a:xfrm>
            <a:custGeom>
              <a:avLst/>
              <a:gdLst/>
              <a:ahLst/>
              <a:cxnLst/>
              <a:rect l="l" t="t" r="r" b="b"/>
              <a:pathLst>
                <a:path w="1304925" h="712470">
                  <a:moveTo>
                    <a:pt x="1304925" y="0"/>
                  </a:moveTo>
                  <a:lnTo>
                    <a:pt x="0" y="7124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9321165" y="1962150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9436418" y="1925955"/>
              <a:ext cx="356870" cy="1529715"/>
            </a:xfrm>
            <a:custGeom>
              <a:avLst/>
              <a:gdLst/>
              <a:ahLst/>
              <a:cxnLst/>
              <a:rect l="l" t="t" r="r" b="b"/>
              <a:pathLst>
                <a:path w="356870" h="1529715">
                  <a:moveTo>
                    <a:pt x="0" y="0"/>
                  </a:moveTo>
                  <a:cubicBezTo>
                    <a:pt x="356870" y="509905"/>
                    <a:pt x="356870" y="1019810"/>
                    <a:pt x="0" y="152971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865745" y="2667000"/>
              <a:ext cx="1255395" cy="9525"/>
            </a:xfrm>
            <a:custGeom>
              <a:avLst/>
              <a:gdLst/>
              <a:ahLst/>
              <a:cxnLst/>
              <a:rect l="l" t="t" r="r" b="b"/>
              <a:pathLst>
                <a:path w="1255395" h="9525">
                  <a:moveTo>
                    <a:pt x="0" y="0"/>
                  </a:moveTo>
                  <a:lnTo>
                    <a:pt x="12553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7839075" y="2767012"/>
              <a:ext cx="1308735" cy="752475"/>
            </a:xfrm>
            <a:custGeom>
              <a:avLst/>
              <a:gdLst/>
              <a:ahLst/>
              <a:cxnLst/>
              <a:rect l="l" t="t" r="r" b="b"/>
              <a:pathLst>
                <a:path w="1308735" h="752475">
                  <a:moveTo>
                    <a:pt x="0" y="0"/>
                  </a:moveTo>
                  <a:lnTo>
                    <a:pt x="1308735" y="7524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665720" y="2867025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0"/>
                  </a:moveTo>
                  <a:lnTo>
                    <a:pt x="0" y="5524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321165" y="2867025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0"/>
                  </a:moveTo>
                  <a:lnTo>
                    <a:pt x="0" y="5524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865745" y="3619500"/>
              <a:ext cx="1255395" cy="9525"/>
            </a:xfrm>
            <a:custGeom>
              <a:avLst/>
              <a:gdLst/>
              <a:ahLst/>
              <a:cxnLst/>
              <a:rect l="l" t="t" r="r" b="b"/>
              <a:pathLst>
                <a:path w="1255395" h="9525">
                  <a:moveTo>
                    <a:pt x="125539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9130665" y="1571625"/>
              <a:ext cx="381000" cy="381000"/>
            </a:xfrm>
            <a:prstGeom prst="ellipse">
              <a:avLst/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7475220" y="2476500"/>
              <a:ext cx="381000" cy="3810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9130665" y="2476500"/>
              <a:ext cx="381000" cy="38100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9130665" y="3429000"/>
              <a:ext cx="381000" cy="381000"/>
            </a:xfrm>
            <a:prstGeom prst="ellipse">
              <a:avLst/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7475220" y="3429000"/>
              <a:ext cx="381000" cy="381000"/>
            </a:xfrm>
            <a:prstGeom prst="ellipse">
              <a:avLst/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68423" y="168783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12978" y="25927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268423" y="25927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268423" y="35452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12978" y="35452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  <p:grpSp>
        <p:nvGrpSpPr>
          <p:cNvPr id="47" name="c2-callout-2"/>
          <p:cNvGrpSpPr/>
          <p:nvPr/>
        </p:nvGrpSpPr>
        <p:grpSpPr>
          <a:xfrm>
            <a:off x="6789420" y="4095750"/>
            <a:ext cx="4869180" cy="1934528"/>
            <a:chOff x="6789420" y="4095750"/>
            <a:chExt cx="4869180" cy="1934528"/>
          </a:xfrm>
        </p:grpSpPr>
        <p:sp>
          <p:nvSpPr>
            <p:cNvPr id="42" name="Rectangle 42"/>
            <p:cNvSpPr/>
            <p:nvPr/>
          </p:nvSpPr>
          <p:spPr>
            <a:xfrm>
              <a:off x="6789420" y="4095750"/>
              <a:ext cx="4869180" cy="1934528"/>
            </a:xfrm>
            <a:prstGeom prst="roundRect">
              <a:avLst>
                <a:gd name="adj" fmla="val 5908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994208" y="4963480"/>
              <a:ext cx="200023" cy="200023"/>
              <a:chOff x="6994208" y="4963480"/>
              <a:chExt cx="200023" cy="20002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994208" y="496348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127558" y="50301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296150" y="4544378"/>
              <a:ext cx="3815715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顶点 1、2、3、4 两两相邻，至少需要 4 种颜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色；1 与 5 不相邻，可以同色（图中同为浅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色）。脚本验证：m = 3 时无解，m = 4 时有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48 种方案。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76412" cy="909257"/>
            <a:chOff x="520446" y="342900"/>
            <a:chExt cx="737641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图着色问题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764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解空间树：n 个顶点、m 种颜色时是完全 m 叉树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graph-1"/>
          <p:cNvGrpSpPr/>
          <p:nvPr/>
        </p:nvGrpSpPr>
        <p:grpSpPr>
          <a:xfrm>
            <a:off x="1660208" y="1609725"/>
            <a:ext cx="2074544" cy="1257300"/>
            <a:chOff x="1660208" y="1609725"/>
            <a:chExt cx="2074544" cy="1257300"/>
          </a:xfrm>
        </p:grpSpPr>
        <p:sp>
          <p:nvSpPr>
            <p:cNvPr id="7" name="Freeform 7"/>
            <p:cNvSpPr/>
            <p:nvPr/>
          </p:nvSpPr>
          <p:spPr>
            <a:xfrm>
              <a:off x="2012632" y="1781175"/>
              <a:ext cx="1369695" cy="9525"/>
            </a:xfrm>
            <a:custGeom>
              <a:avLst/>
              <a:gdLst/>
              <a:ahLst/>
              <a:cxnLst/>
              <a:rect l="l" t="t" r="r" b="b"/>
              <a:pathLst>
                <a:path w="1369695" h="9525">
                  <a:moveTo>
                    <a:pt x="0" y="0"/>
                  </a:moveTo>
                  <a:lnTo>
                    <a:pt x="13696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563302" y="1962150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0"/>
                  </a:moveTo>
                  <a:lnTo>
                    <a:pt x="0" y="5524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012632" y="2695575"/>
              <a:ext cx="1369695" cy="9525"/>
            </a:xfrm>
            <a:custGeom>
              <a:avLst/>
              <a:gdLst/>
              <a:ahLst/>
              <a:cxnLst/>
              <a:rect l="l" t="t" r="r" b="b"/>
              <a:pathLst>
                <a:path w="1369695" h="9525">
                  <a:moveTo>
                    <a:pt x="136969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831658" y="1962150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55245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660208" y="1609725"/>
              <a:ext cx="342900" cy="3429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3391852" y="1609725"/>
              <a:ext cx="342900" cy="3429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3391852" y="2524125"/>
              <a:ext cx="342900" cy="3429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1660208" y="2524125"/>
              <a:ext cx="342900" cy="3429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778916" y="17068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10561" y="17068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10561" y="26212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78916" y="26212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3143250"/>
            <a:ext cx="4328160" cy="2804160"/>
            <a:chOff x="533400" y="3143250"/>
            <a:chExt cx="4328160" cy="2804160"/>
          </a:xfrm>
        </p:grpSpPr>
        <p:sp>
          <p:nvSpPr>
            <p:cNvPr id="20" name="Rectangle 20"/>
            <p:cNvSpPr/>
            <p:nvPr/>
          </p:nvSpPr>
          <p:spPr>
            <a:xfrm>
              <a:off x="533400" y="3143250"/>
              <a:ext cx="4328160" cy="2804160"/>
            </a:xfrm>
            <a:prstGeom prst="roundRect">
              <a:avLst>
                <a:gd name="adj" fmla="val 47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3276600"/>
              <a:ext cx="47625" cy="253746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81050" y="3352800"/>
              <a:ext cx="195167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8154" y="3388519"/>
              <a:ext cx="1858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例：n = 4 的连通图，m = 3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6765" y="379285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4880" y="3729990"/>
              <a:ext cx="3377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n-元组 X = (x₁, …, x₄)，xᵢ 表示顶点 i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的颜色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86765" y="441388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4880" y="4351020"/>
              <a:ext cx="19335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显式约束：1 ≤ xᵢ ≤ 3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86765" y="47491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4880" y="4686300"/>
              <a:ext cx="3482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隐式约束：若顶点 i 和 j 之间有边，则 xᵢ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≠ xⱼ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4573" y="5303996"/>
              <a:ext cx="36461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每个顶点都可以取 m 种颜色中的任何一种，颜色可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以重复，所以每层都有 m 个分支。</a:t>
              </a:r>
            </a:p>
          </p:txBody>
        </p:sp>
      </p:grpSp>
      <p:grpSp>
        <p:nvGrpSpPr>
          <p:cNvPr id="135" name="c2-graph-1"/>
          <p:cNvGrpSpPr/>
          <p:nvPr/>
        </p:nvGrpSpPr>
        <p:grpSpPr>
          <a:xfrm>
            <a:off x="5745480" y="1655445"/>
            <a:ext cx="5361376" cy="2880360"/>
            <a:chOff x="5745480" y="1655445"/>
            <a:chExt cx="5361376" cy="2880360"/>
          </a:xfrm>
        </p:grpSpPr>
        <p:sp>
          <p:nvSpPr>
            <p:cNvPr id="32" name="Freeform 32"/>
            <p:cNvSpPr/>
            <p:nvPr/>
          </p:nvSpPr>
          <p:spPr>
            <a:xfrm>
              <a:off x="7760018" y="1738312"/>
              <a:ext cx="1544955" cy="640080"/>
            </a:xfrm>
            <a:custGeom>
              <a:avLst/>
              <a:gdLst/>
              <a:ahLst/>
              <a:cxnLst/>
              <a:rect l="l" t="t" r="r" b="b"/>
              <a:pathLst>
                <a:path w="1544955" h="640080">
                  <a:moveTo>
                    <a:pt x="1544955" y="0"/>
                  </a:moveTo>
                  <a:lnTo>
                    <a:pt x="0" y="6400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503670" y="2436495"/>
              <a:ext cx="1136333" cy="626745"/>
            </a:xfrm>
            <a:custGeom>
              <a:avLst/>
              <a:gdLst/>
              <a:ahLst/>
              <a:cxnLst/>
              <a:rect l="l" t="t" r="r" b="b"/>
              <a:pathLst>
                <a:path w="1136333" h="626745">
                  <a:moveTo>
                    <a:pt x="1136333" y="0"/>
                  </a:moveTo>
                  <a:lnTo>
                    <a:pt x="0" y="6267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057900" y="3152775"/>
              <a:ext cx="352425" cy="577215"/>
            </a:xfrm>
            <a:custGeom>
              <a:avLst/>
              <a:gdLst/>
              <a:ahLst/>
              <a:cxnLst/>
              <a:rect l="l" t="t" r="r" b="b"/>
              <a:pathLst>
                <a:path w="352425" h="577215">
                  <a:moveTo>
                    <a:pt x="352425" y="0"/>
                  </a:moveTo>
                  <a:lnTo>
                    <a:pt x="0" y="5772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5899785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110490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6023610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6036945" y="3852862"/>
              <a:ext cx="116205" cy="560070"/>
            </a:xfrm>
            <a:custGeom>
              <a:avLst/>
              <a:gdLst/>
              <a:ahLst/>
              <a:cxnLst/>
              <a:rect l="l" t="t" r="r" b="b"/>
              <a:pathLst>
                <a:path w="116205" h="560070">
                  <a:moveTo>
                    <a:pt x="0" y="0"/>
                  </a:moveTo>
                  <a:lnTo>
                    <a:pt x="116205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6445568" y="3162300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316028" y="3852862"/>
              <a:ext cx="116205" cy="560070"/>
            </a:xfrm>
            <a:custGeom>
              <a:avLst/>
              <a:gdLst/>
              <a:ahLst/>
              <a:cxnLst/>
              <a:rect l="l" t="t" r="r" b="b"/>
              <a:pathLst>
                <a:path w="116205" h="560070">
                  <a:moveTo>
                    <a:pt x="116205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445568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6457950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0" y="0"/>
                  </a:moveTo>
                  <a:lnTo>
                    <a:pt x="11049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6479858" y="3152775"/>
              <a:ext cx="346710" cy="577215"/>
            </a:xfrm>
            <a:custGeom>
              <a:avLst/>
              <a:gdLst/>
              <a:ahLst/>
              <a:cxnLst/>
              <a:rect l="l" t="t" r="r" b="b"/>
              <a:pathLst>
                <a:path w="346710" h="577215">
                  <a:moveTo>
                    <a:pt x="0" y="0"/>
                  </a:moveTo>
                  <a:lnTo>
                    <a:pt x="346710" y="5772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737032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110490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6860858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874192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0" y="0"/>
                  </a:moveTo>
                  <a:lnTo>
                    <a:pt x="11049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7698105" y="247078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7311390" y="3152775"/>
              <a:ext cx="352425" cy="577215"/>
            </a:xfrm>
            <a:custGeom>
              <a:avLst/>
              <a:gdLst/>
              <a:ahLst/>
              <a:cxnLst/>
              <a:rect l="l" t="t" r="r" b="b"/>
              <a:pathLst>
                <a:path w="352425" h="577215">
                  <a:moveTo>
                    <a:pt x="352425" y="0"/>
                  </a:moveTo>
                  <a:lnTo>
                    <a:pt x="0" y="5772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7153275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110490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276148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289482" y="3852862"/>
              <a:ext cx="116205" cy="560070"/>
            </a:xfrm>
            <a:custGeom>
              <a:avLst/>
              <a:gdLst/>
              <a:ahLst/>
              <a:cxnLst/>
              <a:rect l="l" t="t" r="r" b="b"/>
              <a:pathLst>
                <a:path w="116205" h="560070">
                  <a:moveTo>
                    <a:pt x="0" y="0"/>
                  </a:moveTo>
                  <a:lnTo>
                    <a:pt x="116205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7698105" y="3162300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568565" y="3852862"/>
              <a:ext cx="116205" cy="560070"/>
            </a:xfrm>
            <a:custGeom>
              <a:avLst/>
              <a:gdLst/>
              <a:ahLst/>
              <a:cxnLst/>
              <a:rect l="l" t="t" r="r" b="b"/>
              <a:pathLst>
                <a:path w="116205" h="560070">
                  <a:moveTo>
                    <a:pt x="116205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7698105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7711440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0" y="0"/>
                  </a:moveTo>
                  <a:lnTo>
                    <a:pt x="11049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7732395" y="3152775"/>
              <a:ext cx="346710" cy="577215"/>
            </a:xfrm>
            <a:custGeom>
              <a:avLst/>
              <a:gdLst/>
              <a:ahLst/>
              <a:cxnLst/>
              <a:rect l="l" t="t" r="r" b="b"/>
              <a:pathLst>
                <a:path w="346710" h="577215">
                  <a:moveTo>
                    <a:pt x="0" y="0"/>
                  </a:moveTo>
                  <a:lnTo>
                    <a:pt x="346710" y="5772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7990522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110490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8113395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8127682" y="3852862"/>
              <a:ext cx="115253" cy="560070"/>
            </a:xfrm>
            <a:custGeom>
              <a:avLst/>
              <a:gdLst/>
              <a:ahLst/>
              <a:cxnLst/>
              <a:rect l="l" t="t" r="r" b="b"/>
              <a:pathLst>
                <a:path w="115253" h="560070">
                  <a:moveTo>
                    <a:pt x="0" y="0"/>
                  </a:moveTo>
                  <a:lnTo>
                    <a:pt x="115253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7757160" y="2436495"/>
              <a:ext cx="1135380" cy="626745"/>
            </a:xfrm>
            <a:custGeom>
              <a:avLst/>
              <a:gdLst/>
              <a:ahLst/>
              <a:cxnLst/>
              <a:rect l="l" t="t" r="r" b="b"/>
              <a:pathLst>
                <a:path w="1135380" h="626745">
                  <a:moveTo>
                    <a:pt x="0" y="0"/>
                  </a:moveTo>
                  <a:lnTo>
                    <a:pt x="1135380" y="6267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8570595" y="3152775"/>
              <a:ext cx="346710" cy="577215"/>
            </a:xfrm>
            <a:custGeom>
              <a:avLst/>
              <a:gdLst/>
              <a:ahLst/>
              <a:cxnLst/>
              <a:rect l="l" t="t" r="r" b="b"/>
              <a:pathLst>
                <a:path w="346710" h="577215">
                  <a:moveTo>
                    <a:pt x="346710" y="0"/>
                  </a:moveTo>
                  <a:lnTo>
                    <a:pt x="0" y="5772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8406765" y="3852862"/>
              <a:ext cx="115253" cy="560070"/>
            </a:xfrm>
            <a:custGeom>
              <a:avLst/>
              <a:gdLst/>
              <a:ahLst/>
              <a:cxnLst/>
              <a:rect l="l" t="t" r="r" b="b"/>
              <a:pathLst>
                <a:path w="115253" h="560070">
                  <a:moveTo>
                    <a:pt x="115253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8536305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8548688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0" y="0"/>
                  </a:moveTo>
                  <a:lnTo>
                    <a:pt x="11049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8951595" y="3162300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8822055" y="3852862"/>
              <a:ext cx="116205" cy="560070"/>
            </a:xfrm>
            <a:custGeom>
              <a:avLst/>
              <a:gdLst/>
              <a:ahLst/>
              <a:cxnLst/>
              <a:rect l="l" t="t" r="r" b="b"/>
              <a:pathLst>
                <a:path w="116205" h="560070">
                  <a:moveTo>
                    <a:pt x="116205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951595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8963978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0" y="0"/>
                  </a:moveTo>
                  <a:lnTo>
                    <a:pt x="11049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8985885" y="3152775"/>
              <a:ext cx="346710" cy="577215"/>
            </a:xfrm>
            <a:custGeom>
              <a:avLst/>
              <a:gdLst/>
              <a:ahLst/>
              <a:cxnLst/>
              <a:rect l="l" t="t" r="r" b="b"/>
              <a:pathLst>
                <a:path w="346710" h="577215">
                  <a:moveTo>
                    <a:pt x="0" y="0"/>
                  </a:moveTo>
                  <a:lnTo>
                    <a:pt x="346710" y="5772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9243060" y="3852862"/>
              <a:ext cx="110490" cy="560070"/>
            </a:xfrm>
            <a:custGeom>
              <a:avLst/>
              <a:gdLst/>
              <a:ahLst/>
              <a:cxnLst/>
              <a:rect l="l" t="t" r="r" b="b"/>
              <a:pathLst>
                <a:path w="110490" h="560070">
                  <a:moveTo>
                    <a:pt x="110490" y="0"/>
                  </a:moveTo>
                  <a:lnTo>
                    <a:pt x="0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9366885" y="3853815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0"/>
                  </a:moveTo>
                  <a:lnTo>
                    <a:pt x="0" y="5581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9380220" y="3852862"/>
              <a:ext cx="116205" cy="560070"/>
            </a:xfrm>
            <a:custGeom>
              <a:avLst/>
              <a:gdLst/>
              <a:ahLst/>
              <a:cxnLst/>
              <a:rect l="l" t="t" r="r" b="b"/>
              <a:pathLst>
                <a:path w="116205" h="560070">
                  <a:moveTo>
                    <a:pt x="0" y="0"/>
                  </a:moveTo>
                  <a:lnTo>
                    <a:pt x="116205" y="5600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9414510" y="1759268"/>
              <a:ext cx="605790" cy="598170"/>
            </a:xfrm>
            <a:custGeom>
              <a:avLst/>
              <a:gdLst/>
              <a:ahLst/>
              <a:cxnLst/>
              <a:rect l="l" t="t" r="r" b="b"/>
              <a:pathLst>
                <a:path w="605790" h="598170">
                  <a:moveTo>
                    <a:pt x="0" y="0"/>
                  </a:moveTo>
                  <a:lnTo>
                    <a:pt x="605790" y="5981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9428798" y="1738312"/>
              <a:ext cx="1551622" cy="640080"/>
            </a:xfrm>
            <a:custGeom>
              <a:avLst/>
              <a:gdLst/>
              <a:ahLst/>
              <a:cxnLst/>
              <a:rect l="l" t="t" r="r" b="b"/>
              <a:pathLst>
                <a:path w="1551622" h="640080">
                  <a:moveTo>
                    <a:pt x="0" y="0"/>
                  </a:moveTo>
                  <a:lnTo>
                    <a:pt x="1551622" y="6400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74" name="Ellipse 74"/>
            <p:cNvSpPr/>
            <p:nvPr/>
          </p:nvSpPr>
          <p:spPr>
            <a:xfrm>
              <a:off x="9309735" y="1655445"/>
              <a:ext cx="114300" cy="114300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75" name="Ellipse 75"/>
            <p:cNvSpPr/>
            <p:nvPr/>
          </p:nvSpPr>
          <p:spPr>
            <a:xfrm>
              <a:off x="7640955" y="234696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6" name="Ellipse 76"/>
            <p:cNvSpPr/>
            <p:nvPr/>
          </p:nvSpPr>
          <p:spPr>
            <a:xfrm>
              <a:off x="6388418" y="303847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7" name="Ellipse 77"/>
            <p:cNvSpPr/>
            <p:nvPr/>
          </p:nvSpPr>
          <p:spPr>
            <a:xfrm>
              <a:off x="5966460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8" name="Ellipse 78"/>
            <p:cNvSpPr/>
            <p:nvPr/>
          </p:nvSpPr>
          <p:spPr>
            <a:xfrm>
              <a:off x="5830252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9" name="Ellipse 79"/>
            <p:cNvSpPr/>
            <p:nvPr/>
          </p:nvSpPr>
          <p:spPr>
            <a:xfrm>
              <a:off x="596646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0" name="Ellipse 80"/>
            <p:cNvSpPr/>
            <p:nvPr/>
          </p:nvSpPr>
          <p:spPr>
            <a:xfrm>
              <a:off x="610933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1" name="Ellipse 81"/>
            <p:cNvSpPr/>
            <p:nvPr/>
          </p:nvSpPr>
          <p:spPr>
            <a:xfrm>
              <a:off x="6388418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2" name="Ellipse 82"/>
            <p:cNvSpPr/>
            <p:nvPr/>
          </p:nvSpPr>
          <p:spPr>
            <a:xfrm>
              <a:off x="6245542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3" name="Ellipse 83"/>
            <p:cNvSpPr/>
            <p:nvPr/>
          </p:nvSpPr>
          <p:spPr>
            <a:xfrm>
              <a:off x="6388418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4" name="Ellipse 84"/>
            <p:cNvSpPr/>
            <p:nvPr/>
          </p:nvSpPr>
          <p:spPr>
            <a:xfrm>
              <a:off x="652462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5" name="Ellipse 85"/>
            <p:cNvSpPr/>
            <p:nvPr/>
          </p:nvSpPr>
          <p:spPr>
            <a:xfrm>
              <a:off x="6803708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6" name="Ellipse 86"/>
            <p:cNvSpPr/>
            <p:nvPr/>
          </p:nvSpPr>
          <p:spPr>
            <a:xfrm>
              <a:off x="666750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7" name="Ellipse 87"/>
            <p:cNvSpPr/>
            <p:nvPr/>
          </p:nvSpPr>
          <p:spPr>
            <a:xfrm>
              <a:off x="6803708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8" name="Ellipse 88"/>
            <p:cNvSpPr/>
            <p:nvPr/>
          </p:nvSpPr>
          <p:spPr>
            <a:xfrm>
              <a:off x="693991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89" name="Ellipse 89"/>
            <p:cNvSpPr/>
            <p:nvPr/>
          </p:nvSpPr>
          <p:spPr>
            <a:xfrm>
              <a:off x="7640955" y="303847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0" name="Ellipse 90"/>
            <p:cNvSpPr/>
            <p:nvPr/>
          </p:nvSpPr>
          <p:spPr>
            <a:xfrm>
              <a:off x="7218998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1" name="Ellipse 91"/>
            <p:cNvSpPr/>
            <p:nvPr/>
          </p:nvSpPr>
          <p:spPr>
            <a:xfrm>
              <a:off x="708279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2" name="Ellipse 92"/>
            <p:cNvSpPr/>
            <p:nvPr/>
          </p:nvSpPr>
          <p:spPr>
            <a:xfrm>
              <a:off x="7218998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3" name="Ellipse 93"/>
            <p:cNvSpPr/>
            <p:nvPr/>
          </p:nvSpPr>
          <p:spPr>
            <a:xfrm>
              <a:off x="7361872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4" name="Ellipse 94"/>
            <p:cNvSpPr/>
            <p:nvPr/>
          </p:nvSpPr>
          <p:spPr>
            <a:xfrm>
              <a:off x="7640955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5" name="Ellipse 95"/>
            <p:cNvSpPr/>
            <p:nvPr/>
          </p:nvSpPr>
          <p:spPr>
            <a:xfrm>
              <a:off x="749808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6" name="Ellipse 96"/>
            <p:cNvSpPr/>
            <p:nvPr/>
          </p:nvSpPr>
          <p:spPr>
            <a:xfrm>
              <a:off x="764095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7" name="Ellipse 97"/>
            <p:cNvSpPr/>
            <p:nvPr/>
          </p:nvSpPr>
          <p:spPr>
            <a:xfrm>
              <a:off x="7777162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8" name="Ellipse 98"/>
            <p:cNvSpPr/>
            <p:nvPr/>
          </p:nvSpPr>
          <p:spPr>
            <a:xfrm>
              <a:off x="8056245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99" name="Ellipse 99"/>
            <p:cNvSpPr/>
            <p:nvPr/>
          </p:nvSpPr>
          <p:spPr>
            <a:xfrm>
              <a:off x="7920038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0" name="Ellipse 100"/>
            <p:cNvSpPr/>
            <p:nvPr/>
          </p:nvSpPr>
          <p:spPr>
            <a:xfrm>
              <a:off x="805624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1" name="Ellipse 101"/>
            <p:cNvSpPr/>
            <p:nvPr/>
          </p:nvSpPr>
          <p:spPr>
            <a:xfrm>
              <a:off x="819912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2" name="Ellipse 102"/>
            <p:cNvSpPr/>
            <p:nvPr/>
          </p:nvSpPr>
          <p:spPr>
            <a:xfrm>
              <a:off x="8894445" y="303847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3" name="Ellipse 103"/>
            <p:cNvSpPr/>
            <p:nvPr/>
          </p:nvSpPr>
          <p:spPr>
            <a:xfrm>
              <a:off x="8479155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4" name="Ellipse 104"/>
            <p:cNvSpPr/>
            <p:nvPr/>
          </p:nvSpPr>
          <p:spPr>
            <a:xfrm>
              <a:off x="833628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5" name="Ellipse 105"/>
            <p:cNvSpPr/>
            <p:nvPr/>
          </p:nvSpPr>
          <p:spPr>
            <a:xfrm>
              <a:off x="847915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6" name="Ellipse 106"/>
            <p:cNvSpPr/>
            <p:nvPr/>
          </p:nvSpPr>
          <p:spPr>
            <a:xfrm>
              <a:off x="8615362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7" name="Ellipse 107"/>
            <p:cNvSpPr/>
            <p:nvPr/>
          </p:nvSpPr>
          <p:spPr>
            <a:xfrm>
              <a:off x="8894445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8" name="Ellipse 108"/>
            <p:cNvSpPr/>
            <p:nvPr/>
          </p:nvSpPr>
          <p:spPr>
            <a:xfrm>
              <a:off x="875157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09" name="Ellipse 109"/>
            <p:cNvSpPr/>
            <p:nvPr/>
          </p:nvSpPr>
          <p:spPr>
            <a:xfrm>
              <a:off x="889444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0" name="Ellipse 110"/>
            <p:cNvSpPr/>
            <p:nvPr/>
          </p:nvSpPr>
          <p:spPr>
            <a:xfrm>
              <a:off x="9030652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1" name="Ellipse 111"/>
            <p:cNvSpPr/>
            <p:nvPr/>
          </p:nvSpPr>
          <p:spPr>
            <a:xfrm>
              <a:off x="9309735" y="372999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2" name="Ellipse 112"/>
            <p:cNvSpPr/>
            <p:nvPr/>
          </p:nvSpPr>
          <p:spPr>
            <a:xfrm>
              <a:off x="9173528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3" name="Ellipse 113"/>
            <p:cNvSpPr/>
            <p:nvPr/>
          </p:nvSpPr>
          <p:spPr>
            <a:xfrm>
              <a:off x="9309735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4" name="Ellipse 114"/>
            <p:cNvSpPr/>
            <p:nvPr/>
          </p:nvSpPr>
          <p:spPr>
            <a:xfrm>
              <a:off x="9452610" y="4421505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5" name="Ellipse 115"/>
            <p:cNvSpPr/>
            <p:nvPr/>
          </p:nvSpPr>
          <p:spPr>
            <a:xfrm>
              <a:off x="10010775" y="234696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6" name="Ellipse 116"/>
            <p:cNvSpPr/>
            <p:nvPr/>
          </p:nvSpPr>
          <p:spPr>
            <a:xfrm>
              <a:off x="10984230" y="2346960"/>
              <a:ext cx="114300" cy="114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10002449" y="249602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……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10975904" y="249602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……</a:t>
              </a:r>
            </a:p>
          </p:txBody>
        </p:sp>
        <p:sp>
          <p:nvSpPr>
            <p:cNvPr id="119" name="Rectangle 119"/>
            <p:cNvSpPr/>
            <p:nvPr/>
          </p:nvSpPr>
          <p:spPr>
            <a:xfrm>
              <a:off x="8322945" y="1980248"/>
              <a:ext cx="4200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0" name="TextBox 120"/>
            <p:cNvSpPr txBox="1"/>
            <p:nvPr/>
          </p:nvSpPr>
          <p:spPr>
            <a:xfrm>
              <a:off x="8345592" y="2009299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x[1]=1</a:t>
              </a:r>
            </a:p>
          </p:txBody>
        </p:sp>
        <p:sp>
          <p:nvSpPr>
            <p:cNvPr id="121" name="Rectangle 121"/>
            <p:cNvSpPr/>
            <p:nvPr/>
          </p:nvSpPr>
          <p:spPr>
            <a:xfrm>
              <a:off x="6861810" y="2670810"/>
              <a:ext cx="4200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2" name="TextBox 122"/>
            <p:cNvSpPr txBox="1"/>
            <p:nvPr/>
          </p:nvSpPr>
          <p:spPr>
            <a:xfrm>
              <a:off x="6884457" y="2700814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x[2]=1</a:t>
              </a:r>
            </a:p>
          </p:txBody>
        </p:sp>
        <p:sp>
          <p:nvSpPr>
            <p:cNvPr id="123" name="Rectangle 123"/>
            <p:cNvSpPr/>
            <p:nvPr/>
          </p:nvSpPr>
          <p:spPr>
            <a:xfrm>
              <a:off x="6024562" y="3363278"/>
              <a:ext cx="4200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6047209" y="3392329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x[3]=1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5745480" y="4053840"/>
              <a:ext cx="4200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5768127" y="4083844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x[4]=1</a:t>
              </a:r>
            </a:p>
          </p:txBody>
        </p:sp>
        <p:sp>
          <p:nvSpPr>
            <p:cNvPr id="127" name="Rectangle 127"/>
            <p:cNvSpPr/>
            <p:nvPr/>
          </p:nvSpPr>
          <p:spPr>
            <a:xfrm>
              <a:off x="7631430" y="26708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8" name="TextBox 128"/>
            <p:cNvSpPr txBox="1"/>
            <p:nvPr/>
          </p:nvSpPr>
          <p:spPr>
            <a:xfrm>
              <a:off x="7662986" y="27008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9" name="Rectangle 129"/>
            <p:cNvSpPr/>
            <p:nvPr/>
          </p:nvSpPr>
          <p:spPr>
            <a:xfrm>
              <a:off x="8258175" y="267081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8289731" y="270081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31" name="Rectangle 131"/>
            <p:cNvSpPr/>
            <p:nvPr/>
          </p:nvSpPr>
          <p:spPr>
            <a:xfrm>
              <a:off x="9507855" y="1980248"/>
              <a:ext cx="4200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2" name="TextBox 132"/>
            <p:cNvSpPr txBox="1"/>
            <p:nvPr/>
          </p:nvSpPr>
          <p:spPr>
            <a:xfrm>
              <a:off x="9530502" y="2009299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x[1]=2</a:t>
              </a:r>
            </a:p>
          </p:txBody>
        </p:sp>
        <p:sp>
          <p:nvSpPr>
            <p:cNvPr id="133" name="Rectangle 133"/>
            <p:cNvSpPr/>
            <p:nvPr/>
          </p:nvSpPr>
          <p:spPr>
            <a:xfrm>
              <a:off x="9994582" y="1980248"/>
              <a:ext cx="42005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4" name="TextBox 134"/>
            <p:cNvSpPr txBox="1"/>
            <p:nvPr/>
          </p:nvSpPr>
          <p:spPr>
            <a:xfrm>
              <a:off x="10017229" y="2009299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x[1]=3</a:t>
              </a:r>
            </a:p>
          </p:txBody>
        </p:sp>
      </p:grpSp>
      <p:grpSp>
        <p:nvGrpSpPr>
          <p:cNvPr id="142" name="c2-callout-2"/>
          <p:cNvGrpSpPr/>
          <p:nvPr/>
        </p:nvGrpSpPr>
        <p:grpSpPr>
          <a:xfrm>
            <a:off x="5166360" y="4857750"/>
            <a:ext cx="6492240" cy="1089660"/>
            <a:chOff x="5166360" y="4857750"/>
            <a:chExt cx="6492240" cy="1089660"/>
          </a:xfrm>
        </p:grpSpPr>
        <p:sp>
          <p:nvSpPr>
            <p:cNvPr id="136" name="Rectangle 136"/>
            <p:cNvSpPr/>
            <p:nvPr/>
          </p:nvSpPr>
          <p:spPr>
            <a:xfrm>
              <a:off x="5166360" y="4857750"/>
              <a:ext cx="6492240" cy="1089660"/>
            </a:xfrm>
            <a:prstGeom prst="roundRect">
              <a:avLst>
                <a:gd name="adj" fmla="val 1049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40" name="Group 140"/>
            <p:cNvGrpSpPr/>
            <p:nvPr/>
          </p:nvGrpSpPr>
          <p:grpSpPr>
            <a:xfrm>
              <a:off x="5371148" y="5302568"/>
              <a:ext cx="200026" cy="200026"/>
              <a:chOff x="5371148" y="5302568"/>
              <a:chExt cx="200026" cy="200026"/>
            </a:xfrm>
          </p:grpSpPr>
          <p:sp>
            <p:nvSpPr>
              <p:cNvPr id="137" name="Freeform 137"/>
              <p:cNvSpPr/>
              <p:nvPr/>
            </p:nvSpPr>
            <p:spPr>
              <a:xfrm>
                <a:off x="5371148" y="53025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8" name="Freeform 138"/>
              <p:cNvSpPr/>
              <p:nvPr/>
            </p:nvSpPr>
            <p:spPr>
              <a:xfrm>
                <a:off x="5471160" y="53692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9" name="Freeform 139"/>
              <p:cNvSpPr/>
              <p:nvPr/>
            </p:nvSpPr>
            <p:spPr>
              <a:xfrm>
                <a:off x="5460048" y="540258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41" name="TextBox 141"/>
            <p:cNvSpPr txBox="1"/>
            <p:nvPr/>
          </p:nvSpPr>
          <p:spPr>
            <a:xfrm>
              <a:off x="5673090" y="5021580"/>
              <a:ext cx="55492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 3 叉树：叶结点 3⁴ = 81 个，共 1 + 3 + 9 + 27 + 81 = 121 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结点。一般地，最后一层有 mⁿ 个叶结点。脚本验证：这个 4 顶点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环用 3 种颜色有 18 种合法着色。</a:t>
              </a:r>
            </a:p>
          </p:txBody>
        </p:sp>
      </p:grpSp>
      <p:grpSp>
        <p:nvGrpSpPr>
          <p:cNvPr id="1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43" name="TextBox 1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83976" cy="909257"/>
            <a:chOff x="520446" y="342900"/>
            <a:chExt cx="60839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图着色问题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839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 7.7 MCOLORING 与算法 7.8 OK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708458" cy="3950970"/>
            <a:chOff x="533400" y="1524000"/>
            <a:chExt cx="6708458" cy="39509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3950970"/>
            </a:xfrm>
            <a:prstGeom prst="roundRect">
              <a:avLst>
                <a:gd name="adj" fmla="val 24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1685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7.7 回溯法求解图着色判定问题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5217414" cy="34661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MCOLORING(V, E, C, n, m)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图 G=(V,E)，n 个顶点，m 种颜色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C(1:n) ← 0; k ← 1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C 记录决策序列，从第一个顶点开始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k ≥ 1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C(k) ← C(k) + 1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while not OK(k) and C(k) ≤ m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C(k) ← C(k) + 1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C(k) ≤ m then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if k = n then print(C); return true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全部着色，打印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else k ← k + 1; C(k) ← 0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准备为下一个顶点着色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 k ← k - 1 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顶点 k 无法着色，回溯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           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k = 0：整棵树遍历完毕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false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MCOLORING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7546658" y="1524000"/>
            <a:ext cx="4111942" cy="2936558"/>
            <a:chOff x="7546658" y="1524000"/>
            <a:chExt cx="4111942" cy="2936558"/>
          </a:xfrm>
        </p:grpSpPr>
        <p:sp>
          <p:nvSpPr>
            <p:cNvPr id="11" name="Rectangle 11"/>
            <p:cNvSpPr/>
            <p:nvPr/>
          </p:nvSpPr>
          <p:spPr>
            <a:xfrm>
              <a:off x="7546658" y="1524000"/>
              <a:ext cx="4111942" cy="2936558"/>
            </a:xfrm>
            <a:prstGeom prst="roundRect">
              <a:avLst>
                <a:gd name="adj" fmla="val 324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75054" y="1675924"/>
              <a:ext cx="21959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7.8 判断顶点 k 的着色是否合法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74292" y="1937861"/>
              <a:ext cx="1732534" cy="2451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OK(k)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i, k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 ←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i &lt; k do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i 和 k 之间有边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and C(i) = C(k)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then return false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 ← i + 1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true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OK</a:t>
              </a:r>
            </a:p>
          </p:txBody>
        </p:sp>
      </p:grpSp>
      <p:grpSp>
        <p:nvGrpSpPr>
          <p:cNvPr id="21" name="c2-callout-2"/>
          <p:cNvGrpSpPr/>
          <p:nvPr/>
        </p:nvGrpSpPr>
        <p:grpSpPr>
          <a:xfrm>
            <a:off x="7546658" y="4651058"/>
            <a:ext cx="4111942" cy="823912"/>
            <a:chOff x="7546658" y="4651058"/>
            <a:chExt cx="4111942" cy="823912"/>
          </a:xfrm>
        </p:grpSpPr>
        <p:sp>
          <p:nvSpPr>
            <p:cNvPr id="15" name="Rectangle 15"/>
            <p:cNvSpPr/>
            <p:nvPr/>
          </p:nvSpPr>
          <p:spPr>
            <a:xfrm>
              <a:off x="7546658" y="4651058"/>
              <a:ext cx="4111942" cy="823912"/>
            </a:xfrm>
            <a:prstGeom prst="roundRect">
              <a:avLst>
                <a:gd name="adj" fmla="val 1387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751445" y="4962525"/>
              <a:ext cx="200026" cy="200025"/>
              <a:chOff x="7751445" y="4962525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751445" y="49625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91184" y="50069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825899" y="51181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8053388" y="4819650"/>
              <a:ext cx="2920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结构与 NQUEENS 相同：OK 相当于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PLACE，颜色号相当于列号。</a:t>
              </a:r>
            </a:p>
          </p:txBody>
        </p:sp>
      </p:grpSp>
      <p:grpSp>
        <p:nvGrpSpPr>
          <p:cNvPr id="2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" name="TextBox 2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904903" cy="909257"/>
            <a:chOff x="520446" y="342900"/>
            <a:chExt cx="49049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图着色问题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9049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MCOLORING 的正确性与复杂度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card-1"/>
          <p:cNvGrpSpPr/>
          <p:nvPr/>
        </p:nvGrpSpPr>
        <p:grpSpPr>
          <a:xfrm>
            <a:off x="533400" y="1524000"/>
            <a:ext cx="5951220" cy="3942398"/>
            <a:chOff x="533400" y="1524000"/>
            <a:chExt cx="5951220" cy="394239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942398"/>
            </a:xfrm>
            <a:prstGeom prst="roundRect">
              <a:avLst>
                <a:gd name="adj" fmla="val 33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67569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457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正确性要点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1050" y="209740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899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2040" y="2110740"/>
              <a:ext cx="4901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OK(k) 只检查顶点 k 与前 k−1 个已着色顶点；前面顶点之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间的冲突在它们着色时已经检查过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1050" y="271843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2899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2040" y="2731770"/>
              <a:ext cx="4844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C(k) 从上次的颜色继续加 1，回溯回来不会重复试同一种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颜色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1050" y="333946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2899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82040" y="3352800"/>
              <a:ext cx="4987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C(k) 超过 m 说明顶点 k 无色可用，退回 k−1 换颜色；k 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0 说明全部方案都试过，回答"否"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1050" y="396049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2899" y="40027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82040" y="3973830"/>
              <a:ext cx="4920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C(k) = m+1 时没有顶点是这个颜色，OK(k) 为真，内层循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环因此停止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4573" y="4591526"/>
              <a:ext cx="54372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要列出全部着色方案：打印后不 return，继续试 C(n) 的下一种颜色。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6789420" y="1524000"/>
            <a:ext cx="4869180" cy="2692718"/>
            <a:chOff x="6789420" y="1524000"/>
            <a:chExt cx="4869180" cy="2692718"/>
          </a:xfrm>
        </p:grpSpPr>
        <p:sp>
          <p:nvSpPr>
            <p:cNvPr id="25" name="Rectangle 25"/>
            <p:cNvSpPr/>
            <p:nvPr/>
          </p:nvSpPr>
          <p:spPr>
            <a:xfrm>
              <a:off x="6789420" y="1524000"/>
              <a:ext cx="486918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43835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7294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97243" y="2108359"/>
              <a:ext cx="6634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OK 一次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52688" y="2108359"/>
              <a:ext cx="29975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O(n)（邻接矩阵判断有无边为 O(1)）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789420" y="241649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89420" y="2421255"/>
              <a:ext cx="486918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97243" y="25569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解空间树结点数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52688" y="2556986"/>
              <a:ext cx="15723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m + m² + … + mⁿ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789420" y="286607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97243" y="30056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每个内部结点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552688" y="3005614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最多试 m 种颜色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789420" y="331470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89420" y="3319462"/>
              <a:ext cx="486918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97243" y="34542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最坏时间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52688" y="3454241"/>
              <a:ext cx="7591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O(n·mⁿ)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789420" y="376332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97243" y="390382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552688" y="3903821"/>
              <a:ext cx="11099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O(n)：数组 C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789420" y="1524000"/>
              <a:ext cx="486918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440102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llout-2"/>
          <p:cNvGrpSpPr/>
          <p:nvPr/>
        </p:nvGrpSpPr>
        <p:grpSpPr>
          <a:xfrm>
            <a:off x="6789420" y="4407218"/>
            <a:ext cx="4869180" cy="1059180"/>
            <a:chOff x="6789420" y="4407218"/>
            <a:chExt cx="4869180" cy="1059180"/>
          </a:xfrm>
        </p:grpSpPr>
        <p:sp>
          <p:nvSpPr>
            <p:cNvPr id="47" name="Rectangle 47"/>
            <p:cNvSpPr/>
            <p:nvPr/>
          </p:nvSpPr>
          <p:spPr>
            <a:xfrm>
              <a:off x="6789420" y="4407218"/>
              <a:ext cx="486918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994208" y="4836795"/>
              <a:ext cx="200026" cy="200026"/>
              <a:chOff x="6994208" y="4836795"/>
              <a:chExt cx="200026" cy="20002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994208" y="48367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094220" y="49034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083108" y="49368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296150" y="4555808"/>
              <a:ext cx="39681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2 时，判定问题就是判断图是否为二部图，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用一次宽度优先搜索即可在多项式时间内解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决；m ≥ 3 时是 NP-完全问题。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60322" cy="909257"/>
            <a:chOff x="520446" y="342900"/>
            <a:chExt cx="84603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图着色问题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603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实例：5 个顶点、3 种颜色，生成 14 个结点就找到方案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graph-1"/>
          <p:cNvGrpSpPr/>
          <p:nvPr/>
        </p:nvGrpSpPr>
        <p:grpSpPr>
          <a:xfrm>
            <a:off x="934042" y="1584960"/>
            <a:ext cx="3094441" cy="1772603"/>
            <a:chOff x="934042" y="1584960"/>
            <a:chExt cx="3094441" cy="1772603"/>
          </a:xfrm>
        </p:grpSpPr>
        <p:sp>
          <p:nvSpPr>
            <p:cNvPr id="7" name="Freeform 7"/>
            <p:cNvSpPr/>
            <p:nvPr/>
          </p:nvSpPr>
          <p:spPr>
            <a:xfrm>
              <a:off x="1386840" y="1839278"/>
              <a:ext cx="942022" cy="543878"/>
            </a:xfrm>
            <a:custGeom>
              <a:avLst/>
              <a:gdLst/>
              <a:ahLst/>
              <a:cxnLst/>
              <a:rect l="l" t="t" r="r" b="b"/>
              <a:pathLst>
                <a:path w="942022" h="543878">
                  <a:moveTo>
                    <a:pt x="942022" y="0"/>
                  </a:moveTo>
                  <a:lnTo>
                    <a:pt x="0" y="5438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33662" y="1839278"/>
              <a:ext cx="942022" cy="543878"/>
            </a:xfrm>
            <a:custGeom>
              <a:avLst/>
              <a:gdLst/>
              <a:ahLst/>
              <a:cxnLst/>
              <a:rect l="l" t="t" r="r" b="b"/>
              <a:pathLst>
                <a:path w="942022" h="543878">
                  <a:moveTo>
                    <a:pt x="0" y="0"/>
                  </a:moveTo>
                  <a:lnTo>
                    <a:pt x="942022" y="5438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410652" y="2470785"/>
              <a:ext cx="2141220" cy="9525"/>
            </a:xfrm>
            <a:custGeom>
              <a:avLst/>
              <a:gdLst/>
              <a:ahLst/>
              <a:cxnLst/>
              <a:rect l="l" t="t" r="r" b="b"/>
              <a:pathLst>
                <a:path w="2141220" h="9525">
                  <a:moveTo>
                    <a:pt x="0" y="0"/>
                  </a:moveTo>
                  <a:lnTo>
                    <a:pt x="21412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234440" y="2646998"/>
              <a:ext cx="9525" cy="367665"/>
            </a:xfrm>
            <a:custGeom>
              <a:avLst/>
              <a:gdLst/>
              <a:ahLst/>
              <a:cxnLst/>
              <a:rect l="l" t="t" r="r" b="b"/>
              <a:pathLst>
                <a:path w="9525" h="367665">
                  <a:moveTo>
                    <a:pt x="0" y="0"/>
                  </a:moveTo>
                  <a:lnTo>
                    <a:pt x="0" y="3676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403032" y="2519362"/>
              <a:ext cx="2155508" cy="622935"/>
            </a:xfrm>
            <a:custGeom>
              <a:avLst/>
              <a:gdLst/>
              <a:ahLst/>
              <a:cxnLst/>
              <a:rect l="l" t="t" r="r" b="b"/>
              <a:pathLst>
                <a:path w="2155508" h="622935">
                  <a:moveTo>
                    <a:pt x="0" y="0"/>
                  </a:moveTo>
                  <a:lnTo>
                    <a:pt x="2155508" y="6229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727132" y="2646998"/>
              <a:ext cx="9525" cy="367665"/>
            </a:xfrm>
            <a:custGeom>
              <a:avLst/>
              <a:gdLst/>
              <a:ahLst/>
              <a:cxnLst/>
              <a:rect l="l" t="t" r="r" b="b"/>
              <a:pathLst>
                <a:path w="9525" h="367665">
                  <a:moveTo>
                    <a:pt x="0" y="0"/>
                  </a:moveTo>
                  <a:lnTo>
                    <a:pt x="0" y="3676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410652" y="3190875"/>
              <a:ext cx="2141220" cy="9525"/>
            </a:xfrm>
            <a:custGeom>
              <a:avLst/>
              <a:gdLst/>
              <a:ahLst/>
              <a:cxnLst/>
              <a:rect l="l" t="t" r="r" b="b"/>
              <a:pathLst>
                <a:path w="2141220" h="9525">
                  <a:moveTo>
                    <a:pt x="0" y="0"/>
                  </a:moveTo>
                  <a:lnTo>
                    <a:pt x="21412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2314575" y="1584960"/>
              <a:ext cx="333375" cy="333375"/>
            </a:xfrm>
            <a:prstGeom prst="ellipse">
              <a:avLst/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067752" y="2304098"/>
              <a:ext cx="333375" cy="333375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3560445" y="2304098"/>
              <a:ext cx="333375" cy="333375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1067752" y="3024188"/>
              <a:ext cx="333375" cy="333375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560445" y="3024188"/>
              <a:ext cx="333375" cy="333375"/>
            </a:xfrm>
            <a:prstGeom prst="ellipse">
              <a:avLst/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425880" y="167640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99194" y="169021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9058" y="239649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34042" y="241030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1750" y="239649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946017" y="241030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79058" y="3115627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4042" y="313039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71750" y="3115627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46017" y="313039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43" name="c1-card-2"/>
          <p:cNvGrpSpPr/>
          <p:nvPr/>
        </p:nvGrpSpPr>
        <p:grpSpPr>
          <a:xfrm>
            <a:off x="533400" y="3603308"/>
            <a:ext cx="3895725" cy="2687002"/>
            <a:chOff x="533400" y="3603308"/>
            <a:chExt cx="3895725" cy="2687002"/>
          </a:xfrm>
        </p:grpSpPr>
        <p:sp>
          <p:nvSpPr>
            <p:cNvPr id="30" name="Rectangle 30"/>
            <p:cNvSpPr/>
            <p:nvPr/>
          </p:nvSpPr>
          <p:spPr>
            <a:xfrm>
              <a:off x="533400" y="3603308"/>
              <a:ext cx="3895725" cy="2687002"/>
            </a:xfrm>
            <a:prstGeom prst="roundRect">
              <a:avLst>
                <a:gd name="adj" fmla="val 49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42925" y="3736658"/>
              <a:ext cx="47625" cy="24203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75335" y="3807142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8792" y="384286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被杀死的结点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82955" y="424053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39546" y="4180046"/>
              <a:ext cx="12882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3：B 与 A 同色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2955" y="456057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39546" y="4500086"/>
              <a:ext cx="18867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5、6：C 与 A、B 同色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82955" y="488061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39546" y="4820126"/>
              <a:ext cx="26955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9、10、11：E 与 D、B、C 同色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82955" y="520065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9546" y="5140166"/>
              <a:ext cx="13933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12：D 与 B 同色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9239" y="5456872"/>
              <a:ext cx="331165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结点 14 得到方案 (1,2,3,3,1)，顶点旁数字为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颜色。完全 3 叉树有 3⁵ = 243 个叶结点；此图共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 6 种 3-着色方案（脚本验证）。</a:t>
              </a:r>
            </a:p>
          </p:txBody>
        </p:sp>
      </p:grpSp>
      <p:grpSp>
        <p:nvGrpSpPr>
          <p:cNvPr id="111" name="c2-graph-1"/>
          <p:cNvGrpSpPr/>
          <p:nvPr/>
        </p:nvGrpSpPr>
        <p:grpSpPr>
          <a:xfrm>
            <a:off x="5370195" y="1595438"/>
            <a:ext cx="5790248" cy="4623435"/>
            <a:chOff x="5370195" y="1595438"/>
            <a:chExt cx="5790248" cy="4623435"/>
          </a:xfrm>
        </p:grpSpPr>
        <p:sp>
          <p:nvSpPr>
            <p:cNvPr id="44" name="Freeform 44"/>
            <p:cNvSpPr/>
            <p:nvPr/>
          </p:nvSpPr>
          <p:spPr>
            <a:xfrm>
              <a:off x="6803708" y="1938338"/>
              <a:ext cx="9525" cy="505778"/>
            </a:xfrm>
            <a:custGeom>
              <a:avLst/>
              <a:gdLst/>
              <a:ahLst/>
              <a:cxnLst/>
              <a:rect l="l" t="t" r="r" b="b"/>
              <a:pathLst>
                <a:path w="9525" h="505778">
                  <a:moveTo>
                    <a:pt x="0" y="0"/>
                  </a:moveTo>
                  <a:lnTo>
                    <a:pt x="0" y="5057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5682615" y="2718435"/>
              <a:ext cx="976312" cy="661035"/>
            </a:xfrm>
            <a:custGeom>
              <a:avLst/>
              <a:gdLst/>
              <a:ahLst/>
              <a:cxnLst/>
              <a:rect l="l" t="t" r="r" b="b"/>
              <a:pathLst>
                <a:path w="976312" h="661035">
                  <a:moveTo>
                    <a:pt x="976312" y="0"/>
                  </a:moveTo>
                  <a:lnTo>
                    <a:pt x="0" y="6610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6949440" y="2718435"/>
              <a:ext cx="976312" cy="661035"/>
            </a:xfrm>
            <a:custGeom>
              <a:avLst/>
              <a:gdLst/>
              <a:ahLst/>
              <a:cxnLst/>
              <a:rect l="l" t="t" r="r" b="b"/>
              <a:pathLst>
                <a:path w="976312" h="661035">
                  <a:moveTo>
                    <a:pt x="0" y="0"/>
                  </a:moveTo>
                  <a:lnTo>
                    <a:pt x="976312" y="6610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6477000" y="3555682"/>
              <a:ext cx="1436370" cy="702945"/>
            </a:xfrm>
            <a:custGeom>
              <a:avLst/>
              <a:gdLst/>
              <a:ahLst/>
              <a:cxnLst/>
              <a:rect l="l" t="t" r="r" b="b"/>
              <a:pathLst>
                <a:path w="1436370" h="702945">
                  <a:moveTo>
                    <a:pt x="1436370" y="0"/>
                  </a:moveTo>
                  <a:lnTo>
                    <a:pt x="0" y="7029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7226618" y="3593782"/>
              <a:ext cx="712470" cy="625792"/>
            </a:xfrm>
            <a:custGeom>
              <a:avLst/>
              <a:gdLst/>
              <a:ahLst/>
              <a:cxnLst/>
              <a:rect l="l" t="t" r="r" b="b"/>
              <a:pathLst>
                <a:path w="712470" h="625792">
                  <a:moveTo>
                    <a:pt x="712470" y="0"/>
                  </a:moveTo>
                  <a:lnTo>
                    <a:pt x="0" y="62579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8229600" y="3555682"/>
              <a:ext cx="1436370" cy="702945"/>
            </a:xfrm>
            <a:custGeom>
              <a:avLst/>
              <a:gdLst/>
              <a:ahLst/>
              <a:cxnLst/>
              <a:rect l="l" t="t" r="r" b="b"/>
              <a:pathLst>
                <a:path w="1436370" h="702945">
                  <a:moveTo>
                    <a:pt x="0" y="0"/>
                  </a:moveTo>
                  <a:lnTo>
                    <a:pt x="1436370" y="7029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8795385" y="4439602"/>
              <a:ext cx="885825" cy="650557"/>
            </a:xfrm>
            <a:custGeom>
              <a:avLst/>
              <a:gdLst/>
              <a:ahLst/>
              <a:cxnLst/>
              <a:rect l="l" t="t" r="r" b="b"/>
              <a:pathLst>
                <a:path w="885825" h="650557">
                  <a:moveTo>
                    <a:pt x="885825" y="0"/>
                  </a:moveTo>
                  <a:lnTo>
                    <a:pt x="0" y="65055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7995285" y="5324475"/>
              <a:ext cx="540068" cy="597218"/>
            </a:xfrm>
            <a:custGeom>
              <a:avLst/>
              <a:gdLst/>
              <a:ahLst/>
              <a:cxnLst/>
              <a:rect l="l" t="t" r="r" b="b"/>
              <a:pathLst>
                <a:path w="540068" h="597218">
                  <a:moveTo>
                    <a:pt x="540068" y="0"/>
                  </a:moveTo>
                  <a:lnTo>
                    <a:pt x="0" y="59721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8653462" y="5369242"/>
              <a:ext cx="9525" cy="506730"/>
            </a:xfrm>
            <a:custGeom>
              <a:avLst/>
              <a:gdLst/>
              <a:ahLst/>
              <a:cxnLst/>
              <a:rect l="l" t="t" r="r" b="b"/>
              <a:pathLst>
                <a:path w="9525" h="506730">
                  <a:moveTo>
                    <a:pt x="0" y="0"/>
                  </a:moveTo>
                  <a:lnTo>
                    <a:pt x="0" y="5067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8771572" y="5323522"/>
              <a:ext cx="545783" cy="598170"/>
            </a:xfrm>
            <a:custGeom>
              <a:avLst/>
              <a:gdLst/>
              <a:ahLst/>
              <a:cxnLst/>
              <a:rect l="l" t="t" r="r" b="b"/>
              <a:pathLst>
                <a:path w="545783" h="598170">
                  <a:moveTo>
                    <a:pt x="0" y="0"/>
                  </a:moveTo>
                  <a:lnTo>
                    <a:pt x="545783" y="5981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9895522" y="4495800"/>
              <a:ext cx="242888" cy="538162"/>
            </a:xfrm>
            <a:custGeom>
              <a:avLst/>
              <a:gdLst/>
              <a:ahLst/>
              <a:cxnLst/>
              <a:rect l="l" t="t" r="r" b="b"/>
              <a:pathLst>
                <a:path w="242888" h="538162">
                  <a:moveTo>
                    <a:pt x="0" y="0"/>
                  </a:moveTo>
                  <a:lnTo>
                    <a:pt x="242888" y="53816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9965055" y="4439602"/>
              <a:ext cx="886777" cy="650557"/>
            </a:xfrm>
            <a:custGeom>
              <a:avLst/>
              <a:gdLst/>
              <a:ahLst/>
              <a:cxnLst/>
              <a:rect l="l" t="t" r="r" b="b"/>
              <a:pathLst>
                <a:path w="886777" h="650557">
                  <a:moveTo>
                    <a:pt x="0" y="0"/>
                  </a:moveTo>
                  <a:lnTo>
                    <a:pt x="886777" y="65055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10993755" y="5369242"/>
              <a:ext cx="9525" cy="506730"/>
            </a:xfrm>
            <a:custGeom>
              <a:avLst/>
              <a:gdLst/>
              <a:ahLst/>
              <a:cxnLst/>
              <a:rect l="l" t="t" r="r" b="b"/>
              <a:pathLst>
                <a:path w="9525" h="506730">
                  <a:moveTo>
                    <a:pt x="0" y="0"/>
                  </a:moveTo>
                  <a:lnTo>
                    <a:pt x="0" y="5067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6637020" y="1595438"/>
              <a:ext cx="333375" cy="333375"/>
            </a:xfrm>
            <a:prstGeom prst="ellipse">
              <a:avLst/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6637020" y="2453640"/>
              <a:ext cx="333375" cy="3333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9" name="Ellipse 59"/>
            <p:cNvSpPr/>
            <p:nvPr/>
          </p:nvSpPr>
          <p:spPr>
            <a:xfrm>
              <a:off x="5370195" y="3311842"/>
              <a:ext cx="333375" cy="3333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7904798" y="3311842"/>
              <a:ext cx="333375" cy="3333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1" name="Ellipse 61"/>
            <p:cNvSpPr/>
            <p:nvPr/>
          </p:nvSpPr>
          <p:spPr>
            <a:xfrm>
              <a:off x="6153150" y="4169092"/>
              <a:ext cx="333375" cy="3333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2" name="Ellipse 62"/>
            <p:cNvSpPr/>
            <p:nvPr/>
          </p:nvSpPr>
          <p:spPr>
            <a:xfrm>
              <a:off x="6928485" y="4169092"/>
              <a:ext cx="333375" cy="3333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9656445" y="4169092"/>
              <a:ext cx="333375" cy="3333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4" name="Ellipse 64"/>
            <p:cNvSpPr/>
            <p:nvPr/>
          </p:nvSpPr>
          <p:spPr>
            <a:xfrm>
              <a:off x="8486775" y="5027295"/>
              <a:ext cx="333375" cy="3333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5" name="Ellipse 65"/>
            <p:cNvSpPr/>
            <p:nvPr/>
          </p:nvSpPr>
          <p:spPr>
            <a:xfrm>
              <a:off x="7710488" y="5885498"/>
              <a:ext cx="333375" cy="3333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6" name="Ellipse 66"/>
            <p:cNvSpPr/>
            <p:nvPr/>
          </p:nvSpPr>
          <p:spPr>
            <a:xfrm>
              <a:off x="8486775" y="5885498"/>
              <a:ext cx="333375" cy="3333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7" name="Ellipse 67"/>
            <p:cNvSpPr/>
            <p:nvPr/>
          </p:nvSpPr>
          <p:spPr>
            <a:xfrm>
              <a:off x="9268778" y="5885498"/>
              <a:ext cx="333375" cy="3333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8" name="Ellipse 68"/>
            <p:cNvSpPr/>
            <p:nvPr/>
          </p:nvSpPr>
          <p:spPr>
            <a:xfrm>
              <a:off x="10044112" y="5027295"/>
              <a:ext cx="333375" cy="333375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9" name="Ellipse 69"/>
            <p:cNvSpPr/>
            <p:nvPr/>
          </p:nvSpPr>
          <p:spPr>
            <a:xfrm>
              <a:off x="10827068" y="5027295"/>
              <a:ext cx="333375" cy="3333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70" name="Ellipse 70"/>
            <p:cNvSpPr/>
            <p:nvPr/>
          </p:nvSpPr>
          <p:spPr>
            <a:xfrm>
              <a:off x="10827068" y="5885498"/>
              <a:ext cx="333375" cy="333375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754456" y="16921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754456" y="25503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5487631" y="34085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22234" y="34085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270586" y="42657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045921" y="42657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773881" y="42657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604211" y="51239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827924" y="59821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560675" y="59821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9342678" y="59821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118013" y="512397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0900968" y="512397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0900968" y="59821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6671310" y="2105978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693332" y="2137410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A=1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037898" y="2963228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059919" y="2995612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B=1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7305675" y="2963228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7327697" y="2995612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B=2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7062788" y="3821430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7084809" y="3852862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C=1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7450455" y="3821430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7472477" y="3852862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C=2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8815388" y="3821430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8837409" y="3852862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C=3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9105900" y="4679632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9127922" y="4711065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D=1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8133398" y="5536882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8155419" y="5569267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E=1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8521065" y="5536882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8543087" y="5569267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E=2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8911590" y="5536882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8933612" y="5569267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E=3</a:t>
              </a:r>
            </a:p>
          </p:txBody>
        </p:sp>
        <p:sp>
          <p:nvSpPr>
            <p:cNvPr id="105" name="Rectangle 105"/>
            <p:cNvSpPr/>
            <p:nvPr/>
          </p:nvSpPr>
          <p:spPr>
            <a:xfrm>
              <a:off x="9885045" y="4679632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9907067" y="4711065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D=2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10276522" y="4679632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10298544" y="4711065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D=3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10861358" y="5536882"/>
              <a:ext cx="26479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10883379" y="5569267"/>
              <a:ext cx="2207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E=1</a:t>
              </a:r>
            </a:p>
          </p:txBody>
        </p:sp>
      </p:grpSp>
      <p:grpSp>
        <p:nvGrpSpPr>
          <p:cNvPr id="11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2" name="TextBox 11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图着色问题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小结：解空间树的形状、回溯法的效率与改进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059805" cy="2223135"/>
            <a:chOff x="533400" y="1524000"/>
            <a:chExt cx="6059805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92886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解空间树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5024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问题的解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164724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叶结点数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8803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3412" y="2054066"/>
              <a:ext cx="8648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集合树（子集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66912" y="215407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对已知集合元素的取舍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48138" y="215407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95862" y="2154079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子集和数、0/1 背包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5307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535555"/>
              <a:ext cx="605980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7598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排列树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66912" y="27598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对已知集合元素的排列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48138" y="2759869"/>
              <a:ext cx="139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n!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95862" y="2659856"/>
              <a:ext cx="14053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n-皇后（各 xᵢ 互不相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13658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3365659"/>
              <a:ext cx="8282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 m 叉树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66912" y="3265646"/>
              <a:ext cx="176809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每个分量从 m 个值中任取，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可以重复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48138" y="3365659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mⁿ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995862" y="3365659"/>
              <a:ext cx="1157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图的 m-着色判定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6059805" cy="22231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862138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043362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891088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rd-2"/>
          <p:cNvGrpSpPr/>
          <p:nvPr/>
        </p:nvGrpSpPr>
        <p:grpSpPr>
          <a:xfrm>
            <a:off x="533400" y="3922395"/>
            <a:ext cx="6059805" cy="1663065"/>
            <a:chOff x="533400" y="3922395"/>
            <a:chExt cx="6059805" cy="1663065"/>
          </a:xfrm>
        </p:grpSpPr>
        <p:sp>
          <p:nvSpPr>
            <p:cNvPr id="32" name="Rectangle 32"/>
            <p:cNvSpPr/>
            <p:nvPr/>
          </p:nvSpPr>
          <p:spPr>
            <a:xfrm>
              <a:off x="533400" y="3922395"/>
              <a:ext cx="6059805" cy="1663065"/>
            </a:xfrm>
            <a:prstGeom prst="roundRect">
              <a:avLst>
                <a:gd name="adj" fmla="val 80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4055745"/>
              <a:ext cx="47625" cy="13963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63905" y="41148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55345" y="41490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7047" y="4471035"/>
              <a:ext cx="53458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原课件小结把图着色判定问题归为排列树。不相邻的顶点可以同色，xᵢ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可重复取值，解空间树是完全 m 叉树（与原课件 7.5 节一致）。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898005" y="1524000"/>
            <a:ext cx="4760595" cy="1814512"/>
            <a:chOff x="6898005" y="1524000"/>
            <a:chExt cx="4760595" cy="1814512"/>
          </a:xfrm>
        </p:grpSpPr>
        <p:sp>
          <p:nvSpPr>
            <p:cNvPr id="38" name="Rectangle 38"/>
            <p:cNvSpPr/>
            <p:nvPr/>
          </p:nvSpPr>
          <p:spPr>
            <a:xfrm>
              <a:off x="6898005" y="1524000"/>
              <a:ext cx="4760595" cy="1814512"/>
            </a:xfrm>
            <a:prstGeom prst="roundRect">
              <a:avLst>
                <a:gd name="adj" fmla="val 73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07530" y="1657350"/>
              <a:ext cx="47625" cy="154781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128510" y="1716405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195947" y="175069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回溯法的效率问题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137082" y="212883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93102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解空间树的大小：决定最坏情况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137082" y="243173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293102" y="2375535"/>
              <a:ext cx="35058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限界函数 B 的剪枝能力：决定动态树的大小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137082" y="273462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93102" y="2678430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求问题全部的解时，可以用蒙特卡罗方法估计算法效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898005" y="3513772"/>
            <a:ext cx="4760595" cy="2071688"/>
            <a:chOff x="6898005" y="3513772"/>
            <a:chExt cx="4760595" cy="2071688"/>
          </a:xfrm>
        </p:grpSpPr>
        <p:sp>
          <p:nvSpPr>
            <p:cNvPr id="49" name="Rectangle 49"/>
            <p:cNvSpPr/>
            <p:nvPr/>
          </p:nvSpPr>
          <p:spPr>
            <a:xfrm>
              <a:off x="6898005" y="3513772"/>
              <a:ext cx="4760595" cy="2071688"/>
            </a:xfrm>
            <a:prstGeom prst="roundRect">
              <a:avLst>
                <a:gd name="adj" fmla="val 64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907530" y="3647122"/>
              <a:ext cx="47625" cy="180498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128510" y="3706178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03948" y="374046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回溯法的改进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137082" y="411861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293102" y="4062412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根据树的分支情况设计优先策略，如优先搜索结点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少、解多的分支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7137082" y="467868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293102" y="4622482"/>
              <a:ext cx="38541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利用搜索树的对称性剪裁子树，如 n-皇后的解左右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翻转后仍是解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7137082" y="523779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293102" y="5181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分解成子问题，求解完子问题之后合并出原问题的解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0" name="Rectangle 6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892" y="6023610"/>
              <a:ext cx="95912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判断方法：解是对元素的取舍，用子集树；解是元素的一种排列，用排列树；分量可重复地取 m 个值之一，用 m 叉树。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00822" cy="909257"/>
            <a:chOff x="520446" y="342900"/>
            <a:chExt cx="20008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 · 图着色问题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408872"/>
            <a:chOff x="533400" y="1524000"/>
            <a:chExt cx="3505200" cy="240887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9996" y="2100739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什么是多米诺性质？回溯法为什么离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不开它？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9996" y="2692241"/>
              <a:ext cx="289991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P(x₁,…,xᵢ₊₁) 为真则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P(x₁,…,xᵢ) 为真。部分解不满足约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束时，它的扩展都不满足，剪掉整棵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子树不会漏解。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4118610"/>
            <a:ext cx="3505200" cy="2137410"/>
            <a:chOff x="533400" y="4118610"/>
            <a:chExt cx="3505200" cy="2137410"/>
          </a:xfrm>
        </p:grpSpPr>
        <p:sp>
          <p:nvSpPr>
            <p:cNvPr id="13" name="Rectangle 13"/>
            <p:cNvSpPr/>
            <p:nvPr/>
          </p:nvSpPr>
          <p:spPr>
            <a:xfrm>
              <a:off x="533400" y="411861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432244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722" y="435816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996" y="4695349"/>
              <a:ext cx="287872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ESTIMATE 沿一条路径得到各层不受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限界的儿子数依次为 3、2、2、1，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估计值 m 是多少？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996" y="5558314"/>
              <a:ext cx="293598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1 + 3 + 3·2 + 3·2·2 + 3·2·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2·1 = 1 + 3 + 6 + 12 + 12 = 34。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1865948"/>
            <a:chOff x="4343400" y="1524000"/>
            <a:chExt cx="3505200" cy="1865948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1865948"/>
            </a:xfrm>
            <a:prstGeom prst="roundRect">
              <a:avLst>
                <a:gd name="adj" fmla="val 714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9996" y="2100739"/>
              <a:ext cx="283229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子集和数问题用 k-元组、n-元组表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示时，哪些结点是解状态？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9996" y="2692241"/>
              <a:ext cx="29179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k-元组表示中每个结点都是解状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态；n-元组表示中只有叶结点是。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575685"/>
            <a:ext cx="3505200" cy="2680335"/>
            <a:chOff x="4343400" y="3575685"/>
            <a:chExt cx="3505200" cy="2680335"/>
          </a:xfrm>
        </p:grpSpPr>
        <p:sp>
          <p:nvSpPr>
            <p:cNvPr id="25" name="Rectangle 25"/>
            <p:cNvSpPr/>
            <p:nvPr/>
          </p:nvSpPr>
          <p:spPr>
            <a:xfrm>
              <a:off x="4343400" y="3575685"/>
              <a:ext cx="3505200" cy="2680335"/>
            </a:xfrm>
            <a:prstGeom prst="roundRect">
              <a:avLst>
                <a:gd name="adj" fmla="val 497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7235" y="377952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4722" y="381523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9996" y="4152424"/>
              <a:ext cx="2773229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30，W =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(5,10,12,13,15,18)，X =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(1,0,0,0) 对应结点的 s、r 是多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少？B 值是多少？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9996" y="5286851"/>
              <a:ext cx="284581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= 5，r = 15 + 18 = 33。5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 ≥ 30 且 5 + 15 ≤ 30，B 值为 T。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37410"/>
            <a:chOff x="8153400" y="1524000"/>
            <a:chExt cx="3505200" cy="2137410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9996" y="2100739"/>
              <a:ext cx="289766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4-皇后问题中，部分解 (1, 3) 能扩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展出答案吗？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9996" y="2692241"/>
              <a:ext cx="295402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不能。第 3 行只剩第 2、4 列不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同列，但都与第 2 行第 3 列的皇后同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斜线。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47148"/>
            <a:ext cx="3505200" cy="2408872"/>
            <a:chOff x="8153400" y="3847148"/>
            <a:chExt cx="3505200" cy="2408872"/>
          </a:xfrm>
        </p:grpSpPr>
        <p:sp>
          <p:nvSpPr>
            <p:cNvPr id="37" name="Rectangle 37"/>
            <p:cNvSpPr/>
            <p:nvPr/>
          </p:nvSpPr>
          <p:spPr>
            <a:xfrm>
              <a:off x="815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9996" y="4423886"/>
              <a:ext cx="290397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MCOLORING 给环 1-2-3-4-1 着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色，m = 2，第一个输出的方案是什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9996" y="5286851"/>
              <a:ext cx="284581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= (1, 2, 1, 2)。顶点 3 不与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相邻，可取 1；顶点 4 与 1、3 相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邻，取 2。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0490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916" y="40719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回溯法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167438" cy="2360295"/>
            <a:chOff x="533400" y="1524000"/>
            <a:chExt cx="6167438" cy="23602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167438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915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93011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解空间树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904678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限界函数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693474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最坏时间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8746" y="2191702"/>
              <a:ext cx="5218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n-皇后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25537" y="2085022"/>
              <a:ext cx="12542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排列树，n! 个叶结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29546" y="2085022"/>
              <a:ext cx="13456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PLACE：列不同，且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|X(i)−X(k)| ≠ |i−k|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449824" y="2191702"/>
              <a:ext cx="7281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O(n²·n!)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592705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597468"/>
              <a:ext cx="6167438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746" y="283559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625537" y="2728912"/>
              <a:ext cx="12923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子集树，2ⁿ 个叶结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229546" y="2728912"/>
              <a:ext cx="18105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+ r ≥ M 且 s + W(k+1) ≤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49824" y="2835592"/>
              <a:ext cx="5157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O(2ⁿ)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236595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3372802"/>
              <a:ext cx="677418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m-着色判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25537" y="3372802"/>
              <a:ext cx="11780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叉树，mⁿ 个叶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229546" y="3479482"/>
              <a:ext cx="16879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OK：相邻顶点颜色不同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449824" y="3479482"/>
              <a:ext cx="7117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O(n·mⁿ)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6167438" cy="2360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515428" y="1524000"/>
              <a:ext cx="9525" cy="2360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3119438" y="1524000"/>
              <a:ext cx="9525" cy="2360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9715" y="1524000"/>
              <a:ext cx="9525" cy="2360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1-card-2"/>
          <p:cNvGrpSpPr/>
          <p:nvPr/>
        </p:nvGrpSpPr>
        <p:grpSpPr>
          <a:xfrm>
            <a:off x="533400" y="4070032"/>
            <a:ext cx="6167438" cy="1963102"/>
            <a:chOff x="533400" y="4070032"/>
            <a:chExt cx="6167438" cy="1963102"/>
          </a:xfrm>
        </p:grpSpPr>
        <p:sp>
          <p:nvSpPr>
            <p:cNvPr id="32" name="Rectangle 32"/>
            <p:cNvSpPr/>
            <p:nvPr/>
          </p:nvSpPr>
          <p:spPr>
            <a:xfrm>
              <a:off x="533400" y="4070032"/>
              <a:ext cx="6167438" cy="1963102"/>
            </a:xfrm>
            <a:prstGeom prst="roundRect">
              <a:avLst>
                <a:gd name="adj" fmla="val 67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4203382"/>
              <a:ext cx="47625" cy="169640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75335" y="4273868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2040" y="430958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2955" y="470725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39546" y="4646771"/>
              <a:ext cx="24613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k-元组长度 k ≤ n（第 5 页）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82955" y="502729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39546" y="4966811"/>
              <a:ext cx="46118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8-皇后排列树结点数、路径 2 估计值（第 28、30 页）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82955" y="534733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9546" y="5286851"/>
              <a:ext cx="55527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子集和数限界条件、SUMOFSUB、实例数据（第 33、34、40 页）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82955" y="566737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39546" y="5606891"/>
              <a:ext cx="36560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图着色解空间树是完全 m 叉树（第 47 页）</a:t>
              </a:r>
            </a:p>
          </p:txBody>
        </p:sp>
      </p:grpSp>
      <p:grpSp>
        <p:nvGrpSpPr>
          <p:cNvPr id="57" name="c2-bullets-1"/>
          <p:cNvGrpSpPr/>
          <p:nvPr/>
        </p:nvGrpSpPr>
        <p:grpSpPr>
          <a:xfrm>
            <a:off x="7006590" y="1535430"/>
            <a:ext cx="4701108" cy="1821276"/>
            <a:chOff x="7006590" y="1535430"/>
            <a:chExt cx="4701108" cy="1821276"/>
          </a:xfrm>
        </p:grpSpPr>
        <p:sp>
          <p:nvSpPr>
            <p:cNvPr id="45" name="Ellipse 45"/>
            <p:cNvSpPr/>
            <p:nvPr/>
          </p:nvSpPr>
          <p:spPr>
            <a:xfrm>
              <a:off x="7006590" y="1535430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64935" y="157481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296531" y="1547336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回溯法在解空间树上深度优先搜索，用限界函数剪掉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不可能导致答案的子树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006590" y="2135505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064935" y="217584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96531" y="2148364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设计步骤：定解向量，分显式、隐式约束，定解空间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树，设计限界函数，深度优先搜索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006590" y="2736532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064935" y="27768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296531" y="274939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多米诺性质保证剪枝不漏解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006590" y="3066098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064935" y="310643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296531" y="3078004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求全部解之前可用蒙特卡罗方法估计要生成的结点数</a:t>
              </a:r>
            </a:p>
          </p:txBody>
        </p:sp>
      </p:grpSp>
      <p:grpSp>
        <p:nvGrpSpPr>
          <p:cNvPr id="67" name="c2-card-2"/>
          <p:cNvGrpSpPr/>
          <p:nvPr/>
        </p:nvGrpSpPr>
        <p:grpSpPr>
          <a:xfrm>
            <a:off x="7005638" y="3486150"/>
            <a:ext cx="4652962" cy="2546985"/>
            <a:chOff x="7005638" y="3486150"/>
            <a:chExt cx="4652962" cy="2546985"/>
          </a:xfrm>
        </p:grpSpPr>
        <p:sp>
          <p:nvSpPr>
            <p:cNvPr id="58" name="Rectangle 58"/>
            <p:cNvSpPr/>
            <p:nvPr/>
          </p:nvSpPr>
          <p:spPr>
            <a:xfrm>
              <a:off x="7005638" y="3486150"/>
              <a:ext cx="4652962" cy="2546985"/>
            </a:xfrm>
            <a:prstGeom prst="roundRect">
              <a:avLst>
                <a:gd name="adj" fmla="val 5236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209472" y="368998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291781" y="372570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复习建议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7217092" y="4123373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373684" y="4062889"/>
              <a:ext cx="38196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动手画动态树：4-皇后、子集和数、图着色各画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一遍，写出每个结点的限界判断依据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217092" y="471487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373684" y="4654391"/>
              <a:ext cx="38816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 ESTIMATE 沿一条随机路径手算一次估计值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7217092" y="503491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373684" y="4974431"/>
              <a:ext cx="38016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对照左表，说出三个算法各自的解空间树、限界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函数和最坏时间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第7章 回溯法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lgo_ch7">
  <a:themeElements>
    <a:clrScheme name="algo_ch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go_ch7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lgo_ch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2026-09-23T03:04:47Z</dcterms:created>
  <dcterms:modified xsi:type="dcterms:W3CDTF">2026-09-23T03:04:47Z</dcterms:modified>
  <cp:category/>
  <cp:contentStatus/>
</cp:coreProperties>
</file>