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algo_ch7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algo_ch7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lang="zh-C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22ff3230d164a495.png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36e4b6381178e084.png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2ec816631d957577.png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ver-hero"/>
          <p:cNvPicPr>
            <a:picLocks noChangeAspect="1"/>
          </p:cNvPicPr>
          <p:nvPr/>
        </p:nvPicPr>
        <p:blipFill>
          <a:blip r:embed="rId2"/>
          <a:srcRect l="0" t="26" r="0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ver-scrim"/>
          <p:cNvSpPr/>
          <p:nvPr/>
        </p:nvSpPr>
        <p:spPr>
          <a:xfrm>
            <a:off x="0" y="0"/>
            <a:ext cx="7620000" cy="6858000"/>
          </a:xfrm>
          <a:prstGeom prst="rect">
            <a:avLst/>
          </a:prstGeom>
          <a:gradFill>
            <a:gsLst>
              <a:gs pos="0">
                <a:srgbClr val="FFFFFF">
                  <a:alpha val="97000"/>
                </a:srgbClr>
              </a:gs>
              <a:gs pos="58000">
                <a:srgbClr val="FFFFFF">
                  <a:alpha val="85000"/>
                </a:srgbClr>
              </a:gs>
              <a:gs pos="100000">
                <a:srgbClr val="FFFFFF">
                  <a:alpha val="0"/>
                </a:srgbClr>
              </a:gs>
            </a:gsLst>
            <a:lin ang="0" scaled="1"/>
          </a:gradFill>
          <a:ln>
            <a:noFill/>
          </a:ln>
        </p:spPr>
      </p:sp>
      <p:grpSp>
        <p:nvGrpSpPr>
          <p:cNvPr id="17" name="cover-title"/>
          <p:cNvGrpSpPr/>
          <p:nvPr/>
        </p:nvGrpSpPr>
        <p:grpSpPr>
          <a:xfrm>
            <a:off x="666750" y="1619250"/>
            <a:ext cx="4632198" cy="3437763"/>
            <a:chOff x="666750" y="1619250"/>
            <a:chExt cx="4632198" cy="3437763"/>
          </a:xfrm>
        </p:grpSpPr>
        <p:sp>
          <p:nvSpPr>
            <p:cNvPr id="4" name="Rectangle 4"/>
            <p:cNvSpPr/>
            <p:nvPr/>
          </p:nvSpPr>
          <p:spPr>
            <a:xfrm>
              <a:off x="685800" y="1619250"/>
              <a:ext cx="1986915" cy="3429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802035" y="1718310"/>
              <a:ext cx="17544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算法设计与分析 · 第7章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66750" y="2407920"/>
              <a:ext cx="1734312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回溯法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685800" y="3147060"/>
              <a:ext cx="990600" cy="5715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76656" y="3467100"/>
              <a:ext cx="462229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在解空间树上深度优先搜索，走不通就退回</a:t>
              </a:r>
            </a:p>
          </p:txBody>
        </p:sp>
        <p:sp>
          <p:nvSpPr>
            <p:cNvPr id="9" name="Ellipse 9"/>
            <p:cNvSpPr/>
            <p:nvPr/>
          </p:nvSpPr>
          <p:spPr>
            <a:xfrm>
              <a:off x="709612" y="3976688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9442" y="3921442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多米诺性质与解空间树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09612" y="4267200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69442" y="4211955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蒙特卡罗效率估计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09612" y="4557712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69442" y="4502468"/>
              <a:ext cx="14857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n-皇后与子集和数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09612" y="4848225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69442" y="4792980"/>
              <a:ext cx="139491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图的 m-着色判定</a:t>
              </a:r>
            </a:p>
          </p:txBody>
        </p:sp>
      </p:grpSp>
      <p:grpSp>
        <p:nvGrpSpPr>
          <p:cNvPr id="19" name="cover-credit"/>
          <p:cNvGrpSpPr/>
          <p:nvPr/>
        </p:nvGrpSpPr>
        <p:grpSpPr>
          <a:xfrm>
            <a:off x="680466" y="6192202"/>
            <a:ext cx="4491495" cy="205359"/>
            <a:chOff x="680466" y="6192202"/>
            <a:chExt cx="4491495" cy="205359"/>
          </a:xfrm>
        </p:grpSpPr>
        <p:sp>
          <p:nvSpPr>
            <p:cNvPr id="18" name="TextBox 18"/>
            <p:cNvSpPr txBox="1"/>
            <p:nvPr/>
          </p:nvSpPr>
          <p:spPr>
            <a:xfrm>
              <a:off x="680466" y="6192202"/>
              <a:ext cx="449149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重制讲义 · 自学复习版｜据吉林大学《算法设计与分析》第7章课件整理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2085594" cy="909257"/>
            <a:chOff x="520446" y="342900"/>
            <a:chExt cx="208559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10490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35916" y="407194"/>
              <a:ext cx="89986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第7章 回溯法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208559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本章学习路线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0" name="c1-agenda-1"/>
          <p:cNvGrpSpPr/>
          <p:nvPr/>
        </p:nvGrpSpPr>
        <p:grpSpPr>
          <a:xfrm>
            <a:off x="521970" y="1515428"/>
            <a:ext cx="6287453" cy="4461795"/>
            <a:chOff x="521970" y="1515428"/>
            <a:chExt cx="6287453" cy="4461795"/>
          </a:xfrm>
        </p:grpSpPr>
        <p:sp>
          <p:nvSpPr>
            <p:cNvPr id="7" name="TextBox 7"/>
            <p:cNvSpPr txBox="1"/>
            <p:nvPr/>
          </p:nvSpPr>
          <p:spPr>
            <a:xfrm>
              <a:off x="521970" y="151542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65086" y="155162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一般方法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66990" y="1868329"/>
              <a:ext cx="414848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多米诺性质、约束条件、解空间树、动态树、算法框架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073468" y="2181225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21970" y="2286952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65086" y="2323148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效率估计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66990" y="2639854"/>
              <a:ext cx="37888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影响效率的四个因素，蒙特卡罗方法与 ESTIMATE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1073468" y="2953702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21970" y="305847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65086" y="3094673"/>
              <a:ext cx="116180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n-皇后问题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66990" y="3412331"/>
              <a:ext cx="461405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限界函数 PLACE、NQUEENS、4-皇后搜索过程、8-皇后估计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1073468" y="3725228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21970" y="3830955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65086" y="3867150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子集和数问题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66990" y="4183856"/>
              <a:ext cx="352620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两种元组表示、限界函数、SUMOFSUB 与实例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1073468" y="4497705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21970" y="4602480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65086" y="4638675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图着色问题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66990" y="4955381"/>
              <a:ext cx="309736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m-着色判定、MCOLORING、实例搜索树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1073468" y="5269230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21970" y="537495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06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65086" y="5411152"/>
              <a:ext cx="4610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小结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66990" y="5727859"/>
              <a:ext cx="294228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解空间树的分类、回溯法的效率与改进</a:t>
              </a:r>
            </a:p>
          </p:txBody>
        </p:sp>
      </p:grpSp>
      <p:grpSp>
        <p:nvGrpSpPr>
          <p:cNvPr id="45" name="c2-card-1"/>
          <p:cNvGrpSpPr/>
          <p:nvPr/>
        </p:nvGrpSpPr>
        <p:grpSpPr>
          <a:xfrm>
            <a:off x="7114222" y="1524000"/>
            <a:ext cx="4544378" cy="4402455"/>
            <a:chOff x="7114222" y="1524000"/>
            <a:chExt cx="4544378" cy="4402455"/>
          </a:xfrm>
        </p:grpSpPr>
        <p:sp>
          <p:nvSpPr>
            <p:cNvPr id="31" name="Rectangle 31"/>
            <p:cNvSpPr/>
            <p:nvPr/>
          </p:nvSpPr>
          <p:spPr>
            <a:xfrm>
              <a:off x="7114222" y="1524000"/>
              <a:ext cx="4544378" cy="4402455"/>
            </a:xfrm>
            <a:prstGeom prst="roundRect">
              <a:avLst>
                <a:gd name="adj" fmla="val 302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7123748" y="1657350"/>
              <a:ext cx="47625" cy="4135755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7361872" y="1733550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443229" y="176926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学习目标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7367588" y="2173605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525702" y="211074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为问题写出解向量、显式约束和隐式约束，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并检验多米诺性质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7367588" y="2794635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525702" y="273177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区分问题状态、解状态、答案状态，以及活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结点、E-结点、死结点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7367588" y="3415665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525702" y="3352800"/>
              <a:ext cx="37109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写出回溯法的递归与非递归框架，套用到 n-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皇后、子集和数、图着色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7367588" y="4036695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525702" y="397383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手工画出小规模实例的动态树，标出被限界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函数杀死的结点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7367588" y="4657725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7525702" y="459486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用蒙特卡罗方法估计回溯算法要生成的结点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</a:t>
              </a:r>
            </a:p>
          </p:txBody>
        </p:sp>
      </p:grpSp>
      <p:grpSp>
        <p:nvGrpSpPr>
          <p:cNvPr id="4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6" name="TextBox 46"/>
            <p:cNvSpPr txBox="1"/>
            <p:nvPr/>
          </p:nvSpPr>
          <p:spPr>
            <a:xfrm>
              <a:off x="528447" y="6581299"/>
              <a:ext cx="18568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第7章 回溯法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2F4B9A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8EDF8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4913376" cy="3351847"/>
            <a:chOff x="667512" y="1835468"/>
            <a:chExt cx="4913376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第一部分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3913632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回溯法的一般方法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490347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什么问题适合回溯，搜索在一棵什么样的树上进行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适用问题与多米诺性质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约束条件与解空间树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静态树、动态树与结点状态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回溯法的算法框架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18568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第7章 回溯法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578090" cy="909257"/>
            <a:chOff x="520446" y="342900"/>
            <a:chExt cx="757809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第7章 回溯法 · 回溯法的一般方法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57809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回溯法：按深度优先搜索解，走不通就退回上一步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8" name="c1-card-1"/>
          <p:cNvGrpSpPr/>
          <p:nvPr/>
        </p:nvGrpSpPr>
        <p:grpSpPr>
          <a:xfrm>
            <a:off x="533400" y="1524000"/>
            <a:ext cx="5735002" cy="2352675"/>
            <a:chOff x="533400" y="1524000"/>
            <a:chExt cx="5735002" cy="235267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735002" cy="2352675"/>
            </a:xfrm>
            <a:prstGeom prst="roundRect">
              <a:avLst>
                <a:gd name="adj" fmla="val 566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085975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3905" y="1716405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5345" y="175069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47597" y="1756410"/>
              <a:ext cx="213984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回溯法（Backtracking）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57047" y="2090738"/>
              <a:ext cx="49857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回溯法是一种搜索算法，也是通用的解题法：以</a:t>
              </a:r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深度优先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的方式系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统地搜索问题的解，每走一步都检查当前的部分解还有没有希望。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72478" y="2706052"/>
              <a:ext cx="59055" cy="5905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28497" y="2649855"/>
              <a:ext cx="310324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有希望：继续往下走，确定下一个分量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72478" y="3008948"/>
              <a:ext cx="59055" cy="5905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28497" y="2952750"/>
              <a:ext cx="48143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没有希望：放弃这条路，退回上一步换一个选择，这一步称为</a:t>
              </a:r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回</a:t>
              </a:r>
              <a:br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溯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58190" y="3508534"/>
              <a:ext cx="378079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一直搜索到找出所要求的解，或者所有可能都试过为止。</a:t>
              </a:r>
            </a:p>
          </p:txBody>
        </p:sp>
      </p:grpSp>
      <p:grpSp>
        <p:nvGrpSpPr>
          <p:cNvPr id="30" name="c1-card-2"/>
          <p:cNvGrpSpPr/>
          <p:nvPr/>
        </p:nvGrpSpPr>
        <p:grpSpPr>
          <a:xfrm>
            <a:off x="533400" y="4051935"/>
            <a:ext cx="5735002" cy="1574482"/>
            <a:chOff x="533400" y="4051935"/>
            <a:chExt cx="5735002" cy="1574482"/>
          </a:xfrm>
        </p:grpSpPr>
        <p:sp>
          <p:nvSpPr>
            <p:cNvPr id="19" name="Rectangle 19"/>
            <p:cNvSpPr/>
            <p:nvPr/>
          </p:nvSpPr>
          <p:spPr>
            <a:xfrm>
              <a:off x="533400" y="4051935"/>
              <a:ext cx="5735002" cy="1574482"/>
            </a:xfrm>
            <a:prstGeom prst="roundRect">
              <a:avLst>
                <a:gd name="adj" fmla="val 846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542925" y="4185285"/>
              <a:ext cx="47625" cy="130778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763905" y="4244340"/>
              <a:ext cx="342900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59346" y="4278630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214247" y="4284345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迷宫游戏</a:t>
              </a:r>
            </a:p>
          </p:txBody>
        </p:sp>
        <p:sp>
          <p:nvSpPr>
            <p:cNvPr id="24" name="Ellipse 24"/>
            <p:cNvSpPr/>
            <p:nvPr/>
          </p:nvSpPr>
          <p:spPr>
            <a:xfrm>
              <a:off x="772478" y="4673918"/>
              <a:ext cx="59055" cy="5905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928497" y="4617720"/>
              <a:ext cx="492061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从入口出发，每到一个岔路口，先任选一条没走过的路走下去</a:t>
              </a:r>
            </a:p>
          </p:txBody>
        </p:sp>
        <p:sp>
          <p:nvSpPr>
            <p:cNvPr id="26" name="Ellipse 26"/>
            <p:cNvSpPr/>
            <p:nvPr/>
          </p:nvSpPr>
          <p:spPr>
            <a:xfrm>
              <a:off x="772478" y="4976812"/>
              <a:ext cx="59055" cy="5905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928497" y="4920615"/>
              <a:ext cx="36484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走进死胡同，就退回最近的岔路口，换一条路</a:t>
              </a:r>
            </a:p>
          </p:txBody>
        </p:sp>
        <p:sp>
          <p:nvSpPr>
            <p:cNvPr id="28" name="Ellipse 28"/>
            <p:cNvSpPr/>
            <p:nvPr/>
          </p:nvSpPr>
          <p:spPr>
            <a:xfrm>
              <a:off x="772478" y="5279708"/>
              <a:ext cx="59055" cy="5905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928497" y="5223510"/>
              <a:ext cx="346671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退回到入口且无路可换，说明迷宫没有出口</a:t>
              </a:r>
            </a:p>
          </p:txBody>
        </p:sp>
      </p:grpSp>
      <p:grpSp>
        <p:nvGrpSpPr>
          <p:cNvPr id="33" name="c2-image-1"/>
          <p:cNvGrpSpPr/>
          <p:nvPr/>
        </p:nvGrpSpPr>
        <p:grpSpPr>
          <a:xfrm>
            <a:off x="6573202" y="1524000"/>
            <a:ext cx="5085398" cy="4201097"/>
            <a:chOff x="6573202" y="1524000"/>
            <a:chExt cx="5085398" cy="4201097"/>
          </a:xfrm>
        </p:grpSpPr>
        <p:pic>
          <p:nvPicPr>
            <p:cNvPr id="31" name="Image 31"/>
            <p:cNvPicPr>
              <a:picLocks noChangeAspect="1"/>
            </p:cNvPicPr>
            <p:nvPr/>
          </p:nvPicPr>
          <p:blipFill>
            <a:blip r:embed="rId2"/>
            <a:srcRect l="1120" t="0" r="1120" b="0"/>
            <a:stretch>
              <a:fillRect/>
            </a:stretch>
          </p:blipFill>
          <p:spPr>
            <a:xfrm>
              <a:off x="6573202" y="1524000"/>
              <a:ext cx="5085398" cy="3901440"/>
            </a:xfrm>
            <a:prstGeom prst="roundRect">
              <a:avLst>
                <a:gd name="adj" fmla="val 3417"/>
              </a:avLst>
            </a:prstGeom>
          </p:spPr>
        </p:pic>
        <p:sp>
          <p:nvSpPr>
            <p:cNvPr id="32" name="TextBox 32"/>
            <p:cNvSpPr txBox="1"/>
            <p:nvPr/>
          </p:nvSpPr>
          <p:spPr>
            <a:xfrm>
              <a:off x="7413879" y="5519738"/>
              <a:ext cx="340309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线始终连着来路，走进死胡同就沿线退回上一个岔路口</a:t>
              </a:r>
            </a:p>
          </p:txBody>
        </p:sp>
      </p:grpSp>
      <p:grpSp>
        <p:nvGrpSpPr>
          <p:cNvPr id="40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34" name="Rectangle 34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38" name="Group 38"/>
            <p:cNvGrpSpPr/>
            <p:nvPr/>
          </p:nvGrpSpPr>
          <p:grpSpPr>
            <a:xfrm>
              <a:off x="738188" y="6017895"/>
              <a:ext cx="200026" cy="200025"/>
              <a:chOff x="738188" y="6017895"/>
              <a:chExt cx="200026" cy="200025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738188" y="601789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777926" y="606234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812642" y="617347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39" name="TextBox 39"/>
            <p:cNvSpPr txBox="1"/>
            <p:nvPr/>
          </p:nvSpPr>
          <p:spPr>
            <a:xfrm>
              <a:off x="1040892" y="6023610"/>
              <a:ext cx="946404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回溯法和穷举法面对的是同一个解空间。回溯法边构造解边检查，能提前放弃不可能成功的部分解，所以通常快得多。</a:t>
              </a:r>
            </a:p>
          </p:txBody>
        </p:sp>
      </p:grpSp>
      <p:grpSp>
        <p:nvGrpSpPr>
          <p:cNvPr id="4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1" name="TextBox 41"/>
            <p:cNvSpPr txBox="1"/>
            <p:nvPr/>
          </p:nvSpPr>
          <p:spPr>
            <a:xfrm>
              <a:off x="528447" y="6581299"/>
              <a:ext cx="18568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第7章 回溯法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861685" cy="909257"/>
            <a:chOff x="520446" y="342900"/>
            <a:chExt cx="586168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第7章 回溯法 · 回溯法的一般方法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86168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适用的问题：多阶段决策，解写成元组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9" name="c1-card-1"/>
          <p:cNvGrpSpPr/>
          <p:nvPr/>
        </p:nvGrpSpPr>
        <p:grpSpPr>
          <a:xfrm>
            <a:off x="533400" y="1524000"/>
            <a:ext cx="5951220" cy="2506028"/>
            <a:chOff x="533400" y="1524000"/>
            <a:chExt cx="5951220" cy="250602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951220" cy="2506028"/>
            </a:xfrm>
            <a:prstGeom prst="roundRect">
              <a:avLst>
                <a:gd name="adj" fmla="val 532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239328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75335" y="1727835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7644" y="176355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问题特点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82955" y="2161222"/>
              <a:ext cx="60960" cy="609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39546" y="2100739"/>
              <a:ext cx="5009896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多阶段决策问题（组合问题）：解向量用元组表示，分量 xᵢ 取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自某个有穷集 Sᵢ，1 ≤ i ≤ n，n 表示问题规模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82955" y="2752725"/>
              <a:ext cx="60960" cy="609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39546" y="2692241"/>
              <a:ext cx="5073015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固定长 n-元组 (x₁, …, xₙ)，或可变长 k-元组 (x₁, …, xₖ)，k</a:t>
              </a:r>
              <a:br/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≤ n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82955" y="3344228"/>
              <a:ext cx="60960" cy="609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39546" y="3283744"/>
              <a:ext cx="173492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问题满足</a:t>
              </a:r>
              <a:r>
                <a:rPr lang="zh-CN" sz="14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多米诺性质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782955" y="3664268"/>
              <a:ext cx="60960" cy="609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39546" y="3603784"/>
              <a:ext cx="402884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适合求解组合数较大、硬性枚举代价太高的问题</a:t>
              </a:r>
            </a:p>
          </p:txBody>
        </p:sp>
      </p:grpSp>
      <p:grpSp>
        <p:nvGrpSpPr>
          <p:cNvPr id="25" name="c1-card-2"/>
          <p:cNvGrpSpPr/>
          <p:nvPr/>
        </p:nvGrpSpPr>
        <p:grpSpPr>
          <a:xfrm>
            <a:off x="533400" y="4215765"/>
            <a:ext cx="5951220" cy="1823085"/>
            <a:chOff x="533400" y="4215765"/>
            <a:chExt cx="5951220" cy="1823085"/>
          </a:xfrm>
        </p:grpSpPr>
        <p:sp>
          <p:nvSpPr>
            <p:cNvPr id="20" name="Rectangle 20"/>
            <p:cNvSpPr/>
            <p:nvPr/>
          </p:nvSpPr>
          <p:spPr>
            <a:xfrm>
              <a:off x="533400" y="4215765"/>
              <a:ext cx="5951220" cy="1823085"/>
            </a:xfrm>
            <a:prstGeom prst="roundRect">
              <a:avLst>
                <a:gd name="adj" fmla="val 731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542925" y="4349115"/>
              <a:ext cx="47625" cy="155638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775335" y="441960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65543" y="445531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68096" y="4792504"/>
              <a:ext cx="5190236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原课件写作"可变长 k-元组 (x₁, …, xₖ)，k&lt;n"。k 可以等于 n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（例如子集和数问题的解可以选中全部 n 个数），应为 k ≤ n，与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7.4 节的写法一致。</a:t>
              </a:r>
            </a:p>
          </p:txBody>
        </p:sp>
      </p:grpSp>
      <p:grpSp>
        <p:nvGrpSpPr>
          <p:cNvPr id="41" name="c2-table-1"/>
          <p:cNvGrpSpPr/>
          <p:nvPr/>
        </p:nvGrpSpPr>
        <p:grpSpPr>
          <a:xfrm>
            <a:off x="6789420" y="1524000"/>
            <a:ext cx="4869180" cy="1717358"/>
            <a:chOff x="6789420" y="1524000"/>
            <a:chExt cx="4869180" cy="1717358"/>
          </a:xfrm>
        </p:grpSpPr>
        <p:sp>
          <p:nvSpPr>
            <p:cNvPr id="26" name="Rectangle 26"/>
            <p:cNvSpPr/>
            <p:nvPr/>
          </p:nvSpPr>
          <p:spPr>
            <a:xfrm>
              <a:off x="6789420" y="1524000"/>
              <a:ext cx="4869180" cy="430530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207187" y="1655445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问题的目标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348788" y="165544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做法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955655" y="165544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类型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894766" y="2085022"/>
              <a:ext cx="123139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满足约束条件的一</a:t>
              </a:r>
              <a:br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个解或多个解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550212" y="2085022"/>
              <a:ext cx="184099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通常用限界函数表示约束条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件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0692384" y="2191702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组合搜索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6789420" y="2592705"/>
              <a:ext cx="486918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6789420" y="2597468"/>
              <a:ext cx="4869180" cy="64389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894766" y="2728912"/>
              <a:ext cx="123139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满足约束条件的最</a:t>
              </a:r>
              <a:br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优解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550212" y="2728912"/>
              <a:ext cx="184099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另外定义目标函数，使目标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函数取极值的解是最优解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0692384" y="2835592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组合优化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6789420" y="1524000"/>
              <a:ext cx="4869180" cy="171735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8440102" y="1524000"/>
              <a:ext cx="9525" cy="171735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10582275" y="1524000"/>
              <a:ext cx="9525" cy="171735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2" name="c2-table-2"/>
          <p:cNvGrpSpPr/>
          <p:nvPr/>
        </p:nvGrpSpPr>
        <p:grpSpPr>
          <a:xfrm>
            <a:off x="6783705" y="3426142"/>
            <a:ext cx="4874895" cy="2657000"/>
            <a:chOff x="6783705" y="3426142"/>
            <a:chExt cx="4874895" cy="2657000"/>
          </a:xfrm>
        </p:grpSpPr>
        <p:sp>
          <p:nvSpPr>
            <p:cNvPr id="42" name="Rectangle 42"/>
            <p:cNvSpPr/>
            <p:nvPr/>
          </p:nvSpPr>
          <p:spPr>
            <a:xfrm>
              <a:off x="6789420" y="3426142"/>
              <a:ext cx="4869180" cy="430530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044119" y="3557588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本章问题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927020" y="3557588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解向量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0920519" y="3557588"/>
              <a:ext cx="2093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Sᵢ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894766" y="4094798"/>
              <a:ext cx="52186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n-皇后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8063484" y="3988118"/>
              <a:ext cx="212293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(x₁, …, xₙ)，xᵢ 是第 i 行皇后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的列号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0498074" y="4094798"/>
              <a:ext cx="73106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{1, …, n}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6789420" y="4495800"/>
              <a:ext cx="486918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6789420" y="4500562"/>
              <a:ext cx="4869180" cy="64389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894766" y="473773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子集和数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8063484" y="4631055"/>
              <a:ext cx="198577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(x₁, …, xₙ)，xᵢ 表示是否选</a:t>
              </a:r>
              <a:br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wᵢ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0498074" y="4737735"/>
              <a:ext cx="50490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{0, 1}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6789420" y="5138738"/>
              <a:ext cx="486918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6894766" y="5381625"/>
              <a:ext cx="92976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图的 m-着色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8063484" y="5274945"/>
              <a:ext cx="212293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(x₁, …, xₙ)，xᵢ 是顶点 i 的颜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色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0498074" y="5381625"/>
              <a:ext cx="76337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{1, …, m}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6789420" y="3426142"/>
              <a:ext cx="4869180" cy="236029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9" name="Rectangle 59"/>
            <p:cNvSpPr/>
            <p:nvPr/>
          </p:nvSpPr>
          <p:spPr>
            <a:xfrm>
              <a:off x="7953375" y="3426142"/>
              <a:ext cx="9525" cy="236029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0" name="Rectangle 60"/>
            <p:cNvSpPr/>
            <p:nvPr/>
          </p:nvSpPr>
          <p:spPr>
            <a:xfrm>
              <a:off x="10387965" y="3426142"/>
              <a:ext cx="9525" cy="236029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6783705" y="5863114"/>
              <a:ext cx="317769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这三个问题都是找满足约束的解，属于组合搜索</a:t>
              </a:r>
            </a:p>
          </p:txBody>
        </p:sp>
      </p:grpSp>
      <p:grpSp>
        <p:nvGrpSpPr>
          <p:cNvPr id="6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3" name="TextBox 63"/>
            <p:cNvSpPr txBox="1"/>
            <p:nvPr/>
          </p:nvSpPr>
          <p:spPr>
            <a:xfrm>
              <a:off x="528447" y="6581299"/>
              <a:ext cx="18568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第7章 回溯法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234809" cy="909257"/>
            <a:chOff x="520446" y="342900"/>
            <a:chExt cx="723480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第7章 回溯法 · 回溯法的一般方法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23480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多米诺性质：部分解不成立，扩展之后也不成立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5" name="c1-card-1"/>
          <p:cNvGrpSpPr/>
          <p:nvPr/>
        </p:nvGrpSpPr>
        <p:grpSpPr>
          <a:xfrm>
            <a:off x="533400" y="1524000"/>
            <a:ext cx="5951220" cy="2066925"/>
            <a:chOff x="533400" y="1524000"/>
            <a:chExt cx="5951220" cy="206692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951220" cy="2066925"/>
            </a:xfrm>
            <a:prstGeom prst="roundRect">
              <a:avLst>
                <a:gd name="adj" fmla="val 645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800225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75335" y="172783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5543" y="176355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76744" y="1767364"/>
              <a:ext cx="97028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多米诺性质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8096" y="2119789"/>
              <a:ext cx="5226304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 P(x₁, …, xᵢ) 是关于向量 (x₁, …, xᵢ) 的某种性质的判定。当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P(x₁, …, xᵢ₊₁) 为真时，一定有 P(x₁, …, xᵢ) 为真，0 &lt; i &lt; n。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" name="formula4"/>
                <p:cNvSpPr txBox="1">
                  <a:spLocks noGrp="1"/>
                </p:cNvSpPr>
                <p:nvPr/>
              </p:nvSpPr>
              <p:spPr>
                <a:xfrm>
                  <a:off x="775335" y="2687002"/>
                  <a:ext cx="5505450" cy="4000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P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b>
                              <m:e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,…,</m:t>
                            </m:r>
                            <m:sSub>
                              <m:e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i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+</m:t>
                                </m:r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  <m: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 </m:t>
                        </m:r>
                        <m:r>
                          <m:rPr>
                            <m:sty m:val="p"/>
                          </m:rP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⇒</m:t>
                        </m:r>
                        <m: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 </m:t>
                        </m:r>
                        <m: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P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b>
                              <m:e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,…,</m:t>
                            </m:r>
                            <m:sSub>
                              <m:e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i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4" name="TextBox 14"/>
            <p:cNvSpPr txBox="1"/>
            <p:nvPr/>
          </p:nvSpPr>
          <p:spPr>
            <a:xfrm>
              <a:off x="769239" y="3199448"/>
              <a:ext cx="477255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逆否形式：P(x₁, …, xᵢ) 不成立，则 P(x₁, …, xᵢ₊₁) 也不成立。</a:t>
              </a:r>
            </a:p>
          </p:txBody>
        </p:sp>
      </p:grpSp>
      <p:grpSp>
        <p:nvGrpSpPr>
          <p:cNvPr id="20" name="c1-card-2"/>
          <p:cNvGrpSpPr/>
          <p:nvPr/>
        </p:nvGrpSpPr>
        <p:grpSpPr>
          <a:xfrm>
            <a:off x="533400" y="3776662"/>
            <a:ext cx="5951220" cy="1545908"/>
            <a:chOff x="533400" y="3776662"/>
            <a:chExt cx="5951220" cy="1545908"/>
          </a:xfrm>
        </p:grpSpPr>
        <p:sp>
          <p:nvSpPr>
            <p:cNvPr id="16" name="Rectangle 16"/>
            <p:cNvSpPr/>
            <p:nvPr/>
          </p:nvSpPr>
          <p:spPr>
            <a:xfrm>
              <a:off x="533400" y="3776662"/>
              <a:ext cx="5951220" cy="1545908"/>
            </a:xfrm>
            <a:prstGeom prst="roundRect">
              <a:avLst>
                <a:gd name="adj" fmla="val 8626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37235" y="3980498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27443" y="401621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用处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29996" y="4353401"/>
              <a:ext cx="5244338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满足多米诺性质的组合问题，可以根据约束条件和目标函数，不断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检验正在构造的部分解 (x₁, …, xᵢ)。一旦发现不成立，后续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xᵢ₊₁, …, xₙ 的任何取值都不必再考虑。</a:t>
              </a:r>
            </a:p>
          </p:txBody>
        </p:sp>
      </p:grpSp>
      <p:grpSp>
        <p:nvGrpSpPr>
          <p:cNvPr id="23" name="c2-image-1"/>
          <p:cNvGrpSpPr/>
          <p:nvPr/>
        </p:nvGrpSpPr>
        <p:grpSpPr>
          <a:xfrm>
            <a:off x="6789420" y="1524000"/>
            <a:ext cx="4869180" cy="4174332"/>
            <a:chOff x="6789420" y="1524000"/>
            <a:chExt cx="4869180" cy="4174332"/>
          </a:xfrm>
        </p:grpSpPr>
        <p:pic>
          <p:nvPicPr>
            <p:cNvPr id="21" name="Image 21"/>
            <p:cNvPicPr>
              <a:picLocks noChangeAspect="1"/>
            </p:cNvPicPr>
            <p:nvPr/>
          </p:nvPicPr>
          <p:blipFill>
            <a:blip r:embed="rId2"/>
            <a:srcRect l="2690" t="0" r="2690" b="0"/>
            <a:stretch>
              <a:fillRect/>
            </a:stretch>
          </p:blipFill>
          <p:spPr>
            <a:xfrm>
              <a:off x="6789420" y="1524000"/>
              <a:ext cx="4869180" cy="3859530"/>
            </a:xfrm>
            <a:prstGeom prst="roundRect">
              <a:avLst>
                <a:gd name="adj" fmla="val 3455"/>
              </a:avLst>
            </a:prstGeom>
          </p:spPr>
        </p:pic>
        <p:sp>
          <p:nvSpPr>
            <p:cNvPr id="22" name="TextBox 22"/>
            <p:cNvSpPr txBox="1"/>
            <p:nvPr/>
          </p:nvSpPr>
          <p:spPr>
            <a:xfrm>
              <a:off x="7710551" y="5478304"/>
              <a:ext cx="302691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剪掉一根枝条，它上面的细枝也跟着一起去掉</a:t>
              </a:r>
            </a:p>
          </p:txBody>
        </p:sp>
      </p:grpSp>
      <p:grpSp>
        <p:nvGrpSpPr>
          <p:cNvPr id="30" name="takeaway"/>
          <p:cNvGrpSpPr/>
          <p:nvPr/>
        </p:nvGrpSpPr>
        <p:grpSpPr>
          <a:xfrm>
            <a:off x="533400" y="5844540"/>
            <a:ext cx="11125200" cy="518160"/>
            <a:chOff x="533400" y="5844540"/>
            <a:chExt cx="11125200" cy="518160"/>
          </a:xfrm>
        </p:grpSpPr>
        <p:sp>
          <p:nvSpPr>
            <p:cNvPr id="24" name="Rectangle 24"/>
            <p:cNvSpPr/>
            <p:nvPr/>
          </p:nvSpPr>
          <p:spPr>
            <a:xfrm>
              <a:off x="533400" y="5844540"/>
              <a:ext cx="11125200" cy="518160"/>
            </a:xfrm>
            <a:prstGeom prst="roundRect">
              <a:avLst>
                <a:gd name="adj" fmla="val 22059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28" name="Group 28"/>
            <p:cNvGrpSpPr/>
            <p:nvPr/>
          </p:nvGrpSpPr>
          <p:grpSpPr>
            <a:xfrm>
              <a:off x="726129" y="5999916"/>
              <a:ext cx="224134" cy="192560"/>
              <a:chOff x="726129" y="5999916"/>
              <a:chExt cx="224134" cy="192560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838200" y="607028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726129" y="599991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838200" y="614807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29" name="TextBox 29"/>
            <p:cNvSpPr txBox="1"/>
            <p:nvPr/>
          </p:nvSpPr>
          <p:spPr>
            <a:xfrm>
              <a:off x="1040511" y="6004084"/>
              <a:ext cx="1037897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不满足多米诺性质就不能这样剪枝。例：子集和数问题若允许负数，部分和暂时超过 M，后面加上负数仍可能恰好等于 M。</a:t>
              </a:r>
            </a:p>
          </p:txBody>
        </p:sp>
      </p:grpSp>
      <p:grpSp>
        <p:nvGrpSpPr>
          <p:cNvPr id="3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1" name="TextBox 31"/>
            <p:cNvSpPr txBox="1"/>
            <p:nvPr/>
          </p:nvSpPr>
          <p:spPr>
            <a:xfrm>
              <a:off x="528447" y="6581299"/>
              <a:ext cx="18568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第7章 回溯法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607933" cy="909257"/>
            <a:chOff x="520446" y="342900"/>
            <a:chExt cx="860793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第7章 回溯法 · 回溯法的一般方法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60793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多米诺性质让限界函数可以提前检验，测试次数大大减少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7" name="c1-card-1"/>
          <p:cNvGrpSpPr/>
          <p:nvPr/>
        </p:nvGrpSpPr>
        <p:grpSpPr>
          <a:xfrm>
            <a:off x="533400" y="1524000"/>
            <a:ext cx="5410200" cy="1821180"/>
            <a:chOff x="533400" y="1524000"/>
            <a:chExt cx="5410200" cy="182118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821180"/>
            </a:xfrm>
            <a:prstGeom prst="roundRect">
              <a:avLst>
                <a:gd name="adj" fmla="val 732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554480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3905" y="1716405"/>
              <a:ext cx="742950" cy="247650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47344" y="1750695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硬性处理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57047" y="2072640"/>
              <a:ext cx="39178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设限界函数 B 实现问题的约束条件，|Sᵢ| = mᵢ。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72478" y="2431732"/>
              <a:ext cx="59055" cy="5905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28497" y="2375535"/>
              <a:ext cx="343037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生成全部 m = m₁ × m₂ × … × mₙ 个 n-元组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72478" y="2734627"/>
              <a:ext cx="59055" cy="5905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28497" y="2678430"/>
              <a:ext cx="490621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对每个 n-元组都检测一次 B(x₁, …, xₙ)，从而找出问题的解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58190" y="2977039"/>
              <a:ext cx="307968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必须等元组构造完整才能检验，共检测 m 次。</a:t>
              </a:r>
            </a:p>
          </p:txBody>
        </p:sp>
      </p:grpSp>
      <p:grpSp>
        <p:nvGrpSpPr>
          <p:cNvPr id="28" name="c1-card-2"/>
          <p:cNvGrpSpPr/>
          <p:nvPr/>
        </p:nvGrpSpPr>
        <p:grpSpPr>
          <a:xfrm>
            <a:off x="533400" y="3520440"/>
            <a:ext cx="5410200" cy="2071688"/>
            <a:chOff x="533400" y="3520440"/>
            <a:chExt cx="5410200" cy="2071688"/>
          </a:xfrm>
        </p:grpSpPr>
        <p:sp>
          <p:nvSpPr>
            <p:cNvPr id="18" name="Rectangle 18"/>
            <p:cNvSpPr/>
            <p:nvPr/>
          </p:nvSpPr>
          <p:spPr>
            <a:xfrm>
              <a:off x="533400" y="3520440"/>
              <a:ext cx="5410200" cy="2071688"/>
            </a:xfrm>
            <a:prstGeom prst="roundRect">
              <a:avLst>
                <a:gd name="adj" fmla="val 643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542925" y="3653790"/>
              <a:ext cx="47625" cy="1804988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763905" y="3712845"/>
              <a:ext cx="609600" cy="247650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51344" y="3747135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回溯法</a:t>
              </a:r>
            </a:p>
          </p:txBody>
        </p:sp>
        <p:sp>
          <p:nvSpPr>
            <p:cNvPr id="22" name="Ellipse 22"/>
            <p:cNvSpPr/>
            <p:nvPr/>
          </p:nvSpPr>
          <p:spPr>
            <a:xfrm>
              <a:off x="772478" y="4125277"/>
              <a:ext cx="59055" cy="5905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928497" y="4069080"/>
              <a:ext cx="44714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 无需等待：对正在构造中的部分向量 (x₁, …, xᵢ) 提前检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验</a:t>
              </a:r>
            </a:p>
          </p:txBody>
        </p:sp>
        <p:sp>
          <p:nvSpPr>
            <p:cNvPr id="24" name="Ellipse 24"/>
            <p:cNvSpPr/>
            <p:nvPr/>
          </p:nvSpPr>
          <p:spPr>
            <a:xfrm>
              <a:off x="772478" y="4685348"/>
              <a:ext cx="59055" cy="5905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928497" y="4629150"/>
              <a:ext cx="44714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发现它不能导致问题的解，就终止该向量继续构造，不再构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造 xᵢ₊₁, …, xₙ</a:t>
              </a:r>
            </a:p>
          </p:txBody>
        </p:sp>
        <p:sp>
          <p:nvSpPr>
            <p:cNvPr id="26" name="Ellipse 26"/>
            <p:cNvSpPr/>
            <p:nvPr/>
          </p:nvSpPr>
          <p:spPr>
            <a:xfrm>
              <a:off x="772478" y="5244465"/>
              <a:ext cx="59055" cy="5905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928497" y="5188268"/>
              <a:ext cx="37484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这一次剪枝就少生成 mᵢ₊₁ × … × mₙ 个 n-元组</a:t>
              </a:r>
            </a:p>
          </p:txBody>
        </p:sp>
      </p:grpSp>
      <p:grpSp>
        <p:nvGrpSpPr>
          <p:cNvPr id="45" name="c2-table-1"/>
          <p:cNvGrpSpPr/>
          <p:nvPr/>
        </p:nvGrpSpPr>
        <p:grpSpPr>
          <a:xfrm>
            <a:off x="6243066" y="1524000"/>
            <a:ext cx="5415534" cy="1854137"/>
            <a:chOff x="6243066" y="1524000"/>
            <a:chExt cx="5415534" cy="1854137"/>
          </a:xfrm>
        </p:grpSpPr>
        <p:sp>
          <p:nvSpPr>
            <p:cNvPr id="29" name="Rectangle 29"/>
            <p:cNvSpPr/>
            <p:nvPr/>
          </p:nvSpPr>
          <p:spPr>
            <a:xfrm>
              <a:off x="6248400" y="1524000"/>
              <a:ext cx="5410200" cy="684848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655117" y="1771650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实例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605522" y="1771650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硬性处理检测的元组数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9766744" y="1651635"/>
              <a:ext cx="1728216" cy="50406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890"/>
                </a:lnSpc>
              </a:pPr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回溯法通过检验的结点</a:t>
              </a:r>
              <a:br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数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550164" y="2336482"/>
              <a:ext cx="58709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4-皇后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159820" y="2336482"/>
              <a:ext cx="7224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4⁴ = 256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0524039" y="2336482"/>
              <a:ext cx="2136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17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6248400" y="264890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6248400" y="2653665"/>
              <a:ext cx="5410200" cy="44481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550164" y="2781300"/>
              <a:ext cx="58709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8-皇后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809976" y="2781300"/>
              <a:ext cx="14221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8⁸ = 16,777,216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0374106" y="2781300"/>
              <a:ext cx="5134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2,057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6248400" y="1524000"/>
              <a:ext cx="5410200" cy="157353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7434262" y="1524000"/>
              <a:ext cx="9525" cy="157353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9598342" y="1524000"/>
              <a:ext cx="9525" cy="157353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243066" y="3172778"/>
              <a:ext cx="340309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回溯法一栏为脚本穷举统计，含根结点，求的是全部解</a:t>
              </a:r>
            </a:p>
          </p:txBody>
        </p:sp>
      </p:grpSp>
      <p:grpSp>
        <p:nvGrpSpPr>
          <p:cNvPr id="51" name="c2-card-2"/>
          <p:cNvGrpSpPr/>
          <p:nvPr/>
        </p:nvGrpSpPr>
        <p:grpSpPr>
          <a:xfrm>
            <a:off x="6248400" y="3511868"/>
            <a:ext cx="5410200" cy="2080260"/>
            <a:chOff x="6248400" y="3511868"/>
            <a:chExt cx="5410200" cy="2080260"/>
          </a:xfrm>
        </p:grpSpPr>
        <p:sp>
          <p:nvSpPr>
            <p:cNvPr id="46" name="Rectangle 46"/>
            <p:cNvSpPr/>
            <p:nvPr/>
          </p:nvSpPr>
          <p:spPr>
            <a:xfrm>
              <a:off x="6248400" y="3511868"/>
              <a:ext cx="5410200" cy="2080260"/>
            </a:xfrm>
            <a:prstGeom prst="roundRect">
              <a:avLst>
                <a:gd name="adj" fmla="val 641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7" name="Rectangle 47"/>
            <p:cNvSpPr/>
            <p:nvPr/>
          </p:nvSpPr>
          <p:spPr>
            <a:xfrm>
              <a:off x="6257925" y="3645218"/>
              <a:ext cx="47625" cy="181356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6478905" y="3704272"/>
              <a:ext cx="10096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554343" y="3738562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怎样读这张表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472047" y="4060508"/>
              <a:ext cx="4797171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8-皇后只有 2057 个部分解通过了检验。回溯法逐行逐列试探，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试探次数也只有 8 × 1965 = 15720 次（1965 个非叶的活结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点，每个试 8 列），远小于硬性处理的 1600 多万次。</a:t>
              </a:r>
            </a:p>
          </p:txBody>
        </p:sp>
      </p:grpSp>
      <p:grpSp>
        <p:nvGrpSpPr>
          <p:cNvPr id="57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52" name="Rectangle 52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2F4B9A"/>
            </a:solidFill>
            <a:ln>
              <a:noFill/>
            </a:ln>
          </p:spPr>
        </p:sp>
        <p:grpSp>
          <p:nvGrpSpPr>
            <p:cNvPr id="55" name="Group 55"/>
            <p:cNvGrpSpPr/>
            <p:nvPr/>
          </p:nvGrpSpPr>
          <p:grpSpPr>
            <a:xfrm>
              <a:off x="738188" y="6017897"/>
              <a:ext cx="200023" cy="200023"/>
              <a:chOff x="738188" y="6017897"/>
              <a:chExt cx="200023" cy="200023"/>
            </a:xfrm>
          </p:grpSpPr>
          <p:sp>
            <p:nvSpPr>
              <p:cNvPr id="53" name="Freeform 53"/>
              <p:cNvSpPr/>
              <p:nvPr/>
            </p:nvSpPr>
            <p:spPr>
              <a:xfrm>
                <a:off x="738188" y="601789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871538" y="608457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56" name="TextBox 56"/>
            <p:cNvSpPr txBox="1"/>
            <p:nvPr/>
          </p:nvSpPr>
          <p:spPr>
            <a:xfrm>
              <a:off x="1040892" y="6023610"/>
              <a:ext cx="66198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问题的多米诺性质是回溯法提高效率的关键：测试次数比硬性处理的 m 次少得多。</a:t>
              </a:r>
            </a:p>
          </p:txBody>
        </p:sp>
      </p:grpSp>
      <p:grpSp>
        <p:nvGrpSpPr>
          <p:cNvPr id="6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8" name="TextBox 58"/>
            <p:cNvSpPr txBox="1"/>
            <p:nvPr/>
          </p:nvSpPr>
          <p:spPr>
            <a:xfrm>
              <a:off x="528447" y="6581299"/>
              <a:ext cx="18568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第7章 回溯法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921371" cy="909257"/>
            <a:chOff x="520446" y="342900"/>
            <a:chExt cx="792137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第7章 回溯法 · 回溯法的一般方法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92137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基本概念：显式约束、隐式约束、解空间与三类状态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1" name="c1-kv-1"/>
          <p:cNvGrpSpPr/>
          <p:nvPr/>
        </p:nvGrpSpPr>
        <p:grpSpPr>
          <a:xfrm>
            <a:off x="525780" y="1548765"/>
            <a:ext cx="5634038" cy="2617470"/>
            <a:chOff x="525780" y="1548765"/>
            <a:chExt cx="5634038" cy="2617470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显式约束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566862" y="1548765"/>
              <a:ext cx="4415790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每个 xᵢ 的取值集合 Sᵢ；可能与问题实例有关，也可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能无关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33400" y="2150745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525780" y="227076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隐式约束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566862" y="2270760"/>
              <a:ext cx="4339590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描述各 xᵢ 彼此相关的情况，与问题实例有关，对应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限界函数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33400" y="2872740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525780" y="2992755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解空间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566862" y="2992755"/>
              <a:ext cx="264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满足显式约束条件的所有元组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533400" y="3312795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525780" y="3432810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可行解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566862" y="3432810"/>
              <a:ext cx="30441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解空间中满足隐式约束条件的元组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33400" y="3752850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25780" y="387286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解空间树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566862" y="387286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基于解空间画成的树形状</a:t>
              </a:r>
            </a:p>
          </p:txBody>
        </p:sp>
      </p:grpSp>
      <p:grpSp>
        <p:nvGrpSpPr>
          <p:cNvPr id="33" name="c1-table-2"/>
          <p:cNvGrpSpPr/>
          <p:nvPr/>
        </p:nvGrpSpPr>
        <p:grpSpPr>
          <a:xfrm>
            <a:off x="533400" y="4297680"/>
            <a:ext cx="5626418" cy="1346835"/>
            <a:chOff x="533400" y="4297680"/>
            <a:chExt cx="5626418" cy="1346835"/>
          </a:xfrm>
        </p:grpSpPr>
        <p:sp>
          <p:nvSpPr>
            <p:cNvPr id="22" name="Rectangle 22"/>
            <p:cNvSpPr/>
            <p:nvPr/>
          </p:nvSpPr>
          <p:spPr>
            <a:xfrm>
              <a:off x="533400" y="4297680"/>
              <a:ext cx="5626418" cy="448628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194803" y="443341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显式约束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008488" y="443341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取值集合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41223" y="4882039"/>
              <a:ext cx="51955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xᵢ ≥ 0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667190" y="4882039"/>
              <a:ext cx="165139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Sᵢ = {所有非负实数}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33400" y="519017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533400" y="5194935"/>
              <a:ext cx="5626418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41223" y="5330666"/>
              <a:ext cx="89993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xᵢ = 0 或 1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667190" y="5330666"/>
              <a:ext cx="97791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Sᵢ = {0, 1}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533400" y="4297680"/>
              <a:ext cx="5626418" cy="134683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2554605" y="4297680"/>
              <a:ext cx="9525" cy="134683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5" name="c2-card-1"/>
          <p:cNvGrpSpPr/>
          <p:nvPr/>
        </p:nvGrpSpPr>
        <p:grpSpPr>
          <a:xfrm>
            <a:off x="6464618" y="1524000"/>
            <a:ext cx="5193982" cy="2893695"/>
            <a:chOff x="6464618" y="1524000"/>
            <a:chExt cx="5193982" cy="2893695"/>
          </a:xfrm>
        </p:grpSpPr>
        <p:sp>
          <p:nvSpPr>
            <p:cNvPr id="34" name="Rectangle 34"/>
            <p:cNvSpPr/>
            <p:nvPr/>
          </p:nvSpPr>
          <p:spPr>
            <a:xfrm>
              <a:off x="6464618" y="1524000"/>
              <a:ext cx="5193982" cy="2893695"/>
            </a:xfrm>
            <a:prstGeom prst="roundRect">
              <a:avLst>
                <a:gd name="adj" fmla="val 460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6474142" y="1657350"/>
              <a:ext cx="47625" cy="2626995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6712268" y="1733550"/>
              <a:ext cx="1347788" cy="25717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777825" y="1769269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解空间树中的状态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704648" y="2110740"/>
              <a:ext cx="4396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回溯法解决问题的过程，就是在解空间树上搜索答案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状态结点的过程。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6717983" y="2794635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876098" y="2731770"/>
              <a:ext cx="30441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问题状态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：解空间树中的所有结点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6717983" y="3129915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876098" y="3067050"/>
              <a:ext cx="4396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解状态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X：由根到结点 X 的路径确定了解空间中的一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个元组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6717983" y="3750945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876098" y="3688080"/>
              <a:ext cx="4396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答案状态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X：由根到解状态结点 X 的路径确定了问题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的一个解</a:t>
              </a:r>
            </a:p>
          </p:txBody>
        </p:sp>
      </p:grpSp>
      <p:grpSp>
        <p:nvGrpSpPr>
          <p:cNvPr id="51" name="c2-callout-2"/>
          <p:cNvGrpSpPr/>
          <p:nvPr/>
        </p:nvGrpSpPr>
        <p:grpSpPr>
          <a:xfrm>
            <a:off x="6464618" y="4608195"/>
            <a:ext cx="5193982" cy="1059180"/>
            <a:chOff x="6464618" y="4608195"/>
            <a:chExt cx="5193982" cy="1059180"/>
          </a:xfrm>
        </p:grpSpPr>
        <p:sp>
          <p:nvSpPr>
            <p:cNvPr id="46" name="Rectangle 46"/>
            <p:cNvSpPr/>
            <p:nvPr/>
          </p:nvSpPr>
          <p:spPr>
            <a:xfrm>
              <a:off x="6464618" y="4608195"/>
              <a:ext cx="5193982" cy="1059180"/>
            </a:xfrm>
            <a:prstGeom prst="roundRect">
              <a:avLst>
                <a:gd name="adj" fmla="val 10791"/>
              </a:avLst>
            </a:prstGeom>
            <a:solidFill>
              <a:srgbClr val="2F4B9A"/>
            </a:solidFill>
            <a:ln>
              <a:noFill/>
            </a:ln>
          </p:spPr>
        </p:sp>
        <p:grpSp>
          <p:nvGrpSpPr>
            <p:cNvPr id="49" name="Group 49"/>
            <p:cNvGrpSpPr/>
            <p:nvPr/>
          </p:nvGrpSpPr>
          <p:grpSpPr>
            <a:xfrm>
              <a:off x="6669405" y="5037775"/>
              <a:ext cx="200023" cy="200023"/>
              <a:chOff x="6669405" y="5037775"/>
              <a:chExt cx="200023" cy="200023"/>
            </a:xfrm>
          </p:grpSpPr>
          <p:sp>
            <p:nvSpPr>
              <p:cNvPr id="47" name="Freeform 47"/>
              <p:cNvSpPr/>
              <p:nvPr/>
            </p:nvSpPr>
            <p:spPr>
              <a:xfrm>
                <a:off x="6669405" y="503777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6802755" y="51044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50" name="TextBox 50"/>
            <p:cNvSpPr txBox="1"/>
            <p:nvPr/>
          </p:nvSpPr>
          <p:spPr>
            <a:xfrm>
              <a:off x="6971348" y="4756785"/>
              <a:ext cx="4072890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答案状态 ⊆ 解状态 ⊆ 问题状态。哪些结点是解状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态，取决于元组怎样表示（见子集和数的两种表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示）。</a:t>
              </a:r>
            </a:p>
          </p:txBody>
        </p:sp>
      </p:grpSp>
      <p:grpSp>
        <p:nvGrpSpPr>
          <p:cNvPr id="5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2" name="TextBox 52"/>
            <p:cNvSpPr txBox="1"/>
            <p:nvPr/>
          </p:nvSpPr>
          <p:spPr>
            <a:xfrm>
              <a:off x="528447" y="6581299"/>
              <a:ext cx="18568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第7章 回溯法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601456" cy="909257"/>
            <a:chOff x="520446" y="342900"/>
            <a:chExt cx="660145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第7章 回溯法 · 回溯法的一般方法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60145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例：4-皇后问题的元组、约束条件与解空间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6492240" cy="1274445"/>
            <a:chOff x="533400" y="1524000"/>
            <a:chExt cx="6492240" cy="127444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492240" cy="1274445"/>
            </a:xfrm>
            <a:prstGeom prst="roundRect">
              <a:avLst>
                <a:gd name="adj" fmla="val 1046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00774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75335" y="1727835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7644" y="176355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问题描述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8096" y="2100739"/>
              <a:ext cx="569518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 4×4 棋盘上放 4 个皇后，使每两个皇后之间都不能互相"攻击"，即任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意两个皇后不在同一行、同一列及同一条斜线上。</a:t>
              </a:r>
            </a:p>
          </p:txBody>
        </p:sp>
      </p:grpSp>
      <p:grpSp>
        <p:nvGrpSpPr>
          <p:cNvPr id="30" name="c1-steps-2"/>
          <p:cNvGrpSpPr/>
          <p:nvPr/>
        </p:nvGrpSpPr>
        <p:grpSpPr>
          <a:xfrm>
            <a:off x="533400" y="2993708"/>
            <a:ext cx="6281166" cy="2632138"/>
            <a:chOff x="533400" y="2993708"/>
            <a:chExt cx="6281166" cy="2632138"/>
          </a:xfrm>
        </p:grpSpPr>
        <p:sp>
          <p:nvSpPr>
            <p:cNvPr id="13" name="Rectangle 13"/>
            <p:cNvSpPr/>
            <p:nvPr/>
          </p:nvSpPr>
          <p:spPr>
            <a:xfrm>
              <a:off x="666750" y="3136582"/>
              <a:ext cx="19050" cy="208311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4" name="Ellipse 14"/>
            <p:cNvSpPr/>
            <p:nvPr/>
          </p:nvSpPr>
          <p:spPr>
            <a:xfrm>
              <a:off x="533400" y="2993708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27024" y="306752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533400" y="3614738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27024" y="368855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533400" y="4456748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27024" y="453056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533400" y="507682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27024" y="51506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5261" y="3026569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确定元组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46404" y="3307080"/>
              <a:ext cx="586816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固定长 4-元组 (x₁, x₂, x₃, x₄)：皇后 i 放在第 i 行第 xᵢ 列，各皇后天然不同行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45261" y="3647599"/>
              <a:ext cx="116144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确定约束条件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46404" y="3928110"/>
              <a:ext cx="562051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显式约束 Sᵢ = {1, 2, 3, 4}，1 ≤ i ≤ 4；隐式约束：没有两个 xᵢ 相同，且没有两个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皇后在同一条斜线上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45261" y="4489609"/>
              <a:ext cx="135260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检验多米诺性质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46404" y="4770120"/>
              <a:ext cx="468081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前 i 个皇后之间已经互相攻击，再往后放皇后也消除不了这个冲突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45261" y="5110639"/>
              <a:ext cx="116144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确定解空间树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46404" y="539115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见下一页</a:t>
              </a:r>
            </a:p>
          </p:txBody>
        </p:sp>
      </p:grpSp>
      <p:grpSp>
        <p:nvGrpSpPr>
          <p:cNvPr id="32" name="c2-text-1"/>
          <p:cNvGrpSpPr/>
          <p:nvPr/>
        </p:nvGrpSpPr>
        <p:grpSpPr>
          <a:xfrm>
            <a:off x="7324344" y="1544002"/>
            <a:ext cx="4398112" cy="234696"/>
            <a:chOff x="7324344" y="1544002"/>
            <a:chExt cx="4398112" cy="234696"/>
          </a:xfrm>
        </p:grpSpPr>
        <p:sp>
          <p:nvSpPr>
            <p:cNvPr id="31" name="TextBox 31"/>
            <p:cNvSpPr txBox="1"/>
            <p:nvPr/>
          </p:nvSpPr>
          <p:spPr>
            <a:xfrm>
              <a:off x="7324344" y="1544002"/>
              <a:ext cx="43981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一个可行解 (2, 4, 1, 3)：格内数字是皇后编号，左侧是行号</a:t>
              </a:r>
            </a:p>
          </p:txBody>
        </p:sp>
      </p:grpSp>
      <p:grpSp>
        <p:nvGrpSpPr>
          <p:cNvPr id="57" name="c2-cells-2"/>
          <p:cNvGrpSpPr/>
          <p:nvPr/>
        </p:nvGrpSpPr>
        <p:grpSpPr>
          <a:xfrm>
            <a:off x="7324344" y="1916430"/>
            <a:ext cx="2149221" cy="1921192"/>
            <a:chOff x="7324344" y="1916430"/>
            <a:chExt cx="2149221" cy="1921192"/>
          </a:xfrm>
        </p:grpSpPr>
        <p:sp>
          <p:nvSpPr>
            <p:cNvPr id="33" name="TextBox 33"/>
            <p:cNvSpPr txBox="1"/>
            <p:nvPr/>
          </p:nvSpPr>
          <p:spPr>
            <a:xfrm>
              <a:off x="7324344" y="208216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7551420" y="1916430"/>
              <a:ext cx="480060" cy="48006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2F4B9A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8032432" y="1916430"/>
              <a:ext cx="480060" cy="480060"/>
            </a:xfrm>
            <a:prstGeom prst="rect">
              <a:avLst/>
            </a:prstGeom>
            <a:solidFill>
              <a:srgbClr val="2F4B9A"/>
            </a:solidFill>
            <a:ln w="15240">
              <a:solidFill>
                <a:srgbClr val="2F4B9A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8219721" y="208216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8512492" y="1916430"/>
              <a:ext cx="480060" cy="48006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2F4B9A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8993505" y="1916430"/>
              <a:ext cx="480060" cy="48006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2F4B9A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324344" y="256222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7551420" y="2397442"/>
              <a:ext cx="480060" cy="48006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2F4B9A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8032432" y="2397442"/>
              <a:ext cx="480060" cy="48006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2F4B9A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8512492" y="2397442"/>
              <a:ext cx="480060" cy="48006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2F4B9A"/>
              </a:solidFill>
            </a:ln>
          </p:spPr>
        </p:sp>
        <p:sp>
          <p:nvSpPr>
            <p:cNvPr id="43" name="Rectangle 43"/>
            <p:cNvSpPr/>
            <p:nvPr/>
          </p:nvSpPr>
          <p:spPr>
            <a:xfrm>
              <a:off x="8993505" y="2397442"/>
              <a:ext cx="480060" cy="480060"/>
            </a:xfrm>
            <a:prstGeom prst="rect">
              <a:avLst/>
            </a:prstGeom>
            <a:solidFill>
              <a:srgbClr val="2F4B9A"/>
            </a:solidFill>
            <a:ln w="15240">
              <a:solidFill>
                <a:srgbClr val="2F4B9A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9180793" y="256222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324344" y="3043238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7551420" y="2877502"/>
              <a:ext cx="480060" cy="480060"/>
            </a:xfrm>
            <a:prstGeom prst="rect">
              <a:avLst/>
            </a:prstGeom>
            <a:solidFill>
              <a:srgbClr val="2F4B9A"/>
            </a:solidFill>
            <a:ln w="15240">
              <a:solidFill>
                <a:srgbClr val="2F4B9A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7739661" y="3043238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8032432" y="2877502"/>
              <a:ext cx="480060" cy="48006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2F4B9A"/>
              </a:solidFill>
            </a:ln>
          </p:spPr>
        </p:sp>
        <p:sp>
          <p:nvSpPr>
            <p:cNvPr id="49" name="Rectangle 49"/>
            <p:cNvSpPr/>
            <p:nvPr/>
          </p:nvSpPr>
          <p:spPr>
            <a:xfrm>
              <a:off x="8512492" y="2877502"/>
              <a:ext cx="480060" cy="48006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2F4B9A"/>
              </a:solidFill>
            </a:ln>
          </p:spPr>
        </p:sp>
        <p:sp>
          <p:nvSpPr>
            <p:cNvPr id="50" name="Rectangle 50"/>
            <p:cNvSpPr/>
            <p:nvPr/>
          </p:nvSpPr>
          <p:spPr>
            <a:xfrm>
              <a:off x="8993505" y="2877502"/>
              <a:ext cx="480060" cy="48006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2F4B9A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7324344" y="3523298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7551420" y="3357562"/>
              <a:ext cx="480060" cy="48006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2F4B9A"/>
              </a:solidFill>
            </a:ln>
          </p:spPr>
        </p:sp>
        <p:sp>
          <p:nvSpPr>
            <p:cNvPr id="53" name="Rectangle 53"/>
            <p:cNvSpPr/>
            <p:nvPr/>
          </p:nvSpPr>
          <p:spPr>
            <a:xfrm>
              <a:off x="8032432" y="3357562"/>
              <a:ext cx="480060" cy="48006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2F4B9A"/>
              </a:solidFill>
            </a:ln>
          </p:spPr>
        </p:sp>
        <p:sp>
          <p:nvSpPr>
            <p:cNvPr id="54" name="Rectangle 54"/>
            <p:cNvSpPr/>
            <p:nvPr/>
          </p:nvSpPr>
          <p:spPr>
            <a:xfrm>
              <a:off x="8512492" y="3357562"/>
              <a:ext cx="480060" cy="480060"/>
            </a:xfrm>
            <a:prstGeom prst="rect">
              <a:avLst/>
            </a:prstGeom>
            <a:solidFill>
              <a:srgbClr val="2F4B9A"/>
            </a:solidFill>
            <a:ln w="15240">
              <a:solidFill>
                <a:srgbClr val="2F4B9A"/>
              </a:solidFill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8699781" y="3523298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8993505" y="3357562"/>
              <a:ext cx="480060" cy="48006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2F4B9A"/>
              </a:solidFill>
            </a:ln>
          </p:spPr>
        </p:sp>
      </p:grpSp>
      <p:grpSp>
        <p:nvGrpSpPr>
          <p:cNvPr id="69" name="c2-table-3"/>
          <p:cNvGrpSpPr/>
          <p:nvPr/>
        </p:nvGrpSpPr>
        <p:grpSpPr>
          <a:xfrm>
            <a:off x="7330440" y="4023360"/>
            <a:ext cx="4328160" cy="1291590"/>
            <a:chOff x="7330440" y="4023360"/>
            <a:chExt cx="4328160" cy="1291590"/>
          </a:xfrm>
        </p:grpSpPr>
        <p:sp>
          <p:nvSpPr>
            <p:cNvPr id="58" name="Rectangle 58"/>
            <p:cNvSpPr/>
            <p:nvPr/>
          </p:nvSpPr>
          <p:spPr>
            <a:xfrm>
              <a:off x="7330440" y="4023360"/>
              <a:ext cx="4328160" cy="430530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8256651" y="415480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显式约束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0339959" y="4154805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解空间大小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7435786" y="4585335"/>
              <a:ext cx="146389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Sᵢ = {1, 2, 3, 4}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9946576" y="4585335"/>
              <a:ext cx="64221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4⁴ = 256</a:t>
              </a: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7330440" y="4879658"/>
              <a:ext cx="432816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4" name="Rectangle 64"/>
            <p:cNvSpPr/>
            <p:nvPr/>
          </p:nvSpPr>
          <p:spPr>
            <a:xfrm>
              <a:off x="7330440" y="4884420"/>
              <a:ext cx="4328160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7435786" y="5014912"/>
              <a:ext cx="15929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再要求各 xᵢ 互不相同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9946576" y="5014912"/>
              <a:ext cx="51297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4! = 24</a:t>
              </a:r>
            </a:p>
          </p:txBody>
        </p:sp>
        <p:sp>
          <p:nvSpPr>
            <p:cNvPr id="67" name="Rectangle 67"/>
            <p:cNvSpPr/>
            <p:nvPr/>
          </p:nvSpPr>
          <p:spPr>
            <a:xfrm>
              <a:off x="7330440" y="4023360"/>
              <a:ext cx="4328160" cy="129063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8" name="Rectangle 68"/>
            <p:cNvSpPr/>
            <p:nvPr/>
          </p:nvSpPr>
          <p:spPr>
            <a:xfrm>
              <a:off x="9836468" y="4023360"/>
              <a:ext cx="9525" cy="129063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76" name="takeaway"/>
          <p:cNvGrpSpPr/>
          <p:nvPr/>
        </p:nvGrpSpPr>
        <p:grpSpPr>
          <a:xfrm>
            <a:off x="533400" y="5844540"/>
            <a:ext cx="11125200" cy="518160"/>
            <a:chOff x="533400" y="5844540"/>
            <a:chExt cx="11125200" cy="518160"/>
          </a:xfrm>
        </p:grpSpPr>
        <p:sp>
          <p:nvSpPr>
            <p:cNvPr id="70" name="Rectangle 70"/>
            <p:cNvSpPr/>
            <p:nvPr/>
          </p:nvSpPr>
          <p:spPr>
            <a:xfrm>
              <a:off x="533400" y="5844540"/>
              <a:ext cx="11125200" cy="518160"/>
            </a:xfrm>
            <a:prstGeom prst="roundRect">
              <a:avLst>
                <a:gd name="adj" fmla="val 2205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74" name="Group 74"/>
            <p:cNvGrpSpPr/>
            <p:nvPr/>
          </p:nvGrpSpPr>
          <p:grpSpPr>
            <a:xfrm>
              <a:off x="738188" y="6003608"/>
              <a:ext cx="200026" cy="200025"/>
              <a:chOff x="738188" y="6003608"/>
              <a:chExt cx="200026" cy="200025"/>
            </a:xfrm>
          </p:grpSpPr>
          <p:sp>
            <p:nvSpPr>
              <p:cNvPr id="71" name="Freeform 71"/>
              <p:cNvSpPr/>
              <p:nvPr/>
            </p:nvSpPr>
            <p:spPr>
              <a:xfrm>
                <a:off x="738188" y="600360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72" name="Freeform 72"/>
              <p:cNvSpPr/>
              <p:nvPr/>
            </p:nvSpPr>
            <p:spPr>
              <a:xfrm>
                <a:off x="777926" y="604805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73" name="Freeform 73"/>
              <p:cNvSpPr/>
              <p:nvPr/>
            </p:nvSpPr>
            <p:spPr>
              <a:xfrm>
                <a:off x="812642" y="615918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75" name="TextBox 75"/>
            <p:cNvSpPr txBox="1"/>
            <p:nvPr/>
          </p:nvSpPr>
          <p:spPr>
            <a:xfrm>
              <a:off x="1040511" y="6004084"/>
              <a:ext cx="1025111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把一部分隐式约束（各 xᵢ 互不相同）并入元组的取法，解空间从 nⁿ 缩小到 n!，与问题实例无关，解空间树成为排列树。</a:t>
              </a:r>
            </a:p>
          </p:txBody>
        </p:sp>
      </p:grpSp>
      <p:grpSp>
        <p:nvGrpSpPr>
          <p:cNvPr id="7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7" name="TextBox 77"/>
            <p:cNvSpPr txBox="1"/>
            <p:nvPr/>
          </p:nvSpPr>
          <p:spPr>
            <a:xfrm>
              <a:off x="528447" y="6581299"/>
              <a:ext cx="18568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第7章 回溯法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214212" cy="909257"/>
            <a:chOff x="520446" y="342900"/>
            <a:chExt cx="721421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第7章 回溯法 · 回溯法的一般方法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21421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4-皇后问题的解空间树：排列树，共 65 个结点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10002248" cy="308039"/>
            <a:chOff x="525399" y="1550194"/>
            <a:chExt cx="10002248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10002248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n = 4 时叶结点 4! = 24 个，解空间是从根到叶的所有路径。结点按深度优先编号，边上数字是 xᵢ 的取值。</a:t>
              </a:r>
            </a:p>
          </p:txBody>
        </p:sp>
      </p:grpSp>
      <p:grpSp>
        <p:nvGrpSpPr>
          <p:cNvPr id="187" name="c1-graph-1"/>
          <p:cNvGrpSpPr/>
          <p:nvPr/>
        </p:nvGrpSpPr>
        <p:grpSpPr>
          <a:xfrm>
            <a:off x="724566" y="2025015"/>
            <a:ext cx="10191834" cy="3086100"/>
            <a:chOff x="724566" y="2025015"/>
            <a:chExt cx="10191834" cy="3086100"/>
          </a:xfrm>
        </p:grpSpPr>
        <p:sp>
          <p:nvSpPr>
            <p:cNvPr id="9" name="Freeform 9"/>
            <p:cNvSpPr/>
            <p:nvPr/>
          </p:nvSpPr>
          <p:spPr>
            <a:xfrm>
              <a:off x="3252788" y="2195512"/>
              <a:ext cx="3494722" cy="644842"/>
            </a:xfrm>
            <a:custGeom>
              <a:avLst/>
              <a:gdLst/>
              <a:ahLst/>
              <a:cxnLst/>
              <a:rect l="l" t="t" r="r" b="b"/>
              <a:pathLst>
                <a:path w="3494722" h="644842">
                  <a:moveTo>
                    <a:pt x="3494722" y="0"/>
                  </a:moveTo>
                  <a:lnTo>
                    <a:pt x="0" y="644842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2044065" y="2945130"/>
              <a:ext cx="927735" cy="544830"/>
            </a:xfrm>
            <a:custGeom>
              <a:avLst/>
              <a:gdLst/>
              <a:ahLst/>
              <a:cxnLst/>
              <a:rect l="l" t="t" r="r" b="b"/>
              <a:pathLst>
                <a:path w="927735" h="544830">
                  <a:moveTo>
                    <a:pt x="927735" y="0"/>
                  </a:moveTo>
                  <a:lnTo>
                    <a:pt x="0" y="54483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1672590" y="3708082"/>
              <a:ext cx="180023" cy="420052"/>
            </a:xfrm>
            <a:custGeom>
              <a:avLst/>
              <a:gdLst/>
              <a:ahLst/>
              <a:cxnLst/>
              <a:rect l="l" t="t" r="r" b="b"/>
              <a:pathLst>
                <a:path w="180023" h="420052">
                  <a:moveTo>
                    <a:pt x="180023" y="0"/>
                  </a:moveTo>
                  <a:lnTo>
                    <a:pt x="0" y="420052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1612582" y="4420552"/>
              <a:ext cx="9525" cy="395288"/>
            </a:xfrm>
            <a:custGeom>
              <a:avLst/>
              <a:gdLst/>
              <a:ahLst/>
              <a:cxnLst/>
              <a:rect l="l" t="t" r="r" b="b"/>
              <a:pathLst>
                <a:path w="9525" h="395288">
                  <a:moveTo>
                    <a:pt x="0" y="0"/>
                  </a:moveTo>
                  <a:lnTo>
                    <a:pt x="0" y="395288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1970722" y="3708082"/>
              <a:ext cx="173355" cy="419100"/>
            </a:xfrm>
            <a:custGeom>
              <a:avLst/>
              <a:gdLst/>
              <a:ahLst/>
              <a:cxnLst/>
              <a:rect l="l" t="t" r="r" b="b"/>
              <a:pathLst>
                <a:path w="173355" h="419100">
                  <a:moveTo>
                    <a:pt x="0" y="0"/>
                  </a:moveTo>
                  <a:lnTo>
                    <a:pt x="173355" y="41910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2202180" y="4420552"/>
              <a:ext cx="9525" cy="395288"/>
            </a:xfrm>
            <a:custGeom>
              <a:avLst/>
              <a:gdLst/>
              <a:ahLst/>
              <a:cxnLst/>
              <a:rect l="l" t="t" r="r" b="b"/>
              <a:pathLst>
                <a:path w="9525" h="395288">
                  <a:moveTo>
                    <a:pt x="0" y="0"/>
                  </a:moveTo>
                  <a:lnTo>
                    <a:pt x="0" y="395288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3103245" y="3020378"/>
              <a:ext cx="9525" cy="395288"/>
            </a:xfrm>
            <a:custGeom>
              <a:avLst/>
              <a:gdLst/>
              <a:ahLst/>
              <a:cxnLst/>
              <a:rect l="l" t="t" r="r" b="b"/>
              <a:pathLst>
                <a:path w="9525" h="395288">
                  <a:moveTo>
                    <a:pt x="0" y="0"/>
                  </a:moveTo>
                  <a:lnTo>
                    <a:pt x="0" y="395288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2863215" y="3708082"/>
              <a:ext cx="180022" cy="420052"/>
            </a:xfrm>
            <a:custGeom>
              <a:avLst/>
              <a:gdLst/>
              <a:ahLst/>
              <a:cxnLst/>
              <a:rect l="l" t="t" r="r" b="b"/>
              <a:pathLst>
                <a:path w="180022" h="420052">
                  <a:moveTo>
                    <a:pt x="180022" y="0"/>
                  </a:moveTo>
                  <a:lnTo>
                    <a:pt x="0" y="420052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2803208" y="4420552"/>
              <a:ext cx="9525" cy="395288"/>
            </a:xfrm>
            <a:custGeom>
              <a:avLst/>
              <a:gdLst/>
              <a:ahLst/>
              <a:cxnLst/>
              <a:rect l="l" t="t" r="r" b="b"/>
              <a:pathLst>
                <a:path w="9525" h="395288">
                  <a:moveTo>
                    <a:pt x="0" y="0"/>
                  </a:moveTo>
                  <a:lnTo>
                    <a:pt x="0" y="395288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3161348" y="3708082"/>
              <a:ext cx="173355" cy="419100"/>
            </a:xfrm>
            <a:custGeom>
              <a:avLst/>
              <a:gdLst/>
              <a:ahLst/>
              <a:cxnLst/>
              <a:rect l="l" t="t" r="r" b="b"/>
              <a:pathLst>
                <a:path w="173355" h="419100">
                  <a:moveTo>
                    <a:pt x="0" y="0"/>
                  </a:moveTo>
                  <a:lnTo>
                    <a:pt x="173355" y="41910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9" name="Freeform 19"/>
            <p:cNvSpPr/>
            <p:nvPr/>
          </p:nvSpPr>
          <p:spPr>
            <a:xfrm>
              <a:off x="3392805" y="4420552"/>
              <a:ext cx="9525" cy="395288"/>
            </a:xfrm>
            <a:custGeom>
              <a:avLst/>
              <a:gdLst/>
              <a:ahLst/>
              <a:cxnLst/>
              <a:rect l="l" t="t" r="r" b="b"/>
              <a:pathLst>
                <a:path w="9525" h="395288">
                  <a:moveTo>
                    <a:pt x="0" y="0"/>
                  </a:moveTo>
                  <a:lnTo>
                    <a:pt x="0" y="395288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3234690" y="2945130"/>
              <a:ext cx="927735" cy="544830"/>
            </a:xfrm>
            <a:custGeom>
              <a:avLst/>
              <a:gdLst/>
              <a:ahLst/>
              <a:cxnLst/>
              <a:rect l="l" t="t" r="r" b="b"/>
              <a:pathLst>
                <a:path w="927735" h="544830">
                  <a:moveTo>
                    <a:pt x="0" y="0"/>
                  </a:moveTo>
                  <a:lnTo>
                    <a:pt x="927735" y="54483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1" name="Freeform 21"/>
            <p:cNvSpPr/>
            <p:nvPr/>
          </p:nvSpPr>
          <p:spPr>
            <a:xfrm>
              <a:off x="4053840" y="3708082"/>
              <a:ext cx="180022" cy="420052"/>
            </a:xfrm>
            <a:custGeom>
              <a:avLst/>
              <a:gdLst/>
              <a:ahLst/>
              <a:cxnLst/>
              <a:rect l="l" t="t" r="r" b="b"/>
              <a:pathLst>
                <a:path w="180022" h="420052">
                  <a:moveTo>
                    <a:pt x="180022" y="0"/>
                  </a:moveTo>
                  <a:lnTo>
                    <a:pt x="0" y="420052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2" name="Freeform 22"/>
            <p:cNvSpPr/>
            <p:nvPr/>
          </p:nvSpPr>
          <p:spPr>
            <a:xfrm>
              <a:off x="3992880" y="4420552"/>
              <a:ext cx="9525" cy="395288"/>
            </a:xfrm>
            <a:custGeom>
              <a:avLst/>
              <a:gdLst/>
              <a:ahLst/>
              <a:cxnLst/>
              <a:rect l="l" t="t" r="r" b="b"/>
              <a:pathLst>
                <a:path w="9525" h="395288">
                  <a:moveTo>
                    <a:pt x="0" y="0"/>
                  </a:moveTo>
                  <a:lnTo>
                    <a:pt x="0" y="395288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3" name="Freeform 23"/>
            <p:cNvSpPr/>
            <p:nvPr/>
          </p:nvSpPr>
          <p:spPr>
            <a:xfrm>
              <a:off x="4351972" y="3708082"/>
              <a:ext cx="172403" cy="419100"/>
            </a:xfrm>
            <a:custGeom>
              <a:avLst/>
              <a:gdLst/>
              <a:ahLst/>
              <a:cxnLst/>
              <a:rect l="l" t="t" r="r" b="b"/>
              <a:pathLst>
                <a:path w="172403" h="419100">
                  <a:moveTo>
                    <a:pt x="0" y="0"/>
                  </a:moveTo>
                  <a:lnTo>
                    <a:pt x="172403" y="41910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4" name="Freeform 24"/>
            <p:cNvSpPr/>
            <p:nvPr/>
          </p:nvSpPr>
          <p:spPr>
            <a:xfrm>
              <a:off x="4583430" y="4420552"/>
              <a:ext cx="9525" cy="395288"/>
            </a:xfrm>
            <a:custGeom>
              <a:avLst/>
              <a:gdLst/>
              <a:ahLst/>
              <a:cxnLst/>
              <a:rect l="l" t="t" r="r" b="b"/>
              <a:pathLst>
                <a:path w="9525" h="395288">
                  <a:moveTo>
                    <a:pt x="0" y="0"/>
                  </a:moveTo>
                  <a:lnTo>
                    <a:pt x="0" y="395288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5" name="Freeform 25"/>
            <p:cNvSpPr/>
            <p:nvPr/>
          </p:nvSpPr>
          <p:spPr>
            <a:xfrm>
              <a:off x="6720840" y="2312670"/>
              <a:ext cx="129540" cy="409575"/>
            </a:xfrm>
            <a:custGeom>
              <a:avLst/>
              <a:gdLst/>
              <a:ahLst/>
              <a:cxnLst/>
              <a:rect l="l" t="t" r="r" b="b"/>
              <a:pathLst>
                <a:path w="129540" h="409575">
                  <a:moveTo>
                    <a:pt x="129540" y="0"/>
                  </a:moveTo>
                  <a:lnTo>
                    <a:pt x="0" y="40957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6" name="Freeform 26"/>
            <p:cNvSpPr/>
            <p:nvPr/>
          </p:nvSpPr>
          <p:spPr>
            <a:xfrm>
              <a:off x="5615940" y="2945130"/>
              <a:ext cx="926782" cy="544830"/>
            </a:xfrm>
            <a:custGeom>
              <a:avLst/>
              <a:gdLst/>
              <a:ahLst/>
              <a:cxnLst/>
              <a:rect l="l" t="t" r="r" b="b"/>
              <a:pathLst>
                <a:path w="926782" h="544830">
                  <a:moveTo>
                    <a:pt x="926782" y="0"/>
                  </a:moveTo>
                  <a:lnTo>
                    <a:pt x="0" y="54483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7" name="Freeform 27"/>
            <p:cNvSpPr/>
            <p:nvPr/>
          </p:nvSpPr>
          <p:spPr>
            <a:xfrm>
              <a:off x="5243512" y="3708082"/>
              <a:ext cx="180975" cy="420052"/>
            </a:xfrm>
            <a:custGeom>
              <a:avLst/>
              <a:gdLst/>
              <a:ahLst/>
              <a:cxnLst/>
              <a:rect l="l" t="t" r="r" b="b"/>
              <a:pathLst>
                <a:path w="180975" h="420052">
                  <a:moveTo>
                    <a:pt x="180975" y="0"/>
                  </a:moveTo>
                  <a:lnTo>
                    <a:pt x="0" y="420052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8" name="Freeform 28"/>
            <p:cNvSpPr/>
            <p:nvPr/>
          </p:nvSpPr>
          <p:spPr>
            <a:xfrm>
              <a:off x="5183505" y="4420552"/>
              <a:ext cx="9525" cy="395288"/>
            </a:xfrm>
            <a:custGeom>
              <a:avLst/>
              <a:gdLst/>
              <a:ahLst/>
              <a:cxnLst/>
              <a:rect l="l" t="t" r="r" b="b"/>
              <a:pathLst>
                <a:path w="9525" h="395288">
                  <a:moveTo>
                    <a:pt x="0" y="0"/>
                  </a:moveTo>
                  <a:lnTo>
                    <a:pt x="0" y="395288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9" name="Freeform 29"/>
            <p:cNvSpPr/>
            <p:nvPr/>
          </p:nvSpPr>
          <p:spPr>
            <a:xfrm>
              <a:off x="5542598" y="3708082"/>
              <a:ext cx="172403" cy="419100"/>
            </a:xfrm>
            <a:custGeom>
              <a:avLst/>
              <a:gdLst/>
              <a:ahLst/>
              <a:cxnLst/>
              <a:rect l="l" t="t" r="r" b="b"/>
              <a:pathLst>
                <a:path w="172403" h="419100">
                  <a:moveTo>
                    <a:pt x="0" y="0"/>
                  </a:moveTo>
                  <a:lnTo>
                    <a:pt x="172403" y="41910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0" name="Freeform 30"/>
            <p:cNvSpPr/>
            <p:nvPr/>
          </p:nvSpPr>
          <p:spPr>
            <a:xfrm>
              <a:off x="5773102" y="4420552"/>
              <a:ext cx="9525" cy="395288"/>
            </a:xfrm>
            <a:custGeom>
              <a:avLst/>
              <a:gdLst/>
              <a:ahLst/>
              <a:cxnLst/>
              <a:rect l="l" t="t" r="r" b="b"/>
              <a:pathLst>
                <a:path w="9525" h="395288">
                  <a:moveTo>
                    <a:pt x="0" y="0"/>
                  </a:moveTo>
                  <a:lnTo>
                    <a:pt x="0" y="395288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1" name="Freeform 31"/>
            <p:cNvSpPr/>
            <p:nvPr/>
          </p:nvSpPr>
          <p:spPr>
            <a:xfrm>
              <a:off x="6674168" y="3020378"/>
              <a:ext cx="9525" cy="395288"/>
            </a:xfrm>
            <a:custGeom>
              <a:avLst/>
              <a:gdLst/>
              <a:ahLst/>
              <a:cxnLst/>
              <a:rect l="l" t="t" r="r" b="b"/>
              <a:pathLst>
                <a:path w="9525" h="395288">
                  <a:moveTo>
                    <a:pt x="0" y="0"/>
                  </a:moveTo>
                  <a:lnTo>
                    <a:pt x="0" y="395288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2" name="Freeform 32"/>
            <p:cNvSpPr/>
            <p:nvPr/>
          </p:nvSpPr>
          <p:spPr>
            <a:xfrm>
              <a:off x="6434138" y="3708082"/>
              <a:ext cx="180022" cy="420052"/>
            </a:xfrm>
            <a:custGeom>
              <a:avLst/>
              <a:gdLst/>
              <a:ahLst/>
              <a:cxnLst/>
              <a:rect l="l" t="t" r="r" b="b"/>
              <a:pathLst>
                <a:path w="180022" h="420052">
                  <a:moveTo>
                    <a:pt x="180022" y="0"/>
                  </a:moveTo>
                  <a:lnTo>
                    <a:pt x="0" y="420052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3" name="Freeform 33"/>
            <p:cNvSpPr/>
            <p:nvPr/>
          </p:nvSpPr>
          <p:spPr>
            <a:xfrm>
              <a:off x="6374130" y="4420552"/>
              <a:ext cx="9525" cy="395288"/>
            </a:xfrm>
            <a:custGeom>
              <a:avLst/>
              <a:gdLst/>
              <a:ahLst/>
              <a:cxnLst/>
              <a:rect l="l" t="t" r="r" b="b"/>
              <a:pathLst>
                <a:path w="9525" h="395288">
                  <a:moveTo>
                    <a:pt x="0" y="0"/>
                  </a:moveTo>
                  <a:lnTo>
                    <a:pt x="0" y="395288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4" name="Freeform 34"/>
            <p:cNvSpPr/>
            <p:nvPr/>
          </p:nvSpPr>
          <p:spPr>
            <a:xfrm>
              <a:off x="6734175" y="3708082"/>
              <a:ext cx="180975" cy="420052"/>
            </a:xfrm>
            <a:custGeom>
              <a:avLst/>
              <a:gdLst/>
              <a:ahLst/>
              <a:cxnLst/>
              <a:rect l="l" t="t" r="r" b="b"/>
              <a:pathLst>
                <a:path w="180975" h="420052">
                  <a:moveTo>
                    <a:pt x="0" y="0"/>
                  </a:moveTo>
                  <a:lnTo>
                    <a:pt x="180975" y="420052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5" name="Freeform 35"/>
            <p:cNvSpPr/>
            <p:nvPr/>
          </p:nvSpPr>
          <p:spPr>
            <a:xfrm>
              <a:off x="6975158" y="4420552"/>
              <a:ext cx="9525" cy="395288"/>
            </a:xfrm>
            <a:custGeom>
              <a:avLst/>
              <a:gdLst/>
              <a:ahLst/>
              <a:cxnLst/>
              <a:rect l="l" t="t" r="r" b="b"/>
              <a:pathLst>
                <a:path w="9525" h="395288">
                  <a:moveTo>
                    <a:pt x="0" y="0"/>
                  </a:moveTo>
                  <a:lnTo>
                    <a:pt x="0" y="395288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6" name="Freeform 36"/>
            <p:cNvSpPr/>
            <p:nvPr/>
          </p:nvSpPr>
          <p:spPr>
            <a:xfrm>
              <a:off x="6805612" y="2945130"/>
              <a:ext cx="927735" cy="544830"/>
            </a:xfrm>
            <a:custGeom>
              <a:avLst/>
              <a:gdLst/>
              <a:ahLst/>
              <a:cxnLst/>
              <a:rect l="l" t="t" r="r" b="b"/>
              <a:pathLst>
                <a:path w="927735" h="544830">
                  <a:moveTo>
                    <a:pt x="0" y="0"/>
                  </a:moveTo>
                  <a:lnTo>
                    <a:pt x="927735" y="54483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7" name="Freeform 37"/>
            <p:cNvSpPr/>
            <p:nvPr/>
          </p:nvSpPr>
          <p:spPr>
            <a:xfrm>
              <a:off x="7624762" y="3708082"/>
              <a:ext cx="180022" cy="420052"/>
            </a:xfrm>
            <a:custGeom>
              <a:avLst/>
              <a:gdLst/>
              <a:ahLst/>
              <a:cxnLst/>
              <a:rect l="l" t="t" r="r" b="b"/>
              <a:pathLst>
                <a:path w="180022" h="420052">
                  <a:moveTo>
                    <a:pt x="180022" y="0"/>
                  </a:moveTo>
                  <a:lnTo>
                    <a:pt x="0" y="420052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8" name="Freeform 38"/>
            <p:cNvSpPr/>
            <p:nvPr/>
          </p:nvSpPr>
          <p:spPr>
            <a:xfrm>
              <a:off x="7564755" y="4420552"/>
              <a:ext cx="9525" cy="395288"/>
            </a:xfrm>
            <a:custGeom>
              <a:avLst/>
              <a:gdLst/>
              <a:ahLst/>
              <a:cxnLst/>
              <a:rect l="l" t="t" r="r" b="b"/>
              <a:pathLst>
                <a:path w="9525" h="395288">
                  <a:moveTo>
                    <a:pt x="0" y="0"/>
                  </a:moveTo>
                  <a:lnTo>
                    <a:pt x="0" y="395288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9" name="Freeform 39"/>
            <p:cNvSpPr/>
            <p:nvPr/>
          </p:nvSpPr>
          <p:spPr>
            <a:xfrm>
              <a:off x="7924800" y="3708082"/>
              <a:ext cx="180022" cy="420052"/>
            </a:xfrm>
            <a:custGeom>
              <a:avLst/>
              <a:gdLst/>
              <a:ahLst/>
              <a:cxnLst/>
              <a:rect l="l" t="t" r="r" b="b"/>
              <a:pathLst>
                <a:path w="180022" h="420052">
                  <a:moveTo>
                    <a:pt x="0" y="0"/>
                  </a:moveTo>
                  <a:lnTo>
                    <a:pt x="180022" y="420052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0" name="Freeform 40"/>
            <p:cNvSpPr/>
            <p:nvPr/>
          </p:nvSpPr>
          <p:spPr>
            <a:xfrm>
              <a:off x="8164830" y="4420552"/>
              <a:ext cx="9525" cy="395288"/>
            </a:xfrm>
            <a:custGeom>
              <a:avLst/>
              <a:gdLst/>
              <a:ahLst/>
              <a:cxnLst/>
              <a:rect l="l" t="t" r="r" b="b"/>
              <a:pathLst>
                <a:path w="9525" h="395288">
                  <a:moveTo>
                    <a:pt x="0" y="0"/>
                  </a:moveTo>
                  <a:lnTo>
                    <a:pt x="0" y="395288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1" name="Freeform 41"/>
            <p:cNvSpPr/>
            <p:nvPr/>
          </p:nvSpPr>
          <p:spPr>
            <a:xfrm>
              <a:off x="7042785" y="2211705"/>
              <a:ext cx="2011680" cy="611505"/>
            </a:xfrm>
            <a:custGeom>
              <a:avLst/>
              <a:gdLst/>
              <a:ahLst/>
              <a:cxnLst/>
              <a:rect l="l" t="t" r="r" b="b"/>
              <a:pathLst>
                <a:path w="2011680" h="611505">
                  <a:moveTo>
                    <a:pt x="0" y="0"/>
                  </a:moveTo>
                  <a:lnTo>
                    <a:pt x="2011680" y="61150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2" name="Freeform 42"/>
            <p:cNvSpPr/>
            <p:nvPr/>
          </p:nvSpPr>
          <p:spPr>
            <a:xfrm>
              <a:off x="7046595" y="2195512"/>
              <a:ext cx="3493770" cy="644842"/>
            </a:xfrm>
            <a:custGeom>
              <a:avLst/>
              <a:gdLst/>
              <a:ahLst/>
              <a:cxnLst/>
              <a:rect l="l" t="t" r="r" b="b"/>
              <a:pathLst>
                <a:path w="3493770" h="644842">
                  <a:moveTo>
                    <a:pt x="0" y="0"/>
                  </a:moveTo>
                  <a:lnTo>
                    <a:pt x="3493770" y="644842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3" name="Ellipse 43"/>
            <p:cNvSpPr/>
            <p:nvPr/>
          </p:nvSpPr>
          <p:spPr>
            <a:xfrm>
              <a:off x="6754178" y="2025015"/>
              <a:ext cx="285750" cy="285750"/>
            </a:xfrm>
            <a:prstGeom prst="ellipse">
              <a:avLst/>
            </a:prstGeom>
            <a:solidFill>
              <a:srgbClr val="2F4B9A"/>
            </a:solidFill>
            <a:ln w="17145">
              <a:solidFill>
                <a:srgbClr val="2F4B9A"/>
              </a:solidFill>
            </a:ln>
          </p:spPr>
        </p:sp>
        <p:sp>
          <p:nvSpPr>
            <p:cNvPr id="44" name="Ellipse 44"/>
            <p:cNvSpPr/>
            <p:nvPr/>
          </p:nvSpPr>
          <p:spPr>
            <a:xfrm>
              <a:off x="2960370" y="2725102"/>
              <a:ext cx="285750" cy="2857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45" name="Ellipse 45"/>
            <p:cNvSpPr/>
            <p:nvPr/>
          </p:nvSpPr>
          <p:spPr>
            <a:xfrm>
              <a:off x="1769745" y="3425190"/>
              <a:ext cx="285750" cy="2857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46" name="Ellipse 46"/>
            <p:cNvSpPr/>
            <p:nvPr/>
          </p:nvSpPr>
          <p:spPr>
            <a:xfrm>
              <a:off x="1469708" y="4125278"/>
              <a:ext cx="285750" cy="2857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47" name="Ellipse 47"/>
            <p:cNvSpPr/>
            <p:nvPr/>
          </p:nvSpPr>
          <p:spPr>
            <a:xfrm>
              <a:off x="1469708" y="4825365"/>
              <a:ext cx="285750" cy="2857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48" name="Ellipse 48"/>
            <p:cNvSpPr/>
            <p:nvPr/>
          </p:nvSpPr>
          <p:spPr>
            <a:xfrm>
              <a:off x="2059305" y="4125278"/>
              <a:ext cx="285750" cy="2857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49" name="Ellipse 49"/>
            <p:cNvSpPr/>
            <p:nvPr/>
          </p:nvSpPr>
          <p:spPr>
            <a:xfrm>
              <a:off x="2059305" y="4825365"/>
              <a:ext cx="285750" cy="2857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50" name="Ellipse 50"/>
            <p:cNvSpPr/>
            <p:nvPr/>
          </p:nvSpPr>
          <p:spPr>
            <a:xfrm>
              <a:off x="2960370" y="3425190"/>
              <a:ext cx="285750" cy="2857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51" name="Ellipse 51"/>
            <p:cNvSpPr/>
            <p:nvPr/>
          </p:nvSpPr>
          <p:spPr>
            <a:xfrm>
              <a:off x="2660332" y="4125278"/>
              <a:ext cx="285750" cy="2857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52" name="Ellipse 52"/>
            <p:cNvSpPr/>
            <p:nvPr/>
          </p:nvSpPr>
          <p:spPr>
            <a:xfrm>
              <a:off x="2660332" y="4825365"/>
              <a:ext cx="285750" cy="2857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53" name="Ellipse 53"/>
            <p:cNvSpPr/>
            <p:nvPr/>
          </p:nvSpPr>
          <p:spPr>
            <a:xfrm>
              <a:off x="3249930" y="4125278"/>
              <a:ext cx="285750" cy="2857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54" name="Ellipse 54"/>
            <p:cNvSpPr/>
            <p:nvPr/>
          </p:nvSpPr>
          <p:spPr>
            <a:xfrm>
              <a:off x="3249930" y="4825365"/>
              <a:ext cx="285750" cy="2857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55" name="Ellipse 55"/>
            <p:cNvSpPr/>
            <p:nvPr/>
          </p:nvSpPr>
          <p:spPr>
            <a:xfrm>
              <a:off x="4150995" y="3425190"/>
              <a:ext cx="285750" cy="2857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56" name="Ellipse 56"/>
            <p:cNvSpPr/>
            <p:nvPr/>
          </p:nvSpPr>
          <p:spPr>
            <a:xfrm>
              <a:off x="3850005" y="4125278"/>
              <a:ext cx="285750" cy="2857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57" name="Ellipse 57"/>
            <p:cNvSpPr/>
            <p:nvPr/>
          </p:nvSpPr>
          <p:spPr>
            <a:xfrm>
              <a:off x="3850005" y="4825365"/>
              <a:ext cx="285750" cy="2857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58" name="Ellipse 58"/>
            <p:cNvSpPr/>
            <p:nvPr/>
          </p:nvSpPr>
          <p:spPr>
            <a:xfrm>
              <a:off x="4440555" y="4125278"/>
              <a:ext cx="285750" cy="2857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59" name="Ellipse 59"/>
            <p:cNvSpPr/>
            <p:nvPr/>
          </p:nvSpPr>
          <p:spPr>
            <a:xfrm>
              <a:off x="4440555" y="4825365"/>
              <a:ext cx="285750" cy="2857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60" name="Ellipse 60"/>
            <p:cNvSpPr/>
            <p:nvPr/>
          </p:nvSpPr>
          <p:spPr>
            <a:xfrm>
              <a:off x="6531292" y="2725102"/>
              <a:ext cx="285750" cy="2857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61" name="Ellipse 61"/>
            <p:cNvSpPr/>
            <p:nvPr/>
          </p:nvSpPr>
          <p:spPr>
            <a:xfrm>
              <a:off x="5341620" y="3425190"/>
              <a:ext cx="285750" cy="2857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62" name="Ellipse 62"/>
            <p:cNvSpPr/>
            <p:nvPr/>
          </p:nvSpPr>
          <p:spPr>
            <a:xfrm>
              <a:off x="5040630" y="4125278"/>
              <a:ext cx="285750" cy="2857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63" name="Ellipse 63"/>
            <p:cNvSpPr/>
            <p:nvPr/>
          </p:nvSpPr>
          <p:spPr>
            <a:xfrm>
              <a:off x="5040630" y="4825365"/>
              <a:ext cx="285750" cy="2857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64" name="Ellipse 64"/>
            <p:cNvSpPr/>
            <p:nvPr/>
          </p:nvSpPr>
          <p:spPr>
            <a:xfrm>
              <a:off x="5630228" y="4125278"/>
              <a:ext cx="285750" cy="2857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65" name="Ellipse 65"/>
            <p:cNvSpPr/>
            <p:nvPr/>
          </p:nvSpPr>
          <p:spPr>
            <a:xfrm>
              <a:off x="5630228" y="4825365"/>
              <a:ext cx="285750" cy="2857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66" name="Ellipse 66"/>
            <p:cNvSpPr/>
            <p:nvPr/>
          </p:nvSpPr>
          <p:spPr>
            <a:xfrm>
              <a:off x="6531292" y="3425190"/>
              <a:ext cx="285750" cy="2857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67" name="Ellipse 67"/>
            <p:cNvSpPr/>
            <p:nvPr/>
          </p:nvSpPr>
          <p:spPr>
            <a:xfrm>
              <a:off x="6231255" y="4125278"/>
              <a:ext cx="285750" cy="2857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68" name="Ellipse 68"/>
            <p:cNvSpPr/>
            <p:nvPr/>
          </p:nvSpPr>
          <p:spPr>
            <a:xfrm>
              <a:off x="6231255" y="4825365"/>
              <a:ext cx="285750" cy="2857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69" name="Ellipse 69"/>
            <p:cNvSpPr/>
            <p:nvPr/>
          </p:nvSpPr>
          <p:spPr>
            <a:xfrm>
              <a:off x="6832282" y="4125278"/>
              <a:ext cx="285750" cy="2857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70" name="Ellipse 70"/>
            <p:cNvSpPr/>
            <p:nvPr/>
          </p:nvSpPr>
          <p:spPr>
            <a:xfrm>
              <a:off x="6832282" y="4825365"/>
              <a:ext cx="285750" cy="2857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71" name="Ellipse 71"/>
            <p:cNvSpPr/>
            <p:nvPr/>
          </p:nvSpPr>
          <p:spPr>
            <a:xfrm>
              <a:off x="7721918" y="3425190"/>
              <a:ext cx="285750" cy="2857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72" name="Ellipse 72"/>
            <p:cNvSpPr/>
            <p:nvPr/>
          </p:nvSpPr>
          <p:spPr>
            <a:xfrm>
              <a:off x="7421880" y="4125278"/>
              <a:ext cx="285750" cy="2857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73" name="Ellipse 73"/>
            <p:cNvSpPr/>
            <p:nvPr/>
          </p:nvSpPr>
          <p:spPr>
            <a:xfrm>
              <a:off x="7421880" y="4825365"/>
              <a:ext cx="285750" cy="2857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74" name="Ellipse 74"/>
            <p:cNvSpPr/>
            <p:nvPr/>
          </p:nvSpPr>
          <p:spPr>
            <a:xfrm>
              <a:off x="8021955" y="4125278"/>
              <a:ext cx="285750" cy="2857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75" name="Ellipse 75"/>
            <p:cNvSpPr/>
            <p:nvPr/>
          </p:nvSpPr>
          <p:spPr>
            <a:xfrm>
              <a:off x="8021955" y="4825365"/>
              <a:ext cx="285750" cy="2857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76" name="Ellipse 76"/>
            <p:cNvSpPr/>
            <p:nvPr/>
          </p:nvSpPr>
          <p:spPr>
            <a:xfrm>
              <a:off x="9057322" y="2725102"/>
              <a:ext cx="285750" cy="2857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77" name="Ellipse 77"/>
            <p:cNvSpPr/>
            <p:nvPr/>
          </p:nvSpPr>
          <p:spPr>
            <a:xfrm>
              <a:off x="10547985" y="2725102"/>
              <a:ext cx="285750" cy="2857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6850903" y="210216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3057096" y="280225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1866471" y="3502343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1566433" y="420243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1566433" y="490251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2156031" y="420243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2156031" y="490251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3057096" y="3502343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2757058" y="420243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2716243" y="4902518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3305841" y="4202430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3305841" y="4902518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4206906" y="3502343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3905916" y="4202430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3905916" y="4902518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  <p:sp>
          <p:nvSpPr>
            <p:cNvPr id="93" name="TextBox 93"/>
            <p:cNvSpPr txBox="1"/>
            <p:nvPr/>
          </p:nvSpPr>
          <p:spPr>
            <a:xfrm>
              <a:off x="4496466" y="4202430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4496466" y="4902518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17</a:t>
              </a:r>
            </a:p>
          </p:txBody>
        </p:sp>
        <p:sp>
          <p:nvSpPr>
            <p:cNvPr id="95" name="TextBox 95"/>
            <p:cNvSpPr txBox="1"/>
            <p:nvPr/>
          </p:nvSpPr>
          <p:spPr>
            <a:xfrm>
              <a:off x="6587203" y="2802255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18</a:t>
              </a:r>
            </a:p>
          </p:txBody>
        </p:sp>
        <p:sp>
          <p:nvSpPr>
            <p:cNvPr id="96" name="TextBox 96"/>
            <p:cNvSpPr txBox="1"/>
            <p:nvPr/>
          </p:nvSpPr>
          <p:spPr>
            <a:xfrm>
              <a:off x="5397531" y="3502343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19</a:t>
              </a:r>
            </a:p>
          </p:txBody>
        </p:sp>
        <p:sp>
          <p:nvSpPr>
            <p:cNvPr id="97" name="TextBox 97"/>
            <p:cNvSpPr txBox="1"/>
            <p:nvPr/>
          </p:nvSpPr>
          <p:spPr>
            <a:xfrm>
              <a:off x="5096541" y="4202430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  <p:sp>
          <p:nvSpPr>
            <p:cNvPr id="98" name="TextBox 98"/>
            <p:cNvSpPr txBox="1"/>
            <p:nvPr/>
          </p:nvSpPr>
          <p:spPr>
            <a:xfrm>
              <a:off x="5096541" y="4902518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21</a:t>
              </a:r>
            </a:p>
          </p:txBody>
        </p:sp>
        <p:sp>
          <p:nvSpPr>
            <p:cNvPr id="99" name="TextBox 99"/>
            <p:cNvSpPr txBox="1"/>
            <p:nvPr/>
          </p:nvSpPr>
          <p:spPr>
            <a:xfrm>
              <a:off x="5686138" y="4202430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22</a:t>
              </a:r>
            </a:p>
          </p:txBody>
        </p:sp>
        <p:sp>
          <p:nvSpPr>
            <p:cNvPr id="100" name="TextBox 100"/>
            <p:cNvSpPr txBox="1"/>
            <p:nvPr/>
          </p:nvSpPr>
          <p:spPr>
            <a:xfrm>
              <a:off x="5686138" y="4902518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23</a:t>
              </a:r>
            </a:p>
          </p:txBody>
        </p:sp>
        <p:sp>
          <p:nvSpPr>
            <p:cNvPr id="101" name="TextBox 101"/>
            <p:cNvSpPr txBox="1"/>
            <p:nvPr/>
          </p:nvSpPr>
          <p:spPr>
            <a:xfrm>
              <a:off x="6587203" y="3502343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24</a:t>
              </a:r>
            </a:p>
          </p:txBody>
        </p:sp>
        <p:sp>
          <p:nvSpPr>
            <p:cNvPr id="102" name="TextBox 102"/>
            <p:cNvSpPr txBox="1"/>
            <p:nvPr/>
          </p:nvSpPr>
          <p:spPr>
            <a:xfrm>
              <a:off x="6287166" y="4202430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25</a:t>
              </a:r>
            </a:p>
          </p:txBody>
        </p:sp>
        <p:sp>
          <p:nvSpPr>
            <p:cNvPr id="103" name="TextBox 103"/>
            <p:cNvSpPr txBox="1"/>
            <p:nvPr/>
          </p:nvSpPr>
          <p:spPr>
            <a:xfrm>
              <a:off x="6287166" y="4902518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26</a:t>
              </a:r>
            </a:p>
          </p:txBody>
        </p:sp>
        <p:sp>
          <p:nvSpPr>
            <p:cNvPr id="104" name="TextBox 104"/>
            <p:cNvSpPr txBox="1"/>
            <p:nvPr/>
          </p:nvSpPr>
          <p:spPr>
            <a:xfrm>
              <a:off x="6888193" y="4202430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27</a:t>
              </a:r>
            </a:p>
          </p:txBody>
        </p:sp>
        <p:sp>
          <p:nvSpPr>
            <p:cNvPr id="105" name="TextBox 105"/>
            <p:cNvSpPr txBox="1"/>
            <p:nvPr/>
          </p:nvSpPr>
          <p:spPr>
            <a:xfrm>
              <a:off x="6888193" y="4902518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28</a:t>
              </a:r>
            </a:p>
          </p:txBody>
        </p:sp>
        <p:sp>
          <p:nvSpPr>
            <p:cNvPr id="106" name="TextBox 106"/>
            <p:cNvSpPr txBox="1"/>
            <p:nvPr/>
          </p:nvSpPr>
          <p:spPr>
            <a:xfrm>
              <a:off x="7777828" y="3502343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29</a:t>
              </a:r>
            </a:p>
          </p:txBody>
        </p:sp>
        <p:sp>
          <p:nvSpPr>
            <p:cNvPr id="107" name="TextBox 107"/>
            <p:cNvSpPr txBox="1"/>
            <p:nvPr/>
          </p:nvSpPr>
          <p:spPr>
            <a:xfrm>
              <a:off x="7477791" y="4202430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30</a:t>
              </a:r>
            </a:p>
          </p:txBody>
        </p:sp>
        <p:sp>
          <p:nvSpPr>
            <p:cNvPr id="108" name="TextBox 108"/>
            <p:cNvSpPr txBox="1"/>
            <p:nvPr/>
          </p:nvSpPr>
          <p:spPr>
            <a:xfrm>
              <a:off x="7477791" y="4902518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31</a:t>
              </a:r>
            </a:p>
          </p:txBody>
        </p:sp>
        <p:sp>
          <p:nvSpPr>
            <p:cNvPr id="109" name="TextBox 109"/>
            <p:cNvSpPr txBox="1"/>
            <p:nvPr/>
          </p:nvSpPr>
          <p:spPr>
            <a:xfrm>
              <a:off x="8077866" y="4202430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32</a:t>
              </a:r>
            </a:p>
          </p:txBody>
        </p:sp>
        <p:sp>
          <p:nvSpPr>
            <p:cNvPr id="110" name="TextBox 110"/>
            <p:cNvSpPr txBox="1"/>
            <p:nvPr/>
          </p:nvSpPr>
          <p:spPr>
            <a:xfrm>
              <a:off x="8077866" y="4902518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33</a:t>
              </a:r>
            </a:p>
          </p:txBody>
        </p:sp>
        <p:sp>
          <p:nvSpPr>
            <p:cNvPr id="111" name="TextBox 111"/>
            <p:cNvSpPr txBox="1"/>
            <p:nvPr/>
          </p:nvSpPr>
          <p:spPr>
            <a:xfrm>
              <a:off x="9113233" y="2802255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34</a:t>
              </a:r>
            </a:p>
          </p:txBody>
        </p:sp>
        <p:sp>
          <p:nvSpPr>
            <p:cNvPr id="112" name="TextBox 112"/>
            <p:cNvSpPr txBox="1"/>
            <p:nvPr/>
          </p:nvSpPr>
          <p:spPr>
            <a:xfrm>
              <a:off x="8974658" y="3045619"/>
              <a:ext cx="45107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子树省略</a:t>
              </a:r>
            </a:p>
          </p:txBody>
        </p:sp>
        <p:sp>
          <p:nvSpPr>
            <p:cNvPr id="113" name="TextBox 113"/>
            <p:cNvSpPr txBox="1"/>
            <p:nvPr/>
          </p:nvSpPr>
          <p:spPr>
            <a:xfrm>
              <a:off x="10603896" y="2802255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50</a:t>
              </a:r>
            </a:p>
          </p:txBody>
        </p:sp>
        <p:sp>
          <p:nvSpPr>
            <p:cNvPr id="114" name="TextBox 114"/>
            <p:cNvSpPr txBox="1"/>
            <p:nvPr/>
          </p:nvSpPr>
          <p:spPr>
            <a:xfrm>
              <a:off x="10465321" y="3045619"/>
              <a:ext cx="45107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子树省略</a:t>
              </a:r>
            </a:p>
          </p:txBody>
        </p:sp>
        <p:sp>
          <p:nvSpPr>
            <p:cNvPr id="115" name="Rectangle 115"/>
            <p:cNvSpPr/>
            <p:nvPr/>
          </p:nvSpPr>
          <p:spPr>
            <a:xfrm>
              <a:off x="4932998" y="2439352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16" name="TextBox 116"/>
            <p:cNvSpPr txBox="1"/>
            <p:nvPr/>
          </p:nvSpPr>
          <p:spPr>
            <a:xfrm>
              <a:off x="4965506" y="246840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17" name="Rectangle 117"/>
            <p:cNvSpPr/>
            <p:nvPr/>
          </p:nvSpPr>
          <p:spPr>
            <a:xfrm>
              <a:off x="2441258" y="3139440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18" name="TextBox 118"/>
            <p:cNvSpPr txBox="1"/>
            <p:nvPr/>
          </p:nvSpPr>
          <p:spPr>
            <a:xfrm>
              <a:off x="2472813" y="316849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19" name="Rectangle 119"/>
            <p:cNvSpPr/>
            <p:nvPr/>
          </p:nvSpPr>
          <p:spPr>
            <a:xfrm>
              <a:off x="1696402" y="3839528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20" name="TextBox 120"/>
            <p:cNvSpPr txBox="1"/>
            <p:nvPr/>
          </p:nvSpPr>
          <p:spPr>
            <a:xfrm>
              <a:off x="1727958" y="386857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21" name="Rectangle 121"/>
            <p:cNvSpPr/>
            <p:nvPr/>
          </p:nvSpPr>
          <p:spPr>
            <a:xfrm>
              <a:off x="1545908" y="4539615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22" name="TextBox 122"/>
            <p:cNvSpPr txBox="1"/>
            <p:nvPr/>
          </p:nvSpPr>
          <p:spPr>
            <a:xfrm>
              <a:off x="1577463" y="456866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23" name="Rectangle 123"/>
            <p:cNvSpPr/>
            <p:nvPr/>
          </p:nvSpPr>
          <p:spPr>
            <a:xfrm>
              <a:off x="1990725" y="3839528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24" name="TextBox 124"/>
            <p:cNvSpPr txBox="1"/>
            <p:nvPr/>
          </p:nvSpPr>
          <p:spPr>
            <a:xfrm>
              <a:off x="2022281" y="386857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25" name="Rectangle 125"/>
            <p:cNvSpPr/>
            <p:nvPr/>
          </p:nvSpPr>
          <p:spPr>
            <a:xfrm>
              <a:off x="2135505" y="4539615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26" name="TextBox 126"/>
            <p:cNvSpPr txBox="1"/>
            <p:nvPr/>
          </p:nvSpPr>
          <p:spPr>
            <a:xfrm>
              <a:off x="2167061" y="456866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27" name="Rectangle 127"/>
            <p:cNvSpPr/>
            <p:nvPr/>
          </p:nvSpPr>
          <p:spPr>
            <a:xfrm>
              <a:off x="3036570" y="3139440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28" name="TextBox 128"/>
            <p:cNvSpPr txBox="1"/>
            <p:nvPr/>
          </p:nvSpPr>
          <p:spPr>
            <a:xfrm>
              <a:off x="3068126" y="316849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29" name="Rectangle 129"/>
            <p:cNvSpPr/>
            <p:nvPr/>
          </p:nvSpPr>
          <p:spPr>
            <a:xfrm>
              <a:off x="2886075" y="3839528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30" name="TextBox 130"/>
            <p:cNvSpPr txBox="1"/>
            <p:nvPr/>
          </p:nvSpPr>
          <p:spPr>
            <a:xfrm>
              <a:off x="2917631" y="386857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31" name="Rectangle 131"/>
            <p:cNvSpPr/>
            <p:nvPr/>
          </p:nvSpPr>
          <p:spPr>
            <a:xfrm>
              <a:off x="2736532" y="4539615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32" name="TextBox 132"/>
            <p:cNvSpPr txBox="1"/>
            <p:nvPr/>
          </p:nvSpPr>
          <p:spPr>
            <a:xfrm>
              <a:off x="2768088" y="456866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33" name="Rectangle 133"/>
            <p:cNvSpPr/>
            <p:nvPr/>
          </p:nvSpPr>
          <p:spPr>
            <a:xfrm>
              <a:off x="3181350" y="3839528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34" name="TextBox 134"/>
            <p:cNvSpPr txBox="1"/>
            <p:nvPr/>
          </p:nvSpPr>
          <p:spPr>
            <a:xfrm>
              <a:off x="3212906" y="386857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35" name="Rectangle 135"/>
            <p:cNvSpPr/>
            <p:nvPr/>
          </p:nvSpPr>
          <p:spPr>
            <a:xfrm>
              <a:off x="3326130" y="4539615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36" name="TextBox 136"/>
            <p:cNvSpPr txBox="1"/>
            <p:nvPr/>
          </p:nvSpPr>
          <p:spPr>
            <a:xfrm>
              <a:off x="3357686" y="456866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37" name="Rectangle 137"/>
            <p:cNvSpPr/>
            <p:nvPr/>
          </p:nvSpPr>
          <p:spPr>
            <a:xfrm>
              <a:off x="3631882" y="3139440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38" name="TextBox 138"/>
            <p:cNvSpPr txBox="1"/>
            <p:nvPr/>
          </p:nvSpPr>
          <p:spPr>
            <a:xfrm>
              <a:off x="3663438" y="316849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39" name="Rectangle 139"/>
            <p:cNvSpPr/>
            <p:nvPr/>
          </p:nvSpPr>
          <p:spPr>
            <a:xfrm>
              <a:off x="4076700" y="3839528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40" name="TextBox 140"/>
            <p:cNvSpPr txBox="1"/>
            <p:nvPr/>
          </p:nvSpPr>
          <p:spPr>
            <a:xfrm>
              <a:off x="4108256" y="386857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41" name="Rectangle 141"/>
            <p:cNvSpPr/>
            <p:nvPr/>
          </p:nvSpPr>
          <p:spPr>
            <a:xfrm>
              <a:off x="3926205" y="4539615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42" name="TextBox 142"/>
            <p:cNvSpPr txBox="1"/>
            <p:nvPr/>
          </p:nvSpPr>
          <p:spPr>
            <a:xfrm>
              <a:off x="3957761" y="456866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43" name="Rectangle 143"/>
            <p:cNvSpPr/>
            <p:nvPr/>
          </p:nvSpPr>
          <p:spPr>
            <a:xfrm>
              <a:off x="4371975" y="3839528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44" name="TextBox 144"/>
            <p:cNvSpPr txBox="1"/>
            <p:nvPr/>
          </p:nvSpPr>
          <p:spPr>
            <a:xfrm>
              <a:off x="4403531" y="386857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45" name="Rectangle 145"/>
            <p:cNvSpPr/>
            <p:nvPr/>
          </p:nvSpPr>
          <p:spPr>
            <a:xfrm>
              <a:off x="4515802" y="4539615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46" name="TextBox 146"/>
            <p:cNvSpPr txBox="1"/>
            <p:nvPr/>
          </p:nvSpPr>
          <p:spPr>
            <a:xfrm>
              <a:off x="4548311" y="456866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47" name="Rectangle 147"/>
            <p:cNvSpPr/>
            <p:nvPr/>
          </p:nvSpPr>
          <p:spPr>
            <a:xfrm>
              <a:off x="6718935" y="2439352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48" name="TextBox 148"/>
            <p:cNvSpPr txBox="1"/>
            <p:nvPr/>
          </p:nvSpPr>
          <p:spPr>
            <a:xfrm>
              <a:off x="6750491" y="246840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49" name="Rectangle 149"/>
            <p:cNvSpPr/>
            <p:nvPr/>
          </p:nvSpPr>
          <p:spPr>
            <a:xfrm>
              <a:off x="6012180" y="3139440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50" name="TextBox 150"/>
            <p:cNvSpPr txBox="1"/>
            <p:nvPr/>
          </p:nvSpPr>
          <p:spPr>
            <a:xfrm>
              <a:off x="6043736" y="316849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51" name="Rectangle 151"/>
            <p:cNvSpPr/>
            <p:nvPr/>
          </p:nvSpPr>
          <p:spPr>
            <a:xfrm>
              <a:off x="5267325" y="3839528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52" name="TextBox 152"/>
            <p:cNvSpPr txBox="1"/>
            <p:nvPr/>
          </p:nvSpPr>
          <p:spPr>
            <a:xfrm>
              <a:off x="5298881" y="386857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53" name="Rectangle 153"/>
            <p:cNvSpPr/>
            <p:nvPr/>
          </p:nvSpPr>
          <p:spPr>
            <a:xfrm>
              <a:off x="5116830" y="4539615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54" name="TextBox 154"/>
            <p:cNvSpPr txBox="1"/>
            <p:nvPr/>
          </p:nvSpPr>
          <p:spPr>
            <a:xfrm>
              <a:off x="5148386" y="456866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55" name="Rectangle 155"/>
            <p:cNvSpPr/>
            <p:nvPr/>
          </p:nvSpPr>
          <p:spPr>
            <a:xfrm>
              <a:off x="5561648" y="3839528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56" name="TextBox 156"/>
            <p:cNvSpPr txBox="1"/>
            <p:nvPr/>
          </p:nvSpPr>
          <p:spPr>
            <a:xfrm>
              <a:off x="5593203" y="386857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57" name="Rectangle 157"/>
            <p:cNvSpPr/>
            <p:nvPr/>
          </p:nvSpPr>
          <p:spPr>
            <a:xfrm>
              <a:off x="5706428" y="4539615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58" name="TextBox 158"/>
            <p:cNvSpPr txBox="1"/>
            <p:nvPr/>
          </p:nvSpPr>
          <p:spPr>
            <a:xfrm>
              <a:off x="5737983" y="456866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59" name="Rectangle 159"/>
            <p:cNvSpPr/>
            <p:nvPr/>
          </p:nvSpPr>
          <p:spPr>
            <a:xfrm>
              <a:off x="6607492" y="3139440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60" name="TextBox 160"/>
            <p:cNvSpPr txBox="1"/>
            <p:nvPr/>
          </p:nvSpPr>
          <p:spPr>
            <a:xfrm>
              <a:off x="6639048" y="316849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61" name="Rectangle 161"/>
            <p:cNvSpPr/>
            <p:nvPr/>
          </p:nvSpPr>
          <p:spPr>
            <a:xfrm>
              <a:off x="6457950" y="3839528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62" name="TextBox 162"/>
            <p:cNvSpPr txBox="1"/>
            <p:nvPr/>
          </p:nvSpPr>
          <p:spPr>
            <a:xfrm>
              <a:off x="6489506" y="386857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63" name="Rectangle 163"/>
            <p:cNvSpPr/>
            <p:nvPr/>
          </p:nvSpPr>
          <p:spPr>
            <a:xfrm>
              <a:off x="6307455" y="4539615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64" name="TextBox 164"/>
            <p:cNvSpPr txBox="1"/>
            <p:nvPr/>
          </p:nvSpPr>
          <p:spPr>
            <a:xfrm>
              <a:off x="6339011" y="456866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65" name="Rectangle 165"/>
            <p:cNvSpPr/>
            <p:nvPr/>
          </p:nvSpPr>
          <p:spPr>
            <a:xfrm>
              <a:off x="6757988" y="3839528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66" name="TextBox 166"/>
            <p:cNvSpPr txBox="1"/>
            <p:nvPr/>
          </p:nvSpPr>
          <p:spPr>
            <a:xfrm>
              <a:off x="6789543" y="386857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67" name="Rectangle 167"/>
            <p:cNvSpPr/>
            <p:nvPr/>
          </p:nvSpPr>
          <p:spPr>
            <a:xfrm>
              <a:off x="6908482" y="4539615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68" name="TextBox 168"/>
            <p:cNvSpPr txBox="1"/>
            <p:nvPr/>
          </p:nvSpPr>
          <p:spPr>
            <a:xfrm>
              <a:off x="6940038" y="456866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69" name="Rectangle 169"/>
            <p:cNvSpPr/>
            <p:nvPr/>
          </p:nvSpPr>
          <p:spPr>
            <a:xfrm>
              <a:off x="7202805" y="3139440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70" name="TextBox 170"/>
            <p:cNvSpPr txBox="1"/>
            <p:nvPr/>
          </p:nvSpPr>
          <p:spPr>
            <a:xfrm>
              <a:off x="7234361" y="316849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71" name="Rectangle 171"/>
            <p:cNvSpPr/>
            <p:nvPr/>
          </p:nvSpPr>
          <p:spPr>
            <a:xfrm>
              <a:off x="7647622" y="3839528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72" name="TextBox 172"/>
            <p:cNvSpPr txBox="1"/>
            <p:nvPr/>
          </p:nvSpPr>
          <p:spPr>
            <a:xfrm>
              <a:off x="7679178" y="386857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73" name="Rectangle 173"/>
            <p:cNvSpPr/>
            <p:nvPr/>
          </p:nvSpPr>
          <p:spPr>
            <a:xfrm>
              <a:off x="7498080" y="4539615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74" name="TextBox 174"/>
            <p:cNvSpPr txBox="1"/>
            <p:nvPr/>
          </p:nvSpPr>
          <p:spPr>
            <a:xfrm>
              <a:off x="7529636" y="456866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75" name="Rectangle 175"/>
            <p:cNvSpPr/>
            <p:nvPr/>
          </p:nvSpPr>
          <p:spPr>
            <a:xfrm>
              <a:off x="7948612" y="3839528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76" name="TextBox 176"/>
            <p:cNvSpPr txBox="1"/>
            <p:nvPr/>
          </p:nvSpPr>
          <p:spPr>
            <a:xfrm>
              <a:off x="7980168" y="386857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77" name="Rectangle 177"/>
            <p:cNvSpPr/>
            <p:nvPr/>
          </p:nvSpPr>
          <p:spPr>
            <a:xfrm>
              <a:off x="8098155" y="4539615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78" name="TextBox 178"/>
            <p:cNvSpPr txBox="1"/>
            <p:nvPr/>
          </p:nvSpPr>
          <p:spPr>
            <a:xfrm>
              <a:off x="8129711" y="456866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79" name="Rectangle 179"/>
            <p:cNvSpPr/>
            <p:nvPr/>
          </p:nvSpPr>
          <p:spPr>
            <a:xfrm>
              <a:off x="7981950" y="2439352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80" name="TextBox 180"/>
            <p:cNvSpPr txBox="1"/>
            <p:nvPr/>
          </p:nvSpPr>
          <p:spPr>
            <a:xfrm>
              <a:off x="8013506" y="246840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81" name="Rectangle 181"/>
            <p:cNvSpPr/>
            <p:nvPr/>
          </p:nvSpPr>
          <p:spPr>
            <a:xfrm>
              <a:off x="8726805" y="2439352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82" name="TextBox 182"/>
            <p:cNvSpPr txBox="1"/>
            <p:nvPr/>
          </p:nvSpPr>
          <p:spPr>
            <a:xfrm>
              <a:off x="8758361" y="246840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83" name="TextBox 183"/>
            <p:cNvSpPr txBox="1"/>
            <p:nvPr/>
          </p:nvSpPr>
          <p:spPr>
            <a:xfrm>
              <a:off x="724566" y="2404110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x₁</a:t>
              </a:r>
            </a:p>
          </p:txBody>
        </p:sp>
        <p:sp>
          <p:nvSpPr>
            <p:cNvPr id="184" name="TextBox 184"/>
            <p:cNvSpPr txBox="1"/>
            <p:nvPr/>
          </p:nvSpPr>
          <p:spPr>
            <a:xfrm>
              <a:off x="724566" y="3104198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x₂</a:t>
              </a:r>
            </a:p>
          </p:txBody>
        </p:sp>
        <p:sp>
          <p:nvSpPr>
            <p:cNvPr id="185" name="TextBox 185"/>
            <p:cNvSpPr txBox="1"/>
            <p:nvPr/>
          </p:nvSpPr>
          <p:spPr>
            <a:xfrm>
              <a:off x="724566" y="3804285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x₃</a:t>
              </a:r>
            </a:p>
          </p:txBody>
        </p:sp>
        <p:sp>
          <p:nvSpPr>
            <p:cNvPr id="186" name="TextBox 186"/>
            <p:cNvSpPr txBox="1"/>
            <p:nvPr/>
          </p:nvSpPr>
          <p:spPr>
            <a:xfrm>
              <a:off x="724566" y="4504372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x₄</a:t>
              </a:r>
            </a:p>
          </p:txBody>
        </p:sp>
      </p:grpSp>
      <p:grpSp>
        <p:nvGrpSpPr>
          <p:cNvPr id="194" name="takeaway"/>
          <p:cNvGrpSpPr/>
          <p:nvPr/>
        </p:nvGrpSpPr>
        <p:grpSpPr>
          <a:xfrm>
            <a:off x="533400" y="5579745"/>
            <a:ext cx="11125200" cy="782955"/>
            <a:chOff x="533400" y="5579745"/>
            <a:chExt cx="11125200" cy="782955"/>
          </a:xfrm>
        </p:grpSpPr>
        <p:sp>
          <p:nvSpPr>
            <p:cNvPr id="188" name="Rectangle 188"/>
            <p:cNvSpPr/>
            <p:nvPr/>
          </p:nvSpPr>
          <p:spPr>
            <a:xfrm>
              <a:off x="533400" y="5579745"/>
              <a:ext cx="11125200" cy="782955"/>
            </a:xfrm>
            <a:prstGeom prst="roundRect">
              <a:avLst>
                <a:gd name="adj" fmla="val 1459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192" name="Group 192"/>
            <p:cNvGrpSpPr/>
            <p:nvPr/>
          </p:nvGrpSpPr>
          <p:grpSpPr>
            <a:xfrm>
              <a:off x="738188" y="5871210"/>
              <a:ext cx="200026" cy="200026"/>
              <a:chOff x="738188" y="5871210"/>
              <a:chExt cx="200026" cy="200026"/>
            </a:xfrm>
          </p:grpSpPr>
          <p:sp>
            <p:nvSpPr>
              <p:cNvPr id="189" name="Freeform 189"/>
              <p:cNvSpPr/>
              <p:nvPr/>
            </p:nvSpPr>
            <p:spPr>
              <a:xfrm>
                <a:off x="738188" y="587121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190" name="Freeform 190"/>
              <p:cNvSpPr/>
              <p:nvPr/>
            </p:nvSpPr>
            <p:spPr>
              <a:xfrm>
                <a:off x="838200" y="593788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191" name="Freeform 191"/>
              <p:cNvSpPr/>
              <p:nvPr/>
            </p:nvSpPr>
            <p:spPr>
              <a:xfrm>
                <a:off x="827088" y="5971223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193" name="TextBox 193"/>
            <p:cNvSpPr txBox="1"/>
            <p:nvPr/>
          </p:nvSpPr>
          <p:spPr>
            <a:xfrm>
              <a:off x="1040130" y="5728335"/>
              <a:ext cx="989266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各层结点数 1、4、12、24、24，合计 65。结点 34、50 的子树与结点 2、18 的子树形状相同（各 16 个结点），图中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省略。</a:t>
              </a:r>
            </a:p>
          </p:txBody>
        </p:sp>
      </p:grpSp>
      <p:grpSp>
        <p:nvGrpSpPr>
          <p:cNvPr id="19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5" name="TextBox 195"/>
            <p:cNvSpPr txBox="1"/>
            <p:nvPr/>
          </p:nvSpPr>
          <p:spPr>
            <a:xfrm>
              <a:off x="528447" y="6581299"/>
              <a:ext cx="18568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第7章 回溯法</a:t>
              </a:r>
            </a:p>
          </p:txBody>
        </p:sp>
        <p:sp>
          <p:nvSpPr>
            <p:cNvPr id="196" name="TextBox 19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234809" cy="909257"/>
            <a:chOff x="520446" y="342900"/>
            <a:chExt cx="723480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第7章 回溯法 · 回溯法的一般方法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23480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子集和数问题：同一个问题可以用两种元组表示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10289794" cy="597598"/>
            <a:chOff x="525399" y="1550194"/>
            <a:chExt cx="10289794" cy="597598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10289794" cy="5975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80"/>
                </a:lnSpc>
              </a:pPr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已知 n 个正数 wᵢ（1 ≤ i ≤ n）和 M，要求找出 wᵢ 中和数是 M 的所有子集。例：n = 4，(w₁, w₂, w₃, w₄) = (11,</a:t>
              </a:r>
              <a:br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13, 24, 7)，M = 31。</a:t>
              </a:r>
            </a:p>
          </p:txBody>
        </p:sp>
      </p:grpSp>
      <p:grpSp>
        <p:nvGrpSpPr>
          <p:cNvPr id="42" name="c1-table-1"/>
          <p:cNvGrpSpPr/>
          <p:nvPr/>
        </p:nvGrpSpPr>
        <p:grpSpPr>
          <a:xfrm>
            <a:off x="533400" y="2257425"/>
            <a:ext cx="11125200" cy="3141345"/>
            <a:chOff x="533400" y="2257425"/>
            <a:chExt cx="11125200" cy="3141345"/>
          </a:xfrm>
        </p:grpSpPr>
        <p:sp>
          <p:nvSpPr>
            <p:cNvPr id="9" name="Rectangle 9"/>
            <p:cNvSpPr/>
            <p:nvPr/>
          </p:nvSpPr>
          <p:spPr>
            <a:xfrm>
              <a:off x="533400" y="2257425"/>
              <a:ext cx="11125200" cy="448628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244244" y="2393156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项目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445533" y="2393156"/>
              <a:ext cx="218625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固定长 n-元组 (x₁, …, xₙ)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74053" y="2393156"/>
              <a:ext cx="30732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可变长 k-元组 (x₁, …, xₖ)，1 ≤ k ≤ n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41223" y="284178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分量含义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421446" y="2841784"/>
              <a:ext cx="38383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xᵢ 表示是否选择 wᵢ：选择则 xᵢ = 1，否则 xᵢ = 0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871526" y="2841784"/>
              <a:ext cx="34419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xᵢ 是被选中的 w 的下标，不同的解 k 值不同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3150870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533400" y="3154680"/>
              <a:ext cx="1112520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41223" y="329041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显式约束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421446" y="3290411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xᵢ ∈ {0, 1}，1 ≤ i ≤ n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871526" y="3290411"/>
              <a:ext cx="224441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xᵢ ∈ {j | 1 ≤ j ≤ n}，1 ≤ i ≤ k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533400" y="359949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41223" y="3739039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隐式约束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421446" y="3739039"/>
              <a:ext cx="92548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Σ wᵢxᵢ = M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871526" y="3739039"/>
              <a:ext cx="390886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没有两个 xᵢ 相同，xᵢ &lt; xᵢ₊₁，相应 w 之和等于 M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33400" y="4048125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533400" y="4052888"/>
              <a:ext cx="1112520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41223" y="4188619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本例的可行解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2421446" y="4188619"/>
              <a:ext cx="358846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11+13+7：(1, 1, 0, 1)；24+7：(0, 0, 1, 1)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871526" y="4188619"/>
              <a:ext cx="28647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11+13+7：(1, 2, 4)；24+7：(3, 4)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533400" y="449675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41223" y="4637246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解空间大小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2421446" y="4637246"/>
              <a:ext cx="178778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2ⁿ = 2⁴ = 16 个 4-元组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871526" y="4637246"/>
              <a:ext cx="219272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2ⁿ = 16 个元组（含空向量）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33400" y="4945380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533400" y="4950142"/>
              <a:ext cx="1112520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41223" y="5085874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哪些结点是解状态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2421446" y="5085874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叶结点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871526" y="508587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所有结点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533400" y="2257425"/>
              <a:ext cx="11125200" cy="314134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2308860" y="2257425"/>
              <a:ext cx="9525" cy="31413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6758940" y="2257425"/>
              <a:ext cx="9525" cy="31413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9" name="takeaway"/>
          <p:cNvGrpSpPr/>
          <p:nvPr/>
        </p:nvGrpSpPr>
        <p:grpSpPr>
          <a:xfrm>
            <a:off x="533400" y="5579745"/>
            <a:ext cx="11125200" cy="782955"/>
            <a:chOff x="533400" y="5579745"/>
            <a:chExt cx="11125200" cy="782955"/>
          </a:xfrm>
        </p:grpSpPr>
        <p:sp>
          <p:nvSpPr>
            <p:cNvPr id="43" name="Rectangle 43"/>
            <p:cNvSpPr/>
            <p:nvPr/>
          </p:nvSpPr>
          <p:spPr>
            <a:xfrm>
              <a:off x="533400" y="5579745"/>
              <a:ext cx="11125200" cy="782955"/>
            </a:xfrm>
            <a:prstGeom prst="roundRect">
              <a:avLst>
                <a:gd name="adj" fmla="val 1459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47" name="Group 47"/>
            <p:cNvGrpSpPr/>
            <p:nvPr/>
          </p:nvGrpSpPr>
          <p:grpSpPr>
            <a:xfrm>
              <a:off x="738188" y="5871210"/>
              <a:ext cx="200026" cy="200025"/>
              <a:chOff x="738188" y="5871210"/>
              <a:chExt cx="200026" cy="200025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738188" y="5871210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777926" y="5915660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812642" y="6026786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48" name="TextBox 48"/>
            <p:cNvSpPr txBox="1"/>
            <p:nvPr/>
          </p:nvSpPr>
          <p:spPr>
            <a:xfrm>
              <a:off x="1040130" y="5728335"/>
              <a:ext cx="987361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两种表示的多米诺性质相同：部分解向量之和大于 M，包含它的解向量之和也大于 M（各 wᵢ 为正）。要求 xᵢ &lt; xᵢ₊₁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是为了避免 (1,2,4) 与 (1,4,2) 这类重复。</a:t>
              </a:r>
            </a:p>
          </p:txBody>
        </p:sp>
      </p:grpSp>
      <p:grpSp>
        <p:nvGrpSpPr>
          <p:cNvPr id="5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0" name="TextBox 50"/>
            <p:cNvSpPr txBox="1"/>
            <p:nvPr/>
          </p:nvSpPr>
          <p:spPr>
            <a:xfrm>
              <a:off x="528447" y="6581299"/>
              <a:ext cx="18568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第7章 回溯法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930617" cy="909257"/>
            <a:chOff x="520446" y="342900"/>
            <a:chExt cx="893061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第7章 回溯法 · 回溯法的一般方法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93061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固定长 4-元组的解空间树：31 个结点，叶结点才是解状态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8906845" cy="308039"/>
            <a:chOff x="525399" y="1550194"/>
            <a:chExt cx="8906845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8906845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左分支 xᵢ = 1（选 wᵢ），右分支 xᵢ = 0；结点按深度优先顺序编号。绿色为本例的答案状态。</a:t>
              </a:r>
            </a:p>
          </p:txBody>
        </p:sp>
      </p:grpSp>
      <p:grpSp>
        <p:nvGrpSpPr>
          <p:cNvPr id="165" name="c1-graph-1"/>
          <p:cNvGrpSpPr/>
          <p:nvPr/>
        </p:nvGrpSpPr>
        <p:grpSpPr>
          <a:xfrm>
            <a:off x="724566" y="2030730"/>
            <a:ext cx="10542556" cy="3303270"/>
            <a:chOff x="724566" y="2030730"/>
            <a:chExt cx="10542556" cy="3303270"/>
          </a:xfrm>
        </p:grpSpPr>
        <p:sp>
          <p:nvSpPr>
            <p:cNvPr id="9" name="Freeform 9"/>
            <p:cNvSpPr/>
            <p:nvPr/>
          </p:nvSpPr>
          <p:spPr>
            <a:xfrm>
              <a:off x="3994785" y="2216468"/>
              <a:ext cx="2233612" cy="667703"/>
            </a:xfrm>
            <a:custGeom>
              <a:avLst/>
              <a:gdLst/>
              <a:ahLst/>
              <a:cxnLst/>
              <a:rect l="l" t="t" r="r" b="b"/>
              <a:pathLst>
                <a:path w="2233612" h="667703">
                  <a:moveTo>
                    <a:pt x="2233612" y="0"/>
                  </a:moveTo>
                  <a:lnTo>
                    <a:pt x="0" y="667703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2711768" y="3005138"/>
              <a:ext cx="1005840" cy="599122"/>
            </a:xfrm>
            <a:custGeom>
              <a:avLst/>
              <a:gdLst/>
              <a:ahLst/>
              <a:cxnLst/>
              <a:rect l="l" t="t" r="r" b="b"/>
              <a:pathLst>
                <a:path w="1005840" h="599122">
                  <a:moveTo>
                    <a:pt x="1005840" y="0"/>
                  </a:moveTo>
                  <a:lnTo>
                    <a:pt x="0" y="599122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2044065" y="3798570"/>
              <a:ext cx="438150" cy="521017"/>
            </a:xfrm>
            <a:custGeom>
              <a:avLst/>
              <a:gdLst/>
              <a:ahLst/>
              <a:cxnLst/>
              <a:rect l="l" t="t" r="r" b="b"/>
              <a:pathLst>
                <a:path w="438150" h="521017">
                  <a:moveTo>
                    <a:pt x="438150" y="0"/>
                  </a:moveTo>
                  <a:lnTo>
                    <a:pt x="0" y="521017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1684020" y="4576762"/>
              <a:ext cx="201930" cy="473393"/>
            </a:xfrm>
            <a:custGeom>
              <a:avLst/>
              <a:gdLst/>
              <a:ahLst/>
              <a:cxnLst/>
              <a:rect l="l" t="t" r="r" b="b"/>
              <a:pathLst>
                <a:path w="201930" h="473393">
                  <a:moveTo>
                    <a:pt x="201930" y="0"/>
                  </a:moveTo>
                  <a:lnTo>
                    <a:pt x="0" y="473393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2004060" y="4576762"/>
              <a:ext cx="195262" cy="473393"/>
            </a:xfrm>
            <a:custGeom>
              <a:avLst/>
              <a:gdLst/>
              <a:ahLst/>
              <a:cxnLst/>
              <a:rect l="l" t="t" r="r" b="b"/>
              <a:pathLst>
                <a:path w="195262" h="473393">
                  <a:moveTo>
                    <a:pt x="0" y="0"/>
                  </a:moveTo>
                  <a:lnTo>
                    <a:pt x="195262" y="473393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2678430" y="3798570"/>
              <a:ext cx="438150" cy="521017"/>
            </a:xfrm>
            <a:custGeom>
              <a:avLst/>
              <a:gdLst/>
              <a:ahLst/>
              <a:cxnLst/>
              <a:rect l="l" t="t" r="r" b="b"/>
              <a:pathLst>
                <a:path w="438150" h="521017">
                  <a:moveTo>
                    <a:pt x="0" y="0"/>
                  </a:moveTo>
                  <a:lnTo>
                    <a:pt x="438150" y="521017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2951798" y="4576762"/>
              <a:ext cx="202883" cy="473393"/>
            </a:xfrm>
            <a:custGeom>
              <a:avLst/>
              <a:gdLst/>
              <a:ahLst/>
              <a:cxnLst/>
              <a:rect l="l" t="t" r="r" b="b"/>
              <a:pathLst>
                <a:path w="202883" h="473393">
                  <a:moveTo>
                    <a:pt x="202883" y="0"/>
                  </a:moveTo>
                  <a:lnTo>
                    <a:pt x="0" y="473393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3272790" y="4576762"/>
              <a:ext cx="195262" cy="473393"/>
            </a:xfrm>
            <a:custGeom>
              <a:avLst/>
              <a:gdLst/>
              <a:ahLst/>
              <a:cxnLst/>
              <a:rect l="l" t="t" r="r" b="b"/>
              <a:pathLst>
                <a:path w="195262" h="473393">
                  <a:moveTo>
                    <a:pt x="0" y="0"/>
                  </a:moveTo>
                  <a:lnTo>
                    <a:pt x="195262" y="473393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3979545" y="3006090"/>
              <a:ext cx="995362" cy="597217"/>
            </a:xfrm>
            <a:custGeom>
              <a:avLst/>
              <a:gdLst/>
              <a:ahLst/>
              <a:cxnLst/>
              <a:rect l="l" t="t" r="r" b="b"/>
              <a:pathLst>
                <a:path w="995362" h="597217">
                  <a:moveTo>
                    <a:pt x="0" y="0"/>
                  </a:moveTo>
                  <a:lnTo>
                    <a:pt x="995362" y="597217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4570095" y="3798570"/>
              <a:ext cx="438150" cy="521017"/>
            </a:xfrm>
            <a:custGeom>
              <a:avLst/>
              <a:gdLst/>
              <a:ahLst/>
              <a:cxnLst/>
              <a:rect l="l" t="t" r="r" b="b"/>
              <a:pathLst>
                <a:path w="438150" h="521017">
                  <a:moveTo>
                    <a:pt x="438150" y="0"/>
                  </a:moveTo>
                  <a:lnTo>
                    <a:pt x="0" y="521017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9" name="Freeform 19"/>
            <p:cNvSpPr/>
            <p:nvPr/>
          </p:nvSpPr>
          <p:spPr>
            <a:xfrm>
              <a:off x="4218622" y="4576762"/>
              <a:ext cx="195262" cy="473393"/>
            </a:xfrm>
            <a:custGeom>
              <a:avLst/>
              <a:gdLst/>
              <a:ahLst/>
              <a:cxnLst/>
              <a:rect l="l" t="t" r="r" b="b"/>
              <a:pathLst>
                <a:path w="195262" h="473393">
                  <a:moveTo>
                    <a:pt x="195262" y="0"/>
                  </a:moveTo>
                  <a:lnTo>
                    <a:pt x="0" y="473393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4531995" y="4576762"/>
              <a:ext cx="202883" cy="473393"/>
            </a:xfrm>
            <a:custGeom>
              <a:avLst/>
              <a:gdLst/>
              <a:ahLst/>
              <a:cxnLst/>
              <a:rect l="l" t="t" r="r" b="b"/>
              <a:pathLst>
                <a:path w="202883" h="473393">
                  <a:moveTo>
                    <a:pt x="0" y="0"/>
                  </a:moveTo>
                  <a:lnTo>
                    <a:pt x="202883" y="473393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1" name="Freeform 21"/>
            <p:cNvSpPr/>
            <p:nvPr/>
          </p:nvSpPr>
          <p:spPr>
            <a:xfrm>
              <a:off x="5203508" y="3798570"/>
              <a:ext cx="438150" cy="521017"/>
            </a:xfrm>
            <a:custGeom>
              <a:avLst/>
              <a:gdLst/>
              <a:ahLst/>
              <a:cxnLst/>
              <a:rect l="l" t="t" r="r" b="b"/>
              <a:pathLst>
                <a:path w="438150" h="521017">
                  <a:moveTo>
                    <a:pt x="0" y="0"/>
                  </a:moveTo>
                  <a:lnTo>
                    <a:pt x="438150" y="521017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2" name="Freeform 22"/>
            <p:cNvSpPr/>
            <p:nvPr/>
          </p:nvSpPr>
          <p:spPr>
            <a:xfrm>
              <a:off x="5486400" y="4576762"/>
              <a:ext cx="195262" cy="473393"/>
            </a:xfrm>
            <a:custGeom>
              <a:avLst/>
              <a:gdLst/>
              <a:ahLst/>
              <a:cxnLst/>
              <a:rect l="l" t="t" r="r" b="b"/>
              <a:pathLst>
                <a:path w="195262" h="473393">
                  <a:moveTo>
                    <a:pt x="195262" y="0"/>
                  </a:moveTo>
                  <a:lnTo>
                    <a:pt x="0" y="473393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3" name="Freeform 23"/>
            <p:cNvSpPr/>
            <p:nvPr/>
          </p:nvSpPr>
          <p:spPr>
            <a:xfrm>
              <a:off x="5799772" y="4576762"/>
              <a:ext cx="202883" cy="473393"/>
            </a:xfrm>
            <a:custGeom>
              <a:avLst/>
              <a:gdLst/>
              <a:ahLst/>
              <a:cxnLst/>
              <a:rect l="l" t="t" r="r" b="b"/>
              <a:pathLst>
                <a:path w="202883" h="473393">
                  <a:moveTo>
                    <a:pt x="0" y="0"/>
                  </a:moveTo>
                  <a:lnTo>
                    <a:pt x="202883" y="473393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4" name="Freeform 24"/>
            <p:cNvSpPr/>
            <p:nvPr/>
          </p:nvSpPr>
          <p:spPr>
            <a:xfrm>
              <a:off x="6519862" y="2216468"/>
              <a:ext cx="2233612" cy="667703"/>
            </a:xfrm>
            <a:custGeom>
              <a:avLst/>
              <a:gdLst/>
              <a:ahLst/>
              <a:cxnLst/>
              <a:rect l="l" t="t" r="r" b="b"/>
              <a:pathLst>
                <a:path w="2233612" h="667703">
                  <a:moveTo>
                    <a:pt x="0" y="0"/>
                  </a:moveTo>
                  <a:lnTo>
                    <a:pt x="2233612" y="667703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5" name="Freeform 25"/>
            <p:cNvSpPr/>
            <p:nvPr/>
          </p:nvSpPr>
          <p:spPr>
            <a:xfrm>
              <a:off x="7773352" y="3006090"/>
              <a:ext cx="995362" cy="597217"/>
            </a:xfrm>
            <a:custGeom>
              <a:avLst/>
              <a:gdLst/>
              <a:ahLst/>
              <a:cxnLst/>
              <a:rect l="l" t="t" r="r" b="b"/>
              <a:pathLst>
                <a:path w="995362" h="597217">
                  <a:moveTo>
                    <a:pt x="995362" y="0"/>
                  </a:moveTo>
                  <a:lnTo>
                    <a:pt x="0" y="597217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6" name="Freeform 26"/>
            <p:cNvSpPr/>
            <p:nvPr/>
          </p:nvSpPr>
          <p:spPr>
            <a:xfrm>
              <a:off x="7106602" y="3798570"/>
              <a:ext cx="438150" cy="521017"/>
            </a:xfrm>
            <a:custGeom>
              <a:avLst/>
              <a:gdLst/>
              <a:ahLst/>
              <a:cxnLst/>
              <a:rect l="l" t="t" r="r" b="b"/>
              <a:pathLst>
                <a:path w="438150" h="521017">
                  <a:moveTo>
                    <a:pt x="438150" y="0"/>
                  </a:moveTo>
                  <a:lnTo>
                    <a:pt x="0" y="521017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7" name="Freeform 27"/>
            <p:cNvSpPr/>
            <p:nvPr/>
          </p:nvSpPr>
          <p:spPr>
            <a:xfrm>
              <a:off x="6745605" y="4576762"/>
              <a:ext cx="202882" cy="473393"/>
            </a:xfrm>
            <a:custGeom>
              <a:avLst/>
              <a:gdLst/>
              <a:ahLst/>
              <a:cxnLst/>
              <a:rect l="l" t="t" r="r" b="b"/>
              <a:pathLst>
                <a:path w="202882" h="473393">
                  <a:moveTo>
                    <a:pt x="202882" y="0"/>
                  </a:moveTo>
                  <a:lnTo>
                    <a:pt x="0" y="473393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8" name="Freeform 28"/>
            <p:cNvSpPr/>
            <p:nvPr/>
          </p:nvSpPr>
          <p:spPr>
            <a:xfrm>
              <a:off x="7066598" y="4576762"/>
              <a:ext cx="195262" cy="473393"/>
            </a:xfrm>
            <a:custGeom>
              <a:avLst/>
              <a:gdLst/>
              <a:ahLst/>
              <a:cxnLst/>
              <a:rect l="l" t="t" r="r" b="b"/>
              <a:pathLst>
                <a:path w="195262" h="473393">
                  <a:moveTo>
                    <a:pt x="0" y="0"/>
                  </a:moveTo>
                  <a:lnTo>
                    <a:pt x="195262" y="473393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9" name="Freeform 29"/>
            <p:cNvSpPr/>
            <p:nvPr/>
          </p:nvSpPr>
          <p:spPr>
            <a:xfrm>
              <a:off x="7740015" y="3798570"/>
              <a:ext cx="438150" cy="521017"/>
            </a:xfrm>
            <a:custGeom>
              <a:avLst/>
              <a:gdLst/>
              <a:ahLst/>
              <a:cxnLst/>
              <a:rect l="l" t="t" r="r" b="b"/>
              <a:pathLst>
                <a:path w="438150" h="521017">
                  <a:moveTo>
                    <a:pt x="0" y="0"/>
                  </a:moveTo>
                  <a:lnTo>
                    <a:pt x="438150" y="521017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0" name="Freeform 30"/>
            <p:cNvSpPr/>
            <p:nvPr/>
          </p:nvSpPr>
          <p:spPr>
            <a:xfrm>
              <a:off x="8013382" y="4576762"/>
              <a:ext cx="202883" cy="473393"/>
            </a:xfrm>
            <a:custGeom>
              <a:avLst/>
              <a:gdLst/>
              <a:ahLst/>
              <a:cxnLst/>
              <a:rect l="l" t="t" r="r" b="b"/>
              <a:pathLst>
                <a:path w="202883" h="473393">
                  <a:moveTo>
                    <a:pt x="202883" y="0"/>
                  </a:moveTo>
                  <a:lnTo>
                    <a:pt x="0" y="473393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1" name="Freeform 31"/>
            <p:cNvSpPr/>
            <p:nvPr/>
          </p:nvSpPr>
          <p:spPr>
            <a:xfrm>
              <a:off x="8334375" y="4576762"/>
              <a:ext cx="195262" cy="473393"/>
            </a:xfrm>
            <a:custGeom>
              <a:avLst/>
              <a:gdLst/>
              <a:ahLst/>
              <a:cxnLst/>
              <a:rect l="l" t="t" r="r" b="b"/>
              <a:pathLst>
                <a:path w="195262" h="473393">
                  <a:moveTo>
                    <a:pt x="0" y="0"/>
                  </a:moveTo>
                  <a:lnTo>
                    <a:pt x="195262" y="473393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2" name="Freeform 32"/>
            <p:cNvSpPr/>
            <p:nvPr/>
          </p:nvSpPr>
          <p:spPr>
            <a:xfrm>
              <a:off x="9030652" y="3005138"/>
              <a:ext cx="1005840" cy="599122"/>
            </a:xfrm>
            <a:custGeom>
              <a:avLst/>
              <a:gdLst/>
              <a:ahLst/>
              <a:cxnLst/>
              <a:rect l="l" t="t" r="r" b="b"/>
              <a:pathLst>
                <a:path w="1005840" h="599122">
                  <a:moveTo>
                    <a:pt x="0" y="0"/>
                  </a:moveTo>
                  <a:lnTo>
                    <a:pt x="1005840" y="599122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3" name="Freeform 33"/>
            <p:cNvSpPr/>
            <p:nvPr/>
          </p:nvSpPr>
          <p:spPr>
            <a:xfrm>
              <a:off x="9631680" y="3798570"/>
              <a:ext cx="438150" cy="521017"/>
            </a:xfrm>
            <a:custGeom>
              <a:avLst/>
              <a:gdLst/>
              <a:ahLst/>
              <a:cxnLst/>
              <a:rect l="l" t="t" r="r" b="b"/>
              <a:pathLst>
                <a:path w="438150" h="521017">
                  <a:moveTo>
                    <a:pt x="438150" y="0"/>
                  </a:moveTo>
                  <a:lnTo>
                    <a:pt x="0" y="521017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4" name="Freeform 34"/>
            <p:cNvSpPr/>
            <p:nvPr/>
          </p:nvSpPr>
          <p:spPr>
            <a:xfrm>
              <a:off x="9280208" y="4576762"/>
              <a:ext cx="195262" cy="473393"/>
            </a:xfrm>
            <a:custGeom>
              <a:avLst/>
              <a:gdLst/>
              <a:ahLst/>
              <a:cxnLst/>
              <a:rect l="l" t="t" r="r" b="b"/>
              <a:pathLst>
                <a:path w="195262" h="473393">
                  <a:moveTo>
                    <a:pt x="195262" y="0"/>
                  </a:moveTo>
                  <a:lnTo>
                    <a:pt x="0" y="473393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5" name="Freeform 35"/>
            <p:cNvSpPr/>
            <p:nvPr/>
          </p:nvSpPr>
          <p:spPr>
            <a:xfrm>
              <a:off x="9593580" y="4576762"/>
              <a:ext cx="202882" cy="473393"/>
            </a:xfrm>
            <a:custGeom>
              <a:avLst/>
              <a:gdLst/>
              <a:ahLst/>
              <a:cxnLst/>
              <a:rect l="l" t="t" r="r" b="b"/>
              <a:pathLst>
                <a:path w="202882" h="473393">
                  <a:moveTo>
                    <a:pt x="0" y="0"/>
                  </a:moveTo>
                  <a:lnTo>
                    <a:pt x="202882" y="473393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6" name="Freeform 36"/>
            <p:cNvSpPr/>
            <p:nvPr/>
          </p:nvSpPr>
          <p:spPr>
            <a:xfrm>
              <a:off x="10266045" y="3798570"/>
              <a:ext cx="438150" cy="521017"/>
            </a:xfrm>
            <a:custGeom>
              <a:avLst/>
              <a:gdLst/>
              <a:ahLst/>
              <a:cxnLst/>
              <a:rect l="l" t="t" r="r" b="b"/>
              <a:pathLst>
                <a:path w="438150" h="521017">
                  <a:moveTo>
                    <a:pt x="0" y="0"/>
                  </a:moveTo>
                  <a:lnTo>
                    <a:pt x="438150" y="521017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7" name="Freeform 37"/>
            <p:cNvSpPr/>
            <p:nvPr/>
          </p:nvSpPr>
          <p:spPr>
            <a:xfrm>
              <a:off x="10548938" y="4576762"/>
              <a:ext cx="195262" cy="473393"/>
            </a:xfrm>
            <a:custGeom>
              <a:avLst/>
              <a:gdLst/>
              <a:ahLst/>
              <a:cxnLst/>
              <a:rect l="l" t="t" r="r" b="b"/>
              <a:pathLst>
                <a:path w="195262" h="473393">
                  <a:moveTo>
                    <a:pt x="195262" y="0"/>
                  </a:moveTo>
                  <a:lnTo>
                    <a:pt x="0" y="473393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8" name="Freeform 38"/>
            <p:cNvSpPr/>
            <p:nvPr/>
          </p:nvSpPr>
          <p:spPr>
            <a:xfrm>
              <a:off x="10862310" y="4576762"/>
              <a:ext cx="201930" cy="473393"/>
            </a:xfrm>
            <a:custGeom>
              <a:avLst/>
              <a:gdLst/>
              <a:ahLst/>
              <a:cxnLst/>
              <a:rect l="l" t="t" r="r" b="b"/>
              <a:pathLst>
                <a:path w="201930" h="473393">
                  <a:moveTo>
                    <a:pt x="0" y="0"/>
                  </a:moveTo>
                  <a:lnTo>
                    <a:pt x="201930" y="473393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9" name="Ellipse 39"/>
            <p:cNvSpPr/>
            <p:nvPr/>
          </p:nvSpPr>
          <p:spPr>
            <a:xfrm>
              <a:off x="6231255" y="2030730"/>
              <a:ext cx="285750" cy="285750"/>
            </a:xfrm>
            <a:prstGeom prst="ellipse">
              <a:avLst/>
            </a:prstGeom>
            <a:solidFill>
              <a:srgbClr val="2F4B9A"/>
            </a:solidFill>
            <a:ln w="17145">
              <a:solidFill>
                <a:srgbClr val="2F4B9A"/>
              </a:solidFill>
            </a:ln>
          </p:spPr>
        </p:sp>
        <p:sp>
          <p:nvSpPr>
            <p:cNvPr id="40" name="Ellipse 40"/>
            <p:cNvSpPr/>
            <p:nvPr/>
          </p:nvSpPr>
          <p:spPr>
            <a:xfrm>
              <a:off x="3706178" y="2785110"/>
              <a:ext cx="285750" cy="2857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41" name="Ellipse 41"/>
            <p:cNvSpPr/>
            <p:nvPr/>
          </p:nvSpPr>
          <p:spPr>
            <a:xfrm>
              <a:off x="2437448" y="3539490"/>
              <a:ext cx="285750" cy="2857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42" name="Ellipse 42"/>
            <p:cNvSpPr/>
            <p:nvPr/>
          </p:nvSpPr>
          <p:spPr>
            <a:xfrm>
              <a:off x="1803082" y="4293870"/>
              <a:ext cx="285750" cy="2857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43" name="Ellipse 43"/>
            <p:cNvSpPr/>
            <p:nvPr/>
          </p:nvSpPr>
          <p:spPr>
            <a:xfrm>
              <a:off x="1481138" y="5048250"/>
              <a:ext cx="285750" cy="2857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44" name="Ellipse 44"/>
            <p:cNvSpPr/>
            <p:nvPr/>
          </p:nvSpPr>
          <p:spPr>
            <a:xfrm>
              <a:off x="2114550" y="5048250"/>
              <a:ext cx="285750" cy="2857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45" name="Ellipse 45"/>
            <p:cNvSpPr/>
            <p:nvPr/>
          </p:nvSpPr>
          <p:spPr>
            <a:xfrm>
              <a:off x="3071812" y="4293870"/>
              <a:ext cx="285750" cy="2857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46" name="Ellipse 46"/>
            <p:cNvSpPr/>
            <p:nvPr/>
          </p:nvSpPr>
          <p:spPr>
            <a:xfrm>
              <a:off x="2748915" y="5048250"/>
              <a:ext cx="285750" cy="285750"/>
            </a:xfrm>
            <a:prstGeom prst="ellipse">
              <a:avLst/>
            </a:prstGeom>
            <a:solidFill>
              <a:srgbClr val="E3F5F1"/>
            </a:solidFill>
            <a:ln w="17145">
              <a:solidFill>
                <a:srgbClr val="14A38B"/>
              </a:solidFill>
            </a:ln>
          </p:spPr>
        </p:sp>
        <p:sp>
          <p:nvSpPr>
            <p:cNvPr id="47" name="Ellipse 47"/>
            <p:cNvSpPr/>
            <p:nvPr/>
          </p:nvSpPr>
          <p:spPr>
            <a:xfrm>
              <a:off x="3383280" y="5048250"/>
              <a:ext cx="285750" cy="2857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48" name="Ellipse 48"/>
            <p:cNvSpPr/>
            <p:nvPr/>
          </p:nvSpPr>
          <p:spPr>
            <a:xfrm>
              <a:off x="4962525" y="3539490"/>
              <a:ext cx="285750" cy="2857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49" name="Ellipse 49"/>
            <p:cNvSpPr/>
            <p:nvPr/>
          </p:nvSpPr>
          <p:spPr>
            <a:xfrm>
              <a:off x="4329112" y="4293870"/>
              <a:ext cx="285750" cy="2857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50" name="Ellipse 50"/>
            <p:cNvSpPr/>
            <p:nvPr/>
          </p:nvSpPr>
          <p:spPr>
            <a:xfrm>
              <a:off x="4017645" y="5048250"/>
              <a:ext cx="285750" cy="2857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51" name="Ellipse 51"/>
            <p:cNvSpPr/>
            <p:nvPr/>
          </p:nvSpPr>
          <p:spPr>
            <a:xfrm>
              <a:off x="4651058" y="5048250"/>
              <a:ext cx="285750" cy="2857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52" name="Ellipse 52"/>
            <p:cNvSpPr/>
            <p:nvPr/>
          </p:nvSpPr>
          <p:spPr>
            <a:xfrm>
              <a:off x="5596890" y="4293870"/>
              <a:ext cx="285750" cy="2857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53" name="Ellipse 53"/>
            <p:cNvSpPr/>
            <p:nvPr/>
          </p:nvSpPr>
          <p:spPr>
            <a:xfrm>
              <a:off x="5285422" y="5048250"/>
              <a:ext cx="285750" cy="2857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54" name="Ellipse 54"/>
            <p:cNvSpPr/>
            <p:nvPr/>
          </p:nvSpPr>
          <p:spPr>
            <a:xfrm>
              <a:off x="5919788" y="5048250"/>
              <a:ext cx="285750" cy="2857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55" name="Ellipse 55"/>
            <p:cNvSpPr/>
            <p:nvPr/>
          </p:nvSpPr>
          <p:spPr>
            <a:xfrm>
              <a:off x="8756332" y="2785110"/>
              <a:ext cx="285750" cy="2857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56" name="Ellipse 56"/>
            <p:cNvSpPr/>
            <p:nvPr/>
          </p:nvSpPr>
          <p:spPr>
            <a:xfrm>
              <a:off x="7499985" y="3539490"/>
              <a:ext cx="285750" cy="2857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57" name="Ellipse 57"/>
            <p:cNvSpPr/>
            <p:nvPr/>
          </p:nvSpPr>
          <p:spPr>
            <a:xfrm>
              <a:off x="6865620" y="4293870"/>
              <a:ext cx="285750" cy="2857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58" name="Ellipse 58"/>
            <p:cNvSpPr/>
            <p:nvPr/>
          </p:nvSpPr>
          <p:spPr>
            <a:xfrm>
              <a:off x="6542722" y="5048250"/>
              <a:ext cx="285750" cy="2857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59" name="Ellipse 59"/>
            <p:cNvSpPr/>
            <p:nvPr/>
          </p:nvSpPr>
          <p:spPr>
            <a:xfrm>
              <a:off x="7177088" y="5048250"/>
              <a:ext cx="285750" cy="2857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60" name="Ellipse 60"/>
            <p:cNvSpPr/>
            <p:nvPr/>
          </p:nvSpPr>
          <p:spPr>
            <a:xfrm>
              <a:off x="8133398" y="4293870"/>
              <a:ext cx="285750" cy="2857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61" name="Ellipse 61"/>
            <p:cNvSpPr/>
            <p:nvPr/>
          </p:nvSpPr>
          <p:spPr>
            <a:xfrm>
              <a:off x="7811452" y="5048250"/>
              <a:ext cx="285750" cy="2857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62" name="Ellipse 62"/>
            <p:cNvSpPr/>
            <p:nvPr/>
          </p:nvSpPr>
          <p:spPr>
            <a:xfrm>
              <a:off x="8444865" y="5048250"/>
              <a:ext cx="285750" cy="2857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63" name="Ellipse 63"/>
            <p:cNvSpPr/>
            <p:nvPr/>
          </p:nvSpPr>
          <p:spPr>
            <a:xfrm>
              <a:off x="10025062" y="3539490"/>
              <a:ext cx="285750" cy="2857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64" name="Ellipse 64"/>
            <p:cNvSpPr/>
            <p:nvPr/>
          </p:nvSpPr>
          <p:spPr>
            <a:xfrm>
              <a:off x="9390698" y="4293870"/>
              <a:ext cx="285750" cy="2857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65" name="Ellipse 65"/>
            <p:cNvSpPr/>
            <p:nvPr/>
          </p:nvSpPr>
          <p:spPr>
            <a:xfrm>
              <a:off x="9079230" y="5048250"/>
              <a:ext cx="285750" cy="285750"/>
            </a:xfrm>
            <a:prstGeom prst="ellipse">
              <a:avLst/>
            </a:prstGeom>
            <a:solidFill>
              <a:srgbClr val="E3F5F1"/>
            </a:solidFill>
            <a:ln w="17145">
              <a:solidFill>
                <a:srgbClr val="14A38B"/>
              </a:solidFill>
            </a:ln>
          </p:spPr>
        </p:sp>
        <p:sp>
          <p:nvSpPr>
            <p:cNvPr id="66" name="Ellipse 66"/>
            <p:cNvSpPr/>
            <p:nvPr/>
          </p:nvSpPr>
          <p:spPr>
            <a:xfrm>
              <a:off x="9713595" y="5048250"/>
              <a:ext cx="285750" cy="2857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67" name="Ellipse 67"/>
            <p:cNvSpPr/>
            <p:nvPr/>
          </p:nvSpPr>
          <p:spPr>
            <a:xfrm>
              <a:off x="10659428" y="4293870"/>
              <a:ext cx="285750" cy="2857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68" name="Ellipse 68"/>
            <p:cNvSpPr/>
            <p:nvPr/>
          </p:nvSpPr>
          <p:spPr>
            <a:xfrm>
              <a:off x="10347960" y="5048250"/>
              <a:ext cx="285750" cy="2857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69" name="Ellipse 69"/>
            <p:cNvSpPr/>
            <p:nvPr/>
          </p:nvSpPr>
          <p:spPr>
            <a:xfrm>
              <a:off x="10981372" y="5048250"/>
              <a:ext cx="285750" cy="2857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6327981" y="210788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3802903" y="286226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2534173" y="3616643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1899808" y="437102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1577863" y="512540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2211276" y="512540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3168538" y="437102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2845641" y="512540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3480006" y="512540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5018436" y="3616643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4385023" y="4371022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4073556" y="5125402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4706968" y="5125402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5652801" y="4371022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5341333" y="5125402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5975698" y="5125402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8812243" y="2862262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17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7555896" y="3616643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18</a:t>
              </a: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6921531" y="4371022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19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6598633" y="5125402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7232998" y="5125402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21</a:t>
              </a:r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8189308" y="4371022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22</a:t>
              </a:r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7867363" y="5125402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23</a:t>
              </a:r>
            </a:p>
          </p:txBody>
        </p:sp>
        <p:sp>
          <p:nvSpPr>
            <p:cNvPr id="93" name="TextBox 93"/>
            <p:cNvSpPr txBox="1"/>
            <p:nvPr/>
          </p:nvSpPr>
          <p:spPr>
            <a:xfrm>
              <a:off x="8500776" y="5125402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24</a:t>
              </a:r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10080973" y="3616643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25</a:t>
              </a:r>
            </a:p>
          </p:txBody>
        </p:sp>
        <p:sp>
          <p:nvSpPr>
            <p:cNvPr id="95" name="TextBox 95"/>
            <p:cNvSpPr txBox="1"/>
            <p:nvPr/>
          </p:nvSpPr>
          <p:spPr>
            <a:xfrm>
              <a:off x="9446608" y="4371022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26</a:t>
              </a:r>
            </a:p>
          </p:txBody>
        </p:sp>
        <p:sp>
          <p:nvSpPr>
            <p:cNvPr id="96" name="TextBox 96"/>
            <p:cNvSpPr txBox="1"/>
            <p:nvPr/>
          </p:nvSpPr>
          <p:spPr>
            <a:xfrm>
              <a:off x="9135141" y="5125402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27</a:t>
              </a:r>
            </a:p>
          </p:txBody>
        </p:sp>
        <p:sp>
          <p:nvSpPr>
            <p:cNvPr id="97" name="TextBox 97"/>
            <p:cNvSpPr txBox="1"/>
            <p:nvPr/>
          </p:nvSpPr>
          <p:spPr>
            <a:xfrm>
              <a:off x="9769506" y="5125402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28</a:t>
              </a:r>
            </a:p>
          </p:txBody>
        </p:sp>
        <p:sp>
          <p:nvSpPr>
            <p:cNvPr id="98" name="TextBox 98"/>
            <p:cNvSpPr txBox="1"/>
            <p:nvPr/>
          </p:nvSpPr>
          <p:spPr>
            <a:xfrm>
              <a:off x="10715338" y="4371022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29</a:t>
              </a:r>
            </a:p>
          </p:txBody>
        </p:sp>
        <p:sp>
          <p:nvSpPr>
            <p:cNvPr id="99" name="TextBox 99"/>
            <p:cNvSpPr txBox="1"/>
            <p:nvPr/>
          </p:nvSpPr>
          <p:spPr>
            <a:xfrm>
              <a:off x="10403871" y="5125402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30</a:t>
              </a:r>
            </a:p>
          </p:txBody>
        </p:sp>
        <p:sp>
          <p:nvSpPr>
            <p:cNvPr id="100" name="TextBox 100"/>
            <p:cNvSpPr txBox="1"/>
            <p:nvPr/>
          </p:nvSpPr>
          <p:spPr>
            <a:xfrm>
              <a:off x="11037283" y="5125402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31</a:t>
              </a:r>
            </a:p>
          </p:txBody>
        </p:sp>
        <p:sp>
          <p:nvSpPr>
            <p:cNvPr id="101" name="Rectangle 101"/>
            <p:cNvSpPr/>
            <p:nvPr/>
          </p:nvSpPr>
          <p:spPr>
            <a:xfrm>
              <a:off x="5044440" y="2471738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02" name="TextBox 102"/>
            <p:cNvSpPr txBox="1"/>
            <p:nvPr/>
          </p:nvSpPr>
          <p:spPr>
            <a:xfrm>
              <a:off x="5075996" y="250078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3" name="Rectangle 103"/>
            <p:cNvSpPr/>
            <p:nvPr/>
          </p:nvSpPr>
          <p:spPr>
            <a:xfrm>
              <a:off x="3148012" y="3226118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04" name="TextBox 104"/>
            <p:cNvSpPr txBox="1"/>
            <p:nvPr/>
          </p:nvSpPr>
          <p:spPr>
            <a:xfrm>
              <a:off x="3179568" y="325516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5" name="Rectangle 105"/>
            <p:cNvSpPr/>
            <p:nvPr/>
          </p:nvSpPr>
          <p:spPr>
            <a:xfrm>
              <a:off x="2196465" y="3980498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06" name="TextBox 106"/>
            <p:cNvSpPr txBox="1"/>
            <p:nvPr/>
          </p:nvSpPr>
          <p:spPr>
            <a:xfrm>
              <a:off x="2228021" y="400954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7" name="Rectangle 107"/>
            <p:cNvSpPr/>
            <p:nvPr/>
          </p:nvSpPr>
          <p:spPr>
            <a:xfrm>
              <a:off x="1718310" y="4734878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08" name="TextBox 108"/>
            <p:cNvSpPr txBox="1"/>
            <p:nvPr/>
          </p:nvSpPr>
          <p:spPr>
            <a:xfrm>
              <a:off x="1749866" y="476392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9" name="Rectangle 109"/>
            <p:cNvSpPr/>
            <p:nvPr/>
          </p:nvSpPr>
          <p:spPr>
            <a:xfrm>
              <a:off x="2035492" y="4734878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10" name="TextBox 110"/>
            <p:cNvSpPr txBox="1"/>
            <p:nvPr/>
          </p:nvSpPr>
          <p:spPr>
            <a:xfrm>
              <a:off x="2067048" y="476392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11" name="Rectangle 111"/>
            <p:cNvSpPr/>
            <p:nvPr/>
          </p:nvSpPr>
          <p:spPr>
            <a:xfrm>
              <a:off x="2830830" y="3980498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12" name="TextBox 112"/>
            <p:cNvSpPr txBox="1"/>
            <p:nvPr/>
          </p:nvSpPr>
          <p:spPr>
            <a:xfrm>
              <a:off x="2862386" y="400954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13" name="Rectangle 113"/>
            <p:cNvSpPr/>
            <p:nvPr/>
          </p:nvSpPr>
          <p:spPr>
            <a:xfrm>
              <a:off x="2986088" y="4734878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14" name="TextBox 114"/>
            <p:cNvSpPr txBox="1"/>
            <p:nvPr/>
          </p:nvSpPr>
          <p:spPr>
            <a:xfrm>
              <a:off x="3018596" y="476392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15" name="Rectangle 115"/>
            <p:cNvSpPr/>
            <p:nvPr/>
          </p:nvSpPr>
          <p:spPr>
            <a:xfrm>
              <a:off x="3303270" y="4734878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16" name="TextBox 116"/>
            <p:cNvSpPr txBox="1"/>
            <p:nvPr/>
          </p:nvSpPr>
          <p:spPr>
            <a:xfrm>
              <a:off x="3334826" y="476392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17" name="Rectangle 117"/>
            <p:cNvSpPr/>
            <p:nvPr/>
          </p:nvSpPr>
          <p:spPr>
            <a:xfrm>
              <a:off x="4410075" y="3226118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18" name="TextBox 118"/>
            <p:cNvSpPr txBox="1"/>
            <p:nvPr/>
          </p:nvSpPr>
          <p:spPr>
            <a:xfrm>
              <a:off x="4442583" y="325516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19" name="Rectangle 119"/>
            <p:cNvSpPr/>
            <p:nvPr/>
          </p:nvSpPr>
          <p:spPr>
            <a:xfrm>
              <a:off x="4722495" y="3980498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20" name="TextBox 120"/>
            <p:cNvSpPr txBox="1"/>
            <p:nvPr/>
          </p:nvSpPr>
          <p:spPr>
            <a:xfrm>
              <a:off x="4754051" y="400954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21" name="Rectangle 121"/>
            <p:cNvSpPr/>
            <p:nvPr/>
          </p:nvSpPr>
          <p:spPr>
            <a:xfrm>
              <a:off x="4249102" y="4734878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22" name="TextBox 122"/>
            <p:cNvSpPr txBox="1"/>
            <p:nvPr/>
          </p:nvSpPr>
          <p:spPr>
            <a:xfrm>
              <a:off x="4280658" y="476392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23" name="Rectangle 123"/>
            <p:cNvSpPr/>
            <p:nvPr/>
          </p:nvSpPr>
          <p:spPr>
            <a:xfrm>
              <a:off x="4566285" y="4734878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24" name="TextBox 124"/>
            <p:cNvSpPr txBox="1"/>
            <p:nvPr/>
          </p:nvSpPr>
          <p:spPr>
            <a:xfrm>
              <a:off x="4597841" y="476392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25" name="Rectangle 125"/>
            <p:cNvSpPr/>
            <p:nvPr/>
          </p:nvSpPr>
          <p:spPr>
            <a:xfrm>
              <a:off x="5355908" y="3980498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26" name="TextBox 126"/>
            <p:cNvSpPr txBox="1"/>
            <p:nvPr/>
          </p:nvSpPr>
          <p:spPr>
            <a:xfrm>
              <a:off x="5387463" y="400954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27" name="Rectangle 127"/>
            <p:cNvSpPr/>
            <p:nvPr/>
          </p:nvSpPr>
          <p:spPr>
            <a:xfrm>
              <a:off x="5517832" y="4734878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28" name="TextBox 128"/>
            <p:cNvSpPr txBox="1"/>
            <p:nvPr/>
          </p:nvSpPr>
          <p:spPr>
            <a:xfrm>
              <a:off x="5549388" y="476392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29" name="Rectangle 129"/>
            <p:cNvSpPr/>
            <p:nvPr/>
          </p:nvSpPr>
          <p:spPr>
            <a:xfrm>
              <a:off x="5835015" y="4734878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30" name="TextBox 130"/>
            <p:cNvSpPr txBox="1"/>
            <p:nvPr/>
          </p:nvSpPr>
          <p:spPr>
            <a:xfrm>
              <a:off x="5866571" y="476392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31" name="Rectangle 131"/>
            <p:cNvSpPr/>
            <p:nvPr/>
          </p:nvSpPr>
          <p:spPr>
            <a:xfrm>
              <a:off x="7570470" y="2471738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32" name="TextBox 132"/>
            <p:cNvSpPr txBox="1"/>
            <p:nvPr/>
          </p:nvSpPr>
          <p:spPr>
            <a:xfrm>
              <a:off x="7602026" y="250078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33" name="Rectangle 133"/>
            <p:cNvSpPr/>
            <p:nvPr/>
          </p:nvSpPr>
          <p:spPr>
            <a:xfrm>
              <a:off x="8203882" y="3226118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34" name="TextBox 134"/>
            <p:cNvSpPr txBox="1"/>
            <p:nvPr/>
          </p:nvSpPr>
          <p:spPr>
            <a:xfrm>
              <a:off x="8235438" y="325516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35" name="Rectangle 135"/>
            <p:cNvSpPr/>
            <p:nvPr/>
          </p:nvSpPr>
          <p:spPr>
            <a:xfrm>
              <a:off x="7259002" y="3980498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36" name="TextBox 136"/>
            <p:cNvSpPr txBox="1"/>
            <p:nvPr/>
          </p:nvSpPr>
          <p:spPr>
            <a:xfrm>
              <a:off x="7290558" y="400954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37" name="Rectangle 137"/>
            <p:cNvSpPr/>
            <p:nvPr/>
          </p:nvSpPr>
          <p:spPr>
            <a:xfrm>
              <a:off x="6779895" y="4734878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38" name="TextBox 138"/>
            <p:cNvSpPr txBox="1"/>
            <p:nvPr/>
          </p:nvSpPr>
          <p:spPr>
            <a:xfrm>
              <a:off x="6811451" y="476392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39" name="Rectangle 139"/>
            <p:cNvSpPr/>
            <p:nvPr/>
          </p:nvSpPr>
          <p:spPr>
            <a:xfrm>
              <a:off x="7097078" y="4734878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40" name="TextBox 140"/>
            <p:cNvSpPr txBox="1"/>
            <p:nvPr/>
          </p:nvSpPr>
          <p:spPr>
            <a:xfrm>
              <a:off x="7128633" y="476392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41" name="Rectangle 141"/>
            <p:cNvSpPr/>
            <p:nvPr/>
          </p:nvSpPr>
          <p:spPr>
            <a:xfrm>
              <a:off x="7892415" y="3980498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42" name="TextBox 142"/>
            <p:cNvSpPr txBox="1"/>
            <p:nvPr/>
          </p:nvSpPr>
          <p:spPr>
            <a:xfrm>
              <a:off x="7923971" y="400954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43" name="Rectangle 143"/>
            <p:cNvSpPr/>
            <p:nvPr/>
          </p:nvSpPr>
          <p:spPr>
            <a:xfrm>
              <a:off x="8048625" y="4734878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44" name="TextBox 144"/>
            <p:cNvSpPr txBox="1"/>
            <p:nvPr/>
          </p:nvSpPr>
          <p:spPr>
            <a:xfrm>
              <a:off x="8080181" y="476392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45" name="Rectangle 145"/>
            <p:cNvSpPr/>
            <p:nvPr/>
          </p:nvSpPr>
          <p:spPr>
            <a:xfrm>
              <a:off x="8365808" y="4734878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46" name="TextBox 146"/>
            <p:cNvSpPr txBox="1"/>
            <p:nvPr/>
          </p:nvSpPr>
          <p:spPr>
            <a:xfrm>
              <a:off x="8397363" y="476392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47" name="Rectangle 147"/>
            <p:cNvSpPr/>
            <p:nvPr/>
          </p:nvSpPr>
          <p:spPr>
            <a:xfrm>
              <a:off x="9466898" y="3226118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48" name="TextBox 148"/>
            <p:cNvSpPr txBox="1"/>
            <p:nvPr/>
          </p:nvSpPr>
          <p:spPr>
            <a:xfrm>
              <a:off x="9498453" y="325516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49" name="Rectangle 149"/>
            <p:cNvSpPr/>
            <p:nvPr/>
          </p:nvSpPr>
          <p:spPr>
            <a:xfrm>
              <a:off x="9784080" y="3980498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50" name="TextBox 150"/>
            <p:cNvSpPr txBox="1"/>
            <p:nvPr/>
          </p:nvSpPr>
          <p:spPr>
            <a:xfrm>
              <a:off x="9815636" y="400954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51" name="Rectangle 151"/>
            <p:cNvSpPr/>
            <p:nvPr/>
          </p:nvSpPr>
          <p:spPr>
            <a:xfrm>
              <a:off x="9311640" y="4734878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52" name="TextBox 152"/>
            <p:cNvSpPr txBox="1"/>
            <p:nvPr/>
          </p:nvSpPr>
          <p:spPr>
            <a:xfrm>
              <a:off x="9343196" y="476392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53" name="Rectangle 153"/>
            <p:cNvSpPr/>
            <p:nvPr/>
          </p:nvSpPr>
          <p:spPr>
            <a:xfrm>
              <a:off x="9627870" y="4734878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54" name="TextBox 154"/>
            <p:cNvSpPr txBox="1"/>
            <p:nvPr/>
          </p:nvSpPr>
          <p:spPr>
            <a:xfrm>
              <a:off x="9659426" y="476392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55" name="Rectangle 155"/>
            <p:cNvSpPr/>
            <p:nvPr/>
          </p:nvSpPr>
          <p:spPr>
            <a:xfrm>
              <a:off x="10418445" y="3980498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56" name="TextBox 156"/>
            <p:cNvSpPr txBox="1"/>
            <p:nvPr/>
          </p:nvSpPr>
          <p:spPr>
            <a:xfrm>
              <a:off x="10450001" y="400954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57" name="Rectangle 157"/>
            <p:cNvSpPr/>
            <p:nvPr/>
          </p:nvSpPr>
          <p:spPr>
            <a:xfrm>
              <a:off x="10579418" y="4734878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58" name="TextBox 158"/>
            <p:cNvSpPr txBox="1"/>
            <p:nvPr/>
          </p:nvSpPr>
          <p:spPr>
            <a:xfrm>
              <a:off x="10610973" y="476392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59" name="Rectangle 159"/>
            <p:cNvSpPr/>
            <p:nvPr/>
          </p:nvSpPr>
          <p:spPr>
            <a:xfrm>
              <a:off x="10896600" y="4734878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60" name="TextBox 160"/>
            <p:cNvSpPr txBox="1"/>
            <p:nvPr/>
          </p:nvSpPr>
          <p:spPr>
            <a:xfrm>
              <a:off x="10928156" y="476392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61" name="TextBox 161"/>
            <p:cNvSpPr txBox="1"/>
            <p:nvPr/>
          </p:nvSpPr>
          <p:spPr>
            <a:xfrm>
              <a:off x="724566" y="2437448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x₁</a:t>
              </a:r>
            </a:p>
          </p:txBody>
        </p:sp>
        <p:sp>
          <p:nvSpPr>
            <p:cNvPr id="162" name="TextBox 162"/>
            <p:cNvSpPr txBox="1"/>
            <p:nvPr/>
          </p:nvSpPr>
          <p:spPr>
            <a:xfrm>
              <a:off x="724566" y="3191828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x₂</a:t>
              </a:r>
            </a:p>
          </p:txBody>
        </p:sp>
        <p:sp>
          <p:nvSpPr>
            <p:cNvPr id="163" name="TextBox 163"/>
            <p:cNvSpPr txBox="1"/>
            <p:nvPr/>
          </p:nvSpPr>
          <p:spPr>
            <a:xfrm>
              <a:off x="724566" y="3946208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x₃</a:t>
              </a:r>
            </a:p>
          </p:txBody>
        </p:sp>
        <p:sp>
          <p:nvSpPr>
            <p:cNvPr id="164" name="TextBox 164"/>
            <p:cNvSpPr txBox="1"/>
            <p:nvPr/>
          </p:nvSpPr>
          <p:spPr>
            <a:xfrm>
              <a:off x="724566" y="4700588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x₄</a:t>
              </a:r>
            </a:p>
          </p:txBody>
        </p:sp>
      </p:grpSp>
      <p:grpSp>
        <p:nvGrpSpPr>
          <p:cNvPr id="171" name="takeaway"/>
          <p:cNvGrpSpPr/>
          <p:nvPr/>
        </p:nvGrpSpPr>
        <p:grpSpPr>
          <a:xfrm>
            <a:off x="533400" y="5579745"/>
            <a:ext cx="11125200" cy="782955"/>
            <a:chOff x="533400" y="5579745"/>
            <a:chExt cx="11125200" cy="782955"/>
          </a:xfrm>
        </p:grpSpPr>
        <p:sp>
          <p:nvSpPr>
            <p:cNvPr id="166" name="Rectangle 166"/>
            <p:cNvSpPr/>
            <p:nvPr/>
          </p:nvSpPr>
          <p:spPr>
            <a:xfrm>
              <a:off x="533400" y="5579745"/>
              <a:ext cx="11125200" cy="782955"/>
            </a:xfrm>
            <a:prstGeom prst="roundRect">
              <a:avLst>
                <a:gd name="adj" fmla="val 14599"/>
              </a:avLst>
            </a:prstGeom>
            <a:solidFill>
              <a:srgbClr val="2F4B9A"/>
            </a:solidFill>
            <a:ln>
              <a:noFill/>
            </a:ln>
          </p:spPr>
        </p:sp>
        <p:grpSp>
          <p:nvGrpSpPr>
            <p:cNvPr id="169" name="Group 169"/>
            <p:cNvGrpSpPr/>
            <p:nvPr/>
          </p:nvGrpSpPr>
          <p:grpSpPr>
            <a:xfrm>
              <a:off x="738188" y="5871212"/>
              <a:ext cx="200023" cy="200023"/>
              <a:chOff x="738188" y="5871212"/>
              <a:chExt cx="200023" cy="200023"/>
            </a:xfrm>
          </p:grpSpPr>
          <p:sp>
            <p:nvSpPr>
              <p:cNvPr id="167" name="Freeform 167"/>
              <p:cNvSpPr/>
              <p:nvPr/>
            </p:nvSpPr>
            <p:spPr>
              <a:xfrm>
                <a:off x="738188" y="5871212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168" name="Freeform 168"/>
              <p:cNvSpPr/>
              <p:nvPr/>
            </p:nvSpPr>
            <p:spPr>
              <a:xfrm>
                <a:off x="871538" y="593788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170" name="TextBox 170"/>
            <p:cNvSpPr txBox="1"/>
            <p:nvPr/>
          </p:nvSpPr>
          <p:spPr>
            <a:xfrm>
              <a:off x="1040130" y="5728335"/>
              <a:ext cx="994981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问题状态：全部 31 个结点；解状态：16 个叶结点；答案状态：结点 8 (1,1,0,1) 和结点 27 (0,0,1,1)。从根到叶结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点的一条路径确定解空间中的一个元组。</a:t>
              </a:r>
            </a:p>
          </p:txBody>
        </p:sp>
      </p:grpSp>
      <p:grpSp>
        <p:nvGrpSpPr>
          <p:cNvPr id="17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2" name="TextBox 172"/>
            <p:cNvSpPr txBox="1"/>
            <p:nvPr/>
          </p:nvSpPr>
          <p:spPr>
            <a:xfrm>
              <a:off x="528447" y="6581299"/>
              <a:ext cx="18568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第7章 回溯法</a:t>
              </a:r>
            </a:p>
          </p:txBody>
        </p:sp>
        <p:sp>
          <p:nvSpPr>
            <p:cNvPr id="173" name="TextBox 17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273898" cy="909257"/>
            <a:chOff x="520446" y="342900"/>
            <a:chExt cx="927389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第7章 回溯法 · 回溯法的一般方法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27389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可变长 k-元组的解空间树：16 个结点，每个结点都是解状态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8" name="c1-graph-1"/>
          <p:cNvGrpSpPr/>
          <p:nvPr/>
        </p:nvGrpSpPr>
        <p:grpSpPr>
          <a:xfrm>
            <a:off x="694194" y="1603058"/>
            <a:ext cx="5535156" cy="3482339"/>
            <a:chOff x="694194" y="1603058"/>
            <a:chExt cx="5535156" cy="3482339"/>
          </a:xfrm>
        </p:grpSpPr>
        <p:sp>
          <p:nvSpPr>
            <p:cNvPr id="7" name="Freeform 7"/>
            <p:cNvSpPr/>
            <p:nvPr/>
          </p:nvSpPr>
          <p:spPr>
            <a:xfrm>
              <a:off x="2842260" y="1805940"/>
              <a:ext cx="1423035" cy="674370"/>
            </a:xfrm>
            <a:custGeom>
              <a:avLst/>
              <a:gdLst/>
              <a:ahLst/>
              <a:cxnLst/>
              <a:rect l="l" t="t" r="r" b="b"/>
              <a:pathLst>
                <a:path w="1423035" h="674370">
                  <a:moveTo>
                    <a:pt x="1423035" y="0"/>
                  </a:moveTo>
                  <a:lnTo>
                    <a:pt x="0" y="67437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2007870" y="2647950"/>
              <a:ext cx="595312" cy="591503"/>
            </a:xfrm>
            <a:custGeom>
              <a:avLst/>
              <a:gdLst/>
              <a:ahLst/>
              <a:cxnLst/>
              <a:rect l="l" t="t" r="r" b="b"/>
              <a:pathLst>
                <a:path w="595312" h="591503">
                  <a:moveTo>
                    <a:pt x="595312" y="0"/>
                  </a:moveTo>
                  <a:lnTo>
                    <a:pt x="0" y="591503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9" name="Freeform 9"/>
            <p:cNvSpPr/>
            <p:nvPr/>
          </p:nvSpPr>
          <p:spPr>
            <a:xfrm>
              <a:off x="1636395" y="3481388"/>
              <a:ext cx="211455" cy="525780"/>
            </a:xfrm>
            <a:custGeom>
              <a:avLst/>
              <a:gdLst/>
              <a:ahLst/>
              <a:cxnLst/>
              <a:rect l="l" t="t" r="r" b="b"/>
              <a:pathLst>
                <a:path w="211455" h="525780">
                  <a:moveTo>
                    <a:pt x="211455" y="0"/>
                  </a:moveTo>
                  <a:lnTo>
                    <a:pt x="0" y="52578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1582102" y="4292918"/>
              <a:ext cx="9525" cy="504825"/>
            </a:xfrm>
            <a:custGeom>
              <a:avLst/>
              <a:gdLst/>
              <a:ahLst/>
              <a:cxnLst/>
              <a:rect l="l" t="t" r="r" b="b"/>
              <a:pathLst>
                <a:path w="9525" h="504825">
                  <a:moveTo>
                    <a:pt x="0" y="0"/>
                  </a:moveTo>
                  <a:lnTo>
                    <a:pt x="0" y="50482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1958340" y="3481388"/>
              <a:ext cx="210502" cy="525780"/>
            </a:xfrm>
            <a:custGeom>
              <a:avLst/>
              <a:gdLst/>
              <a:ahLst/>
              <a:cxnLst/>
              <a:rect l="l" t="t" r="r" b="b"/>
              <a:pathLst>
                <a:path w="210502" h="525780">
                  <a:moveTo>
                    <a:pt x="0" y="0"/>
                  </a:moveTo>
                  <a:lnTo>
                    <a:pt x="210502" y="52578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2738438" y="2688908"/>
              <a:ext cx="103822" cy="510540"/>
            </a:xfrm>
            <a:custGeom>
              <a:avLst/>
              <a:gdLst/>
              <a:ahLst/>
              <a:cxnLst/>
              <a:rect l="l" t="t" r="r" b="b"/>
              <a:pathLst>
                <a:path w="103822" h="510540">
                  <a:moveTo>
                    <a:pt x="0" y="0"/>
                  </a:moveTo>
                  <a:lnTo>
                    <a:pt x="103822" y="51054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2872740" y="3492818"/>
              <a:ext cx="9525" cy="503873"/>
            </a:xfrm>
            <a:custGeom>
              <a:avLst/>
              <a:gdLst/>
              <a:ahLst/>
              <a:cxnLst/>
              <a:rect l="l" t="t" r="r" b="b"/>
              <a:pathLst>
                <a:path w="9525" h="503873">
                  <a:moveTo>
                    <a:pt x="0" y="0"/>
                  </a:moveTo>
                  <a:lnTo>
                    <a:pt x="0" y="503873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2813685" y="2647950"/>
              <a:ext cx="596265" cy="591503"/>
            </a:xfrm>
            <a:custGeom>
              <a:avLst/>
              <a:gdLst/>
              <a:ahLst/>
              <a:cxnLst/>
              <a:rect l="l" t="t" r="r" b="b"/>
              <a:pathLst>
                <a:path w="596265" h="591503">
                  <a:moveTo>
                    <a:pt x="0" y="0"/>
                  </a:moveTo>
                  <a:lnTo>
                    <a:pt x="596265" y="591503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4413885" y="1889760"/>
              <a:ext cx="49530" cy="505777"/>
            </a:xfrm>
            <a:custGeom>
              <a:avLst/>
              <a:gdLst/>
              <a:ahLst/>
              <a:cxnLst/>
              <a:rect l="l" t="t" r="r" b="b"/>
              <a:pathLst>
                <a:path w="49530" h="505777">
                  <a:moveTo>
                    <a:pt x="0" y="0"/>
                  </a:moveTo>
                  <a:lnTo>
                    <a:pt x="49530" y="505777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4211955" y="2681288"/>
              <a:ext cx="210503" cy="525780"/>
            </a:xfrm>
            <a:custGeom>
              <a:avLst/>
              <a:gdLst/>
              <a:ahLst/>
              <a:cxnLst/>
              <a:rect l="l" t="t" r="r" b="b"/>
              <a:pathLst>
                <a:path w="210503" h="525780">
                  <a:moveTo>
                    <a:pt x="210503" y="0"/>
                  </a:moveTo>
                  <a:lnTo>
                    <a:pt x="0" y="52578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4156710" y="3492818"/>
              <a:ext cx="9525" cy="503873"/>
            </a:xfrm>
            <a:custGeom>
              <a:avLst/>
              <a:gdLst/>
              <a:ahLst/>
              <a:cxnLst/>
              <a:rect l="l" t="t" r="r" b="b"/>
              <a:pathLst>
                <a:path w="9525" h="503873">
                  <a:moveTo>
                    <a:pt x="0" y="0"/>
                  </a:moveTo>
                  <a:lnTo>
                    <a:pt x="0" y="503873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4532948" y="2681288"/>
              <a:ext cx="211455" cy="525780"/>
            </a:xfrm>
            <a:custGeom>
              <a:avLst/>
              <a:gdLst/>
              <a:ahLst/>
              <a:cxnLst/>
              <a:rect l="l" t="t" r="r" b="b"/>
              <a:pathLst>
                <a:path w="211455" h="525780">
                  <a:moveTo>
                    <a:pt x="0" y="0"/>
                  </a:moveTo>
                  <a:lnTo>
                    <a:pt x="211455" y="52578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9" name="Freeform 19"/>
            <p:cNvSpPr/>
            <p:nvPr/>
          </p:nvSpPr>
          <p:spPr>
            <a:xfrm>
              <a:off x="4516755" y="1832610"/>
              <a:ext cx="813435" cy="621030"/>
            </a:xfrm>
            <a:custGeom>
              <a:avLst/>
              <a:gdLst/>
              <a:ahLst/>
              <a:cxnLst/>
              <a:rect l="l" t="t" r="r" b="b"/>
              <a:pathLst>
                <a:path w="813435" h="621030">
                  <a:moveTo>
                    <a:pt x="0" y="0"/>
                  </a:moveTo>
                  <a:lnTo>
                    <a:pt x="813435" y="62103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5447348" y="2691765"/>
              <a:ext cx="9525" cy="503872"/>
            </a:xfrm>
            <a:custGeom>
              <a:avLst/>
              <a:gdLst/>
              <a:ahLst/>
              <a:cxnLst/>
              <a:rect l="l" t="t" r="r" b="b"/>
              <a:pathLst>
                <a:path w="9525" h="503872">
                  <a:moveTo>
                    <a:pt x="0" y="0"/>
                  </a:moveTo>
                  <a:lnTo>
                    <a:pt x="0" y="503872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1" name="Freeform 21"/>
            <p:cNvSpPr/>
            <p:nvPr/>
          </p:nvSpPr>
          <p:spPr>
            <a:xfrm>
              <a:off x="4532948" y="1805940"/>
              <a:ext cx="1423035" cy="674370"/>
            </a:xfrm>
            <a:custGeom>
              <a:avLst/>
              <a:gdLst/>
              <a:ahLst/>
              <a:cxnLst/>
              <a:rect l="l" t="t" r="r" b="b"/>
              <a:pathLst>
                <a:path w="1423035" h="674370">
                  <a:moveTo>
                    <a:pt x="0" y="0"/>
                  </a:moveTo>
                  <a:lnTo>
                    <a:pt x="1423035" y="67437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2" name="Ellipse 22"/>
            <p:cNvSpPr/>
            <p:nvPr/>
          </p:nvSpPr>
          <p:spPr>
            <a:xfrm>
              <a:off x="4260532" y="1603058"/>
              <a:ext cx="278130" cy="278130"/>
            </a:xfrm>
            <a:prstGeom prst="ellipse">
              <a:avLst/>
            </a:prstGeom>
            <a:solidFill>
              <a:srgbClr val="2F4B9A"/>
            </a:solidFill>
            <a:ln w="17145">
              <a:solidFill>
                <a:srgbClr val="2F4B9A"/>
              </a:solidFill>
            </a:ln>
          </p:spPr>
        </p:sp>
        <p:sp>
          <p:nvSpPr>
            <p:cNvPr id="23" name="Ellipse 23"/>
            <p:cNvSpPr/>
            <p:nvPr/>
          </p:nvSpPr>
          <p:spPr>
            <a:xfrm>
              <a:off x="2569845" y="2404110"/>
              <a:ext cx="278130" cy="27813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1764030" y="3205162"/>
              <a:ext cx="278130" cy="27813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25" name="Ellipse 25"/>
            <p:cNvSpPr/>
            <p:nvPr/>
          </p:nvSpPr>
          <p:spPr>
            <a:xfrm>
              <a:off x="1443038" y="4006215"/>
              <a:ext cx="278130" cy="27813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26" name="Ellipse 26"/>
            <p:cNvSpPr/>
            <p:nvPr/>
          </p:nvSpPr>
          <p:spPr>
            <a:xfrm>
              <a:off x="1443038" y="4807267"/>
              <a:ext cx="278130" cy="27813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27" name="Ellipse 27"/>
            <p:cNvSpPr/>
            <p:nvPr/>
          </p:nvSpPr>
          <p:spPr>
            <a:xfrm>
              <a:off x="2085022" y="4006215"/>
              <a:ext cx="278130" cy="278130"/>
            </a:xfrm>
            <a:prstGeom prst="ellipse">
              <a:avLst/>
            </a:prstGeom>
            <a:solidFill>
              <a:srgbClr val="E3F5F1"/>
            </a:solidFill>
            <a:ln w="17145">
              <a:solidFill>
                <a:srgbClr val="14A38B"/>
              </a:solidFill>
            </a:ln>
          </p:spPr>
        </p:sp>
        <p:sp>
          <p:nvSpPr>
            <p:cNvPr id="28" name="Ellipse 28"/>
            <p:cNvSpPr/>
            <p:nvPr/>
          </p:nvSpPr>
          <p:spPr>
            <a:xfrm>
              <a:off x="2733675" y="3205162"/>
              <a:ext cx="278130" cy="27813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29" name="Ellipse 29"/>
            <p:cNvSpPr/>
            <p:nvPr/>
          </p:nvSpPr>
          <p:spPr>
            <a:xfrm>
              <a:off x="2733675" y="4006215"/>
              <a:ext cx="278130" cy="27813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30" name="Ellipse 30"/>
            <p:cNvSpPr/>
            <p:nvPr/>
          </p:nvSpPr>
          <p:spPr>
            <a:xfrm>
              <a:off x="3375660" y="3205162"/>
              <a:ext cx="278130" cy="27813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31" name="Ellipse 31"/>
            <p:cNvSpPr/>
            <p:nvPr/>
          </p:nvSpPr>
          <p:spPr>
            <a:xfrm>
              <a:off x="4338638" y="2404110"/>
              <a:ext cx="278130" cy="27813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32" name="Ellipse 32"/>
            <p:cNvSpPr/>
            <p:nvPr/>
          </p:nvSpPr>
          <p:spPr>
            <a:xfrm>
              <a:off x="4017645" y="3205162"/>
              <a:ext cx="278130" cy="27813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33" name="Ellipse 33"/>
            <p:cNvSpPr/>
            <p:nvPr/>
          </p:nvSpPr>
          <p:spPr>
            <a:xfrm>
              <a:off x="4017645" y="4006215"/>
              <a:ext cx="278130" cy="27813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34" name="Ellipse 34"/>
            <p:cNvSpPr/>
            <p:nvPr/>
          </p:nvSpPr>
          <p:spPr>
            <a:xfrm>
              <a:off x="4660582" y="3205162"/>
              <a:ext cx="278130" cy="27813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35" name="Ellipse 35"/>
            <p:cNvSpPr/>
            <p:nvPr/>
          </p:nvSpPr>
          <p:spPr>
            <a:xfrm>
              <a:off x="5308282" y="2404110"/>
              <a:ext cx="278130" cy="27813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36" name="Ellipse 36"/>
            <p:cNvSpPr/>
            <p:nvPr/>
          </p:nvSpPr>
          <p:spPr>
            <a:xfrm>
              <a:off x="5308282" y="3205162"/>
              <a:ext cx="278130" cy="278130"/>
            </a:xfrm>
            <a:prstGeom prst="ellipse">
              <a:avLst/>
            </a:prstGeom>
            <a:solidFill>
              <a:srgbClr val="E3F5F1"/>
            </a:solidFill>
            <a:ln w="17145">
              <a:solidFill>
                <a:srgbClr val="14A38B"/>
              </a:solidFill>
            </a:ln>
          </p:spPr>
        </p:sp>
        <p:sp>
          <p:nvSpPr>
            <p:cNvPr id="37" name="Ellipse 37"/>
            <p:cNvSpPr/>
            <p:nvPr/>
          </p:nvSpPr>
          <p:spPr>
            <a:xfrm>
              <a:off x="5951220" y="2404110"/>
              <a:ext cx="278130" cy="27813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4356550" y="1681639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2665863" y="2482691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860048" y="3283744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500961" y="4084796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500961" y="4884896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2142946" y="4084796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2829693" y="3283744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2791599" y="4084796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3471678" y="3283744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4434655" y="2482691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4113663" y="3283744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4075569" y="4084796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4718506" y="3283744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5404300" y="2482691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5366206" y="3283744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047238" y="2482691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3487102" y="2064068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3518658" y="209407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2239328" y="2865120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2270883" y="289417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1675448" y="3666172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1707003" y="369522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1514475" y="4467225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1546983" y="449627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1996440" y="3666172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2027996" y="369522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2724150" y="2865120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2755706" y="289417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66" name="Rectangle 66"/>
            <p:cNvSpPr/>
            <p:nvPr/>
          </p:nvSpPr>
          <p:spPr>
            <a:xfrm>
              <a:off x="2806065" y="3666172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2837621" y="369522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68" name="Rectangle 68"/>
            <p:cNvSpPr/>
            <p:nvPr/>
          </p:nvSpPr>
          <p:spPr>
            <a:xfrm>
              <a:off x="3045142" y="2865120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3076698" y="289417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70" name="Rectangle 70"/>
            <p:cNvSpPr/>
            <p:nvPr/>
          </p:nvSpPr>
          <p:spPr>
            <a:xfrm>
              <a:off x="4371975" y="2064068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4403531" y="209407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72" name="Rectangle 72"/>
            <p:cNvSpPr/>
            <p:nvPr/>
          </p:nvSpPr>
          <p:spPr>
            <a:xfrm>
              <a:off x="4251008" y="2865120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4282563" y="289417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74" name="Rectangle 74"/>
            <p:cNvSpPr/>
            <p:nvPr/>
          </p:nvSpPr>
          <p:spPr>
            <a:xfrm>
              <a:off x="4090035" y="3666172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4121591" y="369522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76" name="Rectangle 76"/>
            <p:cNvSpPr/>
            <p:nvPr/>
          </p:nvSpPr>
          <p:spPr>
            <a:xfrm>
              <a:off x="4572000" y="2865120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4603556" y="289417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78" name="Rectangle 78"/>
            <p:cNvSpPr/>
            <p:nvPr/>
          </p:nvSpPr>
          <p:spPr>
            <a:xfrm>
              <a:off x="4856798" y="2064068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79" name="TextBox 79"/>
            <p:cNvSpPr txBox="1"/>
            <p:nvPr/>
          </p:nvSpPr>
          <p:spPr>
            <a:xfrm>
              <a:off x="4888353" y="209407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80" name="Rectangle 80"/>
            <p:cNvSpPr/>
            <p:nvPr/>
          </p:nvSpPr>
          <p:spPr>
            <a:xfrm>
              <a:off x="5380672" y="2865120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1" name="TextBox 81"/>
            <p:cNvSpPr txBox="1"/>
            <p:nvPr/>
          </p:nvSpPr>
          <p:spPr>
            <a:xfrm>
              <a:off x="5412228" y="289417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82" name="Rectangle 82"/>
            <p:cNvSpPr/>
            <p:nvPr/>
          </p:nvSpPr>
          <p:spPr>
            <a:xfrm>
              <a:off x="5177790" y="2064068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3" name="TextBox 83"/>
            <p:cNvSpPr txBox="1"/>
            <p:nvPr/>
          </p:nvSpPr>
          <p:spPr>
            <a:xfrm>
              <a:off x="5209346" y="209407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694194" y="2037874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x₁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694194" y="2838926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x₂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694194" y="3639026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x₃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694194" y="4440079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x₄</a:t>
              </a:r>
            </a:p>
          </p:txBody>
        </p:sp>
      </p:grpSp>
      <p:grpSp>
        <p:nvGrpSpPr>
          <p:cNvPr id="99" name="c2-card-1"/>
          <p:cNvGrpSpPr/>
          <p:nvPr/>
        </p:nvGrpSpPr>
        <p:grpSpPr>
          <a:xfrm>
            <a:off x="6898005" y="1524000"/>
            <a:ext cx="4760595" cy="2071688"/>
            <a:chOff x="6898005" y="1524000"/>
            <a:chExt cx="4760595" cy="2071688"/>
          </a:xfrm>
        </p:grpSpPr>
        <p:sp>
          <p:nvSpPr>
            <p:cNvPr id="89" name="Rectangle 89"/>
            <p:cNvSpPr/>
            <p:nvPr/>
          </p:nvSpPr>
          <p:spPr>
            <a:xfrm>
              <a:off x="6898005" y="1524000"/>
              <a:ext cx="4760595" cy="2071688"/>
            </a:xfrm>
            <a:prstGeom prst="roundRect">
              <a:avLst>
                <a:gd name="adj" fmla="val 643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90" name="Rectangle 90"/>
            <p:cNvSpPr/>
            <p:nvPr/>
          </p:nvSpPr>
          <p:spPr>
            <a:xfrm>
              <a:off x="6907530" y="1657350"/>
              <a:ext cx="47625" cy="1804988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91" name="Rectangle 91"/>
            <p:cNvSpPr/>
            <p:nvPr/>
          </p:nvSpPr>
          <p:spPr>
            <a:xfrm>
              <a:off x="7128510" y="1716405"/>
              <a:ext cx="1009650" cy="24765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92" name="TextBox 92"/>
            <p:cNvSpPr txBox="1"/>
            <p:nvPr/>
          </p:nvSpPr>
          <p:spPr>
            <a:xfrm>
              <a:off x="7203948" y="1750695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这棵树的结构</a:t>
              </a:r>
            </a:p>
          </p:txBody>
        </p:sp>
        <p:sp>
          <p:nvSpPr>
            <p:cNvPr id="93" name="Ellipse 93"/>
            <p:cNvSpPr/>
            <p:nvPr/>
          </p:nvSpPr>
          <p:spPr>
            <a:xfrm>
              <a:off x="7137082" y="2128838"/>
              <a:ext cx="59055" cy="5905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94" name="TextBox 94"/>
            <p:cNvSpPr txBox="1"/>
            <p:nvPr/>
          </p:nvSpPr>
          <p:spPr>
            <a:xfrm>
              <a:off x="7293102" y="2072640"/>
              <a:ext cx="36484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根结点是空向量，结点按层编号（宽度优先）</a:t>
              </a:r>
            </a:p>
          </p:txBody>
        </p:sp>
        <p:sp>
          <p:nvSpPr>
            <p:cNvPr id="95" name="Ellipse 95"/>
            <p:cNvSpPr/>
            <p:nvPr/>
          </p:nvSpPr>
          <p:spPr>
            <a:xfrm>
              <a:off x="7137082" y="2431732"/>
              <a:ext cx="59055" cy="5905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96" name="TextBox 96"/>
            <p:cNvSpPr txBox="1"/>
            <p:nvPr/>
          </p:nvSpPr>
          <p:spPr>
            <a:xfrm>
              <a:off x="7293102" y="2375535"/>
              <a:ext cx="37856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结点的儿子只取比最后一个下标更大的下标，例如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(1, 2) 的儿子是 (1, 2, 3) 和 (1, 2, 4)</a:t>
              </a:r>
            </a:p>
          </p:txBody>
        </p:sp>
        <p:sp>
          <p:nvSpPr>
            <p:cNvPr id="97" name="Ellipse 97"/>
            <p:cNvSpPr/>
            <p:nvPr/>
          </p:nvSpPr>
          <p:spPr>
            <a:xfrm>
              <a:off x="7137082" y="2991802"/>
              <a:ext cx="59055" cy="5905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98" name="TextBox 98"/>
            <p:cNvSpPr txBox="1"/>
            <p:nvPr/>
          </p:nvSpPr>
          <p:spPr>
            <a:xfrm>
              <a:off x="7293102" y="2935605"/>
              <a:ext cx="39570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从根到</a:t>
              </a:r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任何结点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的一条路径都确定解空间中的一个元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组</a:t>
              </a:r>
            </a:p>
          </p:txBody>
        </p:sp>
      </p:grpSp>
      <p:grpSp>
        <p:nvGrpSpPr>
          <p:cNvPr id="114" name="c2-table-2"/>
          <p:cNvGrpSpPr/>
          <p:nvPr/>
        </p:nvGrpSpPr>
        <p:grpSpPr>
          <a:xfrm>
            <a:off x="6898005" y="3770948"/>
            <a:ext cx="4760595" cy="1623060"/>
            <a:chOff x="6898005" y="3770948"/>
            <a:chExt cx="4760595" cy="1623060"/>
          </a:xfrm>
        </p:grpSpPr>
        <p:sp>
          <p:nvSpPr>
            <p:cNvPr id="100" name="Rectangle 100"/>
            <p:cNvSpPr/>
            <p:nvPr/>
          </p:nvSpPr>
          <p:spPr>
            <a:xfrm>
              <a:off x="6898005" y="3770948"/>
              <a:ext cx="4760595" cy="405765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01" name="TextBox 101"/>
            <p:cNvSpPr txBox="1"/>
            <p:nvPr/>
          </p:nvSpPr>
          <p:spPr>
            <a:xfrm>
              <a:off x="7454938" y="389524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状态</a:t>
              </a:r>
            </a:p>
          </p:txBody>
        </p:sp>
        <p:sp>
          <p:nvSpPr>
            <p:cNvPr id="102" name="TextBox 102"/>
            <p:cNvSpPr txBox="1"/>
            <p:nvPr/>
          </p:nvSpPr>
          <p:spPr>
            <a:xfrm>
              <a:off x="9836188" y="389524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本例</a:t>
              </a:r>
            </a:p>
          </p:txBody>
        </p:sp>
        <p:sp>
          <p:nvSpPr>
            <p:cNvPr id="103" name="TextBox 103"/>
            <p:cNvSpPr txBox="1"/>
            <p:nvPr/>
          </p:nvSpPr>
          <p:spPr>
            <a:xfrm>
              <a:off x="6998017" y="430101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问题状态</a:t>
              </a:r>
            </a:p>
          </p:txBody>
        </p:sp>
        <p:sp>
          <p:nvSpPr>
            <p:cNvPr id="104" name="TextBox 104"/>
            <p:cNvSpPr txBox="1"/>
            <p:nvPr/>
          </p:nvSpPr>
          <p:spPr>
            <a:xfrm>
              <a:off x="8425815" y="4301014"/>
              <a:ext cx="102161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全部 16 个结点</a:t>
              </a:r>
            </a:p>
          </p:txBody>
        </p:sp>
        <p:sp>
          <p:nvSpPr>
            <p:cNvPr id="105" name="Rectangle 105"/>
            <p:cNvSpPr/>
            <p:nvPr/>
          </p:nvSpPr>
          <p:spPr>
            <a:xfrm>
              <a:off x="6898005" y="4577715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6" name="Rectangle 106"/>
            <p:cNvSpPr/>
            <p:nvPr/>
          </p:nvSpPr>
          <p:spPr>
            <a:xfrm>
              <a:off x="6898005" y="4582478"/>
              <a:ext cx="4760595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07" name="TextBox 107"/>
            <p:cNvSpPr txBox="1"/>
            <p:nvPr/>
          </p:nvSpPr>
          <p:spPr>
            <a:xfrm>
              <a:off x="6998017" y="4706779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解状态</a:t>
              </a:r>
            </a:p>
          </p:txBody>
        </p:sp>
        <p:sp>
          <p:nvSpPr>
            <p:cNvPr id="108" name="TextBox 108"/>
            <p:cNvSpPr txBox="1"/>
            <p:nvPr/>
          </p:nvSpPr>
          <p:spPr>
            <a:xfrm>
              <a:off x="8425815" y="4706779"/>
              <a:ext cx="102161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全部 16 个结点</a:t>
              </a:r>
            </a:p>
          </p:txBody>
        </p:sp>
        <p:sp>
          <p:nvSpPr>
            <p:cNvPr id="109" name="Rectangle 109"/>
            <p:cNvSpPr/>
            <p:nvPr/>
          </p:nvSpPr>
          <p:spPr>
            <a:xfrm>
              <a:off x="6898005" y="4983480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0" name="TextBox 110"/>
            <p:cNvSpPr txBox="1"/>
            <p:nvPr/>
          </p:nvSpPr>
          <p:spPr>
            <a:xfrm>
              <a:off x="6998017" y="511254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答案状态</a:t>
              </a:r>
            </a:p>
          </p:txBody>
        </p:sp>
        <p:sp>
          <p:nvSpPr>
            <p:cNvPr id="111" name="TextBox 111"/>
            <p:cNvSpPr txBox="1"/>
            <p:nvPr/>
          </p:nvSpPr>
          <p:spPr>
            <a:xfrm>
              <a:off x="8425815" y="5112544"/>
              <a:ext cx="240874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结点 13 (1, 2, 4)，结点 11 (3, 4)</a:t>
              </a:r>
            </a:p>
          </p:txBody>
        </p:sp>
        <p:sp>
          <p:nvSpPr>
            <p:cNvPr id="112" name="Rectangle 112"/>
            <p:cNvSpPr/>
            <p:nvPr/>
          </p:nvSpPr>
          <p:spPr>
            <a:xfrm>
              <a:off x="6898005" y="3770948"/>
              <a:ext cx="4760595" cy="162306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113" name="Rectangle 113"/>
            <p:cNvSpPr/>
            <p:nvPr/>
          </p:nvSpPr>
          <p:spPr>
            <a:xfrm>
              <a:off x="8321040" y="3770948"/>
              <a:ext cx="9525" cy="16230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121" name="c2-callout-3"/>
          <p:cNvGrpSpPr/>
          <p:nvPr/>
        </p:nvGrpSpPr>
        <p:grpSpPr>
          <a:xfrm>
            <a:off x="6898005" y="5569268"/>
            <a:ext cx="4760595" cy="729615"/>
            <a:chOff x="6898005" y="5569268"/>
            <a:chExt cx="4760595" cy="729615"/>
          </a:xfrm>
        </p:grpSpPr>
        <p:sp>
          <p:nvSpPr>
            <p:cNvPr id="115" name="Rectangle 115"/>
            <p:cNvSpPr/>
            <p:nvPr/>
          </p:nvSpPr>
          <p:spPr>
            <a:xfrm>
              <a:off x="6898005" y="5569268"/>
              <a:ext cx="4760595" cy="729615"/>
            </a:xfrm>
            <a:prstGeom prst="roundRect">
              <a:avLst>
                <a:gd name="adj" fmla="val 15666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119" name="Group 119"/>
            <p:cNvGrpSpPr/>
            <p:nvPr/>
          </p:nvGrpSpPr>
          <p:grpSpPr>
            <a:xfrm>
              <a:off x="7102793" y="5833110"/>
              <a:ext cx="200026" cy="200026"/>
              <a:chOff x="7102793" y="5833110"/>
              <a:chExt cx="200026" cy="200026"/>
            </a:xfrm>
          </p:grpSpPr>
          <p:sp>
            <p:nvSpPr>
              <p:cNvPr id="116" name="Freeform 116"/>
              <p:cNvSpPr/>
              <p:nvPr/>
            </p:nvSpPr>
            <p:spPr>
              <a:xfrm>
                <a:off x="7102793" y="583311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117" name="Freeform 117"/>
              <p:cNvSpPr/>
              <p:nvPr/>
            </p:nvSpPr>
            <p:spPr>
              <a:xfrm>
                <a:off x="7202805" y="589978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118" name="Freeform 118"/>
              <p:cNvSpPr/>
              <p:nvPr/>
            </p:nvSpPr>
            <p:spPr>
              <a:xfrm>
                <a:off x="7191693" y="5933123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120" name="TextBox 120"/>
            <p:cNvSpPr txBox="1"/>
            <p:nvPr/>
          </p:nvSpPr>
          <p:spPr>
            <a:xfrm>
              <a:off x="7405497" y="5715000"/>
              <a:ext cx="3905631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两种表示的解空间都是 16 个元组；固定长表示的树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多出 15 个非叶结点，它们不对应元组。</a:t>
              </a:r>
            </a:p>
          </p:txBody>
        </p:sp>
      </p:grpSp>
      <p:grpSp>
        <p:nvGrpSpPr>
          <p:cNvPr id="12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22" name="TextBox 122"/>
            <p:cNvSpPr txBox="1"/>
            <p:nvPr/>
          </p:nvSpPr>
          <p:spPr>
            <a:xfrm>
              <a:off x="528447" y="6581299"/>
              <a:ext cx="18568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第7章 回溯法</a:t>
              </a:r>
            </a:p>
          </p:txBody>
        </p:sp>
        <p:sp>
          <p:nvSpPr>
            <p:cNvPr id="123" name="TextBox 12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951214" cy="909257"/>
            <a:chOff x="520446" y="342900"/>
            <a:chExt cx="895121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第7章 回溯法 · 回溯法的一般方法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95121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静态树与动态树：搜索时结点有活、正在扩展、死三种状态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kv-1"/>
          <p:cNvGrpSpPr/>
          <p:nvPr/>
        </p:nvGrpSpPr>
        <p:grpSpPr>
          <a:xfrm>
            <a:off x="525780" y="1548765"/>
            <a:ext cx="4551998" cy="1297305"/>
            <a:chOff x="525780" y="1548765"/>
            <a:chExt cx="4551998" cy="1297305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静态树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368742" y="1548765"/>
              <a:ext cx="3444240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即解空间树，树结构与所要解决的问题实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例无关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33400" y="2150745"/>
              <a:ext cx="454437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525780" y="2270760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动态树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68742" y="2270760"/>
              <a:ext cx="3444240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树结构与实例相关，在求解过程中生成结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点</a:t>
              </a:r>
            </a:p>
          </p:txBody>
        </p:sp>
      </p:grpSp>
      <p:grpSp>
        <p:nvGrpSpPr>
          <p:cNvPr id="23" name="c1-card-2"/>
          <p:cNvGrpSpPr/>
          <p:nvPr/>
        </p:nvGrpSpPr>
        <p:grpSpPr>
          <a:xfrm>
            <a:off x="533400" y="2977515"/>
            <a:ext cx="4544378" cy="2675572"/>
            <a:chOff x="533400" y="2977515"/>
            <a:chExt cx="4544378" cy="2675572"/>
          </a:xfrm>
        </p:grpSpPr>
        <p:sp>
          <p:nvSpPr>
            <p:cNvPr id="13" name="Rectangle 13"/>
            <p:cNvSpPr/>
            <p:nvPr/>
          </p:nvSpPr>
          <p:spPr>
            <a:xfrm>
              <a:off x="533400" y="2977515"/>
              <a:ext cx="4544378" cy="2675572"/>
            </a:xfrm>
            <a:prstGeom prst="roundRect">
              <a:avLst>
                <a:gd name="adj" fmla="val 498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542925" y="3110865"/>
              <a:ext cx="47625" cy="2408872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781050" y="3187065"/>
              <a:ext cx="1489710" cy="25717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41705" y="3222784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动态树中结点的状态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786765" y="3627120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44880" y="3564255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活结点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：自己已经生成，而儿子结点还没有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全部生成的结点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786765" y="4248150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44880" y="4185285"/>
              <a:ext cx="3664268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E-结点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（正在扩展的结点）：当前正在生成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儿子结点的活结点</a:t>
              </a:r>
            </a:p>
          </p:txBody>
        </p:sp>
        <p:sp>
          <p:nvSpPr>
            <p:cNvPr id="21" name="Ellipse 21"/>
            <p:cNvSpPr/>
            <p:nvPr/>
          </p:nvSpPr>
          <p:spPr>
            <a:xfrm>
              <a:off x="786765" y="4869180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944880" y="4806315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死结点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：不再进一步扩展，或者儿子结点已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全部生成的结点</a:t>
              </a:r>
            </a:p>
          </p:txBody>
        </p:sp>
      </p:grpSp>
      <p:grpSp>
        <p:nvGrpSpPr>
          <p:cNvPr id="48" name="c2-table-1"/>
          <p:cNvGrpSpPr/>
          <p:nvPr/>
        </p:nvGrpSpPr>
        <p:grpSpPr>
          <a:xfrm>
            <a:off x="5382578" y="1524000"/>
            <a:ext cx="6276022" cy="3155632"/>
            <a:chOff x="5382578" y="1524000"/>
            <a:chExt cx="6276022" cy="3155632"/>
          </a:xfrm>
        </p:grpSpPr>
        <p:sp>
          <p:nvSpPr>
            <p:cNvPr id="24" name="Rectangle 24"/>
            <p:cNvSpPr/>
            <p:nvPr/>
          </p:nvSpPr>
          <p:spPr>
            <a:xfrm>
              <a:off x="5382578" y="1524000"/>
              <a:ext cx="6276022" cy="675322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5597398" y="1659731"/>
              <a:ext cx="82575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85"/>
                </a:lnSpc>
              </a:pPr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状态生成方</a:t>
              </a:r>
              <a:br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法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389583" y="1773079"/>
              <a:ext cx="125712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E-结点怎样变化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551226" y="1659731"/>
              <a:ext cx="82575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85"/>
                </a:lnSpc>
              </a:pPr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活结点保存</a:t>
              </a:r>
              <a:br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方式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742663" y="1773079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对应方法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490401" y="2561749"/>
              <a:ext cx="82575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第一种：深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度优先生成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745796" y="2335054"/>
              <a:ext cx="2418842" cy="929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当前 E-结点 R 一旦生成新儿子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C，C 就成为新的 E-结点；检测完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子树 C 后，R 再次成为 E-结点，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生成下一个儿子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507093" y="2561749"/>
              <a:ext cx="82575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沿当前路径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保存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0636758" y="2675096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回溯法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382578" y="3323272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5382578" y="3328035"/>
              <a:ext cx="6276022" cy="67532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5490401" y="3463766"/>
              <a:ext cx="82575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第二种：宽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度优先生成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745796" y="3463766"/>
              <a:ext cx="2353818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 E-结点一直保持到变成死结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点为止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9507093" y="357711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队列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0636758" y="3577114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分枝限界法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5382578" y="3999548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5490401" y="4139089"/>
              <a:ext cx="850951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第二种：D-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检索生成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745796" y="4252436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同上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9507093" y="4252436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栈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0636758" y="4252436"/>
              <a:ext cx="55785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D-检索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5382578" y="1524000"/>
              <a:ext cx="6276022" cy="315563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5" name="Rectangle 45"/>
            <p:cNvSpPr/>
            <p:nvPr/>
          </p:nvSpPr>
          <p:spPr>
            <a:xfrm>
              <a:off x="6633210" y="1524000"/>
              <a:ext cx="9525" cy="315563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9394508" y="1524000"/>
              <a:ext cx="9525" cy="315563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10524172" y="1524000"/>
              <a:ext cx="9525" cy="315563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5" name="c2-callout-2"/>
          <p:cNvGrpSpPr/>
          <p:nvPr/>
        </p:nvGrpSpPr>
        <p:grpSpPr>
          <a:xfrm>
            <a:off x="5382578" y="4870132"/>
            <a:ext cx="6276022" cy="782955"/>
            <a:chOff x="5382578" y="4870132"/>
            <a:chExt cx="6276022" cy="782955"/>
          </a:xfrm>
        </p:grpSpPr>
        <p:sp>
          <p:nvSpPr>
            <p:cNvPr id="49" name="Rectangle 49"/>
            <p:cNvSpPr/>
            <p:nvPr/>
          </p:nvSpPr>
          <p:spPr>
            <a:xfrm>
              <a:off x="5382578" y="4870132"/>
              <a:ext cx="6276022" cy="782955"/>
            </a:xfrm>
            <a:prstGeom prst="roundRect">
              <a:avLst>
                <a:gd name="adj" fmla="val 1459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53" name="Group 53"/>
            <p:cNvGrpSpPr/>
            <p:nvPr/>
          </p:nvGrpSpPr>
          <p:grpSpPr>
            <a:xfrm>
              <a:off x="5587365" y="5161598"/>
              <a:ext cx="200026" cy="200025"/>
              <a:chOff x="5587365" y="5161598"/>
              <a:chExt cx="200026" cy="200025"/>
            </a:xfrm>
          </p:grpSpPr>
          <p:sp>
            <p:nvSpPr>
              <p:cNvPr id="50" name="Freeform 50"/>
              <p:cNvSpPr/>
              <p:nvPr/>
            </p:nvSpPr>
            <p:spPr>
              <a:xfrm>
                <a:off x="5587365" y="516159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5627104" y="520604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5661819" y="531717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54" name="TextBox 54"/>
            <p:cNvSpPr txBox="1"/>
            <p:nvPr/>
          </p:nvSpPr>
          <p:spPr>
            <a:xfrm>
              <a:off x="5889308" y="5018722"/>
              <a:ext cx="51587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两种方法都用限界函数杀死不可能导致答案的结点，区别在于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E-结点什么时候让出扩展权。</a:t>
              </a:r>
            </a:p>
          </p:txBody>
        </p:sp>
      </p:grpSp>
      <p:grpSp>
        <p:nvGrpSpPr>
          <p:cNvPr id="5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6" name="TextBox 56"/>
            <p:cNvSpPr txBox="1"/>
            <p:nvPr/>
          </p:nvSpPr>
          <p:spPr>
            <a:xfrm>
              <a:off x="528447" y="6581299"/>
              <a:ext cx="18568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第7章 回溯法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951214" cy="909257"/>
            <a:chOff x="520446" y="342900"/>
            <a:chExt cx="895121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第7章 回溯法 · 回溯法的一般方法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95121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回溯法的设计思想：定义解空间树，再深度优先搜索并剪枝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8" name="c1-steps-1"/>
          <p:cNvGrpSpPr/>
          <p:nvPr/>
        </p:nvGrpSpPr>
        <p:grpSpPr>
          <a:xfrm>
            <a:off x="533400" y="1533525"/>
            <a:ext cx="5423916" cy="3473196"/>
            <a:chOff x="533400" y="1533525"/>
            <a:chExt cx="5423916" cy="3473196"/>
          </a:xfrm>
        </p:grpSpPr>
        <p:sp>
          <p:nvSpPr>
            <p:cNvPr id="7" name="Rectangle 7"/>
            <p:cNvSpPr/>
            <p:nvPr/>
          </p:nvSpPr>
          <p:spPr>
            <a:xfrm>
              <a:off x="666750" y="1676400"/>
              <a:ext cx="19050" cy="292512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533400" y="153352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27024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533400" y="215455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27024" y="222837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533400" y="277558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27024" y="284940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533400" y="3616642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27024" y="369046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533400" y="4458652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27024" y="453247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45261" y="1566386"/>
              <a:ext cx="154376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定义解空间树结构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46404" y="1846898"/>
              <a:ext cx="29199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确定元组、显式约束条件、隐式约束条件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45261" y="2187416"/>
              <a:ext cx="135260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检验多米诺性质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46404" y="2467927"/>
              <a:ext cx="243535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保证被剪掉的子树中确实没有答案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5261" y="2808446"/>
              <a:ext cx="97028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向纵深移动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46404" y="3088957"/>
              <a:ext cx="501091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根结点是第一个活结点，也是当前 E-结点；沿 E-结点向纵深移至一个新的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活结点，它成为新的 E-结点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45261" y="3650456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回溯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46404" y="3930968"/>
              <a:ext cx="494995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当前 E-结点不能再向纵深移动时成为死结点，回溯至最近的活结点，使它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成为新的 E-结点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45261" y="4491514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结束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46404" y="4772025"/>
              <a:ext cx="308152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找到所要求的解，或解空间中已没有活结点</a:t>
              </a:r>
            </a:p>
          </p:txBody>
        </p:sp>
      </p:grpSp>
      <p:grpSp>
        <p:nvGrpSpPr>
          <p:cNvPr id="37" name="c1-kv-2"/>
          <p:cNvGrpSpPr/>
          <p:nvPr/>
        </p:nvGrpSpPr>
        <p:grpSpPr>
          <a:xfrm>
            <a:off x="526161" y="5206841"/>
            <a:ext cx="5633657" cy="1121665"/>
            <a:chOff x="526161" y="5206841"/>
            <a:chExt cx="5633657" cy="1121665"/>
          </a:xfrm>
        </p:grpSpPr>
        <p:sp>
          <p:nvSpPr>
            <p:cNvPr id="29" name="TextBox 29"/>
            <p:cNvSpPr txBox="1"/>
            <p:nvPr/>
          </p:nvSpPr>
          <p:spPr>
            <a:xfrm>
              <a:off x="526161" y="5206841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约束函数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525334" y="5206841"/>
              <a:ext cx="376050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查部分解是否违反隐式约束，如 PLACE、OK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533400" y="5513070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526161" y="5628799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限界函数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525334" y="5628799"/>
              <a:ext cx="375166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求最优解时剪掉不可能更优的分支（第8章）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33400" y="5934075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526161" y="6049804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本章写法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525334" y="6049804"/>
              <a:ext cx="362704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两类条件统称限界函数 B，只做可行性剪枝</a:t>
              </a:r>
            </a:p>
          </p:txBody>
        </p:sp>
      </p:grpSp>
      <p:grpSp>
        <p:nvGrpSpPr>
          <p:cNvPr id="39" name="c2-text-1"/>
          <p:cNvGrpSpPr/>
          <p:nvPr/>
        </p:nvGrpSpPr>
        <p:grpSpPr>
          <a:xfrm>
            <a:off x="6458522" y="1544002"/>
            <a:ext cx="3582314" cy="234696"/>
            <a:chOff x="6458522" y="1544002"/>
            <a:chExt cx="3582314" cy="234696"/>
          </a:xfrm>
        </p:grpSpPr>
        <p:sp>
          <p:nvSpPr>
            <p:cNvPr id="38" name="TextBox 38"/>
            <p:cNvSpPr txBox="1"/>
            <p:nvPr/>
          </p:nvSpPr>
          <p:spPr>
            <a:xfrm>
              <a:off x="6458522" y="1544002"/>
              <a:ext cx="358231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4-皇后问题动态树的开头部分（编号沿用排列树）</a:t>
              </a:r>
            </a:p>
          </p:txBody>
        </p:sp>
      </p:grpSp>
      <p:grpSp>
        <p:nvGrpSpPr>
          <p:cNvPr id="73" name="c2-graph-2"/>
          <p:cNvGrpSpPr/>
          <p:nvPr/>
        </p:nvGrpSpPr>
        <p:grpSpPr>
          <a:xfrm>
            <a:off x="6585298" y="2000250"/>
            <a:ext cx="4188429" cy="2635091"/>
            <a:chOff x="6585298" y="2000250"/>
            <a:chExt cx="4188429" cy="2635091"/>
          </a:xfrm>
        </p:grpSpPr>
        <p:sp>
          <p:nvSpPr>
            <p:cNvPr id="40" name="Freeform 40"/>
            <p:cNvSpPr/>
            <p:nvPr/>
          </p:nvSpPr>
          <p:spPr>
            <a:xfrm>
              <a:off x="8863965" y="2286952"/>
              <a:ext cx="9525" cy="423863"/>
            </a:xfrm>
            <a:custGeom>
              <a:avLst/>
              <a:gdLst/>
              <a:ahLst/>
              <a:cxnLst/>
              <a:rect l="l" t="t" r="r" b="b"/>
              <a:pathLst>
                <a:path w="9525" h="423863">
                  <a:moveTo>
                    <a:pt x="0" y="0"/>
                  </a:moveTo>
                  <a:lnTo>
                    <a:pt x="0" y="423863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1" name="Freeform 41"/>
            <p:cNvSpPr/>
            <p:nvPr/>
          </p:nvSpPr>
          <p:spPr>
            <a:xfrm>
              <a:off x="7921942" y="2942272"/>
              <a:ext cx="820102" cy="554355"/>
            </a:xfrm>
            <a:custGeom>
              <a:avLst/>
              <a:gdLst/>
              <a:ahLst/>
              <a:cxnLst/>
              <a:rect l="l" t="t" r="r" b="b"/>
              <a:pathLst>
                <a:path w="820102" h="554355">
                  <a:moveTo>
                    <a:pt x="820102" y="0"/>
                  </a:moveTo>
                  <a:lnTo>
                    <a:pt x="0" y="55435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2" name="Freeform 42"/>
            <p:cNvSpPr/>
            <p:nvPr/>
          </p:nvSpPr>
          <p:spPr>
            <a:xfrm>
              <a:off x="8986838" y="2942272"/>
              <a:ext cx="819150" cy="554355"/>
            </a:xfrm>
            <a:custGeom>
              <a:avLst/>
              <a:gdLst/>
              <a:ahLst/>
              <a:cxnLst/>
              <a:rect l="l" t="t" r="r" b="b"/>
              <a:pathLst>
                <a:path w="819150" h="554355">
                  <a:moveTo>
                    <a:pt x="0" y="0"/>
                  </a:moveTo>
                  <a:lnTo>
                    <a:pt x="819150" y="55435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3" name="Freeform 43"/>
            <p:cNvSpPr/>
            <p:nvPr/>
          </p:nvSpPr>
          <p:spPr>
            <a:xfrm>
              <a:off x="9321165" y="3685222"/>
              <a:ext cx="503872" cy="509588"/>
            </a:xfrm>
            <a:custGeom>
              <a:avLst/>
              <a:gdLst/>
              <a:ahLst/>
              <a:cxnLst/>
              <a:rect l="l" t="t" r="r" b="b"/>
              <a:pathLst>
                <a:path w="503872" h="509588">
                  <a:moveTo>
                    <a:pt x="503872" y="0"/>
                  </a:moveTo>
                  <a:lnTo>
                    <a:pt x="0" y="509588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4" name="Freeform 44"/>
            <p:cNvSpPr/>
            <p:nvPr/>
          </p:nvSpPr>
          <p:spPr>
            <a:xfrm>
              <a:off x="10032682" y="3685222"/>
              <a:ext cx="499110" cy="509588"/>
            </a:xfrm>
            <a:custGeom>
              <a:avLst/>
              <a:gdLst/>
              <a:ahLst/>
              <a:cxnLst/>
              <a:rect l="l" t="t" r="r" b="b"/>
              <a:pathLst>
                <a:path w="499110" h="509588">
                  <a:moveTo>
                    <a:pt x="0" y="0"/>
                  </a:moveTo>
                  <a:lnTo>
                    <a:pt x="499110" y="509588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5" name="Ellipse 45"/>
            <p:cNvSpPr/>
            <p:nvPr/>
          </p:nvSpPr>
          <p:spPr>
            <a:xfrm>
              <a:off x="8725852" y="2000250"/>
              <a:ext cx="276225" cy="276225"/>
            </a:xfrm>
            <a:prstGeom prst="ellipse">
              <a:avLst/>
            </a:prstGeom>
            <a:solidFill>
              <a:srgbClr val="2F4B9A"/>
            </a:solidFill>
            <a:ln w="17145">
              <a:solidFill>
                <a:srgbClr val="2F4B9A"/>
              </a:solidFill>
            </a:ln>
          </p:spPr>
        </p:sp>
        <p:sp>
          <p:nvSpPr>
            <p:cNvPr id="46" name="Ellipse 46"/>
            <p:cNvSpPr/>
            <p:nvPr/>
          </p:nvSpPr>
          <p:spPr>
            <a:xfrm>
              <a:off x="8725852" y="2721292"/>
              <a:ext cx="276225" cy="27622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47" name="Ellipse 47"/>
            <p:cNvSpPr/>
            <p:nvPr/>
          </p:nvSpPr>
          <p:spPr>
            <a:xfrm>
              <a:off x="7661910" y="3441382"/>
              <a:ext cx="276225" cy="276225"/>
            </a:xfrm>
            <a:prstGeom prst="ellipse">
              <a:avLst/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48" name="Ellipse 48"/>
            <p:cNvSpPr/>
            <p:nvPr/>
          </p:nvSpPr>
          <p:spPr>
            <a:xfrm>
              <a:off x="9790748" y="3441382"/>
              <a:ext cx="276225" cy="27622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49" name="Ellipse 49"/>
            <p:cNvSpPr/>
            <p:nvPr/>
          </p:nvSpPr>
          <p:spPr>
            <a:xfrm>
              <a:off x="9079230" y="4162425"/>
              <a:ext cx="276225" cy="276225"/>
            </a:xfrm>
            <a:prstGeom prst="ellipse">
              <a:avLst/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50" name="Ellipse 50"/>
            <p:cNvSpPr/>
            <p:nvPr/>
          </p:nvSpPr>
          <p:spPr>
            <a:xfrm>
              <a:off x="10497502" y="4162425"/>
              <a:ext cx="276225" cy="276225"/>
            </a:xfrm>
            <a:prstGeom prst="ellipse">
              <a:avLst/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8817816" y="207264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8817816" y="279368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753873" y="351472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7715228" y="3753326"/>
              <a:ext cx="169588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kill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9882711" y="351472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9171193" y="423481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9132548" y="4473416"/>
              <a:ext cx="169588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kill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0548651" y="4234815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0550821" y="4473416"/>
              <a:ext cx="169588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kill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8797290" y="2420302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8828846" y="244935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8264842" y="3140392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8296398" y="317039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9329738" y="3140392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9361293" y="317039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66" name="Rectangle 66"/>
            <p:cNvSpPr/>
            <p:nvPr/>
          </p:nvSpPr>
          <p:spPr>
            <a:xfrm>
              <a:off x="9506902" y="3861435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9538458" y="389048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68" name="Rectangle 68"/>
            <p:cNvSpPr/>
            <p:nvPr/>
          </p:nvSpPr>
          <p:spPr>
            <a:xfrm>
              <a:off x="10215562" y="3861435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10247118" y="389048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6585298" y="2385060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x₁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6585298" y="3106102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x₂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6585298" y="3827145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x₃</a:t>
              </a:r>
            </a:p>
          </p:txBody>
        </p:sp>
      </p:grpSp>
      <p:grpSp>
        <p:nvGrpSpPr>
          <p:cNvPr id="80" name="c2-callout-3"/>
          <p:cNvGrpSpPr/>
          <p:nvPr/>
        </p:nvGrpSpPr>
        <p:grpSpPr>
          <a:xfrm>
            <a:off x="6464618" y="4873942"/>
            <a:ext cx="5193982" cy="1399222"/>
            <a:chOff x="6464618" y="4873942"/>
            <a:chExt cx="5193982" cy="1399222"/>
          </a:xfrm>
        </p:grpSpPr>
        <p:sp>
          <p:nvSpPr>
            <p:cNvPr id="74" name="Rectangle 74"/>
            <p:cNvSpPr/>
            <p:nvPr/>
          </p:nvSpPr>
          <p:spPr>
            <a:xfrm>
              <a:off x="6464618" y="4873942"/>
              <a:ext cx="5193982" cy="1399222"/>
            </a:xfrm>
            <a:prstGeom prst="roundRect">
              <a:avLst>
                <a:gd name="adj" fmla="val 8169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78" name="Group 78"/>
            <p:cNvGrpSpPr/>
            <p:nvPr/>
          </p:nvGrpSpPr>
          <p:grpSpPr>
            <a:xfrm>
              <a:off x="6657347" y="5469373"/>
              <a:ext cx="224134" cy="192560"/>
              <a:chOff x="6657347" y="5469373"/>
              <a:chExt cx="224134" cy="192560"/>
            </a:xfrm>
          </p:grpSpPr>
          <p:sp>
            <p:nvSpPr>
              <p:cNvPr id="75" name="Freeform 75"/>
              <p:cNvSpPr/>
              <p:nvPr/>
            </p:nvSpPr>
            <p:spPr>
              <a:xfrm>
                <a:off x="6769418" y="5539740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76" name="Freeform 76"/>
              <p:cNvSpPr/>
              <p:nvPr/>
            </p:nvSpPr>
            <p:spPr>
              <a:xfrm>
                <a:off x="6657347" y="5469373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77" name="Freeform 77"/>
              <p:cNvSpPr/>
              <p:nvPr/>
            </p:nvSpPr>
            <p:spPr>
              <a:xfrm>
                <a:off x="6769418" y="561752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79" name="TextBox 79"/>
            <p:cNvSpPr txBox="1"/>
            <p:nvPr/>
          </p:nvSpPr>
          <p:spPr>
            <a:xfrm>
              <a:off x="6971729" y="5342096"/>
              <a:ext cx="3945890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结点 3、9、11 处限界函数取假，这些结点被杀死</a:t>
              </a:r>
              <a:br/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（kill），它们的子树不再生成。</a:t>
              </a:r>
            </a:p>
          </p:txBody>
        </p:sp>
      </p:grpSp>
      <p:grpSp>
        <p:nvGrpSpPr>
          <p:cNvPr id="8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1" name="TextBox 81"/>
            <p:cNvSpPr txBox="1"/>
            <p:nvPr/>
          </p:nvSpPr>
          <p:spPr>
            <a:xfrm>
              <a:off x="528447" y="6581299"/>
              <a:ext cx="18568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第7章 回溯法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801029" cy="909257"/>
            <a:chOff x="520446" y="342900"/>
            <a:chExt cx="880102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第7章 回溯法 · 回溯法的一般方法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80102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算法 7.1 回溯法的非递归描述：k 加 1 前进，k 减 1 回溯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8" name="c1-card-1"/>
          <p:cNvGrpSpPr/>
          <p:nvPr/>
        </p:nvGrpSpPr>
        <p:grpSpPr>
          <a:xfrm>
            <a:off x="533400" y="1524000"/>
            <a:ext cx="4544378" cy="3048952"/>
            <a:chOff x="533400" y="1524000"/>
            <a:chExt cx="4544378" cy="304895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544378" cy="3048952"/>
            </a:xfrm>
            <a:prstGeom prst="roundRect">
              <a:avLst>
                <a:gd name="adj" fmla="val 437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782252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75335" y="1727835"/>
              <a:ext cx="921068" cy="25717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2741" y="1763554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形式化描述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8096" y="2100739"/>
              <a:ext cx="249956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假设要找出所有的答案结点。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82955" y="2481262"/>
              <a:ext cx="60960" cy="609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39546" y="2420779"/>
              <a:ext cx="3612261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(x₁, …, xᵢ₋₁) 是状态空间树中由根出发的一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条路径，到达结点 Y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82955" y="3072765"/>
              <a:ext cx="60960" cy="609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39546" y="3012281"/>
              <a:ext cx="3639312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T(x₁, …, xᵢ₋₁) 是 xᵢ 的取值集合：对每个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xᵢ，(x₁, …, xᵢ) 是由根到 Y 的一个儿子结点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的路径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82955" y="3935730"/>
              <a:ext cx="60960" cy="609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39546" y="3875246"/>
              <a:ext cx="3720465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限界函数 Bᵢ：路径 (x₁, …, xᵢ) 不可能延伸到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答案结点时取假，否则取真</a:t>
              </a:r>
            </a:p>
          </p:txBody>
        </p:sp>
      </p:grpSp>
      <p:grpSp>
        <p:nvGrpSpPr>
          <p:cNvPr id="25" name="c1-callout-2"/>
          <p:cNvGrpSpPr/>
          <p:nvPr/>
        </p:nvGrpSpPr>
        <p:grpSpPr>
          <a:xfrm>
            <a:off x="533400" y="4758690"/>
            <a:ext cx="4544378" cy="756285"/>
            <a:chOff x="533400" y="4758690"/>
            <a:chExt cx="4544378" cy="756285"/>
          </a:xfrm>
        </p:grpSpPr>
        <p:sp>
          <p:nvSpPr>
            <p:cNvPr id="19" name="Rectangle 19"/>
            <p:cNvSpPr/>
            <p:nvPr/>
          </p:nvSpPr>
          <p:spPr>
            <a:xfrm>
              <a:off x="533400" y="4758690"/>
              <a:ext cx="4544378" cy="756285"/>
            </a:xfrm>
            <a:prstGeom prst="roundRect">
              <a:avLst>
                <a:gd name="adj" fmla="val 15113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23" name="Group 23"/>
            <p:cNvGrpSpPr/>
            <p:nvPr/>
          </p:nvGrpSpPr>
          <p:grpSpPr>
            <a:xfrm>
              <a:off x="726129" y="5033128"/>
              <a:ext cx="224134" cy="192560"/>
              <a:chOff x="726129" y="5033128"/>
              <a:chExt cx="224134" cy="192560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838200" y="5103495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726129" y="5033128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838200" y="518128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24" name="TextBox 24"/>
            <p:cNvSpPr txBox="1"/>
            <p:nvPr/>
          </p:nvSpPr>
          <p:spPr>
            <a:xfrm>
              <a:off x="1040511" y="4905851"/>
              <a:ext cx="3531108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Bᵢ 取真只表示"有可能"到达答案结点；取假</a:t>
              </a:r>
              <a:br/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才是确定的结论。</a:t>
              </a:r>
            </a:p>
          </p:txBody>
        </p:sp>
      </p:grpSp>
      <p:grpSp>
        <p:nvGrpSpPr>
          <p:cNvPr id="29" name="c2-code-1"/>
          <p:cNvGrpSpPr/>
          <p:nvPr/>
        </p:nvGrpSpPr>
        <p:grpSpPr>
          <a:xfrm>
            <a:off x="5382578" y="1524000"/>
            <a:ext cx="6276022" cy="3748088"/>
            <a:chOff x="5382578" y="1524000"/>
            <a:chExt cx="6276022" cy="3748088"/>
          </a:xfrm>
        </p:grpSpPr>
        <p:sp>
          <p:nvSpPr>
            <p:cNvPr id="26" name="Rectangle 26"/>
            <p:cNvSpPr/>
            <p:nvPr/>
          </p:nvSpPr>
          <p:spPr>
            <a:xfrm>
              <a:off x="5382578" y="1524000"/>
              <a:ext cx="6276022" cy="3748088"/>
            </a:xfrm>
            <a:prstGeom prst="roundRect">
              <a:avLst>
                <a:gd name="adj" fmla="val 2541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510974" y="1675924"/>
              <a:ext cx="156215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 7.1 BACKTRACK(n)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510212" y="1937861"/>
              <a:ext cx="3517646" cy="32632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procedure BACKTRACK(n)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integer k, n; local X(1:n)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k ← 1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while k &gt; 0 do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    if 还剩有没检验过的 X(k) 使得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X(k) ∈ T(X(1),…,X(k-1)) and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B(X(1),…,X(k)) = true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then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      if (X(1),…,X(k)) 是一条抵达答案结点的路径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then print(X(1),…,X(k)) endif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k ← k + 1      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考虑下一个分量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else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k ← k - 1      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回溯到上一层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endif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repeat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end BACKTRACK</a:t>
              </a:r>
            </a:p>
          </p:txBody>
        </p:sp>
      </p:grpSp>
      <p:grpSp>
        <p:nvGrpSpPr>
          <p:cNvPr id="36" name="takeaway"/>
          <p:cNvGrpSpPr/>
          <p:nvPr/>
        </p:nvGrpSpPr>
        <p:grpSpPr>
          <a:xfrm>
            <a:off x="533400" y="5844540"/>
            <a:ext cx="11125200" cy="518160"/>
            <a:chOff x="533400" y="5844540"/>
            <a:chExt cx="11125200" cy="518160"/>
          </a:xfrm>
        </p:grpSpPr>
        <p:sp>
          <p:nvSpPr>
            <p:cNvPr id="30" name="Rectangle 30"/>
            <p:cNvSpPr/>
            <p:nvPr/>
          </p:nvSpPr>
          <p:spPr>
            <a:xfrm>
              <a:off x="533400" y="5844540"/>
              <a:ext cx="11125200" cy="518160"/>
            </a:xfrm>
            <a:prstGeom prst="roundRect">
              <a:avLst>
                <a:gd name="adj" fmla="val 2205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34" name="Group 34"/>
            <p:cNvGrpSpPr/>
            <p:nvPr/>
          </p:nvGrpSpPr>
          <p:grpSpPr>
            <a:xfrm>
              <a:off x="738188" y="6003608"/>
              <a:ext cx="200026" cy="200025"/>
              <a:chOff x="738188" y="6003608"/>
              <a:chExt cx="200026" cy="200025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738188" y="600360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777926" y="604805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812642" y="615918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35" name="TextBox 35"/>
            <p:cNvSpPr txBox="1"/>
            <p:nvPr/>
          </p:nvSpPr>
          <p:spPr>
            <a:xfrm>
              <a:off x="1040511" y="6004084"/>
              <a:ext cx="94090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"还剩有没检验过的 X(k)" 意味着每一层要记住试到了哪个值：回溯到第 k 层时，从上次停下的值往后继续试。</a:t>
              </a:r>
            </a:p>
          </p:txBody>
        </p:sp>
      </p:grpSp>
      <p:grpSp>
        <p:nvGrpSpPr>
          <p:cNvPr id="3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7" name="TextBox 37"/>
            <p:cNvSpPr txBox="1"/>
            <p:nvPr/>
          </p:nvSpPr>
          <p:spPr>
            <a:xfrm>
              <a:off x="528447" y="6581299"/>
              <a:ext cx="18568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第7章 回溯法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359248" cy="909257"/>
            <a:chOff x="520446" y="342900"/>
            <a:chExt cx="735924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第7章 回溯法 · 回溯法的一般方法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35924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算法 7.2 回溯法的递归描述，以及框架的正确性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5842635" cy="2733675"/>
            <a:chOff x="533400" y="1524000"/>
            <a:chExt cx="5842635" cy="273367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842635" cy="2733675"/>
            </a:xfrm>
            <a:prstGeom prst="roundRect">
              <a:avLst>
                <a:gd name="adj" fmla="val 3484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33929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 7.2 RBACKTRACK(k)，初始调用 RBACKTRACK(1)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035" y="1937861"/>
              <a:ext cx="3361182" cy="22488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procedure RBACKTRACK(k)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进入时 X(1),…,X(k-1) 已经被赋值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global X(1:n); integer k, n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  for 满足下式的每个 X(k):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X(k) ∈ T(X(1),…,X(k-1)) and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B(X(1),…,X(k)) = true  do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    if (X(1),…,X(k)) 是一条抵达答案结点的路径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then print(X(1),…,X(k)) endif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call RBACKTRACK(k+1)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repeat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end RBACKTRACK</a:t>
              </a:r>
            </a:p>
          </p:txBody>
        </p:sp>
      </p:grpSp>
      <p:grpSp>
        <p:nvGrpSpPr>
          <p:cNvPr id="17" name="c1-callout-2"/>
          <p:cNvGrpSpPr/>
          <p:nvPr/>
        </p:nvGrpSpPr>
        <p:grpSpPr>
          <a:xfrm>
            <a:off x="533400" y="4448175"/>
            <a:ext cx="5842635" cy="782955"/>
            <a:chOff x="533400" y="4448175"/>
            <a:chExt cx="5842635" cy="782955"/>
          </a:xfrm>
        </p:grpSpPr>
        <p:sp>
          <p:nvSpPr>
            <p:cNvPr id="11" name="Rectangle 11"/>
            <p:cNvSpPr/>
            <p:nvPr/>
          </p:nvSpPr>
          <p:spPr>
            <a:xfrm>
              <a:off x="533400" y="4448175"/>
              <a:ext cx="5842635" cy="782955"/>
            </a:xfrm>
            <a:prstGeom prst="roundRect">
              <a:avLst>
                <a:gd name="adj" fmla="val 1459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15" name="Group 15"/>
            <p:cNvGrpSpPr/>
            <p:nvPr/>
          </p:nvGrpSpPr>
          <p:grpSpPr>
            <a:xfrm>
              <a:off x="738188" y="4739640"/>
              <a:ext cx="200026" cy="200026"/>
              <a:chOff x="738188" y="4739640"/>
              <a:chExt cx="200026" cy="200026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738188" y="473964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838200" y="480631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827088" y="4839653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16" name="TextBox 16"/>
            <p:cNvSpPr txBox="1"/>
            <p:nvPr/>
          </p:nvSpPr>
          <p:spPr>
            <a:xfrm>
              <a:off x="1040130" y="4596765"/>
              <a:ext cx="479679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递归版由 for 循环记住每层试到的值；非递归版靠数组 X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和下标 k 的加减实现同样的前进与后退。</a:t>
              </a:r>
            </a:p>
          </p:txBody>
        </p:sp>
      </p:grpSp>
      <p:grpSp>
        <p:nvGrpSpPr>
          <p:cNvPr id="21" name="c1-text-3"/>
          <p:cNvGrpSpPr/>
          <p:nvPr/>
        </p:nvGrpSpPr>
        <p:grpSpPr>
          <a:xfrm>
            <a:off x="526923" y="5443061"/>
            <a:ext cx="4329410" cy="841819"/>
            <a:chOff x="526923" y="5443061"/>
            <a:chExt cx="4329410" cy="841819"/>
          </a:xfrm>
        </p:grpSpPr>
        <p:sp>
          <p:nvSpPr>
            <p:cNvPr id="18" name="TextBox 18"/>
            <p:cNvSpPr txBox="1"/>
            <p:nvPr/>
          </p:nvSpPr>
          <p:spPr>
            <a:xfrm>
              <a:off x="526923" y="5443061"/>
              <a:ext cx="432941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解空间树的结点总数：子集树（每层 2 个分支）2·2ⁿ − 1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26923" y="5739289"/>
              <a:ext cx="375215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排列树（第 k 层 n(n−1)…(n−k+1) 个）共约 e·n!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26923" y="6035516"/>
              <a:ext cx="401063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完全 m 叉树（每层 m 个分支）(m·mⁿ − 1)/(m − 1)</a:t>
              </a:r>
            </a:p>
          </p:txBody>
        </p:sp>
      </p:grpSp>
      <p:grpSp>
        <p:nvGrpSpPr>
          <p:cNvPr id="35" name="c2-card-1"/>
          <p:cNvGrpSpPr/>
          <p:nvPr/>
        </p:nvGrpSpPr>
        <p:grpSpPr>
          <a:xfrm>
            <a:off x="6680835" y="1524000"/>
            <a:ext cx="4977765" cy="2272665"/>
            <a:chOff x="6680835" y="1524000"/>
            <a:chExt cx="4977765" cy="2272665"/>
          </a:xfrm>
        </p:grpSpPr>
        <p:sp>
          <p:nvSpPr>
            <p:cNvPr id="22" name="Rectangle 22"/>
            <p:cNvSpPr/>
            <p:nvPr/>
          </p:nvSpPr>
          <p:spPr>
            <a:xfrm>
              <a:off x="6680835" y="1524000"/>
              <a:ext cx="4977765" cy="2272665"/>
            </a:xfrm>
            <a:prstGeom prst="roundRect">
              <a:avLst>
                <a:gd name="adj" fmla="val 586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6690360" y="1657350"/>
              <a:ext cx="47625" cy="200596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6928485" y="1733550"/>
              <a:ext cx="921068" cy="25717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006844" y="1769269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正确性要点</a:t>
              </a:r>
            </a:p>
          </p:txBody>
        </p:sp>
        <p:sp>
          <p:nvSpPr>
            <p:cNvPr id="26" name="Ellipse 26"/>
            <p:cNvSpPr/>
            <p:nvPr/>
          </p:nvSpPr>
          <p:spPr>
            <a:xfrm>
              <a:off x="6928485" y="2097405"/>
              <a:ext cx="213360" cy="2133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990334" y="213969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229475" y="2110740"/>
              <a:ext cx="40443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不漏解：只剪掉 B 取假的结点；由多米诺性质，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这些结点的子树中没有答案结点</a:t>
              </a:r>
            </a:p>
          </p:txBody>
        </p:sp>
        <p:sp>
          <p:nvSpPr>
            <p:cNvPr id="29" name="Ellipse 29"/>
            <p:cNvSpPr/>
            <p:nvPr/>
          </p:nvSpPr>
          <p:spPr>
            <a:xfrm>
              <a:off x="6928485" y="2718435"/>
              <a:ext cx="213360" cy="2133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990334" y="276072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229475" y="2731770"/>
              <a:ext cx="39871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不重复：T 中每个取值只试一次，每条从根出发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的路径只生成一次</a:t>
              </a:r>
            </a:p>
          </p:txBody>
        </p:sp>
        <p:sp>
          <p:nvSpPr>
            <p:cNvPr id="32" name="Ellipse 32"/>
            <p:cNvSpPr/>
            <p:nvPr/>
          </p:nvSpPr>
          <p:spPr>
            <a:xfrm>
              <a:off x="6928485" y="3339465"/>
              <a:ext cx="213360" cy="2133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990334" y="338175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229475" y="3352800"/>
              <a:ext cx="42557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会终止：解空间树有限，每个结点最多生成一次</a:t>
              </a:r>
            </a:p>
          </p:txBody>
        </p:sp>
      </p:grpSp>
      <p:grpSp>
        <p:nvGrpSpPr>
          <p:cNvPr id="47" name="c2-table-2"/>
          <p:cNvGrpSpPr/>
          <p:nvPr/>
        </p:nvGrpSpPr>
        <p:grpSpPr>
          <a:xfrm>
            <a:off x="6680835" y="3987165"/>
            <a:ext cx="4977765" cy="1573530"/>
            <a:chOff x="6680835" y="3987165"/>
            <a:chExt cx="4977765" cy="1573530"/>
          </a:xfrm>
        </p:grpSpPr>
        <p:sp>
          <p:nvSpPr>
            <p:cNvPr id="36" name="Rectangle 36"/>
            <p:cNvSpPr/>
            <p:nvPr/>
          </p:nvSpPr>
          <p:spPr>
            <a:xfrm>
              <a:off x="6680835" y="3987165"/>
              <a:ext cx="4977765" cy="448628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099262" y="4122896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代价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588144" y="4122896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说明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788658" y="457152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空间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984046" y="4571524"/>
              <a:ext cx="302291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O(n)：只保存根到当前结点的一条路径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6680835" y="4879658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6680835" y="4884420"/>
              <a:ext cx="4977765" cy="67532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788658" y="5133499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时间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984046" y="5020151"/>
              <a:ext cx="3280410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生成的结点数 × 每个结点的检验时间，见 7.2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节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6680835" y="3987165"/>
              <a:ext cx="4977765" cy="157353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7871460" y="3987165"/>
              <a:ext cx="9525" cy="157353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8" name="TextBox 48"/>
            <p:cNvSpPr txBox="1"/>
            <p:nvPr/>
          </p:nvSpPr>
          <p:spPr>
            <a:xfrm>
              <a:off x="528447" y="6581299"/>
              <a:ext cx="18568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第7章 回溯法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2F4B9A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8EDF8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6246114" cy="3351847"/>
            <a:chOff x="667512" y="1835468"/>
            <a:chExt cx="6246114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第二部分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3913632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回溯法的效率估计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623620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同一算法对不同实例生成的结点数差别很大，动手之前先估一估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决定回溯法效率的四个因素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最坏情况与实例差异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蒙特卡罗方法的一般思想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309067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效率估计算法 ESTIMATE 及其特点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18568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第7章 回溯法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294495" cy="909257"/>
            <a:chOff x="520446" y="342900"/>
            <a:chExt cx="929449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第7章 回溯法 · 回溯法的效率估计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29449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决定回溯法效率的四个因素：第四个造成不同实例的巨大差异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2" name="c1-table-1"/>
          <p:cNvGrpSpPr/>
          <p:nvPr/>
        </p:nvGrpSpPr>
        <p:grpSpPr>
          <a:xfrm>
            <a:off x="527685" y="1524000"/>
            <a:ext cx="6173153" cy="2993232"/>
            <a:chOff x="527685" y="1524000"/>
            <a:chExt cx="6173153" cy="299323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167438" cy="448628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403312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因素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204578" y="165973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对应的量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412384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作用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41223" y="2108359"/>
              <a:ext cx="191240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生成下一个 X(k) 的时间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738628" y="2108359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生成一个结点的时间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588383" y="2108359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单个结点的开销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416492"/>
              <a:ext cx="616743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421255"/>
              <a:ext cx="6167438" cy="67532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41223" y="2556986"/>
              <a:ext cx="1791360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满足显式约束的 X(k) 的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数目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738628" y="2670334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子结点的数量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588383" y="2670334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决定解空间树的规模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3092768"/>
              <a:ext cx="616743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41223" y="3232309"/>
              <a:ext cx="188876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限界函数 Bᵢ 的计算时间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738628" y="3232309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检验一个结点的时间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588383" y="3232309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单个结点的开销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3541395"/>
              <a:ext cx="616743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533400" y="3546158"/>
              <a:ext cx="6167438" cy="67532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41223" y="3680936"/>
              <a:ext cx="1543456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对所有 i，满足 Bᵢ 的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X(k) 的数目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738628" y="3794284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通过检验的结点数量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588383" y="3680936"/>
              <a:ext cx="180111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决定动态树大小，随实例</a:t>
              </a:r>
              <a:br/>
              <a:r>
                <a:rPr lang="zh-CN" sz="12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变化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1524000"/>
              <a:ext cx="6167438" cy="269748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2626042" y="1524000"/>
              <a:ext cx="9525" cy="269748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4475798" y="1524000"/>
              <a:ext cx="9525" cy="269748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527685" y="4297204"/>
              <a:ext cx="51528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原课件思考题"哪一个因素会导致不同实例产生的结点数不同"的答案是第四个</a:t>
              </a:r>
            </a:p>
          </p:txBody>
        </p:sp>
      </p:grpSp>
      <p:grpSp>
        <p:nvGrpSpPr>
          <p:cNvPr id="39" name="c1-callout-2"/>
          <p:cNvGrpSpPr/>
          <p:nvPr/>
        </p:nvGrpSpPr>
        <p:grpSpPr>
          <a:xfrm>
            <a:off x="533400" y="4663440"/>
            <a:ext cx="6167438" cy="864870"/>
            <a:chOff x="533400" y="4663440"/>
            <a:chExt cx="6167438" cy="864870"/>
          </a:xfrm>
        </p:grpSpPr>
        <p:sp>
          <p:nvSpPr>
            <p:cNvPr id="33" name="Rectangle 33"/>
            <p:cNvSpPr/>
            <p:nvPr/>
          </p:nvSpPr>
          <p:spPr>
            <a:xfrm>
              <a:off x="533400" y="4663440"/>
              <a:ext cx="6167438" cy="864870"/>
            </a:xfrm>
            <a:prstGeom prst="roundRect">
              <a:avLst>
                <a:gd name="adj" fmla="val 13216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37" name="Group 37"/>
            <p:cNvGrpSpPr/>
            <p:nvPr/>
          </p:nvGrpSpPr>
          <p:grpSpPr>
            <a:xfrm>
              <a:off x="738188" y="4995863"/>
              <a:ext cx="200026" cy="200025"/>
              <a:chOff x="738188" y="4995863"/>
              <a:chExt cx="200026" cy="200025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738188" y="499586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777926" y="504031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812642" y="515143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38" name="TextBox 38"/>
            <p:cNvSpPr txBox="1"/>
            <p:nvPr/>
          </p:nvSpPr>
          <p:spPr>
            <a:xfrm>
              <a:off x="1040130" y="4852988"/>
              <a:ext cx="517779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Bᵢ 能大大减少生成的结点数；但剪枝越强的 Bᵢ 往往计算越费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时间，两者要折中。</a:t>
              </a:r>
            </a:p>
          </p:txBody>
        </p:sp>
      </p:grpSp>
      <p:grpSp>
        <p:nvGrpSpPr>
          <p:cNvPr id="47" name="c2-card-1"/>
          <p:cNvGrpSpPr/>
          <p:nvPr/>
        </p:nvGrpSpPr>
        <p:grpSpPr>
          <a:xfrm>
            <a:off x="7005638" y="1524000"/>
            <a:ext cx="4652962" cy="2754630"/>
            <a:chOff x="7005638" y="1524000"/>
            <a:chExt cx="4652962" cy="2754630"/>
          </a:xfrm>
        </p:grpSpPr>
        <p:sp>
          <p:nvSpPr>
            <p:cNvPr id="40" name="Rectangle 40"/>
            <p:cNvSpPr/>
            <p:nvPr/>
          </p:nvSpPr>
          <p:spPr>
            <a:xfrm>
              <a:off x="7005638" y="1524000"/>
              <a:ext cx="4652962" cy="2754630"/>
            </a:xfrm>
            <a:prstGeom prst="roundRect">
              <a:avLst>
                <a:gd name="adj" fmla="val 484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7015162" y="1657350"/>
              <a:ext cx="47625" cy="2487930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7253288" y="1733550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335596" y="176926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效率估计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245668" y="2110740"/>
              <a:ext cx="4044315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解空间的结点数是 2ⁿ 或 n! 时，回溯算法最坏情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况下的时间复杂度为 O(p(n)·2ⁿ) 或 O(q(n)·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n!)，p(n)、q(n) 为 n 的多项式。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245668" y="3017520"/>
              <a:ext cx="39871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回溯法对同一问题不同实例的差异很大，n 很大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时对某些实例仍十分有效。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246811" y="3635216"/>
              <a:ext cx="375183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因此在对某个实例采用回溯法之前，应估算它的工作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量。</a:t>
              </a:r>
            </a:p>
          </p:txBody>
        </p:sp>
      </p:grpSp>
      <p:grpSp>
        <p:nvGrpSpPr>
          <p:cNvPr id="53" name="c2-callout-2"/>
          <p:cNvGrpSpPr/>
          <p:nvPr/>
        </p:nvGrpSpPr>
        <p:grpSpPr>
          <a:xfrm>
            <a:off x="7005638" y="4469130"/>
            <a:ext cx="4652962" cy="1059180"/>
            <a:chOff x="7005638" y="4469130"/>
            <a:chExt cx="4652962" cy="1059180"/>
          </a:xfrm>
        </p:grpSpPr>
        <p:sp>
          <p:nvSpPr>
            <p:cNvPr id="48" name="Rectangle 48"/>
            <p:cNvSpPr/>
            <p:nvPr/>
          </p:nvSpPr>
          <p:spPr>
            <a:xfrm>
              <a:off x="7005638" y="4469130"/>
              <a:ext cx="4652962" cy="1059180"/>
            </a:xfrm>
            <a:prstGeom prst="roundRect">
              <a:avLst>
                <a:gd name="adj" fmla="val 10791"/>
              </a:avLst>
            </a:prstGeom>
            <a:solidFill>
              <a:srgbClr val="2F4B9A"/>
            </a:solidFill>
            <a:ln>
              <a:noFill/>
            </a:ln>
          </p:spPr>
        </p:sp>
        <p:grpSp>
          <p:nvGrpSpPr>
            <p:cNvPr id="51" name="Group 51"/>
            <p:cNvGrpSpPr/>
            <p:nvPr/>
          </p:nvGrpSpPr>
          <p:grpSpPr>
            <a:xfrm>
              <a:off x="7210425" y="4898710"/>
              <a:ext cx="200023" cy="200023"/>
              <a:chOff x="7210425" y="4898710"/>
              <a:chExt cx="200023" cy="200023"/>
            </a:xfrm>
          </p:grpSpPr>
          <p:sp>
            <p:nvSpPr>
              <p:cNvPr id="49" name="Freeform 49"/>
              <p:cNvSpPr/>
              <p:nvPr/>
            </p:nvSpPr>
            <p:spPr>
              <a:xfrm>
                <a:off x="7210425" y="489871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7343775" y="496538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52" name="TextBox 52"/>
            <p:cNvSpPr txBox="1"/>
            <p:nvPr/>
          </p:nvSpPr>
          <p:spPr>
            <a:xfrm>
              <a:off x="7512368" y="4617720"/>
              <a:ext cx="3634740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估算对象：动态树中不受限界的结点个数，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即活结点的个数。可以用蒙特卡罗方法估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算。</a:t>
              </a:r>
            </a:p>
          </p:txBody>
        </p:sp>
      </p:grpSp>
      <p:grpSp>
        <p:nvGrpSpPr>
          <p:cNvPr id="5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4" name="TextBox 54"/>
            <p:cNvSpPr txBox="1"/>
            <p:nvPr/>
          </p:nvSpPr>
          <p:spPr>
            <a:xfrm>
              <a:off x="528447" y="6581299"/>
              <a:ext cx="18568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第7章 回溯法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264652" cy="909257"/>
            <a:chOff x="520446" y="342900"/>
            <a:chExt cx="826465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第7章 回溯法 · 回溯法的效率估计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26465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蒙特卡罗方法：沿一条随机路径推断每一层有多少结点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4" name="c1-steps-1"/>
          <p:cNvGrpSpPr/>
          <p:nvPr/>
        </p:nvGrpSpPr>
        <p:grpSpPr>
          <a:xfrm>
            <a:off x="533400" y="1533525"/>
            <a:ext cx="5318633" cy="2764440"/>
            <a:chOff x="533400" y="1533525"/>
            <a:chExt cx="5318633" cy="2764440"/>
          </a:xfrm>
        </p:grpSpPr>
        <p:sp>
          <p:nvSpPr>
            <p:cNvPr id="7" name="Rectangle 7"/>
            <p:cNvSpPr/>
            <p:nvPr/>
          </p:nvSpPr>
          <p:spPr>
            <a:xfrm>
              <a:off x="666750" y="1676400"/>
              <a:ext cx="19050" cy="218694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533400" y="153352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27024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533400" y="2184082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27024" y="225790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533400" y="3069908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27024" y="314372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533400" y="372046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27024" y="379428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44880" y="156781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前提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46023" y="1861661"/>
              <a:ext cx="414848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限界函数固定不变，对状态空间树同一层的结点都适用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44880" y="2218372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看当前结点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46023" y="2512219"/>
              <a:ext cx="4906010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 x 是随机路径上第 i 层的结点，限界函数确定 x 有 mᵢ 个可用的儿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子结点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44880" y="3104198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随机选一个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46023" y="3397091"/>
              <a:ext cx="479465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从这 mᵢ 个儿子中随机选中一个作为下一层的 x，重复上述过程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4880" y="375475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停止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46023" y="4048601"/>
              <a:ext cx="328691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当前结点是叶结点，或者儿子结点都被限界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5" name="formula7"/>
              <p:cNvSpPr txBox="1">
                <a:spLocks noGrp="1"/>
              </p:cNvSpPr>
              <p:nvPr/>
            </p:nvSpPr>
            <p:spPr>
              <a:xfrm>
                <a:off x="533400" y="4475798"/>
                <a:ext cx="5626418" cy="45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m</m:t>
                      </m:r>
                      <m:r>
                        <m:rPr>
                          <m:sty m:val="p"/>
                        </m:rP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1</m:t>
                      </m:r>
                      <m:r>
                        <m:rPr>
                          <m:sty m:val="p"/>
                        </m:rP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sSub>
                        <m:e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m</m:t>
                          </m:r>
                        </m:e>
                        <m:sub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sSub>
                        <m:e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m</m:t>
                          </m:r>
                        </m:e>
                        <m:sub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</m:sSub>
                      <m:sSub>
                        <m:e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m</m:t>
                          </m:r>
                        </m:e>
                        <m:sub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sSub>
                        <m:e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m</m:t>
                          </m:r>
                        </m:e>
                        <m:sub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</m:sSub>
                      <m:sSub>
                        <m:e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m</m:t>
                          </m:r>
                        </m:e>
                        <m:sub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sub>
                      </m:sSub>
                      <m:sSub>
                        <m:e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m</m:t>
                          </m:r>
                        </m:e>
                        <m:sub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3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+⋯</m:t>
                      </m:r>
                    </m:oMath>
                  </m:oMathPara>
                </a14:m>
              </a:p>
            </p:txBody>
          </p:sp>
        </mc:Choice>
      </mc:AlternateContent>
      <p:grpSp>
        <p:nvGrpSpPr>
          <p:cNvPr id="32" name="c1-callout-3"/>
          <p:cNvGrpSpPr/>
          <p:nvPr/>
        </p:nvGrpSpPr>
        <p:grpSpPr>
          <a:xfrm>
            <a:off x="533400" y="5123498"/>
            <a:ext cx="5626418" cy="1059180"/>
            <a:chOff x="533400" y="5123498"/>
            <a:chExt cx="5626418" cy="1059180"/>
          </a:xfrm>
        </p:grpSpPr>
        <p:sp>
          <p:nvSpPr>
            <p:cNvPr id="26" name="Rectangle 26"/>
            <p:cNvSpPr/>
            <p:nvPr/>
          </p:nvSpPr>
          <p:spPr>
            <a:xfrm>
              <a:off x="533400" y="5123498"/>
              <a:ext cx="5626418" cy="1059180"/>
            </a:xfrm>
            <a:prstGeom prst="roundRect">
              <a:avLst>
                <a:gd name="adj" fmla="val 10791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30" name="Group 30"/>
            <p:cNvGrpSpPr/>
            <p:nvPr/>
          </p:nvGrpSpPr>
          <p:grpSpPr>
            <a:xfrm>
              <a:off x="738188" y="5553075"/>
              <a:ext cx="200026" cy="200026"/>
              <a:chOff x="738188" y="5553075"/>
              <a:chExt cx="200026" cy="200026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738188" y="555307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838200" y="56197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827088" y="565308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31" name="TextBox 31"/>
            <p:cNvSpPr txBox="1"/>
            <p:nvPr/>
          </p:nvSpPr>
          <p:spPr>
            <a:xfrm>
              <a:off x="1040130" y="5272088"/>
              <a:ext cx="4663440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路径走到第 k+1 层结点 v 的概率 p(v) = 1/(m₁…mₖ)，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正好是这时 r 的倒数，于是 E(r) = Σ p(v)·(1/p(v))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= 该层结点数：m 的期望等于不受限界的结点数。</a:t>
              </a:r>
            </a:p>
          </p:txBody>
        </p:sp>
      </p:grpSp>
      <p:grpSp>
        <p:nvGrpSpPr>
          <p:cNvPr id="51" name="c2-graph-1"/>
          <p:cNvGrpSpPr/>
          <p:nvPr/>
        </p:nvGrpSpPr>
        <p:grpSpPr>
          <a:xfrm>
            <a:off x="6945630" y="1619250"/>
            <a:ext cx="4609372" cy="2000250"/>
            <a:chOff x="6945630" y="1619250"/>
            <a:chExt cx="4609372" cy="2000250"/>
          </a:xfrm>
        </p:grpSpPr>
        <p:sp>
          <p:nvSpPr>
            <p:cNvPr id="33" name="Freeform 33"/>
            <p:cNvSpPr/>
            <p:nvPr/>
          </p:nvSpPr>
          <p:spPr>
            <a:xfrm>
              <a:off x="7213282" y="1849755"/>
              <a:ext cx="943928" cy="658178"/>
            </a:xfrm>
            <a:custGeom>
              <a:avLst/>
              <a:gdLst/>
              <a:ahLst/>
              <a:cxnLst/>
              <a:rect l="l" t="t" r="r" b="b"/>
              <a:pathLst>
                <a:path w="943928" h="658178">
                  <a:moveTo>
                    <a:pt x="943928" y="0"/>
                  </a:moveTo>
                  <a:lnTo>
                    <a:pt x="0" y="658178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4" name="Freeform 34"/>
            <p:cNvSpPr/>
            <p:nvPr/>
          </p:nvSpPr>
          <p:spPr>
            <a:xfrm>
              <a:off x="7980045" y="1902142"/>
              <a:ext cx="241935" cy="553403"/>
            </a:xfrm>
            <a:custGeom>
              <a:avLst/>
              <a:gdLst/>
              <a:ahLst/>
              <a:cxnLst/>
              <a:rect l="l" t="t" r="r" b="b"/>
              <a:pathLst>
                <a:path w="241935" h="553403">
                  <a:moveTo>
                    <a:pt x="241935" y="0"/>
                  </a:moveTo>
                  <a:lnTo>
                    <a:pt x="0" y="553403"/>
                  </a:lnTo>
                </a:path>
              </a:pathLst>
            </a:custGeom>
            <a:noFill/>
            <a:ln w="28575">
              <a:solidFill>
                <a:srgbClr val="F26B3A"/>
              </a:solidFill>
            </a:ln>
          </p:spPr>
        </p:sp>
        <p:sp>
          <p:nvSpPr>
            <p:cNvPr id="35" name="Freeform 35"/>
            <p:cNvSpPr/>
            <p:nvPr/>
          </p:nvSpPr>
          <p:spPr>
            <a:xfrm>
              <a:off x="8357235" y="1895475"/>
              <a:ext cx="318135" cy="566738"/>
            </a:xfrm>
            <a:custGeom>
              <a:avLst/>
              <a:gdLst/>
              <a:ahLst/>
              <a:cxnLst/>
              <a:rect l="l" t="t" r="r" b="b"/>
              <a:pathLst>
                <a:path w="318135" h="566738">
                  <a:moveTo>
                    <a:pt x="0" y="0"/>
                  </a:moveTo>
                  <a:lnTo>
                    <a:pt x="318135" y="566738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6" name="Freeform 36"/>
            <p:cNvSpPr/>
            <p:nvPr/>
          </p:nvSpPr>
          <p:spPr>
            <a:xfrm>
              <a:off x="8410575" y="1844040"/>
              <a:ext cx="1042035" cy="669607"/>
            </a:xfrm>
            <a:custGeom>
              <a:avLst/>
              <a:gdLst/>
              <a:ahLst/>
              <a:cxnLst/>
              <a:rect l="l" t="t" r="r" b="b"/>
              <a:pathLst>
                <a:path w="1042035" h="669607">
                  <a:moveTo>
                    <a:pt x="0" y="0"/>
                  </a:moveTo>
                  <a:lnTo>
                    <a:pt x="1042035" y="669607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7" name="Freeform 37"/>
            <p:cNvSpPr/>
            <p:nvPr/>
          </p:nvSpPr>
          <p:spPr>
            <a:xfrm>
              <a:off x="7383780" y="2720340"/>
              <a:ext cx="447675" cy="631507"/>
            </a:xfrm>
            <a:custGeom>
              <a:avLst/>
              <a:gdLst/>
              <a:ahLst/>
              <a:cxnLst/>
              <a:rect l="l" t="t" r="r" b="b"/>
              <a:pathLst>
                <a:path w="447675" h="631507">
                  <a:moveTo>
                    <a:pt x="447675" y="0"/>
                  </a:moveTo>
                  <a:lnTo>
                    <a:pt x="0" y="631507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8" name="Freeform 38"/>
            <p:cNvSpPr/>
            <p:nvPr/>
          </p:nvSpPr>
          <p:spPr>
            <a:xfrm>
              <a:off x="7919085" y="2747962"/>
              <a:ext cx="9525" cy="576262"/>
            </a:xfrm>
            <a:custGeom>
              <a:avLst/>
              <a:gdLst/>
              <a:ahLst/>
              <a:cxnLst/>
              <a:rect l="l" t="t" r="r" b="b"/>
              <a:pathLst>
                <a:path w="9525" h="576262">
                  <a:moveTo>
                    <a:pt x="0" y="0"/>
                  </a:moveTo>
                  <a:lnTo>
                    <a:pt x="0" y="576262"/>
                  </a:lnTo>
                </a:path>
              </a:pathLst>
            </a:custGeom>
            <a:noFill/>
            <a:ln w="28575">
              <a:solidFill>
                <a:srgbClr val="F26B3A"/>
              </a:solidFill>
            </a:ln>
          </p:spPr>
        </p:sp>
        <p:sp>
          <p:nvSpPr>
            <p:cNvPr id="39" name="Freeform 39"/>
            <p:cNvSpPr/>
            <p:nvPr/>
          </p:nvSpPr>
          <p:spPr>
            <a:xfrm>
              <a:off x="8006715" y="2720340"/>
              <a:ext cx="447675" cy="631507"/>
            </a:xfrm>
            <a:custGeom>
              <a:avLst/>
              <a:gdLst/>
              <a:ahLst/>
              <a:cxnLst/>
              <a:rect l="l" t="t" r="r" b="b"/>
              <a:pathLst>
                <a:path w="447675" h="631507">
                  <a:moveTo>
                    <a:pt x="0" y="0"/>
                  </a:moveTo>
                  <a:lnTo>
                    <a:pt x="447675" y="631507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0" name="Ellipse 40"/>
            <p:cNvSpPr/>
            <p:nvPr/>
          </p:nvSpPr>
          <p:spPr>
            <a:xfrm>
              <a:off x="8140065" y="1619250"/>
              <a:ext cx="285750" cy="285750"/>
            </a:xfrm>
            <a:prstGeom prst="ellipse">
              <a:avLst/>
            </a:prstGeom>
            <a:solidFill>
              <a:srgbClr val="2F4B9A"/>
            </a:solidFill>
            <a:ln w="17145">
              <a:solidFill>
                <a:srgbClr val="2F4B9A"/>
              </a:solidFill>
            </a:ln>
          </p:spPr>
        </p:sp>
        <p:sp>
          <p:nvSpPr>
            <p:cNvPr id="41" name="Ellipse 41"/>
            <p:cNvSpPr/>
            <p:nvPr/>
          </p:nvSpPr>
          <p:spPr>
            <a:xfrm>
              <a:off x="6945630" y="2452688"/>
              <a:ext cx="285750" cy="2857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42" name="Ellipse 42"/>
            <p:cNvSpPr/>
            <p:nvPr/>
          </p:nvSpPr>
          <p:spPr>
            <a:xfrm>
              <a:off x="7776210" y="2452688"/>
              <a:ext cx="285750" cy="285750"/>
            </a:xfrm>
            <a:prstGeom prst="ellipse">
              <a:avLst/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43" name="Ellipse 43"/>
            <p:cNvSpPr/>
            <p:nvPr/>
          </p:nvSpPr>
          <p:spPr>
            <a:xfrm>
              <a:off x="8606790" y="2452688"/>
              <a:ext cx="285750" cy="2857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44" name="Ellipse 44"/>
            <p:cNvSpPr/>
            <p:nvPr/>
          </p:nvSpPr>
          <p:spPr>
            <a:xfrm>
              <a:off x="9438322" y="2452688"/>
              <a:ext cx="285750" cy="2857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45" name="Ellipse 45"/>
            <p:cNvSpPr/>
            <p:nvPr/>
          </p:nvSpPr>
          <p:spPr>
            <a:xfrm>
              <a:off x="7153275" y="3333750"/>
              <a:ext cx="285750" cy="2857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46" name="Ellipse 46"/>
            <p:cNvSpPr/>
            <p:nvPr/>
          </p:nvSpPr>
          <p:spPr>
            <a:xfrm>
              <a:off x="7776210" y="3333750"/>
              <a:ext cx="285750" cy="285750"/>
            </a:xfrm>
            <a:prstGeom prst="ellipse">
              <a:avLst/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47" name="Ellipse 47"/>
            <p:cNvSpPr/>
            <p:nvPr/>
          </p:nvSpPr>
          <p:spPr>
            <a:xfrm>
              <a:off x="8399145" y="3333750"/>
              <a:ext cx="285750" cy="2857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10362443" y="1640681"/>
              <a:ext cx="93115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1 层：1 个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0303076" y="2474119"/>
              <a:ext cx="104988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2 层：m₁ 个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0101038" y="3355181"/>
              <a:ext cx="145396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3 层：约 m₁m₂ 个</a:t>
              </a:r>
            </a:p>
          </p:txBody>
        </p:sp>
      </p:grpSp>
      <p:grpSp>
        <p:nvGrpSpPr>
          <p:cNvPr id="58" name="c2-card-2"/>
          <p:cNvGrpSpPr/>
          <p:nvPr/>
        </p:nvGrpSpPr>
        <p:grpSpPr>
          <a:xfrm>
            <a:off x="6464618" y="4095750"/>
            <a:ext cx="5193982" cy="2086928"/>
            <a:chOff x="6464618" y="4095750"/>
            <a:chExt cx="5193982" cy="2086928"/>
          </a:xfrm>
        </p:grpSpPr>
        <p:sp>
          <p:nvSpPr>
            <p:cNvPr id="52" name="Rectangle 52"/>
            <p:cNvSpPr/>
            <p:nvPr/>
          </p:nvSpPr>
          <p:spPr>
            <a:xfrm>
              <a:off x="6464618" y="4095750"/>
              <a:ext cx="5193982" cy="2086928"/>
            </a:xfrm>
            <a:prstGeom prst="roundRect">
              <a:avLst>
                <a:gd name="adj" fmla="val 639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3" name="Rectangle 53"/>
            <p:cNvSpPr/>
            <p:nvPr/>
          </p:nvSpPr>
          <p:spPr>
            <a:xfrm>
              <a:off x="6474142" y="4229100"/>
              <a:ext cx="47625" cy="1820228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54" name="Rectangle 54"/>
            <p:cNvSpPr/>
            <p:nvPr/>
          </p:nvSpPr>
          <p:spPr>
            <a:xfrm>
              <a:off x="6712268" y="4305300"/>
              <a:ext cx="1204912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6781775" y="4341019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为什么这样推断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6704648" y="4682490"/>
              <a:ext cx="445389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2 层有 m₁ 个结点。随机选中的那个结点有 m₂ 个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儿子通过检验，假定第 2 层每个结点都如此，第 3 层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就约有 m₁m₂ 个结点，依此类推。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6705791" y="5585936"/>
              <a:ext cx="389001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mᵢ 相当于第 i 层结点平均没受限界的儿子结点数。</a:t>
              </a:r>
            </a:p>
          </p:txBody>
        </p:sp>
      </p:grpSp>
      <p:grpSp>
        <p:nvGrpSpPr>
          <p:cNvPr id="6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9" name="TextBox 59"/>
            <p:cNvSpPr txBox="1"/>
            <p:nvPr/>
          </p:nvSpPr>
          <p:spPr>
            <a:xfrm>
              <a:off x="528447" y="6581299"/>
              <a:ext cx="18568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第7章 回溯法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031998" cy="909257"/>
            <a:chOff x="520446" y="342900"/>
            <a:chExt cx="803199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第7章 回溯法 · 回溯法的效率估计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03199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算法 7.3 ESTIMATE：一次随机路径给出一个估计值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5951220" cy="3545205"/>
            <a:chOff x="533400" y="1524000"/>
            <a:chExt cx="5951220" cy="354520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951220" cy="3545205"/>
            </a:xfrm>
            <a:prstGeom prst="roundRect">
              <a:avLst>
                <a:gd name="adj" fmla="val 2687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140077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 7.3 ESTIMATE()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035" y="1937861"/>
              <a:ext cx="3588766" cy="3060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procedure ESTIMATE()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沿状态空间树中一条随机路径，产生这棵树中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不受限界结点的估计数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m ← 1; r ← 1; k ← 1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loop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Tk ← {X(k) : X(k) ∈ T(X(1),…,X(k-1))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    and Bk(X(1),…,X(k))}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if SIZE(Tk) = 0 then exit endif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r ← r * SIZE(Tk)  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第 k 层的结点数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m ← m + r         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前 k 层的结点总数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X(k) ← CHOOSE(Tk) 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从 Tk 中随机挑一个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k ← k + 1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repeat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return m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end ESTIMATE</a:t>
              </a:r>
            </a:p>
          </p:txBody>
        </p:sp>
      </p:grpSp>
      <p:grpSp>
        <p:nvGrpSpPr>
          <p:cNvPr id="15" name="c1-text-2"/>
          <p:cNvGrpSpPr/>
          <p:nvPr/>
        </p:nvGrpSpPr>
        <p:grpSpPr>
          <a:xfrm>
            <a:off x="527304" y="5273992"/>
            <a:ext cx="3587344" cy="1078612"/>
            <a:chOff x="527304" y="5273992"/>
            <a:chExt cx="3587344" cy="1078612"/>
          </a:xfrm>
        </p:grpSpPr>
        <p:sp>
          <p:nvSpPr>
            <p:cNvPr id="11" name="TextBox 11"/>
            <p:cNvSpPr txBox="1"/>
            <p:nvPr/>
          </p:nvSpPr>
          <p:spPr>
            <a:xfrm>
              <a:off x="527304" y="5273992"/>
              <a:ext cx="274228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m：已数到的结点数，初值 1 是根结点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27304" y="5555932"/>
              <a:ext cx="353545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r：第 k 层的结点数 m₁…mₖ，每层乘上 SIZE(Tk)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27304" y="5836920"/>
              <a:ext cx="35873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Tk：当前结点通过限界函数的儿子集合，每层重算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27304" y="6117908"/>
              <a:ext cx="25415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CHOOSE：从 Tk 中等概率取一个值</a:t>
              </a:r>
            </a:p>
          </p:txBody>
        </p:sp>
      </p:grpSp>
      <p:grpSp>
        <p:nvGrpSpPr>
          <p:cNvPr id="32" name="c2-compare-1"/>
          <p:cNvGrpSpPr/>
          <p:nvPr/>
        </p:nvGrpSpPr>
        <p:grpSpPr>
          <a:xfrm>
            <a:off x="6789420" y="1524000"/>
            <a:ext cx="4869180" cy="2398395"/>
            <a:chOff x="6789420" y="1524000"/>
            <a:chExt cx="4869180" cy="2398395"/>
          </a:xfrm>
        </p:grpSpPr>
        <p:sp>
          <p:nvSpPr>
            <p:cNvPr id="16" name="Rectangle 16"/>
            <p:cNvSpPr/>
            <p:nvPr/>
          </p:nvSpPr>
          <p:spPr>
            <a:xfrm>
              <a:off x="6789420" y="1524000"/>
              <a:ext cx="2225040" cy="2398395"/>
            </a:xfrm>
            <a:prstGeom prst="roundRect">
              <a:avLst>
                <a:gd name="adj" fmla="val 599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6798945" y="1657350"/>
              <a:ext cx="47625" cy="213169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024116" y="1751171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优点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7038975" y="2149792"/>
              <a:ext cx="60960" cy="609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195566" y="2090261"/>
              <a:ext cx="145719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要找出所有答案结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点时非常有用</a:t>
              </a:r>
            </a:p>
          </p:txBody>
        </p:sp>
        <p:sp>
          <p:nvSpPr>
            <p:cNvPr id="21" name="Ellipse 21"/>
            <p:cNvSpPr/>
            <p:nvPr/>
          </p:nvSpPr>
          <p:spPr>
            <a:xfrm>
              <a:off x="7038975" y="2741295"/>
              <a:ext cx="60960" cy="609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195566" y="2681764"/>
              <a:ext cx="1457198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限界函数固定不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变，计算方便，对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同一层结点都适用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9433560" y="1524000"/>
              <a:ext cx="2225040" cy="2398395"/>
            </a:xfrm>
            <a:prstGeom prst="roundRect">
              <a:avLst>
                <a:gd name="adj" fmla="val 599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9443085" y="1657350"/>
              <a:ext cx="47625" cy="213169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9668256" y="1751171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缺点</a:t>
              </a:r>
            </a:p>
          </p:txBody>
        </p:sp>
        <p:sp>
          <p:nvSpPr>
            <p:cNvPr id="26" name="Ellipse 26"/>
            <p:cNvSpPr/>
            <p:nvPr/>
          </p:nvSpPr>
          <p:spPr>
            <a:xfrm>
              <a:off x="9683115" y="2149792"/>
              <a:ext cx="60960" cy="609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9839706" y="2090261"/>
              <a:ext cx="1457198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只求一个解时，实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际生成的结点数远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小于 m</a:t>
              </a:r>
            </a:p>
          </p:txBody>
        </p:sp>
        <p:sp>
          <p:nvSpPr>
            <p:cNvPr id="28" name="Ellipse 28"/>
            <p:cNvSpPr/>
            <p:nvPr/>
          </p:nvSpPr>
          <p:spPr>
            <a:xfrm>
              <a:off x="9683115" y="3012758"/>
              <a:ext cx="60960" cy="609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9839706" y="2953226"/>
              <a:ext cx="1457198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随着检索进行，限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界函数本应更强，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实际的 m 会更小</a:t>
              </a:r>
            </a:p>
          </p:txBody>
        </p:sp>
        <p:sp>
          <p:nvSpPr>
            <p:cNvPr id="30" name="Ellipse 30"/>
            <p:cNvSpPr/>
            <p:nvPr/>
          </p:nvSpPr>
          <p:spPr>
            <a:xfrm>
              <a:off x="9062085" y="2561272"/>
              <a:ext cx="323850" cy="3238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9132425" y="2657475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VS</a:t>
              </a:r>
            </a:p>
          </p:txBody>
        </p:sp>
      </p:grpSp>
      <p:grpSp>
        <p:nvGrpSpPr>
          <p:cNvPr id="39" name="c2-callout-2"/>
          <p:cNvGrpSpPr/>
          <p:nvPr/>
        </p:nvGrpSpPr>
        <p:grpSpPr>
          <a:xfrm>
            <a:off x="6789420" y="4107180"/>
            <a:ext cx="4869180" cy="1018222"/>
            <a:chOff x="6789420" y="4107180"/>
            <a:chExt cx="4869180" cy="1018222"/>
          </a:xfrm>
        </p:grpSpPr>
        <p:sp>
          <p:nvSpPr>
            <p:cNvPr id="33" name="Rectangle 33"/>
            <p:cNvSpPr/>
            <p:nvPr/>
          </p:nvSpPr>
          <p:spPr>
            <a:xfrm>
              <a:off x="6789420" y="4107180"/>
              <a:ext cx="4869180" cy="1018222"/>
            </a:xfrm>
            <a:prstGeom prst="roundRect">
              <a:avLst>
                <a:gd name="adj" fmla="val 11225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37" name="Group 37"/>
            <p:cNvGrpSpPr/>
            <p:nvPr/>
          </p:nvGrpSpPr>
          <p:grpSpPr>
            <a:xfrm>
              <a:off x="6994208" y="4516755"/>
              <a:ext cx="200026" cy="200025"/>
              <a:chOff x="6994208" y="4516755"/>
              <a:chExt cx="200026" cy="200025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6994208" y="451675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7033946" y="456120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7068662" y="467233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38" name="TextBox 38"/>
            <p:cNvSpPr txBox="1"/>
            <p:nvPr/>
          </p:nvSpPr>
          <p:spPr>
            <a:xfrm>
              <a:off x="7296531" y="4255294"/>
              <a:ext cx="3981958" cy="8044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一条路径的估计值波动很大，实际使用时多取几条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随机路径求平均。这个估计值的数学期望恰好等于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动态树中不受限界的结点数。</a:t>
              </a:r>
            </a:p>
          </p:txBody>
        </p:sp>
      </p:grpSp>
      <p:grpSp>
        <p:nvGrpSpPr>
          <p:cNvPr id="46" name="c2-callout-3"/>
          <p:cNvGrpSpPr/>
          <p:nvPr/>
        </p:nvGrpSpPr>
        <p:grpSpPr>
          <a:xfrm>
            <a:off x="6789420" y="5311140"/>
            <a:ext cx="4869180" cy="993458"/>
            <a:chOff x="6789420" y="5311140"/>
            <a:chExt cx="4869180" cy="993458"/>
          </a:xfrm>
        </p:grpSpPr>
        <p:sp>
          <p:nvSpPr>
            <p:cNvPr id="40" name="Rectangle 40"/>
            <p:cNvSpPr/>
            <p:nvPr/>
          </p:nvSpPr>
          <p:spPr>
            <a:xfrm>
              <a:off x="6789420" y="5311140"/>
              <a:ext cx="4869180" cy="993458"/>
            </a:xfrm>
            <a:prstGeom prst="roundRect">
              <a:avLst>
                <a:gd name="adj" fmla="val 11505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44" name="Group 44"/>
            <p:cNvGrpSpPr/>
            <p:nvPr/>
          </p:nvGrpSpPr>
          <p:grpSpPr>
            <a:xfrm>
              <a:off x="6982149" y="5704641"/>
              <a:ext cx="224134" cy="192560"/>
              <a:chOff x="6982149" y="5704641"/>
              <a:chExt cx="224134" cy="192560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7094220" y="5775008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6982149" y="5704641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7094220" y="5852796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45" name="TextBox 45"/>
            <p:cNvSpPr txBox="1"/>
            <p:nvPr/>
          </p:nvSpPr>
          <p:spPr>
            <a:xfrm>
              <a:off x="7296531" y="5577364"/>
              <a:ext cx="3963924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手算易错：r 是连乘、m 是累加；被杀死的儿子不</a:t>
              </a:r>
              <a:br/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计入 m。</a:t>
              </a:r>
            </a:p>
          </p:txBody>
        </p:sp>
      </p:grpSp>
      <p:grpSp>
        <p:nvGrpSpPr>
          <p:cNvPr id="4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7" name="TextBox 47"/>
            <p:cNvSpPr txBox="1"/>
            <p:nvPr/>
          </p:nvSpPr>
          <p:spPr>
            <a:xfrm>
              <a:off x="528447" y="6581299"/>
              <a:ext cx="18568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第7章 回溯法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2F4B9A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8EDF8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6490449" cy="3351847"/>
            <a:chOff x="667512" y="1835468"/>
            <a:chExt cx="6490449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第三部分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2534854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n-皇后问题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648054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用"行差的绝对值等于列差的绝对值"判断斜线冲突，逐行放置皇后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问题描述与限界函数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22639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算法 PLACE 与 NQUEENS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205473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4-皇后问题的搜索过程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205473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8-皇后问题的效率估计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18568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第7章 回溯法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10667619" cy="909257"/>
            <a:chOff x="520446" y="342900"/>
            <a:chExt cx="1066761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009775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8702" y="407194"/>
              <a:ext cx="18591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第7章 回溯法 · n-皇后问题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066761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限界函数：两个皇后在同一斜线上，当且仅当行差与列差的绝对值相等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780" y="1548765"/>
            <a:ext cx="9253538" cy="293370"/>
            <a:chOff x="525780" y="1548765"/>
            <a:chExt cx="9253538" cy="293370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925353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皇后 i 放在第 i 行第 xᵢ 列。显式约束 xᵢ ∈ {1, …, n}，解空间 nⁿ；要求各 xᵢ 互不相同时解空间为 n!。</a:t>
              </a:r>
            </a:p>
          </p:txBody>
        </p:sp>
      </p:grpSp>
      <p:grpSp>
        <p:nvGrpSpPr>
          <p:cNvPr id="10" name="c1-text-1"/>
          <p:cNvGrpSpPr/>
          <p:nvPr/>
        </p:nvGrpSpPr>
        <p:grpSpPr>
          <a:xfrm>
            <a:off x="527304" y="1974532"/>
            <a:ext cx="2493912" cy="234696"/>
            <a:chOff x="527304" y="1974532"/>
            <a:chExt cx="2493912" cy="234696"/>
          </a:xfrm>
        </p:grpSpPr>
        <p:sp>
          <p:nvSpPr>
            <p:cNvPr id="9" name="TextBox 9"/>
            <p:cNvSpPr txBox="1"/>
            <p:nvPr/>
          </p:nvSpPr>
          <p:spPr>
            <a:xfrm>
              <a:off x="527304" y="1974532"/>
              <a:ext cx="2493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左上到右下的斜线："行 − 列"相同</a:t>
              </a:r>
            </a:p>
          </p:txBody>
        </p:sp>
      </p:grpSp>
      <p:grpSp>
        <p:nvGrpSpPr>
          <p:cNvPr id="66" name="c1-cells-2"/>
          <p:cNvGrpSpPr/>
          <p:nvPr/>
        </p:nvGrpSpPr>
        <p:grpSpPr>
          <a:xfrm>
            <a:off x="528066" y="2342198"/>
            <a:ext cx="2006536" cy="1790700"/>
            <a:chOff x="528066" y="2342198"/>
            <a:chExt cx="2006536" cy="1790700"/>
          </a:xfrm>
        </p:grpSpPr>
        <p:sp>
          <p:nvSpPr>
            <p:cNvPr id="11" name="TextBox 11"/>
            <p:cNvSpPr txBox="1"/>
            <p:nvPr/>
          </p:nvSpPr>
          <p:spPr>
            <a:xfrm>
              <a:off x="528066" y="245554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743902" y="2342198"/>
              <a:ext cx="358140" cy="35814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F4B9A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876823" y="245554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1102042" y="2342198"/>
              <a:ext cx="358140" cy="35814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194148" y="2455545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-1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1460182" y="2342198"/>
              <a:ext cx="358140" cy="35814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F4B9A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552288" y="2455545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-2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1818322" y="2342198"/>
              <a:ext cx="358140" cy="35814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F4B9A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1910428" y="2455545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-3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2176462" y="2342198"/>
              <a:ext cx="358140" cy="35814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F4B9A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2268568" y="2455545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-4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28066" y="281368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743902" y="2700338"/>
              <a:ext cx="358140" cy="35814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F4B9A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876823" y="281368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1102042" y="2700338"/>
              <a:ext cx="358140" cy="35814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F4B9A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1234963" y="281368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1460182" y="2700338"/>
              <a:ext cx="358140" cy="35814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1552288" y="2813685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-1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1818322" y="2700338"/>
              <a:ext cx="358140" cy="35814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F4B9A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1910428" y="2813685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-2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2176462" y="2700338"/>
              <a:ext cx="358140" cy="35814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F4B9A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2268568" y="2813685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-3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528066" y="317182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743902" y="3058478"/>
              <a:ext cx="358140" cy="35814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F4B9A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876823" y="317182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1102042" y="3058478"/>
              <a:ext cx="358140" cy="35814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F4B9A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1234963" y="317182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1460182" y="3058478"/>
              <a:ext cx="358140" cy="35814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F4B9A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1593103" y="317182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1818322" y="3058478"/>
              <a:ext cx="358140" cy="35814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1910428" y="3171825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-1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2176462" y="3058478"/>
              <a:ext cx="358140" cy="35814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F4B9A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2268568" y="3171825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-2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528066" y="352996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743902" y="3416618"/>
              <a:ext cx="358140" cy="35814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F4B9A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876823" y="352996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1102042" y="3416618"/>
              <a:ext cx="358140" cy="35814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F4B9A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1234963" y="352996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1460182" y="3416618"/>
              <a:ext cx="358140" cy="35814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F4B9A"/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1593103" y="352996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1818322" y="3416618"/>
              <a:ext cx="358140" cy="35814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F4B9A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1951243" y="352996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2176462" y="3416618"/>
              <a:ext cx="358140" cy="35814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2268568" y="3529965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-1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528066" y="388810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743902" y="3774758"/>
              <a:ext cx="358140" cy="35814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F4B9A"/>
              </a:solidFill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876823" y="388810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1102042" y="3774758"/>
              <a:ext cx="358140" cy="35814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F4B9A"/>
              </a:solidFill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1234963" y="388810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1460182" y="3774758"/>
              <a:ext cx="358140" cy="35814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F4B9A"/>
              </a:solidFill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1593103" y="388810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1818322" y="3774758"/>
              <a:ext cx="358140" cy="35814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F4B9A"/>
              </a:solidFill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1951243" y="388810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2176462" y="3774758"/>
              <a:ext cx="358140" cy="35814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F4B9A"/>
              </a:solidFill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2309383" y="388810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</p:grpSp>
      <p:grpSp>
        <p:nvGrpSpPr>
          <p:cNvPr id="68" name="c1-text-3"/>
          <p:cNvGrpSpPr/>
          <p:nvPr/>
        </p:nvGrpSpPr>
        <p:grpSpPr>
          <a:xfrm>
            <a:off x="527304" y="4332922"/>
            <a:ext cx="2732532" cy="470916"/>
            <a:chOff x="527304" y="4332922"/>
            <a:chExt cx="2732532" cy="470916"/>
          </a:xfrm>
        </p:grpSpPr>
        <p:sp>
          <p:nvSpPr>
            <p:cNvPr id="67" name="TextBox 67"/>
            <p:cNvSpPr txBox="1"/>
            <p:nvPr/>
          </p:nvSpPr>
          <p:spPr>
            <a:xfrm>
              <a:off x="527304" y="4332922"/>
              <a:ext cx="2732532" cy="470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60"/>
                </a:lnSpc>
              </a:pPr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格内为行号 − 列号，高亮一条值为 −1 的</a:t>
              </a:r>
              <a:br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斜线</a:t>
              </a:r>
            </a:p>
          </p:txBody>
        </p:sp>
      </p:grpSp>
      <p:grpSp>
        <p:nvGrpSpPr>
          <p:cNvPr id="75" name="c1-card-4"/>
          <p:cNvGrpSpPr/>
          <p:nvPr/>
        </p:nvGrpSpPr>
        <p:grpSpPr>
          <a:xfrm>
            <a:off x="533400" y="4936808"/>
            <a:ext cx="2839402" cy="1405890"/>
            <a:chOff x="533400" y="4936808"/>
            <a:chExt cx="2839402" cy="1405890"/>
          </a:xfrm>
        </p:grpSpPr>
        <p:sp>
          <p:nvSpPr>
            <p:cNvPr id="69" name="Rectangle 69"/>
            <p:cNvSpPr/>
            <p:nvPr/>
          </p:nvSpPr>
          <p:spPr>
            <a:xfrm>
              <a:off x="533400" y="4936808"/>
              <a:ext cx="2839402" cy="1405890"/>
            </a:xfrm>
            <a:prstGeom prst="roundRect">
              <a:avLst>
                <a:gd name="adj" fmla="val 948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70" name="Rectangle 70"/>
            <p:cNvSpPr/>
            <p:nvPr/>
          </p:nvSpPr>
          <p:spPr>
            <a:xfrm>
              <a:off x="542925" y="5070158"/>
              <a:ext cx="47625" cy="113919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71" name="Rectangle 71"/>
            <p:cNvSpPr/>
            <p:nvPr/>
          </p:nvSpPr>
          <p:spPr>
            <a:xfrm>
              <a:off x="769620" y="5134928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861060" y="5169218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检验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762381" y="5495449"/>
              <a:ext cx="232751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(2, 3) 与 (4, 5)：都是 −1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762381" y="5813584"/>
              <a:ext cx="16488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|3 − 5| = 2 = |2 − 4|</a:t>
              </a:r>
            </a:p>
          </p:txBody>
        </p:sp>
      </p:grpSp>
      <p:grpSp>
        <p:nvGrpSpPr>
          <p:cNvPr id="77" name="c2-text-1"/>
          <p:cNvGrpSpPr/>
          <p:nvPr/>
        </p:nvGrpSpPr>
        <p:grpSpPr>
          <a:xfrm>
            <a:off x="3671507" y="1974532"/>
            <a:ext cx="2493912" cy="234696"/>
            <a:chOff x="3671507" y="1974532"/>
            <a:chExt cx="2493912" cy="234696"/>
          </a:xfrm>
        </p:grpSpPr>
        <p:sp>
          <p:nvSpPr>
            <p:cNvPr id="76" name="TextBox 76"/>
            <p:cNvSpPr txBox="1"/>
            <p:nvPr/>
          </p:nvSpPr>
          <p:spPr>
            <a:xfrm>
              <a:off x="3671507" y="1974532"/>
              <a:ext cx="2493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右上到左下的斜线："行 + 列"相同</a:t>
              </a:r>
            </a:p>
          </p:txBody>
        </p:sp>
      </p:grpSp>
      <p:grpSp>
        <p:nvGrpSpPr>
          <p:cNvPr id="133" name="c2-cells-2"/>
          <p:cNvGrpSpPr/>
          <p:nvPr/>
        </p:nvGrpSpPr>
        <p:grpSpPr>
          <a:xfrm>
            <a:off x="3672268" y="2342198"/>
            <a:ext cx="2006537" cy="1790700"/>
            <a:chOff x="3672268" y="2342198"/>
            <a:chExt cx="2006537" cy="1790700"/>
          </a:xfrm>
        </p:grpSpPr>
        <p:sp>
          <p:nvSpPr>
            <p:cNvPr id="78" name="TextBox 78"/>
            <p:cNvSpPr txBox="1"/>
            <p:nvPr/>
          </p:nvSpPr>
          <p:spPr>
            <a:xfrm>
              <a:off x="3672268" y="245554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79" name="Rectangle 79"/>
            <p:cNvSpPr/>
            <p:nvPr/>
          </p:nvSpPr>
          <p:spPr>
            <a:xfrm>
              <a:off x="3888105" y="2342198"/>
              <a:ext cx="358140" cy="35814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F4B9A"/>
              </a:solidFill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4021026" y="245554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81" name="Rectangle 81"/>
            <p:cNvSpPr/>
            <p:nvPr/>
          </p:nvSpPr>
          <p:spPr>
            <a:xfrm>
              <a:off x="4246245" y="2342198"/>
              <a:ext cx="358140" cy="35814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F4B9A"/>
              </a:solidFill>
            </a:ln>
          </p:spPr>
        </p:sp>
        <p:sp>
          <p:nvSpPr>
            <p:cNvPr id="82" name="TextBox 82"/>
            <p:cNvSpPr txBox="1"/>
            <p:nvPr/>
          </p:nvSpPr>
          <p:spPr>
            <a:xfrm>
              <a:off x="4379166" y="245554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83" name="Rectangle 83"/>
            <p:cNvSpPr/>
            <p:nvPr/>
          </p:nvSpPr>
          <p:spPr>
            <a:xfrm>
              <a:off x="4604385" y="2342198"/>
              <a:ext cx="358140" cy="35814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F4B9A"/>
              </a:solidFill>
            </a:ln>
          </p:spPr>
        </p:sp>
        <p:sp>
          <p:nvSpPr>
            <p:cNvPr id="84" name="TextBox 84"/>
            <p:cNvSpPr txBox="1"/>
            <p:nvPr/>
          </p:nvSpPr>
          <p:spPr>
            <a:xfrm>
              <a:off x="4737306" y="245554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85" name="Rectangle 85"/>
            <p:cNvSpPr/>
            <p:nvPr/>
          </p:nvSpPr>
          <p:spPr>
            <a:xfrm>
              <a:off x="4962525" y="2342198"/>
              <a:ext cx="358140" cy="35814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F4B9A"/>
              </a:solidFill>
            </a:ln>
          </p:spPr>
        </p:sp>
        <p:sp>
          <p:nvSpPr>
            <p:cNvPr id="86" name="TextBox 86"/>
            <p:cNvSpPr txBox="1"/>
            <p:nvPr/>
          </p:nvSpPr>
          <p:spPr>
            <a:xfrm>
              <a:off x="5095446" y="245554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87" name="Rectangle 87"/>
            <p:cNvSpPr/>
            <p:nvPr/>
          </p:nvSpPr>
          <p:spPr>
            <a:xfrm>
              <a:off x="5320665" y="2342198"/>
              <a:ext cx="358140" cy="35814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88" name="TextBox 88"/>
            <p:cNvSpPr txBox="1"/>
            <p:nvPr/>
          </p:nvSpPr>
          <p:spPr>
            <a:xfrm>
              <a:off x="5453586" y="245554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3672268" y="281368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90" name="Rectangle 90"/>
            <p:cNvSpPr/>
            <p:nvPr/>
          </p:nvSpPr>
          <p:spPr>
            <a:xfrm>
              <a:off x="3888105" y="2700338"/>
              <a:ext cx="358140" cy="35814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F4B9A"/>
              </a:solidFill>
            </a:ln>
          </p:spPr>
        </p:sp>
        <p:sp>
          <p:nvSpPr>
            <p:cNvPr id="91" name="TextBox 91"/>
            <p:cNvSpPr txBox="1"/>
            <p:nvPr/>
          </p:nvSpPr>
          <p:spPr>
            <a:xfrm>
              <a:off x="4021026" y="281368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92" name="Rectangle 92"/>
            <p:cNvSpPr/>
            <p:nvPr/>
          </p:nvSpPr>
          <p:spPr>
            <a:xfrm>
              <a:off x="4246245" y="2700338"/>
              <a:ext cx="358140" cy="35814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F4B9A"/>
              </a:solidFill>
            </a:ln>
          </p:spPr>
        </p:sp>
        <p:sp>
          <p:nvSpPr>
            <p:cNvPr id="93" name="TextBox 93"/>
            <p:cNvSpPr txBox="1"/>
            <p:nvPr/>
          </p:nvSpPr>
          <p:spPr>
            <a:xfrm>
              <a:off x="4379166" y="281368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94" name="Rectangle 94"/>
            <p:cNvSpPr/>
            <p:nvPr/>
          </p:nvSpPr>
          <p:spPr>
            <a:xfrm>
              <a:off x="4604385" y="2700338"/>
              <a:ext cx="358140" cy="35814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F4B9A"/>
              </a:solidFill>
            </a:ln>
          </p:spPr>
        </p:sp>
        <p:sp>
          <p:nvSpPr>
            <p:cNvPr id="95" name="TextBox 95"/>
            <p:cNvSpPr txBox="1"/>
            <p:nvPr/>
          </p:nvSpPr>
          <p:spPr>
            <a:xfrm>
              <a:off x="4737306" y="281368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96" name="Rectangle 96"/>
            <p:cNvSpPr/>
            <p:nvPr/>
          </p:nvSpPr>
          <p:spPr>
            <a:xfrm>
              <a:off x="4962525" y="2700338"/>
              <a:ext cx="358140" cy="35814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97" name="TextBox 97"/>
            <p:cNvSpPr txBox="1"/>
            <p:nvPr/>
          </p:nvSpPr>
          <p:spPr>
            <a:xfrm>
              <a:off x="5095446" y="281368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98" name="Rectangle 98"/>
            <p:cNvSpPr/>
            <p:nvPr/>
          </p:nvSpPr>
          <p:spPr>
            <a:xfrm>
              <a:off x="5320665" y="2700338"/>
              <a:ext cx="358140" cy="35814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F4B9A"/>
              </a:solidFill>
            </a:ln>
          </p:spPr>
        </p:sp>
        <p:sp>
          <p:nvSpPr>
            <p:cNvPr id="99" name="TextBox 99"/>
            <p:cNvSpPr txBox="1"/>
            <p:nvPr/>
          </p:nvSpPr>
          <p:spPr>
            <a:xfrm>
              <a:off x="5453586" y="281368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100" name="TextBox 100"/>
            <p:cNvSpPr txBox="1"/>
            <p:nvPr/>
          </p:nvSpPr>
          <p:spPr>
            <a:xfrm>
              <a:off x="3672268" y="317182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01" name="Rectangle 101"/>
            <p:cNvSpPr/>
            <p:nvPr/>
          </p:nvSpPr>
          <p:spPr>
            <a:xfrm>
              <a:off x="3888105" y="3058478"/>
              <a:ext cx="358140" cy="35814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F4B9A"/>
              </a:solidFill>
            </a:ln>
          </p:spPr>
        </p:sp>
        <p:sp>
          <p:nvSpPr>
            <p:cNvPr id="102" name="TextBox 102"/>
            <p:cNvSpPr txBox="1"/>
            <p:nvPr/>
          </p:nvSpPr>
          <p:spPr>
            <a:xfrm>
              <a:off x="4021026" y="317182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03" name="Rectangle 103"/>
            <p:cNvSpPr/>
            <p:nvPr/>
          </p:nvSpPr>
          <p:spPr>
            <a:xfrm>
              <a:off x="4246245" y="3058478"/>
              <a:ext cx="358140" cy="35814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F4B9A"/>
              </a:solidFill>
            </a:ln>
          </p:spPr>
        </p:sp>
        <p:sp>
          <p:nvSpPr>
            <p:cNvPr id="104" name="TextBox 104"/>
            <p:cNvSpPr txBox="1"/>
            <p:nvPr/>
          </p:nvSpPr>
          <p:spPr>
            <a:xfrm>
              <a:off x="4379166" y="317182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105" name="Rectangle 105"/>
            <p:cNvSpPr/>
            <p:nvPr/>
          </p:nvSpPr>
          <p:spPr>
            <a:xfrm>
              <a:off x="4604385" y="3058478"/>
              <a:ext cx="358140" cy="35814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106" name="TextBox 106"/>
            <p:cNvSpPr txBox="1"/>
            <p:nvPr/>
          </p:nvSpPr>
          <p:spPr>
            <a:xfrm>
              <a:off x="4737306" y="317182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107" name="Rectangle 107"/>
            <p:cNvSpPr/>
            <p:nvPr/>
          </p:nvSpPr>
          <p:spPr>
            <a:xfrm>
              <a:off x="4962525" y="3058478"/>
              <a:ext cx="358140" cy="35814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F4B9A"/>
              </a:solidFill>
            </a:ln>
          </p:spPr>
        </p:sp>
        <p:sp>
          <p:nvSpPr>
            <p:cNvPr id="108" name="TextBox 108"/>
            <p:cNvSpPr txBox="1"/>
            <p:nvPr/>
          </p:nvSpPr>
          <p:spPr>
            <a:xfrm>
              <a:off x="5095446" y="317182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109" name="Rectangle 109"/>
            <p:cNvSpPr/>
            <p:nvPr/>
          </p:nvSpPr>
          <p:spPr>
            <a:xfrm>
              <a:off x="5320665" y="3058478"/>
              <a:ext cx="358140" cy="35814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F4B9A"/>
              </a:solidFill>
            </a:ln>
          </p:spPr>
        </p:sp>
        <p:sp>
          <p:nvSpPr>
            <p:cNvPr id="110" name="TextBox 110"/>
            <p:cNvSpPr txBox="1"/>
            <p:nvPr/>
          </p:nvSpPr>
          <p:spPr>
            <a:xfrm>
              <a:off x="5453586" y="317182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111" name="TextBox 111"/>
            <p:cNvSpPr txBox="1"/>
            <p:nvPr/>
          </p:nvSpPr>
          <p:spPr>
            <a:xfrm>
              <a:off x="3672268" y="352996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12" name="Rectangle 112"/>
            <p:cNvSpPr/>
            <p:nvPr/>
          </p:nvSpPr>
          <p:spPr>
            <a:xfrm>
              <a:off x="3888105" y="3416618"/>
              <a:ext cx="358140" cy="35814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F4B9A"/>
              </a:solidFill>
            </a:ln>
          </p:spPr>
        </p:sp>
        <p:sp>
          <p:nvSpPr>
            <p:cNvPr id="113" name="TextBox 113"/>
            <p:cNvSpPr txBox="1"/>
            <p:nvPr/>
          </p:nvSpPr>
          <p:spPr>
            <a:xfrm>
              <a:off x="4021026" y="352996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114" name="Rectangle 114"/>
            <p:cNvSpPr/>
            <p:nvPr/>
          </p:nvSpPr>
          <p:spPr>
            <a:xfrm>
              <a:off x="4246245" y="3416618"/>
              <a:ext cx="358140" cy="35814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115" name="TextBox 115"/>
            <p:cNvSpPr txBox="1"/>
            <p:nvPr/>
          </p:nvSpPr>
          <p:spPr>
            <a:xfrm>
              <a:off x="4379166" y="352996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116" name="Rectangle 116"/>
            <p:cNvSpPr/>
            <p:nvPr/>
          </p:nvSpPr>
          <p:spPr>
            <a:xfrm>
              <a:off x="4604385" y="3416618"/>
              <a:ext cx="358140" cy="35814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F4B9A"/>
              </a:solidFill>
            </a:ln>
          </p:spPr>
        </p:sp>
        <p:sp>
          <p:nvSpPr>
            <p:cNvPr id="117" name="TextBox 117"/>
            <p:cNvSpPr txBox="1"/>
            <p:nvPr/>
          </p:nvSpPr>
          <p:spPr>
            <a:xfrm>
              <a:off x="4737306" y="352996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118" name="Rectangle 118"/>
            <p:cNvSpPr/>
            <p:nvPr/>
          </p:nvSpPr>
          <p:spPr>
            <a:xfrm>
              <a:off x="4962525" y="3416618"/>
              <a:ext cx="358140" cy="35814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F4B9A"/>
              </a:solidFill>
            </a:ln>
          </p:spPr>
        </p:sp>
        <p:sp>
          <p:nvSpPr>
            <p:cNvPr id="119" name="TextBox 119"/>
            <p:cNvSpPr txBox="1"/>
            <p:nvPr/>
          </p:nvSpPr>
          <p:spPr>
            <a:xfrm>
              <a:off x="5095446" y="352996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120" name="Rectangle 120"/>
            <p:cNvSpPr/>
            <p:nvPr/>
          </p:nvSpPr>
          <p:spPr>
            <a:xfrm>
              <a:off x="5320665" y="3416618"/>
              <a:ext cx="358140" cy="35814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F4B9A"/>
              </a:solidFill>
            </a:ln>
          </p:spPr>
        </p:sp>
        <p:sp>
          <p:nvSpPr>
            <p:cNvPr id="121" name="TextBox 121"/>
            <p:cNvSpPr txBox="1"/>
            <p:nvPr/>
          </p:nvSpPr>
          <p:spPr>
            <a:xfrm>
              <a:off x="5453586" y="352996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122" name="TextBox 122"/>
            <p:cNvSpPr txBox="1"/>
            <p:nvPr/>
          </p:nvSpPr>
          <p:spPr>
            <a:xfrm>
              <a:off x="3672268" y="388810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123" name="Rectangle 123"/>
            <p:cNvSpPr/>
            <p:nvPr/>
          </p:nvSpPr>
          <p:spPr>
            <a:xfrm>
              <a:off x="3888105" y="3774758"/>
              <a:ext cx="358140" cy="35814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124" name="TextBox 124"/>
            <p:cNvSpPr txBox="1"/>
            <p:nvPr/>
          </p:nvSpPr>
          <p:spPr>
            <a:xfrm>
              <a:off x="4021026" y="388810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125" name="Rectangle 125"/>
            <p:cNvSpPr/>
            <p:nvPr/>
          </p:nvSpPr>
          <p:spPr>
            <a:xfrm>
              <a:off x="4246245" y="3774758"/>
              <a:ext cx="358140" cy="35814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F4B9A"/>
              </a:solidFill>
            </a:ln>
          </p:spPr>
        </p:sp>
        <p:sp>
          <p:nvSpPr>
            <p:cNvPr id="126" name="TextBox 126"/>
            <p:cNvSpPr txBox="1"/>
            <p:nvPr/>
          </p:nvSpPr>
          <p:spPr>
            <a:xfrm>
              <a:off x="4379166" y="388810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127" name="Rectangle 127"/>
            <p:cNvSpPr/>
            <p:nvPr/>
          </p:nvSpPr>
          <p:spPr>
            <a:xfrm>
              <a:off x="4604385" y="3774758"/>
              <a:ext cx="358140" cy="35814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F4B9A"/>
              </a:solidFill>
            </a:ln>
          </p:spPr>
        </p:sp>
        <p:sp>
          <p:nvSpPr>
            <p:cNvPr id="128" name="TextBox 128"/>
            <p:cNvSpPr txBox="1"/>
            <p:nvPr/>
          </p:nvSpPr>
          <p:spPr>
            <a:xfrm>
              <a:off x="4737306" y="388810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129" name="Rectangle 129"/>
            <p:cNvSpPr/>
            <p:nvPr/>
          </p:nvSpPr>
          <p:spPr>
            <a:xfrm>
              <a:off x="4962525" y="3774758"/>
              <a:ext cx="358140" cy="35814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F4B9A"/>
              </a:solidFill>
            </a:ln>
          </p:spPr>
        </p:sp>
        <p:sp>
          <p:nvSpPr>
            <p:cNvPr id="130" name="TextBox 130"/>
            <p:cNvSpPr txBox="1"/>
            <p:nvPr/>
          </p:nvSpPr>
          <p:spPr>
            <a:xfrm>
              <a:off x="5095446" y="388810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131" name="Rectangle 131"/>
            <p:cNvSpPr/>
            <p:nvPr/>
          </p:nvSpPr>
          <p:spPr>
            <a:xfrm>
              <a:off x="5320665" y="3774758"/>
              <a:ext cx="358140" cy="35814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F4B9A"/>
              </a:solidFill>
            </a:ln>
          </p:spPr>
        </p:sp>
        <p:sp>
          <p:nvSpPr>
            <p:cNvPr id="132" name="TextBox 132"/>
            <p:cNvSpPr txBox="1"/>
            <p:nvPr/>
          </p:nvSpPr>
          <p:spPr>
            <a:xfrm>
              <a:off x="5412771" y="3888105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</p:grpSp>
      <p:grpSp>
        <p:nvGrpSpPr>
          <p:cNvPr id="135" name="c2-text-3"/>
          <p:cNvGrpSpPr/>
          <p:nvPr/>
        </p:nvGrpSpPr>
        <p:grpSpPr>
          <a:xfrm>
            <a:off x="3671507" y="4332922"/>
            <a:ext cx="2648712" cy="470916"/>
            <a:chOff x="3671507" y="4332922"/>
            <a:chExt cx="2648712" cy="470916"/>
          </a:xfrm>
        </p:grpSpPr>
        <p:sp>
          <p:nvSpPr>
            <p:cNvPr id="134" name="TextBox 134"/>
            <p:cNvSpPr txBox="1"/>
            <p:nvPr/>
          </p:nvSpPr>
          <p:spPr>
            <a:xfrm>
              <a:off x="3671507" y="4332922"/>
              <a:ext cx="2648712" cy="470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60"/>
                </a:lnSpc>
              </a:pPr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格内为行号 + 列号，高亮一条值为 6 的</a:t>
              </a:r>
              <a:br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斜线</a:t>
              </a:r>
            </a:p>
          </p:txBody>
        </p:sp>
      </p:grpSp>
      <p:grpSp>
        <p:nvGrpSpPr>
          <p:cNvPr id="142" name="c2-card-4"/>
          <p:cNvGrpSpPr/>
          <p:nvPr/>
        </p:nvGrpSpPr>
        <p:grpSpPr>
          <a:xfrm>
            <a:off x="3677602" y="4936808"/>
            <a:ext cx="2839402" cy="1405890"/>
            <a:chOff x="3677602" y="4936808"/>
            <a:chExt cx="2839402" cy="1405890"/>
          </a:xfrm>
        </p:grpSpPr>
        <p:sp>
          <p:nvSpPr>
            <p:cNvPr id="136" name="Rectangle 136"/>
            <p:cNvSpPr/>
            <p:nvPr/>
          </p:nvSpPr>
          <p:spPr>
            <a:xfrm>
              <a:off x="3677602" y="4936808"/>
              <a:ext cx="2839402" cy="1405890"/>
            </a:xfrm>
            <a:prstGeom prst="roundRect">
              <a:avLst>
                <a:gd name="adj" fmla="val 948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37" name="Rectangle 137"/>
            <p:cNvSpPr/>
            <p:nvPr/>
          </p:nvSpPr>
          <p:spPr>
            <a:xfrm>
              <a:off x="3687128" y="5070158"/>
              <a:ext cx="47625" cy="113919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138" name="Rectangle 138"/>
            <p:cNvSpPr/>
            <p:nvPr/>
          </p:nvSpPr>
          <p:spPr>
            <a:xfrm>
              <a:off x="3913822" y="5134928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39" name="TextBox 139"/>
            <p:cNvSpPr txBox="1"/>
            <p:nvPr/>
          </p:nvSpPr>
          <p:spPr>
            <a:xfrm>
              <a:off x="4005262" y="5169218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检验</a:t>
              </a:r>
            </a:p>
          </p:txBody>
        </p:sp>
        <p:sp>
          <p:nvSpPr>
            <p:cNvPr id="140" name="TextBox 140"/>
            <p:cNvSpPr txBox="1"/>
            <p:nvPr/>
          </p:nvSpPr>
          <p:spPr>
            <a:xfrm>
              <a:off x="3906584" y="5495449"/>
              <a:ext cx="222238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(1, 5) 与 (4, 2)：都是 6</a:t>
              </a:r>
            </a:p>
          </p:txBody>
        </p:sp>
        <p:sp>
          <p:nvSpPr>
            <p:cNvPr id="141" name="TextBox 141"/>
            <p:cNvSpPr txBox="1"/>
            <p:nvPr/>
          </p:nvSpPr>
          <p:spPr>
            <a:xfrm>
              <a:off x="3906584" y="5813584"/>
              <a:ext cx="16488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|5 − 2| = 3 = |1 − 4|</a:t>
              </a:r>
            </a:p>
          </p:txBody>
        </p:sp>
      </p:grpSp>
      <p:grpSp>
        <p:nvGrpSpPr>
          <p:cNvPr id="153" name="c3-card-1"/>
          <p:cNvGrpSpPr/>
          <p:nvPr/>
        </p:nvGrpSpPr>
        <p:grpSpPr>
          <a:xfrm>
            <a:off x="6821805" y="1954530"/>
            <a:ext cx="4836795" cy="2686050"/>
            <a:chOff x="6821805" y="1954530"/>
            <a:chExt cx="4836795" cy="2686050"/>
          </a:xfrm>
        </p:grpSpPr>
        <p:sp>
          <p:nvSpPr>
            <p:cNvPr id="143" name="Rectangle 143"/>
            <p:cNvSpPr/>
            <p:nvPr/>
          </p:nvSpPr>
          <p:spPr>
            <a:xfrm>
              <a:off x="6821805" y="1954530"/>
              <a:ext cx="4836795" cy="2686050"/>
            </a:xfrm>
            <a:prstGeom prst="roundRect">
              <a:avLst>
                <a:gd name="adj" fmla="val 496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44" name="Rectangle 144"/>
            <p:cNvSpPr/>
            <p:nvPr/>
          </p:nvSpPr>
          <p:spPr>
            <a:xfrm>
              <a:off x="6831330" y="2087880"/>
              <a:ext cx="47625" cy="2419350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45" name="Rectangle 145"/>
            <p:cNvSpPr/>
            <p:nvPr/>
          </p:nvSpPr>
          <p:spPr>
            <a:xfrm>
              <a:off x="7058025" y="2152650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46" name="TextBox 146"/>
            <p:cNvSpPr txBox="1"/>
            <p:nvPr/>
          </p:nvSpPr>
          <p:spPr>
            <a:xfrm>
              <a:off x="7149465" y="218694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推导</a:t>
              </a:r>
            </a:p>
          </p:txBody>
        </p:sp>
        <p:sp>
          <p:nvSpPr>
            <p:cNvPr id="147" name="TextBox 147"/>
            <p:cNvSpPr txBox="1"/>
            <p:nvPr/>
          </p:nvSpPr>
          <p:spPr>
            <a:xfrm>
              <a:off x="7050786" y="2513171"/>
              <a:ext cx="364364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设两个皇后位于 (i, X(i)) 和 (k, X(k))：</a:t>
              </a:r>
            </a:p>
          </p:txBody>
        </p:sp>
        <p:sp>
          <p:nvSpPr>
            <p:cNvPr id="148" name="Ellipse 148"/>
            <p:cNvSpPr/>
            <p:nvPr/>
          </p:nvSpPr>
          <p:spPr>
            <a:xfrm>
              <a:off x="7065645" y="2890838"/>
              <a:ext cx="60960" cy="609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49" name="TextBox 149"/>
            <p:cNvSpPr txBox="1"/>
            <p:nvPr/>
          </p:nvSpPr>
          <p:spPr>
            <a:xfrm>
              <a:off x="7222236" y="2831306"/>
              <a:ext cx="3990975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左上到右下：i − X(i) = k − X(k)，即 X(i) − X(k)</a:t>
              </a:r>
              <a:br/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= i − k</a:t>
              </a:r>
            </a:p>
          </p:txBody>
        </p:sp>
        <p:sp>
          <p:nvSpPr>
            <p:cNvPr id="150" name="Ellipse 150"/>
            <p:cNvSpPr/>
            <p:nvPr/>
          </p:nvSpPr>
          <p:spPr>
            <a:xfrm>
              <a:off x="7065645" y="3480435"/>
              <a:ext cx="60960" cy="609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51" name="TextBox 151"/>
            <p:cNvSpPr txBox="1"/>
            <p:nvPr/>
          </p:nvSpPr>
          <p:spPr>
            <a:xfrm>
              <a:off x="7222236" y="3419951"/>
              <a:ext cx="3990975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右上到左下：i + X(i) = k + X(k)，即 X(i) − X(k)</a:t>
              </a:r>
              <a:br/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= k − i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52" name="formula11"/>
                <p:cNvSpPr txBox="1">
                  <a:spLocks noGrp="1"/>
                </p:cNvSpPr>
                <p:nvPr/>
              </p:nvSpPr>
              <p:spPr>
                <a:xfrm>
                  <a:off x="7058025" y="3986212"/>
                  <a:ext cx="4402455" cy="4381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d>
                          <m:dPr>
                            <m:begChr m:val="|"/>
                            <m:sepChr m:val=""/>
                            <m:endChr m:val="|"/>
                            <m:grow m:val="on"/>
                            <m:ctrlP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7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7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i</m:t>
                                </m:r>
                              </m:e>
                            </m:d>
                            <m:r>
                              <m:rPr>
                                <m:sty m:val="p"/>
                              </m:rP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7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7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k</m:t>
                                </m:r>
                              </m:e>
                            </m:d>
                          </m:e>
                        </m:d>
                        <m:r>
                          <m:rPr>
                            <m:sty m:val="p"/>
                          </m:rPr>
                          <a:rPr lang="zh-CN" sz="17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d>
                          <m:dPr>
                            <m:begChr m:val="|"/>
                            <m:sepChr m:val=""/>
                            <m:endChr m:val="|"/>
                            <m:grow m:val="on"/>
                            <m:ctrlP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  <m:r>
                              <m:rPr>
                                <m:sty m:val="p"/>
                              </m:rP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k</m:t>
                            </m:r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158" name="c3-card-2"/>
          <p:cNvGrpSpPr/>
          <p:nvPr/>
        </p:nvGrpSpPr>
        <p:grpSpPr>
          <a:xfrm>
            <a:off x="6821805" y="4820602"/>
            <a:ext cx="4836795" cy="1522095"/>
            <a:chOff x="6821805" y="4820602"/>
            <a:chExt cx="4836795" cy="1522095"/>
          </a:xfrm>
        </p:grpSpPr>
        <p:sp>
          <p:nvSpPr>
            <p:cNvPr id="154" name="Rectangle 154"/>
            <p:cNvSpPr/>
            <p:nvPr/>
          </p:nvSpPr>
          <p:spPr>
            <a:xfrm>
              <a:off x="6821805" y="4820602"/>
              <a:ext cx="4836795" cy="1522095"/>
            </a:xfrm>
            <a:prstGeom prst="roundRect">
              <a:avLst>
                <a:gd name="adj" fmla="val 8761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55" name="Rectangle 155"/>
            <p:cNvSpPr/>
            <p:nvPr/>
          </p:nvSpPr>
          <p:spPr>
            <a:xfrm>
              <a:off x="7019925" y="5018722"/>
              <a:ext cx="1267778" cy="247650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156" name="TextBox 156"/>
            <p:cNvSpPr txBox="1"/>
            <p:nvPr/>
          </p:nvSpPr>
          <p:spPr>
            <a:xfrm>
              <a:off x="7070741" y="5053012"/>
              <a:ext cx="116519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PLACE(k) 的判断</a:t>
              </a:r>
            </a:p>
          </p:txBody>
        </p:sp>
        <p:sp>
          <p:nvSpPr>
            <p:cNvPr id="157" name="TextBox 157"/>
            <p:cNvSpPr txBox="1"/>
            <p:nvPr/>
          </p:nvSpPr>
          <p:spPr>
            <a:xfrm>
              <a:off x="7012686" y="5379244"/>
              <a:ext cx="4162298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前 k−1 行已放好。X(k) 与每个 X(i)（i &lt; k）比较，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出现 X(k) = X(i) 或 |X(i) − X(k)| = |i − k| 就返回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false，否则返回 true。</a:t>
              </a:r>
            </a:p>
          </p:txBody>
        </p:sp>
      </p:grpSp>
      <p:grpSp>
        <p:nvGrpSpPr>
          <p:cNvPr id="16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59" name="TextBox 159"/>
            <p:cNvSpPr txBox="1"/>
            <p:nvPr/>
          </p:nvSpPr>
          <p:spPr>
            <a:xfrm>
              <a:off x="528447" y="6581299"/>
              <a:ext cx="18568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第7章 回溯法</a:t>
              </a:r>
            </a:p>
          </p:txBody>
        </p:sp>
        <p:sp>
          <p:nvSpPr>
            <p:cNvPr id="160" name="TextBox 16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160145" cy="909257"/>
            <a:chOff x="520446" y="342900"/>
            <a:chExt cx="616014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009775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8702" y="407194"/>
              <a:ext cx="18591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第7章 回溯法 · n-皇后问题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16014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算法 7.4 PLACE 与算法 7.5 NQUEENS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4328160" cy="3545205"/>
            <a:chOff x="533400" y="1524000"/>
            <a:chExt cx="4328160" cy="354520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328160" cy="3545205"/>
            </a:xfrm>
            <a:prstGeom prst="roundRect">
              <a:avLst>
                <a:gd name="adj" fmla="val 2687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17727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 7.4 能否放置一个新皇后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035" y="1937861"/>
              <a:ext cx="2529078" cy="3060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procedure PLACE(k)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皇后能放在第 k 行第 X(k) 列时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返回 true，否则返回 false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X 是全局数组，已置入 k 个值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integer i, k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i ← 1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while i &lt; k do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if X(i) = X(k) or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ABS(X(i)-X(k)) = ABS(i-k)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then return false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endif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i ← i + 1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repeat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return true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end PLACE</a:t>
              </a:r>
            </a:p>
          </p:txBody>
        </p:sp>
      </p:grpSp>
      <p:grpSp>
        <p:nvGrpSpPr>
          <p:cNvPr id="14" name="c2-code-1"/>
          <p:cNvGrpSpPr/>
          <p:nvPr/>
        </p:nvGrpSpPr>
        <p:grpSpPr>
          <a:xfrm>
            <a:off x="5166360" y="1524000"/>
            <a:ext cx="6492240" cy="3748088"/>
            <a:chOff x="5166360" y="1524000"/>
            <a:chExt cx="6492240" cy="3748088"/>
          </a:xfrm>
        </p:grpSpPr>
        <p:sp>
          <p:nvSpPr>
            <p:cNvPr id="11" name="Rectangle 11"/>
            <p:cNvSpPr/>
            <p:nvPr/>
          </p:nvSpPr>
          <p:spPr>
            <a:xfrm>
              <a:off x="5166360" y="1524000"/>
              <a:ext cx="6492240" cy="3748088"/>
            </a:xfrm>
            <a:prstGeom prst="roundRect">
              <a:avLst>
                <a:gd name="adj" fmla="val 2541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5294757" y="1675924"/>
              <a:ext cx="19251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 7.5 n-皇后问题的回溯算法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293995" y="1937861"/>
              <a:ext cx="3965702" cy="32632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procedure NQUEENS(n)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integer k, n, X(1:n)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X(1) ← 0; k ← 1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while k &gt; 0 do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X(k) ← X(k) + 1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while X(k) ≤ n and not PLACE(k) do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X(k) ← X(k) + 1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当前列不能放，放到下一列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repeat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if X(k) ≤ n then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if k = n then print(X)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else k ← k + 1; X(k) ← 0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准备放下一个皇后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endif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else k ← k - 1  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没有合适的位置，回溯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endif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repeat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end NQUEENS</a:t>
              </a:r>
            </a:p>
          </p:txBody>
        </p:sp>
      </p:grpSp>
      <p:grpSp>
        <p:nvGrpSpPr>
          <p:cNvPr id="21" name="takeaway"/>
          <p:cNvGrpSpPr/>
          <p:nvPr/>
        </p:nvGrpSpPr>
        <p:grpSpPr>
          <a:xfrm>
            <a:off x="533400" y="5829300"/>
            <a:ext cx="11170920" cy="533400"/>
            <a:chOff x="533400" y="5829300"/>
            <a:chExt cx="11170920" cy="533400"/>
          </a:xfrm>
        </p:grpSpPr>
        <p:sp>
          <p:nvSpPr>
            <p:cNvPr id="15" name="Rectangle 15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19" name="Group 19"/>
            <p:cNvGrpSpPr/>
            <p:nvPr/>
          </p:nvGrpSpPr>
          <p:grpSpPr>
            <a:xfrm>
              <a:off x="738188" y="5995988"/>
              <a:ext cx="200026" cy="200025"/>
              <a:chOff x="738188" y="5995988"/>
              <a:chExt cx="200026" cy="200025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738188" y="599598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777926" y="604043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812642" y="615156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20" name="TextBox 20"/>
            <p:cNvSpPr txBox="1"/>
            <p:nvPr/>
          </p:nvSpPr>
          <p:spPr>
            <a:xfrm>
              <a:off x="1040130" y="5991225"/>
              <a:ext cx="106641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NQUEENS 是算法 7.1 的具体化：内层 while 找下一个通过 PLACE 的列，找到就前进（k+1），找不到就回溯（k−1）。</a:t>
              </a:r>
            </a:p>
          </p:txBody>
        </p:sp>
      </p:grpSp>
      <p:grpSp>
        <p:nvGrpSpPr>
          <p:cNvPr id="2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22" name="TextBox 22"/>
            <p:cNvSpPr txBox="1"/>
            <p:nvPr/>
          </p:nvSpPr>
          <p:spPr>
            <a:xfrm>
              <a:off x="528447" y="6581299"/>
              <a:ext cx="18568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第7章 回溯法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831810" cy="909257"/>
            <a:chOff x="520446" y="342900"/>
            <a:chExt cx="683181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009775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8702" y="407194"/>
              <a:ext cx="18591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第7章 回溯法 · n-皇后问题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83181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NQUEENS 为什么不漏解，最坏要花多少时间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3" name="c1-card-1"/>
          <p:cNvGrpSpPr/>
          <p:nvPr/>
        </p:nvGrpSpPr>
        <p:grpSpPr>
          <a:xfrm>
            <a:off x="533400" y="1524000"/>
            <a:ext cx="5626418" cy="2893695"/>
            <a:chOff x="533400" y="1524000"/>
            <a:chExt cx="5626418" cy="289369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2893695"/>
            </a:xfrm>
            <a:prstGeom prst="roundRect">
              <a:avLst>
                <a:gd name="adj" fmla="val 460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62699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921068" cy="25717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8457" y="1769269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正确性要点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81050" y="2097405"/>
              <a:ext cx="213360" cy="2133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42899" y="213969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82040" y="2110740"/>
              <a:ext cx="431634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行：第 k 个皇后固定放在第 k 行，不会有行冲突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81050" y="2432685"/>
              <a:ext cx="213360" cy="2133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42899" y="247497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82040" y="2446020"/>
              <a:ext cx="42633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列与斜线：PLACE 检查新皇后与前 k−1 个皇后；前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k−1 个皇后之间的冲突在它们放下时已经检查过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781050" y="3053715"/>
              <a:ext cx="213360" cy="2133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42899" y="309600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082040" y="3067050"/>
              <a:ext cx="4396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不漏不重：每行的列号从 1 递增试到 n；回溯回来时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X(k) 接着上次的列加 1，不会重复试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781050" y="3674745"/>
              <a:ext cx="213360" cy="2133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42899" y="371703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82040" y="3688080"/>
              <a:ext cx="45300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找全部解：k = n 时打印后不前进，继续试第 n 行的下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一列，所以能输出全部解</a:t>
              </a:r>
            </a:p>
          </p:txBody>
        </p:sp>
      </p:grpSp>
      <p:grpSp>
        <p:nvGrpSpPr>
          <p:cNvPr id="29" name="c1-callout-2"/>
          <p:cNvGrpSpPr/>
          <p:nvPr/>
        </p:nvGrpSpPr>
        <p:grpSpPr>
          <a:xfrm>
            <a:off x="533400" y="4608195"/>
            <a:ext cx="5626418" cy="808672"/>
            <a:chOff x="533400" y="4608195"/>
            <a:chExt cx="5626418" cy="808672"/>
          </a:xfrm>
        </p:grpSpPr>
        <p:sp>
          <p:nvSpPr>
            <p:cNvPr id="24" name="Rectangle 24"/>
            <p:cNvSpPr/>
            <p:nvPr/>
          </p:nvSpPr>
          <p:spPr>
            <a:xfrm>
              <a:off x="533400" y="4608195"/>
              <a:ext cx="5626418" cy="808672"/>
            </a:xfrm>
            <a:prstGeom prst="roundRect">
              <a:avLst>
                <a:gd name="adj" fmla="val 14134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27" name="Group 27"/>
            <p:cNvGrpSpPr/>
            <p:nvPr/>
          </p:nvGrpSpPr>
          <p:grpSpPr>
            <a:xfrm>
              <a:off x="738188" y="4912995"/>
              <a:ext cx="200026" cy="200026"/>
              <a:chOff x="738188" y="4912995"/>
              <a:chExt cx="200026" cy="200026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738188" y="491299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804863" y="4990783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28" name="TextBox 28"/>
            <p:cNvSpPr txBox="1"/>
            <p:nvPr/>
          </p:nvSpPr>
          <p:spPr>
            <a:xfrm>
              <a:off x="1040130" y="4770120"/>
              <a:ext cx="35966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脚本验证：4-皇后有 2 个解 (2,4,1,3) 和</a:t>
              </a:r>
              <a:br/>
              <a:r>
                <a:rPr lang="zh-CN" sz="15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(3,1,4,2)；8-皇后有 92 个解。</a:t>
              </a:r>
            </a:p>
          </p:txBody>
        </p:sp>
      </p:grpSp>
      <p:grpSp>
        <p:nvGrpSpPr>
          <p:cNvPr id="51" name="c2-table-1"/>
          <p:cNvGrpSpPr/>
          <p:nvPr/>
        </p:nvGrpSpPr>
        <p:grpSpPr>
          <a:xfrm>
            <a:off x="6464618" y="1524000"/>
            <a:ext cx="5193982" cy="2919412"/>
            <a:chOff x="6464618" y="1524000"/>
            <a:chExt cx="5193982" cy="2919412"/>
          </a:xfrm>
        </p:grpSpPr>
        <p:sp>
          <p:nvSpPr>
            <p:cNvPr id="30" name="Rectangle 30"/>
            <p:cNvSpPr/>
            <p:nvPr/>
          </p:nvSpPr>
          <p:spPr>
            <a:xfrm>
              <a:off x="6464618" y="1524000"/>
              <a:ext cx="5193982" cy="448628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168794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项目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9766262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结果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572441" y="2108359"/>
              <a:ext cx="94065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PLACE 一次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338376" y="2108359"/>
              <a:ext cx="160587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O(k)，不超过 O(n)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6464618" y="2416492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6464618" y="2421255"/>
              <a:ext cx="5193982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572441" y="2556986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每个活结点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338376" y="2556986"/>
              <a:ext cx="266186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最多试 n 列，每列调用一次 PLACE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6464618" y="2866072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572441" y="3118961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活结点个数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338376" y="3005614"/>
              <a:ext cx="3004058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列互不相同，不超过排列树结点数 1 + n +</a:t>
              </a:r>
              <a:br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n(n−1) + … + n! ≤ e·n!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6464618" y="3541395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6464618" y="3546158"/>
              <a:ext cx="5193982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572441" y="3680936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最坏时间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8338376" y="3680936"/>
              <a:ext cx="286779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O(n²·n!)，属于 O(q(n)·n!) 的形式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6464618" y="3990022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572441" y="4130516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空间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8338376" y="4130516"/>
              <a:ext cx="110990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O(n)：数组 X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6464618" y="1524000"/>
              <a:ext cx="5193982" cy="291941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0" name="Rectangle 50"/>
            <p:cNvSpPr/>
            <p:nvPr/>
          </p:nvSpPr>
          <p:spPr>
            <a:xfrm>
              <a:off x="8225790" y="1524000"/>
              <a:ext cx="9525" cy="291941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8" name="c2-callout-2"/>
          <p:cNvGrpSpPr/>
          <p:nvPr/>
        </p:nvGrpSpPr>
        <p:grpSpPr>
          <a:xfrm>
            <a:off x="6464618" y="4633912"/>
            <a:ext cx="5193982" cy="782955"/>
            <a:chOff x="6464618" y="4633912"/>
            <a:chExt cx="5193982" cy="782955"/>
          </a:xfrm>
        </p:grpSpPr>
        <p:sp>
          <p:nvSpPr>
            <p:cNvPr id="52" name="Rectangle 52"/>
            <p:cNvSpPr/>
            <p:nvPr/>
          </p:nvSpPr>
          <p:spPr>
            <a:xfrm>
              <a:off x="6464618" y="4633912"/>
              <a:ext cx="5193982" cy="782955"/>
            </a:xfrm>
            <a:prstGeom prst="roundRect">
              <a:avLst>
                <a:gd name="adj" fmla="val 1459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56" name="Group 56"/>
            <p:cNvGrpSpPr/>
            <p:nvPr/>
          </p:nvGrpSpPr>
          <p:grpSpPr>
            <a:xfrm>
              <a:off x="6669405" y="4925378"/>
              <a:ext cx="200026" cy="200026"/>
              <a:chOff x="6669405" y="4925378"/>
              <a:chExt cx="200026" cy="200026"/>
            </a:xfrm>
          </p:grpSpPr>
          <p:sp>
            <p:nvSpPr>
              <p:cNvPr id="53" name="Freeform 53"/>
              <p:cNvSpPr/>
              <p:nvPr/>
            </p:nvSpPr>
            <p:spPr>
              <a:xfrm>
                <a:off x="6669405" y="492537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6769418" y="499205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6758305" y="502539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57" name="TextBox 57"/>
            <p:cNvSpPr txBox="1"/>
            <p:nvPr/>
          </p:nvSpPr>
          <p:spPr>
            <a:xfrm>
              <a:off x="6971348" y="4782502"/>
              <a:ext cx="417766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实际生成的结点远少于上界：8-皇后排列树有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109,601 个结点，通过 PLACE 的只有 2,057 个。</a:t>
              </a:r>
            </a:p>
          </p:txBody>
        </p:sp>
      </p:grpSp>
      <p:grpSp>
        <p:nvGrpSpPr>
          <p:cNvPr id="6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9" name="TextBox 59"/>
            <p:cNvSpPr txBox="1"/>
            <p:nvPr/>
          </p:nvSpPr>
          <p:spPr>
            <a:xfrm>
              <a:off x="528447" y="6581299"/>
              <a:ext cx="18568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第7章 回溯法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389091" cy="909257"/>
            <a:chOff x="520446" y="342900"/>
            <a:chExt cx="838909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009775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8702" y="407194"/>
              <a:ext cx="18591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第7章 回溯法 · n-皇后问题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38909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4-皇后的搜索过程（一）：结点 2 的子树里找不到答案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69" name="c1-graph-1"/>
          <p:cNvGrpSpPr/>
          <p:nvPr/>
        </p:nvGrpSpPr>
        <p:grpSpPr>
          <a:xfrm>
            <a:off x="636936" y="1608772"/>
            <a:ext cx="4347344" cy="3752374"/>
            <a:chOff x="636936" y="1608772"/>
            <a:chExt cx="4347344" cy="3752374"/>
          </a:xfrm>
        </p:grpSpPr>
        <p:sp>
          <p:nvSpPr>
            <p:cNvPr id="7" name="Freeform 7"/>
            <p:cNvSpPr/>
            <p:nvPr/>
          </p:nvSpPr>
          <p:spPr>
            <a:xfrm>
              <a:off x="2749868" y="1850708"/>
              <a:ext cx="842010" cy="626745"/>
            </a:xfrm>
            <a:custGeom>
              <a:avLst/>
              <a:gdLst/>
              <a:ahLst/>
              <a:cxnLst/>
              <a:rect l="l" t="t" r="r" b="b"/>
              <a:pathLst>
                <a:path w="842010" h="626745">
                  <a:moveTo>
                    <a:pt x="842010" y="0"/>
                  </a:moveTo>
                  <a:lnTo>
                    <a:pt x="0" y="62674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1572578" y="2661285"/>
              <a:ext cx="921068" cy="636270"/>
            </a:xfrm>
            <a:custGeom>
              <a:avLst/>
              <a:gdLst/>
              <a:ahLst/>
              <a:cxnLst/>
              <a:rect l="l" t="t" r="r" b="b"/>
              <a:pathLst>
                <a:path w="921068" h="636270">
                  <a:moveTo>
                    <a:pt x="921068" y="0"/>
                  </a:moveTo>
                  <a:lnTo>
                    <a:pt x="0" y="63627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9" name="Freeform 9"/>
            <p:cNvSpPr/>
            <p:nvPr/>
          </p:nvSpPr>
          <p:spPr>
            <a:xfrm>
              <a:off x="2484120" y="2726055"/>
              <a:ext cx="106680" cy="506730"/>
            </a:xfrm>
            <a:custGeom>
              <a:avLst/>
              <a:gdLst/>
              <a:ahLst/>
              <a:cxnLst/>
              <a:rect l="l" t="t" r="r" b="b"/>
              <a:pathLst>
                <a:path w="106680" h="506730">
                  <a:moveTo>
                    <a:pt x="106680" y="0"/>
                  </a:moveTo>
                  <a:lnTo>
                    <a:pt x="0" y="50673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2174558" y="3531870"/>
              <a:ext cx="217170" cy="523875"/>
            </a:xfrm>
            <a:custGeom>
              <a:avLst/>
              <a:gdLst/>
              <a:ahLst/>
              <a:cxnLst/>
              <a:rect l="l" t="t" r="r" b="b"/>
              <a:pathLst>
                <a:path w="217170" h="523875">
                  <a:moveTo>
                    <a:pt x="217170" y="0"/>
                  </a:moveTo>
                  <a:lnTo>
                    <a:pt x="0" y="52387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2512695" y="3531870"/>
              <a:ext cx="217170" cy="523875"/>
            </a:xfrm>
            <a:custGeom>
              <a:avLst/>
              <a:gdLst/>
              <a:ahLst/>
              <a:cxnLst/>
              <a:rect l="l" t="t" r="r" b="b"/>
              <a:pathLst>
                <a:path w="217170" h="523875">
                  <a:moveTo>
                    <a:pt x="0" y="0"/>
                  </a:moveTo>
                  <a:lnTo>
                    <a:pt x="217170" y="52387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2752725" y="2661285"/>
              <a:ext cx="922020" cy="636270"/>
            </a:xfrm>
            <a:custGeom>
              <a:avLst/>
              <a:gdLst/>
              <a:ahLst/>
              <a:cxnLst/>
              <a:rect l="l" t="t" r="r" b="b"/>
              <a:pathLst>
                <a:path w="922020" h="636270">
                  <a:moveTo>
                    <a:pt x="0" y="0"/>
                  </a:moveTo>
                  <a:lnTo>
                    <a:pt x="922020" y="63627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3526155" y="3531870"/>
              <a:ext cx="218123" cy="523875"/>
            </a:xfrm>
            <a:custGeom>
              <a:avLst/>
              <a:gdLst/>
              <a:ahLst/>
              <a:cxnLst/>
              <a:rect l="l" t="t" r="r" b="b"/>
              <a:pathLst>
                <a:path w="218123" h="523875">
                  <a:moveTo>
                    <a:pt x="218123" y="0"/>
                  </a:moveTo>
                  <a:lnTo>
                    <a:pt x="0" y="52387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3466148" y="4358640"/>
              <a:ext cx="9525" cy="500062"/>
            </a:xfrm>
            <a:custGeom>
              <a:avLst/>
              <a:gdLst/>
              <a:ahLst/>
              <a:cxnLst/>
              <a:rect l="l" t="t" r="r" b="b"/>
              <a:pathLst>
                <a:path w="9525" h="500062">
                  <a:moveTo>
                    <a:pt x="0" y="0"/>
                  </a:moveTo>
                  <a:lnTo>
                    <a:pt x="0" y="500062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3864292" y="3531870"/>
              <a:ext cx="217170" cy="523875"/>
            </a:xfrm>
            <a:custGeom>
              <a:avLst/>
              <a:gdLst/>
              <a:ahLst/>
              <a:cxnLst/>
              <a:rect l="l" t="t" r="r" b="b"/>
              <a:pathLst>
                <a:path w="217170" h="523875">
                  <a:moveTo>
                    <a:pt x="0" y="0"/>
                  </a:moveTo>
                  <a:lnTo>
                    <a:pt x="217170" y="52387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3844290" y="1850708"/>
              <a:ext cx="842962" cy="626745"/>
            </a:xfrm>
            <a:custGeom>
              <a:avLst/>
              <a:gdLst/>
              <a:ahLst/>
              <a:cxnLst/>
              <a:rect l="l" t="t" r="r" b="b"/>
              <a:pathLst>
                <a:path w="842962" h="626745">
                  <a:moveTo>
                    <a:pt x="0" y="0"/>
                  </a:moveTo>
                  <a:lnTo>
                    <a:pt x="842962" y="62674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7" name="Ellipse 17"/>
            <p:cNvSpPr/>
            <p:nvPr/>
          </p:nvSpPr>
          <p:spPr>
            <a:xfrm>
              <a:off x="3570922" y="1608772"/>
              <a:ext cx="295275" cy="295275"/>
            </a:xfrm>
            <a:prstGeom prst="ellipse">
              <a:avLst/>
            </a:prstGeom>
            <a:solidFill>
              <a:srgbClr val="2F4B9A"/>
            </a:solidFill>
            <a:ln w="17145">
              <a:solidFill>
                <a:srgbClr val="2F4B9A"/>
              </a:solidFill>
            </a:ln>
          </p:spPr>
        </p:sp>
        <p:sp>
          <p:nvSpPr>
            <p:cNvPr id="18" name="Ellipse 18"/>
            <p:cNvSpPr/>
            <p:nvPr/>
          </p:nvSpPr>
          <p:spPr>
            <a:xfrm>
              <a:off x="2475548" y="2424112"/>
              <a:ext cx="295275" cy="29527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19" name="Ellipse 19"/>
            <p:cNvSpPr/>
            <p:nvPr/>
          </p:nvSpPr>
          <p:spPr>
            <a:xfrm>
              <a:off x="1295400" y="3239452"/>
              <a:ext cx="295275" cy="295275"/>
            </a:xfrm>
            <a:prstGeom prst="ellipse">
              <a:avLst/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20" name="Ellipse 20"/>
            <p:cNvSpPr/>
            <p:nvPr/>
          </p:nvSpPr>
          <p:spPr>
            <a:xfrm>
              <a:off x="2304098" y="3239452"/>
              <a:ext cx="295275" cy="29527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21" name="Ellipse 21"/>
            <p:cNvSpPr/>
            <p:nvPr/>
          </p:nvSpPr>
          <p:spPr>
            <a:xfrm>
              <a:off x="1965960" y="4053840"/>
              <a:ext cx="295275" cy="295275"/>
            </a:xfrm>
            <a:prstGeom prst="ellipse">
              <a:avLst/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22" name="Ellipse 22"/>
            <p:cNvSpPr/>
            <p:nvPr/>
          </p:nvSpPr>
          <p:spPr>
            <a:xfrm>
              <a:off x="2642235" y="4053840"/>
              <a:ext cx="295275" cy="295275"/>
            </a:xfrm>
            <a:prstGeom prst="ellipse">
              <a:avLst/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23" name="Ellipse 23"/>
            <p:cNvSpPr/>
            <p:nvPr/>
          </p:nvSpPr>
          <p:spPr>
            <a:xfrm>
              <a:off x="3656648" y="3239452"/>
              <a:ext cx="295275" cy="29527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3318510" y="4053840"/>
              <a:ext cx="295275" cy="29527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25" name="Ellipse 25"/>
            <p:cNvSpPr/>
            <p:nvPr/>
          </p:nvSpPr>
          <p:spPr>
            <a:xfrm>
              <a:off x="3318510" y="4869180"/>
              <a:ext cx="295275" cy="295275"/>
            </a:xfrm>
            <a:prstGeom prst="ellipse">
              <a:avLst/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26" name="Ellipse 26"/>
            <p:cNvSpPr/>
            <p:nvPr/>
          </p:nvSpPr>
          <p:spPr>
            <a:xfrm>
              <a:off x="3994785" y="4053840"/>
              <a:ext cx="295275" cy="295275"/>
            </a:xfrm>
            <a:prstGeom prst="ellipse">
              <a:avLst/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27" name="Ellipse 27"/>
            <p:cNvSpPr/>
            <p:nvPr/>
          </p:nvSpPr>
          <p:spPr>
            <a:xfrm>
              <a:off x="4666298" y="2424112"/>
              <a:ext cx="295275" cy="295275"/>
            </a:xfrm>
            <a:prstGeom prst="ellipse">
              <a:avLst/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3672411" y="169164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2577036" y="250602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396888" y="332136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358243" y="3569494"/>
              <a:ext cx="169588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kill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2405586" y="332136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2067448" y="413575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2028803" y="4383881"/>
              <a:ext cx="169588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kill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2702908" y="4135755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2705078" y="4383881"/>
              <a:ext cx="169588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kill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3717321" y="3321368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3379183" y="4135755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3379183" y="4951095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3381353" y="5199221"/>
              <a:ext cx="169588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kill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4055458" y="4135755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4057628" y="4383881"/>
              <a:ext cx="169588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kill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4726971" y="2506028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18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4643590" y="2754154"/>
              <a:ext cx="340690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下一页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3104198" y="2085975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3135753" y="211502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1965960" y="2900362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1997516" y="293036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2470785" y="2900362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2502341" y="293036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2216468" y="3715702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2248023" y="374475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2554605" y="3715702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2586161" y="374475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3147060" y="2900362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3178616" y="293036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3568065" y="3715702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3599621" y="374475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3399472" y="4530090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3431028" y="456009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3906202" y="3715702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3937758" y="374475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4199572" y="2085975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4231128" y="211502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636936" y="2050732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x₁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636936" y="2866073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x₂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636936" y="3680460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x₃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636936" y="4495800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x₄</a:t>
              </a:r>
            </a:p>
          </p:txBody>
        </p:sp>
      </p:grpSp>
      <p:grpSp>
        <p:nvGrpSpPr>
          <p:cNvPr id="112" name="c2-table-1"/>
          <p:cNvGrpSpPr/>
          <p:nvPr/>
        </p:nvGrpSpPr>
        <p:grpSpPr>
          <a:xfrm>
            <a:off x="5598795" y="1524000"/>
            <a:ext cx="6059805" cy="4085272"/>
            <a:chOff x="5598795" y="1524000"/>
            <a:chExt cx="6059805" cy="4085272"/>
          </a:xfrm>
        </p:grpSpPr>
        <p:sp>
          <p:nvSpPr>
            <p:cNvPr id="70" name="Rectangle 70"/>
            <p:cNvSpPr/>
            <p:nvPr/>
          </p:nvSpPr>
          <p:spPr>
            <a:xfrm>
              <a:off x="5598795" y="1524000"/>
              <a:ext cx="6059805" cy="430530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6340792" y="165544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路径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7642860" y="165544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结点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9602534" y="165544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检验结果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6362399" y="2085022"/>
              <a:ext cx="29206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(1)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7759979" y="208502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8310182" y="2085022"/>
              <a:ext cx="290855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皇后 1 放在第 1 列，结点 2 成为 E-结点</a:t>
              </a:r>
            </a:p>
          </p:txBody>
        </p:sp>
        <p:sp>
          <p:nvSpPr>
            <p:cNvPr id="77" name="Rectangle 77"/>
            <p:cNvSpPr/>
            <p:nvPr/>
          </p:nvSpPr>
          <p:spPr>
            <a:xfrm>
              <a:off x="5598795" y="2379345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8" name="Rectangle 78"/>
            <p:cNvSpPr/>
            <p:nvPr/>
          </p:nvSpPr>
          <p:spPr>
            <a:xfrm>
              <a:off x="5598795" y="2384108"/>
              <a:ext cx="6059805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79" name="TextBox 79"/>
            <p:cNvSpPr txBox="1"/>
            <p:nvPr/>
          </p:nvSpPr>
          <p:spPr>
            <a:xfrm>
              <a:off x="6243664" y="2515552"/>
              <a:ext cx="5295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(1, 2)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7759979" y="251555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8310182" y="2515552"/>
              <a:ext cx="268130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kill</a:t>
              </a: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：与皇后 1 同斜线，回溯到结点 2</a:t>
              </a:r>
            </a:p>
          </p:txBody>
        </p:sp>
        <p:sp>
          <p:nvSpPr>
            <p:cNvPr id="82" name="Rectangle 82"/>
            <p:cNvSpPr/>
            <p:nvPr/>
          </p:nvSpPr>
          <p:spPr>
            <a:xfrm>
              <a:off x="5598795" y="2809875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3" name="TextBox 83"/>
            <p:cNvSpPr txBox="1"/>
            <p:nvPr/>
          </p:nvSpPr>
          <p:spPr>
            <a:xfrm>
              <a:off x="6243664" y="2946082"/>
              <a:ext cx="5295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(1, 3)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7759979" y="294608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8310182" y="2946082"/>
              <a:ext cx="189082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通过，结点 8 成为 E-结点</a:t>
              </a:r>
            </a:p>
          </p:txBody>
        </p:sp>
        <p:sp>
          <p:nvSpPr>
            <p:cNvPr id="86" name="Rectangle 86"/>
            <p:cNvSpPr/>
            <p:nvPr/>
          </p:nvSpPr>
          <p:spPr>
            <a:xfrm>
              <a:off x="5598795" y="3239452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7" name="Rectangle 87"/>
            <p:cNvSpPr/>
            <p:nvPr/>
          </p:nvSpPr>
          <p:spPr>
            <a:xfrm>
              <a:off x="5598795" y="3244215"/>
              <a:ext cx="6059805" cy="64389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8" name="TextBox 88"/>
            <p:cNvSpPr txBox="1"/>
            <p:nvPr/>
          </p:nvSpPr>
          <p:spPr>
            <a:xfrm>
              <a:off x="5826062" y="3375660"/>
              <a:ext cx="136474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680"/>
                </a:lnSpc>
              </a:pPr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(1, 3, 2)、(1, 3,</a:t>
              </a:r>
              <a:br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4)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7590358" y="3482340"/>
              <a:ext cx="4402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9、11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8310182" y="3482340"/>
              <a:ext cx="272976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kill</a:t>
              </a: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：都与皇后 2 同斜线，结点 8 死亡</a:t>
              </a:r>
            </a:p>
          </p:txBody>
        </p:sp>
        <p:sp>
          <p:nvSpPr>
            <p:cNvPr id="91" name="Rectangle 91"/>
            <p:cNvSpPr/>
            <p:nvPr/>
          </p:nvSpPr>
          <p:spPr>
            <a:xfrm>
              <a:off x="5598795" y="3883342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2" name="TextBox 92"/>
            <p:cNvSpPr txBox="1"/>
            <p:nvPr/>
          </p:nvSpPr>
          <p:spPr>
            <a:xfrm>
              <a:off x="6243664" y="4019550"/>
              <a:ext cx="5295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(1, 4)</a:t>
              </a:r>
            </a:p>
          </p:txBody>
        </p:sp>
        <p:sp>
          <p:nvSpPr>
            <p:cNvPr id="93" name="TextBox 93"/>
            <p:cNvSpPr txBox="1"/>
            <p:nvPr/>
          </p:nvSpPr>
          <p:spPr>
            <a:xfrm>
              <a:off x="7715555" y="401955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8310182" y="4019550"/>
              <a:ext cx="19796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通过，结点 13 成为 E-结点</a:t>
              </a:r>
            </a:p>
          </p:txBody>
        </p:sp>
        <p:sp>
          <p:nvSpPr>
            <p:cNvPr id="95" name="Rectangle 95"/>
            <p:cNvSpPr/>
            <p:nvPr/>
          </p:nvSpPr>
          <p:spPr>
            <a:xfrm>
              <a:off x="5598795" y="4313872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6" name="Rectangle 96"/>
            <p:cNvSpPr/>
            <p:nvPr/>
          </p:nvSpPr>
          <p:spPr>
            <a:xfrm>
              <a:off x="5598795" y="4318635"/>
              <a:ext cx="6059805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97" name="TextBox 97"/>
            <p:cNvSpPr txBox="1"/>
            <p:nvPr/>
          </p:nvSpPr>
          <p:spPr>
            <a:xfrm>
              <a:off x="6124929" y="4449128"/>
              <a:ext cx="76700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(1, 4, 2)</a:t>
              </a:r>
            </a:p>
          </p:txBody>
        </p:sp>
        <p:sp>
          <p:nvSpPr>
            <p:cNvPr id="98" name="TextBox 98"/>
            <p:cNvSpPr txBox="1"/>
            <p:nvPr/>
          </p:nvSpPr>
          <p:spPr>
            <a:xfrm>
              <a:off x="7715555" y="4449128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  <p:sp>
          <p:nvSpPr>
            <p:cNvPr id="99" name="TextBox 99"/>
            <p:cNvSpPr txBox="1"/>
            <p:nvPr/>
          </p:nvSpPr>
          <p:spPr>
            <a:xfrm>
              <a:off x="8310182" y="4449128"/>
              <a:ext cx="19796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通过，结点 14 成为 E-结点</a:t>
              </a:r>
            </a:p>
          </p:txBody>
        </p:sp>
        <p:sp>
          <p:nvSpPr>
            <p:cNvPr id="100" name="Rectangle 100"/>
            <p:cNvSpPr/>
            <p:nvPr/>
          </p:nvSpPr>
          <p:spPr>
            <a:xfrm>
              <a:off x="5598795" y="4743450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1" name="TextBox 101"/>
            <p:cNvSpPr txBox="1"/>
            <p:nvPr/>
          </p:nvSpPr>
          <p:spPr>
            <a:xfrm>
              <a:off x="6006194" y="4879658"/>
              <a:ext cx="10044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(1, 4, 2, 3)</a:t>
              </a:r>
            </a:p>
          </p:txBody>
        </p:sp>
        <p:sp>
          <p:nvSpPr>
            <p:cNvPr id="102" name="TextBox 102"/>
            <p:cNvSpPr txBox="1"/>
            <p:nvPr/>
          </p:nvSpPr>
          <p:spPr>
            <a:xfrm>
              <a:off x="7715555" y="4879658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  <p:sp>
          <p:nvSpPr>
            <p:cNvPr id="103" name="TextBox 103"/>
            <p:cNvSpPr txBox="1"/>
            <p:nvPr/>
          </p:nvSpPr>
          <p:spPr>
            <a:xfrm>
              <a:off x="8310182" y="4879658"/>
              <a:ext cx="265707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kill</a:t>
              </a: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：与皇后 3 同斜线，结点 14 死亡</a:t>
              </a:r>
            </a:p>
          </p:txBody>
        </p:sp>
        <p:sp>
          <p:nvSpPr>
            <p:cNvPr id="104" name="Rectangle 104"/>
            <p:cNvSpPr/>
            <p:nvPr/>
          </p:nvSpPr>
          <p:spPr>
            <a:xfrm>
              <a:off x="5598795" y="5173980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5" name="Rectangle 105"/>
            <p:cNvSpPr/>
            <p:nvPr/>
          </p:nvSpPr>
          <p:spPr>
            <a:xfrm>
              <a:off x="5598795" y="5178742"/>
              <a:ext cx="6059805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06" name="TextBox 106"/>
            <p:cNvSpPr txBox="1"/>
            <p:nvPr/>
          </p:nvSpPr>
          <p:spPr>
            <a:xfrm>
              <a:off x="6124929" y="5310188"/>
              <a:ext cx="76700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(1, 4, 3)</a:t>
              </a:r>
            </a:p>
          </p:txBody>
        </p:sp>
        <p:sp>
          <p:nvSpPr>
            <p:cNvPr id="107" name="TextBox 107"/>
            <p:cNvSpPr txBox="1"/>
            <p:nvPr/>
          </p:nvSpPr>
          <p:spPr>
            <a:xfrm>
              <a:off x="7715555" y="5310188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  <p:sp>
          <p:nvSpPr>
            <p:cNvPr id="108" name="TextBox 108"/>
            <p:cNvSpPr txBox="1"/>
            <p:nvPr/>
          </p:nvSpPr>
          <p:spPr>
            <a:xfrm>
              <a:off x="8310182" y="5310188"/>
              <a:ext cx="19866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kill</a:t>
              </a: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：与皇后 1、2 都同斜线</a:t>
              </a:r>
            </a:p>
          </p:txBody>
        </p:sp>
        <p:sp>
          <p:nvSpPr>
            <p:cNvPr id="109" name="Rectangle 109"/>
            <p:cNvSpPr/>
            <p:nvPr/>
          </p:nvSpPr>
          <p:spPr>
            <a:xfrm>
              <a:off x="5598795" y="1524000"/>
              <a:ext cx="6059805" cy="408432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110" name="Rectangle 110"/>
            <p:cNvSpPr/>
            <p:nvPr/>
          </p:nvSpPr>
          <p:spPr>
            <a:xfrm>
              <a:off x="7412355" y="1524000"/>
              <a:ext cx="9525" cy="408432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1" name="Rectangle 111"/>
            <p:cNvSpPr/>
            <p:nvPr/>
          </p:nvSpPr>
          <p:spPr>
            <a:xfrm>
              <a:off x="8200072" y="1524000"/>
              <a:ext cx="9525" cy="408432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119" name="takeaway"/>
          <p:cNvGrpSpPr/>
          <p:nvPr/>
        </p:nvGrpSpPr>
        <p:grpSpPr>
          <a:xfrm>
            <a:off x="533400" y="5844540"/>
            <a:ext cx="11125200" cy="518160"/>
            <a:chOff x="533400" y="5844540"/>
            <a:chExt cx="11125200" cy="518160"/>
          </a:xfrm>
        </p:grpSpPr>
        <p:sp>
          <p:nvSpPr>
            <p:cNvPr id="113" name="Rectangle 113"/>
            <p:cNvSpPr/>
            <p:nvPr/>
          </p:nvSpPr>
          <p:spPr>
            <a:xfrm>
              <a:off x="533400" y="5844540"/>
              <a:ext cx="11125200" cy="518160"/>
            </a:xfrm>
            <a:prstGeom prst="roundRect">
              <a:avLst>
                <a:gd name="adj" fmla="val 22059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117" name="Group 117"/>
            <p:cNvGrpSpPr/>
            <p:nvPr/>
          </p:nvGrpSpPr>
          <p:grpSpPr>
            <a:xfrm>
              <a:off x="726129" y="5999916"/>
              <a:ext cx="224134" cy="192560"/>
              <a:chOff x="726129" y="5999916"/>
              <a:chExt cx="224134" cy="192560"/>
            </a:xfrm>
          </p:grpSpPr>
          <p:sp>
            <p:nvSpPr>
              <p:cNvPr id="114" name="Freeform 114"/>
              <p:cNvSpPr/>
              <p:nvPr/>
            </p:nvSpPr>
            <p:spPr>
              <a:xfrm>
                <a:off x="838200" y="607028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115" name="Freeform 115"/>
              <p:cNvSpPr/>
              <p:nvPr/>
            </p:nvSpPr>
            <p:spPr>
              <a:xfrm>
                <a:off x="726129" y="599991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116" name="Freeform 116"/>
              <p:cNvSpPr/>
              <p:nvPr/>
            </p:nvSpPr>
            <p:spPr>
              <a:xfrm>
                <a:off x="838200" y="614807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118" name="TextBox 118"/>
            <p:cNvSpPr txBox="1"/>
            <p:nvPr/>
          </p:nvSpPr>
          <p:spPr>
            <a:xfrm>
              <a:off x="1040511" y="6004084"/>
              <a:ext cx="947691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结点 2 的所有儿子都不能导致答案棋盘格局，结点 2 也被杀死；回溯到根结点 1，生成结点 18，路径变为 (2)。</a:t>
              </a:r>
            </a:p>
          </p:txBody>
        </p:sp>
      </p:grpSp>
      <p:grpSp>
        <p:nvGrpSpPr>
          <p:cNvPr id="12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20" name="TextBox 120"/>
            <p:cNvSpPr txBox="1"/>
            <p:nvPr/>
          </p:nvSpPr>
          <p:spPr>
            <a:xfrm>
              <a:off x="528447" y="6581299"/>
              <a:ext cx="18568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第7章 回溯法</a:t>
              </a:r>
            </a:p>
          </p:txBody>
        </p:sp>
        <p:sp>
          <p:nvSpPr>
            <p:cNvPr id="121" name="TextBox 12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774230" cy="909257"/>
            <a:chOff x="520446" y="342900"/>
            <a:chExt cx="977423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009775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8702" y="407194"/>
              <a:ext cx="18591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第7章 回溯法 · n-皇后问题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77423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4-皇后的搜索过程（二）：从结点 18 找到可行解 (2, 4, 1, 3)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95" name="c1-graph-1"/>
          <p:cNvGrpSpPr/>
          <p:nvPr/>
        </p:nvGrpSpPr>
        <p:grpSpPr>
          <a:xfrm>
            <a:off x="627519" y="1603058"/>
            <a:ext cx="5391328" cy="3532346"/>
            <a:chOff x="627519" y="1603058"/>
            <a:chExt cx="5391328" cy="3532346"/>
          </a:xfrm>
        </p:grpSpPr>
        <p:sp>
          <p:nvSpPr>
            <p:cNvPr id="7" name="Freeform 7"/>
            <p:cNvSpPr/>
            <p:nvPr/>
          </p:nvSpPr>
          <p:spPr>
            <a:xfrm>
              <a:off x="2637472" y="1815465"/>
              <a:ext cx="1102995" cy="619125"/>
            </a:xfrm>
            <a:custGeom>
              <a:avLst/>
              <a:gdLst/>
              <a:ahLst/>
              <a:cxnLst/>
              <a:rect l="l" t="t" r="r" b="b"/>
              <a:pathLst>
                <a:path w="1102995" h="619125">
                  <a:moveTo>
                    <a:pt x="1102995" y="0"/>
                  </a:moveTo>
                  <a:lnTo>
                    <a:pt x="0" y="61912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1503045" y="2589848"/>
              <a:ext cx="882967" cy="598170"/>
            </a:xfrm>
            <a:custGeom>
              <a:avLst/>
              <a:gdLst/>
              <a:ahLst/>
              <a:cxnLst/>
              <a:rect l="l" t="t" r="r" b="b"/>
              <a:pathLst>
                <a:path w="882967" h="598170">
                  <a:moveTo>
                    <a:pt x="882967" y="0"/>
                  </a:moveTo>
                  <a:lnTo>
                    <a:pt x="0" y="59817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9" name="Freeform 9"/>
            <p:cNvSpPr/>
            <p:nvPr/>
          </p:nvSpPr>
          <p:spPr>
            <a:xfrm>
              <a:off x="2375535" y="2651760"/>
              <a:ext cx="101918" cy="474345"/>
            </a:xfrm>
            <a:custGeom>
              <a:avLst/>
              <a:gdLst/>
              <a:ahLst/>
              <a:cxnLst/>
              <a:rect l="l" t="t" r="r" b="b"/>
              <a:pathLst>
                <a:path w="101918" h="474345">
                  <a:moveTo>
                    <a:pt x="101918" y="0"/>
                  </a:moveTo>
                  <a:lnTo>
                    <a:pt x="0" y="47434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2081212" y="3408045"/>
              <a:ext cx="205740" cy="491490"/>
            </a:xfrm>
            <a:custGeom>
              <a:avLst/>
              <a:gdLst/>
              <a:ahLst/>
              <a:cxnLst/>
              <a:rect l="l" t="t" r="r" b="b"/>
              <a:pathLst>
                <a:path w="205740" h="491490">
                  <a:moveTo>
                    <a:pt x="205740" y="0"/>
                  </a:moveTo>
                  <a:lnTo>
                    <a:pt x="0" y="49149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2402205" y="3408045"/>
              <a:ext cx="206692" cy="491490"/>
            </a:xfrm>
            <a:custGeom>
              <a:avLst/>
              <a:gdLst/>
              <a:ahLst/>
              <a:cxnLst/>
              <a:rect l="l" t="t" r="r" b="b"/>
              <a:pathLst>
                <a:path w="206692" h="491490">
                  <a:moveTo>
                    <a:pt x="0" y="0"/>
                  </a:moveTo>
                  <a:lnTo>
                    <a:pt x="206692" y="49149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2630805" y="2590800"/>
              <a:ext cx="877253" cy="597217"/>
            </a:xfrm>
            <a:custGeom>
              <a:avLst/>
              <a:gdLst/>
              <a:ahLst/>
              <a:cxnLst/>
              <a:rect l="l" t="t" r="r" b="b"/>
              <a:pathLst>
                <a:path w="877253" h="597217">
                  <a:moveTo>
                    <a:pt x="0" y="0"/>
                  </a:moveTo>
                  <a:lnTo>
                    <a:pt x="877253" y="597217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3366135" y="3408045"/>
              <a:ext cx="206693" cy="491490"/>
            </a:xfrm>
            <a:custGeom>
              <a:avLst/>
              <a:gdLst/>
              <a:ahLst/>
              <a:cxnLst/>
              <a:rect l="l" t="t" r="r" b="b"/>
              <a:pathLst>
                <a:path w="206693" h="491490">
                  <a:moveTo>
                    <a:pt x="206693" y="0"/>
                  </a:moveTo>
                  <a:lnTo>
                    <a:pt x="0" y="49149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3308985" y="4184332"/>
              <a:ext cx="9525" cy="467677"/>
            </a:xfrm>
            <a:custGeom>
              <a:avLst/>
              <a:gdLst/>
              <a:ahLst/>
              <a:cxnLst/>
              <a:rect l="l" t="t" r="r" b="b"/>
              <a:pathLst>
                <a:path w="9525" h="467677">
                  <a:moveTo>
                    <a:pt x="0" y="0"/>
                  </a:moveTo>
                  <a:lnTo>
                    <a:pt x="0" y="467677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3688080" y="3408045"/>
              <a:ext cx="205740" cy="491490"/>
            </a:xfrm>
            <a:custGeom>
              <a:avLst/>
              <a:gdLst/>
              <a:ahLst/>
              <a:cxnLst/>
              <a:rect l="l" t="t" r="r" b="b"/>
              <a:pathLst>
                <a:path w="205740" h="491490">
                  <a:moveTo>
                    <a:pt x="0" y="0"/>
                  </a:moveTo>
                  <a:lnTo>
                    <a:pt x="205740" y="49149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3999548" y="1814512"/>
              <a:ext cx="1107758" cy="620078"/>
            </a:xfrm>
            <a:custGeom>
              <a:avLst/>
              <a:gdLst/>
              <a:ahLst/>
              <a:cxnLst/>
              <a:rect l="l" t="t" r="r" b="b"/>
              <a:pathLst>
                <a:path w="1107758" h="620078">
                  <a:moveTo>
                    <a:pt x="0" y="0"/>
                  </a:moveTo>
                  <a:lnTo>
                    <a:pt x="1107758" y="620078"/>
                  </a:lnTo>
                </a:path>
              </a:pathLst>
            </a:custGeom>
            <a:noFill/>
            <a:ln w="28575">
              <a:solidFill>
                <a:srgbClr val="F26B3A"/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4690110" y="2620328"/>
              <a:ext cx="451485" cy="537210"/>
            </a:xfrm>
            <a:custGeom>
              <a:avLst/>
              <a:gdLst/>
              <a:ahLst/>
              <a:cxnLst/>
              <a:rect l="l" t="t" r="r" b="b"/>
              <a:pathLst>
                <a:path w="451485" h="537210">
                  <a:moveTo>
                    <a:pt x="451485" y="0"/>
                  </a:moveTo>
                  <a:lnTo>
                    <a:pt x="0" y="53721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5236845" y="2655570"/>
              <a:ext cx="9525" cy="467677"/>
            </a:xfrm>
            <a:custGeom>
              <a:avLst/>
              <a:gdLst/>
              <a:ahLst/>
              <a:cxnLst/>
              <a:rect l="l" t="t" r="r" b="b"/>
              <a:pathLst>
                <a:path w="9525" h="467677">
                  <a:moveTo>
                    <a:pt x="0" y="0"/>
                  </a:moveTo>
                  <a:lnTo>
                    <a:pt x="0" y="467677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9" name="Freeform 19"/>
            <p:cNvSpPr/>
            <p:nvPr/>
          </p:nvSpPr>
          <p:spPr>
            <a:xfrm>
              <a:off x="5332095" y="2620328"/>
              <a:ext cx="452438" cy="537210"/>
            </a:xfrm>
            <a:custGeom>
              <a:avLst/>
              <a:gdLst/>
              <a:ahLst/>
              <a:cxnLst/>
              <a:rect l="l" t="t" r="r" b="b"/>
              <a:pathLst>
                <a:path w="452438" h="537210">
                  <a:moveTo>
                    <a:pt x="0" y="0"/>
                  </a:moveTo>
                  <a:lnTo>
                    <a:pt x="452438" y="537210"/>
                  </a:lnTo>
                </a:path>
              </a:pathLst>
            </a:custGeom>
            <a:noFill/>
            <a:ln w="28575">
              <a:solidFill>
                <a:srgbClr val="F26B3A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5879782" y="3419475"/>
              <a:ext cx="9525" cy="468630"/>
            </a:xfrm>
            <a:custGeom>
              <a:avLst/>
              <a:gdLst/>
              <a:ahLst/>
              <a:cxnLst/>
              <a:rect l="l" t="t" r="r" b="b"/>
              <a:pathLst>
                <a:path w="9525" h="468630">
                  <a:moveTo>
                    <a:pt x="0" y="0"/>
                  </a:moveTo>
                  <a:lnTo>
                    <a:pt x="0" y="468630"/>
                  </a:lnTo>
                </a:path>
              </a:pathLst>
            </a:custGeom>
            <a:noFill/>
            <a:ln w="28575">
              <a:solidFill>
                <a:srgbClr val="F26B3A"/>
              </a:solidFill>
            </a:ln>
          </p:spPr>
        </p:sp>
        <p:sp>
          <p:nvSpPr>
            <p:cNvPr id="21" name="Freeform 21"/>
            <p:cNvSpPr/>
            <p:nvPr/>
          </p:nvSpPr>
          <p:spPr>
            <a:xfrm>
              <a:off x="5879782" y="4184332"/>
              <a:ext cx="9525" cy="467677"/>
            </a:xfrm>
            <a:custGeom>
              <a:avLst/>
              <a:gdLst/>
              <a:ahLst/>
              <a:cxnLst/>
              <a:rect l="l" t="t" r="r" b="b"/>
              <a:pathLst>
                <a:path w="9525" h="467677">
                  <a:moveTo>
                    <a:pt x="0" y="0"/>
                  </a:moveTo>
                  <a:lnTo>
                    <a:pt x="0" y="467677"/>
                  </a:lnTo>
                </a:path>
              </a:pathLst>
            </a:custGeom>
            <a:noFill/>
            <a:ln w="28575">
              <a:solidFill>
                <a:srgbClr val="F26B3A"/>
              </a:solidFill>
            </a:ln>
          </p:spPr>
        </p:sp>
        <p:sp>
          <p:nvSpPr>
            <p:cNvPr id="22" name="Ellipse 22"/>
            <p:cNvSpPr/>
            <p:nvPr/>
          </p:nvSpPr>
          <p:spPr>
            <a:xfrm>
              <a:off x="3730942" y="1603058"/>
              <a:ext cx="278130" cy="278130"/>
            </a:xfrm>
            <a:prstGeom prst="ellipse">
              <a:avLst/>
            </a:prstGeom>
            <a:solidFill>
              <a:srgbClr val="2F4B9A"/>
            </a:solidFill>
            <a:ln w="17145">
              <a:solidFill>
                <a:srgbClr val="2F4B9A"/>
              </a:solidFill>
            </a:ln>
          </p:spPr>
        </p:sp>
        <p:sp>
          <p:nvSpPr>
            <p:cNvPr id="23" name="Ellipse 23"/>
            <p:cNvSpPr/>
            <p:nvPr/>
          </p:nvSpPr>
          <p:spPr>
            <a:xfrm>
              <a:off x="2368868" y="2367915"/>
              <a:ext cx="278130" cy="27813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1241108" y="3132772"/>
              <a:ext cx="278130" cy="278130"/>
            </a:xfrm>
            <a:prstGeom prst="ellipse">
              <a:avLst/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25" name="Ellipse 25"/>
            <p:cNvSpPr/>
            <p:nvPr/>
          </p:nvSpPr>
          <p:spPr>
            <a:xfrm>
              <a:off x="2205990" y="3132772"/>
              <a:ext cx="278130" cy="27813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26" name="Ellipse 26"/>
            <p:cNvSpPr/>
            <p:nvPr/>
          </p:nvSpPr>
          <p:spPr>
            <a:xfrm>
              <a:off x="1884045" y="3896677"/>
              <a:ext cx="278130" cy="278130"/>
            </a:xfrm>
            <a:prstGeom prst="ellipse">
              <a:avLst/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27" name="Ellipse 27"/>
            <p:cNvSpPr/>
            <p:nvPr/>
          </p:nvSpPr>
          <p:spPr>
            <a:xfrm>
              <a:off x="2526982" y="3896677"/>
              <a:ext cx="278130" cy="278130"/>
            </a:xfrm>
            <a:prstGeom prst="ellipse">
              <a:avLst/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28" name="Ellipse 28"/>
            <p:cNvSpPr/>
            <p:nvPr/>
          </p:nvSpPr>
          <p:spPr>
            <a:xfrm>
              <a:off x="3490912" y="3132772"/>
              <a:ext cx="278130" cy="27813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29" name="Ellipse 29"/>
            <p:cNvSpPr/>
            <p:nvPr/>
          </p:nvSpPr>
          <p:spPr>
            <a:xfrm>
              <a:off x="3169920" y="3896677"/>
              <a:ext cx="278130" cy="27813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30" name="Ellipse 30"/>
            <p:cNvSpPr/>
            <p:nvPr/>
          </p:nvSpPr>
          <p:spPr>
            <a:xfrm>
              <a:off x="3169920" y="4661535"/>
              <a:ext cx="278130" cy="278130"/>
            </a:xfrm>
            <a:prstGeom prst="ellipse">
              <a:avLst/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31" name="Ellipse 31"/>
            <p:cNvSpPr/>
            <p:nvPr/>
          </p:nvSpPr>
          <p:spPr>
            <a:xfrm>
              <a:off x="3812857" y="3896677"/>
              <a:ext cx="278130" cy="278130"/>
            </a:xfrm>
            <a:prstGeom prst="ellipse">
              <a:avLst/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32" name="Ellipse 32"/>
            <p:cNvSpPr/>
            <p:nvPr/>
          </p:nvSpPr>
          <p:spPr>
            <a:xfrm>
              <a:off x="5097780" y="2367915"/>
              <a:ext cx="278130" cy="27813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33" name="Ellipse 33"/>
            <p:cNvSpPr/>
            <p:nvPr/>
          </p:nvSpPr>
          <p:spPr>
            <a:xfrm>
              <a:off x="4454842" y="3132772"/>
              <a:ext cx="278130" cy="278130"/>
            </a:xfrm>
            <a:prstGeom prst="ellipse">
              <a:avLst/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34" name="Ellipse 34"/>
            <p:cNvSpPr/>
            <p:nvPr/>
          </p:nvSpPr>
          <p:spPr>
            <a:xfrm>
              <a:off x="5097780" y="3132772"/>
              <a:ext cx="278130" cy="278130"/>
            </a:xfrm>
            <a:prstGeom prst="ellipse">
              <a:avLst/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35" name="Ellipse 35"/>
            <p:cNvSpPr/>
            <p:nvPr/>
          </p:nvSpPr>
          <p:spPr>
            <a:xfrm>
              <a:off x="5740717" y="3132772"/>
              <a:ext cx="278130" cy="27813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36" name="Ellipse 36"/>
            <p:cNvSpPr/>
            <p:nvPr/>
          </p:nvSpPr>
          <p:spPr>
            <a:xfrm>
              <a:off x="5740717" y="3896677"/>
              <a:ext cx="278130" cy="27813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37" name="Ellipse 37"/>
            <p:cNvSpPr/>
            <p:nvPr/>
          </p:nvSpPr>
          <p:spPr>
            <a:xfrm>
              <a:off x="5740717" y="4661535"/>
              <a:ext cx="278130" cy="278130"/>
            </a:xfrm>
            <a:prstGeom prst="ellipse">
              <a:avLst/>
            </a:prstGeom>
            <a:solidFill>
              <a:srgbClr val="E3F5F1"/>
            </a:solidFill>
            <a:ln w="17145">
              <a:solidFill>
                <a:srgbClr val="14A38B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3826960" y="1681639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2464885" y="2446496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337125" y="3210401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295378" y="3444716"/>
              <a:ext cx="169588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kill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2302008" y="3210401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980063" y="3975259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938316" y="4209574"/>
              <a:ext cx="169588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kill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2584906" y="3975259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2581253" y="4209574"/>
              <a:ext cx="169588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kill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3548836" y="3210401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3227844" y="3975259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3227844" y="4740116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3224191" y="4973479"/>
              <a:ext cx="169588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kill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3870781" y="3975259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3867128" y="4209574"/>
              <a:ext cx="169588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kill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5155704" y="2446496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18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4512766" y="3210401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19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4509113" y="3444716"/>
              <a:ext cx="169588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kill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5155704" y="3210401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24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5152051" y="3444716"/>
              <a:ext cx="169588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kill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5798641" y="3210401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29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5798641" y="3975259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30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5798641" y="4740116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31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3122295" y="2045970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3153851" y="207502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1877378" y="2810828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1908933" y="283987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2359342" y="2810828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2391851" y="283987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67" name="Rectangle 67"/>
            <p:cNvSpPr/>
            <p:nvPr/>
          </p:nvSpPr>
          <p:spPr>
            <a:xfrm>
              <a:off x="2117408" y="3574732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2148963" y="360473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69" name="Rectangle 69"/>
            <p:cNvSpPr/>
            <p:nvPr/>
          </p:nvSpPr>
          <p:spPr>
            <a:xfrm>
              <a:off x="2438400" y="3574732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2469956" y="360473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71" name="Rectangle 71"/>
            <p:cNvSpPr/>
            <p:nvPr/>
          </p:nvSpPr>
          <p:spPr>
            <a:xfrm>
              <a:off x="3002280" y="2810828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3033836" y="283987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73" name="Rectangle 73"/>
            <p:cNvSpPr/>
            <p:nvPr/>
          </p:nvSpPr>
          <p:spPr>
            <a:xfrm>
              <a:off x="3402330" y="3574732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3434838" y="360473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75" name="Rectangle 75"/>
            <p:cNvSpPr/>
            <p:nvPr/>
          </p:nvSpPr>
          <p:spPr>
            <a:xfrm>
              <a:off x="3242310" y="4339590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3273866" y="436864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77" name="Rectangle 77"/>
            <p:cNvSpPr/>
            <p:nvPr/>
          </p:nvSpPr>
          <p:spPr>
            <a:xfrm>
              <a:off x="3724275" y="3574732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3755831" y="360473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79" name="Rectangle 79"/>
            <p:cNvSpPr/>
            <p:nvPr/>
          </p:nvSpPr>
          <p:spPr>
            <a:xfrm>
              <a:off x="4486275" y="2045970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4517831" y="207502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81" name="Rectangle 81"/>
            <p:cNvSpPr/>
            <p:nvPr/>
          </p:nvSpPr>
          <p:spPr>
            <a:xfrm>
              <a:off x="4849178" y="2810828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2" name="TextBox 82"/>
            <p:cNvSpPr txBox="1"/>
            <p:nvPr/>
          </p:nvSpPr>
          <p:spPr>
            <a:xfrm>
              <a:off x="4880733" y="283987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83" name="Rectangle 83"/>
            <p:cNvSpPr/>
            <p:nvPr/>
          </p:nvSpPr>
          <p:spPr>
            <a:xfrm>
              <a:off x="5170170" y="2810828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4" name="TextBox 84"/>
            <p:cNvSpPr txBox="1"/>
            <p:nvPr/>
          </p:nvSpPr>
          <p:spPr>
            <a:xfrm>
              <a:off x="5201726" y="283987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85" name="Rectangle 85"/>
            <p:cNvSpPr/>
            <p:nvPr/>
          </p:nvSpPr>
          <p:spPr>
            <a:xfrm>
              <a:off x="5492115" y="2810828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6" name="TextBox 86"/>
            <p:cNvSpPr txBox="1"/>
            <p:nvPr/>
          </p:nvSpPr>
          <p:spPr>
            <a:xfrm>
              <a:off x="5523671" y="283987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87" name="Rectangle 87"/>
            <p:cNvSpPr/>
            <p:nvPr/>
          </p:nvSpPr>
          <p:spPr>
            <a:xfrm>
              <a:off x="5813108" y="3574732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8" name="TextBox 88"/>
            <p:cNvSpPr txBox="1"/>
            <p:nvPr/>
          </p:nvSpPr>
          <p:spPr>
            <a:xfrm>
              <a:off x="5844663" y="360473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89" name="Rectangle 89"/>
            <p:cNvSpPr/>
            <p:nvPr/>
          </p:nvSpPr>
          <p:spPr>
            <a:xfrm>
              <a:off x="5813108" y="4339590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90" name="TextBox 90"/>
            <p:cNvSpPr txBox="1"/>
            <p:nvPr/>
          </p:nvSpPr>
          <p:spPr>
            <a:xfrm>
              <a:off x="5844663" y="436864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627519" y="2019776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x₁</a:t>
              </a:r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627519" y="2783681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x₂</a:t>
              </a:r>
            </a:p>
          </p:txBody>
        </p:sp>
        <p:sp>
          <p:nvSpPr>
            <p:cNvPr id="93" name="TextBox 93"/>
            <p:cNvSpPr txBox="1"/>
            <p:nvPr/>
          </p:nvSpPr>
          <p:spPr>
            <a:xfrm>
              <a:off x="627519" y="3548539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x₃</a:t>
              </a:r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627519" y="4312444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x₄</a:t>
              </a:r>
            </a:p>
          </p:txBody>
        </p:sp>
      </p:grpSp>
      <p:grpSp>
        <p:nvGrpSpPr>
          <p:cNvPr id="129" name="c2-table-1"/>
          <p:cNvGrpSpPr/>
          <p:nvPr/>
        </p:nvGrpSpPr>
        <p:grpSpPr>
          <a:xfrm>
            <a:off x="6680835" y="1524000"/>
            <a:ext cx="4977765" cy="2840355"/>
            <a:chOff x="6680835" y="1524000"/>
            <a:chExt cx="4977765" cy="2840355"/>
          </a:xfrm>
        </p:grpSpPr>
        <p:sp>
          <p:nvSpPr>
            <p:cNvPr id="96" name="Rectangle 96"/>
            <p:cNvSpPr/>
            <p:nvPr/>
          </p:nvSpPr>
          <p:spPr>
            <a:xfrm>
              <a:off x="6680835" y="1524000"/>
              <a:ext cx="4977765" cy="405765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97" name="TextBox 97"/>
            <p:cNvSpPr txBox="1"/>
            <p:nvPr/>
          </p:nvSpPr>
          <p:spPr>
            <a:xfrm>
              <a:off x="7271106" y="164830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路径</a:t>
              </a:r>
            </a:p>
          </p:txBody>
        </p:sp>
        <p:sp>
          <p:nvSpPr>
            <p:cNvPr id="98" name="TextBox 98"/>
            <p:cNvSpPr txBox="1"/>
            <p:nvPr/>
          </p:nvSpPr>
          <p:spPr>
            <a:xfrm>
              <a:off x="8366481" y="164830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结点</a:t>
              </a:r>
            </a:p>
          </p:txBody>
        </p:sp>
        <p:sp>
          <p:nvSpPr>
            <p:cNvPr id="99" name="TextBox 99"/>
            <p:cNvSpPr txBox="1"/>
            <p:nvPr/>
          </p:nvSpPr>
          <p:spPr>
            <a:xfrm>
              <a:off x="9957829" y="164830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检验结果</a:t>
              </a:r>
            </a:p>
          </p:txBody>
        </p:sp>
        <p:sp>
          <p:nvSpPr>
            <p:cNvPr id="100" name="TextBox 100"/>
            <p:cNvSpPr txBox="1"/>
            <p:nvPr/>
          </p:nvSpPr>
          <p:spPr>
            <a:xfrm>
              <a:off x="7291272" y="2054066"/>
              <a:ext cx="272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(2)</a:t>
              </a:r>
            </a:p>
          </p:txBody>
        </p:sp>
        <p:sp>
          <p:nvSpPr>
            <p:cNvPr id="101" name="TextBox 101"/>
            <p:cNvSpPr txBox="1"/>
            <p:nvPr/>
          </p:nvSpPr>
          <p:spPr>
            <a:xfrm>
              <a:off x="8434329" y="205406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18</a:t>
              </a:r>
            </a:p>
          </p:txBody>
        </p:sp>
        <p:sp>
          <p:nvSpPr>
            <p:cNvPr id="102" name="TextBox 102"/>
            <p:cNvSpPr txBox="1"/>
            <p:nvPr/>
          </p:nvSpPr>
          <p:spPr>
            <a:xfrm>
              <a:off x="8971598" y="2054066"/>
              <a:ext cx="18477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通过，结点 18 成为 E-结点</a:t>
              </a:r>
            </a:p>
          </p:txBody>
        </p:sp>
        <p:sp>
          <p:nvSpPr>
            <p:cNvPr id="103" name="Rectangle 103"/>
            <p:cNvSpPr/>
            <p:nvPr/>
          </p:nvSpPr>
          <p:spPr>
            <a:xfrm>
              <a:off x="6680835" y="2330768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4" name="Rectangle 104"/>
            <p:cNvSpPr/>
            <p:nvPr/>
          </p:nvSpPr>
          <p:spPr>
            <a:xfrm>
              <a:off x="6680835" y="2335530"/>
              <a:ext cx="4977765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05" name="TextBox 105"/>
            <p:cNvSpPr txBox="1"/>
            <p:nvPr/>
          </p:nvSpPr>
          <p:spPr>
            <a:xfrm>
              <a:off x="7180452" y="2459831"/>
              <a:ext cx="49428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(2, 1)</a:t>
              </a:r>
            </a:p>
          </p:txBody>
        </p:sp>
        <p:sp>
          <p:nvSpPr>
            <p:cNvPr id="106" name="TextBox 106"/>
            <p:cNvSpPr txBox="1"/>
            <p:nvPr/>
          </p:nvSpPr>
          <p:spPr>
            <a:xfrm>
              <a:off x="8434329" y="2459831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19</a:t>
              </a:r>
            </a:p>
          </p:txBody>
        </p:sp>
        <p:sp>
          <p:nvSpPr>
            <p:cNvPr id="107" name="TextBox 107"/>
            <p:cNvSpPr txBox="1"/>
            <p:nvPr/>
          </p:nvSpPr>
          <p:spPr>
            <a:xfrm>
              <a:off x="8971598" y="2459831"/>
              <a:ext cx="17713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kill</a:t>
              </a: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：与皇后 1 在同一斜线</a:t>
              </a:r>
            </a:p>
          </p:txBody>
        </p:sp>
        <p:sp>
          <p:nvSpPr>
            <p:cNvPr id="108" name="Rectangle 108"/>
            <p:cNvSpPr/>
            <p:nvPr/>
          </p:nvSpPr>
          <p:spPr>
            <a:xfrm>
              <a:off x="6680835" y="2736532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9" name="TextBox 109"/>
            <p:cNvSpPr txBox="1"/>
            <p:nvPr/>
          </p:nvSpPr>
          <p:spPr>
            <a:xfrm>
              <a:off x="7180452" y="2865596"/>
              <a:ext cx="49428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(2, 3)</a:t>
              </a:r>
            </a:p>
          </p:txBody>
        </p:sp>
        <p:sp>
          <p:nvSpPr>
            <p:cNvPr id="110" name="TextBox 110"/>
            <p:cNvSpPr txBox="1"/>
            <p:nvPr/>
          </p:nvSpPr>
          <p:spPr>
            <a:xfrm>
              <a:off x="8434329" y="286559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24</a:t>
              </a:r>
            </a:p>
          </p:txBody>
        </p:sp>
        <p:sp>
          <p:nvSpPr>
            <p:cNvPr id="111" name="TextBox 111"/>
            <p:cNvSpPr txBox="1"/>
            <p:nvPr/>
          </p:nvSpPr>
          <p:spPr>
            <a:xfrm>
              <a:off x="8971598" y="2865596"/>
              <a:ext cx="17713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kill</a:t>
              </a: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：与皇后 1 在同一斜线</a:t>
              </a:r>
            </a:p>
          </p:txBody>
        </p:sp>
        <p:sp>
          <p:nvSpPr>
            <p:cNvPr id="112" name="Rectangle 112"/>
            <p:cNvSpPr/>
            <p:nvPr/>
          </p:nvSpPr>
          <p:spPr>
            <a:xfrm>
              <a:off x="6680835" y="3142298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3" name="Rectangle 113"/>
            <p:cNvSpPr/>
            <p:nvPr/>
          </p:nvSpPr>
          <p:spPr>
            <a:xfrm>
              <a:off x="6680835" y="3147060"/>
              <a:ext cx="4977765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14" name="TextBox 114"/>
            <p:cNvSpPr txBox="1"/>
            <p:nvPr/>
          </p:nvSpPr>
          <p:spPr>
            <a:xfrm>
              <a:off x="7180452" y="3271361"/>
              <a:ext cx="49428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(2, 4)</a:t>
              </a:r>
            </a:p>
          </p:txBody>
        </p:sp>
        <p:sp>
          <p:nvSpPr>
            <p:cNvPr id="115" name="TextBox 115"/>
            <p:cNvSpPr txBox="1"/>
            <p:nvPr/>
          </p:nvSpPr>
          <p:spPr>
            <a:xfrm>
              <a:off x="8434329" y="3271361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29</a:t>
              </a:r>
            </a:p>
          </p:txBody>
        </p:sp>
        <p:sp>
          <p:nvSpPr>
            <p:cNvPr id="116" name="TextBox 116"/>
            <p:cNvSpPr txBox="1"/>
            <p:nvPr/>
          </p:nvSpPr>
          <p:spPr>
            <a:xfrm>
              <a:off x="8971598" y="3271361"/>
              <a:ext cx="18477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通过，结点 29 成为 E-结点</a:t>
              </a:r>
            </a:p>
          </p:txBody>
        </p:sp>
        <p:sp>
          <p:nvSpPr>
            <p:cNvPr id="117" name="Rectangle 117"/>
            <p:cNvSpPr/>
            <p:nvPr/>
          </p:nvSpPr>
          <p:spPr>
            <a:xfrm>
              <a:off x="6680835" y="3548062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8" name="TextBox 118"/>
            <p:cNvSpPr txBox="1"/>
            <p:nvPr/>
          </p:nvSpPr>
          <p:spPr>
            <a:xfrm>
              <a:off x="7069633" y="3677126"/>
              <a:ext cx="7159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(2, 4, 1)</a:t>
              </a:r>
            </a:p>
          </p:txBody>
        </p:sp>
        <p:sp>
          <p:nvSpPr>
            <p:cNvPr id="119" name="TextBox 119"/>
            <p:cNvSpPr txBox="1"/>
            <p:nvPr/>
          </p:nvSpPr>
          <p:spPr>
            <a:xfrm>
              <a:off x="8434329" y="367712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30</a:t>
              </a:r>
            </a:p>
          </p:txBody>
        </p:sp>
        <p:sp>
          <p:nvSpPr>
            <p:cNvPr id="120" name="TextBox 120"/>
            <p:cNvSpPr txBox="1"/>
            <p:nvPr/>
          </p:nvSpPr>
          <p:spPr>
            <a:xfrm>
              <a:off x="8971598" y="3677126"/>
              <a:ext cx="18477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通过，结点 30 成为 E-结点</a:t>
              </a:r>
            </a:p>
          </p:txBody>
        </p:sp>
        <p:sp>
          <p:nvSpPr>
            <p:cNvPr id="121" name="Rectangle 121"/>
            <p:cNvSpPr/>
            <p:nvPr/>
          </p:nvSpPr>
          <p:spPr>
            <a:xfrm>
              <a:off x="6680835" y="3953828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22" name="Rectangle 122"/>
            <p:cNvSpPr/>
            <p:nvPr/>
          </p:nvSpPr>
          <p:spPr>
            <a:xfrm>
              <a:off x="6680835" y="3958590"/>
              <a:ext cx="4977765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23" name="TextBox 123"/>
            <p:cNvSpPr txBox="1"/>
            <p:nvPr/>
          </p:nvSpPr>
          <p:spPr>
            <a:xfrm>
              <a:off x="6958814" y="4082891"/>
              <a:ext cx="93756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(2, 4, 1, 3)</a:t>
              </a:r>
            </a:p>
          </p:txBody>
        </p:sp>
        <p:sp>
          <p:nvSpPr>
            <p:cNvPr id="124" name="TextBox 124"/>
            <p:cNvSpPr txBox="1"/>
            <p:nvPr/>
          </p:nvSpPr>
          <p:spPr>
            <a:xfrm>
              <a:off x="8434329" y="4082891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31</a:t>
              </a:r>
            </a:p>
          </p:txBody>
        </p:sp>
        <p:sp>
          <p:nvSpPr>
            <p:cNvPr id="125" name="TextBox 125"/>
            <p:cNvSpPr txBox="1"/>
            <p:nvPr/>
          </p:nvSpPr>
          <p:spPr>
            <a:xfrm>
              <a:off x="8971598" y="4082891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找到一个可行解</a:t>
              </a:r>
            </a:p>
          </p:txBody>
        </p:sp>
        <p:sp>
          <p:nvSpPr>
            <p:cNvPr id="126" name="Rectangle 126"/>
            <p:cNvSpPr/>
            <p:nvPr/>
          </p:nvSpPr>
          <p:spPr>
            <a:xfrm>
              <a:off x="6680835" y="1524000"/>
              <a:ext cx="4977765" cy="284035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127" name="Rectangle 127"/>
            <p:cNvSpPr/>
            <p:nvPr/>
          </p:nvSpPr>
          <p:spPr>
            <a:xfrm>
              <a:off x="8169592" y="1524000"/>
              <a:ext cx="9525" cy="28403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28" name="Rectangle 128"/>
            <p:cNvSpPr/>
            <p:nvPr/>
          </p:nvSpPr>
          <p:spPr>
            <a:xfrm>
              <a:off x="8866822" y="1524000"/>
              <a:ext cx="9525" cy="28403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136" name="c2-card-2"/>
          <p:cNvGrpSpPr/>
          <p:nvPr/>
        </p:nvGrpSpPr>
        <p:grpSpPr>
          <a:xfrm>
            <a:off x="6680835" y="4539615"/>
            <a:ext cx="4977765" cy="1680210"/>
            <a:chOff x="6680835" y="4539615"/>
            <a:chExt cx="4977765" cy="1680210"/>
          </a:xfrm>
        </p:grpSpPr>
        <p:sp>
          <p:nvSpPr>
            <p:cNvPr id="130" name="Rectangle 130"/>
            <p:cNvSpPr/>
            <p:nvPr/>
          </p:nvSpPr>
          <p:spPr>
            <a:xfrm>
              <a:off x="6680835" y="4539615"/>
              <a:ext cx="4977765" cy="1680210"/>
            </a:xfrm>
            <a:prstGeom prst="roundRect">
              <a:avLst>
                <a:gd name="adj" fmla="val 793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31" name="Rectangle 131"/>
            <p:cNvSpPr/>
            <p:nvPr/>
          </p:nvSpPr>
          <p:spPr>
            <a:xfrm>
              <a:off x="6690360" y="4672965"/>
              <a:ext cx="47625" cy="141351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32" name="Rectangle 132"/>
            <p:cNvSpPr/>
            <p:nvPr/>
          </p:nvSpPr>
          <p:spPr>
            <a:xfrm>
              <a:off x="6911340" y="4732020"/>
              <a:ext cx="60960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33" name="TextBox 133"/>
            <p:cNvSpPr txBox="1"/>
            <p:nvPr/>
          </p:nvSpPr>
          <p:spPr>
            <a:xfrm>
              <a:off x="6998780" y="4766310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数一数</a:t>
              </a:r>
            </a:p>
          </p:txBody>
        </p:sp>
        <p:sp>
          <p:nvSpPr>
            <p:cNvPr id="134" name="TextBox 134"/>
            <p:cNvSpPr txBox="1"/>
            <p:nvPr/>
          </p:nvSpPr>
          <p:spPr>
            <a:xfrm>
              <a:off x="6904482" y="5088255"/>
              <a:ext cx="407708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到找到第一个解为止，动态树只生成了 16 个结点（含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根），而解空间树有 65 个结点。</a:t>
              </a:r>
            </a:p>
          </p:txBody>
        </p:sp>
        <p:sp>
          <p:nvSpPr>
            <p:cNvPr id="135" name="TextBox 135"/>
            <p:cNvSpPr txBox="1"/>
            <p:nvPr/>
          </p:nvSpPr>
          <p:spPr>
            <a:xfrm>
              <a:off x="6905625" y="5644039"/>
              <a:ext cx="4363974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继续搜索还能找到另一个解 (3, 1, 4, 2)，它是 (2, 4, 1, 3) 左右翻</a:t>
              </a:r>
              <a:br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转后的棋盘。</a:t>
              </a:r>
            </a:p>
          </p:txBody>
        </p:sp>
      </p:grpSp>
      <p:grpSp>
        <p:nvGrpSpPr>
          <p:cNvPr id="13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37" name="TextBox 137"/>
            <p:cNvSpPr txBox="1"/>
            <p:nvPr/>
          </p:nvSpPr>
          <p:spPr>
            <a:xfrm>
              <a:off x="528447" y="6581299"/>
              <a:ext cx="18568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第7章 回溯法</a:t>
              </a:r>
            </a:p>
          </p:txBody>
        </p:sp>
        <p:sp>
          <p:nvSpPr>
            <p:cNvPr id="138" name="TextBox 13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974580" cy="909257"/>
            <a:chOff x="520446" y="342900"/>
            <a:chExt cx="797458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009775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8702" y="407194"/>
              <a:ext cx="18591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第7章 回溯法 · n-皇后问题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97458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8-皇后问题：解空间有多大，回溯实际要走多少结点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6" name="c1-table-1"/>
          <p:cNvGrpSpPr/>
          <p:nvPr/>
        </p:nvGrpSpPr>
        <p:grpSpPr>
          <a:xfrm>
            <a:off x="533400" y="1524000"/>
            <a:ext cx="5951220" cy="2023110"/>
            <a:chOff x="533400" y="1524000"/>
            <a:chExt cx="5951220" cy="202311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951220" cy="405765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178636" y="164830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处理方式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023629" y="164830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元组个数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669803" y="1648301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状态空间树结点个数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33412" y="2054066"/>
              <a:ext cx="1013866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硬性处理（Sᵢ =</a:t>
              </a:r>
              <a:br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{1,…,8}）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537460" y="2154079"/>
              <a:ext cx="11799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8⁸ = 16,777,216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323398" y="2054066"/>
              <a:ext cx="1334262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+ 8 + 8² + … + 8⁸ =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19,173,961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530792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535555"/>
              <a:ext cx="5951220" cy="60579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33412" y="2659856"/>
              <a:ext cx="1545488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没有两个 xᵢ 相同（排列</a:t>
              </a:r>
              <a:br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树）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537460" y="2759869"/>
              <a:ext cx="8105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8! = 40,320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323398" y="2759869"/>
              <a:ext cx="208457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+ 8 + 8·7 + … + 8! = 109,601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3136582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33412" y="3265646"/>
              <a:ext cx="156844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回溯 + PLACE（实际）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537460" y="3265646"/>
              <a:ext cx="5240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92 个解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323398" y="3265646"/>
              <a:ext cx="17227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通过检验的结点 2,057 个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1524000"/>
              <a:ext cx="5951220" cy="202311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2432685" y="1524000"/>
              <a:ext cx="9525" cy="202311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4218622" y="1524000"/>
              <a:ext cx="9525" cy="202311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32" name="c1-card-2"/>
          <p:cNvGrpSpPr/>
          <p:nvPr/>
        </p:nvGrpSpPr>
        <p:grpSpPr>
          <a:xfrm>
            <a:off x="533400" y="3722370"/>
            <a:ext cx="5951220" cy="1466850"/>
            <a:chOff x="533400" y="3722370"/>
            <a:chExt cx="5951220" cy="1466850"/>
          </a:xfrm>
        </p:grpSpPr>
        <p:sp>
          <p:nvSpPr>
            <p:cNvPr id="27" name="Rectangle 27"/>
            <p:cNvSpPr/>
            <p:nvPr/>
          </p:nvSpPr>
          <p:spPr>
            <a:xfrm>
              <a:off x="533400" y="3722370"/>
              <a:ext cx="5951220" cy="1466850"/>
            </a:xfrm>
            <a:prstGeom prst="roundRect">
              <a:avLst>
                <a:gd name="adj" fmla="val 909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542925" y="3855720"/>
              <a:ext cx="47625" cy="120015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763905" y="3914775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855345" y="394906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57047" y="4271010"/>
              <a:ext cx="5328666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原课件写作"状态空间树结点个数：1+8+8*7+8*7*6+…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+8*7*6*5*4*3*2*1 = 69281"。按式子求和应为 109,601；69,281 少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加了最后一项 8! = 40,320。</a:t>
              </a:r>
            </a:p>
          </p:txBody>
        </p:sp>
      </p:grpSp>
      <p:grpSp>
        <p:nvGrpSpPr>
          <p:cNvPr id="39" name="c1-callout-3"/>
          <p:cNvGrpSpPr/>
          <p:nvPr/>
        </p:nvGrpSpPr>
        <p:grpSpPr>
          <a:xfrm>
            <a:off x="533400" y="5363528"/>
            <a:ext cx="5951220" cy="862012"/>
            <a:chOff x="533400" y="5363528"/>
            <a:chExt cx="5951220" cy="862012"/>
          </a:xfrm>
        </p:grpSpPr>
        <p:sp>
          <p:nvSpPr>
            <p:cNvPr id="33" name="Rectangle 33"/>
            <p:cNvSpPr/>
            <p:nvPr/>
          </p:nvSpPr>
          <p:spPr>
            <a:xfrm>
              <a:off x="533400" y="5363528"/>
              <a:ext cx="5951220" cy="862012"/>
            </a:xfrm>
            <a:prstGeom prst="roundRect">
              <a:avLst>
                <a:gd name="adj" fmla="val 13260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37" name="Group 37"/>
            <p:cNvGrpSpPr/>
            <p:nvPr/>
          </p:nvGrpSpPr>
          <p:grpSpPr>
            <a:xfrm>
              <a:off x="738188" y="5694998"/>
              <a:ext cx="200026" cy="200025"/>
              <a:chOff x="738188" y="5694998"/>
              <a:chExt cx="200026" cy="200025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738188" y="569499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777926" y="573944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812642" y="585057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38" name="TextBox 38"/>
            <p:cNvSpPr txBox="1"/>
            <p:nvPr/>
          </p:nvSpPr>
          <p:spPr>
            <a:xfrm>
              <a:off x="1040892" y="5575935"/>
              <a:ext cx="4985766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限界函数实现了隐式约束以后到底剩多少结点，事先并不知道，可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以先用蒙特卡罗方法估计。</a:t>
              </a:r>
            </a:p>
          </p:txBody>
        </p:sp>
      </p:grpSp>
      <p:grpSp>
        <p:nvGrpSpPr>
          <p:cNvPr id="92" name="c2-table-1"/>
          <p:cNvGrpSpPr/>
          <p:nvPr/>
        </p:nvGrpSpPr>
        <p:grpSpPr>
          <a:xfrm>
            <a:off x="6784086" y="1524000"/>
            <a:ext cx="4874514" cy="4743069"/>
            <a:chOff x="6784086" y="1524000"/>
            <a:chExt cx="4874514" cy="4743069"/>
          </a:xfrm>
        </p:grpSpPr>
        <p:sp>
          <p:nvSpPr>
            <p:cNvPr id="40" name="Rectangle 40"/>
            <p:cNvSpPr/>
            <p:nvPr/>
          </p:nvSpPr>
          <p:spPr>
            <a:xfrm>
              <a:off x="6789420" y="1524000"/>
              <a:ext cx="4869180" cy="405765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179197" y="1648301"/>
              <a:ext cx="29677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层 k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231619" y="1648301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排列树结点数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9846910" y="1648301"/>
              <a:ext cx="147644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通过 PLACE 的结点数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278331" y="205406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9318249" y="205406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1464232" y="205406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6789420" y="2330768"/>
              <a:ext cx="486918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6789420" y="2335530"/>
              <a:ext cx="486918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7278331" y="245983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9318249" y="245983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1464232" y="245983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6789420" y="2736532"/>
              <a:ext cx="486918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7278331" y="286559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9235323" y="286559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56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1381306" y="286559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42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6789420" y="3142298"/>
              <a:ext cx="486918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6789420" y="3147060"/>
              <a:ext cx="486918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7278331" y="327136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9152397" y="3271361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336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1298380" y="3271361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140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6789420" y="3548062"/>
              <a:ext cx="486918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7278331" y="367712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8986545" y="3677126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1,680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11298380" y="3677126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344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6789420" y="3953828"/>
              <a:ext cx="486918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6" name="Rectangle 66"/>
            <p:cNvSpPr/>
            <p:nvPr/>
          </p:nvSpPr>
          <p:spPr>
            <a:xfrm>
              <a:off x="6789420" y="3958590"/>
              <a:ext cx="486918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7278331" y="408289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8986545" y="4082891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6,720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11298380" y="4082891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568</a:t>
              </a:r>
            </a:p>
          </p:txBody>
        </p:sp>
        <p:sp>
          <p:nvSpPr>
            <p:cNvPr id="70" name="Rectangle 70"/>
            <p:cNvSpPr/>
            <p:nvPr/>
          </p:nvSpPr>
          <p:spPr>
            <a:xfrm>
              <a:off x="6789420" y="4359592"/>
              <a:ext cx="486918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7278331" y="448865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8903619" y="4488656"/>
              <a:ext cx="5089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20,160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11298380" y="4488656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550</a:t>
              </a:r>
            </a:p>
          </p:txBody>
        </p:sp>
        <p:sp>
          <p:nvSpPr>
            <p:cNvPr id="74" name="Rectangle 74"/>
            <p:cNvSpPr/>
            <p:nvPr/>
          </p:nvSpPr>
          <p:spPr>
            <a:xfrm>
              <a:off x="6789420" y="4765358"/>
              <a:ext cx="486918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5" name="Rectangle 75"/>
            <p:cNvSpPr/>
            <p:nvPr/>
          </p:nvSpPr>
          <p:spPr>
            <a:xfrm>
              <a:off x="6789420" y="4770120"/>
              <a:ext cx="486918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7278331" y="489442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8903619" y="4894421"/>
              <a:ext cx="5089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40,320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11298380" y="4894421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312</a:t>
              </a:r>
            </a:p>
          </p:txBody>
        </p:sp>
        <p:sp>
          <p:nvSpPr>
            <p:cNvPr id="79" name="Rectangle 79"/>
            <p:cNvSpPr/>
            <p:nvPr/>
          </p:nvSpPr>
          <p:spPr>
            <a:xfrm>
              <a:off x="6789420" y="5171122"/>
              <a:ext cx="486918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7278331" y="530018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8903619" y="5300186"/>
              <a:ext cx="5089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40,320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11381306" y="530018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92</a:t>
              </a:r>
            </a:p>
          </p:txBody>
        </p:sp>
        <p:sp>
          <p:nvSpPr>
            <p:cNvPr id="83" name="Rectangle 83"/>
            <p:cNvSpPr/>
            <p:nvPr/>
          </p:nvSpPr>
          <p:spPr>
            <a:xfrm>
              <a:off x="6789420" y="5576888"/>
              <a:ext cx="486918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4" name="Rectangle 84"/>
            <p:cNvSpPr/>
            <p:nvPr/>
          </p:nvSpPr>
          <p:spPr>
            <a:xfrm>
              <a:off x="6789420" y="5581650"/>
              <a:ext cx="486918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5" name="TextBox 85"/>
            <p:cNvSpPr txBox="1"/>
            <p:nvPr/>
          </p:nvSpPr>
          <p:spPr>
            <a:xfrm>
              <a:off x="7171093" y="570595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合计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8820694" y="5705951"/>
              <a:ext cx="5919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109,601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11132528" y="5705951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2,057</a:t>
              </a:r>
            </a:p>
          </p:txBody>
        </p:sp>
        <p:sp>
          <p:nvSpPr>
            <p:cNvPr id="88" name="Rectangle 88"/>
            <p:cNvSpPr/>
            <p:nvPr/>
          </p:nvSpPr>
          <p:spPr>
            <a:xfrm>
              <a:off x="6789420" y="1524000"/>
              <a:ext cx="4869180" cy="446341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89" name="Rectangle 89"/>
            <p:cNvSpPr/>
            <p:nvPr/>
          </p:nvSpPr>
          <p:spPr>
            <a:xfrm>
              <a:off x="7861935" y="1524000"/>
              <a:ext cx="9525" cy="44634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0" name="Rectangle 90"/>
            <p:cNvSpPr/>
            <p:nvPr/>
          </p:nvSpPr>
          <p:spPr>
            <a:xfrm>
              <a:off x="9507855" y="1524000"/>
              <a:ext cx="9525" cy="44634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1" name="TextBox 91"/>
            <p:cNvSpPr txBox="1"/>
            <p:nvPr/>
          </p:nvSpPr>
          <p:spPr>
            <a:xfrm>
              <a:off x="6784086" y="6061710"/>
              <a:ext cx="316279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第 k 层表示已放好 k 个皇后，数据由脚本穷举得到</a:t>
              </a:r>
            </a:p>
          </p:txBody>
        </p:sp>
      </p:grpSp>
      <p:grpSp>
        <p:nvGrpSpPr>
          <p:cNvPr id="9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93" name="TextBox 93"/>
            <p:cNvSpPr txBox="1"/>
            <p:nvPr/>
          </p:nvSpPr>
          <p:spPr>
            <a:xfrm>
              <a:off x="528447" y="6581299"/>
              <a:ext cx="18568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第7章 回溯法</a:t>
              </a:r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914894" cy="909257"/>
            <a:chOff x="520446" y="342900"/>
            <a:chExt cx="591489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009775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8702" y="407194"/>
              <a:ext cx="18591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第7章 回溯法 · n-皇后问题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91489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8-皇后的蒙特卡罗估计：两条随机路径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7755712" cy="264033"/>
            <a:chOff x="526542" y="1545907"/>
            <a:chExt cx="7755712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77557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棋盘左侧数字是该行皇后可放的列数 mᵢ（与前面各皇后都不冲突的列），格内数字是皇后编号。</a:t>
              </a:r>
            </a:p>
          </p:txBody>
        </p:sp>
      </p:grpSp>
      <p:grpSp>
        <p:nvGrpSpPr>
          <p:cNvPr id="10" name="c1-text-1"/>
          <p:cNvGrpSpPr/>
          <p:nvPr/>
        </p:nvGrpSpPr>
        <p:grpSpPr>
          <a:xfrm>
            <a:off x="527685" y="1947386"/>
            <a:ext cx="4024668" cy="220028"/>
            <a:chOff x="527685" y="1947386"/>
            <a:chExt cx="4024668" cy="220028"/>
          </a:xfrm>
        </p:grpSpPr>
        <p:sp>
          <p:nvSpPr>
            <p:cNvPr id="9" name="TextBox 9"/>
            <p:cNvSpPr txBox="1"/>
            <p:nvPr/>
          </p:nvSpPr>
          <p:spPr>
            <a:xfrm>
              <a:off x="527685" y="1947386"/>
              <a:ext cx="402466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路径 1：依次放在第 2、4、1、3、5 列，第 6 行已无列可放</a:t>
              </a:r>
            </a:p>
          </p:txBody>
        </p:sp>
      </p:grpSp>
      <p:grpSp>
        <p:nvGrpSpPr>
          <p:cNvPr id="86" name="c1-cells-2"/>
          <p:cNvGrpSpPr/>
          <p:nvPr/>
        </p:nvGrpSpPr>
        <p:grpSpPr>
          <a:xfrm>
            <a:off x="528066" y="2292668"/>
            <a:ext cx="3032379" cy="2816542"/>
            <a:chOff x="528066" y="2292668"/>
            <a:chExt cx="3032379" cy="2816542"/>
          </a:xfrm>
        </p:grpSpPr>
        <p:sp>
          <p:nvSpPr>
            <p:cNvPr id="11" name="TextBox 11"/>
            <p:cNvSpPr txBox="1"/>
            <p:nvPr/>
          </p:nvSpPr>
          <p:spPr>
            <a:xfrm>
              <a:off x="528066" y="240315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743902" y="2292668"/>
              <a:ext cx="352425" cy="352425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2F4B9A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1095375" y="2292668"/>
              <a:ext cx="352425" cy="352425"/>
            </a:xfrm>
            <a:prstGeom prst="rect">
              <a:avLst/>
            </a:prstGeom>
            <a:solidFill>
              <a:srgbClr val="2F4B9A"/>
            </a:solidFill>
            <a:ln w="15240">
              <a:solidFill>
                <a:srgbClr val="2F4B9A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225438" y="240315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1447800" y="2292668"/>
              <a:ext cx="352425" cy="352425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2F4B9A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1800225" y="2292668"/>
              <a:ext cx="352425" cy="352425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2F4B9A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2151698" y="2292668"/>
              <a:ext cx="352425" cy="352425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2F4B9A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2504122" y="2292668"/>
              <a:ext cx="352425" cy="352425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2F4B9A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2855595" y="2292668"/>
              <a:ext cx="352425" cy="352425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2F4B9A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3208020" y="2292668"/>
              <a:ext cx="352425" cy="352425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2F4B9A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528066" y="275558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743902" y="2645092"/>
              <a:ext cx="352425" cy="352425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2F4B9A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1095375" y="2645092"/>
              <a:ext cx="352425" cy="352425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2F4B9A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1447800" y="2645092"/>
              <a:ext cx="352425" cy="352425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2F4B9A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1800225" y="2645092"/>
              <a:ext cx="352425" cy="352425"/>
            </a:xfrm>
            <a:prstGeom prst="rect">
              <a:avLst/>
            </a:prstGeom>
            <a:solidFill>
              <a:srgbClr val="2F4B9A"/>
            </a:solidFill>
            <a:ln w="15240">
              <a:solidFill>
                <a:srgbClr val="2F4B9A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1929336" y="275558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2151698" y="2645092"/>
              <a:ext cx="352425" cy="352425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2F4B9A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2504122" y="2645092"/>
              <a:ext cx="352425" cy="352425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2F4B9A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2855595" y="2645092"/>
              <a:ext cx="352425" cy="352425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2F4B9A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3208020" y="2645092"/>
              <a:ext cx="352425" cy="352425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2F4B9A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528066" y="310800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743902" y="2996565"/>
              <a:ext cx="352425" cy="352425"/>
            </a:xfrm>
            <a:prstGeom prst="rect">
              <a:avLst/>
            </a:prstGeom>
            <a:solidFill>
              <a:srgbClr val="2F4B9A"/>
            </a:solidFill>
            <a:ln w="15240">
              <a:solidFill>
                <a:srgbClr val="2F4B9A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73966" y="310800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1095375" y="2996565"/>
              <a:ext cx="352425" cy="352425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2F4B9A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1447800" y="2996565"/>
              <a:ext cx="352425" cy="352425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2F4B9A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1800225" y="2996565"/>
              <a:ext cx="352425" cy="352425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2F4B9A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2151698" y="2996565"/>
              <a:ext cx="352425" cy="352425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2F4B9A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2504122" y="2996565"/>
              <a:ext cx="352425" cy="352425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2F4B9A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2855595" y="2996565"/>
              <a:ext cx="352425" cy="352425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2F4B9A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3208020" y="2996565"/>
              <a:ext cx="352425" cy="352425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2F4B9A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528066" y="345948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743902" y="3348990"/>
              <a:ext cx="352425" cy="352425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2F4B9A"/>
              </a:solidFill>
            </a:ln>
          </p:spPr>
        </p:sp>
        <p:sp>
          <p:nvSpPr>
            <p:cNvPr id="43" name="Rectangle 43"/>
            <p:cNvSpPr/>
            <p:nvPr/>
          </p:nvSpPr>
          <p:spPr>
            <a:xfrm>
              <a:off x="1095375" y="3348990"/>
              <a:ext cx="352425" cy="352425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2F4B9A"/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1447800" y="3348990"/>
              <a:ext cx="352425" cy="352425"/>
            </a:xfrm>
            <a:prstGeom prst="rect">
              <a:avLst/>
            </a:prstGeom>
            <a:solidFill>
              <a:srgbClr val="2F4B9A"/>
            </a:solidFill>
            <a:ln w="15240">
              <a:solidFill>
                <a:srgbClr val="2F4B9A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1577863" y="345948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1800225" y="3348990"/>
              <a:ext cx="352425" cy="352425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2F4B9A"/>
              </a:solidFill>
            </a:ln>
          </p:spPr>
        </p:sp>
        <p:sp>
          <p:nvSpPr>
            <p:cNvPr id="47" name="Rectangle 47"/>
            <p:cNvSpPr/>
            <p:nvPr/>
          </p:nvSpPr>
          <p:spPr>
            <a:xfrm>
              <a:off x="2151698" y="3348990"/>
              <a:ext cx="352425" cy="352425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2F4B9A"/>
              </a:solidFill>
            </a:ln>
          </p:spPr>
        </p:sp>
        <p:sp>
          <p:nvSpPr>
            <p:cNvPr id="48" name="Rectangle 48"/>
            <p:cNvSpPr/>
            <p:nvPr/>
          </p:nvSpPr>
          <p:spPr>
            <a:xfrm>
              <a:off x="2504122" y="3348990"/>
              <a:ext cx="352425" cy="352425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2F4B9A"/>
              </a:solidFill>
            </a:ln>
          </p:spPr>
        </p:sp>
        <p:sp>
          <p:nvSpPr>
            <p:cNvPr id="49" name="Rectangle 49"/>
            <p:cNvSpPr/>
            <p:nvPr/>
          </p:nvSpPr>
          <p:spPr>
            <a:xfrm>
              <a:off x="2855595" y="3348990"/>
              <a:ext cx="352425" cy="352425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2F4B9A"/>
              </a:solidFill>
            </a:ln>
          </p:spPr>
        </p:sp>
        <p:sp>
          <p:nvSpPr>
            <p:cNvPr id="50" name="Rectangle 50"/>
            <p:cNvSpPr/>
            <p:nvPr/>
          </p:nvSpPr>
          <p:spPr>
            <a:xfrm>
              <a:off x="3208020" y="3348990"/>
              <a:ext cx="352425" cy="352425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2F4B9A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528066" y="381190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743902" y="3701415"/>
              <a:ext cx="352425" cy="352425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2F4B9A"/>
              </a:solidFill>
            </a:ln>
          </p:spPr>
        </p:sp>
        <p:sp>
          <p:nvSpPr>
            <p:cNvPr id="53" name="Rectangle 53"/>
            <p:cNvSpPr/>
            <p:nvPr/>
          </p:nvSpPr>
          <p:spPr>
            <a:xfrm>
              <a:off x="1095375" y="3701415"/>
              <a:ext cx="352425" cy="352425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2F4B9A"/>
              </a:solidFill>
            </a:ln>
          </p:spPr>
        </p:sp>
        <p:sp>
          <p:nvSpPr>
            <p:cNvPr id="54" name="Rectangle 54"/>
            <p:cNvSpPr/>
            <p:nvPr/>
          </p:nvSpPr>
          <p:spPr>
            <a:xfrm>
              <a:off x="1447800" y="3701415"/>
              <a:ext cx="352425" cy="352425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2F4B9A"/>
              </a:solidFill>
            </a:ln>
          </p:spPr>
        </p:sp>
        <p:sp>
          <p:nvSpPr>
            <p:cNvPr id="55" name="Rectangle 55"/>
            <p:cNvSpPr/>
            <p:nvPr/>
          </p:nvSpPr>
          <p:spPr>
            <a:xfrm>
              <a:off x="1800225" y="3701415"/>
              <a:ext cx="352425" cy="352425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2F4B9A"/>
              </a:solidFill>
            </a:ln>
          </p:spPr>
        </p:sp>
        <p:sp>
          <p:nvSpPr>
            <p:cNvPr id="56" name="Rectangle 56"/>
            <p:cNvSpPr/>
            <p:nvPr/>
          </p:nvSpPr>
          <p:spPr>
            <a:xfrm>
              <a:off x="2151698" y="3701415"/>
              <a:ext cx="352425" cy="352425"/>
            </a:xfrm>
            <a:prstGeom prst="rect">
              <a:avLst/>
            </a:prstGeom>
            <a:solidFill>
              <a:srgbClr val="2F4B9A"/>
            </a:solidFill>
            <a:ln w="15240">
              <a:solidFill>
                <a:srgbClr val="2F4B9A"/>
              </a:solidFill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2281761" y="381190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2504122" y="3701415"/>
              <a:ext cx="352425" cy="352425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2F4B9A"/>
              </a:solidFill>
            </a:ln>
          </p:spPr>
        </p:sp>
        <p:sp>
          <p:nvSpPr>
            <p:cNvPr id="59" name="Rectangle 59"/>
            <p:cNvSpPr/>
            <p:nvPr/>
          </p:nvSpPr>
          <p:spPr>
            <a:xfrm>
              <a:off x="2855595" y="3701415"/>
              <a:ext cx="352425" cy="352425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2F4B9A"/>
              </a:solidFill>
            </a:ln>
          </p:spPr>
        </p:sp>
        <p:sp>
          <p:nvSpPr>
            <p:cNvPr id="60" name="Rectangle 60"/>
            <p:cNvSpPr/>
            <p:nvPr/>
          </p:nvSpPr>
          <p:spPr>
            <a:xfrm>
              <a:off x="3208020" y="3701415"/>
              <a:ext cx="352425" cy="352425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2F4B9A"/>
              </a:solidFill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528066" y="416337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743902" y="4052888"/>
              <a:ext cx="352425" cy="352425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2F4B9A"/>
              </a:solidFill>
            </a:ln>
          </p:spPr>
        </p:sp>
        <p:sp>
          <p:nvSpPr>
            <p:cNvPr id="63" name="Rectangle 63"/>
            <p:cNvSpPr/>
            <p:nvPr/>
          </p:nvSpPr>
          <p:spPr>
            <a:xfrm>
              <a:off x="1095375" y="4052888"/>
              <a:ext cx="352425" cy="352425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2F4B9A"/>
              </a:solidFill>
            </a:ln>
          </p:spPr>
        </p:sp>
        <p:sp>
          <p:nvSpPr>
            <p:cNvPr id="64" name="Rectangle 64"/>
            <p:cNvSpPr/>
            <p:nvPr/>
          </p:nvSpPr>
          <p:spPr>
            <a:xfrm>
              <a:off x="1447800" y="4052888"/>
              <a:ext cx="352425" cy="352425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2F4B9A"/>
              </a:solidFill>
            </a:ln>
          </p:spPr>
        </p:sp>
        <p:sp>
          <p:nvSpPr>
            <p:cNvPr id="65" name="Rectangle 65"/>
            <p:cNvSpPr/>
            <p:nvPr/>
          </p:nvSpPr>
          <p:spPr>
            <a:xfrm>
              <a:off x="1800225" y="4052888"/>
              <a:ext cx="352425" cy="352425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2F4B9A"/>
              </a:solidFill>
            </a:ln>
          </p:spPr>
        </p:sp>
        <p:sp>
          <p:nvSpPr>
            <p:cNvPr id="66" name="Rectangle 66"/>
            <p:cNvSpPr/>
            <p:nvPr/>
          </p:nvSpPr>
          <p:spPr>
            <a:xfrm>
              <a:off x="2151698" y="4052888"/>
              <a:ext cx="352425" cy="352425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2F4B9A"/>
              </a:solidFill>
            </a:ln>
          </p:spPr>
        </p:sp>
        <p:sp>
          <p:nvSpPr>
            <p:cNvPr id="67" name="Rectangle 67"/>
            <p:cNvSpPr/>
            <p:nvPr/>
          </p:nvSpPr>
          <p:spPr>
            <a:xfrm>
              <a:off x="2504122" y="4052888"/>
              <a:ext cx="352425" cy="352425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2F4B9A"/>
              </a:solidFill>
            </a:ln>
          </p:spPr>
        </p:sp>
        <p:sp>
          <p:nvSpPr>
            <p:cNvPr id="68" name="Rectangle 68"/>
            <p:cNvSpPr/>
            <p:nvPr/>
          </p:nvSpPr>
          <p:spPr>
            <a:xfrm>
              <a:off x="2855595" y="4052888"/>
              <a:ext cx="352425" cy="352425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2F4B9A"/>
              </a:solidFill>
            </a:ln>
          </p:spPr>
        </p:sp>
        <p:sp>
          <p:nvSpPr>
            <p:cNvPr id="69" name="Rectangle 69"/>
            <p:cNvSpPr/>
            <p:nvPr/>
          </p:nvSpPr>
          <p:spPr>
            <a:xfrm>
              <a:off x="3208020" y="4052888"/>
              <a:ext cx="352425" cy="352425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2F4B9A"/>
              </a:solidFill>
            </a:ln>
          </p:spPr>
        </p:sp>
        <p:sp>
          <p:nvSpPr>
            <p:cNvPr id="70" name="Rectangle 70"/>
            <p:cNvSpPr/>
            <p:nvPr/>
          </p:nvSpPr>
          <p:spPr>
            <a:xfrm>
              <a:off x="743902" y="4405312"/>
              <a:ext cx="352425" cy="352425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2F4B9A"/>
              </a:solidFill>
            </a:ln>
          </p:spPr>
        </p:sp>
        <p:sp>
          <p:nvSpPr>
            <p:cNvPr id="71" name="Rectangle 71"/>
            <p:cNvSpPr/>
            <p:nvPr/>
          </p:nvSpPr>
          <p:spPr>
            <a:xfrm>
              <a:off x="1095375" y="4405312"/>
              <a:ext cx="352425" cy="352425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2F4B9A"/>
              </a:solidFill>
            </a:ln>
          </p:spPr>
        </p:sp>
        <p:sp>
          <p:nvSpPr>
            <p:cNvPr id="72" name="Rectangle 72"/>
            <p:cNvSpPr/>
            <p:nvPr/>
          </p:nvSpPr>
          <p:spPr>
            <a:xfrm>
              <a:off x="1447800" y="4405312"/>
              <a:ext cx="352425" cy="352425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2F4B9A"/>
              </a:solidFill>
            </a:ln>
          </p:spPr>
        </p:sp>
        <p:sp>
          <p:nvSpPr>
            <p:cNvPr id="73" name="Rectangle 73"/>
            <p:cNvSpPr/>
            <p:nvPr/>
          </p:nvSpPr>
          <p:spPr>
            <a:xfrm>
              <a:off x="1800225" y="4405312"/>
              <a:ext cx="352425" cy="352425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2F4B9A"/>
              </a:solidFill>
            </a:ln>
          </p:spPr>
        </p:sp>
        <p:sp>
          <p:nvSpPr>
            <p:cNvPr id="74" name="Rectangle 74"/>
            <p:cNvSpPr/>
            <p:nvPr/>
          </p:nvSpPr>
          <p:spPr>
            <a:xfrm>
              <a:off x="2151698" y="4405312"/>
              <a:ext cx="352425" cy="352425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2F4B9A"/>
              </a:solidFill>
            </a:ln>
          </p:spPr>
        </p:sp>
        <p:sp>
          <p:nvSpPr>
            <p:cNvPr id="75" name="Rectangle 75"/>
            <p:cNvSpPr/>
            <p:nvPr/>
          </p:nvSpPr>
          <p:spPr>
            <a:xfrm>
              <a:off x="2504122" y="4405312"/>
              <a:ext cx="352425" cy="352425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2F4B9A"/>
              </a:solidFill>
            </a:ln>
          </p:spPr>
        </p:sp>
        <p:sp>
          <p:nvSpPr>
            <p:cNvPr id="76" name="Rectangle 76"/>
            <p:cNvSpPr/>
            <p:nvPr/>
          </p:nvSpPr>
          <p:spPr>
            <a:xfrm>
              <a:off x="2855595" y="4405312"/>
              <a:ext cx="352425" cy="352425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2F4B9A"/>
              </a:solidFill>
            </a:ln>
          </p:spPr>
        </p:sp>
        <p:sp>
          <p:nvSpPr>
            <p:cNvPr id="77" name="Rectangle 77"/>
            <p:cNvSpPr/>
            <p:nvPr/>
          </p:nvSpPr>
          <p:spPr>
            <a:xfrm>
              <a:off x="3208020" y="4405312"/>
              <a:ext cx="352425" cy="352425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2F4B9A"/>
              </a:solidFill>
            </a:ln>
          </p:spPr>
        </p:sp>
        <p:sp>
          <p:nvSpPr>
            <p:cNvPr id="78" name="Rectangle 78"/>
            <p:cNvSpPr/>
            <p:nvPr/>
          </p:nvSpPr>
          <p:spPr>
            <a:xfrm>
              <a:off x="743902" y="4756785"/>
              <a:ext cx="352425" cy="352425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2F4B9A"/>
              </a:solidFill>
            </a:ln>
          </p:spPr>
        </p:sp>
        <p:sp>
          <p:nvSpPr>
            <p:cNvPr id="79" name="Rectangle 79"/>
            <p:cNvSpPr/>
            <p:nvPr/>
          </p:nvSpPr>
          <p:spPr>
            <a:xfrm>
              <a:off x="1095375" y="4756785"/>
              <a:ext cx="352425" cy="352425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2F4B9A"/>
              </a:solidFill>
            </a:ln>
          </p:spPr>
        </p:sp>
        <p:sp>
          <p:nvSpPr>
            <p:cNvPr id="80" name="Rectangle 80"/>
            <p:cNvSpPr/>
            <p:nvPr/>
          </p:nvSpPr>
          <p:spPr>
            <a:xfrm>
              <a:off x="1447800" y="4756785"/>
              <a:ext cx="352425" cy="352425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2F4B9A"/>
              </a:solidFill>
            </a:ln>
          </p:spPr>
        </p:sp>
        <p:sp>
          <p:nvSpPr>
            <p:cNvPr id="81" name="Rectangle 81"/>
            <p:cNvSpPr/>
            <p:nvPr/>
          </p:nvSpPr>
          <p:spPr>
            <a:xfrm>
              <a:off x="1800225" y="4756785"/>
              <a:ext cx="352425" cy="352425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2F4B9A"/>
              </a:solidFill>
            </a:ln>
          </p:spPr>
        </p:sp>
        <p:sp>
          <p:nvSpPr>
            <p:cNvPr id="82" name="Rectangle 82"/>
            <p:cNvSpPr/>
            <p:nvPr/>
          </p:nvSpPr>
          <p:spPr>
            <a:xfrm>
              <a:off x="2151698" y="4756785"/>
              <a:ext cx="352425" cy="352425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2F4B9A"/>
              </a:solidFill>
            </a:ln>
          </p:spPr>
        </p:sp>
        <p:sp>
          <p:nvSpPr>
            <p:cNvPr id="83" name="Rectangle 83"/>
            <p:cNvSpPr/>
            <p:nvPr/>
          </p:nvSpPr>
          <p:spPr>
            <a:xfrm>
              <a:off x="2504122" y="4756785"/>
              <a:ext cx="352425" cy="352425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2F4B9A"/>
              </a:solidFill>
            </a:ln>
          </p:spPr>
        </p:sp>
        <p:sp>
          <p:nvSpPr>
            <p:cNvPr id="84" name="Rectangle 84"/>
            <p:cNvSpPr/>
            <p:nvPr/>
          </p:nvSpPr>
          <p:spPr>
            <a:xfrm>
              <a:off x="2855595" y="4756785"/>
              <a:ext cx="352425" cy="352425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2F4B9A"/>
              </a:solidFill>
            </a:ln>
          </p:spPr>
        </p:sp>
        <p:sp>
          <p:nvSpPr>
            <p:cNvPr id="85" name="Rectangle 85"/>
            <p:cNvSpPr/>
            <p:nvPr/>
          </p:nvSpPr>
          <p:spPr>
            <a:xfrm>
              <a:off x="3208020" y="4756785"/>
              <a:ext cx="352425" cy="352425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2F4B9A"/>
              </a:solidFill>
            </a:ln>
          </p:spPr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87" name="formula22"/>
              <p:cNvSpPr txBox="1">
                <a:spLocks noGrp="1"/>
              </p:cNvSpPr>
              <p:nvPr/>
            </p:nvSpPr>
            <p:spPr>
              <a:xfrm>
                <a:off x="533400" y="5278755"/>
                <a:ext cx="541020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m</m:t>
                      </m:r>
                      <m:r>
                        <m:rPr>
                          <m:sty m:val="p"/>
                        </m:rP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1</m:t>
                      </m:r>
                      <m:r>
                        <m:rPr>
                          <m:sty m:val="p"/>
                        </m:rP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8</m:t>
                      </m:r>
                      <m:r>
                        <m:rPr>
                          <m:sty m:val="p"/>
                        </m:rP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8</m:t>
                      </m:r>
                      <m:r>
                        <m:rPr>
                          <m:sty m:val="p"/>
                        </m:rP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⋅</m:t>
                      </m:r>
                      <m: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5</m:t>
                      </m:r>
                      <m:r>
                        <m:rPr>
                          <m:sty m:val="p"/>
                        </m:rP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8</m:t>
                      </m:r>
                      <m:r>
                        <m:rPr>
                          <m:sty m:val="p"/>
                        </m:rP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⋅</m:t>
                      </m:r>
                      <m: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5</m:t>
                      </m:r>
                      <m:r>
                        <m:rPr>
                          <m:sty m:val="p"/>
                        </m:rP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⋅</m:t>
                      </m:r>
                      <m: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4</m:t>
                      </m:r>
                      <m:r>
                        <m:rPr>
                          <m:sty m:val="p"/>
                        </m:rP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8</m:t>
                      </m:r>
                      <m:r>
                        <m:rPr>
                          <m:sty m:val="p"/>
                        </m:rP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⋅</m:t>
                      </m:r>
                      <m: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5</m:t>
                      </m:r>
                      <m:r>
                        <m:rPr>
                          <m:sty m:val="p"/>
                        </m:rP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⋅</m:t>
                      </m:r>
                      <m: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4</m:t>
                      </m:r>
                      <m:r>
                        <m:rPr>
                          <m:sty m:val="p"/>
                        </m:rP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⋅</m:t>
                      </m:r>
                      <m: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3</m:t>
                      </m:r>
                      <m:r>
                        <m:rPr>
                          <m:sty m:val="p"/>
                        </m:rP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8</m:t>
                      </m:r>
                      <m:r>
                        <m:rPr>
                          <m:sty m:val="p"/>
                        </m:rP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⋅</m:t>
                      </m:r>
                      <m: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5</m:t>
                      </m:r>
                      <m:r>
                        <m:rPr>
                          <m:sty m:val="p"/>
                        </m:rP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⋅</m:t>
                      </m:r>
                      <m: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4</m:t>
                      </m:r>
                      <m:r>
                        <m:rPr>
                          <m:sty m:val="p"/>
                        </m:rP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⋅</m:t>
                      </m:r>
                      <m: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3</m:t>
                      </m:r>
                      <m:r>
                        <m:rPr>
                          <m:sty m:val="p"/>
                        </m:rP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⋅</m:t>
                      </m:r>
                      <m: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2</m:t>
                      </m:r>
                      <m:r>
                        <m:rPr>
                          <m:sty m:val="p"/>
                        </m:rP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1649</m:t>
                      </m:r>
                    </m:oMath>
                  </m:oMathPara>
                </a14:m>
              </a:p>
            </p:txBody>
          </p:sp>
        </mc:Choice>
      </mc:AlternateContent>
      <p:grpSp>
        <p:nvGrpSpPr>
          <p:cNvPr id="89" name="c2-text-1"/>
          <p:cNvGrpSpPr/>
          <p:nvPr/>
        </p:nvGrpSpPr>
        <p:grpSpPr>
          <a:xfrm>
            <a:off x="6242685" y="1947386"/>
            <a:ext cx="4500361" cy="220028"/>
            <a:chOff x="6242685" y="1947386"/>
            <a:chExt cx="4500361" cy="220028"/>
          </a:xfrm>
        </p:grpSpPr>
        <p:sp>
          <p:nvSpPr>
            <p:cNvPr id="88" name="TextBox 88"/>
            <p:cNvSpPr txBox="1"/>
            <p:nvPr/>
          </p:nvSpPr>
          <p:spPr>
            <a:xfrm>
              <a:off x="6242685" y="1947386"/>
              <a:ext cx="450036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路径 2：依次放在第 1、8、6、3、7、2、4 列，第 8 行已无列可放</a:t>
              </a:r>
            </a:p>
          </p:txBody>
        </p:sp>
      </p:grpSp>
      <p:grpSp>
        <p:nvGrpSpPr>
          <p:cNvPr id="169" name="c2-cells-2"/>
          <p:cNvGrpSpPr/>
          <p:nvPr/>
        </p:nvGrpSpPr>
        <p:grpSpPr>
          <a:xfrm>
            <a:off x="6243066" y="2292668"/>
            <a:ext cx="3032379" cy="2816542"/>
            <a:chOff x="6243066" y="2292668"/>
            <a:chExt cx="3032379" cy="2816542"/>
          </a:xfrm>
        </p:grpSpPr>
        <p:sp>
          <p:nvSpPr>
            <p:cNvPr id="90" name="TextBox 90"/>
            <p:cNvSpPr txBox="1"/>
            <p:nvPr/>
          </p:nvSpPr>
          <p:spPr>
            <a:xfrm>
              <a:off x="6243066" y="240315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91" name="Rectangle 91"/>
            <p:cNvSpPr/>
            <p:nvPr/>
          </p:nvSpPr>
          <p:spPr>
            <a:xfrm>
              <a:off x="6458902" y="2292668"/>
              <a:ext cx="352425" cy="352425"/>
            </a:xfrm>
            <a:prstGeom prst="rect">
              <a:avLst/>
            </a:prstGeom>
            <a:solidFill>
              <a:srgbClr val="2F4B9A"/>
            </a:solidFill>
            <a:ln w="15240">
              <a:solidFill>
                <a:srgbClr val="2F4B9A"/>
              </a:solidFill>
            </a:ln>
          </p:spPr>
        </p:sp>
        <p:sp>
          <p:nvSpPr>
            <p:cNvPr id="92" name="TextBox 92"/>
            <p:cNvSpPr txBox="1"/>
            <p:nvPr/>
          </p:nvSpPr>
          <p:spPr>
            <a:xfrm>
              <a:off x="6588966" y="240315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93" name="Rectangle 93"/>
            <p:cNvSpPr/>
            <p:nvPr/>
          </p:nvSpPr>
          <p:spPr>
            <a:xfrm>
              <a:off x="6810375" y="2292668"/>
              <a:ext cx="352425" cy="352425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2F4B9A"/>
              </a:solidFill>
            </a:ln>
          </p:spPr>
        </p:sp>
        <p:sp>
          <p:nvSpPr>
            <p:cNvPr id="94" name="Rectangle 94"/>
            <p:cNvSpPr/>
            <p:nvPr/>
          </p:nvSpPr>
          <p:spPr>
            <a:xfrm>
              <a:off x="7162800" y="2292668"/>
              <a:ext cx="352425" cy="352425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2F4B9A"/>
              </a:solidFill>
            </a:ln>
          </p:spPr>
        </p:sp>
        <p:sp>
          <p:nvSpPr>
            <p:cNvPr id="95" name="Rectangle 95"/>
            <p:cNvSpPr/>
            <p:nvPr/>
          </p:nvSpPr>
          <p:spPr>
            <a:xfrm>
              <a:off x="7515225" y="2292668"/>
              <a:ext cx="352425" cy="352425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2F4B9A"/>
              </a:solidFill>
            </a:ln>
          </p:spPr>
        </p:sp>
        <p:sp>
          <p:nvSpPr>
            <p:cNvPr id="96" name="Rectangle 96"/>
            <p:cNvSpPr/>
            <p:nvPr/>
          </p:nvSpPr>
          <p:spPr>
            <a:xfrm>
              <a:off x="7866698" y="2292668"/>
              <a:ext cx="352425" cy="352425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2F4B9A"/>
              </a:solidFill>
            </a:ln>
          </p:spPr>
        </p:sp>
        <p:sp>
          <p:nvSpPr>
            <p:cNvPr id="97" name="Rectangle 97"/>
            <p:cNvSpPr/>
            <p:nvPr/>
          </p:nvSpPr>
          <p:spPr>
            <a:xfrm>
              <a:off x="8219122" y="2292668"/>
              <a:ext cx="352425" cy="352425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2F4B9A"/>
              </a:solidFill>
            </a:ln>
          </p:spPr>
        </p:sp>
        <p:sp>
          <p:nvSpPr>
            <p:cNvPr id="98" name="Rectangle 98"/>
            <p:cNvSpPr/>
            <p:nvPr/>
          </p:nvSpPr>
          <p:spPr>
            <a:xfrm>
              <a:off x="8570595" y="2292668"/>
              <a:ext cx="352425" cy="352425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2F4B9A"/>
              </a:solidFill>
            </a:ln>
          </p:spPr>
        </p:sp>
        <p:sp>
          <p:nvSpPr>
            <p:cNvPr id="99" name="Rectangle 99"/>
            <p:cNvSpPr/>
            <p:nvPr/>
          </p:nvSpPr>
          <p:spPr>
            <a:xfrm>
              <a:off x="8923020" y="2292668"/>
              <a:ext cx="352425" cy="352425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2F4B9A"/>
              </a:solidFill>
            </a:ln>
          </p:spPr>
        </p:sp>
        <p:sp>
          <p:nvSpPr>
            <p:cNvPr id="100" name="TextBox 100"/>
            <p:cNvSpPr txBox="1"/>
            <p:nvPr/>
          </p:nvSpPr>
          <p:spPr>
            <a:xfrm>
              <a:off x="6243066" y="275558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101" name="Rectangle 101"/>
            <p:cNvSpPr/>
            <p:nvPr/>
          </p:nvSpPr>
          <p:spPr>
            <a:xfrm>
              <a:off x="6458902" y="2645092"/>
              <a:ext cx="352425" cy="352425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2F4B9A"/>
              </a:solidFill>
            </a:ln>
          </p:spPr>
        </p:sp>
        <p:sp>
          <p:nvSpPr>
            <p:cNvPr id="102" name="Rectangle 102"/>
            <p:cNvSpPr/>
            <p:nvPr/>
          </p:nvSpPr>
          <p:spPr>
            <a:xfrm>
              <a:off x="6810375" y="2645092"/>
              <a:ext cx="352425" cy="352425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2F4B9A"/>
              </a:solidFill>
            </a:ln>
          </p:spPr>
        </p:sp>
        <p:sp>
          <p:nvSpPr>
            <p:cNvPr id="103" name="Rectangle 103"/>
            <p:cNvSpPr/>
            <p:nvPr/>
          </p:nvSpPr>
          <p:spPr>
            <a:xfrm>
              <a:off x="7162800" y="2645092"/>
              <a:ext cx="352425" cy="352425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2F4B9A"/>
              </a:solidFill>
            </a:ln>
          </p:spPr>
        </p:sp>
        <p:sp>
          <p:nvSpPr>
            <p:cNvPr id="104" name="Rectangle 104"/>
            <p:cNvSpPr/>
            <p:nvPr/>
          </p:nvSpPr>
          <p:spPr>
            <a:xfrm>
              <a:off x="7515225" y="2645092"/>
              <a:ext cx="352425" cy="352425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2F4B9A"/>
              </a:solidFill>
            </a:ln>
          </p:spPr>
        </p:sp>
        <p:sp>
          <p:nvSpPr>
            <p:cNvPr id="105" name="Rectangle 105"/>
            <p:cNvSpPr/>
            <p:nvPr/>
          </p:nvSpPr>
          <p:spPr>
            <a:xfrm>
              <a:off x="7866698" y="2645092"/>
              <a:ext cx="352425" cy="352425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2F4B9A"/>
              </a:solidFill>
            </a:ln>
          </p:spPr>
        </p:sp>
        <p:sp>
          <p:nvSpPr>
            <p:cNvPr id="106" name="Rectangle 106"/>
            <p:cNvSpPr/>
            <p:nvPr/>
          </p:nvSpPr>
          <p:spPr>
            <a:xfrm>
              <a:off x="8219122" y="2645092"/>
              <a:ext cx="352425" cy="352425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2F4B9A"/>
              </a:solidFill>
            </a:ln>
          </p:spPr>
        </p:sp>
        <p:sp>
          <p:nvSpPr>
            <p:cNvPr id="107" name="Rectangle 107"/>
            <p:cNvSpPr/>
            <p:nvPr/>
          </p:nvSpPr>
          <p:spPr>
            <a:xfrm>
              <a:off x="8570595" y="2645092"/>
              <a:ext cx="352425" cy="352425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2F4B9A"/>
              </a:solidFill>
            </a:ln>
          </p:spPr>
        </p:sp>
        <p:sp>
          <p:nvSpPr>
            <p:cNvPr id="108" name="Rectangle 108"/>
            <p:cNvSpPr/>
            <p:nvPr/>
          </p:nvSpPr>
          <p:spPr>
            <a:xfrm>
              <a:off x="8923020" y="2645092"/>
              <a:ext cx="352425" cy="352425"/>
            </a:xfrm>
            <a:prstGeom prst="rect">
              <a:avLst/>
            </a:prstGeom>
            <a:solidFill>
              <a:srgbClr val="2F4B9A"/>
            </a:solidFill>
            <a:ln w="15240">
              <a:solidFill>
                <a:srgbClr val="2F4B9A"/>
              </a:solidFill>
            </a:ln>
          </p:spPr>
        </p:sp>
        <p:sp>
          <p:nvSpPr>
            <p:cNvPr id="109" name="TextBox 109"/>
            <p:cNvSpPr txBox="1"/>
            <p:nvPr/>
          </p:nvSpPr>
          <p:spPr>
            <a:xfrm>
              <a:off x="9053083" y="275558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10" name="TextBox 110"/>
            <p:cNvSpPr txBox="1"/>
            <p:nvPr/>
          </p:nvSpPr>
          <p:spPr>
            <a:xfrm>
              <a:off x="6243066" y="310800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11" name="Rectangle 111"/>
            <p:cNvSpPr/>
            <p:nvPr/>
          </p:nvSpPr>
          <p:spPr>
            <a:xfrm>
              <a:off x="6458902" y="2996565"/>
              <a:ext cx="352425" cy="352425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2F4B9A"/>
              </a:solidFill>
            </a:ln>
          </p:spPr>
        </p:sp>
        <p:sp>
          <p:nvSpPr>
            <p:cNvPr id="112" name="Rectangle 112"/>
            <p:cNvSpPr/>
            <p:nvPr/>
          </p:nvSpPr>
          <p:spPr>
            <a:xfrm>
              <a:off x="6810375" y="2996565"/>
              <a:ext cx="352425" cy="352425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2F4B9A"/>
              </a:solidFill>
            </a:ln>
          </p:spPr>
        </p:sp>
        <p:sp>
          <p:nvSpPr>
            <p:cNvPr id="113" name="Rectangle 113"/>
            <p:cNvSpPr/>
            <p:nvPr/>
          </p:nvSpPr>
          <p:spPr>
            <a:xfrm>
              <a:off x="7162800" y="2996565"/>
              <a:ext cx="352425" cy="352425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2F4B9A"/>
              </a:solidFill>
            </a:ln>
          </p:spPr>
        </p:sp>
        <p:sp>
          <p:nvSpPr>
            <p:cNvPr id="114" name="Rectangle 114"/>
            <p:cNvSpPr/>
            <p:nvPr/>
          </p:nvSpPr>
          <p:spPr>
            <a:xfrm>
              <a:off x="7515225" y="2996565"/>
              <a:ext cx="352425" cy="352425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2F4B9A"/>
              </a:solidFill>
            </a:ln>
          </p:spPr>
        </p:sp>
        <p:sp>
          <p:nvSpPr>
            <p:cNvPr id="115" name="Rectangle 115"/>
            <p:cNvSpPr/>
            <p:nvPr/>
          </p:nvSpPr>
          <p:spPr>
            <a:xfrm>
              <a:off x="7866698" y="2996565"/>
              <a:ext cx="352425" cy="352425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2F4B9A"/>
              </a:solidFill>
            </a:ln>
          </p:spPr>
        </p:sp>
        <p:sp>
          <p:nvSpPr>
            <p:cNvPr id="116" name="Rectangle 116"/>
            <p:cNvSpPr/>
            <p:nvPr/>
          </p:nvSpPr>
          <p:spPr>
            <a:xfrm>
              <a:off x="8219122" y="2996565"/>
              <a:ext cx="352425" cy="352425"/>
            </a:xfrm>
            <a:prstGeom prst="rect">
              <a:avLst/>
            </a:prstGeom>
            <a:solidFill>
              <a:srgbClr val="2F4B9A"/>
            </a:solidFill>
            <a:ln w="15240">
              <a:solidFill>
                <a:srgbClr val="2F4B9A"/>
              </a:solidFill>
            </a:ln>
          </p:spPr>
        </p:sp>
        <p:sp>
          <p:nvSpPr>
            <p:cNvPr id="117" name="TextBox 117"/>
            <p:cNvSpPr txBox="1"/>
            <p:nvPr/>
          </p:nvSpPr>
          <p:spPr>
            <a:xfrm>
              <a:off x="8349186" y="310800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18" name="Rectangle 118"/>
            <p:cNvSpPr/>
            <p:nvPr/>
          </p:nvSpPr>
          <p:spPr>
            <a:xfrm>
              <a:off x="8570595" y="2996565"/>
              <a:ext cx="352425" cy="352425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2F4B9A"/>
              </a:solidFill>
            </a:ln>
          </p:spPr>
        </p:sp>
        <p:sp>
          <p:nvSpPr>
            <p:cNvPr id="119" name="Rectangle 119"/>
            <p:cNvSpPr/>
            <p:nvPr/>
          </p:nvSpPr>
          <p:spPr>
            <a:xfrm>
              <a:off x="8923020" y="2996565"/>
              <a:ext cx="352425" cy="352425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2F4B9A"/>
              </a:solidFill>
            </a:ln>
          </p:spPr>
        </p:sp>
        <p:sp>
          <p:nvSpPr>
            <p:cNvPr id="120" name="TextBox 120"/>
            <p:cNvSpPr txBox="1"/>
            <p:nvPr/>
          </p:nvSpPr>
          <p:spPr>
            <a:xfrm>
              <a:off x="6243066" y="345948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1" name="Rectangle 121"/>
            <p:cNvSpPr/>
            <p:nvPr/>
          </p:nvSpPr>
          <p:spPr>
            <a:xfrm>
              <a:off x="6458902" y="3348990"/>
              <a:ext cx="352425" cy="352425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2F4B9A"/>
              </a:solidFill>
            </a:ln>
          </p:spPr>
        </p:sp>
        <p:sp>
          <p:nvSpPr>
            <p:cNvPr id="122" name="Rectangle 122"/>
            <p:cNvSpPr/>
            <p:nvPr/>
          </p:nvSpPr>
          <p:spPr>
            <a:xfrm>
              <a:off x="6810375" y="3348990"/>
              <a:ext cx="352425" cy="352425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2F4B9A"/>
              </a:solidFill>
            </a:ln>
          </p:spPr>
        </p:sp>
        <p:sp>
          <p:nvSpPr>
            <p:cNvPr id="123" name="Rectangle 123"/>
            <p:cNvSpPr/>
            <p:nvPr/>
          </p:nvSpPr>
          <p:spPr>
            <a:xfrm>
              <a:off x="7162800" y="3348990"/>
              <a:ext cx="352425" cy="352425"/>
            </a:xfrm>
            <a:prstGeom prst="rect">
              <a:avLst/>
            </a:prstGeom>
            <a:solidFill>
              <a:srgbClr val="2F4B9A"/>
            </a:solidFill>
            <a:ln w="15240">
              <a:solidFill>
                <a:srgbClr val="2F4B9A"/>
              </a:solidFill>
            </a:ln>
          </p:spPr>
        </p:sp>
        <p:sp>
          <p:nvSpPr>
            <p:cNvPr id="124" name="TextBox 124"/>
            <p:cNvSpPr txBox="1"/>
            <p:nvPr/>
          </p:nvSpPr>
          <p:spPr>
            <a:xfrm>
              <a:off x="7292863" y="345948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25" name="Rectangle 125"/>
            <p:cNvSpPr/>
            <p:nvPr/>
          </p:nvSpPr>
          <p:spPr>
            <a:xfrm>
              <a:off x="7515225" y="3348990"/>
              <a:ext cx="352425" cy="352425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2F4B9A"/>
              </a:solidFill>
            </a:ln>
          </p:spPr>
        </p:sp>
        <p:sp>
          <p:nvSpPr>
            <p:cNvPr id="126" name="Rectangle 126"/>
            <p:cNvSpPr/>
            <p:nvPr/>
          </p:nvSpPr>
          <p:spPr>
            <a:xfrm>
              <a:off x="7866698" y="3348990"/>
              <a:ext cx="352425" cy="352425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2F4B9A"/>
              </a:solidFill>
            </a:ln>
          </p:spPr>
        </p:sp>
        <p:sp>
          <p:nvSpPr>
            <p:cNvPr id="127" name="Rectangle 127"/>
            <p:cNvSpPr/>
            <p:nvPr/>
          </p:nvSpPr>
          <p:spPr>
            <a:xfrm>
              <a:off x="8219122" y="3348990"/>
              <a:ext cx="352425" cy="352425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2F4B9A"/>
              </a:solidFill>
            </a:ln>
          </p:spPr>
        </p:sp>
        <p:sp>
          <p:nvSpPr>
            <p:cNvPr id="128" name="Rectangle 128"/>
            <p:cNvSpPr/>
            <p:nvPr/>
          </p:nvSpPr>
          <p:spPr>
            <a:xfrm>
              <a:off x="8570595" y="3348990"/>
              <a:ext cx="352425" cy="352425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2F4B9A"/>
              </a:solidFill>
            </a:ln>
          </p:spPr>
        </p:sp>
        <p:sp>
          <p:nvSpPr>
            <p:cNvPr id="129" name="Rectangle 129"/>
            <p:cNvSpPr/>
            <p:nvPr/>
          </p:nvSpPr>
          <p:spPr>
            <a:xfrm>
              <a:off x="8923020" y="3348990"/>
              <a:ext cx="352425" cy="352425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2F4B9A"/>
              </a:solidFill>
            </a:ln>
          </p:spPr>
        </p:sp>
        <p:sp>
          <p:nvSpPr>
            <p:cNvPr id="130" name="TextBox 130"/>
            <p:cNvSpPr txBox="1"/>
            <p:nvPr/>
          </p:nvSpPr>
          <p:spPr>
            <a:xfrm>
              <a:off x="6243066" y="381190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31" name="Rectangle 131"/>
            <p:cNvSpPr/>
            <p:nvPr/>
          </p:nvSpPr>
          <p:spPr>
            <a:xfrm>
              <a:off x="6458902" y="3701415"/>
              <a:ext cx="352425" cy="352425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2F4B9A"/>
              </a:solidFill>
            </a:ln>
          </p:spPr>
        </p:sp>
        <p:sp>
          <p:nvSpPr>
            <p:cNvPr id="132" name="Rectangle 132"/>
            <p:cNvSpPr/>
            <p:nvPr/>
          </p:nvSpPr>
          <p:spPr>
            <a:xfrm>
              <a:off x="6810375" y="3701415"/>
              <a:ext cx="352425" cy="352425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2F4B9A"/>
              </a:solidFill>
            </a:ln>
          </p:spPr>
        </p:sp>
        <p:sp>
          <p:nvSpPr>
            <p:cNvPr id="133" name="Rectangle 133"/>
            <p:cNvSpPr/>
            <p:nvPr/>
          </p:nvSpPr>
          <p:spPr>
            <a:xfrm>
              <a:off x="7162800" y="3701415"/>
              <a:ext cx="352425" cy="352425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2F4B9A"/>
              </a:solidFill>
            </a:ln>
          </p:spPr>
        </p:sp>
        <p:sp>
          <p:nvSpPr>
            <p:cNvPr id="134" name="Rectangle 134"/>
            <p:cNvSpPr/>
            <p:nvPr/>
          </p:nvSpPr>
          <p:spPr>
            <a:xfrm>
              <a:off x="7515225" y="3701415"/>
              <a:ext cx="352425" cy="352425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2F4B9A"/>
              </a:solidFill>
            </a:ln>
          </p:spPr>
        </p:sp>
        <p:sp>
          <p:nvSpPr>
            <p:cNvPr id="135" name="Rectangle 135"/>
            <p:cNvSpPr/>
            <p:nvPr/>
          </p:nvSpPr>
          <p:spPr>
            <a:xfrm>
              <a:off x="7866698" y="3701415"/>
              <a:ext cx="352425" cy="352425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2F4B9A"/>
              </a:solidFill>
            </a:ln>
          </p:spPr>
        </p:sp>
        <p:sp>
          <p:nvSpPr>
            <p:cNvPr id="136" name="Rectangle 136"/>
            <p:cNvSpPr/>
            <p:nvPr/>
          </p:nvSpPr>
          <p:spPr>
            <a:xfrm>
              <a:off x="8219122" y="3701415"/>
              <a:ext cx="352425" cy="352425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2F4B9A"/>
              </a:solidFill>
            </a:ln>
          </p:spPr>
        </p:sp>
        <p:sp>
          <p:nvSpPr>
            <p:cNvPr id="137" name="Rectangle 137"/>
            <p:cNvSpPr/>
            <p:nvPr/>
          </p:nvSpPr>
          <p:spPr>
            <a:xfrm>
              <a:off x="8570595" y="3701415"/>
              <a:ext cx="352425" cy="352425"/>
            </a:xfrm>
            <a:prstGeom prst="rect">
              <a:avLst/>
            </a:prstGeom>
            <a:solidFill>
              <a:srgbClr val="2F4B9A"/>
            </a:solidFill>
            <a:ln w="15240">
              <a:solidFill>
                <a:srgbClr val="2F4B9A"/>
              </a:solidFill>
            </a:ln>
          </p:spPr>
        </p:sp>
        <p:sp>
          <p:nvSpPr>
            <p:cNvPr id="138" name="TextBox 138"/>
            <p:cNvSpPr txBox="1"/>
            <p:nvPr/>
          </p:nvSpPr>
          <p:spPr>
            <a:xfrm>
              <a:off x="8700658" y="381190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139" name="Rectangle 139"/>
            <p:cNvSpPr/>
            <p:nvPr/>
          </p:nvSpPr>
          <p:spPr>
            <a:xfrm>
              <a:off x="8923020" y="3701415"/>
              <a:ext cx="352425" cy="352425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2F4B9A"/>
              </a:solidFill>
            </a:ln>
          </p:spPr>
        </p:sp>
        <p:sp>
          <p:nvSpPr>
            <p:cNvPr id="140" name="TextBox 140"/>
            <p:cNvSpPr txBox="1"/>
            <p:nvPr/>
          </p:nvSpPr>
          <p:spPr>
            <a:xfrm>
              <a:off x="6243066" y="416337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41" name="Rectangle 141"/>
            <p:cNvSpPr/>
            <p:nvPr/>
          </p:nvSpPr>
          <p:spPr>
            <a:xfrm>
              <a:off x="6458902" y="4052888"/>
              <a:ext cx="352425" cy="352425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2F4B9A"/>
              </a:solidFill>
            </a:ln>
          </p:spPr>
        </p:sp>
        <p:sp>
          <p:nvSpPr>
            <p:cNvPr id="142" name="Rectangle 142"/>
            <p:cNvSpPr/>
            <p:nvPr/>
          </p:nvSpPr>
          <p:spPr>
            <a:xfrm>
              <a:off x="6810375" y="4052888"/>
              <a:ext cx="352425" cy="352425"/>
            </a:xfrm>
            <a:prstGeom prst="rect">
              <a:avLst/>
            </a:prstGeom>
            <a:solidFill>
              <a:srgbClr val="2F4B9A"/>
            </a:solidFill>
            <a:ln w="15240">
              <a:solidFill>
                <a:srgbClr val="2F4B9A"/>
              </a:solidFill>
            </a:ln>
          </p:spPr>
        </p:sp>
        <p:sp>
          <p:nvSpPr>
            <p:cNvPr id="143" name="TextBox 143"/>
            <p:cNvSpPr txBox="1"/>
            <p:nvPr/>
          </p:nvSpPr>
          <p:spPr>
            <a:xfrm>
              <a:off x="6940438" y="416337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144" name="Rectangle 144"/>
            <p:cNvSpPr/>
            <p:nvPr/>
          </p:nvSpPr>
          <p:spPr>
            <a:xfrm>
              <a:off x="7162800" y="4052888"/>
              <a:ext cx="352425" cy="352425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2F4B9A"/>
              </a:solidFill>
            </a:ln>
          </p:spPr>
        </p:sp>
        <p:sp>
          <p:nvSpPr>
            <p:cNvPr id="145" name="Rectangle 145"/>
            <p:cNvSpPr/>
            <p:nvPr/>
          </p:nvSpPr>
          <p:spPr>
            <a:xfrm>
              <a:off x="7515225" y="4052888"/>
              <a:ext cx="352425" cy="352425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2F4B9A"/>
              </a:solidFill>
            </a:ln>
          </p:spPr>
        </p:sp>
        <p:sp>
          <p:nvSpPr>
            <p:cNvPr id="146" name="Rectangle 146"/>
            <p:cNvSpPr/>
            <p:nvPr/>
          </p:nvSpPr>
          <p:spPr>
            <a:xfrm>
              <a:off x="7866698" y="4052888"/>
              <a:ext cx="352425" cy="352425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2F4B9A"/>
              </a:solidFill>
            </a:ln>
          </p:spPr>
        </p:sp>
        <p:sp>
          <p:nvSpPr>
            <p:cNvPr id="147" name="Rectangle 147"/>
            <p:cNvSpPr/>
            <p:nvPr/>
          </p:nvSpPr>
          <p:spPr>
            <a:xfrm>
              <a:off x="8219122" y="4052888"/>
              <a:ext cx="352425" cy="352425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2F4B9A"/>
              </a:solidFill>
            </a:ln>
          </p:spPr>
        </p:sp>
        <p:sp>
          <p:nvSpPr>
            <p:cNvPr id="148" name="Rectangle 148"/>
            <p:cNvSpPr/>
            <p:nvPr/>
          </p:nvSpPr>
          <p:spPr>
            <a:xfrm>
              <a:off x="8570595" y="4052888"/>
              <a:ext cx="352425" cy="352425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2F4B9A"/>
              </a:solidFill>
            </a:ln>
          </p:spPr>
        </p:sp>
        <p:sp>
          <p:nvSpPr>
            <p:cNvPr id="149" name="Rectangle 149"/>
            <p:cNvSpPr/>
            <p:nvPr/>
          </p:nvSpPr>
          <p:spPr>
            <a:xfrm>
              <a:off x="8923020" y="4052888"/>
              <a:ext cx="352425" cy="352425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2F4B9A"/>
              </a:solidFill>
            </a:ln>
          </p:spPr>
        </p:sp>
        <p:sp>
          <p:nvSpPr>
            <p:cNvPr id="150" name="TextBox 150"/>
            <p:cNvSpPr txBox="1"/>
            <p:nvPr/>
          </p:nvSpPr>
          <p:spPr>
            <a:xfrm>
              <a:off x="6243066" y="451580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51" name="Rectangle 151"/>
            <p:cNvSpPr/>
            <p:nvPr/>
          </p:nvSpPr>
          <p:spPr>
            <a:xfrm>
              <a:off x="6458902" y="4405312"/>
              <a:ext cx="352425" cy="352425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2F4B9A"/>
              </a:solidFill>
            </a:ln>
          </p:spPr>
        </p:sp>
        <p:sp>
          <p:nvSpPr>
            <p:cNvPr id="152" name="Rectangle 152"/>
            <p:cNvSpPr/>
            <p:nvPr/>
          </p:nvSpPr>
          <p:spPr>
            <a:xfrm>
              <a:off x="6810375" y="4405312"/>
              <a:ext cx="352425" cy="352425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2F4B9A"/>
              </a:solidFill>
            </a:ln>
          </p:spPr>
        </p:sp>
        <p:sp>
          <p:nvSpPr>
            <p:cNvPr id="153" name="Rectangle 153"/>
            <p:cNvSpPr/>
            <p:nvPr/>
          </p:nvSpPr>
          <p:spPr>
            <a:xfrm>
              <a:off x="7162800" y="4405312"/>
              <a:ext cx="352425" cy="352425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2F4B9A"/>
              </a:solidFill>
            </a:ln>
          </p:spPr>
        </p:sp>
        <p:sp>
          <p:nvSpPr>
            <p:cNvPr id="154" name="Rectangle 154"/>
            <p:cNvSpPr/>
            <p:nvPr/>
          </p:nvSpPr>
          <p:spPr>
            <a:xfrm>
              <a:off x="7515225" y="4405312"/>
              <a:ext cx="352425" cy="352425"/>
            </a:xfrm>
            <a:prstGeom prst="rect">
              <a:avLst/>
            </a:prstGeom>
            <a:solidFill>
              <a:srgbClr val="2F4B9A"/>
            </a:solidFill>
            <a:ln w="15240">
              <a:solidFill>
                <a:srgbClr val="2F4B9A"/>
              </a:solidFill>
            </a:ln>
          </p:spPr>
        </p:sp>
        <p:sp>
          <p:nvSpPr>
            <p:cNvPr id="155" name="TextBox 155"/>
            <p:cNvSpPr txBox="1"/>
            <p:nvPr/>
          </p:nvSpPr>
          <p:spPr>
            <a:xfrm>
              <a:off x="7644336" y="451580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156" name="Rectangle 156"/>
            <p:cNvSpPr/>
            <p:nvPr/>
          </p:nvSpPr>
          <p:spPr>
            <a:xfrm>
              <a:off x="7866698" y="4405312"/>
              <a:ext cx="352425" cy="352425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2F4B9A"/>
              </a:solidFill>
            </a:ln>
          </p:spPr>
        </p:sp>
        <p:sp>
          <p:nvSpPr>
            <p:cNvPr id="157" name="Rectangle 157"/>
            <p:cNvSpPr/>
            <p:nvPr/>
          </p:nvSpPr>
          <p:spPr>
            <a:xfrm>
              <a:off x="8219122" y="4405312"/>
              <a:ext cx="352425" cy="352425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2F4B9A"/>
              </a:solidFill>
            </a:ln>
          </p:spPr>
        </p:sp>
        <p:sp>
          <p:nvSpPr>
            <p:cNvPr id="158" name="Rectangle 158"/>
            <p:cNvSpPr/>
            <p:nvPr/>
          </p:nvSpPr>
          <p:spPr>
            <a:xfrm>
              <a:off x="8570595" y="4405312"/>
              <a:ext cx="352425" cy="352425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2F4B9A"/>
              </a:solidFill>
            </a:ln>
          </p:spPr>
        </p:sp>
        <p:sp>
          <p:nvSpPr>
            <p:cNvPr id="159" name="Rectangle 159"/>
            <p:cNvSpPr/>
            <p:nvPr/>
          </p:nvSpPr>
          <p:spPr>
            <a:xfrm>
              <a:off x="8923020" y="4405312"/>
              <a:ext cx="352425" cy="352425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2F4B9A"/>
              </a:solidFill>
            </a:ln>
          </p:spPr>
        </p:sp>
        <p:sp>
          <p:nvSpPr>
            <p:cNvPr id="160" name="TextBox 160"/>
            <p:cNvSpPr txBox="1"/>
            <p:nvPr/>
          </p:nvSpPr>
          <p:spPr>
            <a:xfrm>
              <a:off x="6243066" y="486822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61" name="Rectangle 161"/>
            <p:cNvSpPr/>
            <p:nvPr/>
          </p:nvSpPr>
          <p:spPr>
            <a:xfrm>
              <a:off x="6458902" y="4756785"/>
              <a:ext cx="352425" cy="352425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2F4B9A"/>
              </a:solidFill>
            </a:ln>
          </p:spPr>
        </p:sp>
        <p:sp>
          <p:nvSpPr>
            <p:cNvPr id="162" name="Rectangle 162"/>
            <p:cNvSpPr/>
            <p:nvPr/>
          </p:nvSpPr>
          <p:spPr>
            <a:xfrm>
              <a:off x="6810375" y="4756785"/>
              <a:ext cx="352425" cy="352425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2F4B9A"/>
              </a:solidFill>
            </a:ln>
          </p:spPr>
        </p:sp>
        <p:sp>
          <p:nvSpPr>
            <p:cNvPr id="163" name="Rectangle 163"/>
            <p:cNvSpPr/>
            <p:nvPr/>
          </p:nvSpPr>
          <p:spPr>
            <a:xfrm>
              <a:off x="7162800" y="4756785"/>
              <a:ext cx="352425" cy="352425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2F4B9A"/>
              </a:solidFill>
            </a:ln>
          </p:spPr>
        </p:sp>
        <p:sp>
          <p:nvSpPr>
            <p:cNvPr id="164" name="Rectangle 164"/>
            <p:cNvSpPr/>
            <p:nvPr/>
          </p:nvSpPr>
          <p:spPr>
            <a:xfrm>
              <a:off x="7515225" y="4756785"/>
              <a:ext cx="352425" cy="352425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2F4B9A"/>
              </a:solidFill>
            </a:ln>
          </p:spPr>
        </p:sp>
        <p:sp>
          <p:nvSpPr>
            <p:cNvPr id="165" name="Rectangle 165"/>
            <p:cNvSpPr/>
            <p:nvPr/>
          </p:nvSpPr>
          <p:spPr>
            <a:xfrm>
              <a:off x="7866698" y="4756785"/>
              <a:ext cx="352425" cy="352425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2F4B9A"/>
              </a:solidFill>
            </a:ln>
          </p:spPr>
        </p:sp>
        <p:sp>
          <p:nvSpPr>
            <p:cNvPr id="166" name="Rectangle 166"/>
            <p:cNvSpPr/>
            <p:nvPr/>
          </p:nvSpPr>
          <p:spPr>
            <a:xfrm>
              <a:off x="8219122" y="4756785"/>
              <a:ext cx="352425" cy="352425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2F4B9A"/>
              </a:solidFill>
            </a:ln>
          </p:spPr>
        </p:sp>
        <p:sp>
          <p:nvSpPr>
            <p:cNvPr id="167" name="Rectangle 167"/>
            <p:cNvSpPr/>
            <p:nvPr/>
          </p:nvSpPr>
          <p:spPr>
            <a:xfrm>
              <a:off x="8570595" y="4756785"/>
              <a:ext cx="352425" cy="352425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2F4B9A"/>
              </a:solidFill>
            </a:ln>
          </p:spPr>
        </p:sp>
        <p:sp>
          <p:nvSpPr>
            <p:cNvPr id="168" name="Rectangle 168"/>
            <p:cNvSpPr/>
            <p:nvPr/>
          </p:nvSpPr>
          <p:spPr>
            <a:xfrm>
              <a:off x="8923020" y="4756785"/>
              <a:ext cx="352425" cy="352425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2F4B9A"/>
              </a:solidFill>
            </a:ln>
          </p:spPr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70" name="formula23"/>
              <p:cNvSpPr txBox="1">
                <a:spLocks noGrp="1"/>
              </p:cNvSpPr>
              <p:nvPr/>
            </p:nvSpPr>
            <p:spPr>
              <a:xfrm>
                <a:off x="6248400" y="5278755"/>
                <a:ext cx="541020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m</m:t>
                      </m:r>
                      <m:r>
                        <m:rPr>
                          <m:sty m:val="p"/>
                        </m:rP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1</m:t>
                      </m:r>
                      <m:r>
                        <m:rPr>
                          <m:sty m:val="p"/>
                        </m:rP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8</m:t>
                      </m:r>
                      <m:r>
                        <m:rPr>
                          <m:sty m:val="p"/>
                        </m:rP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48</m:t>
                      </m:r>
                      <m:r>
                        <m:rPr>
                          <m:sty m:val="p"/>
                        </m:rP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192</m:t>
                      </m:r>
                      <m:r>
                        <m:rPr>
                          <m:sty m:val="p"/>
                        </m:rP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384</m:t>
                      </m:r>
                      <m:r>
                        <m:rPr>
                          <m:sty m:val="p"/>
                        </m:rP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384</m:t>
                      </m:r>
                      <m:r>
                        <m:rPr>
                          <m:sty m:val="p"/>
                        </m:rP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384</m:t>
                      </m:r>
                      <m:r>
                        <m:rPr>
                          <m:sty m:val="p"/>
                        </m:rP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384</m:t>
                      </m:r>
                      <m:r>
                        <m:rPr>
                          <m:sty m:val="p"/>
                        </m:rP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1785</m:t>
                      </m:r>
                    </m:oMath>
                  </m:oMathPara>
                </a14:m>
              </a:p>
            </p:txBody>
          </p:sp>
        </mc:Choice>
      </mc:AlternateContent>
      <p:grpSp>
        <p:nvGrpSpPr>
          <p:cNvPr id="177" name="takeaway"/>
          <p:cNvGrpSpPr/>
          <p:nvPr/>
        </p:nvGrpSpPr>
        <p:grpSpPr>
          <a:xfrm>
            <a:off x="533400" y="5881688"/>
            <a:ext cx="11125200" cy="481012"/>
            <a:chOff x="533400" y="5881688"/>
            <a:chExt cx="11125200" cy="481012"/>
          </a:xfrm>
        </p:grpSpPr>
        <p:sp>
          <p:nvSpPr>
            <p:cNvPr id="171" name="Rectangle 171"/>
            <p:cNvSpPr/>
            <p:nvPr/>
          </p:nvSpPr>
          <p:spPr>
            <a:xfrm>
              <a:off x="533400" y="5881688"/>
              <a:ext cx="11125200" cy="481012"/>
            </a:xfrm>
            <a:prstGeom prst="roundRect">
              <a:avLst>
                <a:gd name="adj" fmla="val 23762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175" name="Group 175"/>
            <p:cNvGrpSpPr/>
            <p:nvPr/>
          </p:nvGrpSpPr>
          <p:grpSpPr>
            <a:xfrm>
              <a:off x="738188" y="6022658"/>
              <a:ext cx="200026" cy="200025"/>
              <a:chOff x="738188" y="6022658"/>
              <a:chExt cx="200026" cy="200025"/>
            </a:xfrm>
          </p:grpSpPr>
          <p:sp>
            <p:nvSpPr>
              <p:cNvPr id="172" name="Freeform 172"/>
              <p:cNvSpPr/>
              <p:nvPr/>
            </p:nvSpPr>
            <p:spPr>
              <a:xfrm>
                <a:off x="738188" y="602265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73" name="Freeform 173"/>
              <p:cNvSpPr/>
              <p:nvPr/>
            </p:nvSpPr>
            <p:spPr>
              <a:xfrm>
                <a:off x="777926" y="606710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74" name="Freeform 174"/>
              <p:cNvSpPr/>
              <p:nvPr/>
            </p:nvSpPr>
            <p:spPr>
              <a:xfrm>
                <a:off x="812642" y="617823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176" name="TextBox 176"/>
            <p:cNvSpPr txBox="1"/>
            <p:nvPr/>
          </p:nvSpPr>
          <p:spPr>
            <a:xfrm>
              <a:off x="1040892" y="6028373"/>
              <a:ext cx="935499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m 的第 i+1 项是 m₁m₂…mᵢ，遇到 mᵢ = 0 的行就停止：路径 1 求和到 8·5·4·3·2，路径 2 求和到 8·6·4·2·1·1·1。</a:t>
              </a:r>
            </a:p>
          </p:txBody>
        </p:sp>
      </p:grpSp>
      <p:grpSp>
        <p:nvGrpSpPr>
          <p:cNvPr id="18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8" name="TextBox 178"/>
            <p:cNvSpPr txBox="1"/>
            <p:nvPr/>
          </p:nvSpPr>
          <p:spPr>
            <a:xfrm>
              <a:off x="528447" y="6581299"/>
              <a:ext cx="18568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第7章 回溯法</a:t>
              </a:r>
            </a:p>
          </p:txBody>
        </p:sp>
        <p:sp>
          <p:nvSpPr>
            <p:cNvPr id="179" name="TextBox 17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894573" cy="909257"/>
            <a:chOff x="520446" y="342900"/>
            <a:chExt cx="889457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009775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8702" y="407194"/>
              <a:ext cx="18591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第7章 回溯法 · n-皇后问题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89457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估计值和真实值对比：不受限界的结点约占排列树的 1.9%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6" name="c1-table-1"/>
          <p:cNvGrpSpPr/>
          <p:nvPr/>
        </p:nvGrpSpPr>
        <p:grpSpPr>
          <a:xfrm>
            <a:off x="533400" y="1524000"/>
            <a:ext cx="5410200" cy="2244090"/>
            <a:chOff x="533400" y="1524000"/>
            <a:chExt cx="5410200" cy="224409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448628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2086254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方法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4360570" y="1659731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不受限界结点数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41223" y="2108359"/>
              <a:ext cx="16602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路径 1 (2,4,1,3,5)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348961" y="2108359"/>
              <a:ext cx="4868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1,649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33400" y="241649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533400" y="2421255"/>
              <a:ext cx="541020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41223" y="2556986"/>
              <a:ext cx="20583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路径 2 (1,8,6,3,7,2,4)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348961" y="2556986"/>
              <a:ext cx="4868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1,785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286607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41223" y="3005614"/>
              <a:ext cx="267864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 万条随机路径的平均值（脚本）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124953" y="3005614"/>
              <a:ext cx="71082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约 2,056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331470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533400" y="3319462"/>
              <a:ext cx="541020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41223" y="3454241"/>
              <a:ext cx="306576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穷举统计通过 PLACE 的结点（精确值）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4005262" y="3328988"/>
              <a:ext cx="1928812" cy="429578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348961" y="3454241"/>
              <a:ext cx="4868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2,057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533400" y="1524000"/>
              <a:ext cx="5410200" cy="224409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3990975" y="1524000"/>
              <a:ext cx="9525" cy="22440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7" name="formula25"/>
              <p:cNvSpPr txBox="1">
                <a:spLocks noGrp="1"/>
              </p:cNvSpPr>
              <p:nvPr/>
            </p:nvSpPr>
            <p:spPr>
              <a:xfrm>
                <a:off x="533400" y="3958590"/>
                <a:ext cx="5410200" cy="6172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f>
                        <m:fPr>
                          <m:type m:val="bar"/>
                          <m:ctrl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2057</m:t>
                          </m:r>
                        </m:num>
                        <m:den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109601</m:t>
                          </m:r>
                        </m:den>
                      </m:f>
                      <m:r>
                        <m:rPr>
                          <m:sty m:val="p"/>
                        </m:rP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≈</m:t>
                      </m:r>
                      <m: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1.88%</m:t>
                      </m:r>
                    </m:oMath>
                  </m:oMathPara>
                </a14:m>
              </a:p>
            </p:txBody>
          </p:sp>
        </mc:Choice>
      </mc:AlternateContent>
      <p:grpSp>
        <p:nvGrpSpPr>
          <p:cNvPr id="34" name="c1-callout-3"/>
          <p:cNvGrpSpPr/>
          <p:nvPr/>
        </p:nvGrpSpPr>
        <p:grpSpPr>
          <a:xfrm>
            <a:off x="533400" y="4766310"/>
            <a:ext cx="5410200" cy="1344930"/>
            <a:chOff x="533400" y="4766310"/>
            <a:chExt cx="5410200" cy="1344930"/>
          </a:xfrm>
        </p:grpSpPr>
        <p:sp>
          <p:nvSpPr>
            <p:cNvPr id="28" name="Rectangle 28"/>
            <p:cNvSpPr/>
            <p:nvPr/>
          </p:nvSpPr>
          <p:spPr>
            <a:xfrm>
              <a:off x="533400" y="4766310"/>
              <a:ext cx="5410200" cy="1344930"/>
            </a:xfrm>
            <a:prstGeom prst="roundRect">
              <a:avLst>
                <a:gd name="adj" fmla="val 849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32" name="Group 32"/>
            <p:cNvGrpSpPr/>
            <p:nvPr/>
          </p:nvGrpSpPr>
          <p:grpSpPr>
            <a:xfrm>
              <a:off x="738188" y="5338763"/>
              <a:ext cx="200026" cy="200025"/>
              <a:chOff x="738188" y="5338763"/>
              <a:chExt cx="200026" cy="200025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738188" y="533876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777926" y="538321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812642" y="549433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33" name="TextBox 33"/>
            <p:cNvSpPr txBox="1"/>
            <p:nvPr/>
          </p:nvSpPr>
          <p:spPr>
            <a:xfrm>
              <a:off x="1040130" y="5195888"/>
              <a:ext cx="43967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单条路径的估计偏差很大（本例两条都偏小），取很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多条路径求平均，平均值就接近真实值。</a:t>
              </a:r>
            </a:p>
          </p:txBody>
        </p:sp>
      </p:grpSp>
      <p:grpSp>
        <p:nvGrpSpPr>
          <p:cNvPr id="43" name="c2-card-1"/>
          <p:cNvGrpSpPr/>
          <p:nvPr/>
        </p:nvGrpSpPr>
        <p:grpSpPr>
          <a:xfrm>
            <a:off x="6248400" y="1524000"/>
            <a:ext cx="5410200" cy="2794635"/>
            <a:chOff x="6248400" y="1524000"/>
            <a:chExt cx="5410200" cy="2794635"/>
          </a:xfrm>
        </p:grpSpPr>
        <p:sp>
          <p:nvSpPr>
            <p:cNvPr id="35" name="Rectangle 35"/>
            <p:cNvSpPr/>
            <p:nvPr/>
          </p:nvSpPr>
          <p:spPr>
            <a:xfrm>
              <a:off x="6248400" y="1524000"/>
              <a:ext cx="5410200" cy="2794635"/>
            </a:xfrm>
            <a:prstGeom prst="roundRect">
              <a:avLst>
                <a:gd name="adj" fmla="val 477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6257925" y="1657350"/>
              <a:ext cx="47625" cy="252793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6496050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586258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6501765" y="2173605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659880" y="2110740"/>
              <a:ext cx="4082415" cy="11506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原课件路径 2 写作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1+8+8×6+8×6×4+8×6×4×2+8×6×4×2×1+8×6×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4×2×1×1 = 1401，漏加了第 7 个皇后对应的一项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8×6×4×2×1×1×1 = 384，应为 1785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6501765" y="3366135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659880" y="3303270"/>
              <a:ext cx="4425315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原课件的结论"多次实验后取平均值 1625，约占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1625/69281 = 2.34%"，分母用了错误的结点总数；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 109,601 计算，1625 只占 1.48%</a:t>
              </a:r>
            </a:p>
          </p:txBody>
        </p:sp>
      </p:grpSp>
      <p:grpSp>
        <p:nvGrpSpPr>
          <p:cNvPr id="48" name="c2-card-2"/>
          <p:cNvGrpSpPr/>
          <p:nvPr/>
        </p:nvGrpSpPr>
        <p:grpSpPr>
          <a:xfrm>
            <a:off x="6248400" y="4509135"/>
            <a:ext cx="5410200" cy="1602105"/>
            <a:chOff x="6248400" y="4509135"/>
            <a:chExt cx="5410200" cy="1602105"/>
          </a:xfrm>
        </p:grpSpPr>
        <p:sp>
          <p:nvSpPr>
            <p:cNvPr id="44" name="Rectangle 44"/>
            <p:cNvSpPr/>
            <p:nvPr/>
          </p:nvSpPr>
          <p:spPr>
            <a:xfrm>
              <a:off x="6248400" y="4509135"/>
              <a:ext cx="5410200" cy="1602105"/>
            </a:xfrm>
            <a:prstGeom prst="roundRect">
              <a:avLst>
                <a:gd name="adj" fmla="val 8323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6457950" y="471868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548158" y="475440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结论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450330" y="5095875"/>
              <a:ext cx="47777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限界函数把 8-皇后要生成的结点从 10 万多个降到 2 千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个左右。运行前做几次蒙特卡罗估计，就能判断回溯法对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这个实例是否可行。</a:t>
              </a:r>
            </a:p>
          </p:txBody>
        </p:sp>
      </p:grpSp>
      <p:grpSp>
        <p:nvGrpSpPr>
          <p:cNvPr id="5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9" name="TextBox 49"/>
            <p:cNvSpPr txBox="1"/>
            <p:nvPr/>
          </p:nvSpPr>
          <p:spPr>
            <a:xfrm>
              <a:off x="528447" y="6581299"/>
              <a:ext cx="18568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第7章 回溯法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2F4B9A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8EDF8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4091521" cy="3351847"/>
            <a:chOff x="667512" y="1835468"/>
            <a:chExt cx="4091521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第四部分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2944368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子集和数问题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408161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用已选之和 s 与剩余之和 r 写出限界函数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251917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问题描述与 6-元组解空间树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限界函数的两个条件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231495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递归回溯算法 SUMOFSUB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效率估计与实例运行结果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18568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第7章 回溯法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315286" cy="909257"/>
            <a:chOff x="520446" y="342900"/>
            <a:chExt cx="831528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2979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5008" y="407194"/>
              <a:ext cx="19865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第7章 回溯法 · 子集和数问题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31528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子集和数问题：用固定长 n-元组表示，本节实例 n = 6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6" name="c1-card-1"/>
          <p:cNvGrpSpPr/>
          <p:nvPr/>
        </p:nvGrpSpPr>
        <p:grpSpPr>
          <a:xfrm>
            <a:off x="533400" y="1524000"/>
            <a:ext cx="5626418" cy="2272665"/>
            <a:chOff x="533400" y="1524000"/>
            <a:chExt cx="5626418" cy="227266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2272665"/>
            </a:xfrm>
            <a:prstGeom prst="roundRect">
              <a:avLst>
                <a:gd name="adj" fmla="val 586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005965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3359" y="176926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问题描述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73430" y="2110740"/>
              <a:ext cx="49587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假定有 n 个不同的正数 W(1:n)，找出这些数中所有使得和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为 M 的组合。元素 W(i) 称为权。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86765" y="2794635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44880" y="2731770"/>
              <a:ext cx="47396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用固定长 n-元组 X 表示解，X(i) 取 1 或 0，表示解中是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否包含权数 W(i)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86765" y="3415665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44880" y="3352800"/>
              <a:ext cx="340937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隐式约束：Σ W(i)X(i) = M，1 ≤ i ≤ n</a:t>
              </a:r>
            </a:p>
          </p:txBody>
        </p:sp>
      </p:grpSp>
      <p:grpSp>
        <p:nvGrpSpPr>
          <p:cNvPr id="31" name="c1-table-2"/>
          <p:cNvGrpSpPr/>
          <p:nvPr/>
        </p:nvGrpSpPr>
        <p:grpSpPr>
          <a:xfrm>
            <a:off x="533400" y="3987165"/>
            <a:ext cx="5626418" cy="2022158"/>
            <a:chOff x="533400" y="3987165"/>
            <a:chExt cx="5626418" cy="2022158"/>
          </a:xfrm>
        </p:grpSpPr>
        <p:sp>
          <p:nvSpPr>
            <p:cNvPr id="17" name="Rectangle 17"/>
            <p:cNvSpPr/>
            <p:nvPr/>
          </p:nvSpPr>
          <p:spPr>
            <a:xfrm>
              <a:off x="533400" y="3987165"/>
              <a:ext cx="5626418" cy="448628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455947" y="4122896"/>
              <a:ext cx="14181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6-元组的解空间树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627613" y="4122896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结点个数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41223" y="4571524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解状态（叶结点）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904488" y="4571524"/>
              <a:ext cx="59020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2⁶ = 64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533400" y="4879658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533400" y="4884420"/>
              <a:ext cx="5626418" cy="67532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41223" y="5133499"/>
              <a:ext cx="19084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部分解结点（非叶结点）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904488" y="5020151"/>
              <a:ext cx="1979930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2⁰ + 2¹ + … + 2⁵ = 2⁶ − 1 =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63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533400" y="555593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41223" y="5695474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问题状态（全部结点）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904488" y="5695474"/>
              <a:ext cx="107268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64 + 63 = 127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533400" y="3987165"/>
              <a:ext cx="5626418" cy="202215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3791902" y="3987165"/>
              <a:ext cx="9525" cy="202215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2" name="c2-card-1"/>
          <p:cNvGrpSpPr/>
          <p:nvPr/>
        </p:nvGrpSpPr>
        <p:grpSpPr>
          <a:xfrm>
            <a:off x="6464618" y="1524000"/>
            <a:ext cx="5193982" cy="3561398"/>
            <a:chOff x="6464618" y="1524000"/>
            <a:chExt cx="5193982" cy="3561398"/>
          </a:xfrm>
        </p:grpSpPr>
        <p:sp>
          <p:nvSpPr>
            <p:cNvPr id="32" name="Rectangle 32"/>
            <p:cNvSpPr/>
            <p:nvPr/>
          </p:nvSpPr>
          <p:spPr>
            <a:xfrm>
              <a:off x="6464618" y="1524000"/>
              <a:ext cx="5193982" cy="3561398"/>
            </a:xfrm>
            <a:prstGeom prst="roundRect">
              <a:avLst>
                <a:gd name="adj" fmla="val 374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6474142" y="1657350"/>
              <a:ext cx="47625" cy="3294698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6712268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803428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实例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704648" y="2110740"/>
              <a:ext cx="454781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 = 6，M = 30，W = (5, 10, 12, 13, 15, 18)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704648" y="2465070"/>
              <a:ext cx="44824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 已按非降次序排列，全部之和为 73。脚本穷举得到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 个解：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6712268" y="3061335"/>
              <a:ext cx="4736782" cy="448628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837176" y="3197066"/>
              <a:ext cx="1180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X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9913988" y="3197066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选中的权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107229" y="3645694"/>
              <a:ext cx="157799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(1, 1, 0, 0, 1, 0)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9823524" y="3645694"/>
              <a:ext cx="88313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 + 10 + 15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6712268" y="3953828"/>
              <a:ext cx="47367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6712268" y="3958590"/>
              <a:ext cx="4736782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7107229" y="4094321"/>
              <a:ext cx="157799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(1, 0, 1, 1, 0, 0)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9823524" y="4094321"/>
              <a:ext cx="88313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 + 12 + 13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6712268" y="4403408"/>
              <a:ext cx="47367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7107229" y="4542949"/>
              <a:ext cx="157799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(0, 0, 1, 0, 0, 1)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9969990" y="4542949"/>
              <a:ext cx="59020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 + 18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6712268" y="3061335"/>
              <a:ext cx="4736782" cy="179546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1" name="Rectangle 51"/>
            <p:cNvSpPr/>
            <p:nvPr/>
          </p:nvSpPr>
          <p:spPr>
            <a:xfrm>
              <a:off x="9076372" y="3061335"/>
              <a:ext cx="9525" cy="17954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9" name="c2-callout-2"/>
          <p:cNvGrpSpPr/>
          <p:nvPr/>
        </p:nvGrpSpPr>
        <p:grpSpPr>
          <a:xfrm>
            <a:off x="6464618" y="5275898"/>
            <a:ext cx="5193982" cy="782955"/>
            <a:chOff x="6464618" y="5275898"/>
            <a:chExt cx="5193982" cy="782955"/>
          </a:xfrm>
        </p:grpSpPr>
        <p:sp>
          <p:nvSpPr>
            <p:cNvPr id="53" name="Rectangle 53"/>
            <p:cNvSpPr/>
            <p:nvPr/>
          </p:nvSpPr>
          <p:spPr>
            <a:xfrm>
              <a:off x="6464618" y="5275898"/>
              <a:ext cx="5193982" cy="782955"/>
            </a:xfrm>
            <a:prstGeom prst="roundRect">
              <a:avLst>
                <a:gd name="adj" fmla="val 14599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57" name="Group 57"/>
            <p:cNvGrpSpPr/>
            <p:nvPr/>
          </p:nvGrpSpPr>
          <p:grpSpPr>
            <a:xfrm>
              <a:off x="6657347" y="5563671"/>
              <a:ext cx="224134" cy="192560"/>
              <a:chOff x="6657347" y="5563671"/>
              <a:chExt cx="224134" cy="192560"/>
            </a:xfrm>
          </p:grpSpPr>
          <p:sp>
            <p:nvSpPr>
              <p:cNvPr id="54" name="Freeform 54"/>
              <p:cNvSpPr/>
              <p:nvPr/>
            </p:nvSpPr>
            <p:spPr>
              <a:xfrm>
                <a:off x="6769418" y="5634038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6657347" y="5563671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6769418" y="5711826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58" name="TextBox 58"/>
            <p:cNvSpPr txBox="1"/>
            <p:nvPr/>
          </p:nvSpPr>
          <p:spPr>
            <a:xfrm>
              <a:off x="6971348" y="5424488"/>
              <a:ext cx="42062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不用限界函数时，状态空间树中所有结点都会被访</a:t>
              </a:r>
              <a:br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问到：64 个叶结点和 63 个部分解结点。</a:t>
              </a:r>
            </a:p>
          </p:txBody>
        </p:sp>
      </p:grpSp>
      <p:grpSp>
        <p:nvGrpSpPr>
          <p:cNvPr id="6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0" name="TextBox 60"/>
            <p:cNvSpPr txBox="1"/>
            <p:nvPr/>
          </p:nvSpPr>
          <p:spPr>
            <a:xfrm>
              <a:off x="528447" y="6581299"/>
              <a:ext cx="18568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第7章 回溯法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1208" y="342900"/>
            <a:ext cx="11115934" cy="896112"/>
            <a:chOff x="521208" y="342900"/>
            <a:chExt cx="11115934" cy="896112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2979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5008" y="407194"/>
              <a:ext cx="19865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第7章 回溯法 · 子集和数问题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1208" y="769620"/>
              <a:ext cx="1111593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限界函数：剩下的全选也不够 M，或者加上最小的剩余数就超过 M，都要剪掉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6428895" cy="308039"/>
            <a:chOff x="525399" y="1550194"/>
            <a:chExt cx="6428895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6428895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记 s 为已选权之和，r 为尚未考虑的权之和（前 k 个分量已确定）。</a:t>
              </a:r>
            </a:p>
          </p:txBody>
        </p:sp>
      </p:grpSp>
      <p:grpSp>
        <p:nvGrpSpPr>
          <p:cNvPr id="15" name="c1-card-1"/>
          <p:cNvGrpSpPr/>
          <p:nvPr/>
        </p:nvGrpSpPr>
        <p:grpSpPr>
          <a:xfrm>
            <a:off x="533400" y="1967865"/>
            <a:ext cx="5626418" cy="2040255"/>
            <a:chOff x="533400" y="1967865"/>
            <a:chExt cx="5626418" cy="2040255"/>
          </a:xfrm>
        </p:grpSpPr>
        <p:sp>
          <p:nvSpPr>
            <p:cNvPr id="9" name="Rectangle 9"/>
            <p:cNvSpPr/>
            <p:nvPr/>
          </p:nvSpPr>
          <p:spPr>
            <a:xfrm>
              <a:off x="533400" y="1967865"/>
              <a:ext cx="5626418" cy="2040255"/>
            </a:xfrm>
            <a:prstGeom prst="roundRect">
              <a:avLst>
                <a:gd name="adj" fmla="val 653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542925" y="2101215"/>
              <a:ext cx="47625" cy="177355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781050" y="2177415"/>
              <a:ext cx="636270" cy="25717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67308" y="2213134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条件一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" name="formula29"/>
                <p:cNvSpPr txBox="1">
                  <a:spLocks noGrp="1"/>
                </p:cNvSpPr>
                <p:nvPr/>
              </p:nvSpPr>
              <p:spPr>
                <a:xfrm>
                  <a:off x="781050" y="2529840"/>
                  <a:ext cx="5169218" cy="6286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nary>
                          <m:naryPr>
                            <m:chr m:val="∑"/>
                            <m:limLoc m:val="undOvr"/>
                            <m:grow m:val="off"/>
                            <m:subHide m:val="off"/>
                            <m:supHide m:val="off"/>
                            <m:ctrl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  <m:r>
                              <m:rPr>
                                <m:sty m:val="p"/>
                              </m:r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b>
                          <m:sup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k</m:t>
                            </m:r>
                          </m:sup>
                          <m:e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W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i</m:t>
                                </m:r>
                              </m:e>
                            </m:d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i</m:t>
                                </m:r>
                              </m:e>
                            </m:d>
                          </m:e>
                        </m:nary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+</m:t>
                        </m:r>
                        <m:nary>
                          <m:naryPr>
                            <m:chr m:val="∑"/>
                            <m:limLoc m:val="undOvr"/>
                            <m:grow m:val="off"/>
                            <m:subHide m:val="off"/>
                            <m:supHide m:val="off"/>
                            <m:ctrl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  <m:r>
                              <m:rPr>
                                <m:sty m:val="p"/>
                              </m:r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k</m:t>
                            </m:r>
                            <m:r>
                              <m:rPr>
                                <m:sty m:val="p"/>
                              </m:r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+</m:t>
                            </m:r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b>
                          <m:sup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sup>
                          <m:e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W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i</m:t>
                                </m:r>
                              </m:e>
                            </m:d>
                          </m:e>
                        </m:nary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≥</m:t>
                        </m:r>
                        <m: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M</m:t>
                        </m:r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4" name="TextBox 14"/>
            <p:cNvSpPr txBox="1"/>
            <p:nvPr/>
          </p:nvSpPr>
          <p:spPr>
            <a:xfrm>
              <a:off x="773430" y="3278505"/>
              <a:ext cx="49110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不满足时，后面的权全部选上也凑不够 M，X(1), …, X(k)</a:t>
              </a:r>
              <a:br/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不能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导致答案结点。</a:t>
              </a:r>
            </a:p>
          </p:txBody>
        </p:sp>
      </p:grpSp>
      <p:grpSp>
        <p:nvGrpSpPr>
          <p:cNvPr id="22" name="c1-card-2"/>
          <p:cNvGrpSpPr/>
          <p:nvPr/>
        </p:nvGrpSpPr>
        <p:grpSpPr>
          <a:xfrm>
            <a:off x="533400" y="4198620"/>
            <a:ext cx="5626418" cy="2080260"/>
            <a:chOff x="533400" y="4198620"/>
            <a:chExt cx="5626418" cy="2080260"/>
          </a:xfrm>
        </p:grpSpPr>
        <p:sp>
          <p:nvSpPr>
            <p:cNvPr id="16" name="Rectangle 16"/>
            <p:cNvSpPr/>
            <p:nvPr/>
          </p:nvSpPr>
          <p:spPr>
            <a:xfrm>
              <a:off x="533400" y="4198620"/>
              <a:ext cx="5626418" cy="2080260"/>
            </a:xfrm>
            <a:prstGeom prst="roundRect">
              <a:avLst>
                <a:gd name="adj" fmla="val 641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542925" y="4331970"/>
              <a:ext cx="47625" cy="1813560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781050" y="4408170"/>
              <a:ext cx="2073592" cy="25717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19190" y="4443889"/>
              <a:ext cx="199636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条件二（W 按非降次序排列）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0" name="formula30"/>
                <p:cNvSpPr txBox="1">
                  <a:spLocks noGrp="1"/>
                </p:cNvSpPr>
                <p:nvPr/>
              </p:nvSpPr>
              <p:spPr>
                <a:xfrm>
                  <a:off x="781050" y="4760595"/>
                  <a:ext cx="5169218" cy="6286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nary>
                          <m:naryPr>
                            <m:chr m:val="∑"/>
                            <m:limLoc m:val="undOvr"/>
                            <m:grow m:val="off"/>
                            <m:subHide m:val="off"/>
                            <m:supHide m:val="off"/>
                            <m:ctrl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  <m:r>
                              <m:rPr>
                                <m:sty m:val="p"/>
                              </m:r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b>
                          <m:sup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k</m:t>
                            </m:r>
                          </m:sup>
                          <m:e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W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i</m:t>
                                </m:r>
                              </m:e>
                            </m:d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i</m:t>
                                </m:r>
                              </m:e>
                            </m:d>
                          </m:e>
                        </m:nary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+</m:t>
                        </m:r>
                        <m: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W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k</m:t>
                            </m:r>
                            <m:r>
                              <m:rPr>
                                <m:sty m:val="p"/>
                              </m:r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+</m:t>
                            </m:r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≤</m:t>
                        </m:r>
                        <m: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M</m:t>
                        </m:r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21" name="TextBox 21"/>
            <p:cNvSpPr txBox="1"/>
            <p:nvPr/>
          </p:nvSpPr>
          <p:spPr>
            <a:xfrm>
              <a:off x="773430" y="5509260"/>
              <a:ext cx="48063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不满足时，剩下最小的 W(k+1) 加进来都超过 M，更大的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权更不行。</a:t>
              </a:r>
            </a:p>
          </p:txBody>
        </p:sp>
      </p:grpSp>
      <p:grpSp>
        <p:nvGrpSpPr>
          <p:cNvPr id="29" name="c2-card-1"/>
          <p:cNvGrpSpPr/>
          <p:nvPr/>
        </p:nvGrpSpPr>
        <p:grpSpPr>
          <a:xfrm>
            <a:off x="6464618" y="1967865"/>
            <a:ext cx="5193982" cy="1544955"/>
            <a:chOff x="6464618" y="1967865"/>
            <a:chExt cx="5193982" cy="1544955"/>
          </a:xfrm>
        </p:grpSpPr>
        <p:sp>
          <p:nvSpPr>
            <p:cNvPr id="23" name="Rectangle 23"/>
            <p:cNvSpPr/>
            <p:nvPr/>
          </p:nvSpPr>
          <p:spPr>
            <a:xfrm>
              <a:off x="6464618" y="1967865"/>
              <a:ext cx="5193982" cy="1544955"/>
            </a:xfrm>
            <a:prstGeom prst="roundRect">
              <a:avLst>
                <a:gd name="adj" fmla="val 863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6474142" y="2101215"/>
              <a:ext cx="47625" cy="1278255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6712268" y="2177415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794576" y="221313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限界函数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704648" y="2554605"/>
              <a:ext cx="354072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Bₖ(X(1), …, X(k)) = true，当且仅当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8" name="formula31"/>
                <p:cNvSpPr txBox="1">
                  <a:spLocks noGrp="1"/>
                </p:cNvSpPr>
                <p:nvPr/>
              </p:nvSpPr>
              <p:spPr>
                <a:xfrm>
                  <a:off x="6712268" y="2865120"/>
                  <a:ext cx="4736782" cy="4191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s</m:t>
                        </m:r>
                        <m:r>
                          <m:rPr>
                            <m:sty m:val="p"/>
                          </m:rP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+</m:t>
                        </m:r>
                        <m: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r</m:t>
                        </m:r>
                        <m:r>
                          <m:rPr>
                            <m:sty m:val="p"/>
                          </m:rP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≥</m:t>
                        </m:r>
                        <m: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M</m:t>
                        </m:r>
                        <m: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</m:t>
                        </m:r>
                        <m:r>
                          <m:rPr>
                            <m:nor m:val="on"/>
                          </m:rP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且</m:t>
                        </m:r>
                        <m: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</m:t>
                        </m:r>
                        <m: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s</m:t>
                        </m:r>
                        <m:r>
                          <m:rPr>
                            <m:sty m:val="p"/>
                          </m:rP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+</m:t>
                        </m:r>
                        <m: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W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k</m:t>
                            </m:r>
                            <m:r>
                              <m:rPr>
                                <m:sty m:val="p"/>
                              </m:r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+</m:t>
                            </m:r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≤</m:t>
                        </m:r>
                        <m: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M</m:t>
                        </m:r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35" name="c2-card-2"/>
          <p:cNvGrpSpPr/>
          <p:nvPr/>
        </p:nvGrpSpPr>
        <p:grpSpPr>
          <a:xfrm>
            <a:off x="6464618" y="3703320"/>
            <a:ext cx="5193982" cy="1602105"/>
            <a:chOff x="6464618" y="3703320"/>
            <a:chExt cx="5193982" cy="1602105"/>
          </a:xfrm>
        </p:grpSpPr>
        <p:sp>
          <p:nvSpPr>
            <p:cNvPr id="30" name="Rectangle 30"/>
            <p:cNvSpPr/>
            <p:nvPr/>
          </p:nvSpPr>
          <p:spPr>
            <a:xfrm>
              <a:off x="6464618" y="3703320"/>
              <a:ext cx="5193982" cy="1602105"/>
            </a:xfrm>
            <a:prstGeom prst="roundRect">
              <a:avLst>
                <a:gd name="adj" fmla="val 832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6474142" y="3836670"/>
              <a:ext cx="47625" cy="133540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6712268" y="391287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803428" y="394858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704648" y="4290060"/>
              <a:ext cx="4406265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原课件写作"当满足条件 s + r ≥ M 时，X(1), …,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X(k) 能导致一个答案结点"。这只是必要条件：满足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它不保证能凑出 M，不满足则一定不能。</a:t>
              </a:r>
            </a:p>
          </p:txBody>
        </p:sp>
      </p:grpSp>
      <p:grpSp>
        <p:nvGrpSpPr>
          <p:cNvPr id="42" name="c2-callout-3"/>
          <p:cNvGrpSpPr/>
          <p:nvPr/>
        </p:nvGrpSpPr>
        <p:grpSpPr>
          <a:xfrm>
            <a:off x="6464618" y="5495925"/>
            <a:ext cx="5193982" cy="782955"/>
            <a:chOff x="6464618" y="5495925"/>
            <a:chExt cx="5193982" cy="782955"/>
          </a:xfrm>
        </p:grpSpPr>
        <p:sp>
          <p:nvSpPr>
            <p:cNvPr id="36" name="Rectangle 36"/>
            <p:cNvSpPr/>
            <p:nvPr/>
          </p:nvSpPr>
          <p:spPr>
            <a:xfrm>
              <a:off x="6464618" y="5495925"/>
              <a:ext cx="5193982" cy="782955"/>
            </a:xfrm>
            <a:prstGeom prst="roundRect">
              <a:avLst>
                <a:gd name="adj" fmla="val 14599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40" name="Group 40"/>
            <p:cNvGrpSpPr/>
            <p:nvPr/>
          </p:nvGrpSpPr>
          <p:grpSpPr>
            <a:xfrm>
              <a:off x="6657347" y="5783698"/>
              <a:ext cx="224134" cy="192560"/>
              <a:chOff x="6657347" y="5783698"/>
              <a:chExt cx="224134" cy="192560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6769418" y="5854065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6657347" y="5783698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6769418" y="593185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41" name="TextBox 41"/>
            <p:cNvSpPr txBox="1"/>
            <p:nvPr/>
          </p:nvSpPr>
          <p:spPr>
            <a:xfrm>
              <a:off x="6971348" y="5644515"/>
              <a:ext cx="427291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已选之和恰好等于 M 时直接输出答案，这个结点不</a:t>
              </a:r>
              <a:br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再往下扩展。</a:t>
              </a:r>
            </a:p>
          </p:txBody>
        </p:sp>
      </p:grpSp>
      <p:grpSp>
        <p:nvGrpSpPr>
          <p:cNvPr id="4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3" name="TextBox 43"/>
            <p:cNvSpPr txBox="1"/>
            <p:nvPr/>
          </p:nvSpPr>
          <p:spPr>
            <a:xfrm>
              <a:off x="528447" y="6581299"/>
              <a:ext cx="18568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第7章 回溯法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174282" cy="909257"/>
            <a:chOff x="520446" y="342900"/>
            <a:chExt cx="817428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2979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5008" y="407194"/>
              <a:ext cx="19865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第7章 回溯法 · 子集和数问题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17428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算法 7.6 SUMOFSUB：左儿子选 W(k)，右儿子不选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6708458" cy="3458528"/>
            <a:chOff x="533400" y="1524000"/>
            <a:chExt cx="6708458" cy="345852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708458" cy="3458528"/>
            </a:xfrm>
            <a:prstGeom prst="roundRect">
              <a:avLst>
                <a:gd name="adj" fmla="val 2754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20366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 7.6 子集和数的递归回溯算法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530" y="1936956"/>
              <a:ext cx="4713059" cy="29727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55"/>
                </a:lnSpc>
              </a:pPr>
              <a:r>
                <a:rPr lang="en-US" sz="103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procedure SUMOFSUB(s, k, r)</a:t>
              </a:r>
              <a:br/>
              <a:r>
                <a:rPr lang="zh-CN" sz="103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</a:t>
              </a:r>
              <a:r>
                <a:rPr lang="zh-CN" sz="103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找出 W(1:n) 中和数为 M 的所有子集。进入时 X(1..k-1) 已确定，</a:t>
              </a:r>
              <a:br/>
              <a:r>
                <a:rPr lang="zh-CN" sz="103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</a:t>
              </a:r>
              <a:r>
                <a:rPr lang="zh-CN" sz="103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s = W(1)X(1)+…+W(k-1)X(k-1)，r = W(k)+…+W(n)，W 按非降次序排列</a:t>
              </a:r>
              <a:br/>
              <a:r>
                <a:rPr lang="en-US" sz="103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integer W(1:n), M, n; boolean X(1:n); integer s, k, r</a:t>
              </a:r>
              <a:br/>
              <a:r>
                <a:rPr lang="zh-CN" sz="103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</a:t>
              </a:r>
              <a:r>
                <a:rPr lang="zh-CN" sz="103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生成左儿子。由于 B(k-1) = true，因此 s+W(k) ≤ M 且 s+r ≥ M</a:t>
              </a:r>
              <a:br/>
              <a:r>
                <a:rPr lang="en-US" sz="103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X(k) ← 1</a:t>
              </a:r>
              <a:br/>
              <a:r>
                <a:rPr lang="en-US" sz="103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if s + W(k) = M then print(X(1..k))</a:t>
              </a:r>
              <a:br/>
              <a:r>
                <a:rPr lang="en-US" sz="103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else if s + W(k) + W(k+1) ≤ M then</a:t>
              </a:r>
              <a:br/>
              <a:r>
                <a:rPr lang="en-US" sz="103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call SUMOFSUB(s+W(k), k+1, r-W(k))</a:t>
              </a:r>
              <a:br/>
              <a:r>
                <a:rPr lang="en-US" sz="103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endif</a:t>
              </a:r>
              <a:br/>
              <a:r>
                <a:rPr lang="en-US" sz="103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endif</a:t>
              </a:r>
              <a:br/>
              <a:r>
                <a:rPr lang="zh-CN" sz="103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</a:t>
              </a:r>
              <a:r>
                <a:rPr lang="zh-CN" sz="103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生成右儿子并计算 B(k) 的值</a:t>
              </a:r>
              <a:br/>
              <a:r>
                <a:rPr lang="en-US" sz="103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if s + r - W(k) ≥ M and s + W(k+1) ≤ M then</a:t>
              </a:r>
              <a:br/>
              <a:r>
                <a:rPr lang="en-US" sz="103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X(k) ← 0; call SUMOFSUB(s, k+1, r-W(k))</a:t>
              </a:r>
              <a:br/>
              <a:r>
                <a:rPr lang="en-US" sz="103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endif</a:t>
              </a:r>
              <a:br/>
              <a:r>
                <a:rPr lang="en-US" sz="103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end SUMOFSUB</a:t>
              </a:r>
            </a:p>
          </p:txBody>
        </p:sp>
      </p:grpSp>
      <p:grpSp>
        <p:nvGrpSpPr>
          <p:cNvPr id="26" name="c2-graph-1"/>
          <p:cNvGrpSpPr/>
          <p:nvPr/>
        </p:nvGrpSpPr>
        <p:grpSpPr>
          <a:xfrm>
            <a:off x="8005321" y="1540193"/>
            <a:ext cx="3027445" cy="1730216"/>
            <a:chOff x="8005321" y="1540193"/>
            <a:chExt cx="3027445" cy="1730216"/>
          </a:xfrm>
        </p:grpSpPr>
        <p:sp>
          <p:nvSpPr>
            <p:cNvPr id="11" name="Freeform 11"/>
            <p:cNvSpPr/>
            <p:nvPr/>
          </p:nvSpPr>
          <p:spPr>
            <a:xfrm>
              <a:off x="8580120" y="1955482"/>
              <a:ext cx="847725" cy="858202"/>
            </a:xfrm>
            <a:custGeom>
              <a:avLst/>
              <a:gdLst/>
              <a:ahLst/>
              <a:cxnLst/>
              <a:rect l="l" t="t" r="r" b="b"/>
              <a:pathLst>
                <a:path w="847725" h="858202">
                  <a:moveTo>
                    <a:pt x="847725" y="0"/>
                  </a:moveTo>
                  <a:lnTo>
                    <a:pt x="0" y="858202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9777412" y="1955482"/>
              <a:ext cx="847725" cy="858202"/>
            </a:xfrm>
            <a:custGeom>
              <a:avLst/>
              <a:gdLst/>
              <a:ahLst/>
              <a:cxnLst/>
              <a:rect l="l" t="t" r="r" b="b"/>
              <a:pathLst>
                <a:path w="847725" h="858202">
                  <a:moveTo>
                    <a:pt x="0" y="0"/>
                  </a:moveTo>
                  <a:lnTo>
                    <a:pt x="847725" y="858202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3" name="Ellipse 13"/>
            <p:cNvSpPr/>
            <p:nvPr/>
          </p:nvSpPr>
          <p:spPr>
            <a:xfrm>
              <a:off x="9364028" y="1540193"/>
              <a:ext cx="478155" cy="478155"/>
            </a:xfrm>
            <a:prstGeom prst="ellipse">
              <a:avLst/>
            </a:prstGeom>
            <a:solidFill>
              <a:srgbClr val="2F4B9A"/>
            </a:solidFill>
            <a:ln w="17145">
              <a:solidFill>
                <a:srgbClr val="2F4B9A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8193405" y="2813685"/>
              <a:ext cx="516255" cy="260032"/>
            </a:xfrm>
            <a:prstGeom prst="roundRect">
              <a:avLst>
                <a:gd name="adj" fmla="val 36630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10495598" y="2813685"/>
              <a:ext cx="516255" cy="260032"/>
            </a:xfrm>
            <a:prstGeom prst="roundRect">
              <a:avLst>
                <a:gd name="adj" fmla="val 36630"/>
              </a:avLst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437151" y="1717834"/>
              <a:ext cx="33190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Xₖ₋₁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894570" y="1727359"/>
              <a:ext cx="95476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s, r，Bₖ₋₁ = true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285578" y="2882741"/>
              <a:ext cx="33190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Xₖ=1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005321" y="3108484"/>
              <a:ext cx="89242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s+W(k), r−W(k)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587771" y="2882741"/>
              <a:ext cx="33190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Xₖ=0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474684" y="3108484"/>
              <a:ext cx="55808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s, r−W(k)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8809672" y="2306002"/>
              <a:ext cx="388620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833637" y="2335054"/>
              <a:ext cx="340690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左子树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10006965" y="2306002"/>
              <a:ext cx="388620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10030930" y="2335054"/>
              <a:ext cx="340690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右子树</a:t>
              </a:r>
            </a:p>
          </p:txBody>
        </p:sp>
      </p:grpSp>
      <p:grpSp>
        <p:nvGrpSpPr>
          <p:cNvPr id="35" name="c2-card-2"/>
          <p:cNvGrpSpPr/>
          <p:nvPr/>
        </p:nvGrpSpPr>
        <p:grpSpPr>
          <a:xfrm>
            <a:off x="7546658" y="3519488"/>
            <a:ext cx="4111942" cy="2025968"/>
            <a:chOff x="7546658" y="3519488"/>
            <a:chExt cx="4111942" cy="2025968"/>
          </a:xfrm>
        </p:grpSpPr>
        <p:sp>
          <p:nvSpPr>
            <p:cNvPr id="27" name="Rectangle 27"/>
            <p:cNvSpPr/>
            <p:nvPr/>
          </p:nvSpPr>
          <p:spPr>
            <a:xfrm>
              <a:off x="7546658" y="3519488"/>
              <a:ext cx="4111942" cy="2025968"/>
            </a:xfrm>
            <a:prstGeom prst="roundRect">
              <a:avLst>
                <a:gd name="adj" fmla="val 658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7556182" y="3652838"/>
              <a:ext cx="47625" cy="1759268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7777162" y="3711892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868602" y="374618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31" name="Ellipse 31"/>
            <p:cNvSpPr/>
            <p:nvPr/>
          </p:nvSpPr>
          <p:spPr>
            <a:xfrm>
              <a:off x="7785735" y="4124325"/>
              <a:ext cx="59055" cy="5905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941754" y="4068127"/>
              <a:ext cx="24140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原课件左儿子处的递归调用写成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SUBOFSUB，应为 SUMOFSUB</a:t>
              </a:r>
            </a:p>
          </p:txBody>
        </p:sp>
        <p:sp>
          <p:nvSpPr>
            <p:cNvPr id="33" name="Ellipse 33"/>
            <p:cNvSpPr/>
            <p:nvPr/>
          </p:nvSpPr>
          <p:spPr>
            <a:xfrm>
              <a:off x="7785735" y="4684395"/>
              <a:ext cx="59055" cy="5905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941754" y="4628198"/>
              <a:ext cx="3296984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原课件写作 print(X)。X(k+1..n) 可能还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留着前面分支的旧值，应只输出 X(1..k)，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其余分量视为 0</a:t>
              </a:r>
            </a:p>
          </p:txBody>
        </p:sp>
      </p:grpSp>
      <p:grpSp>
        <p:nvGrpSpPr>
          <p:cNvPr id="42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36" name="Rectangle 36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40" name="Group 40"/>
            <p:cNvGrpSpPr/>
            <p:nvPr/>
          </p:nvGrpSpPr>
          <p:grpSpPr>
            <a:xfrm>
              <a:off x="738188" y="6017895"/>
              <a:ext cx="200026" cy="200025"/>
              <a:chOff x="738188" y="6017895"/>
              <a:chExt cx="200026" cy="200025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738188" y="601789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777926" y="606234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812642" y="617347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41" name="TextBox 41"/>
            <p:cNvSpPr txBox="1"/>
            <p:nvPr/>
          </p:nvSpPr>
          <p:spPr>
            <a:xfrm>
              <a:off x="1040892" y="6023610"/>
              <a:ext cx="879748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初始调用 SUMOFSUB(0, 1, W(1)+…+W(n))。右儿子的 s 不变且 s &lt; M，所以只有左儿子可能恰好凑成 M。</a:t>
              </a:r>
            </a:p>
          </p:txBody>
        </p:sp>
      </p:grpSp>
      <p:grpSp>
        <p:nvGrpSpPr>
          <p:cNvPr id="4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3" name="TextBox 43"/>
            <p:cNvSpPr txBox="1"/>
            <p:nvPr/>
          </p:nvSpPr>
          <p:spPr>
            <a:xfrm>
              <a:off x="528447" y="6581299"/>
              <a:ext cx="18568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第7章 回溯法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714479" cy="909257"/>
            <a:chOff x="520446" y="342900"/>
            <a:chExt cx="471447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2979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5008" y="407194"/>
              <a:ext cx="19865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第7章 回溯法 · 子集和数问题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71447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SUMOFSUB 的正确性与复杂度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4" name="c1-card-1"/>
          <p:cNvGrpSpPr/>
          <p:nvPr/>
        </p:nvGrpSpPr>
        <p:grpSpPr>
          <a:xfrm>
            <a:off x="533400" y="1524000"/>
            <a:ext cx="5951220" cy="4602480"/>
            <a:chOff x="533400" y="1524000"/>
            <a:chExt cx="5951220" cy="460248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951220" cy="4602480"/>
            </a:xfrm>
            <a:prstGeom prst="roundRect">
              <a:avLst>
                <a:gd name="adj" fmla="val 289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4335780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75335" y="1727835"/>
              <a:ext cx="2485072" cy="25717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06437" y="1763554"/>
              <a:ext cx="24238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正确性要点（调用时保持的不变式）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75335" y="2088832"/>
              <a:ext cx="201930" cy="20193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33680" y="2128218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66228" y="2100739"/>
              <a:ext cx="4748403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每次调用时 s = W(1)X(1)+…+W(k−1)X(k−1)，r = W(k)+…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+W(n)，且 s + W(k) ≤ M、s + r ≥ M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75335" y="2680335"/>
              <a:ext cx="201930" cy="20193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33680" y="2719721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66228" y="2692241"/>
              <a:ext cx="4910709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左儿子：(s + W(k)) + (r − W(k)) = s + r ≥ M 自然成立，只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需再查 s + W(k) + W(k+1) ≤ M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775335" y="3271838"/>
              <a:ext cx="201930" cy="20193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33680" y="3311223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066228" y="3283744"/>
              <a:ext cx="479348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右儿子：两个条件都要查；通过后，新参数仍满足不变式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775335" y="3591877"/>
              <a:ext cx="201930" cy="20193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33680" y="3631263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66228" y="3603784"/>
              <a:ext cx="4892675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不越界：k = n 时不变式给出 s + W(n) = M，左儿子直接输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出；右儿子的第一个条件 s ≥ M 不成立，按短路求值不会访问</a:t>
              </a:r>
              <a:br/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W(n+1)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69239" y="4463415"/>
              <a:ext cx="509473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初始调用 SUMOFSUB(0, 1, W(1)+…+W(n))，要求 W(1) ≤ M 且全部权之和</a:t>
              </a:r>
              <a:br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≥ M。</a:t>
              </a:r>
            </a:p>
          </p:txBody>
        </p:sp>
      </p:grpSp>
      <p:grpSp>
        <p:nvGrpSpPr>
          <p:cNvPr id="46" name="c2-table-1"/>
          <p:cNvGrpSpPr/>
          <p:nvPr/>
        </p:nvGrpSpPr>
        <p:grpSpPr>
          <a:xfrm>
            <a:off x="6789420" y="1524000"/>
            <a:ext cx="4869180" cy="2581275"/>
            <a:chOff x="6789420" y="1524000"/>
            <a:chExt cx="4869180" cy="2581275"/>
          </a:xfrm>
        </p:grpSpPr>
        <p:sp>
          <p:nvSpPr>
            <p:cNvPr id="25" name="Rectangle 25"/>
            <p:cNvSpPr/>
            <p:nvPr/>
          </p:nvSpPr>
          <p:spPr>
            <a:xfrm>
              <a:off x="6789420" y="1524000"/>
              <a:ext cx="4869180" cy="430530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449502" y="165544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项目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884092" y="165544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代价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894766" y="2085022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预处理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550212" y="2085022"/>
              <a:ext cx="137060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 排序 O(n log n)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6789420" y="2379345"/>
              <a:ext cx="486918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6789420" y="2384108"/>
              <a:ext cx="4869180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894766" y="2515552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每个结点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550212" y="2515552"/>
              <a:ext cx="290962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O(1)：s、r 随参数递推，不必重新求和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6789420" y="2809875"/>
              <a:ext cx="486918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894766" y="2946082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最坏结点数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550212" y="2946082"/>
              <a:ext cx="51572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O(2ⁿ)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6789420" y="3239452"/>
              <a:ext cx="486918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6789420" y="3244215"/>
              <a:ext cx="4869180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894766" y="337566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输出一个解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550212" y="3375660"/>
              <a:ext cx="4108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O(n)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6789420" y="3669982"/>
              <a:ext cx="486918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894766" y="380619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空间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550212" y="3806190"/>
              <a:ext cx="184053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O(n)：递归深度不超过 n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6789420" y="1524000"/>
              <a:ext cx="4869180" cy="258127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5" name="Rectangle 45"/>
            <p:cNvSpPr/>
            <p:nvPr/>
          </p:nvSpPr>
          <p:spPr>
            <a:xfrm>
              <a:off x="8440102" y="1524000"/>
              <a:ext cx="9525" cy="258127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3" name="c2-card-2"/>
          <p:cNvGrpSpPr/>
          <p:nvPr/>
        </p:nvGrpSpPr>
        <p:grpSpPr>
          <a:xfrm>
            <a:off x="6789420" y="4290060"/>
            <a:ext cx="4869180" cy="1836420"/>
            <a:chOff x="6789420" y="4290060"/>
            <a:chExt cx="4869180" cy="1836420"/>
          </a:xfrm>
        </p:grpSpPr>
        <p:sp>
          <p:nvSpPr>
            <p:cNvPr id="47" name="Rectangle 47"/>
            <p:cNvSpPr/>
            <p:nvPr/>
          </p:nvSpPr>
          <p:spPr>
            <a:xfrm>
              <a:off x="6789420" y="4290060"/>
              <a:ext cx="4869180" cy="1836420"/>
            </a:xfrm>
            <a:prstGeom prst="roundRect">
              <a:avLst>
                <a:gd name="adj" fmla="val 726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8" name="Rectangle 48"/>
            <p:cNvSpPr/>
            <p:nvPr/>
          </p:nvSpPr>
          <p:spPr>
            <a:xfrm>
              <a:off x="6798945" y="4423410"/>
              <a:ext cx="47625" cy="1569720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7031355" y="4493895"/>
              <a:ext cx="1204912" cy="25717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7100862" y="4529614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思考（原课件）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8343329" y="4534376"/>
              <a:ext cx="183006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如果不将 W 预排序？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024116" y="4885849"/>
              <a:ext cx="4189349" cy="109308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条件二依赖"W(k+1) 是剩余权中最小的"。不排序时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应改用剩余权的最小值 min{W(k+1), …, W(n)}（可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以从后往前预先算好）；只保留条件一也正确，但剪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枝能力变弱，生成的结点一般会增多。</a:t>
              </a:r>
            </a:p>
          </p:txBody>
        </p:sp>
      </p:grpSp>
      <p:grpSp>
        <p:nvGrpSpPr>
          <p:cNvPr id="5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4" name="TextBox 54"/>
            <p:cNvSpPr txBox="1"/>
            <p:nvPr/>
          </p:nvSpPr>
          <p:spPr>
            <a:xfrm>
              <a:off x="528447" y="6581299"/>
              <a:ext cx="18568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第7章 回溯法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394435" cy="909257"/>
            <a:chOff x="520446" y="342900"/>
            <a:chExt cx="739443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2979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5008" y="407194"/>
              <a:ext cx="19865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第7章 回溯法 · 子集和数问题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39443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效率估计实例：一条随机路径给出估计值 m = 15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10698338" cy="308039"/>
            <a:chOff x="525399" y="1550194"/>
            <a:chExt cx="10698338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10698338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M = 30，W = (5, 10, 12, 13, 15, 18)。每层生成当前结点的两个儿子并检验，再从通过的儿子中随机选一个。</a:t>
              </a:r>
            </a:p>
          </p:txBody>
        </p:sp>
      </p:grpSp>
      <p:grpSp>
        <p:nvGrpSpPr>
          <p:cNvPr id="76" name="c1-graph-1"/>
          <p:cNvGrpSpPr/>
          <p:nvPr/>
        </p:nvGrpSpPr>
        <p:grpSpPr>
          <a:xfrm>
            <a:off x="589311" y="2026920"/>
            <a:ext cx="4599714" cy="3461861"/>
            <a:chOff x="589311" y="2026920"/>
            <a:chExt cx="4599714" cy="3461861"/>
          </a:xfrm>
        </p:grpSpPr>
        <p:sp>
          <p:nvSpPr>
            <p:cNvPr id="9" name="Freeform 9"/>
            <p:cNvSpPr/>
            <p:nvPr/>
          </p:nvSpPr>
          <p:spPr>
            <a:xfrm>
              <a:off x="1396365" y="2269808"/>
              <a:ext cx="607695" cy="410527"/>
            </a:xfrm>
            <a:custGeom>
              <a:avLst/>
              <a:gdLst/>
              <a:ahLst/>
              <a:cxnLst/>
              <a:rect l="l" t="t" r="r" b="b"/>
              <a:pathLst>
                <a:path w="607695" h="410527">
                  <a:moveTo>
                    <a:pt x="607695" y="0"/>
                  </a:moveTo>
                  <a:lnTo>
                    <a:pt x="0" y="410527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2271712" y="2269808"/>
              <a:ext cx="603885" cy="410527"/>
            </a:xfrm>
            <a:custGeom>
              <a:avLst/>
              <a:gdLst/>
              <a:ahLst/>
              <a:cxnLst/>
              <a:rect l="l" t="t" r="r" b="b"/>
              <a:pathLst>
                <a:path w="603885" h="410527">
                  <a:moveTo>
                    <a:pt x="0" y="0"/>
                  </a:moveTo>
                  <a:lnTo>
                    <a:pt x="603885" y="410527"/>
                  </a:lnTo>
                </a:path>
              </a:pathLst>
            </a:custGeom>
            <a:noFill/>
            <a:ln w="28575">
              <a:solidFill>
                <a:srgbClr val="F26B3A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2344102" y="2867978"/>
              <a:ext cx="535305" cy="398145"/>
            </a:xfrm>
            <a:custGeom>
              <a:avLst/>
              <a:gdLst/>
              <a:ahLst/>
              <a:cxnLst/>
              <a:rect l="l" t="t" r="r" b="b"/>
              <a:pathLst>
                <a:path w="535305" h="398145">
                  <a:moveTo>
                    <a:pt x="535305" y="0"/>
                  </a:moveTo>
                  <a:lnTo>
                    <a:pt x="0" y="398145"/>
                  </a:lnTo>
                </a:path>
              </a:pathLst>
            </a:custGeom>
            <a:noFill/>
            <a:ln w="28575">
              <a:solidFill>
                <a:srgbClr val="F26B3A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1867852" y="3492818"/>
              <a:ext cx="249555" cy="332423"/>
            </a:xfrm>
            <a:custGeom>
              <a:avLst/>
              <a:gdLst/>
              <a:ahLst/>
              <a:cxnLst/>
              <a:rect l="l" t="t" r="r" b="b"/>
              <a:pathLst>
                <a:path w="249555" h="332423">
                  <a:moveTo>
                    <a:pt x="249555" y="0"/>
                  </a:moveTo>
                  <a:lnTo>
                    <a:pt x="0" y="332423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2311718" y="3491865"/>
              <a:ext cx="252412" cy="334327"/>
            </a:xfrm>
            <a:custGeom>
              <a:avLst/>
              <a:gdLst/>
              <a:ahLst/>
              <a:cxnLst/>
              <a:rect l="l" t="t" r="r" b="b"/>
              <a:pathLst>
                <a:path w="252412" h="334327">
                  <a:moveTo>
                    <a:pt x="0" y="0"/>
                  </a:moveTo>
                  <a:lnTo>
                    <a:pt x="252412" y="334327"/>
                  </a:lnTo>
                </a:path>
              </a:pathLst>
            </a:custGeom>
            <a:noFill/>
            <a:ln w="28575">
              <a:solidFill>
                <a:srgbClr val="F26B3A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2367915" y="4090988"/>
              <a:ext cx="205740" cy="320040"/>
            </a:xfrm>
            <a:custGeom>
              <a:avLst/>
              <a:gdLst/>
              <a:ahLst/>
              <a:cxnLst/>
              <a:rect l="l" t="t" r="r" b="b"/>
              <a:pathLst>
                <a:path w="205740" h="320040">
                  <a:moveTo>
                    <a:pt x="205740" y="0"/>
                  </a:moveTo>
                  <a:lnTo>
                    <a:pt x="0" y="32004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2748915" y="4090988"/>
              <a:ext cx="205740" cy="320040"/>
            </a:xfrm>
            <a:custGeom>
              <a:avLst/>
              <a:gdLst/>
              <a:ahLst/>
              <a:cxnLst/>
              <a:rect l="l" t="t" r="r" b="b"/>
              <a:pathLst>
                <a:path w="205740" h="320040">
                  <a:moveTo>
                    <a:pt x="0" y="0"/>
                  </a:moveTo>
                  <a:lnTo>
                    <a:pt x="205740" y="320040"/>
                  </a:lnTo>
                </a:path>
              </a:pathLst>
            </a:custGeom>
            <a:noFill/>
            <a:ln w="28575">
              <a:solidFill>
                <a:srgbClr val="F26B3A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2849880" y="4695825"/>
              <a:ext cx="127635" cy="295275"/>
            </a:xfrm>
            <a:custGeom>
              <a:avLst/>
              <a:gdLst/>
              <a:ahLst/>
              <a:cxnLst/>
              <a:rect l="l" t="t" r="r" b="b"/>
              <a:pathLst>
                <a:path w="127635" h="295275">
                  <a:moveTo>
                    <a:pt x="127635" y="0"/>
                  </a:moveTo>
                  <a:lnTo>
                    <a:pt x="0" y="29527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3106102" y="4695825"/>
              <a:ext cx="124777" cy="294322"/>
            </a:xfrm>
            <a:custGeom>
              <a:avLst/>
              <a:gdLst/>
              <a:ahLst/>
              <a:cxnLst/>
              <a:rect l="l" t="t" r="r" b="b"/>
              <a:pathLst>
                <a:path w="124777" h="294322">
                  <a:moveTo>
                    <a:pt x="0" y="0"/>
                  </a:moveTo>
                  <a:lnTo>
                    <a:pt x="124777" y="294322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3139440" y="2867978"/>
              <a:ext cx="535305" cy="398145"/>
            </a:xfrm>
            <a:custGeom>
              <a:avLst/>
              <a:gdLst/>
              <a:ahLst/>
              <a:cxnLst/>
              <a:rect l="l" t="t" r="r" b="b"/>
              <a:pathLst>
                <a:path w="535305" h="398145">
                  <a:moveTo>
                    <a:pt x="0" y="0"/>
                  </a:moveTo>
                  <a:lnTo>
                    <a:pt x="535305" y="39814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9" name="Ellipse 19"/>
            <p:cNvSpPr/>
            <p:nvPr/>
          </p:nvSpPr>
          <p:spPr>
            <a:xfrm>
              <a:off x="1985010" y="2026920"/>
              <a:ext cx="304800" cy="304800"/>
            </a:xfrm>
            <a:prstGeom prst="ellipse">
              <a:avLst/>
            </a:prstGeom>
            <a:solidFill>
              <a:srgbClr val="2F4B9A"/>
            </a:solidFill>
            <a:ln w="17145">
              <a:solidFill>
                <a:srgbClr val="2F4B9A"/>
              </a:solidFill>
            </a:ln>
          </p:spPr>
        </p:sp>
        <p:sp>
          <p:nvSpPr>
            <p:cNvPr id="20" name="Ellipse 20"/>
            <p:cNvSpPr/>
            <p:nvPr/>
          </p:nvSpPr>
          <p:spPr>
            <a:xfrm>
              <a:off x="1109662" y="2618422"/>
              <a:ext cx="304800" cy="3048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21" name="Ellipse 21"/>
            <p:cNvSpPr/>
            <p:nvPr/>
          </p:nvSpPr>
          <p:spPr>
            <a:xfrm>
              <a:off x="2856548" y="2618422"/>
              <a:ext cx="304800" cy="304800"/>
            </a:xfrm>
            <a:prstGeom prst="ellipse">
              <a:avLst/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22" name="Ellipse 22"/>
            <p:cNvSpPr/>
            <p:nvPr/>
          </p:nvSpPr>
          <p:spPr>
            <a:xfrm>
              <a:off x="2061210" y="3210878"/>
              <a:ext cx="304800" cy="304800"/>
            </a:xfrm>
            <a:prstGeom prst="ellipse">
              <a:avLst/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23" name="Ellipse 23"/>
            <p:cNvSpPr/>
            <p:nvPr/>
          </p:nvSpPr>
          <p:spPr>
            <a:xfrm>
              <a:off x="1619250" y="3802380"/>
              <a:ext cx="304800" cy="304800"/>
            </a:xfrm>
            <a:prstGeom prst="ellipse">
              <a:avLst/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2508885" y="3802380"/>
              <a:ext cx="304800" cy="304800"/>
            </a:xfrm>
            <a:prstGeom prst="ellipse">
              <a:avLst/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25" name="Ellipse 25"/>
            <p:cNvSpPr/>
            <p:nvPr/>
          </p:nvSpPr>
          <p:spPr>
            <a:xfrm>
              <a:off x="2127885" y="4394835"/>
              <a:ext cx="304800" cy="304800"/>
            </a:xfrm>
            <a:prstGeom prst="ellipse">
              <a:avLst/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26" name="Ellipse 26"/>
            <p:cNvSpPr/>
            <p:nvPr/>
          </p:nvSpPr>
          <p:spPr>
            <a:xfrm>
              <a:off x="2889885" y="4394835"/>
              <a:ext cx="304800" cy="304800"/>
            </a:xfrm>
            <a:prstGeom prst="ellipse">
              <a:avLst/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27" name="Ellipse 27"/>
            <p:cNvSpPr/>
            <p:nvPr/>
          </p:nvSpPr>
          <p:spPr>
            <a:xfrm>
              <a:off x="2632710" y="4987290"/>
              <a:ext cx="304800" cy="304800"/>
            </a:xfrm>
            <a:prstGeom prst="ellipse">
              <a:avLst/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28" name="Ellipse 28"/>
            <p:cNvSpPr/>
            <p:nvPr/>
          </p:nvSpPr>
          <p:spPr>
            <a:xfrm>
              <a:off x="3142298" y="4987290"/>
              <a:ext cx="304800" cy="304800"/>
            </a:xfrm>
            <a:prstGeom prst="ellipse">
              <a:avLst/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29" name="Ellipse 29"/>
            <p:cNvSpPr/>
            <p:nvPr/>
          </p:nvSpPr>
          <p:spPr>
            <a:xfrm>
              <a:off x="3651885" y="3210878"/>
              <a:ext cx="304800" cy="3048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2091261" y="211359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215913" y="270605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2962798" y="270605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2167461" y="329755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725501" y="389001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734812" y="4141946"/>
              <a:ext cx="7367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F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2615136" y="389001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2234136" y="448151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2243447" y="4734401"/>
              <a:ext cx="7367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F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2996136" y="448151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2698146" y="5073968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2748272" y="5326856"/>
              <a:ext cx="7367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F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3207733" y="5073968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3257860" y="5326856"/>
              <a:ext cx="7367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F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3758136" y="329755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1633538" y="2396490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1665093" y="242554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2506980" y="2396490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2538536" y="242554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2545080" y="2988945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2576636" y="301799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1925955" y="3580448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1957511" y="360949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2370772" y="3580448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2402328" y="360949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2404110" y="4172902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2435666" y="420195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2785110" y="4172902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2816666" y="420195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2847022" y="4764405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2878578" y="479440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3102292" y="4764405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3133848" y="479440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3339465" y="2988945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3371973" y="301799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589311" y="2361248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x₁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589311" y="2953702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x₂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589311" y="3546158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x₃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589311" y="4137660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x₄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589311" y="4730115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x₅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4257871" y="2057876"/>
              <a:ext cx="93115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 1 层：1 个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4257871" y="2649379"/>
              <a:ext cx="93115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 2 层：2 个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4257871" y="3241834"/>
              <a:ext cx="93115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 3 层：2 个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4257871" y="3833336"/>
              <a:ext cx="93115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 4 层：1 个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4257871" y="4425791"/>
              <a:ext cx="93115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 5 层：1 个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4257871" y="5018246"/>
              <a:ext cx="93115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 6 层：0 个</a:t>
              </a:r>
            </a:p>
          </p:txBody>
        </p:sp>
      </p:grpSp>
      <p:grpSp>
        <p:nvGrpSpPr>
          <p:cNvPr id="120" name="c2-table-1"/>
          <p:cNvGrpSpPr/>
          <p:nvPr/>
        </p:nvGrpSpPr>
        <p:grpSpPr>
          <a:xfrm>
            <a:off x="5593080" y="1967865"/>
            <a:ext cx="6065520" cy="2988469"/>
            <a:chOff x="5593080" y="1967865"/>
            <a:chExt cx="6065520" cy="2988469"/>
          </a:xfrm>
        </p:grpSpPr>
        <p:sp>
          <p:nvSpPr>
            <p:cNvPr id="77" name="Rectangle 77"/>
            <p:cNvSpPr/>
            <p:nvPr/>
          </p:nvSpPr>
          <p:spPr>
            <a:xfrm>
              <a:off x="5598795" y="1967865"/>
              <a:ext cx="6059805" cy="448628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5779529" y="2102644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层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6618590" y="2102644"/>
              <a:ext cx="99126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左儿子 x = 1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8557880" y="2102644"/>
              <a:ext cx="99126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右儿子 x = 0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10151593" y="2102644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通过数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11055947" y="210264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选中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5815930" y="255127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6252401" y="2551271"/>
              <a:ext cx="138821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2：s=5，r=68，T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8191691" y="2551271"/>
              <a:ext cx="138821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3：s=0，r=68，T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10362677" y="2551271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11180874" y="2551271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88" name="Rectangle 88"/>
            <p:cNvSpPr/>
            <p:nvPr/>
          </p:nvSpPr>
          <p:spPr>
            <a:xfrm>
              <a:off x="5598795" y="2860358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9" name="Rectangle 89"/>
            <p:cNvSpPr/>
            <p:nvPr/>
          </p:nvSpPr>
          <p:spPr>
            <a:xfrm>
              <a:off x="5598795" y="2865120"/>
              <a:ext cx="6059805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90" name="TextBox 90"/>
            <p:cNvSpPr txBox="1"/>
            <p:nvPr/>
          </p:nvSpPr>
          <p:spPr>
            <a:xfrm>
              <a:off x="5815930" y="300085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6252401" y="3000851"/>
              <a:ext cx="148298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4：s=10，r=58，T</a:t>
              </a:r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8191691" y="3000851"/>
              <a:ext cx="138821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5：s=0，r=58，T</a:t>
              </a:r>
            </a:p>
          </p:txBody>
        </p:sp>
        <p:sp>
          <p:nvSpPr>
            <p:cNvPr id="93" name="TextBox 93"/>
            <p:cNvSpPr txBox="1"/>
            <p:nvPr/>
          </p:nvSpPr>
          <p:spPr>
            <a:xfrm>
              <a:off x="10362677" y="3000851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11180874" y="3000851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95" name="Rectangle 95"/>
            <p:cNvSpPr/>
            <p:nvPr/>
          </p:nvSpPr>
          <p:spPr>
            <a:xfrm>
              <a:off x="5598795" y="3308985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6" name="TextBox 96"/>
            <p:cNvSpPr txBox="1"/>
            <p:nvPr/>
          </p:nvSpPr>
          <p:spPr>
            <a:xfrm>
              <a:off x="5815930" y="3449479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97" name="TextBox 97"/>
            <p:cNvSpPr txBox="1"/>
            <p:nvPr/>
          </p:nvSpPr>
          <p:spPr>
            <a:xfrm>
              <a:off x="6252401" y="3449479"/>
              <a:ext cx="148799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6：s=22，r=46，</a:t>
              </a:r>
              <a:r>
                <a:rPr lang="en-US" sz="12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F</a:t>
              </a:r>
            </a:p>
          </p:txBody>
        </p:sp>
        <p:sp>
          <p:nvSpPr>
            <p:cNvPr id="98" name="TextBox 98"/>
            <p:cNvSpPr txBox="1"/>
            <p:nvPr/>
          </p:nvSpPr>
          <p:spPr>
            <a:xfrm>
              <a:off x="8191691" y="3449479"/>
              <a:ext cx="148298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7：s=10，r=46，T</a:t>
              </a:r>
            </a:p>
          </p:txBody>
        </p:sp>
        <p:sp>
          <p:nvSpPr>
            <p:cNvPr id="99" name="TextBox 99"/>
            <p:cNvSpPr txBox="1"/>
            <p:nvPr/>
          </p:nvSpPr>
          <p:spPr>
            <a:xfrm>
              <a:off x="10362677" y="3449479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0" name="TextBox 100"/>
            <p:cNvSpPr txBox="1"/>
            <p:nvPr/>
          </p:nvSpPr>
          <p:spPr>
            <a:xfrm>
              <a:off x="11180874" y="3449479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101" name="Rectangle 101"/>
            <p:cNvSpPr/>
            <p:nvPr/>
          </p:nvSpPr>
          <p:spPr>
            <a:xfrm>
              <a:off x="5598795" y="3757612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2" name="Rectangle 102"/>
            <p:cNvSpPr/>
            <p:nvPr/>
          </p:nvSpPr>
          <p:spPr>
            <a:xfrm>
              <a:off x="5598795" y="3762375"/>
              <a:ext cx="6059805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03" name="TextBox 103"/>
            <p:cNvSpPr txBox="1"/>
            <p:nvPr/>
          </p:nvSpPr>
          <p:spPr>
            <a:xfrm>
              <a:off x="5815930" y="3898106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04" name="TextBox 104"/>
            <p:cNvSpPr txBox="1"/>
            <p:nvPr/>
          </p:nvSpPr>
          <p:spPr>
            <a:xfrm>
              <a:off x="6252401" y="3898106"/>
              <a:ext cx="148799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8：s=23，r=33，</a:t>
              </a:r>
              <a:r>
                <a:rPr lang="en-US" sz="12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F</a:t>
              </a:r>
            </a:p>
          </p:txBody>
        </p:sp>
        <p:sp>
          <p:nvSpPr>
            <p:cNvPr id="105" name="TextBox 105"/>
            <p:cNvSpPr txBox="1"/>
            <p:nvPr/>
          </p:nvSpPr>
          <p:spPr>
            <a:xfrm>
              <a:off x="8191691" y="3898106"/>
              <a:ext cx="148298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9：s=10，r=33，T</a:t>
              </a:r>
            </a:p>
          </p:txBody>
        </p:sp>
        <p:sp>
          <p:nvSpPr>
            <p:cNvPr id="106" name="TextBox 106"/>
            <p:cNvSpPr txBox="1"/>
            <p:nvPr/>
          </p:nvSpPr>
          <p:spPr>
            <a:xfrm>
              <a:off x="10362677" y="3898106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7" name="TextBox 107"/>
            <p:cNvSpPr txBox="1"/>
            <p:nvPr/>
          </p:nvSpPr>
          <p:spPr>
            <a:xfrm>
              <a:off x="11180874" y="3898106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108" name="Rectangle 108"/>
            <p:cNvSpPr/>
            <p:nvPr/>
          </p:nvSpPr>
          <p:spPr>
            <a:xfrm>
              <a:off x="5598795" y="4207192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9" name="TextBox 109"/>
            <p:cNvSpPr txBox="1"/>
            <p:nvPr/>
          </p:nvSpPr>
          <p:spPr>
            <a:xfrm>
              <a:off x="5815930" y="4346734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110" name="TextBox 110"/>
            <p:cNvSpPr txBox="1"/>
            <p:nvPr/>
          </p:nvSpPr>
          <p:spPr>
            <a:xfrm>
              <a:off x="6252401" y="4346734"/>
              <a:ext cx="15827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10：s=25，r=18，</a:t>
              </a:r>
              <a:r>
                <a:rPr lang="en-US" sz="12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F</a:t>
              </a:r>
            </a:p>
          </p:txBody>
        </p:sp>
        <p:sp>
          <p:nvSpPr>
            <p:cNvPr id="111" name="TextBox 111"/>
            <p:cNvSpPr txBox="1"/>
            <p:nvPr/>
          </p:nvSpPr>
          <p:spPr>
            <a:xfrm>
              <a:off x="8191691" y="4346734"/>
              <a:ext cx="15827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11：s=10，r=18，</a:t>
              </a:r>
              <a:r>
                <a:rPr lang="en-US" sz="12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F</a:t>
              </a:r>
            </a:p>
          </p:txBody>
        </p:sp>
        <p:sp>
          <p:nvSpPr>
            <p:cNvPr id="112" name="TextBox 112"/>
            <p:cNvSpPr txBox="1"/>
            <p:nvPr/>
          </p:nvSpPr>
          <p:spPr>
            <a:xfrm>
              <a:off x="10362677" y="4346734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13" name="TextBox 113"/>
            <p:cNvSpPr txBox="1"/>
            <p:nvPr/>
          </p:nvSpPr>
          <p:spPr>
            <a:xfrm>
              <a:off x="11180874" y="4346734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—</a:t>
              </a:r>
            </a:p>
          </p:txBody>
        </p:sp>
        <p:sp>
          <p:nvSpPr>
            <p:cNvPr id="114" name="Rectangle 114"/>
            <p:cNvSpPr/>
            <p:nvPr/>
          </p:nvSpPr>
          <p:spPr>
            <a:xfrm>
              <a:off x="5598795" y="1967865"/>
              <a:ext cx="6059805" cy="269271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115" name="Rectangle 115"/>
            <p:cNvSpPr/>
            <p:nvPr/>
          </p:nvSpPr>
          <p:spPr>
            <a:xfrm>
              <a:off x="6139815" y="1967865"/>
              <a:ext cx="9525" cy="269271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6" name="Rectangle 116"/>
            <p:cNvSpPr/>
            <p:nvPr/>
          </p:nvSpPr>
          <p:spPr>
            <a:xfrm>
              <a:off x="8079105" y="1967865"/>
              <a:ext cx="9525" cy="269271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7" name="Rectangle 117"/>
            <p:cNvSpPr/>
            <p:nvPr/>
          </p:nvSpPr>
          <p:spPr>
            <a:xfrm>
              <a:off x="10017442" y="1967865"/>
              <a:ext cx="9525" cy="269271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8" name="Rectangle 118"/>
            <p:cNvSpPr/>
            <p:nvPr/>
          </p:nvSpPr>
          <p:spPr>
            <a:xfrm>
              <a:off x="10805160" y="1967865"/>
              <a:ext cx="9525" cy="269271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9" name="TextBox 119"/>
            <p:cNvSpPr txBox="1"/>
            <p:nvPr/>
          </p:nvSpPr>
          <p:spPr>
            <a:xfrm>
              <a:off x="5593080" y="4736306"/>
              <a:ext cx="32997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B 值为 T 的条件：s + r ≥ 30 且 s + W(k+1) ≤ 30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21" name="formula33"/>
              <p:cNvSpPr txBox="1">
                <a:spLocks noGrp="1"/>
              </p:cNvSpPr>
              <p:nvPr/>
            </p:nvSpPr>
            <p:spPr>
              <a:xfrm>
                <a:off x="5598795" y="5102542"/>
                <a:ext cx="6059805" cy="41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m</m:t>
                      </m:r>
                      <m:r>
                        <m:rPr>
                          <m:sty m:val="p"/>
                        </m:rP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1</m:t>
                      </m:r>
                      <m:r>
                        <m:rPr>
                          <m:sty m:val="p"/>
                        </m:rP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2</m:t>
                      </m:r>
                      <m:r>
                        <m:rPr>
                          <m:sty m:val="p"/>
                        </m:rP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2</m:t>
                      </m:r>
                      <m:r>
                        <m:rPr>
                          <m:sty m:val="p"/>
                        </m:rP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⋅</m:t>
                      </m:r>
                      <m: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2</m:t>
                      </m:r>
                      <m:r>
                        <m:rPr>
                          <m:sty m:val="p"/>
                        </m:rP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2</m:t>
                      </m:r>
                      <m:r>
                        <m:rPr>
                          <m:sty m:val="p"/>
                        </m:rP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⋅</m:t>
                      </m:r>
                      <m: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2</m:t>
                      </m:r>
                      <m:r>
                        <m:rPr>
                          <m:sty m:val="p"/>
                        </m:rP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⋅</m:t>
                      </m:r>
                      <m: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1</m:t>
                      </m:r>
                      <m:r>
                        <m:rPr>
                          <m:sty m:val="p"/>
                        </m:rP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2</m:t>
                      </m:r>
                      <m:r>
                        <m:rPr>
                          <m:sty m:val="p"/>
                        </m:rP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⋅</m:t>
                      </m:r>
                      <m: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2</m:t>
                      </m:r>
                      <m:r>
                        <m:rPr>
                          <m:sty m:val="p"/>
                        </m:rP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⋅</m:t>
                      </m:r>
                      <m: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1</m:t>
                      </m:r>
                      <m:r>
                        <m:rPr>
                          <m:sty m:val="p"/>
                        </m:rP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⋅</m:t>
                      </m:r>
                      <m: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1</m:t>
                      </m:r>
                      <m:r>
                        <m:rPr>
                          <m:sty m:val="p"/>
                        </m:rP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15</m:t>
                      </m:r>
                    </m:oMath>
                  </m:oMathPara>
                </a14:m>
              </a:p>
            </p:txBody>
          </p:sp>
        </mc:Choice>
      </mc:AlternateContent>
      <p:grpSp>
        <p:nvGrpSpPr>
          <p:cNvPr id="128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122" name="Rectangle 122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126" name="Group 126"/>
            <p:cNvGrpSpPr/>
            <p:nvPr/>
          </p:nvGrpSpPr>
          <p:grpSpPr>
            <a:xfrm>
              <a:off x="738188" y="5995988"/>
              <a:ext cx="200026" cy="200026"/>
              <a:chOff x="738188" y="5995988"/>
              <a:chExt cx="200026" cy="200026"/>
            </a:xfrm>
          </p:grpSpPr>
          <p:sp>
            <p:nvSpPr>
              <p:cNvPr id="123" name="Freeform 123"/>
              <p:cNvSpPr/>
              <p:nvPr/>
            </p:nvSpPr>
            <p:spPr>
              <a:xfrm>
                <a:off x="738188" y="599598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124" name="Freeform 124"/>
              <p:cNvSpPr/>
              <p:nvPr/>
            </p:nvSpPr>
            <p:spPr>
              <a:xfrm>
                <a:off x="838200" y="606266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125" name="Freeform 125"/>
              <p:cNvSpPr/>
              <p:nvPr/>
            </p:nvSpPr>
            <p:spPr>
              <a:xfrm>
                <a:off x="827088" y="609600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127" name="TextBox 127"/>
            <p:cNvSpPr txBox="1"/>
            <p:nvPr/>
          </p:nvSpPr>
          <p:spPr>
            <a:xfrm>
              <a:off x="1040130" y="5991225"/>
              <a:ext cx="99311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对照：实际运行 SUMOFSUB 共调用 20 次（含根），即有 20 个结点通过限界函数并被扩展，这一次估计偏小。</a:t>
              </a:r>
            </a:p>
          </p:txBody>
        </p:sp>
      </p:grpSp>
      <p:grpSp>
        <p:nvGrpSpPr>
          <p:cNvPr id="13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29" name="TextBox 129"/>
            <p:cNvSpPr txBox="1"/>
            <p:nvPr/>
          </p:nvSpPr>
          <p:spPr>
            <a:xfrm>
              <a:off x="528447" y="6581299"/>
              <a:ext cx="18568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第7章 回溯法</a:t>
              </a:r>
            </a:p>
          </p:txBody>
        </p:sp>
        <p:sp>
          <p:nvSpPr>
            <p:cNvPr id="130" name="TextBox 13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730202" cy="909257"/>
            <a:chOff x="520446" y="342900"/>
            <a:chExt cx="773020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2979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5008" y="407194"/>
              <a:ext cx="19865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第7章 回溯法 · 子集和数问题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73020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实例运行：SUMOFSUB 生成的动态树共 41 个结点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10055423" cy="308039"/>
            <a:chOff x="525399" y="1550194"/>
            <a:chExt cx="10055423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10055423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左分支 xₖ = 1，右分支 xₖ = 0，按生成顺序编号。白色：活结点；绿色：答案结点；灰色：被杀死的结点。</a:t>
              </a:r>
            </a:p>
          </p:txBody>
        </p:sp>
      </p:grpSp>
      <p:grpSp>
        <p:nvGrpSpPr>
          <p:cNvPr id="217" name="c1-graph-1"/>
          <p:cNvGrpSpPr/>
          <p:nvPr/>
        </p:nvGrpSpPr>
        <p:grpSpPr>
          <a:xfrm>
            <a:off x="613123" y="1991678"/>
            <a:ext cx="10832117" cy="3286124"/>
            <a:chOff x="613123" y="1991678"/>
            <a:chExt cx="10832117" cy="3286124"/>
          </a:xfrm>
        </p:grpSpPr>
        <p:sp>
          <p:nvSpPr>
            <p:cNvPr id="9" name="Freeform 9"/>
            <p:cNvSpPr/>
            <p:nvPr/>
          </p:nvSpPr>
          <p:spPr>
            <a:xfrm>
              <a:off x="3108008" y="2165032"/>
              <a:ext cx="2137410" cy="438150"/>
            </a:xfrm>
            <a:custGeom>
              <a:avLst/>
              <a:gdLst/>
              <a:ahLst/>
              <a:cxnLst/>
              <a:rect l="l" t="t" r="r" b="b"/>
              <a:pathLst>
                <a:path w="2137410" h="438150">
                  <a:moveTo>
                    <a:pt x="2137410" y="0"/>
                  </a:moveTo>
                  <a:lnTo>
                    <a:pt x="0" y="43815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1919288" y="2693670"/>
              <a:ext cx="899160" cy="381000"/>
            </a:xfrm>
            <a:custGeom>
              <a:avLst/>
              <a:gdLst/>
              <a:ahLst/>
              <a:cxnLst/>
              <a:rect l="l" t="t" r="r" b="b"/>
              <a:pathLst>
                <a:path w="899160" h="381000">
                  <a:moveTo>
                    <a:pt x="899160" y="0"/>
                  </a:moveTo>
                  <a:lnTo>
                    <a:pt x="0" y="38100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1435418" y="3248025"/>
              <a:ext cx="242888" cy="272415"/>
            </a:xfrm>
            <a:custGeom>
              <a:avLst/>
              <a:gdLst/>
              <a:ahLst/>
              <a:cxnLst/>
              <a:rect l="l" t="t" r="r" b="b"/>
              <a:pathLst>
                <a:path w="242888" h="272415">
                  <a:moveTo>
                    <a:pt x="242888" y="0"/>
                  </a:moveTo>
                  <a:lnTo>
                    <a:pt x="0" y="27241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1879282" y="3248978"/>
              <a:ext cx="234315" cy="270510"/>
            </a:xfrm>
            <a:custGeom>
              <a:avLst/>
              <a:gdLst/>
              <a:ahLst/>
              <a:cxnLst/>
              <a:rect l="l" t="t" r="r" b="b"/>
              <a:pathLst>
                <a:path w="234315" h="270510">
                  <a:moveTo>
                    <a:pt x="0" y="0"/>
                  </a:moveTo>
                  <a:lnTo>
                    <a:pt x="234315" y="27051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1926908" y="3755708"/>
              <a:ext cx="194310" cy="257175"/>
            </a:xfrm>
            <a:custGeom>
              <a:avLst/>
              <a:gdLst/>
              <a:ahLst/>
              <a:cxnLst/>
              <a:rect l="l" t="t" r="r" b="b"/>
              <a:pathLst>
                <a:path w="194310" h="257175">
                  <a:moveTo>
                    <a:pt x="194310" y="0"/>
                  </a:moveTo>
                  <a:lnTo>
                    <a:pt x="0" y="25717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2303145" y="3757612"/>
              <a:ext cx="186690" cy="254317"/>
            </a:xfrm>
            <a:custGeom>
              <a:avLst/>
              <a:gdLst/>
              <a:ahLst/>
              <a:cxnLst/>
              <a:rect l="l" t="t" r="r" b="b"/>
              <a:pathLst>
                <a:path w="186690" h="254317">
                  <a:moveTo>
                    <a:pt x="0" y="0"/>
                  </a:moveTo>
                  <a:lnTo>
                    <a:pt x="186690" y="254317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2402205" y="4271010"/>
              <a:ext cx="111442" cy="226695"/>
            </a:xfrm>
            <a:custGeom>
              <a:avLst/>
              <a:gdLst/>
              <a:ahLst/>
              <a:cxnLst/>
              <a:rect l="l" t="t" r="r" b="b"/>
              <a:pathLst>
                <a:path w="111442" h="226695">
                  <a:moveTo>
                    <a:pt x="111442" y="0"/>
                  </a:moveTo>
                  <a:lnTo>
                    <a:pt x="0" y="22669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2649855" y="4270058"/>
              <a:ext cx="117158" cy="228600"/>
            </a:xfrm>
            <a:custGeom>
              <a:avLst/>
              <a:gdLst/>
              <a:ahLst/>
              <a:cxnLst/>
              <a:rect l="l" t="t" r="r" b="b"/>
              <a:pathLst>
                <a:path w="117158" h="228600">
                  <a:moveTo>
                    <a:pt x="0" y="0"/>
                  </a:moveTo>
                  <a:lnTo>
                    <a:pt x="117158" y="22860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3099435" y="2693670"/>
              <a:ext cx="898208" cy="381000"/>
            </a:xfrm>
            <a:custGeom>
              <a:avLst/>
              <a:gdLst/>
              <a:ahLst/>
              <a:cxnLst/>
              <a:rect l="l" t="t" r="r" b="b"/>
              <a:pathLst>
                <a:path w="898208" h="381000">
                  <a:moveTo>
                    <a:pt x="0" y="0"/>
                  </a:moveTo>
                  <a:lnTo>
                    <a:pt x="898208" y="38100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3694748" y="3236595"/>
              <a:ext cx="329565" cy="296227"/>
            </a:xfrm>
            <a:custGeom>
              <a:avLst/>
              <a:gdLst/>
              <a:ahLst/>
              <a:cxnLst/>
              <a:rect l="l" t="t" r="r" b="b"/>
              <a:pathLst>
                <a:path w="329565" h="296227">
                  <a:moveTo>
                    <a:pt x="329565" y="0"/>
                  </a:moveTo>
                  <a:lnTo>
                    <a:pt x="0" y="296227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9" name="Freeform 19"/>
            <p:cNvSpPr/>
            <p:nvPr/>
          </p:nvSpPr>
          <p:spPr>
            <a:xfrm>
              <a:off x="3395662" y="3769995"/>
              <a:ext cx="116205" cy="228600"/>
            </a:xfrm>
            <a:custGeom>
              <a:avLst/>
              <a:gdLst/>
              <a:ahLst/>
              <a:cxnLst/>
              <a:rect l="l" t="t" r="r" b="b"/>
              <a:pathLst>
                <a:path w="116205" h="228600">
                  <a:moveTo>
                    <a:pt x="116205" y="0"/>
                  </a:moveTo>
                  <a:lnTo>
                    <a:pt x="0" y="22860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3649028" y="3770948"/>
              <a:ext cx="110490" cy="226695"/>
            </a:xfrm>
            <a:custGeom>
              <a:avLst/>
              <a:gdLst/>
              <a:ahLst/>
              <a:cxnLst/>
              <a:rect l="l" t="t" r="r" b="b"/>
              <a:pathLst>
                <a:path w="110490" h="226695">
                  <a:moveTo>
                    <a:pt x="0" y="0"/>
                  </a:moveTo>
                  <a:lnTo>
                    <a:pt x="110490" y="22669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1" name="Freeform 21"/>
            <p:cNvSpPr/>
            <p:nvPr/>
          </p:nvSpPr>
          <p:spPr>
            <a:xfrm>
              <a:off x="4251960" y="3234690"/>
              <a:ext cx="339090" cy="299085"/>
            </a:xfrm>
            <a:custGeom>
              <a:avLst/>
              <a:gdLst/>
              <a:ahLst/>
              <a:cxnLst/>
              <a:rect l="l" t="t" r="r" b="b"/>
              <a:pathLst>
                <a:path w="339090" h="299085">
                  <a:moveTo>
                    <a:pt x="0" y="0"/>
                  </a:moveTo>
                  <a:lnTo>
                    <a:pt x="339090" y="29908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2" name="Freeform 22"/>
            <p:cNvSpPr/>
            <p:nvPr/>
          </p:nvSpPr>
          <p:spPr>
            <a:xfrm>
              <a:off x="4418648" y="3755708"/>
              <a:ext cx="194310" cy="257175"/>
            </a:xfrm>
            <a:custGeom>
              <a:avLst/>
              <a:gdLst/>
              <a:ahLst/>
              <a:cxnLst/>
              <a:rect l="l" t="t" r="r" b="b"/>
              <a:pathLst>
                <a:path w="194310" h="257175">
                  <a:moveTo>
                    <a:pt x="194310" y="0"/>
                  </a:moveTo>
                  <a:lnTo>
                    <a:pt x="0" y="25717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3" name="Freeform 23"/>
            <p:cNvSpPr/>
            <p:nvPr/>
          </p:nvSpPr>
          <p:spPr>
            <a:xfrm>
              <a:off x="4795838" y="3757612"/>
              <a:ext cx="186690" cy="254317"/>
            </a:xfrm>
            <a:custGeom>
              <a:avLst/>
              <a:gdLst/>
              <a:ahLst/>
              <a:cxnLst/>
              <a:rect l="l" t="t" r="r" b="b"/>
              <a:pathLst>
                <a:path w="186690" h="254317">
                  <a:moveTo>
                    <a:pt x="0" y="0"/>
                  </a:moveTo>
                  <a:lnTo>
                    <a:pt x="186690" y="254317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4" name="Freeform 24"/>
            <p:cNvSpPr/>
            <p:nvPr/>
          </p:nvSpPr>
          <p:spPr>
            <a:xfrm>
              <a:off x="4894898" y="4271010"/>
              <a:ext cx="110490" cy="226695"/>
            </a:xfrm>
            <a:custGeom>
              <a:avLst/>
              <a:gdLst/>
              <a:ahLst/>
              <a:cxnLst/>
              <a:rect l="l" t="t" r="r" b="b"/>
              <a:pathLst>
                <a:path w="110490" h="226695">
                  <a:moveTo>
                    <a:pt x="110490" y="0"/>
                  </a:moveTo>
                  <a:lnTo>
                    <a:pt x="0" y="22669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5" name="Freeform 25"/>
            <p:cNvSpPr/>
            <p:nvPr/>
          </p:nvSpPr>
          <p:spPr>
            <a:xfrm>
              <a:off x="5139690" y="4271010"/>
              <a:ext cx="110490" cy="226695"/>
            </a:xfrm>
            <a:custGeom>
              <a:avLst/>
              <a:gdLst/>
              <a:ahLst/>
              <a:cxnLst/>
              <a:rect l="l" t="t" r="r" b="b"/>
              <a:pathLst>
                <a:path w="110490" h="226695">
                  <a:moveTo>
                    <a:pt x="0" y="0"/>
                  </a:moveTo>
                  <a:lnTo>
                    <a:pt x="110490" y="22669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6" name="Freeform 26"/>
            <p:cNvSpPr/>
            <p:nvPr/>
          </p:nvSpPr>
          <p:spPr>
            <a:xfrm>
              <a:off x="5544502" y="2165032"/>
              <a:ext cx="2137410" cy="438150"/>
            </a:xfrm>
            <a:custGeom>
              <a:avLst/>
              <a:gdLst/>
              <a:ahLst/>
              <a:cxnLst/>
              <a:rect l="l" t="t" r="r" b="b"/>
              <a:pathLst>
                <a:path w="2137410" h="438150">
                  <a:moveTo>
                    <a:pt x="0" y="0"/>
                  </a:moveTo>
                  <a:lnTo>
                    <a:pt x="2137410" y="43815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7" name="Freeform 27"/>
            <p:cNvSpPr/>
            <p:nvPr/>
          </p:nvSpPr>
          <p:spPr>
            <a:xfrm>
              <a:off x="6396990" y="2680335"/>
              <a:ext cx="1289685" cy="407670"/>
            </a:xfrm>
            <a:custGeom>
              <a:avLst/>
              <a:gdLst/>
              <a:ahLst/>
              <a:cxnLst/>
              <a:rect l="l" t="t" r="r" b="b"/>
              <a:pathLst>
                <a:path w="1289685" h="407670">
                  <a:moveTo>
                    <a:pt x="1289685" y="0"/>
                  </a:moveTo>
                  <a:lnTo>
                    <a:pt x="0" y="40767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8" name="Freeform 28"/>
            <p:cNvSpPr/>
            <p:nvPr/>
          </p:nvSpPr>
          <p:spPr>
            <a:xfrm>
              <a:off x="5917882" y="3248978"/>
              <a:ext cx="234315" cy="270510"/>
            </a:xfrm>
            <a:custGeom>
              <a:avLst/>
              <a:gdLst/>
              <a:ahLst/>
              <a:cxnLst/>
              <a:rect l="l" t="t" r="r" b="b"/>
              <a:pathLst>
                <a:path w="234315" h="270510">
                  <a:moveTo>
                    <a:pt x="234315" y="0"/>
                  </a:moveTo>
                  <a:lnTo>
                    <a:pt x="0" y="27051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9" name="Freeform 29"/>
            <p:cNvSpPr/>
            <p:nvPr/>
          </p:nvSpPr>
          <p:spPr>
            <a:xfrm>
              <a:off x="6353175" y="3248025"/>
              <a:ext cx="241935" cy="272415"/>
            </a:xfrm>
            <a:custGeom>
              <a:avLst/>
              <a:gdLst/>
              <a:ahLst/>
              <a:cxnLst/>
              <a:rect l="l" t="t" r="r" b="b"/>
              <a:pathLst>
                <a:path w="241935" h="272415">
                  <a:moveTo>
                    <a:pt x="0" y="0"/>
                  </a:moveTo>
                  <a:lnTo>
                    <a:pt x="241935" y="27241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0" name="Freeform 30"/>
            <p:cNvSpPr/>
            <p:nvPr/>
          </p:nvSpPr>
          <p:spPr>
            <a:xfrm>
              <a:off x="6410325" y="3755708"/>
              <a:ext cx="194310" cy="257175"/>
            </a:xfrm>
            <a:custGeom>
              <a:avLst/>
              <a:gdLst/>
              <a:ahLst/>
              <a:cxnLst/>
              <a:rect l="l" t="t" r="r" b="b"/>
              <a:pathLst>
                <a:path w="194310" h="257175">
                  <a:moveTo>
                    <a:pt x="194310" y="0"/>
                  </a:moveTo>
                  <a:lnTo>
                    <a:pt x="0" y="25717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1" name="Freeform 31"/>
            <p:cNvSpPr/>
            <p:nvPr/>
          </p:nvSpPr>
          <p:spPr>
            <a:xfrm>
              <a:off x="6786562" y="3757612"/>
              <a:ext cx="186690" cy="254317"/>
            </a:xfrm>
            <a:custGeom>
              <a:avLst/>
              <a:gdLst/>
              <a:ahLst/>
              <a:cxnLst/>
              <a:rect l="l" t="t" r="r" b="b"/>
              <a:pathLst>
                <a:path w="186690" h="254317">
                  <a:moveTo>
                    <a:pt x="0" y="0"/>
                  </a:moveTo>
                  <a:lnTo>
                    <a:pt x="186690" y="254317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2" name="Freeform 32"/>
            <p:cNvSpPr/>
            <p:nvPr/>
          </p:nvSpPr>
          <p:spPr>
            <a:xfrm>
              <a:off x="6886575" y="4271010"/>
              <a:ext cx="110490" cy="226695"/>
            </a:xfrm>
            <a:custGeom>
              <a:avLst/>
              <a:gdLst/>
              <a:ahLst/>
              <a:cxnLst/>
              <a:rect l="l" t="t" r="r" b="b"/>
              <a:pathLst>
                <a:path w="110490" h="226695">
                  <a:moveTo>
                    <a:pt x="110490" y="0"/>
                  </a:moveTo>
                  <a:lnTo>
                    <a:pt x="0" y="22669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3" name="Freeform 33"/>
            <p:cNvSpPr/>
            <p:nvPr/>
          </p:nvSpPr>
          <p:spPr>
            <a:xfrm>
              <a:off x="7133272" y="4270058"/>
              <a:ext cx="117158" cy="228600"/>
            </a:xfrm>
            <a:custGeom>
              <a:avLst/>
              <a:gdLst/>
              <a:ahLst/>
              <a:cxnLst/>
              <a:rect l="l" t="t" r="r" b="b"/>
              <a:pathLst>
                <a:path w="117158" h="228600">
                  <a:moveTo>
                    <a:pt x="0" y="0"/>
                  </a:moveTo>
                  <a:lnTo>
                    <a:pt x="117158" y="22860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4" name="Freeform 34"/>
            <p:cNvSpPr/>
            <p:nvPr/>
          </p:nvSpPr>
          <p:spPr>
            <a:xfrm>
              <a:off x="7977188" y="2680335"/>
              <a:ext cx="1278255" cy="407670"/>
            </a:xfrm>
            <a:custGeom>
              <a:avLst/>
              <a:gdLst/>
              <a:ahLst/>
              <a:cxnLst/>
              <a:rect l="l" t="t" r="r" b="b"/>
              <a:pathLst>
                <a:path w="1278255" h="407670">
                  <a:moveTo>
                    <a:pt x="0" y="0"/>
                  </a:moveTo>
                  <a:lnTo>
                    <a:pt x="1278255" y="40767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5" name="Freeform 35"/>
            <p:cNvSpPr/>
            <p:nvPr/>
          </p:nvSpPr>
          <p:spPr>
            <a:xfrm>
              <a:off x="8382952" y="3194685"/>
              <a:ext cx="877253" cy="379095"/>
            </a:xfrm>
            <a:custGeom>
              <a:avLst/>
              <a:gdLst/>
              <a:ahLst/>
              <a:cxnLst/>
              <a:rect l="l" t="t" r="r" b="b"/>
              <a:pathLst>
                <a:path w="877253" h="379095">
                  <a:moveTo>
                    <a:pt x="877253" y="0"/>
                  </a:moveTo>
                  <a:lnTo>
                    <a:pt x="0" y="37909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6" name="Freeform 36"/>
            <p:cNvSpPr/>
            <p:nvPr/>
          </p:nvSpPr>
          <p:spPr>
            <a:xfrm>
              <a:off x="7909560" y="3749040"/>
              <a:ext cx="233362" cy="270510"/>
            </a:xfrm>
            <a:custGeom>
              <a:avLst/>
              <a:gdLst/>
              <a:ahLst/>
              <a:cxnLst/>
              <a:rect l="l" t="t" r="r" b="b"/>
              <a:pathLst>
                <a:path w="233362" h="270510">
                  <a:moveTo>
                    <a:pt x="233362" y="0"/>
                  </a:moveTo>
                  <a:lnTo>
                    <a:pt x="0" y="27051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7" name="Freeform 37"/>
            <p:cNvSpPr/>
            <p:nvPr/>
          </p:nvSpPr>
          <p:spPr>
            <a:xfrm>
              <a:off x="8344852" y="3748088"/>
              <a:ext cx="241935" cy="272415"/>
            </a:xfrm>
            <a:custGeom>
              <a:avLst/>
              <a:gdLst/>
              <a:ahLst/>
              <a:cxnLst/>
              <a:rect l="l" t="t" r="r" b="b"/>
              <a:pathLst>
                <a:path w="241935" h="272415">
                  <a:moveTo>
                    <a:pt x="0" y="0"/>
                  </a:moveTo>
                  <a:lnTo>
                    <a:pt x="241935" y="27241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8" name="Freeform 38"/>
            <p:cNvSpPr/>
            <p:nvPr/>
          </p:nvSpPr>
          <p:spPr>
            <a:xfrm>
              <a:off x="8402002" y="4255770"/>
              <a:ext cx="194310" cy="257175"/>
            </a:xfrm>
            <a:custGeom>
              <a:avLst/>
              <a:gdLst/>
              <a:ahLst/>
              <a:cxnLst/>
              <a:rect l="l" t="t" r="r" b="b"/>
              <a:pathLst>
                <a:path w="194310" h="257175">
                  <a:moveTo>
                    <a:pt x="194310" y="0"/>
                  </a:moveTo>
                  <a:lnTo>
                    <a:pt x="0" y="25717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9" name="Freeform 39"/>
            <p:cNvSpPr/>
            <p:nvPr/>
          </p:nvSpPr>
          <p:spPr>
            <a:xfrm>
              <a:off x="8778240" y="4257675"/>
              <a:ext cx="186690" cy="254317"/>
            </a:xfrm>
            <a:custGeom>
              <a:avLst/>
              <a:gdLst/>
              <a:ahLst/>
              <a:cxnLst/>
              <a:rect l="l" t="t" r="r" b="b"/>
              <a:pathLst>
                <a:path w="186690" h="254317">
                  <a:moveTo>
                    <a:pt x="0" y="0"/>
                  </a:moveTo>
                  <a:lnTo>
                    <a:pt x="186690" y="254317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0" name="Freeform 40"/>
            <p:cNvSpPr/>
            <p:nvPr/>
          </p:nvSpPr>
          <p:spPr>
            <a:xfrm>
              <a:off x="8877300" y="4771072"/>
              <a:ext cx="111443" cy="226695"/>
            </a:xfrm>
            <a:custGeom>
              <a:avLst/>
              <a:gdLst/>
              <a:ahLst/>
              <a:cxnLst/>
              <a:rect l="l" t="t" r="r" b="b"/>
              <a:pathLst>
                <a:path w="111443" h="226695">
                  <a:moveTo>
                    <a:pt x="111443" y="0"/>
                  </a:moveTo>
                  <a:lnTo>
                    <a:pt x="0" y="22669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1" name="Freeform 41"/>
            <p:cNvSpPr/>
            <p:nvPr/>
          </p:nvSpPr>
          <p:spPr>
            <a:xfrm>
              <a:off x="9124950" y="4770120"/>
              <a:ext cx="117157" cy="228600"/>
            </a:xfrm>
            <a:custGeom>
              <a:avLst/>
              <a:gdLst/>
              <a:ahLst/>
              <a:cxnLst/>
              <a:rect l="l" t="t" r="r" b="b"/>
              <a:pathLst>
                <a:path w="117157" h="228600">
                  <a:moveTo>
                    <a:pt x="0" y="0"/>
                  </a:moveTo>
                  <a:lnTo>
                    <a:pt x="117157" y="22860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2" name="Freeform 42"/>
            <p:cNvSpPr/>
            <p:nvPr/>
          </p:nvSpPr>
          <p:spPr>
            <a:xfrm>
              <a:off x="9540240" y="3195638"/>
              <a:ext cx="865822" cy="378142"/>
            </a:xfrm>
            <a:custGeom>
              <a:avLst/>
              <a:gdLst/>
              <a:ahLst/>
              <a:cxnLst/>
              <a:rect l="l" t="t" r="r" b="b"/>
              <a:pathLst>
                <a:path w="865822" h="378142">
                  <a:moveTo>
                    <a:pt x="0" y="0"/>
                  </a:moveTo>
                  <a:lnTo>
                    <a:pt x="865822" y="378142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3" name="Freeform 43"/>
            <p:cNvSpPr/>
            <p:nvPr/>
          </p:nvSpPr>
          <p:spPr>
            <a:xfrm>
              <a:off x="10163175" y="3743325"/>
              <a:ext cx="276225" cy="281940"/>
            </a:xfrm>
            <a:custGeom>
              <a:avLst/>
              <a:gdLst/>
              <a:ahLst/>
              <a:cxnLst/>
              <a:rect l="l" t="t" r="r" b="b"/>
              <a:pathLst>
                <a:path w="276225" h="281940">
                  <a:moveTo>
                    <a:pt x="276225" y="0"/>
                  </a:moveTo>
                  <a:lnTo>
                    <a:pt x="0" y="28194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4" name="Freeform 44"/>
            <p:cNvSpPr/>
            <p:nvPr/>
          </p:nvSpPr>
          <p:spPr>
            <a:xfrm>
              <a:off x="9869805" y="4270058"/>
              <a:ext cx="117157" cy="228600"/>
            </a:xfrm>
            <a:custGeom>
              <a:avLst/>
              <a:gdLst/>
              <a:ahLst/>
              <a:cxnLst/>
              <a:rect l="l" t="t" r="r" b="b"/>
              <a:pathLst>
                <a:path w="117157" h="228600">
                  <a:moveTo>
                    <a:pt x="117157" y="0"/>
                  </a:moveTo>
                  <a:lnTo>
                    <a:pt x="0" y="22860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5" name="Freeform 45"/>
            <p:cNvSpPr/>
            <p:nvPr/>
          </p:nvSpPr>
          <p:spPr>
            <a:xfrm>
              <a:off x="10123170" y="4271010"/>
              <a:ext cx="111443" cy="226695"/>
            </a:xfrm>
            <a:custGeom>
              <a:avLst/>
              <a:gdLst/>
              <a:ahLst/>
              <a:cxnLst/>
              <a:rect l="l" t="t" r="r" b="b"/>
              <a:pathLst>
                <a:path w="111443" h="226695">
                  <a:moveTo>
                    <a:pt x="0" y="0"/>
                  </a:moveTo>
                  <a:lnTo>
                    <a:pt x="111443" y="22669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6" name="Freeform 46"/>
            <p:cNvSpPr/>
            <p:nvPr/>
          </p:nvSpPr>
          <p:spPr>
            <a:xfrm>
              <a:off x="10653712" y="3742372"/>
              <a:ext cx="284798" cy="284798"/>
            </a:xfrm>
            <a:custGeom>
              <a:avLst/>
              <a:gdLst/>
              <a:ahLst/>
              <a:cxnLst/>
              <a:rect l="l" t="t" r="r" b="b"/>
              <a:pathLst>
                <a:path w="284798" h="284798">
                  <a:moveTo>
                    <a:pt x="0" y="0"/>
                  </a:moveTo>
                  <a:lnTo>
                    <a:pt x="284798" y="284798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7" name="Freeform 47"/>
            <p:cNvSpPr/>
            <p:nvPr/>
          </p:nvSpPr>
          <p:spPr>
            <a:xfrm>
              <a:off x="10868978" y="4271010"/>
              <a:ext cx="110490" cy="226695"/>
            </a:xfrm>
            <a:custGeom>
              <a:avLst/>
              <a:gdLst/>
              <a:ahLst/>
              <a:cxnLst/>
              <a:rect l="l" t="t" r="r" b="b"/>
              <a:pathLst>
                <a:path w="110490" h="226695">
                  <a:moveTo>
                    <a:pt x="110490" y="0"/>
                  </a:moveTo>
                  <a:lnTo>
                    <a:pt x="0" y="22669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8" name="Freeform 48"/>
            <p:cNvSpPr/>
            <p:nvPr/>
          </p:nvSpPr>
          <p:spPr>
            <a:xfrm>
              <a:off x="11115675" y="4270058"/>
              <a:ext cx="117157" cy="228600"/>
            </a:xfrm>
            <a:custGeom>
              <a:avLst/>
              <a:gdLst/>
              <a:ahLst/>
              <a:cxnLst/>
              <a:rect l="l" t="t" r="r" b="b"/>
              <a:pathLst>
                <a:path w="117157" h="228600">
                  <a:moveTo>
                    <a:pt x="0" y="0"/>
                  </a:moveTo>
                  <a:lnTo>
                    <a:pt x="117157" y="22860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9" name="Ellipse 49"/>
            <p:cNvSpPr/>
            <p:nvPr/>
          </p:nvSpPr>
          <p:spPr>
            <a:xfrm>
              <a:off x="5252085" y="1991678"/>
              <a:ext cx="285750" cy="285750"/>
            </a:xfrm>
            <a:prstGeom prst="ellipse">
              <a:avLst/>
            </a:prstGeom>
            <a:solidFill>
              <a:srgbClr val="2F4B9A"/>
            </a:solidFill>
            <a:ln w="17145">
              <a:solidFill>
                <a:srgbClr val="2F4B9A"/>
              </a:solidFill>
            </a:ln>
          </p:spPr>
        </p:sp>
        <p:sp>
          <p:nvSpPr>
            <p:cNvPr id="50" name="Ellipse 50"/>
            <p:cNvSpPr/>
            <p:nvPr/>
          </p:nvSpPr>
          <p:spPr>
            <a:xfrm>
              <a:off x="2815590" y="2491740"/>
              <a:ext cx="285750" cy="2857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51" name="Ellipse 51"/>
            <p:cNvSpPr/>
            <p:nvPr/>
          </p:nvSpPr>
          <p:spPr>
            <a:xfrm>
              <a:off x="1636395" y="2991802"/>
              <a:ext cx="285750" cy="2857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52" name="Ellipse 52"/>
            <p:cNvSpPr/>
            <p:nvPr/>
          </p:nvSpPr>
          <p:spPr>
            <a:xfrm>
              <a:off x="1191578" y="3491865"/>
              <a:ext cx="285750" cy="285750"/>
            </a:xfrm>
            <a:prstGeom prst="ellipse">
              <a:avLst/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53" name="Ellipse 53"/>
            <p:cNvSpPr/>
            <p:nvPr/>
          </p:nvSpPr>
          <p:spPr>
            <a:xfrm>
              <a:off x="2070735" y="3491865"/>
              <a:ext cx="285750" cy="2857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54" name="Ellipse 54"/>
            <p:cNvSpPr/>
            <p:nvPr/>
          </p:nvSpPr>
          <p:spPr>
            <a:xfrm>
              <a:off x="1692592" y="3991928"/>
              <a:ext cx="285750" cy="285750"/>
            </a:xfrm>
            <a:prstGeom prst="ellipse">
              <a:avLst/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55" name="Ellipse 55"/>
            <p:cNvSpPr/>
            <p:nvPr/>
          </p:nvSpPr>
          <p:spPr>
            <a:xfrm>
              <a:off x="2437448" y="3991928"/>
              <a:ext cx="285750" cy="2857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56" name="Ellipse 56"/>
            <p:cNvSpPr/>
            <p:nvPr/>
          </p:nvSpPr>
          <p:spPr>
            <a:xfrm>
              <a:off x="2192655" y="4491990"/>
              <a:ext cx="285750" cy="285750"/>
            </a:xfrm>
            <a:prstGeom prst="ellipse">
              <a:avLst/>
            </a:prstGeom>
            <a:solidFill>
              <a:srgbClr val="E3F5F1"/>
            </a:solidFill>
            <a:ln w="17145">
              <a:solidFill>
                <a:srgbClr val="14A38B"/>
              </a:solidFill>
            </a:ln>
          </p:spPr>
        </p:sp>
        <p:sp>
          <p:nvSpPr>
            <p:cNvPr id="57" name="Ellipse 57"/>
            <p:cNvSpPr/>
            <p:nvPr/>
          </p:nvSpPr>
          <p:spPr>
            <a:xfrm>
              <a:off x="2693670" y="4491990"/>
              <a:ext cx="285750" cy="285750"/>
            </a:xfrm>
            <a:prstGeom prst="ellipse">
              <a:avLst/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58" name="Ellipse 58"/>
            <p:cNvSpPr/>
            <p:nvPr/>
          </p:nvSpPr>
          <p:spPr>
            <a:xfrm>
              <a:off x="3994785" y="2991802"/>
              <a:ext cx="285750" cy="2857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59" name="Ellipse 59"/>
            <p:cNvSpPr/>
            <p:nvPr/>
          </p:nvSpPr>
          <p:spPr>
            <a:xfrm>
              <a:off x="3438525" y="3491865"/>
              <a:ext cx="285750" cy="2857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60" name="Ellipse 60"/>
            <p:cNvSpPr/>
            <p:nvPr/>
          </p:nvSpPr>
          <p:spPr>
            <a:xfrm>
              <a:off x="3183255" y="3991928"/>
              <a:ext cx="285750" cy="285750"/>
            </a:xfrm>
            <a:prstGeom prst="ellipse">
              <a:avLst/>
            </a:prstGeom>
            <a:solidFill>
              <a:srgbClr val="E3F5F1"/>
            </a:solidFill>
            <a:ln w="17145">
              <a:solidFill>
                <a:srgbClr val="14A38B"/>
              </a:solidFill>
            </a:ln>
          </p:spPr>
        </p:sp>
        <p:sp>
          <p:nvSpPr>
            <p:cNvPr id="61" name="Ellipse 61"/>
            <p:cNvSpPr/>
            <p:nvPr/>
          </p:nvSpPr>
          <p:spPr>
            <a:xfrm>
              <a:off x="3683318" y="3991928"/>
              <a:ext cx="285750" cy="285750"/>
            </a:xfrm>
            <a:prstGeom prst="ellipse">
              <a:avLst/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62" name="Ellipse 62"/>
            <p:cNvSpPr/>
            <p:nvPr/>
          </p:nvSpPr>
          <p:spPr>
            <a:xfrm>
              <a:off x="4562475" y="3491865"/>
              <a:ext cx="285750" cy="2857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63" name="Ellipse 63"/>
            <p:cNvSpPr/>
            <p:nvPr/>
          </p:nvSpPr>
          <p:spPr>
            <a:xfrm>
              <a:off x="4184332" y="3991928"/>
              <a:ext cx="285750" cy="285750"/>
            </a:xfrm>
            <a:prstGeom prst="ellipse">
              <a:avLst/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64" name="Ellipse 64"/>
            <p:cNvSpPr/>
            <p:nvPr/>
          </p:nvSpPr>
          <p:spPr>
            <a:xfrm>
              <a:off x="4929188" y="3991928"/>
              <a:ext cx="285750" cy="2857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65" name="Ellipse 65"/>
            <p:cNvSpPr/>
            <p:nvPr/>
          </p:nvSpPr>
          <p:spPr>
            <a:xfrm>
              <a:off x="4684395" y="4491990"/>
              <a:ext cx="285750" cy="285750"/>
            </a:xfrm>
            <a:prstGeom prst="ellipse">
              <a:avLst/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66" name="Ellipse 66"/>
            <p:cNvSpPr/>
            <p:nvPr/>
          </p:nvSpPr>
          <p:spPr>
            <a:xfrm>
              <a:off x="5173980" y="4491990"/>
              <a:ext cx="285750" cy="285750"/>
            </a:xfrm>
            <a:prstGeom prst="ellipse">
              <a:avLst/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67" name="Ellipse 67"/>
            <p:cNvSpPr/>
            <p:nvPr/>
          </p:nvSpPr>
          <p:spPr>
            <a:xfrm>
              <a:off x="7688580" y="2491740"/>
              <a:ext cx="285750" cy="2857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68" name="Ellipse 68"/>
            <p:cNvSpPr/>
            <p:nvPr/>
          </p:nvSpPr>
          <p:spPr>
            <a:xfrm>
              <a:off x="6109335" y="2991802"/>
              <a:ext cx="285750" cy="2857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69" name="Ellipse 69"/>
            <p:cNvSpPr/>
            <p:nvPr/>
          </p:nvSpPr>
          <p:spPr>
            <a:xfrm>
              <a:off x="5674995" y="3491865"/>
              <a:ext cx="285750" cy="285750"/>
            </a:xfrm>
            <a:prstGeom prst="ellipse">
              <a:avLst/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70" name="Ellipse 70"/>
            <p:cNvSpPr/>
            <p:nvPr/>
          </p:nvSpPr>
          <p:spPr>
            <a:xfrm>
              <a:off x="6554152" y="3491865"/>
              <a:ext cx="285750" cy="2857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71" name="Ellipse 71"/>
            <p:cNvSpPr/>
            <p:nvPr/>
          </p:nvSpPr>
          <p:spPr>
            <a:xfrm>
              <a:off x="6176010" y="3991928"/>
              <a:ext cx="285750" cy="285750"/>
            </a:xfrm>
            <a:prstGeom prst="ellipse">
              <a:avLst/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72" name="Ellipse 72"/>
            <p:cNvSpPr/>
            <p:nvPr/>
          </p:nvSpPr>
          <p:spPr>
            <a:xfrm>
              <a:off x="6920865" y="3991928"/>
              <a:ext cx="285750" cy="2857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73" name="Ellipse 73"/>
            <p:cNvSpPr/>
            <p:nvPr/>
          </p:nvSpPr>
          <p:spPr>
            <a:xfrm>
              <a:off x="6676072" y="4491990"/>
              <a:ext cx="285750" cy="285750"/>
            </a:xfrm>
            <a:prstGeom prst="ellipse">
              <a:avLst/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74" name="Ellipse 74"/>
            <p:cNvSpPr/>
            <p:nvPr/>
          </p:nvSpPr>
          <p:spPr>
            <a:xfrm>
              <a:off x="7177088" y="4491990"/>
              <a:ext cx="285750" cy="285750"/>
            </a:xfrm>
            <a:prstGeom prst="ellipse">
              <a:avLst/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75" name="Ellipse 75"/>
            <p:cNvSpPr/>
            <p:nvPr/>
          </p:nvSpPr>
          <p:spPr>
            <a:xfrm>
              <a:off x="9257348" y="2991802"/>
              <a:ext cx="285750" cy="2857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76" name="Ellipse 76"/>
            <p:cNvSpPr/>
            <p:nvPr/>
          </p:nvSpPr>
          <p:spPr>
            <a:xfrm>
              <a:off x="8100060" y="3491865"/>
              <a:ext cx="285750" cy="2857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77" name="Ellipse 77"/>
            <p:cNvSpPr/>
            <p:nvPr/>
          </p:nvSpPr>
          <p:spPr>
            <a:xfrm>
              <a:off x="7666672" y="3991928"/>
              <a:ext cx="285750" cy="285750"/>
            </a:xfrm>
            <a:prstGeom prst="ellipse">
              <a:avLst/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78" name="Ellipse 78"/>
            <p:cNvSpPr/>
            <p:nvPr/>
          </p:nvSpPr>
          <p:spPr>
            <a:xfrm>
              <a:off x="8544878" y="3991928"/>
              <a:ext cx="285750" cy="2857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79" name="Ellipse 79"/>
            <p:cNvSpPr/>
            <p:nvPr/>
          </p:nvSpPr>
          <p:spPr>
            <a:xfrm>
              <a:off x="8166735" y="4491990"/>
              <a:ext cx="285750" cy="285750"/>
            </a:xfrm>
            <a:prstGeom prst="ellipse">
              <a:avLst/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80" name="Ellipse 80"/>
            <p:cNvSpPr/>
            <p:nvPr/>
          </p:nvSpPr>
          <p:spPr>
            <a:xfrm>
              <a:off x="8912542" y="4491990"/>
              <a:ext cx="285750" cy="2857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81" name="Ellipse 81"/>
            <p:cNvSpPr/>
            <p:nvPr/>
          </p:nvSpPr>
          <p:spPr>
            <a:xfrm>
              <a:off x="8667750" y="4992052"/>
              <a:ext cx="285750" cy="285750"/>
            </a:xfrm>
            <a:prstGeom prst="ellipse">
              <a:avLst/>
            </a:prstGeom>
            <a:solidFill>
              <a:srgbClr val="E3F5F1"/>
            </a:solidFill>
            <a:ln w="17145">
              <a:solidFill>
                <a:srgbClr val="14A38B"/>
              </a:solidFill>
            </a:ln>
          </p:spPr>
        </p:sp>
        <p:sp>
          <p:nvSpPr>
            <p:cNvPr id="82" name="Ellipse 82"/>
            <p:cNvSpPr/>
            <p:nvPr/>
          </p:nvSpPr>
          <p:spPr>
            <a:xfrm>
              <a:off x="9168765" y="4992052"/>
              <a:ext cx="285750" cy="285750"/>
            </a:xfrm>
            <a:prstGeom prst="ellipse">
              <a:avLst/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83" name="Ellipse 83"/>
            <p:cNvSpPr/>
            <p:nvPr/>
          </p:nvSpPr>
          <p:spPr>
            <a:xfrm>
              <a:off x="10403205" y="3491865"/>
              <a:ext cx="285750" cy="2857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84" name="Ellipse 84"/>
            <p:cNvSpPr/>
            <p:nvPr/>
          </p:nvSpPr>
          <p:spPr>
            <a:xfrm>
              <a:off x="9913620" y="3991928"/>
              <a:ext cx="285750" cy="2857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85" name="Ellipse 85"/>
            <p:cNvSpPr/>
            <p:nvPr/>
          </p:nvSpPr>
          <p:spPr>
            <a:xfrm>
              <a:off x="9657398" y="4491990"/>
              <a:ext cx="285750" cy="285750"/>
            </a:xfrm>
            <a:prstGeom prst="ellipse">
              <a:avLst/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86" name="Ellipse 86"/>
            <p:cNvSpPr/>
            <p:nvPr/>
          </p:nvSpPr>
          <p:spPr>
            <a:xfrm>
              <a:off x="10158412" y="4491990"/>
              <a:ext cx="285750" cy="285750"/>
            </a:xfrm>
            <a:prstGeom prst="ellipse">
              <a:avLst/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87" name="Ellipse 87"/>
            <p:cNvSpPr/>
            <p:nvPr/>
          </p:nvSpPr>
          <p:spPr>
            <a:xfrm>
              <a:off x="10904220" y="3991928"/>
              <a:ext cx="285750" cy="2857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88" name="Ellipse 88"/>
            <p:cNvSpPr/>
            <p:nvPr/>
          </p:nvSpPr>
          <p:spPr>
            <a:xfrm>
              <a:off x="10659428" y="4491990"/>
              <a:ext cx="285750" cy="285750"/>
            </a:xfrm>
            <a:prstGeom prst="ellipse">
              <a:avLst/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89" name="Ellipse 89"/>
            <p:cNvSpPr/>
            <p:nvPr/>
          </p:nvSpPr>
          <p:spPr>
            <a:xfrm>
              <a:off x="11159490" y="4491990"/>
              <a:ext cx="285750" cy="285750"/>
            </a:xfrm>
            <a:prstGeom prst="ellipse">
              <a:avLst/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90" name="TextBox 90"/>
            <p:cNvSpPr txBox="1"/>
            <p:nvPr/>
          </p:nvSpPr>
          <p:spPr>
            <a:xfrm>
              <a:off x="5348811" y="206883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2912316" y="2568893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1733121" y="306895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93" name="TextBox 93"/>
            <p:cNvSpPr txBox="1"/>
            <p:nvPr/>
          </p:nvSpPr>
          <p:spPr>
            <a:xfrm>
              <a:off x="1288303" y="356901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2167461" y="356901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95" name="TextBox 95"/>
            <p:cNvSpPr txBox="1"/>
            <p:nvPr/>
          </p:nvSpPr>
          <p:spPr>
            <a:xfrm>
              <a:off x="1789318" y="406908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96" name="TextBox 96"/>
            <p:cNvSpPr txBox="1"/>
            <p:nvPr/>
          </p:nvSpPr>
          <p:spPr>
            <a:xfrm>
              <a:off x="2534173" y="406908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97" name="TextBox 97"/>
            <p:cNvSpPr txBox="1"/>
            <p:nvPr/>
          </p:nvSpPr>
          <p:spPr>
            <a:xfrm>
              <a:off x="2289381" y="456914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98" name="TextBox 98"/>
            <p:cNvSpPr txBox="1"/>
            <p:nvPr/>
          </p:nvSpPr>
          <p:spPr>
            <a:xfrm>
              <a:off x="2790396" y="456914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99" name="TextBox 99"/>
            <p:cNvSpPr txBox="1"/>
            <p:nvPr/>
          </p:nvSpPr>
          <p:spPr>
            <a:xfrm>
              <a:off x="4050696" y="3068955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100" name="TextBox 100"/>
            <p:cNvSpPr txBox="1"/>
            <p:nvPr/>
          </p:nvSpPr>
          <p:spPr>
            <a:xfrm>
              <a:off x="3494436" y="3569018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  <p:sp>
          <p:nvSpPr>
            <p:cNvPr id="101" name="TextBox 101"/>
            <p:cNvSpPr txBox="1"/>
            <p:nvPr/>
          </p:nvSpPr>
          <p:spPr>
            <a:xfrm>
              <a:off x="3239166" y="4069080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102" name="TextBox 102"/>
            <p:cNvSpPr txBox="1"/>
            <p:nvPr/>
          </p:nvSpPr>
          <p:spPr>
            <a:xfrm>
              <a:off x="3739228" y="4069080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  <p:sp>
          <p:nvSpPr>
            <p:cNvPr id="103" name="TextBox 103"/>
            <p:cNvSpPr txBox="1"/>
            <p:nvPr/>
          </p:nvSpPr>
          <p:spPr>
            <a:xfrm>
              <a:off x="4618386" y="3569018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  <p:sp>
          <p:nvSpPr>
            <p:cNvPr id="104" name="TextBox 104"/>
            <p:cNvSpPr txBox="1"/>
            <p:nvPr/>
          </p:nvSpPr>
          <p:spPr>
            <a:xfrm>
              <a:off x="4240243" y="4069080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  <p:sp>
          <p:nvSpPr>
            <p:cNvPr id="105" name="TextBox 105"/>
            <p:cNvSpPr txBox="1"/>
            <p:nvPr/>
          </p:nvSpPr>
          <p:spPr>
            <a:xfrm>
              <a:off x="4985098" y="4069080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  <p:sp>
          <p:nvSpPr>
            <p:cNvPr id="106" name="TextBox 106"/>
            <p:cNvSpPr txBox="1"/>
            <p:nvPr/>
          </p:nvSpPr>
          <p:spPr>
            <a:xfrm>
              <a:off x="4740306" y="4569142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17</a:t>
              </a:r>
            </a:p>
          </p:txBody>
        </p:sp>
        <p:sp>
          <p:nvSpPr>
            <p:cNvPr id="107" name="TextBox 107"/>
            <p:cNvSpPr txBox="1"/>
            <p:nvPr/>
          </p:nvSpPr>
          <p:spPr>
            <a:xfrm>
              <a:off x="5229891" y="4569142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18</a:t>
              </a:r>
            </a:p>
          </p:txBody>
        </p:sp>
        <p:sp>
          <p:nvSpPr>
            <p:cNvPr id="108" name="TextBox 108"/>
            <p:cNvSpPr txBox="1"/>
            <p:nvPr/>
          </p:nvSpPr>
          <p:spPr>
            <a:xfrm>
              <a:off x="7744491" y="2568893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19</a:t>
              </a:r>
            </a:p>
          </p:txBody>
        </p:sp>
        <p:sp>
          <p:nvSpPr>
            <p:cNvPr id="109" name="TextBox 109"/>
            <p:cNvSpPr txBox="1"/>
            <p:nvPr/>
          </p:nvSpPr>
          <p:spPr>
            <a:xfrm>
              <a:off x="6165246" y="3068955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  <p:sp>
          <p:nvSpPr>
            <p:cNvPr id="110" name="TextBox 110"/>
            <p:cNvSpPr txBox="1"/>
            <p:nvPr/>
          </p:nvSpPr>
          <p:spPr>
            <a:xfrm>
              <a:off x="5730906" y="3569018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21</a:t>
              </a:r>
            </a:p>
          </p:txBody>
        </p:sp>
        <p:sp>
          <p:nvSpPr>
            <p:cNvPr id="111" name="TextBox 111"/>
            <p:cNvSpPr txBox="1"/>
            <p:nvPr/>
          </p:nvSpPr>
          <p:spPr>
            <a:xfrm>
              <a:off x="6610063" y="3569018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22</a:t>
              </a:r>
            </a:p>
          </p:txBody>
        </p:sp>
        <p:sp>
          <p:nvSpPr>
            <p:cNvPr id="112" name="TextBox 112"/>
            <p:cNvSpPr txBox="1"/>
            <p:nvPr/>
          </p:nvSpPr>
          <p:spPr>
            <a:xfrm>
              <a:off x="6231921" y="4069080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23</a:t>
              </a:r>
            </a:p>
          </p:txBody>
        </p:sp>
        <p:sp>
          <p:nvSpPr>
            <p:cNvPr id="113" name="TextBox 113"/>
            <p:cNvSpPr txBox="1"/>
            <p:nvPr/>
          </p:nvSpPr>
          <p:spPr>
            <a:xfrm>
              <a:off x="6976776" y="4069080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24</a:t>
              </a:r>
            </a:p>
          </p:txBody>
        </p:sp>
        <p:sp>
          <p:nvSpPr>
            <p:cNvPr id="114" name="TextBox 114"/>
            <p:cNvSpPr txBox="1"/>
            <p:nvPr/>
          </p:nvSpPr>
          <p:spPr>
            <a:xfrm>
              <a:off x="6731983" y="4569142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25</a:t>
              </a:r>
            </a:p>
          </p:txBody>
        </p:sp>
        <p:sp>
          <p:nvSpPr>
            <p:cNvPr id="115" name="TextBox 115"/>
            <p:cNvSpPr txBox="1"/>
            <p:nvPr/>
          </p:nvSpPr>
          <p:spPr>
            <a:xfrm>
              <a:off x="7232998" y="4569142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26</a:t>
              </a:r>
            </a:p>
          </p:txBody>
        </p:sp>
        <p:sp>
          <p:nvSpPr>
            <p:cNvPr id="116" name="TextBox 116"/>
            <p:cNvSpPr txBox="1"/>
            <p:nvPr/>
          </p:nvSpPr>
          <p:spPr>
            <a:xfrm>
              <a:off x="9313258" y="3068955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27</a:t>
              </a:r>
            </a:p>
          </p:txBody>
        </p:sp>
        <p:sp>
          <p:nvSpPr>
            <p:cNvPr id="117" name="TextBox 117"/>
            <p:cNvSpPr txBox="1"/>
            <p:nvPr/>
          </p:nvSpPr>
          <p:spPr>
            <a:xfrm>
              <a:off x="8155971" y="3569018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28</a:t>
              </a:r>
            </a:p>
          </p:txBody>
        </p:sp>
        <p:sp>
          <p:nvSpPr>
            <p:cNvPr id="118" name="TextBox 118"/>
            <p:cNvSpPr txBox="1"/>
            <p:nvPr/>
          </p:nvSpPr>
          <p:spPr>
            <a:xfrm>
              <a:off x="7722583" y="4069080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29</a:t>
              </a:r>
            </a:p>
          </p:txBody>
        </p:sp>
        <p:sp>
          <p:nvSpPr>
            <p:cNvPr id="119" name="TextBox 119"/>
            <p:cNvSpPr txBox="1"/>
            <p:nvPr/>
          </p:nvSpPr>
          <p:spPr>
            <a:xfrm>
              <a:off x="8600788" y="4069080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30</a:t>
              </a:r>
            </a:p>
          </p:txBody>
        </p:sp>
        <p:sp>
          <p:nvSpPr>
            <p:cNvPr id="120" name="TextBox 120"/>
            <p:cNvSpPr txBox="1"/>
            <p:nvPr/>
          </p:nvSpPr>
          <p:spPr>
            <a:xfrm>
              <a:off x="8222646" y="4569142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31</a:t>
              </a:r>
            </a:p>
          </p:txBody>
        </p:sp>
        <p:sp>
          <p:nvSpPr>
            <p:cNvPr id="121" name="TextBox 121"/>
            <p:cNvSpPr txBox="1"/>
            <p:nvPr/>
          </p:nvSpPr>
          <p:spPr>
            <a:xfrm>
              <a:off x="8968453" y="4569142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32</a:t>
              </a:r>
            </a:p>
          </p:txBody>
        </p:sp>
        <p:sp>
          <p:nvSpPr>
            <p:cNvPr id="122" name="TextBox 122"/>
            <p:cNvSpPr txBox="1"/>
            <p:nvPr/>
          </p:nvSpPr>
          <p:spPr>
            <a:xfrm>
              <a:off x="8723661" y="5069205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33</a:t>
              </a:r>
            </a:p>
          </p:txBody>
        </p:sp>
        <p:sp>
          <p:nvSpPr>
            <p:cNvPr id="123" name="TextBox 123"/>
            <p:cNvSpPr txBox="1"/>
            <p:nvPr/>
          </p:nvSpPr>
          <p:spPr>
            <a:xfrm>
              <a:off x="9224676" y="5069205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34</a:t>
              </a:r>
            </a:p>
          </p:txBody>
        </p:sp>
        <p:sp>
          <p:nvSpPr>
            <p:cNvPr id="124" name="TextBox 124"/>
            <p:cNvSpPr txBox="1"/>
            <p:nvPr/>
          </p:nvSpPr>
          <p:spPr>
            <a:xfrm>
              <a:off x="10459116" y="3569018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35</a:t>
              </a:r>
            </a:p>
          </p:txBody>
        </p:sp>
        <p:sp>
          <p:nvSpPr>
            <p:cNvPr id="125" name="TextBox 125"/>
            <p:cNvSpPr txBox="1"/>
            <p:nvPr/>
          </p:nvSpPr>
          <p:spPr>
            <a:xfrm>
              <a:off x="9969531" y="4069080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36</a:t>
              </a:r>
            </a:p>
          </p:txBody>
        </p:sp>
        <p:sp>
          <p:nvSpPr>
            <p:cNvPr id="126" name="TextBox 126"/>
            <p:cNvSpPr txBox="1"/>
            <p:nvPr/>
          </p:nvSpPr>
          <p:spPr>
            <a:xfrm>
              <a:off x="9713308" y="4569142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37</a:t>
              </a:r>
            </a:p>
          </p:txBody>
        </p:sp>
        <p:sp>
          <p:nvSpPr>
            <p:cNvPr id="127" name="TextBox 127"/>
            <p:cNvSpPr txBox="1"/>
            <p:nvPr/>
          </p:nvSpPr>
          <p:spPr>
            <a:xfrm>
              <a:off x="10214323" y="4569142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38</a:t>
              </a:r>
            </a:p>
          </p:txBody>
        </p:sp>
        <p:sp>
          <p:nvSpPr>
            <p:cNvPr id="128" name="TextBox 128"/>
            <p:cNvSpPr txBox="1"/>
            <p:nvPr/>
          </p:nvSpPr>
          <p:spPr>
            <a:xfrm>
              <a:off x="10960131" y="4069080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39</a:t>
              </a:r>
            </a:p>
          </p:txBody>
        </p:sp>
        <p:sp>
          <p:nvSpPr>
            <p:cNvPr id="129" name="TextBox 129"/>
            <p:cNvSpPr txBox="1"/>
            <p:nvPr/>
          </p:nvSpPr>
          <p:spPr>
            <a:xfrm>
              <a:off x="10715338" y="4569142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40</a:t>
              </a:r>
            </a:p>
          </p:txBody>
        </p:sp>
        <p:sp>
          <p:nvSpPr>
            <p:cNvPr id="130" name="TextBox 130"/>
            <p:cNvSpPr txBox="1"/>
            <p:nvPr/>
          </p:nvSpPr>
          <p:spPr>
            <a:xfrm>
              <a:off x="11215401" y="4569142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41</a:t>
              </a:r>
            </a:p>
          </p:txBody>
        </p:sp>
        <p:sp>
          <p:nvSpPr>
            <p:cNvPr id="131" name="Rectangle 131"/>
            <p:cNvSpPr/>
            <p:nvPr/>
          </p:nvSpPr>
          <p:spPr>
            <a:xfrm>
              <a:off x="4110038" y="2306002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32" name="TextBox 132"/>
            <p:cNvSpPr txBox="1"/>
            <p:nvPr/>
          </p:nvSpPr>
          <p:spPr>
            <a:xfrm>
              <a:off x="4141593" y="233505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33" name="Rectangle 133"/>
            <p:cNvSpPr/>
            <p:nvPr/>
          </p:nvSpPr>
          <p:spPr>
            <a:xfrm>
              <a:off x="2302192" y="2806065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34" name="TextBox 134"/>
            <p:cNvSpPr txBox="1"/>
            <p:nvPr/>
          </p:nvSpPr>
          <p:spPr>
            <a:xfrm>
              <a:off x="2333748" y="283511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35" name="Rectangle 135"/>
            <p:cNvSpPr/>
            <p:nvPr/>
          </p:nvSpPr>
          <p:spPr>
            <a:xfrm>
              <a:off x="1489710" y="3306128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36" name="TextBox 136"/>
            <p:cNvSpPr txBox="1"/>
            <p:nvPr/>
          </p:nvSpPr>
          <p:spPr>
            <a:xfrm>
              <a:off x="1522218" y="333517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37" name="Rectangle 137"/>
            <p:cNvSpPr/>
            <p:nvPr/>
          </p:nvSpPr>
          <p:spPr>
            <a:xfrm>
              <a:off x="1929765" y="3306128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38" name="TextBox 138"/>
            <p:cNvSpPr txBox="1"/>
            <p:nvPr/>
          </p:nvSpPr>
          <p:spPr>
            <a:xfrm>
              <a:off x="1961321" y="333517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39" name="Rectangle 139"/>
            <p:cNvSpPr/>
            <p:nvPr/>
          </p:nvSpPr>
          <p:spPr>
            <a:xfrm>
              <a:off x="1957388" y="3806190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40" name="TextBox 140"/>
            <p:cNvSpPr txBox="1"/>
            <p:nvPr/>
          </p:nvSpPr>
          <p:spPr>
            <a:xfrm>
              <a:off x="1988943" y="383524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41" name="Rectangle 141"/>
            <p:cNvSpPr/>
            <p:nvPr/>
          </p:nvSpPr>
          <p:spPr>
            <a:xfrm>
              <a:off x="2329815" y="3806190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42" name="TextBox 142"/>
            <p:cNvSpPr txBox="1"/>
            <p:nvPr/>
          </p:nvSpPr>
          <p:spPr>
            <a:xfrm>
              <a:off x="2361371" y="383524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43" name="Rectangle 143"/>
            <p:cNvSpPr/>
            <p:nvPr/>
          </p:nvSpPr>
          <p:spPr>
            <a:xfrm>
              <a:off x="2391728" y="4306252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44" name="TextBox 144"/>
            <p:cNvSpPr txBox="1"/>
            <p:nvPr/>
          </p:nvSpPr>
          <p:spPr>
            <a:xfrm>
              <a:off x="2423283" y="433530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45" name="Rectangle 145"/>
            <p:cNvSpPr/>
            <p:nvPr/>
          </p:nvSpPr>
          <p:spPr>
            <a:xfrm>
              <a:off x="2641282" y="4306252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46" name="TextBox 146"/>
            <p:cNvSpPr txBox="1"/>
            <p:nvPr/>
          </p:nvSpPr>
          <p:spPr>
            <a:xfrm>
              <a:off x="2672838" y="433530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47" name="Rectangle 147"/>
            <p:cNvSpPr/>
            <p:nvPr/>
          </p:nvSpPr>
          <p:spPr>
            <a:xfrm>
              <a:off x="3481388" y="2806065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48" name="TextBox 148"/>
            <p:cNvSpPr txBox="1"/>
            <p:nvPr/>
          </p:nvSpPr>
          <p:spPr>
            <a:xfrm>
              <a:off x="3512943" y="283511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49" name="Rectangle 149"/>
            <p:cNvSpPr/>
            <p:nvPr/>
          </p:nvSpPr>
          <p:spPr>
            <a:xfrm>
              <a:off x="3792855" y="3306128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50" name="TextBox 150"/>
            <p:cNvSpPr txBox="1"/>
            <p:nvPr/>
          </p:nvSpPr>
          <p:spPr>
            <a:xfrm>
              <a:off x="3824411" y="333517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51" name="Rectangle 151"/>
            <p:cNvSpPr/>
            <p:nvPr/>
          </p:nvSpPr>
          <p:spPr>
            <a:xfrm>
              <a:off x="3387090" y="3806190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52" name="TextBox 152"/>
            <p:cNvSpPr txBox="1"/>
            <p:nvPr/>
          </p:nvSpPr>
          <p:spPr>
            <a:xfrm>
              <a:off x="3418646" y="383524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53" name="Rectangle 153"/>
            <p:cNvSpPr/>
            <p:nvPr/>
          </p:nvSpPr>
          <p:spPr>
            <a:xfrm>
              <a:off x="3637598" y="3806190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54" name="TextBox 154"/>
            <p:cNvSpPr txBox="1"/>
            <p:nvPr/>
          </p:nvSpPr>
          <p:spPr>
            <a:xfrm>
              <a:off x="3669153" y="383524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55" name="Rectangle 155"/>
            <p:cNvSpPr/>
            <p:nvPr/>
          </p:nvSpPr>
          <p:spPr>
            <a:xfrm>
              <a:off x="4354830" y="3306128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56" name="TextBox 156"/>
            <p:cNvSpPr txBox="1"/>
            <p:nvPr/>
          </p:nvSpPr>
          <p:spPr>
            <a:xfrm>
              <a:off x="4386386" y="333517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57" name="Rectangle 157"/>
            <p:cNvSpPr/>
            <p:nvPr/>
          </p:nvSpPr>
          <p:spPr>
            <a:xfrm>
              <a:off x="4449128" y="3806190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58" name="TextBox 158"/>
            <p:cNvSpPr txBox="1"/>
            <p:nvPr/>
          </p:nvSpPr>
          <p:spPr>
            <a:xfrm>
              <a:off x="4480683" y="383524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59" name="Rectangle 159"/>
            <p:cNvSpPr/>
            <p:nvPr/>
          </p:nvSpPr>
          <p:spPr>
            <a:xfrm>
              <a:off x="4822508" y="3806190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60" name="TextBox 160"/>
            <p:cNvSpPr txBox="1"/>
            <p:nvPr/>
          </p:nvSpPr>
          <p:spPr>
            <a:xfrm>
              <a:off x="4854063" y="383524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61" name="Rectangle 161"/>
            <p:cNvSpPr/>
            <p:nvPr/>
          </p:nvSpPr>
          <p:spPr>
            <a:xfrm>
              <a:off x="4883468" y="4306252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62" name="TextBox 162"/>
            <p:cNvSpPr txBox="1"/>
            <p:nvPr/>
          </p:nvSpPr>
          <p:spPr>
            <a:xfrm>
              <a:off x="4915023" y="433530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63" name="Rectangle 163"/>
            <p:cNvSpPr/>
            <p:nvPr/>
          </p:nvSpPr>
          <p:spPr>
            <a:xfrm>
              <a:off x="5128260" y="4306252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64" name="TextBox 164"/>
            <p:cNvSpPr txBox="1"/>
            <p:nvPr/>
          </p:nvSpPr>
          <p:spPr>
            <a:xfrm>
              <a:off x="5159816" y="433530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65" name="Rectangle 165"/>
            <p:cNvSpPr/>
            <p:nvPr/>
          </p:nvSpPr>
          <p:spPr>
            <a:xfrm>
              <a:off x="6546532" y="2306002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66" name="TextBox 166"/>
            <p:cNvSpPr txBox="1"/>
            <p:nvPr/>
          </p:nvSpPr>
          <p:spPr>
            <a:xfrm>
              <a:off x="6578088" y="233505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67" name="Rectangle 167"/>
            <p:cNvSpPr/>
            <p:nvPr/>
          </p:nvSpPr>
          <p:spPr>
            <a:xfrm>
              <a:off x="6975158" y="2806065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68" name="TextBox 168"/>
            <p:cNvSpPr txBox="1"/>
            <p:nvPr/>
          </p:nvSpPr>
          <p:spPr>
            <a:xfrm>
              <a:off x="7006713" y="283511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69" name="Rectangle 169"/>
            <p:cNvSpPr/>
            <p:nvPr/>
          </p:nvSpPr>
          <p:spPr>
            <a:xfrm>
              <a:off x="5968365" y="3306128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70" name="TextBox 170"/>
            <p:cNvSpPr txBox="1"/>
            <p:nvPr/>
          </p:nvSpPr>
          <p:spPr>
            <a:xfrm>
              <a:off x="5999921" y="333517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71" name="Rectangle 171"/>
            <p:cNvSpPr/>
            <p:nvPr/>
          </p:nvSpPr>
          <p:spPr>
            <a:xfrm>
              <a:off x="6407468" y="3306128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72" name="TextBox 172"/>
            <p:cNvSpPr txBox="1"/>
            <p:nvPr/>
          </p:nvSpPr>
          <p:spPr>
            <a:xfrm>
              <a:off x="6439023" y="333517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73" name="Rectangle 173"/>
            <p:cNvSpPr/>
            <p:nvPr/>
          </p:nvSpPr>
          <p:spPr>
            <a:xfrm>
              <a:off x="6440805" y="3806190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74" name="TextBox 174"/>
            <p:cNvSpPr txBox="1"/>
            <p:nvPr/>
          </p:nvSpPr>
          <p:spPr>
            <a:xfrm>
              <a:off x="6472361" y="383524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75" name="Rectangle 175"/>
            <p:cNvSpPr/>
            <p:nvPr/>
          </p:nvSpPr>
          <p:spPr>
            <a:xfrm>
              <a:off x="6813232" y="3806190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76" name="TextBox 176"/>
            <p:cNvSpPr txBox="1"/>
            <p:nvPr/>
          </p:nvSpPr>
          <p:spPr>
            <a:xfrm>
              <a:off x="6844788" y="383524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77" name="Rectangle 177"/>
            <p:cNvSpPr/>
            <p:nvPr/>
          </p:nvSpPr>
          <p:spPr>
            <a:xfrm>
              <a:off x="6875145" y="4306252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78" name="TextBox 178"/>
            <p:cNvSpPr txBox="1"/>
            <p:nvPr/>
          </p:nvSpPr>
          <p:spPr>
            <a:xfrm>
              <a:off x="6906701" y="433530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79" name="Rectangle 179"/>
            <p:cNvSpPr/>
            <p:nvPr/>
          </p:nvSpPr>
          <p:spPr>
            <a:xfrm>
              <a:off x="7124700" y="4306252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80" name="TextBox 180"/>
            <p:cNvSpPr txBox="1"/>
            <p:nvPr/>
          </p:nvSpPr>
          <p:spPr>
            <a:xfrm>
              <a:off x="7156256" y="433530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81" name="Rectangle 181"/>
            <p:cNvSpPr/>
            <p:nvPr/>
          </p:nvSpPr>
          <p:spPr>
            <a:xfrm>
              <a:off x="8548688" y="2806065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82" name="TextBox 182"/>
            <p:cNvSpPr txBox="1"/>
            <p:nvPr/>
          </p:nvSpPr>
          <p:spPr>
            <a:xfrm>
              <a:off x="8581196" y="283511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83" name="Rectangle 183"/>
            <p:cNvSpPr/>
            <p:nvPr/>
          </p:nvSpPr>
          <p:spPr>
            <a:xfrm>
              <a:off x="8755380" y="3306128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84" name="TextBox 184"/>
            <p:cNvSpPr txBox="1"/>
            <p:nvPr/>
          </p:nvSpPr>
          <p:spPr>
            <a:xfrm>
              <a:off x="8786936" y="333517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85" name="Rectangle 185"/>
            <p:cNvSpPr/>
            <p:nvPr/>
          </p:nvSpPr>
          <p:spPr>
            <a:xfrm>
              <a:off x="7959090" y="3806190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86" name="TextBox 186"/>
            <p:cNvSpPr txBox="1"/>
            <p:nvPr/>
          </p:nvSpPr>
          <p:spPr>
            <a:xfrm>
              <a:off x="7990646" y="383524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87" name="Rectangle 187"/>
            <p:cNvSpPr/>
            <p:nvPr/>
          </p:nvSpPr>
          <p:spPr>
            <a:xfrm>
              <a:off x="8399145" y="3806190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88" name="TextBox 188"/>
            <p:cNvSpPr txBox="1"/>
            <p:nvPr/>
          </p:nvSpPr>
          <p:spPr>
            <a:xfrm>
              <a:off x="8430701" y="383524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89" name="Rectangle 189"/>
            <p:cNvSpPr/>
            <p:nvPr/>
          </p:nvSpPr>
          <p:spPr>
            <a:xfrm>
              <a:off x="8432482" y="4306252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90" name="TextBox 190"/>
            <p:cNvSpPr txBox="1"/>
            <p:nvPr/>
          </p:nvSpPr>
          <p:spPr>
            <a:xfrm>
              <a:off x="8464038" y="433530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91" name="Rectangle 191"/>
            <p:cNvSpPr/>
            <p:nvPr/>
          </p:nvSpPr>
          <p:spPr>
            <a:xfrm>
              <a:off x="8804910" y="4306252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92" name="TextBox 192"/>
            <p:cNvSpPr txBox="1"/>
            <p:nvPr/>
          </p:nvSpPr>
          <p:spPr>
            <a:xfrm>
              <a:off x="8836466" y="433530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93" name="Rectangle 193"/>
            <p:cNvSpPr/>
            <p:nvPr/>
          </p:nvSpPr>
          <p:spPr>
            <a:xfrm>
              <a:off x="8865870" y="4806315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94" name="TextBox 194"/>
            <p:cNvSpPr txBox="1"/>
            <p:nvPr/>
          </p:nvSpPr>
          <p:spPr>
            <a:xfrm>
              <a:off x="8897426" y="483536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95" name="Rectangle 195"/>
            <p:cNvSpPr/>
            <p:nvPr/>
          </p:nvSpPr>
          <p:spPr>
            <a:xfrm>
              <a:off x="9116378" y="4806315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96" name="TextBox 196"/>
            <p:cNvSpPr txBox="1"/>
            <p:nvPr/>
          </p:nvSpPr>
          <p:spPr>
            <a:xfrm>
              <a:off x="9147933" y="483536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97" name="Rectangle 197"/>
            <p:cNvSpPr/>
            <p:nvPr/>
          </p:nvSpPr>
          <p:spPr>
            <a:xfrm>
              <a:off x="9906000" y="3306128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98" name="TextBox 198"/>
            <p:cNvSpPr txBox="1"/>
            <p:nvPr/>
          </p:nvSpPr>
          <p:spPr>
            <a:xfrm>
              <a:off x="9937556" y="333517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99" name="Rectangle 199"/>
            <p:cNvSpPr/>
            <p:nvPr/>
          </p:nvSpPr>
          <p:spPr>
            <a:xfrm>
              <a:off x="10234612" y="3806190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00" name="TextBox 200"/>
            <p:cNvSpPr txBox="1"/>
            <p:nvPr/>
          </p:nvSpPr>
          <p:spPr>
            <a:xfrm>
              <a:off x="10266168" y="383524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01" name="Rectangle 201"/>
            <p:cNvSpPr/>
            <p:nvPr/>
          </p:nvSpPr>
          <p:spPr>
            <a:xfrm>
              <a:off x="9862185" y="4306252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02" name="TextBox 202"/>
            <p:cNvSpPr txBox="1"/>
            <p:nvPr/>
          </p:nvSpPr>
          <p:spPr>
            <a:xfrm>
              <a:off x="9893741" y="433530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03" name="Rectangle 203"/>
            <p:cNvSpPr/>
            <p:nvPr/>
          </p:nvSpPr>
          <p:spPr>
            <a:xfrm>
              <a:off x="10111740" y="4306252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04" name="TextBox 204"/>
            <p:cNvSpPr txBox="1"/>
            <p:nvPr/>
          </p:nvSpPr>
          <p:spPr>
            <a:xfrm>
              <a:off x="10144248" y="433530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205" name="Rectangle 205"/>
            <p:cNvSpPr/>
            <p:nvPr/>
          </p:nvSpPr>
          <p:spPr>
            <a:xfrm>
              <a:off x="10729912" y="3806190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06" name="TextBox 206"/>
            <p:cNvSpPr txBox="1"/>
            <p:nvPr/>
          </p:nvSpPr>
          <p:spPr>
            <a:xfrm>
              <a:off x="10761468" y="383524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207" name="Rectangle 207"/>
            <p:cNvSpPr/>
            <p:nvPr/>
          </p:nvSpPr>
          <p:spPr>
            <a:xfrm>
              <a:off x="10857548" y="4306252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08" name="TextBox 208"/>
            <p:cNvSpPr txBox="1"/>
            <p:nvPr/>
          </p:nvSpPr>
          <p:spPr>
            <a:xfrm>
              <a:off x="10889103" y="433530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09" name="Rectangle 209"/>
            <p:cNvSpPr/>
            <p:nvPr/>
          </p:nvSpPr>
          <p:spPr>
            <a:xfrm>
              <a:off x="11108055" y="4306252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10" name="TextBox 210"/>
            <p:cNvSpPr txBox="1"/>
            <p:nvPr/>
          </p:nvSpPr>
          <p:spPr>
            <a:xfrm>
              <a:off x="11139611" y="433530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211" name="TextBox 211"/>
            <p:cNvSpPr txBox="1"/>
            <p:nvPr/>
          </p:nvSpPr>
          <p:spPr>
            <a:xfrm>
              <a:off x="613123" y="2270760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x₁</a:t>
              </a:r>
            </a:p>
          </p:txBody>
        </p:sp>
        <p:sp>
          <p:nvSpPr>
            <p:cNvPr id="212" name="TextBox 212"/>
            <p:cNvSpPr txBox="1"/>
            <p:nvPr/>
          </p:nvSpPr>
          <p:spPr>
            <a:xfrm>
              <a:off x="613123" y="2770823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x₂</a:t>
              </a:r>
            </a:p>
          </p:txBody>
        </p:sp>
        <p:sp>
          <p:nvSpPr>
            <p:cNvPr id="213" name="TextBox 213"/>
            <p:cNvSpPr txBox="1"/>
            <p:nvPr/>
          </p:nvSpPr>
          <p:spPr>
            <a:xfrm>
              <a:off x="613123" y="3270885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x₃</a:t>
              </a:r>
            </a:p>
          </p:txBody>
        </p:sp>
        <p:sp>
          <p:nvSpPr>
            <p:cNvPr id="214" name="TextBox 214"/>
            <p:cNvSpPr txBox="1"/>
            <p:nvPr/>
          </p:nvSpPr>
          <p:spPr>
            <a:xfrm>
              <a:off x="613123" y="3770948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x₄</a:t>
              </a:r>
            </a:p>
          </p:txBody>
        </p:sp>
        <p:sp>
          <p:nvSpPr>
            <p:cNvPr id="215" name="TextBox 215"/>
            <p:cNvSpPr txBox="1"/>
            <p:nvPr/>
          </p:nvSpPr>
          <p:spPr>
            <a:xfrm>
              <a:off x="613123" y="4271010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x₅</a:t>
              </a:r>
            </a:p>
          </p:txBody>
        </p:sp>
        <p:sp>
          <p:nvSpPr>
            <p:cNvPr id="216" name="TextBox 216"/>
            <p:cNvSpPr txBox="1"/>
            <p:nvPr/>
          </p:nvSpPr>
          <p:spPr>
            <a:xfrm>
              <a:off x="613123" y="4771072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x₆</a:t>
              </a:r>
            </a:p>
          </p:txBody>
        </p:sp>
      </p:grpSp>
      <p:grpSp>
        <p:nvGrpSpPr>
          <p:cNvPr id="223" name="takeaway"/>
          <p:cNvGrpSpPr/>
          <p:nvPr/>
        </p:nvGrpSpPr>
        <p:grpSpPr>
          <a:xfrm>
            <a:off x="533400" y="5579745"/>
            <a:ext cx="11125200" cy="782955"/>
            <a:chOff x="533400" y="5579745"/>
            <a:chExt cx="11125200" cy="782955"/>
          </a:xfrm>
        </p:grpSpPr>
        <p:sp>
          <p:nvSpPr>
            <p:cNvPr id="218" name="Rectangle 218"/>
            <p:cNvSpPr/>
            <p:nvPr/>
          </p:nvSpPr>
          <p:spPr>
            <a:xfrm>
              <a:off x="533400" y="5579745"/>
              <a:ext cx="11125200" cy="782955"/>
            </a:xfrm>
            <a:prstGeom prst="roundRect">
              <a:avLst>
                <a:gd name="adj" fmla="val 14599"/>
              </a:avLst>
            </a:prstGeom>
            <a:solidFill>
              <a:srgbClr val="2F4B9A"/>
            </a:solidFill>
            <a:ln>
              <a:noFill/>
            </a:ln>
          </p:spPr>
        </p:sp>
        <p:grpSp>
          <p:nvGrpSpPr>
            <p:cNvPr id="221" name="Group 221"/>
            <p:cNvGrpSpPr/>
            <p:nvPr/>
          </p:nvGrpSpPr>
          <p:grpSpPr>
            <a:xfrm>
              <a:off x="738188" y="5871212"/>
              <a:ext cx="200023" cy="200023"/>
              <a:chOff x="738188" y="5871212"/>
              <a:chExt cx="200023" cy="200023"/>
            </a:xfrm>
          </p:grpSpPr>
          <p:sp>
            <p:nvSpPr>
              <p:cNvPr id="219" name="Freeform 219"/>
              <p:cNvSpPr/>
              <p:nvPr/>
            </p:nvSpPr>
            <p:spPr>
              <a:xfrm>
                <a:off x="738188" y="5871212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220" name="Freeform 220"/>
              <p:cNvSpPr/>
              <p:nvPr/>
            </p:nvSpPr>
            <p:spPr>
              <a:xfrm>
                <a:off x="871538" y="593788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222" name="TextBox 222"/>
            <p:cNvSpPr txBox="1"/>
            <p:nvPr/>
          </p:nvSpPr>
          <p:spPr>
            <a:xfrm>
              <a:off x="1040130" y="5728335"/>
              <a:ext cx="99974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活结点 20 个（含根，即 SUMOFSUB 的 20 次调用），答案结点 3 个（8、12、33），被杀死的结点 18 个。不用限界函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数要访问 127 个结点。</a:t>
              </a:r>
            </a:p>
          </p:txBody>
        </p:sp>
      </p:grpSp>
      <p:grpSp>
        <p:nvGrpSpPr>
          <p:cNvPr id="22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224" name="TextBox 224"/>
            <p:cNvSpPr txBox="1"/>
            <p:nvPr/>
          </p:nvSpPr>
          <p:spPr>
            <a:xfrm>
              <a:off x="528447" y="6581299"/>
              <a:ext cx="18568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第7章 回溯法</a:t>
              </a:r>
            </a:p>
          </p:txBody>
        </p:sp>
        <p:sp>
          <p:nvSpPr>
            <p:cNvPr id="225" name="TextBox 22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012389" cy="909257"/>
            <a:chOff x="520446" y="342900"/>
            <a:chExt cx="901238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2979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5008" y="407194"/>
              <a:ext cx="19865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第7章 回溯法 · 子集和数问题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01238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实例运行（一）：逐个 E-结点检验两个儿子（结点 1–19）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7227989" cy="264033"/>
            <a:chOff x="526542" y="1545907"/>
            <a:chExt cx="7227989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722798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左儿子只需再查 s + W(k+1) ≤ 30（s + r ≥ 30 由父结点保证）；右儿子两个条件都要查。</a:t>
              </a:r>
            </a:p>
          </p:txBody>
        </p:sp>
      </p:grpSp>
      <p:grpSp>
        <p:nvGrpSpPr>
          <p:cNvPr id="72" name="c1-table-1"/>
          <p:cNvGrpSpPr/>
          <p:nvPr/>
        </p:nvGrpSpPr>
        <p:grpSpPr>
          <a:xfrm>
            <a:off x="533400" y="1928812"/>
            <a:ext cx="11125200" cy="4400550"/>
            <a:chOff x="533400" y="1928812"/>
            <a:chExt cx="11125200" cy="4400550"/>
          </a:xfrm>
        </p:grpSpPr>
        <p:sp>
          <p:nvSpPr>
            <p:cNvPr id="9" name="Rectangle 9"/>
            <p:cNvSpPr/>
            <p:nvPr/>
          </p:nvSpPr>
          <p:spPr>
            <a:xfrm>
              <a:off x="533400" y="1928812"/>
              <a:ext cx="11125200" cy="400050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342185" y="2050256"/>
              <a:ext cx="49698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E-结点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991523" y="205025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分量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806685" y="2050256"/>
              <a:ext cx="13556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左儿子（选 W(k)）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735608" y="2050256"/>
              <a:ext cx="150639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右儿子（不选 W(k)）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30555" y="2450306"/>
              <a:ext cx="11603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1（s=0，r=73）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059372" y="245030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x₁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745230" y="2450306"/>
              <a:ext cx="16444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2：s = 5，5+10 ≤ 30，T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417117" y="2450306"/>
              <a:ext cx="205911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19：0+68 ≥ 30，0+10 ≤ 30，T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33400" y="2724150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533400" y="2728912"/>
              <a:ext cx="11125200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30555" y="2850356"/>
              <a:ext cx="11603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2（s=5，r=68）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059372" y="285035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x₂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745230" y="2850356"/>
              <a:ext cx="181033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3：s = 15，15+12 ≤ 30，T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417117" y="2850356"/>
              <a:ext cx="205911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10：5+58 ≥ 30，5+12 ≤ 30，T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533400" y="3124200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30555" y="3250406"/>
              <a:ext cx="124740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3（s=15，r=58）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059372" y="325040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x₃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745230" y="3250406"/>
              <a:ext cx="18147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4：s = 27，27+13 &gt; 30，</a:t>
              </a:r>
              <a:r>
                <a:rPr lang="en-US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F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417117" y="3250406"/>
              <a:ext cx="214204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5：15+46 ≥ 30，15+13 ≤ 30，T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533400" y="3524250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533400" y="3529012"/>
              <a:ext cx="11125200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30555" y="3650456"/>
              <a:ext cx="124740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5（s=15，r=46）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3059372" y="365045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x₄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745230" y="3650456"/>
              <a:ext cx="18147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6：s = 28，28+15 &gt; 30，</a:t>
              </a:r>
              <a:r>
                <a:rPr lang="en-US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F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417117" y="3650456"/>
              <a:ext cx="214204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7：15+33 ≥ 30，15+15 ≤ 30，T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533400" y="3924300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30555" y="4050506"/>
              <a:ext cx="124740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7（s=15，r=33）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3059372" y="405050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x₅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3745230" y="4050506"/>
              <a:ext cx="145132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8：15+15 = 30，</a:t>
              </a:r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答案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417117" y="4050506"/>
              <a:ext cx="214642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9：15+18 ≥ 30，15+18 &gt; 30，</a:t>
              </a:r>
              <a:r>
                <a:rPr lang="en-US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F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533400" y="4324350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533400" y="4329112"/>
              <a:ext cx="11125200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30555" y="4450556"/>
              <a:ext cx="124740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10（s=5，r=58）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3059372" y="445055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x₃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3745230" y="4450556"/>
              <a:ext cx="189326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11：s = 17，17+13 ≤ 30，T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417117" y="4450556"/>
              <a:ext cx="205911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14：5+46 ≥ 30，5+13 ≤ 30，T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533400" y="4724400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30555" y="4850606"/>
              <a:ext cx="13344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11（s=17，r=46）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3059372" y="485060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x₄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3745230" y="4850606"/>
              <a:ext cx="15342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12：17+13 = 30，</a:t>
              </a:r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答案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417117" y="4850606"/>
              <a:ext cx="222935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13：17+33 ≥ 30，17+15 &gt; 30，</a:t>
              </a:r>
              <a:r>
                <a:rPr lang="en-US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F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533400" y="5124450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533400" y="5129212"/>
              <a:ext cx="11125200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630555" y="5250656"/>
              <a:ext cx="124740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14（s=5，r=46）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3059372" y="525065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x₄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3745230" y="5250656"/>
              <a:ext cx="189764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15：s = 18，18+15 &gt; 30，</a:t>
              </a:r>
              <a:r>
                <a:rPr lang="en-US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F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7417117" y="5250656"/>
              <a:ext cx="205911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16：5+33 ≥ 30，5+15 ≤ 30，T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533400" y="5524500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630555" y="5650706"/>
              <a:ext cx="124740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16（s=5，r=33）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3059372" y="565070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x₅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3745230" y="5650706"/>
              <a:ext cx="189764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17：s = 20，20+18 &gt; 30，</a:t>
              </a:r>
              <a:r>
                <a:rPr lang="en-US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F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7417117" y="5650706"/>
              <a:ext cx="124177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18：5+18 &lt; 30，</a:t>
              </a:r>
              <a:r>
                <a:rPr lang="en-US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F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533400" y="5924550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3" name="Rectangle 63"/>
            <p:cNvSpPr/>
            <p:nvPr/>
          </p:nvSpPr>
          <p:spPr>
            <a:xfrm>
              <a:off x="533400" y="5929312"/>
              <a:ext cx="11125200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630555" y="6050756"/>
              <a:ext cx="124740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19（s=0，r=68）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3059372" y="605075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x₂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3745230" y="6050756"/>
              <a:ext cx="189326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20：s = 10，10+12 ≤ 30，T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7417117" y="6050756"/>
              <a:ext cx="205911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27：0+58 ≥ 30，0+12 ≤ 30，T</a:t>
              </a:r>
            </a:p>
          </p:txBody>
        </p:sp>
        <p:sp>
          <p:nvSpPr>
            <p:cNvPr id="68" name="Rectangle 68"/>
            <p:cNvSpPr/>
            <p:nvPr/>
          </p:nvSpPr>
          <p:spPr>
            <a:xfrm>
              <a:off x="533400" y="1928812"/>
              <a:ext cx="11125200" cy="440055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9" name="Rectangle 69"/>
            <p:cNvSpPr/>
            <p:nvPr/>
          </p:nvSpPr>
          <p:spPr>
            <a:xfrm>
              <a:off x="2642235" y="1928812"/>
              <a:ext cx="9525" cy="44005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0" name="Rectangle 70"/>
            <p:cNvSpPr/>
            <p:nvPr/>
          </p:nvSpPr>
          <p:spPr>
            <a:xfrm>
              <a:off x="3643312" y="1928812"/>
              <a:ext cx="9525" cy="44005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1" name="Rectangle 71"/>
            <p:cNvSpPr/>
            <p:nvPr/>
          </p:nvSpPr>
          <p:spPr>
            <a:xfrm>
              <a:off x="7315200" y="1928812"/>
              <a:ext cx="9525" cy="44005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7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3" name="TextBox 73"/>
            <p:cNvSpPr txBox="1"/>
            <p:nvPr/>
          </p:nvSpPr>
          <p:spPr>
            <a:xfrm>
              <a:off x="528447" y="6581299"/>
              <a:ext cx="18568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第7章 回溯法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511814" cy="909257"/>
            <a:chOff x="520446" y="342900"/>
            <a:chExt cx="851181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2979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5008" y="407194"/>
              <a:ext cx="19865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第7章 回溯法 · 子集和数问题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51181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实例运行（二）：结点 20–39 的检验，输出答案 12+18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70" name="c1-table-1"/>
          <p:cNvGrpSpPr/>
          <p:nvPr/>
        </p:nvGrpSpPr>
        <p:grpSpPr>
          <a:xfrm>
            <a:off x="533400" y="1524000"/>
            <a:ext cx="11125200" cy="4732020"/>
            <a:chOff x="533400" y="1524000"/>
            <a:chExt cx="11125200" cy="473202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11125200" cy="430530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324463" y="1655445"/>
              <a:ext cx="53242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E-结点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980373" y="165544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分量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758298" y="1655445"/>
              <a:ext cx="145239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左儿子（选 W(k)）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681836" y="1655445"/>
              <a:ext cx="161393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右儿子（不选 W(k)）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38746" y="2085022"/>
              <a:ext cx="14297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20（s=10，r=58）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053067" y="2085022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x₃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753422" y="2085022"/>
              <a:ext cx="20331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21：s = 22，22+13 &gt; 30，</a:t>
              </a:r>
              <a:r>
                <a:rPr lang="en-US" sz="12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F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425309" y="2085022"/>
              <a:ext cx="23838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22：10+46 ≥ 30，10+13 ≤ 30，T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2379345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533400" y="2384108"/>
              <a:ext cx="11125200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38746" y="2515552"/>
              <a:ext cx="14297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22（s=10，r=46）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053067" y="2515552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x₄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753422" y="2515552"/>
              <a:ext cx="20331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23：s = 23，23+15 &gt; 30，</a:t>
              </a:r>
              <a:r>
                <a:rPr lang="en-US" sz="12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F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425309" y="2515552"/>
              <a:ext cx="23838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24：10+33 ≥ 30，10+15 ≤ 30，T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533400" y="2809875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38746" y="2946082"/>
              <a:ext cx="14297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24（s=10，r=33）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053067" y="2946082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x₅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753422" y="2946082"/>
              <a:ext cx="20331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25：s = 25，25+18 &gt; 30，</a:t>
              </a:r>
              <a:r>
                <a:rPr lang="en-US" sz="12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F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425309" y="2946082"/>
              <a:ext cx="141927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26：10+18 &lt; 30，</a:t>
              </a:r>
              <a:r>
                <a:rPr lang="en-US" sz="12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F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33400" y="323945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533400" y="3244215"/>
              <a:ext cx="11125200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38746" y="3375660"/>
              <a:ext cx="133644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27（s=0，r=58）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053067" y="337566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x₃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753422" y="3375660"/>
              <a:ext cx="20284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28：s = 12，12+13 ≤ 30，T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425309" y="3375660"/>
              <a:ext cx="220614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35：0+46 ≥ 30，0+13 ≤ 30，T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33400" y="366998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38746" y="3806190"/>
              <a:ext cx="14297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28（s=12，r=46）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3053067" y="380619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x₄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3753422" y="3806190"/>
              <a:ext cx="20331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29：s = 25，25+15 &gt; 30，</a:t>
              </a:r>
              <a:r>
                <a:rPr lang="en-US" sz="12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F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425309" y="3806190"/>
              <a:ext cx="23838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30：12+33 ≥ 30，12+15 ≤ 30，T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533400" y="410051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533400" y="4105275"/>
              <a:ext cx="11125200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38746" y="4235768"/>
              <a:ext cx="14297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30（s=12，r=33）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3053067" y="4235768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x₅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3753422" y="4235768"/>
              <a:ext cx="20331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31：s = 27，27+18 &gt; 30，</a:t>
              </a:r>
              <a:r>
                <a:rPr lang="en-US" sz="12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F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425309" y="4235768"/>
              <a:ext cx="23838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32：12+18 ≥ 30，12+18 ≤ 30，T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533400" y="4530090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38746" y="4666298"/>
              <a:ext cx="14297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32（s=12，r=18）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3053067" y="4666298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x₆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3753422" y="4666298"/>
              <a:ext cx="164378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33：12+18 = 30，</a:t>
              </a:r>
              <a:r>
                <a:rPr lang="zh-CN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答案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425309" y="4666298"/>
              <a:ext cx="142734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34：s = 12 ≠ 30，</a:t>
              </a:r>
              <a:r>
                <a:rPr lang="en-US" sz="12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F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533400" y="4960620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533400" y="4965382"/>
              <a:ext cx="11125200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38746" y="5096828"/>
              <a:ext cx="133644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35（s=0，r=46）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3053067" y="5096828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x₄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3753422" y="5096828"/>
              <a:ext cx="20284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36：s = 13，13+15 ≤ 30，T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7425309" y="5096828"/>
              <a:ext cx="220614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39：0+33 ≥ 30，0+15 ≤ 30，T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533400" y="539019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38746" y="5526405"/>
              <a:ext cx="14297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36（s=13，r=33）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3053067" y="5526405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x₅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3753422" y="5526405"/>
              <a:ext cx="20331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37：s = 28，28+18 &gt; 30，</a:t>
              </a:r>
              <a:r>
                <a:rPr lang="en-US" sz="12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F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7425309" y="5526405"/>
              <a:ext cx="238853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38：13+18 ≥ 30，13+18 &gt; 30，</a:t>
              </a:r>
              <a:r>
                <a:rPr lang="en-US" sz="12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F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533400" y="582072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1" name="Rectangle 61"/>
            <p:cNvSpPr/>
            <p:nvPr/>
          </p:nvSpPr>
          <p:spPr>
            <a:xfrm>
              <a:off x="533400" y="5825490"/>
              <a:ext cx="11125200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638746" y="5956935"/>
              <a:ext cx="133644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39（s=0，r=33）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3053067" y="5956935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x₅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3753422" y="5956935"/>
              <a:ext cx="20331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40：s = 15，15+18 &gt; 30，</a:t>
              </a:r>
              <a:r>
                <a:rPr lang="en-US" sz="12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F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7425309" y="5956935"/>
              <a:ext cx="133042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41：0+18 &lt; 30，</a:t>
              </a:r>
              <a:r>
                <a:rPr lang="en-US" sz="12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F</a:t>
              </a:r>
            </a:p>
          </p:txBody>
        </p:sp>
        <p:sp>
          <p:nvSpPr>
            <p:cNvPr id="66" name="Rectangle 66"/>
            <p:cNvSpPr/>
            <p:nvPr/>
          </p:nvSpPr>
          <p:spPr>
            <a:xfrm>
              <a:off x="533400" y="1524000"/>
              <a:ext cx="11125200" cy="473202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7" name="Rectangle 67"/>
            <p:cNvSpPr/>
            <p:nvPr/>
          </p:nvSpPr>
          <p:spPr>
            <a:xfrm>
              <a:off x="2642235" y="1524000"/>
              <a:ext cx="9525" cy="473202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8" name="Rectangle 68"/>
            <p:cNvSpPr/>
            <p:nvPr/>
          </p:nvSpPr>
          <p:spPr>
            <a:xfrm>
              <a:off x="3643312" y="1524000"/>
              <a:ext cx="9525" cy="473202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9" name="Rectangle 69"/>
            <p:cNvSpPr/>
            <p:nvPr/>
          </p:nvSpPr>
          <p:spPr>
            <a:xfrm>
              <a:off x="7315200" y="1524000"/>
              <a:ext cx="9525" cy="473202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7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1" name="TextBox 71"/>
            <p:cNvSpPr txBox="1"/>
            <p:nvPr/>
          </p:nvSpPr>
          <p:spPr>
            <a:xfrm>
              <a:off x="528447" y="6581299"/>
              <a:ext cx="18568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第7章 回溯法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474442" cy="909257"/>
            <a:chOff x="520446" y="342900"/>
            <a:chExt cx="647444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2979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5008" y="407194"/>
              <a:ext cx="19865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第7章 回溯法 · 子集和数问题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47444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与原课件实例对照：动态树应有 41 个结点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5" name="c1-table-1"/>
          <p:cNvGrpSpPr/>
          <p:nvPr/>
        </p:nvGrpSpPr>
        <p:grpSpPr>
          <a:xfrm>
            <a:off x="533400" y="1524000"/>
            <a:ext cx="5951220" cy="3826192"/>
            <a:chOff x="533400" y="1524000"/>
            <a:chExt cx="5951220" cy="382619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951220" cy="448628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188047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项目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886875" y="1659731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原课件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512107" y="1659731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本讲义（脚本复核）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41223" y="2108359"/>
              <a:ext cx="1361796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 = (1,0,0,0) 的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结点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307146" y="2221706"/>
              <a:ext cx="157174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 写作 20，B 值为 F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212146" y="2108359"/>
              <a:ext cx="1971802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 = 5，5+33 ≥ 30 且 5+15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≤ 30，B 值为 T（结点 16）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643188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647950"/>
              <a:ext cx="5951220" cy="90201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41223" y="2783681"/>
              <a:ext cx="1259383" cy="7027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 =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(0,1,0,0,0) 的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结点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307146" y="3010376"/>
              <a:ext cx="65051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 写作 5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212146" y="2897029"/>
              <a:ext cx="188239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 = 10，B 值仍为 F（结点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26）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3546158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41223" y="3799046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第一张表最后一行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307146" y="3799046"/>
              <a:ext cx="156962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13 | 10 | 46 | 13 | T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212146" y="3685699"/>
              <a:ext cx="1931162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与后一张表的结点 13（s =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0，r = 68）矛盾，应删去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4221480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533400" y="4226242"/>
              <a:ext cx="5951220" cy="67532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41223" y="4474369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答案结点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307146" y="4361021"/>
              <a:ext cx="147599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没有画出，把输出答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案时所在的结点涂红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212146" y="4361021"/>
              <a:ext cx="1979930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画出 3 个答案结点 8、12、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33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4896802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41223" y="5037296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动态树结点总数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307146" y="5037296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33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212146" y="5037296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41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33400" y="1524000"/>
              <a:ext cx="5951220" cy="382619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2194560" y="1524000"/>
              <a:ext cx="9525" cy="382619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4099560" y="1524000"/>
              <a:ext cx="9525" cy="382619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1" name="c2-card-1"/>
          <p:cNvGrpSpPr/>
          <p:nvPr/>
        </p:nvGrpSpPr>
        <p:grpSpPr>
          <a:xfrm>
            <a:off x="6789420" y="1524000"/>
            <a:ext cx="4869180" cy="1887855"/>
            <a:chOff x="6789420" y="1524000"/>
            <a:chExt cx="4869180" cy="1887855"/>
          </a:xfrm>
        </p:grpSpPr>
        <p:sp>
          <p:nvSpPr>
            <p:cNvPr id="36" name="Rectangle 36"/>
            <p:cNvSpPr/>
            <p:nvPr/>
          </p:nvSpPr>
          <p:spPr>
            <a:xfrm>
              <a:off x="6789420" y="1524000"/>
              <a:ext cx="4869180" cy="1887855"/>
            </a:xfrm>
            <a:prstGeom prst="roundRect">
              <a:avLst>
                <a:gd name="adj" fmla="val 706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6798945" y="1657350"/>
              <a:ext cx="47625" cy="162115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7037070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127278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029450" y="2110740"/>
              <a:ext cx="4234815" cy="11506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原课件实例把 (1,0,0,0) 误判为 F，漏画了它的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两个儿子；也没有画出 3 个答案结点和与它们同一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父结点的 3 个被杀死的兄弟。补上这 8 个结点，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共 41 个。</a:t>
              </a:r>
            </a:p>
          </p:txBody>
        </p:sp>
      </p:grpSp>
      <p:grpSp>
        <p:nvGrpSpPr>
          <p:cNvPr id="52" name="c2-card-2"/>
          <p:cNvGrpSpPr/>
          <p:nvPr/>
        </p:nvGrpSpPr>
        <p:grpSpPr>
          <a:xfrm>
            <a:off x="6789420" y="3602355"/>
            <a:ext cx="4869180" cy="2272665"/>
            <a:chOff x="6789420" y="3602355"/>
            <a:chExt cx="4869180" cy="2272665"/>
          </a:xfrm>
        </p:grpSpPr>
        <p:sp>
          <p:nvSpPr>
            <p:cNvPr id="42" name="Rectangle 42"/>
            <p:cNvSpPr/>
            <p:nvPr/>
          </p:nvSpPr>
          <p:spPr>
            <a:xfrm>
              <a:off x="6789420" y="3602355"/>
              <a:ext cx="4869180" cy="2272665"/>
            </a:xfrm>
            <a:prstGeom prst="roundRect">
              <a:avLst>
                <a:gd name="adj" fmla="val 586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3" name="Rectangle 43"/>
            <p:cNvSpPr/>
            <p:nvPr/>
          </p:nvSpPr>
          <p:spPr>
            <a:xfrm>
              <a:off x="6798945" y="3735705"/>
              <a:ext cx="47625" cy="2005965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7037070" y="3811905"/>
              <a:ext cx="1204912" cy="25717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7106577" y="3847624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自己画动态树时</a:t>
              </a:r>
            </a:p>
          </p:txBody>
        </p:sp>
        <p:sp>
          <p:nvSpPr>
            <p:cNvPr id="46" name="Ellipse 46"/>
            <p:cNvSpPr/>
            <p:nvPr/>
          </p:nvSpPr>
          <p:spPr>
            <a:xfrm>
              <a:off x="7042785" y="4251960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7200900" y="4189095"/>
              <a:ext cx="39014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每个 E-结点都生成左右两个儿子并检验，被杀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死的儿子也画出（灰色）</a:t>
              </a:r>
            </a:p>
          </p:txBody>
        </p:sp>
        <p:sp>
          <p:nvSpPr>
            <p:cNvPr id="48" name="Ellipse 48"/>
            <p:cNvSpPr/>
            <p:nvPr/>
          </p:nvSpPr>
          <p:spPr>
            <a:xfrm>
              <a:off x="7042785" y="4872990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7200900" y="4810125"/>
              <a:ext cx="390772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 恰好等于 M 的结点是答案结点，不再扩展</a:t>
              </a:r>
            </a:p>
          </p:txBody>
        </p:sp>
        <p:sp>
          <p:nvSpPr>
            <p:cNvPr id="50" name="Ellipse 50"/>
            <p:cNvSpPr/>
            <p:nvPr/>
          </p:nvSpPr>
          <p:spPr>
            <a:xfrm>
              <a:off x="7042785" y="5208270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7200900" y="5145405"/>
              <a:ext cx="4015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活结点、答案结点、被杀死的结点都要计入结点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总数</a:t>
              </a:r>
            </a:p>
          </p:txBody>
        </p:sp>
      </p:grpSp>
      <p:grpSp>
        <p:nvGrpSpPr>
          <p:cNvPr id="5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3" name="TextBox 53"/>
            <p:cNvSpPr txBox="1"/>
            <p:nvPr/>
          </p:nvSpPr>
          <p:spPr>
            <a:xfrm>
              <a:off x="528447" y="6581299"/>
              <a:ext cx="18568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第7章 回溯法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2F4B9A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8EDF8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4324750" cy="3351847"/>
            <a:chOff x="667512" y="1835468"/>
            <a:chExt cx="4324750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第五部分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2459736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图着色问题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431484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用 m 种颜色给顶点着色，相邻顶点颜色不同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255955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问题描述与 m-着色判定问题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210521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解空间树：完全 m 叉树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22212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算法 MCOLORING 与 OK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237782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实例：5 个顶点、3 种颜色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18568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第7章 回溯法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408554" cy="909257"/>
            <a:chOff x="520446" y="342900"/>
            <a:chExt cx="540855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98786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8957" y="407194"/>
              <a:ext cx="18358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第7章 回溯法 · 图着色问题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40855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图着色问题与图的 m-着色判定问题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5951220" cy="2133600"/>
            <a:chOff x="533400" y="1524000"/>
            <a:chExt cx="5951220" cy="213360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951220" cy="2133600"/>
            </a:xfrm>
            <a:prstGeom prst="roundRect">
              <a:avLst>
                <a:gd name="adj" fmla="val 625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866900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3244215" cy="25717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74237" y="1769269"/>
              <a:ext cx="325784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图着色问题（Graph Coloring Problem，GCP）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73430" y="2110740"/>
              <a:ext cx="513969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又称着色问题。给定无向连通图 G = (V, E)，V 为顶点集合，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 为边集合，用不同的颜色给图中顶点着色，要求任何两个相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邻顶点的着色不同。问：最少需要多少种颜色？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74573" y="3014186"/>
              <a:ext cx="4824730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这是最著名的 NP-完全问题之一（严格说，NP-完全的是它的判定形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式）。</a:t>
              </a:r>
            </a:p>
          </p:txBody>
        </p:sp>
      </p:grpSp>
      <p:grpSp>
        <p:nvGrpSpPr>
          <p:cNvPr id="22" name="c1-card-2"/>
          <p:cNvGrpSpPr/>
          <p:nvPr/>
        </p:nvGrpSpPr>
        <p:grpSpPr>
          <a:xfrm>
            <a:off x="533400" y="3848100"/>
            <a:ext cx="5951220" cy="2183130"/>
            <a:chOff x="533400" y="3848100"/>
            <a:chExt cx="5951220" cy="2183130"/>
          </a:xfrm>
        </p:grpSpPr>
        <p:sp>
          <p:nvSpPr>
            <p:cNvPr id="14" name="Rectangle 14"/>
            <p:cNvSpPr/>
            <p:nvPr/>
          </p:nvSpPr>
          <p:spPr>
            <a:xfrm>
              <a:off x="533400" y="3848100"/>
              <a:ext cx="5951220" cy="2183130"/>
            </a:xfrm>
            <a:prstGeom prst="roundRect">
              <a:avLst>
                <a:gd name="adj" fmla="val 610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542925" y="3981450"/>
              <a:ext cx="47625" cy="1916430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781050" y="4057650"/>
              <a:ext cx="1586865" cy="25717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39019" y="4093369"/>
              <a:ext cx="147092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图的 m-着色判定问题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73430" y="4434840"/>
              <a:ext cx="52920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给定无向连通图 G = (V, E) 和 m 种不同颜色，问：是否存在任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何两个相邻顶点颜色不同的着色方案？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786765" y="5118735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44880" y="5055870"/>
              <a:ext cx="528561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本节用回溯法求解；判定答案为"是"时，要求给出着色方案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74573" y="5386864"/>
              <a:ext cx="521487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地图着色可以转成图着色：每个区域作为一个顶点，有公共边界的两个区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域之间连一条边（右图来自原课件中的 5 区域地图）。</a:t>
              </a:r>
            </a:p>
          </p:txBody>
        </p:sp>
      </p:grpSp>
      <p:grpSp>
        <p:nvGrpSpPr>
          <p:cNvPr id="41" name="c2-graph-1"/>
          <p:cNvGrpSpPr/>
          <p:nvPr/>
        </p:nvGrpSpPr>
        <p:grpSpPr>
          <a:xfrm>
            <a:off x="7475220" y="1571625"/>
            <a:ext cx="2318068" cy="2238375"/>
            <a:chOff x="7475220" y="1571625"/>
            <a:chExt cx="2318068" cy="2238375"/>
          </a:xfrm>
        </p:grpSpPr>
        <p:sp>
          <p:nvSpPr>
            <p:cNvPr id="23" name="Freeform 23"/>
            <p:cNvSpPr/>
            <p:nvPr/>
          </p:nvSpPr>
          <p:spPr>
            <a:xfrm>
              <a:off x="7840980" y="1858328"/>
              <a:ext cx="1304925" cy="712470"/>
            </a:xfrm>
            <a:custGeom>
              <a:avLst/>
              <a:gdLst/>
              <a:ahLst/>
              <a:cxnLst/>
              <a:rect l="l" t="t" r="r" b="b"/>
              <a:pathLst>
                <a:path w="1304925" h="712470">
                  <a:moveTo>
                    <a:pt x="1304925" y="0"/>
                  </a:moveTo>
                  <a:lnTo>
                    <a:pt x="0" y="71247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4" name="Freeform 24"/>
            <p:cNvSpPr/>
            <p:nvPr/>
          </p:nvSpPr>
          <p:spPr>
            <a:xfrm>
              <a:off x="9321165" y="1962150"/>
              <a:ext cx="9525" cy="504825"/>
            </a:xfrm>
            <a:custGeom>
              <a:avLst/>
              <a:gdLst/>
              <a:ahLst/>
              <a:cxnLst/>
              <a:rect l="l" t="t" r="r" b="b"/>
              <a:pathLst>
                <a:path w="9525" h="504825">
                  <a:moveTo>
                    <a:pt x="0" y="0"/>
                  </a:moveTo>
                  <a:lnTo>
                    <a:pt x="0" y="50482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5" name="Freeform 25"/>
            <p:cNvSpPr/>
            <p:nvPr/>
          </p:nvSpPr>
          <p:spPr>
            <a:xfrm>
              <a:off x="9436418" y="1925955"/>
              <a:ext cx="356870" cy="1529715"/>
            </a:xfrm>
            <a:custGeom>
              <a:avLst/>
              <a:gdLst/>
              <a:ahLst/>
              <a:cxnLst/>
              <a:rect l="l" t="t" r="r" b="b"/>
              <a:pathLst>
                <a:path w="356870" h="1529715">
                  <a:moveTo>
                    <a:pt x="0" y="0"/>
                  </a:moveTo>
                  <a:cubicBezTo>
                    <a:pt x="356870" y="509905"/>
                    <a:pt x="356870" y="1019810"/>
                    <a:pt x="0" y="1529715"/>
                  </a:cubicBez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6" name="Freeform 26"/>
            <p:cNvSpPr/>
            <p:nvPr/>
          </p:nvSpPr>
          <p:spPr>
            <a:xfrm>
              <a:off x="7865745" y="2667000"/>
              <a:ext cx="1255395" cy="9525"/>
            </a:xfrm>
            <a:custGeom>
              <a:avLst/>
              <a:gdLst/>
              <a:ahLst/>
              <a:cxnLst/>
              <a:rect l="l" t="t" r="r" b="b"/>
              <a:pathLst>
                <a:path w="1255395" h="9525">
                  <a:moveTo>
                    <a:pt x="0" y="0"/>
                  </a:moveTo>
                  <a:lnTo>
                    <a:pt x="1255395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7" name="Freeform 27"/>
            <p:cNvSpPr/>
            <p:nvPr/>
          </p:nvSpPr>
          <p:spPr>
            <a:xfrm>
              <a:off x="7839075" y="2767012"/>
              <a:ext cx="1308735" cy="752475"/>
            </a:xfrm>
            <a:custGeom>
              <a:avLst/>
              <a:gdLst/>
              <a:ahLst/>
              <a:cxnLst/>
              <a:rect l="l" t="t" r="r" b="b"/>
              <a:pathLst>
                <a:path w="1308735" h="752475">
                  <a:moveTo>
                    <a:pt x="0" y="0"/>
                  </a:moveTo>
                  <a:lnTo>
                    <a:pt x="1308735" y="75247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8" name="Freeform 28"/>
            <p:cNvSpPr/>
            <p:nvPr/>
          </p:nvSpPr>
          <p:spPr>
            <a:xfrm>
              <a:off x="7665720" y="2867025"/>
              <a:ext cx="9525" cy="552450"/>
            </a:xfrm>
            <a:custGeom>
              <a:avLst/>
              <a:gdLst/>
              <a:ahLst/>
              <a:cxnLst/>
              <a:rect l="l" t="t" r="r" b="b"/>
              <a:pathLst>
                <a:path w="9525" h="552450">
                  <a:moveTo>
                    <a:pt x="0" y="0"/>
                  </a:moveTo>
                  <a:lnTo>
                    <a:pt x="0" y="55245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9" name="Freeform 29"/>
            <p:cNvSpPr/>
            <p:nvPr/>
          </p:nvSpPr>
          <p:spPr>
            <a:xfrm>
              <a:off x="9321165" y="2867025"/>
              <a:ext cx="9525" cy="552450"/>
            </a:xfrm>
            <a:custGeom>
              <a:avLst/>
              <a:gdLst/>
              <a:ahLst/>
              <a:cxnLst/>
              <a:rect l="l" t="t" r="r" b="b"/>
              <a:pathLst>
                <a:path w="9525" h="552450">
                  <a:moveTo>
                    <a:pt x="0" y="0"/>
                  </a:moveTo>
                  <a:lnTo>
                    <a:pt x="0" y="55245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0" name="Freeform 30"/>
            <p:cNvSpPr/>
            <p:nvPr/>
          </p:nvSpPr>
          <p:spPr>
            <a:xfrm>
              <a:off x="7865745" y="3619500"/>
              <a:ext cx="1255395" cy="9525"/>
            </a:xfrm>
            <a:custGeom>
              <a:avLst/>
              <a:gdLst/>
              <a:ahLst/>
              <a:cxnLst/>
              <a:rect l="l" t="t" r="r" b="b"/>
              <a:pathLst>
                <a:path w="1255395" h="9525">
                  <a:moveTo>
                    <a:pt x="1255395" y="0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1" name="Ellipse 31"/>
            <p:cNvSpPr/>
            <p:nvPr/>
          </p:nvSpPr>
          <p:spPr>
            <a:xfrm>
              <a:off x="9130665" y="1571625"/>
              <a:ext cx="381000" cy="381000"/>
            </a:xfrm>
            <a:prstGeom prst="ellipse">
              <a:avLst/>
            </a:prstGeom>
            <a:solidFill>
              <a:srgbClr val="E8EDF8"/>
            </a:solidFill>
            <a:ln w="17145">
              <a:solidFill>
                <a:srgbClr val="2F4B9A"/>
              </a:solidFill>
            </a:ln>
          </p:spPr>
        </p:sp>
        <p:sp>
          <p:nvSpPr>
            <p:cNvPr id="32" name="Ellipse 32"/>
            <p:cNvSpPr/>
            <p:nvPr/>
          </p:nvSpPr>
          <p:spPr>
            <a:xfrm>
              <a:off x="7475220" y="2476500"/>
              <a:ext cx="381000" cy="381000"/>
            </a:xfrm>
            <a:prstGeom prst="ellipse">
              <a:avLst/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33" name="Ellipse 33"/>
            <p:cNvSpPr/>
            <p:nvPr/>
          </p:nvSpPr>
          <p:spPr>
            <a:xfrm>
              <a:off x="9130665" y="2476500"/>
              <a:ext cx="381000" cy="381000"/>
            </a:xfrm>
            <a:prstGeom prst="ellipse">
              <a:avLst/>
            </a:prstGeom>
            <a:solidFill>
              <a:srgbClr val="E3F5F1"/>
            </a:solidFill>
            <a:ln w="17145">
              <a:solidFill>
                <a:srgbClr val="14A38B"/>
              </a:solidFill>
            </a:ln>
          </p:spPr>
        </p:sp>
        <p:sp>
          <p:nvSpPr>
            <p:cNvPr id="34" name="Ellipse 34"/>
            <p:cNvSpPr/>
            <p:nvPr/>
          </p:nvSpPr>
          <p:spPr>
            <a:xfrm>
              <a:off x="9130665" y="3429000"/>
              <a:ext cx="381000" cy="381000"/>
            </a:xfrm>
            <a:prstGeom prst="ellipse">
              <a:avLst/>
            </a:prstGeom>
            <a:solidFill>
              <a:srgbClr val="FDECEA"/>
            </a:solidFill>
            <a:ln w="17145">
              <a:solidFill>
                <a:srgbClr val="B42318"/>
              </a:solidFill>
            </a:ln>
          </p:spPr>
        </p:sp>
        <p:sp>
          <p:nvSpPr>
            <p:cNvPr id="35" name="Ellipse 35"/>
            <p:cNvSpPr/>
            <p:nvPr/>
          </p:nvSpPr>
          <p:spPr>
            <a:xfrm>
              <a:off x="7475220" y="3429000"/>
              <a:ext cx="381000" cy="381000"/>
            </a:xfrm>
            <a:prstGeom prst="ellipse">
              <a:avLst/>
            </a:prstGeom>
            <a:solidFill>
              <a:srgbClr val="E8EDF8"/>
            </a:solidFill>
            <a:ln w="17145">
              <a:solidFill>
                <a:srgbClr val="2F4B9A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9268423" y="168783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612978" y="259270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268423" y="259270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9268423" y="354520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612978" y="354520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</p:grpSp>
      <p:grpSp>
        <p:nvGrpSpPr>
          <p:cNvPr id="47" name="c2-callout-2"/>
          <p:cNvGrpSpPr/>
          <p:nvPr/>
        </p:nvGrpSpPr>
        <p:grpSpPr>
          <a:xfrm>
            <a:off x="6789420" y="4095750"/>
            <a:ext cx="4869180" cy="1934528"/>
            <a:chOff x="6789420" y="4095750"/>
            <a:chExt cx="4869180" cy="1934528"/>
          </a:xfrm>
        </p:grpSpPr>
        <p:sp>
          <p:nvSpPr>
            <p:cNvPr id="42" name="Rectangle 42"/>
            <p:cNvSpPr/>
            <p:nvPr/>
          </p:nvSpPr>
          <p:spPr>
            <a:xfrm>
              <a:off x="6789420" y="4095750"/>
              <a:ext cx="4869180" cy="1934528"/>
            </a:xfrm>
            <a:prstGeom prst="roundRect">
              <a:avLst>
                <a:gd name="adj" fmla="val 5908"/>
              </a:avLst>
            </a:prstGeom>
            <a:solidFill>
              <a:srgbClr val="2F4B9A"/>
            </a:solidFill>
            <a:ln>
              <a:noFill/>
            </a:ln>
          </p:spPr>
        </p:sp>
        <p:grpSp>
          <p:nvGrpSpPr>
            <p:cNvPr id="45" name="Group 45"/>
            <p:cNvGrpSpPr/>
            <p:nvPr/>
          </p:nvGrpSpPr>
          <p:grpSpPr>
            <a:xfrm>
              <a:off x="6994208" y="4963480"/>
              <a:ext cx="200023" cy="200023"/>
              <a:chOff x="6994208" y="4963480"/>
              <a:chExt cx="200023" cy="200023"/>
            </a:xfrm>
          </p:grpSpPr>
          <p:sp>
            <p:nvSpPr>
              <p:cNvPr id="43" name="Freeform 43"/>
              <p:cNvSpPr/>
              <p:nvPr/>
            </p:nvSpPr>
            <p:spPr>
              <a:xfrm>
                <a:off x="6994208" y="496348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7127558" y="503015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46" name="TextBox 46"/>
            <p:cNvSpPr txBox="1"/>
            <p:nvPr/>
          </p:nvSpPr>
          <p:spPr>
            <a:xfrm>
              <a:off x="7296150" y="4544378"/>
              <a:ext cx="3815715" cy="11220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顶点 1、2、3、4 两两相邻，至少需要 4 种颜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色；1 与 5 不相邻，可以同色（图中同为浅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色）。脚本验证：m = 3 时无解，m = 4 时有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48 种方案。</a:t>
              </a:r>
            </a:p>
          </p:txBody>
        </p:sp>
      </p:grpSp>
      <p:grpSp>
        <p:nvGrpSpPr>
          <p:cNvPr id="5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8" name="TextBox 48"/>
            <p:cNvSpPr txBox="1"/>
            <p:nvPr/>
          </p:nvSpPr>
          <p:spPr>
            <a:xfrm>
              <a:off x="528447" y="6581299"/>
              <a:ext cx="18568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第7章 回溯法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376412" cy="909257"/>
            <a:chOff x="520446" y="342900"/>
            <a:chExt cx="737641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98786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8957" y="407194"/>
              <a:ext cx="18358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第7章 回溯法 · 图着色问题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37641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解空间树：n 个顶点、m 种颜色时是完全 m 叉树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9" name="c1-graph-1"/>
          <p:cNvGrpSpPr/>
          <p:nvPr/>
        </p:nvGrpSpPr>
        <p:grpSpPr>
          <a:xfrm>
            <a:off x="1660208" y="1609725"/>
            <a:ext cx="2074544" cy="1257300"/>
            <a:chOff x="1660208" y="1609725"/>
            <a:chExt cx="2074544" cy="1257300"/>
          </a:xfrm>
        </p:grpSpPr>
        <p:sp>
          <p:nvSpPr>
            <p:cNvPr id="7" name="Freeform 7"/>
            <p:cNvSpPr/>
            <p:nvPr/>
          </p:nvSpPr>
          <p:spPr>
            <a:xfrm>
              <a:off x="2012632" y="1781175"/>
              <a:ext cx="1369695" cy="9525"/>
            </a:xfrm>
            <a:custGeom>
              <a:avLst/>
              <a:gdLst/>
              <a:ahLst/>
              <a:cxnLst/>
              <a:rect l="l" t="t" r="r" b="b"/>
              <a:pathLst>
                <a:path w="1369695" h="9525">
                  <a:moveTo>
                    <a:pt x="0" y="0"/>
                  </a:moveTo>
                  <a:lnTo>
                    <a:pt x="1369695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3563302" y="1962150"/>
              <a:ext cx="9525" cy="552450"/>
            </a:xfrm>
            <a:custGeom>
              <a:avLst/>
              <a:gdLst/>
              <a:ahLst/>
              <a:cxnLst/>
              <a:rect l="l" t="t" r="r" b="b"/>
              <a:pathLst>
                <a:path w="9525" h="552450">
                  <a:moveTo>
                    <a:pt x="0" y="0"/>
                  </a:moveTo>
                  <a:lnTo>
                    <a:pt x="0" y="55245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9" name="Freeform 9"/>
            <p:cNvSpPr/>
            <p:nvPr/>
          </p:nvSpPr>
          <p:spPr>
            <a:xfrm>
              <a:off x="2012632" y="2695575"/>
              <a:ext cx="1369695" cy="9525"/>
            </a:xfrm>
            <a:custGeom>
              <a:avLst/>
              <a:gdLst/>
              <a:ahLst/>
              <a:cxnLst/>
              <a:rect l="l" t="t" r="r" b="b"/>
              <a:pathLst>
                <a:path w="1369695" h="9525">
                  <a:moveTo>
                    <a:pt x="1369695" y="0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1831658" y="1962150"/>
              <a:ext cx="9525" cy="552450"/>
            </a:xfrm>
            <a:custGeom>
              <a:avLst/>
              <a:gdLst/>
              <a:ahLst/>
              <a:cxnLst/>
              <a:rect l="l" t="t" r="r" b="b"/>
              <a:pathLst>
                <a:path w="9525" h="552450">
                  <a:moveTo>
                    <a:pt x="0" y="552450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1" name="Ellipse 11"/>
            <p:cNvSpPr/>
            <p:nvPr/>
          </p:nvSpPr>
          <p:spPr>
            <a:xfrm>
              <a:off x="1660208" y="1609725"/>
              <a:ext cx="342900" cy="3429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12" name="Ellipse 12"/>
            <p:cNvSpPr/>
            <p:nvPr/>
          </p:nvSpPr>
          <p:spPr>
            <a:xfrm>
              <a:off x="3391852" y="1609725"/>
              <a:ext cx="342900" cy="3429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13" name="Ellipse 13"/>
            <p:cNvSpPr/>
            <p:nvPr/>
          </p:nvSpPr>
          <p:spPr>
            <a:xfrm>
              <a:off x="3391852" y="2524125"/>
              <a:ext cx="342900" cy="3429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14" name="Ellipse 14"/>
            <p:cNvSpPr/>
            <p:nvPr/>
          </p:nvSpPr>
          <p:spPr>
            <a:xfrm>
              <a:off x="1660208" y="2524125"/>
              <a:ext cx="342900" cy="3429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778916" y="170688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510561" y="170688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510561" y="262128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778916" y="262128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</p:grpSp>
      <p:grpSp>
        <p:nvGrpSpPr>
          <p:cNvPr id="31" name="c1-card-2"/>
          <p:cNvGrpSpPr/>
          <p:nvPr/>
        </p:nvGrpSpPr>
        <p:grpSpPr>
          <a:xfrm>
            <a:off x="533400" y="3143250"/>
            <a:ext cx="4328160" cy="2804160"/>
            <a:chOff x="533400" y="3143250"/>
            <a:chExt cx="4328160" cy="2804160"/>
          </a:xfrm>
        </p:grpSpPr>
        <p:sp>
          <p:nvSpPr>
            <p:cNvPr id="20" name="Rectangle 20"/>
            <p:cNvSpPr/>
            <p:nvPr/>
          </p:nvSpPr>
          <p:spPr>
            <a:xfrm>
              <a:off x="533400" y="3143250"/>
              <a:ext cx="4328160" cy="2804160"/>
            </a:xfrm>
            <a:prstGeom prst="roundRect">
              <a:avLst>
                <a:gd name="adj" fmla="val 475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542925" y="3276600"/>
              <a:ext cx="47625" cy="2537460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781050" y="3352800"/>
              <a:ext cx="1951672" cy="25717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28154" y="3388519"/>
              <a:ext cx="185841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例：n = 4 的连通图，m = 3</a:t>
              </a:r>
            </a:p>
          </p:txBody>
        </p:sp>
        <p:sp>
          <p:nvSpPr>
            <p:cNvPr id="24" name="Ellipse 24"/>
            <p:cNvSpPr/>
            <p:nvPr/>
          </p:nvSpPr>
          <p:spPr>
            <a:xfrm>
              <a:off x="786765" y="3792855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944880" y="3729990"/>
              <a:ext cx="33775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n-元组 X = (x₁, …, x₄)，xᵢ 表示顶点 i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的颜色</a:t>
              </a:r>
            </a:p>
          </p:txBody>
        </p:sp>
        <p:sp>
          <p:nvSpPr>
            <p:cNvPr id="26" name="Ellipse 26"/>
            <p:cNvSpPr/>
            <p:nvPr/>
          </p:nvSpPr>
          <p:spPr>
            <a:xfrm>
              <a:off x="786765" y="4413885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944880" y="4351020"/>
              <a:ext cx="193357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显式约束：1 ≤ xᵢ ≤ 3</a:t>
              </a:r>
            </a:p>
          </p:txBody>
        </p:sp>
        <p:sp>
          <p:nvSpPr>
            <p:cNvPr id="28" name="Ellipse 28"/>
            <p:cNvSpPr/>
            <p:nvPr/>
          </p:nvSpPr>
          <p:spPr>
            <a:xfrm>
              <a:off x="786765" y="4749165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944880" y="4686300"/>
              <a:ext cx="34823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隐式约束：若顶点 i 和 j 之间有边，则 xᵢ</a:t>
              </a:r>
              <a:br/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≠ xⱼ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74573" y="5303996"/>
              <a:ext cx="3646170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每个顶点都可以取 m 种颜色中的任何一种，颜色可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以重复，所以每层都有 m 个分支。</a:t>
              </a:r>
            </a:p>
          </p:txBody>
        </p:sp>
      </p:grpSp>
      <p:grpSp>
        <p:nvGrpSpPr>
          <p:cNvPr id="135" name="c2-graph-1"/>
          <p:cNvGrpSpPr/>
          <p:nvPr/>
        </p:nvGrpSpPr>
        <p:grpSpPr>
          <a:xfrm>
            <a:off x="5745480" y="1655445"/>
            <a:ext cx="5361376" cy="2880360"/>
            <a:chOff x="5745480" y="1655445"/>
            <a:chExt cx="5361376" cy="2880360"/>
          </a:xfrm>
        </p:grpSpPr>
        <p:sp>
          <p:nvSpPr>
            <p:cNvPr id="32" name="Freeform 32"/>
            <p:cNvSpPr/>
            <p:nvPr/>
          </p:nvSpPr>
          <p:spPr>
            <a:xfrm>
              <a:off x="7760018" y="1738312"/>
              <a:ext cx="1544955" cy="640080"/>
            </a:xfrm>
            <a:custGeom>
              <a:avLst/>
              <a:gdLst/>
              <a:ahLst/>
              <a:cxnLst/>
              <a:rect l="l" t="t" r="r" b="b"/>
              <a:pathLst>
                <a:path w="1544955" h="640080">
                  <a:moveTo>
                    <a:pt x="1544955" y="0"/>
                  </a:moveTo>
                  <a:lnTo>
                    <a:pt x="0" y="64008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3" name="Freeform 33"/>
            <p:cNvSpPr/>
            <p:nvPr/>
          </p:nvSpPr>
          <p:spPr>
            <a:xfrm>
              <a:off x="6503670" y="2436495"/>
              <a:ext cx="1136333" cy="626745"/>
            </a:xfrm>
            <a:custGeom>
              <a:avLst/>
              <a:gdLst/>
              <a:ahLst/>
              <a:cxnLst/>
              <a:rect l="l" t="t" r="r" b="b"/>
              <a:pathLst>
                <a:path w="1136333" h="626745">
                  <a:moveTo>
                    <a:pt x="1136333" y="0"/>
                  </a:moveTo>
                  <a:lnTo>
                    <a:pt x="0" y="62674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4" name="Freeform 34"/>
            <p:cNvSpPr/>
            <p:nvPr/>
          </p:nvSpPr>
          <p:spPr>
            <a:xfrm>
              <a:off x="6057900" y="3152775"/>
              <a:ext cx="352425" cy="577215"/>
            </a:xfrm>
            <a:custGeom>
              <a:avLst/>
              <a:gdLst/>
              <a:ahLst/>
              <a:cxnLst/>
              <a:rect l="l" t="t" r="r" b="b"/>
              <a:pathLst>
                <a:path w="352425" h="577215">
                  <a:moveTo>
                    <a:pt x="352425" y="0"/>
                  </a:moveTo>
                  <a:lnTo>
                    <a:pt x="0" y="57721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5" name="Freeform 35"/>
            <p:cNvSpPr/>
            <p:nvPr/>
          </p:nvSpPr>
          <p:spPr>
            <a:xfrm>
              <a:off x="5899785" y="3852862"/>
              <a:ext cx="110490" cy="560070"/>
            </a:xfrm>
            <a:custGeom>
              <a:avLst/>
              <a:gdLst/>
              <a:ahLst/>
              <a:cxnLst/>
              <a:rect l="l" t="t" r="r" b="b"/>
              <a:pathLst>
                <a:path w="110490" h="560070">
                  <a:moveTo>
                    <a:pt x="110490" y="0"/>
                  </a:moveTo>
                  <a:lnTo>
                    <a:pt x="0" y="56007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6" name="Freeform 36"/>
            <p:cNvSpPr/>
            <p:nvPr/>
          </p:nvSpPr>
          <p:spPr>
            <a:xfrm>
              <a:off x="6023610" y="3853815"/>
              <a:ext cx="9525" cy="558165"/>
            </a:xfrm>
            <a:custGeom>
              <a:avLst/>
              <a:gdLst/>
              <a:ahLst/>
              <a:cxnLst/>
              <a:rect l="l" t="t" r="r" b="b"/>
              <a:pathLst>
                <a:path w="9525" h="558165">
                  <a:moveTo>
                    <a:pt x="0" y="0"/>
                  </a:moveTo>
                  <a:lnTo>
                    <a:pt x="0" y="55816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7" name="Freeform 37"/>
            <p:cNvSpPr/>
            <p:nvPr/>
          </p:nvSpPr>
          <p:spPr>
            <a:xfrm>
              <a:off x="6036945" y="3852862"/>
              <a:ext cx="116205" cy="560070"/>
            </a:xfrm>
            <a:custGeom>
              <a:avLst/>
              <a:gdLst/>
              <a:ahLst/>
              <a:cxnLst/>
              <a:rect l="l" t="t" r="r" b="b"/>
              <a:pathLst>
                <a:path w="116205" h="560070">
                  <a:moveTo>
                    <a:pt x="0" y="0"/>
                  </a:moveTo>
                  <a:lnTo>
                    <a:pt x="116205" y="56007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8" name="Freeform 38"/>
            <p:cNvSpPr/>
            <p:nvPr/>
          </p:nvSpPr>
          <p:spPr>
            <a:xfrm>
              <a:off x="6445568" y="3162300"/>
              <a:ext cx="9525" cy="558165"/>
            </a:xfrm>
            <a:custGeom>
              <a:avLst/>
              <a:gdLst/>
              <a:ahLst/>
              <a:cxnLst/>
              <a:rect l="l" t="t" r="r" b="b"/>
              <a:pathLst>
                <a:path w="9525" h="558165">
                  <a:moveTo>
                    <a:pt x="0" y="0"/>
                  </a:moveTo>
                  <a:lnTo>
                    <a:pt x="0" y="55816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9" name="Freeform 39"/>
            <p:cNvSpPr/>
            <p:nvPr/>
          </p:nvSpPr>
          <p:spPr>
            <a:xfrm>
              <a:off x="6316028" y="3852862"/>
              <a:ext cx="116205" cy="560070"/>
            </a:xfrm>
            <a:custGeom>
              <a:avLst/>
              <a:gdLst/>
              <a:ahLst/>
              <a:cxnLst/>
              <a:rect l="l" t="t" r="r" b="b"/>
              <a:pathLst>
                <a:path w="116205" h="560070">
                  <a:moveTo>
                    <a:pt x="116205" y="0"/>
                  </a:moveTo>
                  <a:lnTo>
                    <a:pt x="0" y="56007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0" name="Freeform 40"/>
            <p:cNvSpPr/>
            <p:nvPr/>
          </p:nvSpPr>
          <p:spPr>
            <a:xfrm>
              <a:off x="6445568" y="3853815"/>
              <a:ext cx="9525" cy="558165"/>
            </a:xfrm>
            <a:custGeom>
              <a:avLst/>
              <a:gdLst/>
              <a:ahLst/>
              <a:cxnLst/>
              <a:rect l="l" t="t" r="r" b="b"/>
              <a:pathLst>
                <a:path w="9525" h="558165">
                  <a:moveTo>
                    <a:pt x="0" y="0"/>
                  </a:moveTo>
                  <a:lnTo>
                    <a:pt x="0" y="55816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1" name="Freeform 41"/>
            <p:cNvSpPr/>
            <p:nvPr/>
          </p:nvSpPr>
          <p:spPr>
            <a:xfrm>
              <a:off x="6457950" y="3852862"/>
              <a:ext cx="110490" cy="560070"/>
            </a:xfrm>
            <a:custGeom>
              <a:avLst/>
              <a:gdLst/>
              <a:ahLst/>
              <a:cxnLst/>
              <a:rect l="l" t="t" r="r" b="b"/>
              <a:pathLst>
                <a:path w="110490" h="560070">
                  <a:moveTo>
                    <a:pt x="0" y="0"/>
                  </a:moveTo>
                  <a:lnTo>
                    <a:pt x="110490" y="56007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2" name="Freeform 42"/>
            <p:cNvSpPr/>
            <p:nvPr/>
          </p:nvSpPr>
          <p:spPr>
            <a:xfrm>
              <a:off x="6479858" y="3152775"/>
              <a:ext cx="346710" cy="577215"/>
            </a:xfrm>
            <a:custGeom>
              <a:avLst/>
              <a:gdLst/>
              <a:ahLst/>
              <a:cxnLst/>
              <a:rect l="l" t="t" r="r" b="b"/>
              <a:pathLst>
                <a:path w="346710" h="577215">
                  <a:moveTo>
                    <a:pt x="0" y="0"/>
                  </a:moveTo>
                  <a:lnTo>
                    <a:pt x="346710" y="57721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3" name="Freeform 43"/>
            <p:cNvSpPr/>
            <p:nvPr/>
          </p:nvSpPr>
          <p:spPr>
            <a:xfrm>
              <a:off x="6737032" y="3852862"/>
              <a:ext cx="110490" cy="560070"/>
            </a:xfrm>
            <a:custGeom>
              <a:avLst/>
              <a:gdLst/>
              <a:ahLst/>
              <a:cxnLst/>
              <a:rect l="l" t="t" r="r" b="b"/>
              <a:pathLst>
                <a:path w="110490" h="560070">
                  <a:moveTo>
                    <a:pt x="110490" y="0"/>
                  </a:moveTo>
                  <a:lnTo>
                    <a:pt x="0" y="56007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4" name="Freeform 44"/>
            <p:cNvSpPr/>
            <p:nvPr/>
          </p:nvSpPr>
          <p:spPr>
            <a:xfrm>
              <a:off x="6860858" y="3853815"/>
              <a:ext cx="9525" cy="558165"/>
            </a:xfrm>
            <a:custGeom>
              <a:avLst/>
              <a:gdLst/>
              <a:ahLst/>
              <a:cxnLst/>
              <a:rect l="l" t="t" r="r" b="b"/>
              <a:pathLst>
                <a:path w="9525" h="558165">
                  <a:moveTo>
                    <a:pt x="0" y="0"/>
                  </a:moveTo>
                  <a:lnTo>
                    <a:pt x="0" y="55816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5" name="Freeform 45"/>
            <p:cNvSpPr/>
            <p:nvPr/>
          </p:nvSpPr>
          <p:spPr>
            <a:xfrm>
              <a:off x="6874192" y="3852862"/>
              <a:ext cx="110490" cy="560070"/>
            </a:xfrm>
            <a:custGeom>
              <a:avLst/>
              <a:gdLst/>
              <a:ahLst/>
              <a:cxnLst/>
              <a:rect l="l" t="t" r="r" b="b"/>
              <a:pathLst>
                <a:path w="110490" h="560070">
                  <a:moveTo>
                    <a:pt x="0" y="0"/>
                  </a:moveTo>
                  <a:lnTo>
                    <a:pt x="110490" y="56007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6" name="Freeform 46"/>
            <p:cNvSpPr/>
            <p:nvPr/>
          </p:nvSpPr>
          <p:spPr>
            <a:xfrm>
              <a:off x="7698105" y="2470785"/>
              <a:ext cx="9525" cy="558165"/>
            </a:xfrm>
            <a:custGeom>
              <a:avLst/>
              <a:gdLst/>
              <a:ahLst/>
              <a:cxnLst/>
              <a:rect l="l" t="t" r="r" b="b"/>
              <a:pathLst>
                <a:path w="9525" h="558165">
                  <a:moveTo>
                    <a:pt x="0" y="0"/>
                  </a:moveTo>
                  <a:lnTo>
                    <a:pt x="0" y="55816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7" name="Freeform 47"/>
            <p:cNvSpPr/>
            <p:nvPr/>
          </p:nvSpPr>
          <p:spPr>
            <a:xfrm>
              <a:off x="7311390" y="3152775"/>
              <a:ext cx="352425" cy="577215"/>
            </a:xfrm>
            <a:custGeom>
              <a:avLst/>
              <a:gdLst/>
              <a:ahLst/>
              <a:cxnLst/>
              <a:rect l="l" t="t" r="r" b="b"/>
              <a:pathLst>
                <a:path w="352425" h="577215">
                  <a:moveTo>
                    <a:pt x="352425" y="0"/>
                  </a:moveTo>
                  <a:lnTo>
                    <a:pt x="0" y="57721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8" name="Freeform 48"/>
            <p:cNvSpPr/>
            <p:nvPr/>
          </p:nvSpPr>
          <p:spPr>
            <a:xfrm>
              <a:off x="7153275" y="3852862"/>
              <a:ext cx="110490" cy="560070"/>
            </a:xfrm>
            <a:custGeom>
              <a:avLst/>
              <a:gdLst/>
              <a:ahLst/>
              <a:cxnLst/>
              <a:rect l="l" t="t" r="r" b="b"/>
              <a:pathLst>
                <a:path w="110490" h="560070">
                  <a:moveTo>
                    <a:pt x="110490" y="0"/>
                  </a:moveTo>
                  <a:lnTo>
                    <a:pt x="0" y="56007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9" name="Freeform 49"/>
            <p:cNvSpPr/>
            <p:nvPr/>
          </p:nvSpPr>
          <p:spPr>
            <a:xfrm>
              <a:off x="7276148" y="3853815"/>
              <a:ext cx="9525" cy="558165"/>
            </a:xfrm>
            <a:custGeom>
              <a:avLst/>
              <a:gdLst/>
              <a:ahLst/>
              <a:cxnLst/>
              <a:rect l="l" t="t" r="r" b="b"/>
              <a:pathLst>
                <a:path w="9525" h="558165">
                  <a:moveTo>
                    <a:pt x="0" y="0"/>
                  </a:moveTo>
                  <a:lnTo>
                    <a:pt x="0" y="55816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50" name="Freeform 50"/>
            <p:cNvSpPr/>
            <p:nvPr/>
          </p:nvSpPr>
          <p:spPr>
            <a:xfrm>
              <a:off x="7289482" y="3852862"/>
              <a:ext cx="116205" cy="560070"/>
            </a:xfrm>
            <a:custGeom>
              <a:avLst/>
              <a:gdLst/>
              <a:ahLst/>
              <a:cxnLst/>
              <a:rect l="l" t="t" r="r" b="b"/>
              <a:pathLst>
                <a:path w="116205" h="560070">
                  <a:moveTo>
                    <a:pt x="0" y="0"/>
                  </a:moveTo>
                  <a:lnTo>
                    <a:pt x="116205" y="56007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51" name="Freeform 51"/>
            <p:cNvSpPr/>
            <p:nvPr/>
          </p:nvSpPr>
          <p:spPr>
            <a:xfrm>
              <a:off x="7698105" y="3162300"/>
              <a:ext cx="9525" cy="558165"/>
            </a:xfrm>
            <a:custGeom>
              <a:avLst/>
              <a:gdLst/>
              <a:ahLst/>
              <a:cxnLst/>
              <a:rect l="l" t="t" r="r" b="b"/>
              <a:pathLst>
                <a:path w="9525" h="558165">
                  <a:moveTo>
                    <a:pt x="0" y="0"/>
                  </a:moveTo>
                  <a:lnTo>
                    <a:pt x="0" y="55816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52" name="Freeform 52"/>
            <p:cNvSpPr/>
            <p:nvPr/>
          </p:nvSpPr>
          <p:spPr>
            <a:xfrm>
              <a:off x="7568565" y="3852862"/>
              <a:ext cx="116205" cy="560070"/>
            </a:xfrm>
            <a:custGeom>
              <a:avLst/>
              <a:gdLst/>
              <a:ahLst/>
              <a:cxnLst/>
              <a:rect l="l" t="t" r="r" b="b"/>
              <a:pathLst>
                <a:path w="116205" h="560070">
                  <a:moveTo>
                    <a:pt x="116205" y="0"/>
                  </a:moveTo>
                  <a:lnTo>
                    <a:pt x="0" y="56007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53" name="Freeform 53"/>
            <p:cNvSpPr/>
            <p:nvPr/>
          </p:nvSpPr>
          <p:spPr>
            <a:xfrm>
              <a:off x="7698105" y="3853815"/>
              <a:ext cx="9525" cy="558165"/>
            </a:xfrm>
            <a:custGeom>
              <a:avLst/>
              <a:gdLst/>
              <a:ahLst/>
              <a:cxnLst/>
              <a:rect l="l" t="t" r="r" b="b"/>
              <a:pathLst>
                <a:path w="9525" h="558165">
                  <a:moveTo>
                    <a:pt x="0" y="0"/>
                  </a:moveTo>
                  <a:lnTo>
                    <a:pt x="0" y="55816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54" name="Freeform 54"/>
            <p:cNvSpPr/>
            <p:nvPr/>
          </p:nvSpPr>
          <p:spPr>
            <a:xfrm>
              <a:off x="7711440" y="3852862"/>
              <a:ext cx="110490" cy="560070"/>
            </a:xfrm>
            <a:custGeom>
              <a:avLst/>
              <a:gdLst/>
              <a:ahLst/>
              <a:cxnLst/>
              <a:rect l="l" t="t" r="r" b="b"/>
              <a:pathLst>
                <a:path w="110490" h="560070">
                  <a:moveTo>
                    <a:pt x="0" y="0"/>
                  </a:moveTo>
                  <a:lnTo>
                    <a:pt x="110490" y="56007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55" name="Freeform 55"/>
            <p:cNvSpPr/>
            <p:nvPr/>
          </p:nvSpPr>
          <p:spPr>
            <a:xfrm>
              <a:off x="7732395" y="3152775"/>
              <a:ext cx="346710" cy="577215"/>
            </a:xfrm>
            <a:custGeom>
              <a:avLst/>
              <a:gdLst/>
              <a:ahLst/>
              <a:cxnLst/>
              <a:rect l="l" t="t" r="r" b="b"/>
              <a:pathLst>
                <a:path w="346710" h="577215">
                  <a:moveTo>
                    <a:pt x="0" y="0"/>
                  </a:moveTo>
                  <a:lnTo>
                    <a:pt x="346710" y="57721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56" name="Freeform 56"/>
            <p:cNvSpPr/>
            <p:nvPr/>
          </p:nvSpPr>
          <p:spPr>
            <a:xfrm>
              <a:off x="7990522" y="3852862"/>
              <a:ext cx="110490" cy="560070"/>
            </a:xfrm>
            <a:custGeom>
              <a:avLst/>
              <a:gdLst/>
              <a:ahLst/>
              <a:cxnLst/>
              <a:rect l="l" t="t" r="r" b="b"/>
              <a:pathLst>
                <a:path w="110490" h="560070">
                  <a:moveTo>
                    <a:pt x="110490" y="0"/>
                  </a:moveTo>
                  <a:lnTo>
                    <a:pt x="0" y="56007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57" name="Freeform 57"/>
            <p:cNvSpPr/>
            <p:nvPr/>
          </p:nvSpPr>
          <p:spPr>
            <a:xfrm>
              <a:off x="8113395" y="3853815"/>
              <a:ext cx="9525" cy="558165"/>
            </a:xfrm>
            <a:custGeom>
              <a:avLst/>
              <a:gdLst/>
              <a:ahLst/>
              <a:cxnLst/>
              <a:rect l="l" t="t" r="r" b="b"/>
              <a:pathLst>
                <a:path w="9525" h="558165">
                  <a:moveTo>
                    <a:pt x="0" y="0"/>
                  </a:moveTo>
                  <a:lnTo>
                    <a:pt x="0" y="55816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58" name="Freeform 58"/>
            <p:cNvSpPr/>
            <p:nvPr/>
          </p:nvSpPr>
          <p:spPr>
            <a:xfrm>
              <a:off x="8127682" y="3852862"/>
              <a:ext cx="115253" cy="560070"/>
            </a:xfrm>
            <a:custGeom>
              <a:avLst/>
              <a:gdLst/>
              <a:ahLst/>
              <a:cxnLst/>
              <a:rect l="l" t="t" r="r" b="b"/>
              <a:pathLst>
                <a:path w="115253" h="560070">
                  <a:moveTo>
                    <a:pt x="0" y="0"/>
                  </a:moveTo>
                  <a:lnTo>
                    <a:pt x="115253" y="56007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59" name="Freeform 59"/>
            <p:cNvSpPr/>
            <p:nvPr/>
          </p:nvSpPr>
          <p:spPr>
            <a:xfrm>
              <a:off x="7757160" y="2436495"/>
              <a:ext cx="1135380" cy="626745"/>
            </a:xfrm>
            <a:custGeom>
              <a:avLst/>
              <a:gdLst/>
              <a:ahLst/>
              <a:cxnLst/>
              <a:rect l="l" t="t" r="r" b="b"/>
              <a:pathLst>
                <a:path w="1135380" h="626745">
                  <a:moveTo>
                    <a:pt x="0" y="0"/>
                  </a:moveTo>
                  <a:lnTo>
                    <a:pt x="1135380" y="62674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60" name="Freeform 60"/>
            <p:cNvSpPr/>
            <p:nvPr/>
          </p:nvSpPr>
          <p:spPr>
            <a:xfrm>
              <a:off x="8570595" y="3152775"/>
              <a:ext cx="346710" cy="577215"/>
            </a:xfrm>
            <a:custGeom>
              <a:avLst/>
              <a:gdLst/>
              <a:ahLst/>
              <a:cxnLst/>
              <a:rect l="l" t="t" r="r" b="b"/>
              <a:pathLst>
                <a:path w="346710" h="577215">
                  <a:moveTo>
                    <a:pt x="346710" y="0"/>
                  </a:moveTo>
                  <a:lnTo>
                    <a:pt x="0" y="57721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61" name="Freeform 61"/>
            <p:cNvSpPr/>
            <p:nvPr/>
          </p:nvSpPr>
          <p:spPr>
            <a:xfrm>
              <a:off x="8406765" y="3852862"/>
              <a:ext cx="115253" cy="560070"/>
            </a:xfrm>
            <a:custGeom>
              <a:avLst/>
              <a:gdLst/>
              <a:ahLst/>
              <a:cxnLst/>
              <a:rect l="l" t="t" r="r" b="b"/>
              <a:pathLst>
                <a:path w="115253" h="560070">
                  <a:moveTo>
                    <a:pt x="115253" y="0"/>
                  </a:moveTo>
                  <a:lnTo>
                    <a:pt x="0" y="56007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62" name="Freeform 62"/>
            <p:cNvSpPr/>
            <p:nvPr/>
          </p:nvSpPr>
          <p:spPr>
            <a:xfrm>
              <a:off x="8536305" y="3853815"/>
              <a:ext cx="9525" cy="558165"/>
            </a:xfrm>
            <a:custGeom>
              <a:avLst/>
              <a:gdLst/>
              <a:ahLst/>
              <a:cxnLst/>
              <a:rect l="l" t="t" r="r" b="b"/>
              <a:pathLst>
                <a:path w="9525" h="558165">
                  <a:moveTo>
                    <a:pt x="0" y="0"/>
                  </a:moveTo>
                  <a:lnTo>
                    <a:pt x="0" y="55816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63" name="Freeform 63"/>
            <p:cNvSpPr/>
            <p:nvPr/>
          </p:nvSpPr>
          <p:spPr>
            <a:xfrm>
              <a:off x="8548688" y="3852862"/>
              <a:ext cx="110490" cy="560070"/>
            </a:xfrm>
            <a:custGeom>
              <a:avLst/>
              <a:gdLst/>
              <a:ahLst/>
              <a:cxnLst/>
              <a:rect l="l" t="t" r="r" b="b"/>
              <a:pathLst>
                <a:path w="110490" h="560070">
                  <a:moveTo>
                    <a:pt x="0" y="0"/>
                  </a:moveTo>
                  <a:lnTo>
                    <a:pt x="110490" y="56007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64" name="Freeform 64"/>
            <p:cNvSpPr/>
            <p:nvPr/>
          </p:nvSpPr>
          <p:spPr>
            <a:xfrm>
              <a:off x="8951595" y="3162300"/>
              <a:ext cx="9525" cy="558165"/>
            </a:xfrm>
            <a:custGeom>
              <a:avLst/>
              <a:gdLst/>
              <a:ahLst/>
              <a:cxnLst/>
              <a:rect l="l" t="t" r="r" b="b"/>
              <a:pathLst>
                <a:path w="9525" h="558165">
                  <a:moveTo>
                    <a:pt x="0" y="0"/>
                  </a:moveTo>
                  <a:lnTo>
                    <a:pt x="0" y="55816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65" name="Freeform 65"/>
            <p:cNvSpPr/>
            <p:nvPr/>
          </p:nvSpPr>
          <p:spPr>
            <a:xfrm>
              <a:off x="8822055" y="3852862"/>
              <a:ext cx="116205" cy="560070"/>
            </a:xfrm>
            <a:custGeom>
              <a:avLst/>
              <a:gdLst/>
              <a:ahLst/>
              <a:cxnLst/>
              <a:rect l="l" t="t" r="r" b="b"/>
              <a:pathLst>
                <a:path w="116205" h="560070">
                  <a:moveTo>
                    <a:pt x="116205" y="0"/>
                  </a:moveTo>
                  <a:lnTo>
                    <a:pt x="0" y="56007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66" name="Freeform 66"/>
            <p:cNvSpPr/>
            <p:nvPr/>
          </p:nvSpPr>
          <p:spPr>
            <a:xfrm>
              <a:off x="8951595" y="3853815"/>
              <a:ext cx="9525" cy="558165"/>
            </a:xfrm>
            <a:custGeom>
              <a:avLst/>
              <a:gdLst/>
              <a:ahLst/>
              <a:cxnLst/>
              <a:rect l="l" t="t" r="r" b="b"/>
              <a:pathLst>
                <a:path w="9525" h="558165">
                  <a:moveTo>
                    <a:pt x="0" y="0"/>
                  </a:moveTo>
                  <a:lnTo>
                    <a:pt x="0" y="55816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67" name="Freeform 67"/>
            <p:cNvSpPr/>
            <p:nvPr/>
          </p:nvSpPr>
          <p:spPr>
            <a:xfrm>
              <a:off x="8963978" y="3852862"/>
              <a:ext cx="110490" cy="560070"/>
            </a:xfrm>
            <a:custGeom>
              <a:avLst/>
              <a:gdLst/>
              <a:ahLst/>
              <a:cxnLst/>
              <a:rect l="l" t="t" r="r" b="b"/>
              <a:pathLst>
                <a:path w="110490" h="560070">
                  <a:moveTo>
                    <a:pt x="0" y="0"/>
                  </a:moveTo>
                  <a:lnTo>
                    <a:pt x="110490" y="56007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68" name="Freeform 68"/>
            <p:cNvSpPr/>
            <p:nvPr/>
          </p:nvSpPr>
          <p:spPr>
            <a:xfrm>
              <a:off x="8985885" y="3152775"/>
              <a:ext cx="346710" cy="577215"/>
            </a:xfrm>
            <a:custGeom>
              <a:avLst/>
              <a:gdLst/>
              <a:ahLst/>
              <a:cxnLst/>
              <a:rect l="l" t="t" r="r" b="b"/>
              <a:pathLst>
                <a:path w="346710" h="577215">
                  <a:moveTo>
                    <a:pt x="0" y="0"/>
                  </a:moveTo>
                  <a:lnTo>
                    <a:pt x="346710" y="57721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69" name="Freeform 69"/>
            <p:cNvSpPr/>
            <p:nvPr/>
          </p:nvSpPr>
          <p:spPr>
            <a:xfrm>
              <a:off x="9243060" y="3852862"/>
              <a:ext cx="110490" cy="560070"/>
            </a:xfrm>
            <a:custGeom>
              <a:avLst/>
              <a:gdLst/>
              <a:ahLst/>
              <a:cxnLst/>
              <a:rect l="l" t="t" r="r" b="b"/>
              <a:pathLst>
                <a:path w="110490" h="560070">
                  <a:moveTo>
                    <a:pt x="110490" y="0"/>
                  </a:moveTo>
                  <a:lnTo>
                    <a:pt x="0" y="56007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70" name="Freeform 70"/>
            <p:cNvSpPr/>
            <p:nvPr/>
          </p:nvSpPr>
          <p:spPr>
            <a:xfrm>
              <a:off x="9366885" y="3853815"/>
              <a:ext cx="9525" cy="558165"/>
            </a:xfrm>
            <a:custGeom>
              <a:avLst/>
              <a:gdLst/>
              <a:ahLst/>
              <a:cxnLst/>
              <a:rect l="l" t="t" r="r" b="b"/>
              <a:pathLst>
                <a:path w="9525" h="558165">
                  <a:moveTo>
                    <a:pt x="0" y="0"/>
                  </a:moveTo>
                  <a:lnTo>
                    <a:pt x="0" y="55816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71" name="Freeform 71"/>
            <p:cNvSpPr/>
            <p:nvPr/>
          </p:nvSpPr>
          <p:spPr>
            <a:xfrm>
              <a:off x="9380220" y="3852862"/>
              <a:ext cx="116205" cy="560070"/>
            </a:xfrm>
            <a:custGeom>
              <a:avLst/>
              <a:gdLst/>
              <a:ahLst/>
              <a:cxnLst/>
              <a:rect l="l" t="t" r="r" b="b"/>
              <a:pathLst>
                <a:path w="116205" h="560070">
                  <a:moveTo>
                    <a:pt x="0" y="0"/>
                  </a:moveTo>
                  <a:lnTo>
                    <a:pt x="116205" y="56007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72" name="Freeform 72"/>
            <p:cNvSpPr/>
            <p:nvPr/>
          </p:nvSpPr>
          <p:spPr>
            <a:xfrm>
              <a:off x="9414510" y="1759268"/>
              <a:ext cx="605790" cy="598170"/>
            </a:xfrm>
            <a:custGeom>
              <a:avLst/>
              <a:gdLst/>
              <a:ahLst/>
              <a:cxnLst/>
              <a:rect l="l" t="t" r="r" b="b"/>
              <a:pathLst>
                <a:path w="605790" h="598170">
                  <a:moveTo>
                    <a:pt x="0" y="0"/>
                  </a:moveTo>
                  <a:lnTo>
                    <a:pt x="605790" y="59817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73" name="Freeform 73"/>
            <p:cNvSpPr/>
            <p:nvPr/>
          </p:nvSpPr>
          <p:spPr>
            <a:xfrm>
              <a:off x="9428798" y="1738312"/>
              <a:ext cx="1551622" cy="640080"/>
            </a:xfrm>
            <a:custGeom>
              <a:avLst/>
              <a:gdLst/>
              <a:ahLst/>
              <a:cxnLst/>
              <a:rect l="l" t="t" r="r" b="b"/>
              <a:pathLst>
                <a:path w="1551622" h="640080">
                  <a:moveTo>
                    <a:pt x="0" y="0"/>
                  </a:moveTo>
                  <a:lnTo>
                    <a:pt x="1551622" y="64008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74" name="Ellipse 74"/>
            <p:cNvSpPr/>
            <p:nvPr/>
          </p:nvSpPr>
          <p:spPr>
            <a:xfrm>
              <a:off x="9309735" y="1655445"/>
              <a:ext cx="114300" cy="114300"/>
            </a:xfrm>
            <a:prstGeom prst="ellipse">
              <a:avLst/>
            </a:prstGeom>
            <a:solidFill>
              <a:srgbClr val="2F4B9A"/>
            </a:solidFill>
            <a:ln w="17145">
              <a:solidFill>
                <a:srgbClr val="2F4B9A"/>
              </a:solidFill>
            </a:ln>
          </p:spPr>
        </p:sp>
        <p:sp>
          <p:nvSpPr>
            <p:cNvPr id="75" name="Ellipse 75"/>
            <p:cNvSpPr/>
            <p:nvPr/>
          </p:nvSpPr>
          <p:spPr>
            <a:xfrm>
              <a:off x="7640955" y="2346960"/>
              <a:ext cx="114300" cy="1143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76" name="Ellipse 76"/>
            <p:cNvSpPr/>
            <p:nvPr/>
          </p:nvSpPr>
          <p:spPr>
            <a:xfrm>
              <a:off x="6388418" y="3038475"/>
              <a:ext cx="114300" cy="1143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77" name="Ellipse 77"/>
            <p:cNvSpPr/>
            <p:nvPr/>
          </p:nvSpPr>
          <p:spPr>
            <a:xfrm>
              <a:off x="5966460" y="3729990"/>
              <a:ext cx="114300" cy="1143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78" name="Ellipse 78"/>
            <p:cNvSpPr/>
            <p:nvPr/>
          </p:nvSpPr>
          <p:spPr>
            <a:xfrm>
              <a:off x="5830252" y="4421505"/>
              <a:ext cx="114300" cy="1143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79" name="Ellipse 79"/>
            <p:cNvSpPr/>
            <p:nvPr/>
          </p:nvSpPr>
          <p:spPr>
            <a:xfrm>
              <a:off x="5966460" y="4421505"/>
              <a:ext cx="114300" cy="1143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80" name="Ellipse 80"/>
            <p:cNvSpPr/>
            <p:nvPr/>
          </p:nvSpPr>
          <p:spPr>
            <a:xfrm>
              <a:off x="6109335" y="4421505"/>
              <a:ext cx="114300" cy="1143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81" name="Ellipse 81"/>
            <p:cNvSpPr/>
            <p:nvPr/>
          </p:nvSpPr>
          <p:spPr>
            <a:xfrm>
              <a:off x="6388418" y="3729990"/>
              <a:ext cx="114300" cy="1143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82" name="Ellipse 82"/>
            <p:cNvSpPr/>
            <p:nvPr/>
          </p:nvSpPr>
          <p:spPr>
            <a:xfrm>
              <a:off x="6245542" y="4421505"/>
              <a:ext cx="114300" cy="1143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83" name="Ellipse 83"/>
            <p:cNvSpPr/>
            <p:nvPr/>
          </p:nvSpPr>
          <p:spPr>
            <a:xfrm>
              <a:off x="6388418" y="4421505"/>
              <a:ext cx="114300" cy="1143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84" name="Ellipse 84"/>
            <p:cNvSpPr/>
            <p:nvPr/>
          </p:nvSpPr>
          <p:spPr>
            <a:xfrm>
              <a:off x="6524625" y="4421505"/>
              <a:ext cx="114300" cy="1143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85" name="Ellipse 85"/>
            <p:cNvSpPr/>
            <p:nvPr/>
          </p:nvSpPr>
          <p:spPr>
            <a:xfrm>
              <a:off x="6803708" y="3729990"/>
              <a:ext cx="114300" cy="1143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86" name="Ellipse 86"/>
            <p:cNvSpPr/>
            <p:nvPr/>
          </p:nvSpPr>
          <p:spPr>
            <a:xfrm>
              <a:off x="6667500" y="4421505"/>
              <a:ext cx="114300" cy="1143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87" name="Ellipse 87"/>
            <p:cNvSpPr/>
            <p:nvPr/>
          </p:nvSpPr>
          <p:spPr>
            <a:xfrm>
              <a:off x="6803708" y="4421505"/>
              <a:ext cx="114300" cy="1143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88" name="Ellipse 88"/>
            <p:cNvSpPr/>
            <p:nvPr/>
          </p:nvSpPr>
          <p:spPr>
            <a:xfrm>
              <a:off x="6939915" y="4421505"/>
              <a:ext cx="114300" cy="1143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89" name="Ellipse 89"/>
            <p:cNvSpPr/>
            <p:nvPr/>
          </p:nvSpPr>
          <p:spPr>
            <a:xfrm>
              <a:off x="7640955" y="3038475"/>
              <a:ext cx="114300" cy="1143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90" name="Ellipse 90"/>
            <p:cNvSpPr/>
            <p:nvPr/>
          </p:nvSpPr>
          <p:spPr>
            <a:xfrm>
              <a:off x="7218998" y="3729990"/>
              <a:ext cx="114300" cy="1143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91" name="Ellipse 91"/>
            <p:cNvSpPr/>
            <p:nvPr/>
          </p:nvSpPr>
          <p:spPr>
            <a:xfrm>
              <a:off x="7082790" y="4421505"/>
              <a:ext cx="114300" cy="1143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92" name="Ellipse 92"/>
            <p:cNvSpPr/>
            <p:nvPr/>
          </p:nvSpPr>
          <p:spPr>
            <a:xfrm>
              <a:off x="7218998" y="4421505"/>
              <a:ext cx="114300" cy="1143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93" name="Ellipse 93"/>
            <p:cNvSpPr/>
            <p:nvPr/>
          </p:nvSpPr>
          <p:spPr>
            <a:xfrm>
              <a:off x="7361872" y="4421505"/>
              <a:ext cx="114300" cy="1143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94" name="Ellipse 94"/>
            <p:cNvSpPr/>
            <p:nvPr/>
          </p:nvSpPr>
          <p:spPr>
            <a:xfrm>
              <a:off x="7640955" y="3729990"/>
              <a:ext cx="114300" cy="1143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95" name="Ellipse 95"/>
            <p:cNvSpPr/>
            <p:nvPr/>
          </p:nvSpPr>
          <p:spPr>
            <a:xfrm>
              <a:off x="7498080" y="4421505"/>
              <a:ext cx="114300" cy="1143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96" name="Ellipse 96"/>
            <p:cNvSpPr/>
            <p:nvPr/>
          </p:nvSpPr>
          <p:spPr>
            <a:xfrm>
              <a:off x="7640955" y="4421505"/>
              <a:ext cx="114300" cy="1143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97" name="Ellipse 97"/>
            <p:cNvSpPr/>
            <p:nvPr/>
          </p:nvSpPr>
          <p:spPr>
            <a:xfrm>
              <a:off x="7777162" y="4421505"/>
              <a:ext cx="114300" cy="1143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98" name="Ellipse 98"/>
            <p:cNvSpPr/>
            <p:nvPr/>
          </p:nvSpPr>
          <p:spPr>
            <a:xfrm>
              <a:off x="8056245" y="3729990"/>
              <a:ext cx="114300" cy="1143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99" name="Ellipse 99"/>
            <p:cNvSpPr/>
            <p:nvPr/>
          </p:nvSpPr>
          <p:spPr>
            <a:xfrm>
              <a:off x="7920038" y="4421505"/>
              <a:ext cx="114300" cy="1143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100" name="Ellipse 100"/>
            <p:cNvSpPr/>
            <p:nvPr/>
          </p:nvSpPr>
          <p:spPr>
            <a:xfrm>
              <a:off x="8056245" y="4421505"/>
              <a:ext cx="114300" cy="1143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101" name="Ellipse 101"/>
            <p:cNvSpPr/>
            <p:nvPr/>
          </p:nvSpPr>
          <p:spPr>
            <a:xfrm>
              <a:off x="8199120" y="4421505"/>
              <a:ext cx="114300" cy="1143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102" name="Ellipse 102"/>
            <p:cNvSpPr/>
            <p:nvPr/>
          </p:nvSpPr>
          <p:spPr>
            <a:xfrm>
              <a:off x="8894445" y="3038475"/>
              <a:ext cx="114300" cy="1143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103" name="Ellipse 103"/>
            <p:cNvSpPr/>
            <p:nvPr/>
          </p:nvSpPr>
          <p:spPr>
            <a:xfrm>
              <a:off x="8479155" y="3729990"/>
              <a:ext cx="114300" cy="1143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104" name="Ellipse 104"/>
            <p:cNvSpPr/>
            <p:nvPr/>
          </p:nvSpPr>
          <p:spPr>
            <a:xfrm>
              <a:off x="8336280" y="4421505"/>
              <a:ext cx="114300" cy="1143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105" name="Ellipse 105"/>
            <p:cNvSpPr/>
            <p:nvPr/>
          </p:nvSpPr>
          <p:spPr>
            <a:xfrm>
              <a:off x="8479155" y="4421505"/>
              <a:ext cx="114300" cy="1143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106" name="Ellipse 106"/>
            <p:cNvSpPr/>
            <p:nvPr/>
          </p:nvSpPr>
          <p:spPr>
            <a:xfrm>
              <a:off x="8615362" y="4421505"/>
              <a:ext cx="114300" cy="1143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107" name="Ellipse 107"/>
            <p:cNvSpPr/>
            <p:nvPr/>
          </p:nvSpPr>
          <p:spPr>
            <a:xfrm>
              <a:off x="8894445" y="3729990"/>
              <a:ext cx="114300" cy="1143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108" name="Ellipse 108"/>
            <p:cNvSpPr/>
            <p:nvPr/>
          </p:nvSpPr>
          <p:spPr>
            <a:xfrm>
              <a:off x="8751570" y="4421505"/>
              <a:ext cx="114300" cy="1143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109" name="Ellipse 109"/>
            <p:cNvSpPr/>
            <p:nvPr/>
          </p:nvSpPr>
          <p:spPr>
            <a:xfrm>
              <a:off x="8894445" y="4421505"/>
              <a:ext cx="114300" cy="1143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110" name="Ellipse 110"/>
            <p:cNvSpPr/>
            <p:nvPr/>
          </p:nvSpPr>
          <p:spPr>
            <a:xfrm>
              <a:off x="9030652" y="4421505"/>
              <a:ext cx="114300" cy="1143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111" name="Ellipse 111"/>
            <p:cNvSpPr/>
            <p:nvPr/>
          </p:nvSpPr>
          <p:spPr>
            <a:xfrm>
              <a:off x="9309735" y="3729990"/>
              <a:ext cx="114300" cy="1143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112" name="Ellipse 112"/>
            <p:cNvSpPr/>
            <p:nvPr/>
          </p:nvSpPr>
          <p:spPr>
            <a:xfrm>
              <a:off x="9173528" y="4421505"/>
              <a:ext cx="114300" cy="1143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113" name="Ellipse 113"/>
            <p:cNvSpPr/>
            <p:nvPr/>
          </p:nvSpPr>
          <p:spPr>
            <a:xfrm>
              <a:off x="9309735" y="4421505"/>
              <a:ext cx="114300" cy="1143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114" name="Ellipse 114"/>
            <p:cNvSpPr/>
            <p:nvPr/>
          </p:nvSpPr>
          <p:spPr>
            <a:xfrm>
              <a:off x="9452610" y="4421505"/>
              <a:ext cx="114300" cy="1143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115" name="Ellipse 115"/>
            <p:cNvSpPr/>
            <p:nvPr/>
          </p:nvSpPr>
          <p:spPr>
            <a:xfrm>
              <a:off x="10010775" y="2346960"/>
              <a:ext cx="114300" cy="1143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116" name="Ellipse 116"/>
            <p:cNvSpPr/>
            <p:nvPr/>
          </p:nvSpPr>
          <p:spPr>
            <a:xfrm>
              <a:off x="10984230" y="2346960"/>
              <a:ext cx="114300" cy="1143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117" name="TextBox 117"/>
            <p:cNvSpPr txBox="1"/>
            <p:nvPr/>
          </p:nvSpPr>
          <p:spPr>
            <a:xfrm>
              <a:off x="10002449" y="2496026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……</a:t>
              </a:r>
            </a:p>
          </p:txBody>
        </p:sp>
        <p:sp>
          <p:nvSpPr>
            <p:cNvPr id="118" name="TextBox 118"/>
            <p:cNvSpPr txBox="1"/>
            <p:nvPr/>
          </p:nvSpPr>
          <p:spPr>
            <a:xfrm>
              <a:off x="10975904" y="2496026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……</a:t>
              </a:r>
            </a:p>
          </p:txBody>
        </p:sp>
        <p:sp>
          <p:nvSpPr>
            <p:cNvPr id="119" name="Rectangle 119"/>
            <p:cNvSpPr/>
            <p:nvPr/>
          </p:nvSpPr>
          <p:spPr>
            <a:xfrm>
              <a:off x="8322945" y="1980248"/>
              <a:ext cx="420052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20" name="TextBox 120"/>
            <p:cNvSpPr txBox="1"/>
            <p:nvPr/>
          </p:nvSpPr>
          <p:spPr>
            <a:xfrm>
              <a:off x="8345592" y="2009299"/>
              <a:ext cx="37380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x[1]=1</a:t>
              </a:r>
            </a:p>
          </p:txBody>
        </p:sp>
        <p:sp>
          <p:nvSpPr>
            <p:cNvPr id="121" name="Rectangle 121"/>
            <p:cNvSpPr/>
            <p:nvPr/>
          </p:nvSpPr>
          <p:spPr>
            <a:xfrm>
              <a:off x="6861810" y="2670810"/>
              <a:ext cx="420052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22" name="TextBox 122"/>
            <p:cNvSpPr txBox="1"/>
            <p:nvPr/>
          </p:nvSpPr>
          <p:spPr>
            <a:xfrm>
              <a:off x="6884457" y="2700814"/>
              <a:ext cx="37380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x[2]=1</a:t>
              </a:r>
            </a:p>
          </p:txBody>
        </p:sp>
        <p:sp>
          <p:nvSpPr>
            <p:cNvPr id="123" name="Rectangle 123"/>
            <p:cNvSpPr/>
            <p:nvPr/>
          </p:nvSpPr>
          <p:spPr>
            <a:xfrm>
              <a:off x="6024562" y="3363278"/>
              <a:ext cx="420052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24" name="TextBox 124"/>
            <p:cNvSpPr txBox="1"/>
            <p:nvPr/>
          </p:nvSpPr>
          <p:spPr>
            <a:xfrm>
              <a:off x="6047209" y="3392329"/>
              <a:ext cx="37380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x[3]=1</a:t>
              </a:r>
            </a:p>
          </p:txBody>
        </p:sp>
        <p:sp>
          <p:nvSpPr>
            <p:cNvPr id="125" name="Rectangle 125"/>
            <p:cNvSpPr/>
            <p:nvPr/>
          </p:nvSpPr>
          <p:spPr>
            <a:xfrm>
              <a:off x="5745480" y="4053840"/>
              <a:ext cx="420052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26" name="TextBox 126"/>
            <p:cNvSpPr txBox="1"/>
            <p:nvPr/>
          </p:nvSpPr>
          <p:spPr>
            <a:xfrm>
              <a:off x="5768127" y="4083844"/>
              <a:ext cx="37380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x[4]=1</a:t>
              </a:r>
            </a:p>
          </p:txBody>
        </p:sp>
        <p:sp>
          <p:nvSpPr>
            <p:cNvPr id="127" name="Rectangle 127"/>
            <p:cNvSpPr/>
            <p:nvPr/>
          </p:nvSpPr>
          <p:spPr>
            <a:xfrm>
              <a:off x="7631430" y="2670810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28" name="TextBox 128"/>
            <p:cNvSpPr txBox="1"/>
            <p:nvPr/>
          </p:nvSpPr>
          <p:spPr>
            <a:xfrm>
              <a:off x="7662986" y="270081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9" name="Rectangle 129"/>
            <p:cNvSpPr/>
            <p:nvPr/>
          </p:nvSpPr>
          <p:spPr>
            <a:xfrm>
              <a:off x="8258175" y="2670810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30" name="TextBox 130"/>
            <p:cNvSpPr txBox="1"/>
            <p:nvPr/>
          </p:nvSpPr>
          <p:spPr>
            <a:xfrm>
              <a:off x="8289731" y="270081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31" name="Rectangle 131"/>
            <p:cNvSpPr/>
            <p:nvPr/>
          </p:nvSpPr>
          <p:spPr>
            <a:xfrm>
              <a:off x="9507855" y="1980248"/>
              <a:ext cx="420052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32" name="TextBox 132"/>
            <p:cNvSpPr txBox="1"/>
            <p:nvPr/>
          </p:nvSpPr>
          <p:spPr>
            <a:xfrm>
              <a:off x="9530502" y="2009299"/>
              <a:ext cx="37380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x[1]=2</a:t>
              </a:r>
            </a:p>
          </p:txBody>
        </p:sp>
        <p:sp>
          <p:nvSpPr>
            <p:cNvPr id="133" name="Rectangle 133"/>
            <p:cNvSpPr/>
            <p:nvPr/>
          </p:nvSpPr>
          <p:spPr>
            <a:xfrm>
              <a:off x="9994582" y="1980248"/>
              <a:ext cx="420052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34" name="TextBox 134"/>
            <p:cNvSpPr txBox="1"/>
            <p:nvPr/>
          </p:nvSpPr>
          <p:spPr>
            <a:xfrm>
              <a:off x="10017229" y="2009299"/>
              <a:ext cx="37380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x[1]=3</a:t>
              </a:r>
            </a:p>
          </p:txBody>
        </p:sp>
      </p:grpSp>
      <p:grpSp>
        <p:nvGrpSpPr>
          <p:cNvPr id="142" name="c2-callout-2"/>
          <p:cNvGrpSpPr/>
          <p:nvPr/>
        </p:nvGrpSpPr>
        <p:grpSpPr>
          <a:xfrm>
            <a:off x="5166360" y="4857750"/>
            <a:ext cx="6492240" cy="1089660"/>
            <a:chOff x="5166360" y="4857750"/>
            <a:chExt cx="6492240" cy="1089660"/>
          </a:xfrm>
        </p:grpSpPr>
        <p:sp>
          <p:nvSpPr>
            <p:cNvPr id="136" name="Rectangle 136"/>
            <p:cNvSpPr/>
            <p:nvPr/>
          </p:nvSpPr>
          <p:spPr>
            <a:xfrm>
              <a:off x="5166360" y="4857750"/>
              <a:ext cx="6492240" cy="1089660"/>
            </a:xfrm>
            <a:prstGeom prst="roundRect">
              <a:avLst>
                <a:gd name="adj" fmla="val 10490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140" name="Group 140"/>
            <p:cNvGrpSpPr/>
            <p:nvPr/>
          </p:nvGrpSpPr>
          <p:grpSpPr>
            <a:xfrm>
              <a:off x="5371148" y="5302568"/>
              <a:ext cx="200026" cy="200026"/>
              <a:chOff x="5371148" y="5302568"/>
              <a:chExt cx="200026" cy="200026"/>
            </a:xfrm>
          </p:grpSpPr>
          <p:sp>
            <p:nvSpPr>
              <p:cNvPr id="137" name="Freeform 137"/>
              <p:cNvSpPr/>
              <p:nvPr/>
            </p:nvSpPr>
            <p:spPr>
              <a:xfrm>
                <a:off x="5371148" y="530256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138" name="Freeform 138"/>
              <p:cNvSpPr/>
              <p:nvPr/>
            </p:nvSpPr>
            <p:spPr>
              <a:xfrm>
                <a:off x="5471160" y="536924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139" name="Freeform 139"/>
              <p:cNvSpPr/>
              <p:nvPr/>
            </p:nvSpPr>
            <p:spPr>
              <a:xfrm>
                <a:off x="5460048" y="540258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141" name="TextBox 141"/>
            <p:cNvSpPr txBox="1"/>
            <p:nvPr/>
          </p:nvSpPr>
          <p:spPr>
            <a:xfrm>
              <a:off x="5673090" y="5021580"/>
              <a:ext cx="5549265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完全 3 叉树：叶结点 3⁴ = 81 个，共 1 + 3 + 9 + 27 + 81 = 121 个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结点。一般地，最后一层有 mⁿ 个叶结点。脚本验证：这个 4 顶点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环用 3 种颜色有 18 种合法着色。</a:t>
              </a:r>
            </a:p>
          </p:txBody>
        </p:sp>
      </p:grpSp>
      <p:grpSp>
        <p:nvGrpSpPr>
          <p:cNvPr id="14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43" name="TextBox 143"/>
            <p:cNvSpPr txBox="1"/>
            <p:nvPr/>
          </p:nvSpPr>
          <p:spPr>
            <a:xfrm>
              <a:off x="528447" y="6581299"/>
              <a:ext cx="18568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第7章 回溯法</a:t>
              </a:r>
            </a:p>
          </p:txBody>
        </p:sp>
        <p:sp>
          <p:nvSpPr>
            <p:cNvPr id="144" name="TextBox 14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083976" cy="909257"/>
            <a:chOff x="520446" y="342900"/>
            <a:chExt cx="608397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98786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8957" y="407194"/>
              <a:ext cx="18358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第7章 回溯法 · 图着色问题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08397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算法 7.7 MCOLORING 与算法 7.8 OK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6708458" cy="3950970"/>
            <a:chOff x="533400" y="1524000"/>
            <a:chExt cx="6708458" cy="395097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708458" cy="3950970"/>
            </a:xfrm>
            <a:prstGeom prst="roundRect">
              <a:avLst>
                <a:gd name="adj" fmla="val 2411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216857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 7.7 回溯法求解图着色判定问题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035" y="1937861"/>
              <a:ext cx="5217414" cy="34661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procedure MCOLORING(V, E, C, n, m)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图 G=(V,E)，n 个顶点，m 种颜色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C(1:n) ← 0; k ← 1  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C 记录决策序列，从第一个顶点开始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while k ≥ 1 do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C(k) ← C(k) + 1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while not OK(k) and C(k) ≤ m do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C(k) ← C(k) + 1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repeat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if C(k) ≤ m then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if k = n then print(C); return true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全部着色，打印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else k ← k + 1; C(k) ← 0          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准备为下一个顶点着色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endif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else k ← k - 1                      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顶点 k 无法着色，回溯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endif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repeat                                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k = 0：整棵树遍历完毕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return false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end MCOLORING</a:t>
              </a:r>
            </a:p>
          </p:txBody>
        </p:sp>
      </p:grpSp>
      <p:grpSp>
        <p:nvGrpSpPr>
          <p:cNvPr id="14" name="c2-code-1"/>
          <p:cNvGrpSpPr/>
          <p:nvPr/>
        </p:nvGrpSpPr>
        <p:grpSpPr>
          <a:xfrm>
            <a:off x="7546658" y="1524000"/>
            <a:ext cx="4111942" cy="2936558"/>
            <a:chOff x="7546658" y="1524000"/>
            <a:chExt cx="4111942" cy="2936558"/>
          </a:xfrm>
        </p:grpSpPr>
        <p:sp>
          <p:nvSpPr>
            <p:cNvPr id="11" name="Rectangle 11"/>
            <p:cNvSpPr/>
            <p:nvPr/>
          </p:nvSpPr>
          <p:spPr>
            <a:xfrm>
              <a:off x="7546658" y="1524000"/>
              <a:ext cx="4111942" cy="2936558"/>
            </a:xfrm>
            <a:prstGeom prst="roundRect">
              <a:avLst>
                <a:gd name="adj" fmla="val 3244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75054" y="1675924"/>
              <a:ext cx="219594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 7.8 判断顶点 k 的着色是否合法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674292" y="1937861"/>
              <a:ext cx="1732534" cy="245173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procedure OK(k)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integer i, k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i ← 1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while i &lt; k do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    if i 和 k 之间有边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and C(i) = C(k)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then return false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endif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i ← i + 1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repeat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return true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end OK</a:t>
              </a:r>
            </a:p>
          </p:txBody>
        </p:sp>
      </p:grpSp>
      <p:grpSp>
        <p:nvGrpSpPr>
          <p:cNvPr id="21" name="c2-callout-2"/>
          <p:cNvGrpSpPr/>
          <p:nvPr/>
        </p:nvGrpSpPr>
        <p:grpSpPr>
          <a:xfrm>
            <a:off x="7546658" y="4651058"/>
            <a:ext cx="4111942" cy="823912"/>
            <a:chOff x="7546658" y="4651058"/>
            <a:chExt cx="4111942" cy="823912"/>
          </a:xfrm>
        </p:grpSpPr>
        <p:sp>
          <p:nvSpPr>
            <p:cNvPr id="15" name="Rectangle 15"/>
            <p:cNvSpPr/>
            <p:nvPr/>
          </p:nvSpPr>
          <p:spPr>
            <a:xfrm>
              <a:off x="7546658" y="4651058"/>
              <a:ext cx="4111942" cy="823912"/>
            </a:xfrm>
            <a:prstGeom prst="roundRect">
              <a:avLst>
                <a:gd name="adj" fmla="val 13873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19" name="Group 19"/>
            <p:cNvGrpSpPr/>
            <p:nvPr/>
          </p:nvGrpSpPr>
          <p:grpSpPr>
            <a:xfrm>
              <a:off x="7751445" y="4962525"/>
              <a:ext cx="200026" cy="200025"/>
              <a:chOff x="7751445" y="4962525"/>
              <a:chExt cx="200026" cy="200025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7751445" y="496252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7791184" y="500697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7825899" y="511810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20" name="TextBox 20"/>
            <p:cNvSpPr txBox="1"/>
            <p:nvPr/>
          </p:nvSpPr>
          <p:spPr>
            <a:xfrm>
              <a:off x="8053388" y="4819650"/>
              <a:ext cx="292036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结构与 NQUEENS 相同：OK 相当于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PLACE，颜色号相当于列号。</a:t>
              </a:r>
            </a:p>
          </p:txBody>
        </p:sp>
      </p:grpSp>
      <p:grpSp>
        <p:nvGrpSpPr>
          <p:cNvPr id="2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22" name="TextBox 22"/>
            <p:cNvSpPr txBox="1"/>
            <p:nvPr/>
          </p:nvSpPr>
          <p:spPr>
            <a:xfrm>
              <a:off x="528447" y="6581299"/>
              <a:ext cx="18568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第7章 回溯法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904903" cy="909257"/>
            <a:chOff x="520446" y="342900"/>
            <a:chExt cx="490490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98786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8957" y="407194"/>
              <a:ext cx="18358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第7章 回溯法 · 图着色问题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90490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MCOLORING 的正确性与复杂度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4" name="c1-card-1"/>
          <p:cNvGrpSpPr/>
          <p:nvPr/>
        </p:nvGrpSpPr>
        <p:grpSpPr>
          <a:xfrm>
            <a:off x="533400" y="1524000"/>
            <a:ext cx="5951220" cy="3942398"/>
            <a:chOff x="533400" y="1524000"/>
            <a:chExt cx="5951220" cy="394239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951220" cy="3942398"/>
            </a:xfrm>
            <a:prstGeom prst="roundRect">
              <a:avLst>
                <a:gd name="adj" fmla="val 338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3675698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921068" cy="25717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8457" y="1769269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正确性要点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81050" y="2097405"/>
              <a:ext cx="213360" cy="2133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42899" y="213969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82040" y="2110740"/>
              <a:ext cx="49015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OK(k) 只检查顶点 k 与前 k−1 个已着色顶点；前面顶点之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间的冲突在它们着色时已经检查过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81050" y="2718435"/>
              <a:ext cx="213360" cy="2133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42899" y="276072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82040" y="2731770"/>
              <a:ext cx="48444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C(k) 从上次的颜色继续加 1，回溯回来不会重复试同一种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颜色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781050" y="3339465"/>
              <a:ext cx="213360" cy="2133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42899" y="338175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082040" y="3352800"/>
              <a:ext cx="49872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C(k) 超过 m 说明顶点 k 无色可用，退回 k−1 换颜色；k 退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到 0 说明全部方案都试过，回答"否"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781050" y="3960495"/>
              <a:ext cx="213360" cy="2133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42899" y="400278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82040" y="3973830"/>
              <a:ext cx="49206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C(k) = m+1 时没有顶点是这个颜色，OK(k) 为真，内层循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环因此停止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74573" y="4591526"/>
              <a:ext cx="543725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要列出全部着色方案：打印后不 return，继续试 C(n) 的下一种颜色。</a:t>
              </a:r>
            </a:p>
          </p:txBody>
        </p:sp>
      </p:grpSp>
      <p:grpSp>
        <p:nvGrpSpPr>
          <p:cNvPr id="46" name="c2-table-1"/>
          <p:cNvGrpSpPr/>
          <p:nvPr/>
        </p:nvGrpSpPr>
        <p:grpSpPr>
          <a:xfrm>
            <a:off x="6789420" y="1524000"/>
            <a:ext cx="4869180" cy="2692718"/>
            <a:chOff x="6789420" y="1524000"/>
            <a:chExt cx="4869180" cy="2692718"/>
          </a:xfrm>
        </p:grpSpPr>
        <p:sp>
          <p:nvSpPr>
            <p:cNvPr id="25" name="Rectangle 25"/>
            <p:cNvSpPr/>
            <p:nvPr/>
          </p:nvSpPr>
          <p:spPr>
            <a:xfrm>
              <a:off x="6789420" y="1524000"/>
              <a:ext cx="4869180" cy="448628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438352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项目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872942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代价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897243" y="2108359"/>
              <a:ext cx="66345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OK 一次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552688" y="2108359"/>
              <a:ext cx="299755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O(n)（邻接矩阵判断有无边为 O(1)）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6789420" y="2416492"/>
              <a:ext cx="486918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6789420" y="2421255"/>
              <a:ext cx="486918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897243" y="2556986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解空间树结点数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552688" y="2556986"/>
              <a:ext cx="157239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+ m + m² + … + mⁿ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6789420" y="2866072"/>
              <a:ext cx="486918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897243" y="3005614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每个内部结点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552688" y="3005614"/>
              <a:ext cx="127945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最多试 m 种颜色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6789420" y="3314700"/>
              <a:ext cx="486918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6789420" y="3319462"/>
              <a:ext cx="486918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897243" y="345424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最坏时间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552688" y="3454241"/>
              <a:ext cx="7591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O(n·mⁿ)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6789420" y="3763328"/>
              <a:ext cx="486918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897243" y="390382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空间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552688" y="3903821"/>
              <a:ext cx="110990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O(n)：数组 C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6789420" y="1524000"/>
              <a:ext cx="4869180" cy="269271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5" name="Rectangle 45"/>
            <p:cNvSpPr/>
            <p:nvPr/>
          </p:nvSpPr>
          <p:spPr>
            <a:xfrm>
              <a:off x="8440102" y="1524000"/>
              <a:ext cx="9525" cy="269271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3" name="c2-callout-2"/>
          <p:cNvGrpSpPr/>
          <p:nvPr/>
        </p:nvGrpSpPr>
        <p:grpSpPr>
          <a:xfrm>
            <a:off x="6789420" y="4407218"/>
            <a:ext cx="4869180" cy="1059180"/>
            <a:chOff x="6789420" y="4407218"/>
            <a:chExt cx="4869180" cy="1059180"/>
          </a:xfrm>
        </p:grpSpPr>
        <p:sp>
          <p:nvSpPr>
            <p:cNvPr id="47" name="Rectangle 47"/>
            <p:cNvSpPr/>
            <p:nvPr/>
          </p:nvSpPr>
          <p:spPr>
            <a:xfrm>
              <a:off x="6789420" y="4407218"/>
              <a:ext cx="4869180" cy="1059180"/>
            </a:xfrm>
            <a:prstGeom prst="roundRect">
              <a:avLst>
                <a:gd name="adj" fmla="val 10791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51" name="Group 51"/>
            <p:cNvGrpSpPr/>
            <p:nvPr/>
          </p:nvGrpSpPr>
          <p:grpSpPr>
            <a:xfrm>
              <a:off x="6994208" y="4836795"/>
              <a:ext cx="200026" cy="200026"/>
              <a:chOff x="6994208" y="4836795"/>
              <a:chExt cx="200026" cy="200026"/>
            </a:xfrm>
          </p:grpSpPr>
          <p:sp>
            <p:nvSpPr>
              <p:cNvPr id="48" name="Freeform 48"/>
              <p:cNvSpPr/>
              <p:nvPr/>
            </p:nvSpPr>
            <p:spPr>
              <a:xfrm>
                <a:off x="6994208" y="483679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7094220" y="490347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7083108" y="493680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52" name="TextBox 52"/>
            <p:cNvSpPr txBox="1"/>
            <p:nvPr/>
          </p:nvSpPr>
          <p:spPr>
            <a:xfrm>
              <a:off x="7296150" y="4555808"/>
              <a:ext cx="3968115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 = 2 时，判定问题就是判断图是否为二部图，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用一次宽度优先搜索即可在多项式时间内解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决；m ≥ 3 时是 NP-完全问题。</a:t>
              </a:r>
            </a:p>
          </p:txBody>
        </p:sp>
      </p:grpSp>
      <p:grpSp>
        <p:nvGrpSpPr>
          <p:cNvPr id="5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4" name="TextBox 54"/>
            <p:cNvSpPr txBox="1"/>
            <p:nvPr/>
          </p:nvSpPr>
          <p:spPr>
            <a:xfrm>
              <a:off x="528447" y="6581299"/>
              <a:ext cx="18568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第7章 回溯法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460322" cy="909257"/>
            <a:chOff x="520446" y="342900"/>
            <a:chExt cx="846032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98786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8957" y="407194"/>
              <a:ext cx="18358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第7章 回溯法 · 图着色问题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46032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实例：5 个顶点、3 种颜色，生成 14 个结点就找到方案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9" name="c1-graph-1"/>
          <p:cNvGrpSpPr/>
          <p:nvPr/>
        </p:nvGrpSpPr>
        <p:grpSpPr>
          <a:xfrm>
            <a:off x="934042" y="1584960"/>
            <a:ext cx="3094441" cy="1772603"/>
            <a:chOff x="934042" y="1584960"/>
            <a:chExt cx="3094441" cy="1772603"/>
          </a:xfrm>
        </p:grpSpPr>
        <p:sp>
          <p:nvSpPr>
            <p:cNvPr id="7" name="Freeform 7"/>
            <p:cNvSpPr/>
            <p:nvPr/>
          </p:nvSpPr>
          <p:spPr>
            <a:xfrm>
              <a:off x="1386840" y="1839278"/>
              <a:ext cx="942022" cy="543878"/>
            </a:xfrm>
            <a:custGeom>
              <a:avLst/>
              <a:gdLst/>
              <a:ahLst/>
              <a:cxnLst/>
              <a:rect l="l" t="t" r="r" b="b"/>
              <a:pathLst>
                <a:path w="942022" h="543878">
                  <a:moveTo>
                    <a:pt x="942022" y="0"/>
                  </a:moveTo>
                  <a:lnTo>
                    <a:pt x="0" y="543878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2633662" y="1839278"/>
              <a:ext cx="942022" cy="543878"/>
            </a:xfrm>
            <a:custGeom>
              <a:avLst/>
              <a:gdLst/>
              <a:ahLst/>
              <a:cxnLst/>
              <a:rect l="l" t="t" r="r" b="b"/>
              <a:pathLst>
                <a:path w="942022" h="543878">
                  <a:moveTo>
                    <a:pt x="0" y="0"/>
                  </a:moveTo>
                  <a:lnTo>
                    <a:pt x="942022" y="543878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9" name="Freeform 9"/>
            <p:cNvSpPr/>
            <p:nvPr/>
          </p:nvSpPr>
          <p:spPr>
            <a:xfrm>
              <a:off x="1410652" y="2470785"/>
              <a:ext cx="2141220" cy="9525"/>
            </a:xfrm>
            <a:custGeom>
              <a:avLst/>
              <a:gdLst/>
              <a:ahLst/>
              <a:cxnLst/>
              <a:rect l="l" t="t" r="r" b="b"/>
              <a:pathLst>
                <a:path w="2141220" h="9525">
                  <a:moveTo>
                    <a:pt x="0" y="0"/>
                  </a:moveTo>
                  <a:lnTo>
                    <a:pt x="214122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1234440" y="2646998"/>
              <a:ext cx="9525" cy="367665"/>
            </a:xfrm>
            <a:custGeom>
              <a:avLst/>
              <a:gdLst/>
              <a:ahLst/>
              <a:cxnLst/>
              <a:rect l="l" t="t" r="r" b="b"/>
              <a:pathLst>
                <a:path w="9525" h="367665">
                  <a:moveTo>
                    <a:pt x="0" y="0"/>
                  </a:moveTo>
                  <a:lnTo>
                    <a:pt x="0" y="36766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1403032" y="2519362"/>
              <a:ext cx="2155508" cy="622935"/>
            </a:xfrm>
            <a:custGeom>
              <a:avLst/>
              <a:gdLst/>
              <a:ahLst/>
              <a:cxnLst/>
              <a:rect l="l" t="t" r="r" b="b"/>
              <a:pathLst>
                <a:path w="2155508" h="622935">
                  <a:moveTo>
                    <a:pt x="0" y="0"/>
                  </a:moveTo>
                  <a:lnTo>
                    <a:pt x="2155508" y="62293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3727132" y="2646998"/>
              <a:ext cx="9525" cy="367665"/>
            </a:xfrm>
            <a:custGeom>
              <a:avLst/>
              <a:gdLst/>
              <a:ahLst/>
              <a:cxnLst/>
              <a:rect l="l" t="t" r="r" b="b"/>
              <a:pathLst>
                <a:path w="9525" h="367665">
                  <a:moveTo>
                    <a:pt x="0" y="0"/>
                  </a:moveTo>
                  <a:lnTo>
                    <a:pt x="0" y="36766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1410652" y="3190875"/>
              <a:ext cx="2141220" cy="9525"/>
            </a:xfrm>
            <a:custGeom>
              <a:avLst/>
              <a:gdLst/>
              <a:ahLst/>
              <a:cxnLst/>
              <a:rect l="l" t="t" r="r" b="b"/>
              <a:pathLst>
                <a:path w="2141220" h="9525">
                  <a:moveTo>
                    <a:pt x="0" y="0"/>
                  </a:moveTo>
                  <a:lnTo>
                    <a:pt x="214122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4" name="Ellipse 14"/>
            <p:cNvSpPr/>
            <p:nvPr/>
          </p:nvSpPr>
          <p:spPr>
            <a:xfrm>
              <a:off x="2314575" y="1584960"/>
              <a:ext cx="333375" cy="333375"/>
            </a:xfrm>
            <a:prstGeom prst="ellipse">
              <a:avLst/>
            </a:prstGeom>
            <a:solidFill>
              <a:srgbClr val="E8EDF8"/>
            </a:solidFill>
            <a:ln w="17145">
              <a:solidFill>
                <a:srgbClr val="2F4B9A"/>
              </a:solidFill>
            </a:ln>
          </p:spPr>
        </p:sp>
        <p:sp>
          <p:nvSpPr>
            <p:cNvPr id="15" name="Ellipse 15"/>
            <p:cNvSpPr/>
            <p:nvPr/>
          </p:nvSpPr>
          <p:spPr>
            <a:xfrm>
              <a:off x="1067752" y="2304098"/>
              <a:ext cx="333375" cy="333375"/>
            </a:xfrm>
            <a:prstGeom prst="ellipse">
              <a:avLst/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16" name="Ellipse 16"/>
            <p:cNvSpPr/>
            <p:nvPr/>
          </p:nvSpPr>
          <p:spPr>
            <a:xfrm>
              <a:off x="3560445" y="2304098"/>
              <a:ext cx="333375" cy="333375"/>
            </a:xfrm>
            <a:prstGeom prst="ellipse">
              <a:avLst/>
            </a:prstGeom>
            <a:solidFill>
              <a:srgbClr val="E3F5F1"/>
            </a:solidFill>
            <a:ln w="17145">
              <a:solidFill>
                <a:srgbClr val="14A38B"/>
              </a:solidFill>
            </a:ln>
          </p:spPr>
        </p:sp>
        <p:sp>
          <p:nvSpPr>
            <p:cNvPr id="17" name="Ellipse 17"/>
            <p:cNvSpPr/>
            <p:nvPr/>
          </p:nvSpPr>
          <p:spPr>
            <a:xfrm>
              <a:off x="1067752" y="3024188"/>
              <a:ext cx="333375" cy="333375"/>
            </a:xfrm>
            <a:prstGeom prst="ellipse">
              <a:avLst/>
            </a:prstGeom>
            <a:solidFill>
              <a:srgbClr val="E3F5F1"/>
            </a:solidFill>
            <a:ln w="17145">
              <a:solidFill>
                <a:srgbClr val="14A38B"/>
              </a:solidFill>
            </a:ln>
          </p:spPr>
        </p:sp>
        <p:sp>
          <p:nvSpPr>
            <p:cNvPr id="18" name="Ellipse 18"/>
            <p:cNvSpPr/>
            <p:nvPr/>
          </p:nvSpPr>
          <p:spPr>
            <a:xfrm>
              <a:off x="3560445" y="3024188"/>
              <a:ext cx="333375" cy="333375"/>
            </a:xfrm>
            <a:prstGeom prst="ellipse">
              <a:avLst/>
            </a:prstGeom>
            <a:solidFill>
              <a:srgbClr val="E8EDF8"/>
            </a:solidFill>
            <a:ln w="17145">
              <a:solidFill>
                <a:srgbClr val="2F4B9A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2425880" y="1676400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699194" y="1690211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179058" y="2396490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34042" y="2410301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671750" y="2396490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946017" y="2410301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179058" y="3115627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D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34042" y="3130391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671750" y="3115627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E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946017" y="3130391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</p:grpSp>
      <p:grpSp>
        <p:nvGrpSpPr>
          <p:cNvPr id="43" name="c1-card-2"/>
          <p:cNvGrpSpPr/>
          <p:nvPr/>
        </p:nvGrpSpPr>
        <p:grpSpPr>
          <a:xfrm>
            <a:off x="533400" y="3603308"/>
            <a:ext cx="3895725" cy="2687002"/>
            <a:chOff x="533400" y="3603308"/>
            <a:chExt cx="3895725" cy="2687002"/>
          </a:xfrm>
        </p:grpSpPr>
        <p:sp>
          <p:nvSpPr>
            <p:cNvPr id="30" name="Rectangle 30"/>
            <p:cNvSpPr/>
            <p:nvPr/>
          </p:nvSpPr>
          <p:spPr>
            <a:xfrm>
              <a:off x="533400" y="3603308"/>
              <a:ext cx="3895725" cy="2687002"/>
            </a:xfrm>
            <a:prstGeom prst="roundRect">
              <a:avLst>
                <a:gd name="adj" fmla="val 496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542925" y="3736658"/>
              <a:ext cx="47625" cy="242030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775335" y="3807142"/>
              <a:ext cx="1062990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48792" y="3842861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被杀死的结点</a:t>
              </a:r>
            </a:p>
          </p:txBody>
        </p:sp>
        <p:sp>
          <p:nvSpPr>
            <p:cNvPr id="34" name="Ellipse 34"/>
            <p:cNvSpPr/>
            <p:nvPr/>
          </p:nvSpPr>
          <p:spPr>
            <a:xfrm>
              <a:off x="782955" y="4240530"/>
              <a:ext cx="60960" cy="609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939546" y="4180046"/>
              <a:ext cx="128821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3：B 与 A 同色</a:t>
              </a:r>
            </a:p>
          </p:txBody>
        </p:sp>
        <p:sp>
          <p:nvSpPr>
            <p:cNvPr id="36" name="Ellipse 36"/>
            <p:cNvSpPr/>
            <p:nvPr/>
          </p:nvSpPr>
          <p:spPr>
            <a:xfrm>
              <a:off x="782955" y="4560570"/>
              <a:ext cx="60960" cy="609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939546" y="4500086"/>
              <a:ext cx="188676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5、6：C 与 A、B 同色</a:t>
              </a:r>
            </a:p>
          </p:txBody>
        </p:sp>
        <p:sp>
          <p:nvSpPr>
            <p:cNvPr id="38" name="Ellipse 38"/>
            <p:cNvSpPr/>
            <p:nvPr/>
          </p:nvSpPr>
          <p:spPr>
            <a:xfrm>
              <a:off x="782955" y="4880610"/>
              <a:ext cx="60960" cy="609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939546" y="4820126"/>
              <a:ext cx="269559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9、10、11：E 与 D、B、C 同色</a:t>
              </a:r>
            </a:p>
          </p:txBody>
        </p:sp>
        <p:sp>
          <p:nvSpPr>
            <p:cNvPr id="40" name="Ellipse 40"/>
            <p:cNvSpPr/>
            <p:nvPr/>
          </p:nvSpPr>
          <p:spPr>
            <a:xfrm>
              <a:off x="782955" y="5200650"/>
              <a:ext cx="60960" cy="609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939546" y="5140166"/>
              <a:ext cx="139335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12：D 与 B 同色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69239" y="5456872"/>
              <a:ext cx="3311652" cy="6766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结点 14 得到方案 (1,2,3,3,1)，顶点旁数字为</a:t>
              </a:r>
              <a:br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颜色。完全 3 叉树有 3⁵ = 243 个叶结点；此图共</a:t>
              </a:r>
              <a:br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有 6 种 3-着色方案（脚本验证）。</a:t>
              </a:r>
            </a:p>
          </p:txBody>
        </p:sp>
      </p:grpSp>
      <p:grpSp>
        <p:nvGrpSpPr>
          <p:cNvPr id="111" name="c2-graph-1"/>
          <p:cNvGrpSpPr/>
          <p:nvPr/>
        </p:nvGrpSpPr>
        <p:grpSpPr>
          <a:xfrm>
            <a:off x="5370195" y="1551622"/>
            <a:ext cx="5790248" cy="3825241"/>
            <a:chOff x="5370195" y="1551622"/>
            <a:chExt cx="5790248" cy="3825241"/>
          </a:xfrm>
        </p:grpSpPr>
        <p:sp>
          <p:nvSpPr>
            <p:cNvPr id="44" name="Freeform 44"/>
            <p:cNvSpPr/>
            <p:nvPr/>
          </p:nvSpPr>
          <p:spPr>
            <a:xfrm>
              <a:off x="6803708" y="1893570"/>
              <a:ext cx="9525" cy="346710"/>
            </a:xfrm>
            <a:custGeom>
              <a:avLst/>
              <a:gdLst/>
              <a:ahLst/>
              <a:cxnLst/>
              <a:rect l="l" t="t" r="r" b="b"/>
              <a:pathLst>
                <a:path w="9525" h="346710">
                  <a:moveTo>
                    <a:pt x="0" y="0"/>
                  </a:moveTo>
                  <a:lnTo>
                    <a:pt x="0" y="34671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5" name="Freeform 45"/>
            <p:cNvSpPr/>
            <p:nvPr/>
          </p:nvSpPr>
          <p:spPr>
            <a:xfrm>
              <a:off x="5691188" y="2501265"/>
              <a:ext cx="959168" cy="528638"/>
            </a:xfrm>
            <a:custGeom>
              <a:avLst/>
              <a:gdLst/>
              <a:ahLst/>
              <a:cxnLst/>
              <a:rect l="l" t="t" r="r" b="b"/>
              <a:pathLst>
                <a:path w="959168" h="528638">
                  <a:moveTo>
                    <a:pt x="959168" y="0"/>
                  </a:moveTo>
                  <a:lnTo>
                    <a:pt x="0" y="528638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6" name="Freeform 46"/>
            <p:cNvSpPr/>
            <p:nvPr/>
          </p:nvSpPr>
          <p:spPr>
            <a:xfrm>
              <a:off x="6958012" y="2501265"/>
              <a:ext cx="959168" cy="528638"/>
            </a:xfrm>
            <a:custGeom>
              <a:avLst/>
              <a:gdLst/>
              <a:ahLst/>
              <a:cxnLst/>
              <a:rect l="l" t="t" r="r" b="b"/>
              <a:pathLst>
                <a:path w="959168" h="528638">
                  <a:moveTo>
                    <a:pt x="0" y="0"/>
                  </a:moveTo>
                  <a:lnTo>
                    <a:pt x="959168" y="528638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7" name="Freeform 47"/>
            <p:cNvSpPr/>
            <p:nvPr/>
          </p:nvSpPr>
          <p:spPr>
            <a:xfrm>
              <a:off x="6482715" y="3180398"/>
              <a:ext cx="1424940" cy="567690"/>
            </a:xfrm>
            <a:custGeom>
              <a:avLst/>
              <a:gdLst/>
              <a:ahLst/>
              <a:cxnLst/>
              <a:rect l="l" t="t" r="r" b="b"/>
              <a:pathLst>
                <a:path w="1424940" h="567690">
                  <a:moveTo>
                    <a:pt x="1424940" y="0"/>
                  </a:moveTo>
                  <a:lnTo>
                    <a:pt x="0" y="56769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8" name="Freeform 48"/>
            <p:cNvSpPr/>
            <p:nvPr/>
          </p:nvSpPr>
          <p:spPr>
            <a:xfrm>
              <a:off x="7238048" y="3217545"/>
              <a:ext cx="690562" cy="493395"/>
            </a:xfrm>
            <a:custGeom>
              <a:avLst/>
              <a:gdLst/>
              <a:ahLst/>
              <a:cxnLst/>
              <a:rect l="l" t="t" r="r" b="b"/>
              <a:pathLst>
                <a:path w="690562" h="493395">
                  <a:moveTo>
                    <a:pt x="690562" y="0"/>
                  </a:moveTo>
                  <a:lnTo>
                    <a:pt x="0" y="49339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9" name="Freeform 49"/>
            <p:cNvSpPr/>
            <p:nvPr/>
          </p:nvSpPr>
          <p:spPr>
            <a:xfrm>
              <a:off x="8234362" y="3180398"/>
              <a:ext cx="1425893" cy="567690"/>
            </a:xfrm>
            <a:custGeom>
              <a:avLst/>
              <a:gdLst/>
              <a:ahLst/>
              <a:cxnLst/>
              <a:rect l="l" t="t" r="r" b="b"/>
              <a:pathLst>
                <a:path w="1425893" h="567690">
                  <a:moveTo>
                    <a:pt x="0" y="0"/>
                  </a:moveTo>
                  <a:lnTo>
                    <a:pt x="1425893" y="56769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50" name="Freeform 50"/>
            <p:cNvSpPr/>
            <p:nvPr/>
          </p:nvSpPr>
          <p:spPr>
            <a:xfrm>
              <a:off x="8803958" y="3903345"/>
              <a:ext cx="868680" cy="518160"/>
            </a:xfrm>
            <a:custGeom>
              <a:avLst/>
              <a:gdLst/>
              <a:ahLst/>
              <a:cxnLst/>
              <a:rect l="l" t="t" r="r" b="b"/>
              <a:pathLst>
                <a:path w="868680" h="518160">
                  <a:moveTo>
                    <a:pt x="868680" y="0"/>
                  </a:moveTo>
                  <a:lnTo>
                    <a:pt x="0" y="51816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51" name="Freeform 51"/>
            <p:cNvSpPr/>
            <p:nvPr/>
          </p:nvSpPr>
          <p:spPr>
            <a:xfrm>
              <a:off x="8008620" y="4630102"/>
              <a:ext cx="513398" cy="462915"/>
            </a:xfrm>
            <a:custGeom>
              <a:avLst/>
              <a:gdLst/>
              <a:ahLst/>
              <a:cxnLst/>
              <a:rect l="l" t="t" r="r" b="b"/>
              <a:pathLst>
                <a:path w="513398" h="462915">
                  <a:moveTo>
                    <a:pt x="513398" y="0"/>
                  </a:moveTo>
                  <a:lnTo>
                    <a:pt x="0" y="46291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52" name="Freeform 52"/>
            <p:cNvSpPr/>
            <p:nvPr/>
          </p:nvSpPr>
          <p:spPr>
            <a:xfrm>
              <a:off x="8653462" y="4688205"/>
              <a:ext cx="9525" cy="346710"/>
            </a:xfrm>
            <a:custGeom>
              <a:avLst/>
              <a:gdLst/>
              <a:ahLst/>
              <a:cxnLst/>
              <a:rect l="l" t="t" r="r" b="b"/>
              <a:pathLst>
                <a:path w="9525" h="346710">
                  <a:moveTo>
                    <a:pt x="0" y="0"/>
                  </a:moveTo>
                  <a:lnTo>
                    <a:pt x="0" y="34671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53" name="Freeform 53"/>
            <p:cNvSpPr/>
            <p:nvPr/>
          </p:nvSpPr>
          <p:spPr>
            <a:xfrm>
              <a:off x="8783955" y="4629150"/>
              <a:ext cx="520065" cy="463868"/>
            </a:xfrm>
            <a:custGeom>
              <a:avLst/>
              <a:gdLst/>
              <a:ahLst/>
              <a:cxnLst/>
              <a:rect l="l" t="t" r="r" b="b"/>
              <a:pathLst>
                <a:path w="520065" h="463868">
                  <a:moveTo>
                    <a:pt x="0" y="0"/>
                  </a:moveTo>
                  <a:lnTo>
                    <a:pt x="520065" y="463868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54" name="Freeform 54"/>
            <p:cNvSpPr/>
            <p:nvPr/>
          </p:nvSpPr>
          <p:spPr>
            <a:xfrm>
              <a:off x="9908858" y="3967162"/>
              <a:ext cx="217170" cy="391478"/>
            </a:xfrm>
            <a:custGeom>
              <a:avLst/>
              <a:gdLst/>
              <a:ahLst/>
              <a:cxnLst/>
              <a:rect l="l" t="t" r="r" b="b"/>
              <a:pathLst>
                <a:path w="217170" h="391478">
                  <a:moveTo>
                    <a:pt x="0" y="0"/>
                  </a:moveTo>
                  <a:lnTo>
                    <a:pt x="217170" y="391478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55" name="Freeform 55"/>
            <p:cNvSpPr/>
            <p:nvPr/>
          </p:nvSpPr>
          <p:spPr>
            <a:xfrm>
              <a:off x="9974580" y="3903345"/>
              <a:ext cx="868680" cy="518160"/>
            </a:xfrm>
            <a:custGeom>
              <a:avLst/>
              <a:gdLst/>
              <a:ahLst/>
              <a:cxnLst/>
              <a:rect l="l" t="t" r="r" b="b"/>
              <a:pathLst>
                <a:path w="868680" h="518160">
                  <a:moveTo>
                    <a:pt x="0" y="0"/>
                  </a:moveTo>
                  <a:lnTo>
                    <a:pt x="868680" y="51816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56" name="Freeform 56"/>
            <p:cNvSpPr/>
            <p:nvPr/>
          </p:nvSpPr>
          <p:spPr>
            <a:xfrm>
              <a:off x="10993755" y="4688205"/>
              <a:ext cx="9525" cy="346710"/>
            </a:xfrm>
            <a:custGeom>
              <a:avLst/>
              <a:gdLst/>
              <a:ahLst/>
              <a:cxnLst/>
              <a:rect l="l" t="t" r="r" b="b"/>
              <a:pathLst>
                <a:path w="9525" h="346710">
                  <a:moveTo>
                    <a:pt x="0" y="0"/>
                  </a:moveTo>
                  <a:lnTo>
                    <a:pt x="0" y="34671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57" name="Ellipse 57"/>
            <p:cNvSpPr/>
            <p:nvPr/>
          </p:nvSpPr>
          <p:spPr>
            <a:xfrm>
              <a:off x="6637020" y="1551622"/>
              <a:ext cx="333375" cy="333375"/>
            </a:xfrm>
            <a:prstGeom prst="ellipse">
              <a:avLst/>
            </a:prstGeom>
            <a:solidFill>
              <a:srgbClr val="2F4B9A"/>
            </a:solidFill>
            <a:ln w="17145">
              <a:solidFill>
                <a:srgbClr val="2F4B9A"/>
              </a:solidFill>
            </a:ln>
          </p:spPr>
        </p:sp>
        <p:sp>
          <p:nvSpPr>
            <p:cNvPr id="58" name="Ellipse 58"/>
            <p:cNvSpPr/>
            <p:nvPr/>
          </p:nvSpPr>
          <p:spPr>
            <a:xfrm>
              <a:off x="6637020" y="2249805"/>
              <a:ext cx="333375" cy="33337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59" name="Ellipse 59"/>
            <p:cNvSpPr/>
            <p:nvPr/>
          </p:nvSpPr>
          <p:spPr>
            <a:xfrm>
              <a:off x="5370195" y="2947988"/>
              <a:ext cx="333375" cy="333375"/>
            </a:xfrm>
            <a:prstGeom prst="ellipse">
              <a:avLst/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60" name="Ellipse 60"/>
            <p:cNvSpPr/>
            <p:nvPr/>
          </p:nvSpPr>
          <p:spPr>
            <a:xfrm>
              <a:off x="7904798" y="2947988"/>
              <a:ext cx="333375" cy="33337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61" name="Ellipse 61"/>
            <p:cNvSpPr/>
            <p:nvPr/>
          </p:nvSpPr>
          <p:spPr>
            <a:xfrm>
              <a:off x="6153150" y="3647122"/>
              <a:ext cx="333375" cy="333375"/>
            </a:xfrm>
            <a:prstGeom prst="ellipse">
              <a:avLst/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62" name="Ellipse 62"/>
            <p:cNvSpPr/>
            <p:nvPr/>
          </p:nvSpPr>
          <p:spPr>
            <a:xfrm>
              <a:off x="6928485" y="3647122"/>
              <a:ext cx="333375" cy="333375"/>
            </a:xfrm>
            <a:prstGeom prst="ellipse">
              <a:avLst/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63" name="Ellipse 63"/>
            <p:cNvSpPr/>
            <p:nvPr/>
          </p:nvSpPr>
          <p:spPr>
            <a:xfrm>
              <a:off x="9656445" y="3647122"/>
              <a:ext cx="333375" cy="33337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64" name="Ellipse 64"/>
            <p:cNvSpPr/>
            <p:nvPr/>
          </p:nvSpPr>
          <p:spPr>
            <a:xfrm>
              <a:off x="8486775" y="4345305"/>
              <a:ext cx="333375" cy="33337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65" name="Ellipse 65"/>
            <p:cNvSpPr/>
            <p:nvPr/>
          </p:nvSpPr>
          <p:spPr>
            <a:xfrm>
              <a:off x="7710488" y="5043488"/>
              <a:ext cx="333375" cy="333375"/>
            </a:xfrm>
            <a:prstGeom prst="ellipse">
              <a:avLst/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66" name="Ellipse 66"/>
            <p:cNvSpPr/>
            <p:nvPr/>
          </p:nvSpPr>
          <p:spPr>
            <a:xfrm>
              <a:off x="8486775" y="5043488"/>
              <a:ext cx="333375" cy="333375"/>
            </a:xfrm>
            <a:prstGeom prst="ellipse">
              <a:avLst/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67" name="Ellipse 67"/>
            <p:cNvSpPr/>
            <p:nvPr/>
          </p:nvSpPr>
          <p:spPr>
            <a:xfrm>
              <a:off x="9268778" y="5043488"/>
              <a:ext cx="333375" cy="333375"/>
            </a:xfrm>
            <a:prstGeom prst="ellipse">
              <a:avLst/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68" name="Ellipse 68"/>
            <p:cNvSpPr/>
            <p:nvPr/>
          </p:nvSpPr>
          <p:spPr>
            <a:xfrm>
              <a:off x="10044112" y="4345305"/>
              <a:ext cx="333375" cy="333375"/>
            </a:xfrm>
            <a:prstGeom prst="ellipse">
              <a:avLst/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69" name="Ellipse 69"/>
            <p:cNvSpPr/>
            <p:nvPr/>
          </p:nvSpPr>
          <p:spPr>
            <a:xfrm>
              <a:off x="10827068" y="4345305"/>
              <a:ext cx="333375" cy="33337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70" name="Ellipse 70"/>
            <p:cNvSpPr/>
            <p:nvPr/>
          </p:nvSpPr>
          <p:spPr>
            <a:xfrm>
              <a:off x="10827068" y="5043488"/>
              <a:ext cx="333375" cy="333375"/>
            </a:xfrm>
            <a:prstGeom prst="ellipse">
              <a:avLst/>
            </a:prstGeom>
            <a:solidFill>
              <a:srgbClr val="E3F5F1"/>
            </a:solidFill>
            <a:ln w="17145">
              <a:solidFill>
                <a:srgbClr val="14A38B"/>
              </a:solidFill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6754456" y="164830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6754456" y="234648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5487631" y="304466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8022234" y="304466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6270586" y="374380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7045921" y="374380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9773881" y="374380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8604211" y="444198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7827924" y="514016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8560675" y="5140166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9342678" y="5140166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10118013" y="4441984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10900968" y="4441984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10900968" y="5140166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  <p:sp>
          <p:nvSpPr>
            <p:cNvPr id="85" name="Rectangle 85"/>
            <p:cNvSpPr/>
            <p:nvPr/>
          </p:nvSpPr>
          <p:spPr>
            <a:xfrm>
              <a:off x="6671310" y="1981200"/>
              <a:ext cx="264795" cy="160020"/>
            </a:xfrm>
            <a:prstGeom prst="roundRect">
              <a:avLst>
                <a:gd name="adj" fmla="val 2381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6" name="TextBox 86"/>
            <p:cNvSpPr txBox="1"/>
            <p:nvPr/>
          </p:nvSpPr>
          <p:spPr>
            <a:xfrm>
              <a:off x="6693332" y="2013585"/>
              <a:ext cx="22075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A=1</a:t>
              </a:r>
            </a:p>
          </p:txBody>
        </p:sp>
        <p:sp>
          <p:nvSpPr>
            <p:cNvPr id="87" name="Rectangle 87"/>
            <p:cNvSpPr/>
            <p:nvPr/>
          </p:nvSpPr>
          <p:spPr>
            <a:xfrm>
              <a:off x="6037898" y="2680335"/>
              <a:ext cx="264795" cy="160020"/>
            </a:xfrm>
            <a:prstGeom prst="roundRect">
              <a:avLst>
                <a:gd name="adj" fmla="val 2381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8" name="TextBox 88"/>
            <p:cNvSpPr txBox="1"/>
            <p:nvPr/>
          </p:nvSpPr>
          <p:spPr>
            <a:xfrm>
              <a:off x="6059919" y="2711768"/>
              <a:ext cx="22075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B=1</a:t>
              </a:r>
            </a:p>
          </p:txBody>
        </p:sp>
        <p:sp>
          <p:nvSpPr>
            <p:cNvPr id="89" name="Rectangle 89"/>
            <p:cNvSpPr/>
            <p:nvPr/>
          </p:nvSpPr>
          <p:spPr>
            <a:xfrm>
              <a:off x="7305675" y="2680335"/>
              <a:ext cx="264795" cy="160020"/>
            </a:xfrm>
            <a:prstGeom prst="roundRect">
              <a:avLst>
                <a:gd name="adj" fmla="val 2381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90" name="TextBox 90"/>
            <p:cNvSpPr txBox="1"/>
            <p:nvPr/>
          </p:nvSpPr>
          <p:spPr>
            <a:xfrm>
              <a:off x="7327697" y="2711768"/>
              <a:ext cx="22075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B=2</a:t>
              </a:r>
            </a:p>
          </p:txBody>
        </p:sp>
        <p:sp>
          <p:nvSpPr>
            <p:cNvPr id="91" name="Rectangle 91"/>
            <p:cNvSpPr/>
            <p:nvPr/>
          </p:nvSpPr>
          <p:spPr>
            <a:xfrm>
              <a:off x="7062788" y="3378518"/>
              <a:ext cx="264795" cy="160020"/>
            </a:xfrm>
            <a:prstGeom prst="roundRect">
              <a:avLst>
                <a:gd name="adj" fmla="val 2381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92" name="TextBox 92"/>
            <p:cNvSpPr txBox="1"/>
            <p:nvPr/>
          </p:nvSpPr>
          <p:spPr>
            <a:xfrm>
              <a:off x="7084809" y="3410902"/>
              <a:ext cx="22075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C=1</a:t>
              </a:r>
            </a:p>
          </p:txBody>
        </p:sp>
        <p:sp>
          <p:nvSpPr>
            <p:cNvPr id="93" name="Rectangle 93"/>
            <p:cNvSpPr/>
            <p:nvPr/>
          </p:nvSpPr>
          <p:spPr>
            <a:xfrm>
              <a:off x="7450455" y="3378518"/>
              <a:ext cx="264795" cy="160020"/>
            </a:xfrm>
            <a:prstGeom prst="roundRect">
              <a:avLst>
                <a:gd name="adj" fmla="val 2381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94" name="TextBox 94"/>
            <p:cNvSpPr txBox="1"/>
            <p:nvPr/>
          </p:nvSpPr>
          <p:spPr>
            <a:xfrm>
              <a:off x="7472477" y="3410902"/>
              <a:ext cx="22075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C=2</a:t>
              </a:r>
            </a:p>
          </p:txBody>
        </p:sp>
        <p:sp>
          <p:nvSpPr>
            <p:cNvPr id="95" name="Rectangle 95"/>
            <p:cNvSpPr/>
            <p:nvPr/>
          </p:nvSpPr>
          <p:spPr>
            <a:xfrm>
              <a:off x="8815388" y="3378518"/>
              <a:ext cx="264795" cy="160020"/>
            </a:xfrm>
            <a:prstGeom prst="roundRect">
              <a:avLst>
                <a:gd name="adj" fmla="val 2381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96" name="TextBox 96"/>
            <p:cNvSpPr txBox="1"/>
            <p:nvPr/>
          </p:nvSpPr>
          <p:spPr>
            <a:xfrm>
              <a:off x="8837409" y="3410902"/>
              <a:ext cx="22075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C=3</a:t>
              </a:r>
            </a:p>
          </p:txBody>
        </p:sp>
        <p:sp>
          <p:nvSpPr>
            <p:cNvPr id="97" name="Rectangle 97"/>
            <p:cNvSpPr/>
            <p:nvPr/>
          </p:nvSpPr>
          <p:spPr>
            <a:xfrm>
              <a:off x="9105900" y="4076700"/>
              <a:ext cx="264795" cy="160020"/>
            </a:xfrm>
            <a:prstGeom prst="roundRect">
              <a:avLst>
                <a:gd name="adj" fmla="val 2381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98" name="TextBox 98"/>
            <p:cNvSpPr txBox="1"/>
            <p:nvPr/>
          </p:nvSpPr>
          <p:spPr>
            <a:xfrm>
              <a:off x="9127922" y="4109085"/>
              <a:ext cx="22075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D=1</a:t>
              </a:r>
            </a:p>
          </p:txBody>
        </p:sp>
        <p:sp>
          <p:nvSpPr>
            <p:cNvPr id="99" name="Rectangle 99"/>
            <p:cNvSpPr/>
            <p:nvPr/>
          </p:nvSpPr>
          <p:spPr>
            <a:xfrm>
              <a:off x="8133398" y="4775835"/>
              <a:ext cx="264795" cy="160020"/>
            </a:xfrm>
            <a:prstGeom prst="roundRect">
              <a:avLst>
                <a:gd name="adj" fmla="val 2381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00" name="TextBox 100"/>
            <p:cNvSpPr txBox="1"/>
            <p:nvPr/>
          </p:nvSpPr>
          <p:spPr>
            <a:xfrm>
              <a:off x="8155419" y="4807268"/>
              <a:ext cx="22075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E=1</a:t>
              </a:r>
            </a:p>
          </p:txBody>
        </p:sp>
        <p:sp>
          <p:nvSpPr>
            <p:cNvPr id="101" name="Rectangle 101"/>
            <p:cNvSpPr/>
            <p:nvPr/>
          </p:nvSpPr>
          <p:spPr>
            <a:xfrm>
              <a:off x="8521065" y="4775835"/>
              <a:ext cx="264795" cy="160020"/>
            </a:xfrm>
            <a:prstGeom prst="roundRect">
              <a:avLst>
                <a:gd name="adj" fmla="val 2381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02" name="TextBox 102"/>
            <p:cNvSpPr txBox="1"/>
            <p:nvPr/>
          </p:nvSpPr>
          <p:spPr>
            <a:xfrm>
              <a:off x="8543087" y="4807268"/>
              <a:ext cx="22075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E=2</a:t>
              </a:r>
            </a:p>
          </p:txBody>
        </p:sp>
        <p:sp>
          <p:nvSpPr>
            <p:cNvPr id="103" name="Rectangle 103"/>
            <p:cNvSpPr/>
            <p:nvPr/>
          </p:nvSpPr>
          <p:spPr>
            <a:xfrm>
              <a:off x="8911590" y="4775835"/>
              <a:ext cx="264795" cy="160020"/>
            </a:xfrm>
            <a:prstGeom prst="roundRect">
              <a:avLst>
                <a:gd name="adj" fmla="val 2381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04" name="TextBox 104"/>
            <p:cNvSpPr txBox="1"/>
            <p:nvPr/>
          </p:nvSpPr>
          <p:spPr>
            <a:xfrm>
              <a:off x="8933612" y="4807268"/>
              <a:ext cx="22075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E=3</a:t>
              </a:r>
            </a:p>
          </p:txBody>
        </p:sp>
        <p:sp>
          <p:nvSpPr>
            <p:cNvPr id="105" name="Rectangle 105"/>
            <p:cNvSpPr/>
            <p:nvPr/>
          </p:nvSpPr>
          <p:spPr>
            <a:xfrm>
              <a:off x="9885045" y="4076700"/>
              <a:ext cx="264795" cy="160020"/>
            </a:xfrm>
            <a:prstGeom prst="roundRect">
              <a:avLst>
                <a:gd name="adj" fmla="val 2381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06" name="TextBox 106"/>
            <p:cNvSpPr txBox="1"/>
            <p:nvPr/>
          </p:nvSpPr>
          <p:spPr>
            <a:xfrm>
              <a:off x="9907067" y="4109085"/>
              <a:ext cx="22075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D=2</a:t>
              </a:r>
            </a:p>
          </p:txBody>
        </p:sp>
        <p:sp>
          <p:nvSpPr>
            <p:cNvPr id="107" name="Rectangle 107"/>
            <p:cNvSpPr/>
            <p:nvPr/>
          </p:nvSpPr>
          <p:spPr>
            <a:xfrm>
              <a:off x="10276522" y="4076700"/>
              <a:ext cx="264795" cy="160020"/>
            </a:xfrm>
            <a:prstGeom prst="roundRect">
              <a:avLst>
                <a:gd name="adj" fmla="val 2381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08" name="TextBox 108"/>
            <p:cNvSpPr txBox="1"/>
            <p:nvPr/>
          </p:nvSpPr>
          <p:spPr>
            <a:xfrm>
              <a:off x="10298544" y="4109085"/>
              <a:ext cx="22075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D=3</a:t>
              </a:r>
            </a:p>
          </p:txBody>
        </p:sp>
        <p:sp>
          <p:nvSpPr>
            <p:cNvPr id="109" name="Rectangle 109"/>
            <p:cNvSpPr/>
            <p:nvPr/>
          </p:nvSpPr>
          <p:spPr>
            <a:xfrm>
              <a:off x="10861358" y="4775835"/>
              <a:ext cx="264795" cy="160020"/>
            </a:xfrm>
            <a:prstGeom prst="roundRect">
              <a:avLst>
                <a:gd name="adj" fmla="val 2381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10" name="TextBox 110"/>
            <p:cNvSpPr txBox="1"/>
            <p:nvPr/>
          </p:nvSpPr>
          <p:spPr>
            <a:xfrm>
              <a:off x="10883379" y="4807268"/>
              <a:ext cx="22075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E=1</a:t>
              </a:r>
            </a:p>
          </p:txBody>
        </p:sp>
      </p:grpSp>
      <p:grpSp>
        <p:nvGrpSpPr>
          <p:cNvPr id="11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12" name="TextBox 112"/>
            <p:cNvSpPr txBox="1"/>
            <p:nvPr/>
          </p:nvSpPr>
          <p:spPr>
            <a:xfrm>
              <a:off x="528447" y="6581299"/>
              <a:ext cx="18568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第7章 回溯法</a:t>
              </a:r>
            </a:p>
          </p:txBody>
        </p:sp>
        <p:sp>
          <p:nvSpPr>
            <p:cNvPr id="113" name="TextBox 11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891528" cy="909257"/>
            <a:chOff x="520446" y="342900"/>
            <a:chExt cx="689152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98786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8957" y="407194"/>
              <a:ext cx="18358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第7章 回溯法 · 图着色问题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89152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小结：解空间树的形状、回溯法的效率与改进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1" name="c1-table-1"/>
          <p:cNvGrpSpPr/>
          <p:nvPr/>
        </p:nvGrpSpPr>
        <p:grpSpPr>
          <a:xfrm>
            <a:off x="533400" y="1524000"/>
            <a:ext cx="6059805" cy="2223135"/>
            <a:chOff x="533400" y="1524000"/>
            <a:chExt cx="6059805" cy="222313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059805" cy="405765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92886" y="164830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解空间树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650249" y="164830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问题的解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164724" y="164830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叶结点数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588038" y="164830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例子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33412" y="2054066"/>
              <a:ext cx="864870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集合树（子集</a:t>
              </a:r>
              <a:br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树）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966912" y="2154079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对已知集合元素的取舍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148138" y="2154079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2ⁿ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995862" y="2154079"/>
              <a:ext cx="136086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子集和数、0/1 背包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2530792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533400" y="2535555"/>
              <a:ext cx="6059805" cy="60579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33412" y="2759869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排列树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966912" y="2759869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对已知集合元素的排列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148138" y="2759869"/>
              <a:ext cx="13958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n!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995862" y="2659856"/>
              <a:ext cx="1405382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n-皇后（各 xᵢ 互不相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同）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533400" y="3136582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33412" y="3365659"/>
              <a:ext cx="82825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完全 m 叉树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966912" y="3265646"/>
              <a:ext cx="1768094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每个分量从 m 个值中任取，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可以重复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148138" y="3365659"/>
              <a:ext cx="2074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mⁿ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995862" y="3365659"/>
              <a:ext cx="115731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图的 m-着色判定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33400" y="1524000"/>
              <a:ext cx="6059805" cy="222313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1862138" y="1524000"/>
              <a:ext cx="9525" cy="222313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4043362" y="1524000"/>
              <a:ext cx="9525" cy="222313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4891088" y="1524000"/>
              <a:ext cx="9525" cy="222313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37" name="c1-card-2"/>
          <p:cNvGrpSpPr/>
          <p:nvPr/>
        </p:nvGrpSpPr>
        <p:grpSpPr>
          <a:xfrm>
            <a:off x="533400" y="3922395"/>
            <a:ext cx="6059805" cy="1663065"/>
            <a:chOff x="533400" y="3922395"/>
            <a:chExt cx="6059805" cy="1663065"/>
          </a:xfrm>
        </p:grpSpPr>
        <p:sp>
          <p:nvSpPr>
            <p:cNvPr id="32" name="Rectangle 32"/>
            <p:cNvSpPr/>
            <p:nvPr/>
          </p:nvSpPr>
          <p:spPr>
            <a:xfrm>
              <a:off x="533400" y="3922395"/>
              <a:ext cx="6059805" cy="1663065"/>
            </a:xfrm>
            <a:prstGeom prst="roundRect">
              <a:avLst>
                <a:gd name="adj" fmla="val 801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542925" y="4055745"/>
              <a:ext cx="47625" cy="139636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763905" y="4114800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855345" y="414909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57047" y="4471035"/>
              <a:ext cx="534581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原课件小结把图着色判定问题归为排列树。不相邻的顶点可以同色，xᵢ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可重复取值，解空间树是完全 m 叉树（与原课件 7.5 节一致）。</a:t>
              </a:r>
            </a:p>
          </p:txBody>
        </p:sp>
      </p:grpSp>
      <p:grpSp>
        <p:nvGrpSpPr>
          <p:cNvPr id="48" name="c2-card-1"/>
          <p:cNvGrpSpPr/>
          <p:nvPr/>
        </p:nvGrpSpPr>
        <p:grpSpPr>
          <a:xfrm>
            <a:off x="6898005" y="1524000"/>
            <a:ext cx="4760595" cy="1814512"/>
            <a:chOff x="6898005" y="1524000"/>
            <a:chExt cx="4760595" cy="1814512"/>
          </a:xfrm>
        </p:grpSpPr>
        <p:sp>
          <p:nvSpPr>
            <p:cNvPr id="38" name="Rectangle 38"/>
            <p:cNvSpPr/>
            <p:nvPr/>
          </p:nvSpPr>
          <p:spPr>
            <a:xfrm>
              <a:off x="6898005" y="1524000"/>
              <a:ext cx="4760595" cy="1814512"/>
            </a:xfrm>
            <a:prstGeom prst="roundRect">
              <a:avLst>
                <a:gd name="adj" fmla="val 734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6907530" y="1657350"/>
              <a:ext cx="47625" cy="1547812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7128510" y="1716405"/>
              <a:ext cx="1276350" cy="24765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195947" y="1750695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回溯法的效率问题</a:t>
              </a:r>
            </a:p>
          </p:txBody>
        </p:sp>
        <p:sp>
          <p:nvSpPr>
            <p:cNvPr id="42" name="Ellipse 42"/>
            <p:cNvSpPr/>
            <p:nvPr/>
          </p:nvSpPr>
          <p:spPr>
            <a:xfrm>
              <a:off x="7137082" y="2128838"/>
              <a:ext cx="59055" cy="5905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293102" y="2072640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解空间树的大小：决定最坏情况</a:t>
              </a:r>
            </a:p>
          </p:txBody>
        </p:sp>
        <p:sp>
          <p:nvSpPr>
            <p:cNvPr id="44" name="Ellipse 44"/>
            <p:cNvSpPr/>
            <p:nvPr/>
          </p:nvSpPr>
          <p:spPr>
            <a:xfrm>
              <a:off x="7137082" y="2431732"/>
              <a:ext cx="59055" cy="5905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7293102" y="2375535"/>
              <a:ext cx="35058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限界函数 B 的剪枝能力：决定动态树的大小</a:t>
              </a:r>
            </a:p>
          </p:txBody>
        </p:sp>
        <p:sp>
          <p:nvSpPr>
            <p:cNvPr id="46" name="Ellipse 46"/>
            <p:cNvSpPr/>
            <p:nvPr/>
          </p:nvSpPr>
          <p:spPr>
            <a:xfrm>
              <a:off x="7137082" y="2734627"/>
              <a:ext cx="59055" cy="5905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7293102" y="2678430"/>
              <a:ext cx="39570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求问题全部的解时，可以用蒙特卡罗方法估计算法效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率</a:t>
              </a:r>
            </a:p>
          </p:txBody>
        </p:sp>
      </p:grpSp>
      <p:grpSp>
        <p:nvGrpSpPr>
          <p:cNvPr id="59" name="c2-card-2"/>
          <p:cNvGrpSpPr/>
          <p:nvPr/>
        </p:nvGrpSpPr>
        <p:grpSpPr>
          <a:xfrm>
            <a:off x="6898005" y="3513772"/>
            <a:ext cx="4760595" cy="2071688"/>
            <a:chOff x="6898005" y="3513772"/>
            <a:chExt cx="4760595" cy="2071688"/>
          </a:xfrm>
        </p:grpSpPr>
        <p:sp>
          <p:nvSpPr>
            <p:cNvPr id="49" name="Rectangle 49"/>
            <p:cNvSpPr/>
            <p:nvPr/>
          </p:nvSpPr>
          <p:spPr>
            <a:xfrm>
              <a:off x="6898005" y="3513772"/>
              <a:ext cx="4760595" cy="2071688"/>
            </a:xfrm>
            <a:prstGeom prst="roundRect">
              <a:avLst>
                <a:gd name="adj" fmla="val 643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0" name="Rectangle 50"/>
            <p:cNvSpPr/>
            <p:nvPr/>
          </p:nvSpPr>
          <p:spPr>
            <a:xfrm>
              <a:off x="6907530" y="3647122"/>
              <a:ext cx="47625" cy="1804988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7128510" y="3706178"/>
              <a:ext cx="1009650" cy="247650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7203948" y="3740468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回溯法的改进</a:t>
              </a:r>
            </a:p>
          </p:txBody>
        </p:sp>
        <p:sp>
          <p:nvSpPr>
            <p:cNvPr id="53" name="Ellipse 53"/>
            <p:cNvSpPr/>
            <p:nvPr/>
          </p:nvSpPr>
          <p:spPr>
            <a:xfrm>
              <a:off x="7137082" y="4118610"/>
              <a:ext cx="59055" cy="5905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7293102" y="4062412"/>
              <a:ext cx="37856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根据树的分支情况设计优先策略，如优先搜索结点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少、解多的分支</a:t>
              </a:r>
            </a:p>
          </p:txBody>
        </p:sp>
        <p:sp>
          <p:nvSpPr>
            <p:cNvPr id="55" name="Ellipse 55"/>
            <p:cNvSpPr/>
            <p:nvPr/>
          </p:nvSpPr>
          <p:spPr>
            <a:xfrm>
              <a:off x="7137082" y="4678680"/>
              <a:ext cx="59055" cy="5905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7293102" y="4622482"/>
              <a:ext cx="385419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利用搜索树的对称性剪裁子树，如 n-皇后的解左右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翻转后仍是解</a:t>
              </a:r>
            </a:p>
          </p:txBody>
        </p:sp>
        <p:sp>
          <p:nvSpPr>
            <p:cNvPr id="57" name="Ellipse 57"/>
            <p:cNvSpPr/>
            <p:nvPr/>
          </p:nvSpPr>
          <p:spPr>
            <a:xfrm>
              <a:off x="7137082" y="5237798"/>
              <a:ext cx="59055" cy="5905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7293102" y="5181600"/>
              <a:ext cx="419366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分解成子问题，求解完子问题之后合并出原问题的解</a:t>
              </a:r>
            </a:p>
          </p:txBody>
        </p:sp>
      </p:grpSp>
      <p:grpSp>
        <p:nvGrpSpPr>
          <p:cNvPr id="65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60" name="Rectangle 60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2F4B9A"/>
            </a:solidFill>
            <a:ln>
              <a:noFill/>
            </a:ln>
          </p:spPr>
        </p:sp>
        <p:grpSp>
          <p:nvGrpSpPr>
            <p:cNvPr id="63" name="Group 63"/>
            <p:cNvGrpSpPr/>
            <p:nvPr/>
          </p:nvGrpSpPr>
          <p:grpSpPr>
            <a:xfrm>
              <a:off x="738188" y="6017897"/>
              <a:ext cx="200023" cy="200023"/>
              <a:chOff x="738188" y="6017897"/>
              <a:chExt cx="200023" cy="200023"/>
            </a:xfrm>
          </p:grpSpPr>
          <p:sp>
            <p:nvSpPr>
              <p:cNvPr id="61" name="Freeform 61"/>
              <p:cNvSpPr/>
              <p:nvPr/>
            </p:nvSpPr>
            <p:spPr>
              <a:xfrm>
                <a:off x="738188" y="601789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62" name="Freeform 62"/>
              <p:cNvSpPr/>
              <p:nvPr/>
            </p:nvSpPr>
            <p:spPr>
              <a:xfrm>
                <a:off x="871538" y="608457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64" name="TextBox 64"/>
            <p:cNvSpPr txBox="1"/>
            <p:nvPr/>
          </p:nvSpPr>
          <p:spPr>
            <a:xfrm>
              <a:off x="1040892" y="6023610"/>
              <a:ext cx="95912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判断方法：解是对元素的取舍，用子集树；解是元素的一种排列，用排列树；分量可重复地取 m 个值之一，用 m 叉树。</a:t>
              </a:r>
            </a:p>
          </p:txBody>
        </p:sp>
      </p:grpSp>
      <p:grpSp>
        <p:nvGrpSpPr>
          <p:cNvPr id="6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6" name="TextBox 66"/>
            <p:cNvSpPr txBox="1"/>
            <p:nvPr/>
          </p:nvSpPr>
          <p:spPr>
            <a:xfrm>
              <a:off x="528447" y="6581299"/>
              <a:ext cx="18568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第7章 回溯法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2000822" cy="909257"/>
            <a:chOff x="520446" y="342900"/>
            <a:chExt cx="200082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98786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8957" y="407194"/>
              <a:ext cx="18358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第7章 回溯法 · 图着色问题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05575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自测题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3505200" cy="2408872"/>
            <a:chOff x="533400" y="1524000"/>
            <a:chExt cx="3505200" cy="240887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3505200" cy="2408872"/>
            </a:xfrm>
            <a:prstGeom prst="roundRect">
              <a:avLst>
                <a:gd name="adj" fmla="val 5536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37235" y="1727835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24722" y="1763554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Q1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29996" y="2100739"/>
              <a:ext cx="289991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什么是多米诺性质？回溯法为什么离</a:t>
              </a:r>
              <a:br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不开它？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29996" y="2692241"/>
              <a:ext cx="2899918" cy="109308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若 P(x₁,…,xᵢ₊₁) 为真则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P(x₁,…,xᵢ) 为真。部分解不满足约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束时，它的扩展都不满足，剪掉整棵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子树不会漏解。</a:t>
              </a:r>
            </a:p>
          </p:txBody>
        </p:sp>
      </p:grpSp>
      <p:grpSp>
        <p:nvGrpSpPr>
          <p:cNvPr id="18" name="c1-card-2"/>
          <p:cNvGrpSpPr/>
          <p:nvPr/>
        </p:nvGrpSpPr>
        <p:grpSpPr>
          <a:xfrm>
            <a:off x="533400" y="4118610"/>
            <a:ext cx="3505200" cy="2137410"/>
            <a:chOff x="533400" y="4118610"/>
            <a:chExt cx="3505200" cy="2137410"/>
          </a:xfrm>
        </p:grpSpPr>
        <p:sp>
          <p:nvSpPr>
            <p:cNvPr id="13" name="Rectangle 13"/>
            <p:cNvSpPr/>
            <p:nvPr/>
          </p:nvSpPr>
          <p:spPr>
            <a:xfrm>
              <a:off x="533400" y="4118610"/>
              <a:ext cx="3505200" cy="2137410"/>
            </a:xfrm>
            <a:prstGeom prst="roundRect">
              <a:avLst>
                <a:gd name="adj" fmla="val 6239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737235" y="4322445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24722" y="4358164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Q4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29996" y="4695349"/>
              <a:ext cx="2878728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ESTIMATE 沿一条路径得到各层不受</a:t>
              </a:r>
              <a:br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限界的儿子数依次为 3、2、2、1，</a:t>
              </a:r>
              <a:br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估计值 m 是多少？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29996" y="5558314"/>
              <a:ext cx="2935986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 = 1 + 3 + 3·2 + 3·2·2 + 3·2·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2·1 = 1 + 3 + 6 + 12 + 12 = 34。</a:t>
              </a:r>
            </a:p>
          </p:txBody>
        </p:sp>
      </p:grpSp>
      <p:grpSp>
        <p:nvGrpSpPr>
          <p:cNvPr id="24" name="c2-card-1"/>
          <p:cNvGrpSpPr/>
          <p:nvPr/>
        </p:nvGrpSpPr>
        <p:grpSpPr>
          <a:xfrm>
            <a:off x="4343400" y="1524000"/>
            <a:ext cx="3505200" cy="1865948"/>
            <a:chOff x="4343400" y="1524000"/>
            <a:chExt cx="3505200" cy="1865948"/>
          </a:xfrm>
        </p:grpSpPr>
        <p:sp>
          <p:nvSpPr>
            <p:cNvPr id="19" name="Rectangle 19"/>
            <p:cNvSpPr/>
            <p:nvPr/>
          </p:nvSpPr>
          <p:spPr>
            <a:xfrm>
              <a:off x="4343400" y="1524000"/>
              <a:ext cx="3505200" cy="1865948"/>
            </a:xfrm>
            <a:prstGeom prst="roundRect">
              <a:avLst>
                <a:gd name="adj" fmla="val 7147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4547235" y="1727835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4634722" y="1763554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Q2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539996" y="2100739"/>
              <a:ext cx="2832290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子集和数问题用 k-元组、n-元组表</a:t>
              </a:r>
              <a:br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示时，哪些结点是解状态？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539996" y="2692241"/>
              <a:ext cx="2917952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k-元组表示中每个结点都是解状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态；n-元组表示中只有叶结点是。</a:t>
              </a:r>
            </a:p>
          </p:txBody>
        </p:sp>
      </p:grpSp>
      <p:grpSp>
        <p:nvGrpSpPr>
          <p:cNvPr id="30" name="c2-card-2"/>
          <p:cNvGrpSpPr/>
          <p:nvPr/>
        </p:nvGrpSpPr>
        <p:grpSpPr>
          <a:xfrm>
            <a:off x="4343400" y="3575685"/>
            <a:ext cx="3505200" cy="2680335"/>
            <a:chOff x="4343400" y="3575685"/>
            <a:chExt cx="3505200" cy="2680335"/>
          </a:xfrm>
        </p:grpSpPr>
        <p:sp>
          <p:nvSpPr>
            <p:cNvPr id="25" name="Rectangle 25"/>
            <p:cNvSpPr/>
            <p:nvPr/>
          </p:nvSpPr>
          <p:spPr>
            <a:xfrm>
              <a:off x="4343400" y="3575685"/>
              <a:ext cx="3505200" cy="2680335"/>
            </a:xfrm>
            <a:prstGeom prst="roundRect">
              <a:avLst>
                <a:gd name="adj" fmla="val 4975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4547235" y="3779520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34722" y="3815239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Q5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539996" y="4152424"/>
              <a:ext cx="2773229" cy="109308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 = 30，W =</a:t>
              </a:r>
              <a:br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(5,10,12,13,15,18)，X =</a:t>
              </a:r>
              <a:br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(1,0,0,0) 对应结点的 s、r 是多</a:t>
              </a:r>
              <a:br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少？B 值是多少？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539996" y="5286851"/>
              <a:ext cx="2845816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 = 5，r = 15 + 18 = 33。5 +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33 ≥ 30 且 5 + 15 ≤ 30，B 值为 T。</a:t>
              </a:r>
            </a:p>
          </p:txBody>
        </p:sp>
      </p:grpSp>
      <p:grpSp>
        <p:nvGrpSpPr>
          <p:cNvPr id="36" name="c3-card-1"/>
          <p:cNvGrpSpPr/>
          <p:nvPr/>
        </p:nvGrpSpPr>
        <p:grpSpPr>
          <a:xfrm>
            <a:off x="8153400" y="1524000"/>
            <a:ext cx="3505200" cy="2137410"/>
            <a:chOff x="8153400" y="1524000"/>
            <a:chExt cx="3505200" cy="2137410"/>
          </a:xfrm>
        </p:grpSpPr>
        <p:sp>
          <p:nvSpPr>
            <p:cNvPr id="31" name="Rectangle 31"/>
            <p:cNvSpPr/>
            <p:nvPr/>
          </p:nvSpPr>
          <p:spPr>
            <a:xfrm>
              <a:off x="8153400" y="1524000"/>
              <a:ext cx="3505200" cy="2137410"/>
            </a:xfrm>
            <a:prstGeom prst="roundRect">
              <a:avLst>
                <a:gd name="adj" fmla="val 6239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8357235" y="1727835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444722" y="1763554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Q3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349996" y="2100739"/>
              <a:ext cx="2897664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4-皇后问题中，部分解 (1, 3) 能扩</a:t>
              </a:r>
              <a:br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展出答案吗？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349996" y="2692241"/>
              <a:ext cx="2954020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不能。第 3 行只剩第 2、4 列不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同列，但都与第 2 行第 3 列的皇后同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斜线。</a:t>
              </a:r>
            </a:p>
          </p:txBody>
        </p:sp>
      </p:grpSp>
      <p:grpSp>
        <p:nvGrpSpPr>
          <p:cNvPr id="42" name="c3-card-2"/>
          <p:cNvGrpSpPr/>
          <p:nvPr/>
        </p:nvGrpSpPr>
        <p:grpSpPr>
          <a:xfrm>
            <a:off x="8153400" y="3847148"/>
            <a:ext cx="3505200" cy="2408872"/>
            <a:chOff x="8153400" y="3847148"/>
            <a:chExt cx="3505200" cy="2408872"/>
          </a:xfrm>
        </p:grpSpPr>
        <p:sp>
          <p:nvSpPr>
            <p:cNvPr id="37" name="Rectangle 37"/>
            <p:cNvSpPr/>
            <p:nvPr/>
          </p:nvSpPr>
          <p:spPr>
            <a:xfrm>
              <a:off x="8153400" y="3847148"/>
              <a:ext cx="3505200" cy="2408872"/>
            </a:xfrm>
            <a:prstGeom prst="roundRect">
              <a:avLst>
                <a:gd name="adj" fmla="val 5536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8357235" y="4050982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8444722" y="4086701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Q6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349996" y="4423886"/>
              <a:ext cx="2903976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 MCOLORING 给环 1-2-3-4-1 着</a:t>
              </a:r>
              <a:br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色，m = 2，第一个输出的方案是什</a:t>
              </a:r>
              <a:br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么？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349996" y="5286851"/>
              <a:ext cx="2845816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 = (1, 2, 1, 2)。顶点 3 不与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相邻，可取 1；顶点 4 与 1、3 相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邻，取 2。</a:t>
              </a:r>
            </a:p>
          </p:txBody>
        </p:sp>
      </p:grpSp>
      <p:grpSp>
        <p:nvGrpSpPr>
          <p:cNvPr id="4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3" name="TextBox 43"/>
            <p:cNvSpPr txBox="1"/>
            <p:nvPr/>
          </p:nvSpPr>
          <p:spPr>
            <a:xfrm>
              <a:off x="528447" y="6581299"/>
              <a:ext cx="18568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第7章 回溯法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1399032" cy="909257"/>
            <a:chOff x="520446" y="342900"/>
            <a:chExt cx="139903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10490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35916" y="407194"/>
              <a:ext cx="89986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第7章 回溯法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39903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本章小结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1" name="c1-table-1"/>
          <p:cNvGrpSpPr/>
          <p:nvPr/>
        </p:nvGrpSpPr>
        <p:grpSpPr>
          <a:xfrm>
            <a:off x="533400" y="1524000"/>
            <a:ext cx="6167438" cy="2360295"/>
            <a:chOff x="533400" y="1524000"/>
            <a:chExt cx="6167438" cy="236029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167438" cy="430530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59155" y="165544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问题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993011" y="165544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解空间树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3904678" y="165544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限界函数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693474" y="165544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最坏时间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38746" y="2191702"/>
              <a:ext cx="52186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n-皇后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625537" y="2085022"/>
              <a:ext cx="125425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排列树，n! 个叶结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点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229546" y="2085022"/>
              <a:ext cx="134569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PLACE：列不同，且</a:t>
              </a:r>
              <a:br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|X(i)−X(k)| ≠ |i−k|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449824" y="2191702"/>
              <a:ext cx="72816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O(n²·n!)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2592705"/>
              <a:ext cx="616743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533400" y="2597468"/>
              <a:ext cx="6167438" cy="64389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38746" y="2835592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子集和数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625537" y="2728912"/>
              <a:ext cx="129235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子集树，2ⁿ 个叶结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点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229546" y="2728912"/>
              <a:ext cx="181051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 + r ≥ M 且 s + W(k+1) ≤</a:t>
              </a:r>
              <a:br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449824" y="2835592"/>
              <a:ext cx="51572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O(2ⁿ)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533400" y="3236595"/>
              <a:ext cx="616743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38746" y="3372802"/>
              <a:ext cx="677418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m-着色判</a:t>
              </a:r>
              <a:br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定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625537" y="3372802"/>
              <a:ext cx="117805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 叉树，mⁿ 个叶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结点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229546" y="3479482"/>
              <a:ext cx="168798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OK：相邻顶点颜色不同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449824" y="3479482"/>
              <a:ext cx="7117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O(n·mⁿ)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33400" y="1524000"/>
              <a:ext cx="6167438" cy="236029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1515428" y="1524000"/>
              <a:ext cx="9525" cy="236029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3119438" y="1524000"/>
              <a:ext cx="9525" cy="236029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5339715" y="1524000"/>
              <a:ext cx="9525" cy="236029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4" name="c1-card-2"/>
          <p:cNvGrpSpPr/>
          <p:nvPr/>
        </p:nvGrpSpPr>
        <p:grpSpPr>
          <a:xfrm>
            <a:off x="533400" y="4070032"/>
            <a:ext cx="6167438" cy="1963102"/>
            <a:chOff x="533400" y="4070032"/>
            <a:chExt cx="6167438" cy="1963102"/>
          </a:xfrm>
        </p:grpSpPr>
        <p:sp>
          <p:nvSpPr>
            <p:cNvPr id="32" name="Rectangle 32"/>
            <p:cNvSpPr/>
            <p:nvPr/>
          </p:nvSpPr>
          <p:spPr>
            <a:xfrm>
              <a:off x="533400" y="4070032"/>
              <a:ext cx="6167438" cy="1963102"/>
            </a:xfrm>
            <a:prstGeom prst="roundRect">
              <a:avLst>
                <a:gd name="adj" fmla="val 679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542925" y="4203382"/>
              <a:ext cx="47625" cy="169640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775335" y="4273868"/>
              <a:ext cx="1631632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832040" y="4309586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本讲义对原课件的更正</a:t>
              </a:r>
            </a:p>
          </p:txBody>
        </p:sp>
        <p:sp>
          <p:nvSpPr>
            <p:cNvPr id="36" name="Ellipse 36"/>
            <p:cNvSpPr/>
            <p:nvPr/>
          </p:nvSpPr>
          <p:spPr>
            <a:xfrm>
              <a:off x="782955" y="4707255"/>
              <a:ext cx="60960" cy="609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939546" y="4646771"/>
              <a:ext cx="246133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k-元组长度 k ≤ n（第 5 页）</a:t>
              </a:r>
            </a:p>
          </p:txBody>
        </p:sp>
        <p:sp>
          <p:nvSpPr>
            <p:cNvPr id="38" name="Ellipse 38"/>
            <p:cNvSpPr/>
            <p:nvPr/>
          </p:nvSpPr>
          <p:spPr>
            <a:xfrm>
              <a:off x="782955" y="5027295"/>
              <a:ext cx="60960" cy="609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939546" y="4966811"/>
              <a:ext cx="461188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8-皇后排列树结点数、路径 2 估计值（第 28、30 页）</a:t>
              </a:r>
            </a:p>
          </p:txBody>
        </p:sp>
        <p:sp>
          <p:nvSpPr>
            <p:cNvPr id="40" name="Ellipse 40"/>
            <p:cNvSpPr/>
            <p:nvPr/>
          </p:nvSpPr>
          <p:spPr>
            <a:xfrm>
              <a:off x="782955" y="5347335"/>
              <a:ext cx="60960" cy="609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939546" y="5286851"/>
              <a:ext cx="555271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子集和数限界条件、SUMOFSUB、实例数据（第 33、34、40 页）</a:t>
              </a:r>
            </a:p>
          </p:txBody>
        </p:sp>
        <p:sp>
          <p:nvSpPr>
            <p:cNvPr id="42" name="Ellipse 42"/>
            <p:cNvSpPr/>
            <p:nvPr/>
          </p:nvSpPr>
          <p:spPr>
            <a:xfrm>
              <a:off x="782955" y="5667375"/>
              <a:ext cx="60960" cy="609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939546" y="5606891"/>
              <a:ext cx="365608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图着色解空间树是完全 m 叉树（第 47 页）</a:t>
              </a:r>
            </a:p>
          </p:txBody>
        </p:sp>
      </p:grpSp>
      <p:grpSp>
        <p:nvGrpSpPr>
          <p:cNvPr id="57" name="c2-bullets-1"/>
          <p:cNvGrpSpPr/>
          <p:nvPr/>
        </p:nvGrpSpPr>
        <p:grpSpPr>
          <a:xfrm>
            <a:off x="7006590" y="1535430"/>
            <a:ext cx="4701108" cy="1821276"/>
            <a:chOff x="7006590" y="1535430"/>
            <a:chExt cx="4701108" cy="1821276"/>
          </a:xfrm>
        </p:grpSpPr>
        <p:sp>
          <p:nvSpPr>
            <p:cNvPr id="45" name="Ellipse 45"/>
            <p:cNvSpPr/>
            <p:nvPr/>
          </p:nvSpPr>
          <p:spPr>
            <a:xfrm>
              <a:off x="7006590" y="1535430"/>
              <a:ext cx="201930" cy="20193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064935" y="1574816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296531" y="1547336"/>
              <a:ext cx="416229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回溯法在解空间树上深度优先搜索，用限界函数剪掉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不可能导致答案的子树</a:t>
              </a:r>
            </a:p>
          </p:txBody>
        </p:sp>
        <p:sp>
          <p:nvSpPr>
            <p:cNvPr id="48" name="Ellipse 48"/>
            <p:cNvSpPr/>
            <p:nvPr/>
          </p:nvSpPr>
          <p:spPr>
            <a:xfrm>
              <a:off x="7006590" y="2135505"/>
              <a:ext cx="201930" cy="20193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7064935" y="2175843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296531" y="2148364"/>
              <a:ext cx="416229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设计步骤：定解向量，分显式、隐式约束，定解空间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树，设计限界函数，深度优先搜索</a:t>
              </a:r>
            </a:p>
          </p:txBody>
        </p:sp>
        <p:sp>
          <p:nvSpPr>
            <p:cNvPr id="51" name="Ellipse 51"/>
            <p:cNvSpPr/>
            <p:nvPr/>
          </p:nvSpPr>
          <p:spPr>
            <a:xfrm>
              <a:off x="7006590" y="2736532"/>
              <a:ext cx="201930" cy="20193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7064935" y="2776871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296531" y="2749391"/>
              <a:ext cx="230840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多米诺性质保证剪枝不漏解</a:t>
              </a:r>
            </a:p>
          </p:txBody>
        </p:sp>
        <p:sp>
          <p:nvSpPr>
            <p:cNvPr id="54" name="Ellipse 54"/>
            <p:cNvSpPr/>
            <p:nvPr/>
          </p:nvSpPr>
          <p:spPr>
            <a:xfrm>
              <a:off x="7006590" y="3066098"/>
              <a:ext cx="201930" cy="20193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7064935" y="3106436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7296531" y="3078004"/>
              <a:ext cx="441116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求全部解之前可用蒙特卡罗方法估计要生成的结点数</a:t>
              </a:r>
            </a:p>
          </p:txBody>
        </p:sp>
      </p:grpSp>
      <p:grpSp>
        <p:nvGrpSpPr>
          <p:cNvPr id="67" name="c2-card-2"/>
          <p:cNvGrpSpPr/>
          <p:nvPr/>
        </p:nvGrpSpPr>
        <p:grpSpPr>
          <a:xfrm>
            <a:off x="7005638" y="3486150"/>
            <a:ext cx="4652962" cy="2546985"/>
            <a:chOff x="7005638" y="3486150"/>
            <a:chExt cx="4652962" cy="2546985"/>
          </a:xfrm>
        </p:grpSpPr>
        <p:sp>
          <p:nvSpPr>
            <p:cNvPr id="58" name="Rectangle 58"/>
            <p:cNvSpPr/>
            <p:nvPr/>
          </p:nvSpPr>
          <p:spPr>
            <a:xfrm>
              <a:off x="7005638" y="3486150"/>
              <a:ext cx="4652962" cy="2546985"/>
            </a:xfrm>
            <a:prstGeom prst="roundRect">
              <a:avLst>
                <a:gd name="adj" fmla="val 5236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9" name="Rectangle 59"/>
            <p:cNvSpPr/>
            <p:nvPr/>
          </p:nvSpPr>
          <p:spPr>
            <a:xfrm>
              <a:off x="7209472" y="3689985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7291781" y="372570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复习建议</a:t>
              </a:r>
            </a:p>
          </p:txBody>
        </p:sp>
        <p:sp>
          <p:nvSpPr>
            <p:cNvPr id="61" name="Ellipse 61"/>
            <p:cNvSpPr/>
            <p:nvPr/>
          </p:nvSpPr>
          <p:spPr>
            <a:xfrm>
              <a:off x="7217092" y="4123373"/>
              <a:ext cx="60960" cy="6096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7373684" y="4062889"/>
              <a:ext cx="3819652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动手画动态树：4-皇后、子集和数、图着色各画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一遍，写出每个结点的限界判断依据</a:t>
              </a:r>
            </a:p>
          </p:txBody>
        </p:sp>
        <p:sp>
          <p:nvSpPr>
            <p:cNvPr id="63" name="Ellipse 63"/>
            <p:cNvSpPr/>
            <p:nvPr/>
          </p:nvSpPr>
          <p:spPr>
            <a:xfrm>
              <a:off x="7217092" y="4714875"/>
              <a:ext cx="60960" cy="6096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7373684" y="4654391"/>
              <a:ext cx="388168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按 ESTIMATE 沿一条随机路径手算一次估计值</a:t>
              </a:r>
            </a:p>
          </p:txBody>
        </p:sp>
        <p:sp>
          <p:nvSpPr>
            <p:cNvPr id="65" name="Ellipse 65"/>
            <p:cNvSpPr/>
            <p:nvPr/>
          </p:nvSpPr>
          <p:spPr>
            <a:xfrm>
              <a:off x="7217092" y="5034915"/>
              <a:ext cx="60960" cy="6096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7373684" y="4974431"/>
              <a:ext cx="380161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对照左表，说出三个算法各自的解空间树、限界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函数和最坏时间</a:t>
              </a:r>
            </a:p>
          </p:txBody>
        </p:sp>
      </p:grpSp>
      <p:grpSp>
        <p:nvGrpSpPr>
          <p:cNvPr id="7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8" name="TextBox 68"/>
            <p:cNvSpPr txBox="1"/>
            <p:nvPr/>
          </p:nvSpPr>
          <p:spPr>
            <a:xfrm>
              <a:off x="528447" y="6581299"/>
              <a:ext cx="18568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第7章 回溯法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algo_ch7">
  <a:themeElements>
    <a:clrScheme name="algo_ch7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lgo_ch7">
      <a:maj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lgo_ch7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49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2026-09-19T07:59:56Z</dcterms:created>
  <dcterms:modified xsi:type="dcterms:W3CDTF">2026-09-19T07:59:56Z</dcterms:modified>
  <cp:category/>
  <cp:contentStatus/>
</cp:coreProperties>
</file>