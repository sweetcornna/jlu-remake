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ch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ch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7d2444a4177d84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bb2b10d41131dfa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f4395c90f46a0f3.png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4514" cy="3437763"/>
            <a:chOff x="666750" y="1619250"/>
            <a:chExt cx="487451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9869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2035" y="1718310"/>
              <a:ext cx="1754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第8章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分支限界法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用活结点表组织搜索，用成本估计和上界剪枝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355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FIFO 与 LC 检索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15-谜问题的可达判定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598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上界 U 与 LCBB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94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作业调度与 0/1 背包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91495" cy="205359"/>
            <a:chOff x="680466" y="6192202"/>
            <a:chExt cx="44914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91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自学复习版｜据吉林大学《算法设计与分析》第8章课件整理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179820" cy="4461795"/>
            <a:chOff x="521970" y="1515428"/>
            <a:chExt cx="6179820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332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适用问题、与回溯法的区别、算法 BB、FIFO 与优先队列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6283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8676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LC-检索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3620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成本函数 c、成本估计函数 ĉ、BFS 与 D-检索是它的特例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6283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0679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15-谜问题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277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可达性判定定理，FIFO、深度优先、LC 三种检索的对比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6283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求最小成本的分支限界法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352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LC、上界 U 与 u(X)、UB、FIFOBB、LCBB、极大化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6283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带有期限的作业调度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264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约束函数 B、ĉ 与 u 的设计、FIFOBB 手算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6283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背包问题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8282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用贪心解构造 ĉ 和 u，n-元组与 k-元组下的 LCBB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005638" y="1524000"/>
            <a:ext cx="4652962" cy="4402455"/>
            <a:chOff x="7005638" y="1524000"/>
            <a:chExt cx="4652962" cy="4402455"/>
          </a:xfrm>
        </p:grpSpPr>
        <p:sp>
          <p:nvSpPr>
            <p:cNvPr id="31" name="Rectangle 31"/>
            <p:cNvSpPr/>
            <p:nvPr/>
          </p:nvSpPr>
          <p:spPr>
            <a:xfrm>
              <a:off x="7005638" y="1524000"/>
              <a:ext cx="4652962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15162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5328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3559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259002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17118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说出分支限界法与回溯法的异同，写出算法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BB 的活结点表操作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259002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17118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 cost、c、ĉ、u 的定义，说明 ĉ(X) 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c(X) ≤ u(X) 的作用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259002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17118" y="3352800"/>
              <a:ext cx="3815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用判定定理判断 15-谜开局能否到达目标，算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 LC-检索中的 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259002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17118" y="397383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UB、FIFOBB、LCBB，写出每一步的 U、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ans 和活结点表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259002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17118" y="4594860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为作业调度和 0/1 背包设计 ĉ 与 u，分析搜索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的时间开销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分支限界法的一般方法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和回溯法用同一棵解空间树，只是换一种方式挑选扩展结点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8.1 适用问题与基本思想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07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8.1 BB 的抽象描述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55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检索与优先队列检索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1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例：4-皇后问题的 FIFO 检索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40303" cy="909257"/>
            <a:chOff x="520446" y="342900"/>
            <a:chExt cx="83403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分支限界法的一般方法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40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与回溯法相比：解空间树相同，E-结点的处理方式不同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760595" cy="2468880"/>
            <a:chOff x="533400" y="1524000"/>
            <a:chExt cx="4760595" cy="24688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468880"/>
            </a:xfrm>
            <a:prstGeom prst="roundRect">
              <a:avLst>
                <a:gd name="adj" fmla="val 54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218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适用问题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与回溯法一样，适用于组合数较大的问题，特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别是求最优解的组合优化问题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解向量、显式约束、隐式约束、解空间、解空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间树等概念都与回溯法相同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349466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屈婉玲等编著的《算法设计与分析》（清华大学出版社）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认为：分支限界是回溯算法的变种。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5780" y="4208145"/>
            <a:ext cx="4768215" cy="1173480"/>
            <a:chOff x="525780" y="4208145"/>
            <a:chExt cx="4768215" cy="1173480"/>
          </a:xfrm>
        </p:grpSpPr>
        <p:sp>
          <p:nvSpPr>
            <p:cNvPr id="17" name="TextBox 17"/>
            <p:cNvSpPr txBox="1"/>
            <p:nvPr/>
          </p:nvSpPr>
          <p:spPr>
            <a:xfrm>
              <a:off x="525780" y="42081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活结点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99222" y="420814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已经生成、儿子还没有全部生成的结点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5281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4648200"/>
              <a:ext cx="6655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99222" y="46482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正在生成儿子的结点，即扩展结点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96824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50882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死结点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99222" y="50882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被剪掉，或儿子已经全部生成的结点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5598795" y="1524000"/>
            <a:ext cx="6059805" cy="3150870"/>
            <a:chOff x="5598795" y="1524000"/>
            <a:chExt cx="6059805" cy="3150870"/>
          </a:xfrm>
        </p:grpSpPr>
        <p:sp>
          <p:nvSpPr>
            <p:cNvPr id="26" name="Rectangle 26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4059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9700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回溯法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48799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分支限界法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06618" y="2108359"/>
              <a:ext cx="85095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E-结点怎样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19151" y="210835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生成一个儿子就立即转去扩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展这个儿子（深度优先）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21343" y="2108359"/>
              <a:ext cx="21912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一次生成 E-结点的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全部儿子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再从活结点表选下一个 E-结点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6618" y="28970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活结点存放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19151" y="278368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由递归栈隐含保存，不需要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额外的表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21343" y="2783681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需要额外维护活结点表（队列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或堆）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598795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06618" y="3572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剪枝依据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19151" y="3572351"/>
              <a:ext cx="856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约束函数 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21343" y="3459004"/>
              <a:ext cx="21018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约束函数 B；求最优解时再加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 和上界 U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39947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598795" y="399954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06618" y="42476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挑选次序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19151" y="424767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固定的深度优先次序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21343" y="4134326"/>
              <a:ext cx="21506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可以按 ĉ 挑选，求最优解时通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常效率更高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1524000"/>
              <a:ext cx="605980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80656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108758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5598795" y="4865370"/>
            <a:ext cx="6059805" cy="782955"/>
            <a:chOff x="5598795" y="4865370"/>
            <a:chExt cx="6059805" cy="782955"/>
          </a:xfrm>
        </p:grpSpPr>
        <p:sp>
          <p:nvSpPr>
            <p:cNvPr id="51" name="Rectangle 51"/>
            <p:cNvSpPr/>
            <p:nvPr/>
          </p:nvSpPr>
          <p:spPr>
            <a:xfrm>
              <a:off x="5598795" y="486537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5803583" y="5156835"/>
              <a:ext cx="200026" cy="200025"/>
              <a:chOff x="5803583" y="515683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803583" y="51568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843321" y="52012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878037" y="53124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105525" y="5013960"/>
              <a:ext cx="4996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相同点：都在解空间树上搜索答案结点，都用约束函数 B 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掉不含可行解的子树。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8" name="Rectangle 5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991225"/>
              <a:ext cx="9837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辨别方法：儿子一生成就去扩展它，是回溯法；E-结点的儿子全部生成完才换下一个 E-结点，是分支限界法。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84401" cy="909257"/>
            <a:chOff x="520446" y="342900"/>
            <a:chExt cx="94844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分支限界法的一般方法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844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基本思想：一次生成 E-结点的全部儿子，合格的放进活结点表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814697" cy="3233071"/>
            <a:chOff x="533400" y="1533525"/>
            <a:chExt cx="4814697" cy="3233071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定义解空间树（元组、显式约束、隐式约束），检验问题满足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多米诺性质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3652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T 是答案结点就输出 T 并结束；否则令 E = 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11365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 E-结点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E 的所有儿子 X：X 是答案结点就输出 X 到根的路径并结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束；X 满足约束函数 B 就加入活结点表，否则舍弃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90022"/>
              <a:ext cx="1540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选下一个 E-结点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82916"/>
              <a:ext cx="43776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从活结点表选出一个结点作为新的 E，重复上一步；活结点表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为空时以失败结束</a:t>
              </a:r>
            </a:p>
          </p:txBody>
        </p:sp>
      </p:grpSp>
      <p:grpSp>
        <p:nvGrpSpPr>
          <p:cNvPr id="65" name="c2-flow-1"/>
          <p:cNvGrpSpPr/>
          <p:nvPr/>
        </p:nvGrpSpPr>
        <p:grpSpPr>
          <a:xfrm>
            <a:off x="6057900" y="1718310"/>
            <a:ext cx="5467350" cy="3950017"/>
            <a:chOff x="6057900" y="1718310"/>
            <a:chExt cx="5467350" cy="3950017"/>
          </a:xfrm>
        </p:grpSpPr>
        <p:sp>
          <p:nvSpPr>
            <p:cNvPr id="25" name="Freeform 25"/>
            <p:cNvSpPr/>
            <p:nvPr/>
          </p:nvSpPr>
          <p:spPr>
            <a:xfrm>
              <a:off x="8791575" y="2156460"/>
              <a:ext cx="9525" cy="188595"/>
            </a:xfrm>
            <a:custGeom>
              <a:avLst/>
              <a:gdLst/>
              <a:ahLst/>
              <a:cxnLst/>
              <a:rect l="l" t="t" r="r" b="b"/>
              <a:pathLst>
                <a:path w="9525" h="188595">
                  <a:moveTo>
                    <a:pt x="0" y="0"/>
                  </a:moveTo>
                  <a:lnTo>
                    <a:pt x="0" y="1885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739188" y="2345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791575" y="3078480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739188" y="31851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613582" y="3590925"/>
              <a:ext cx="162878" cy="9525"/>
            </a:xfrm>
            <a:custGeom>
              <a:avLst/>
              <a:gdLst/>
              <a:ahLst/>
              <a:cxnLst/>
              <a:rect l="l" t="t" r="r" b="b"/>
              <a:pathLst>
                <a:path w="162878" h="9525">
                  <a:moveTo>
                    <a:pt x="0" y="0"/>
                  </a:moveTo>
                  <a:lnTo>
                    <a:pt x="16287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776460" y="35385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791575" y="3891915"/>
              <a:ext cx="9525" cy="120015"/>
            </a:xfrm>
            <a:custGeom>
              <a:avLst/>
              <a:gdLst/>
              <a:ahLst/>
              <a:cxnLst/>
              <a:rect l="l" t="t" r="r" b="b"/>
              <a:pathLst>
                <a:path w="9525" h="120015">
                  <a:moveTo>
                    <a:pt x="0" y="0"/>
                  </a:moveTo>
                  <a:lnTo>
                    <a:pt x="0" y="1200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739188" y="40119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613582" y="4417695"/>
              <a:ext cx="162878" cy="9525"/>
            </a:xfrm>
            <a:custGeom>
              <a:avLst/>
              <a:gdLst/>
              <a:ahLst/>
              <a:cxnLst/>
              <a:rect l="l" t="t" r="r" b="b"/>
              <a:pathLst>
                <a:path w="162878" h="9525">
                  <a:moveTo>
                    <a:pt x="0" y="0"/>
                  </a:moveTo>
                  <a:lnTo>
                    <a:pt x="16287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776460" y="43653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791575" y="4718685"/>
              <a:ext cx="9525" cy="106680"/>
            </a:xfrm>
            <a:custGeom>
              <a:avLst/>
              <a:gdLst/>
              <a:ahLst/>
              <a:cxnLst/>
              <a:rect l="l" t="t" r="r" b="b"/>
              <a:pathLst>
                <a:path w="9525" h="106680">
                  <a:moveTo>
                    <a:pt x="0" y="0"/>
                  </a:moveTo>
                  <a:lnTo>
                    <a:pt x="0" y="1066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39188" y="48253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806690" y="5244465"/>
              <a:ext cx="162878" cy="9525"/>
            </a:xfrm>
            <a:custGeom>
              <a:avLst/>
              <a:gdLst/>
              <a:ahLst/>
              <a:cxnLst/>
              <a:rect l="l" t="t" r="r" b="b"/>
              <a:pathLst>
                <a:path w="162878" h="9525">
                  <a:moveTo>
                    <a:pt x="16287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701915" y="51920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841808" y="2764155"/>
              <a:ext cx="1022985" cy="2056448"/>
            </a:xfrm>
            <a:custGeom>
              <a:avLst/>
              <a:gdLst/>
              <a:ahLst/>
              <a:cxnLst/>
              <a:rect l="l" t="t" r="r" b="b"/>
              <a:pathLst>
                <a:path w="1022985" h="2056448">
                  <a:moveTo>
                    <a:pt x="38100" y="2056448"/>
                  </a:moveTo>
                  <a:lnTo>
                    <a:pt x="38100" y="1846898"/>
                  </a:lnTo>
                  <a:lnTo>
                    <a:pt x="38100" y="0"/>
                  </a:lnTo>
                  <a:lnTo>
                    <a:pt x="0" y="0"/>
                  </a:lnTo>
                  <a:lnTo>
                    <a:pt x="918210" y="0"/>
                  </a:lnTo>
                  <a:lnTo>
                    <a:pt x="1022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864792" y="27117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969568" y="1718310"/>
              <a:ext cx="1644015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969568" y="2449830"/>
              <a:ext cx="164401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969568" y="3289935"/>
              <a:ext cx="1644015" cy="601980"/>
            </a:xfrm>
            <a:custGeom>
              <a:avLst/>
              <a:gdLst/>
              <a:ahLst/>
              <a:cxnLst/>
              <a:rect l="l" t="t" r="r" b="b"/>
              <a:pathLst>
                <a:path w="1644015" h="601980">
                  <a:moveTo>
                    <a:pt x="822007" y="0"/>
                  </a:moveTo>
                  <a:lnTo>
                    <a:pt x="1644015" y="300990"/>
                  </a:lnTo>
                  <a:lnTo>
                    <a:pt x="822007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881235" y="3371850"/>
              <a:ext cx="1644015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969568" y="4116705"/>
              <a:ext cx="1644015" cy="601980"/>
            </a:xfrm>
            <a:custGeom>
              <a:avLst/>
              <a:gdLst/>
              <a:ahLst/>
              <a:cxnLst/>
              <a:rect l="l" t="t" r="r" b="b"/>
              <a:pathLst>
                <a:path w="1644015" h="601980">
                  <a:moveTo>
                    <a:pt x="822007" y="0"/>
                  </a:moveTo>
                  <a:lnTo>
                    <a:pt x="1644015" y="300990"/>
                  </a:lnTo>
                  <a:lnTo>
                    <a:pt x="822007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881235" y="4198620"/>
              <a:ext cx="164401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969568" y="4930140"/>
              <a:ext cx="1644015" cy="629602"/>
            </a:xfrm>
            <a:prstGeom prst="roundRect">
              <a:avLst>
                <a:gd name="adj" fmla="val 15129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57900" y="4820602"/>
              <a:ext cx="1644015" cy="847725"/>
            </a:xfrm>
            <a:prstGeom prst="roundRect">
              <a:avLst>
                <a:gd name="adj" fmla="val 898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55199" y="1848326"/>
              <a:ext cx="672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← 根 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22666" y="2565559"/>
              <a:ext cx="133781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E 的下一个儿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 X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63092" y="3501866"/>
              <a:ext cx="856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是答案？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93668" y="350186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输出路径，结束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99044" y="4328636"/>
              <a:ext cx="9850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B(X) 成立？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47073" y="4328636"/>
              <a:ext cx="512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 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54314" y="5045869"/>
              <a:ext cx="87452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ADD(X)，记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PARENT(X)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90678" y="4936331"/>
              <a:ext cx="1378458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儿子生成完后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LEAST(E)；表空则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失败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632632" y="33747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670923" y="34013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820150" y="391191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843391" y="393858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632632" y="420147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670923" y="42281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820150" y="473202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843391" y="475869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6" name="Rectangle 6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991225"/>
              <a:ext cx="8135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约束函数 B 的作用：不让不含可行解的子树进入活结点表，这些子树的结点就不会被生成。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74949" cy="909257"/>
            <a:chOff x="520446" y="342900"/>
            <a:chExt cx="95749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分支限界法的一般方法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749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8.1 BB：ADD 放入活结点表，LEAST 取出下一个 E-结点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4612005"/>
            <a:chOff x="533400" y="1524000"/>
            <a:chExt cx="5626418" cy="46120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612005"/>
            </a:xfrm>
            <a:prstGeom prst="roundRect">
              <a:avLst>
                <a:gd name="adj" fmla="val 20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2239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8.1 分支限界法的抽象化描述（找一个答案结点）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654" y="1939290"/>
              <a:ext cx="3509772" cy="412661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02"/>
                </a:lnSpc>
              </a:pP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BB(T)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if T 是答案结点 then 输出 T; return endif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 ← T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将活结点表初始化为空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loop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for E 的每个儿子 X do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if X 是答案结点 then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输出从 X 到 T 的那条路径; return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B(X) then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call ADD(X); PARENT(X) ← E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表中不再有活结点 then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print(</a:t>
              </a:r>
              <a:r>
                <a:rPr lang="en-US" sz="12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"no answer node"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return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call LEAST(E)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BB</a:t>
              </a:r>
            </a:p>
          </p:txBody>
        </p:sp>
      </p:grpSp>
      <p:grpSp>
        <p:nvGrpSpPr>
          <p:cNvPr id="16" name="c2-kv-1"/>
          <p:cNvGrpSpPr/>
          <p:nvPr/>
        </p:nvGrpSpPr>
        <p:grpSpPr>
          <a:xfrm>
            <a:off x="6456998" y="1548765"/>
            <a:ext cx="5201602" cy="1015365"/>
            <a:chOff x="6456998" y="1548765"/>
            <a:chExt cx="5201602" cy="1015365"/>
          </a:xfrm>
        </p:grpSpPr>
        <p:sp>
          <p:nvSpPr>
            <p:cNvPr id="11" name="TextBox 11"/>
            <p:cNvSpPr txBox="1"/>
            <p:nvPr/>
          </p:nvSpPr>
          <p:spPr>
            <a:xfrm>
              <a:off x="6456998" y="1548765"/>
              <a:ext cx="754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ADD(X)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1905" y="1548765"/>
              <a:ext cx="16741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 加入活结点表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64618" y="18688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56998" y="1988820"/>
              <a:ext cx="1000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LEAST(E)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1905" y="1988820"/>
              <a:ext cx="36061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从活结点表选一个结点赋给 E，并从表中删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除；PARENT 记父结点，用来输出路径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464618" y="2695575"/>
            <a:ext cx="5193982" cy="1670685"/>
            <a:chOff x="6464618" y="2695575"/>
            <a:chExt cx="5193982" cy="1670685"/>
          </a:xfrm>
        </p:grpSpPr>
        <p:sp>
          <p:nvSpPr>
            <p:cNvPr id="17" name="Rectangle 17"/>
            <p:cNvSpPr/>
            <p:nvPr/>
          </p:nvSpPr>
          <p:spPr>
            <a:xfrm>
              <a:off x="6464618" y="2695575"/>
              <a:ext cx="5193982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4142" y="2828925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12268" y="29051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3428" y="29408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13295" y="294036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想得到全部可行解怎么办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717983" y="33642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76098" y="3301365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发现答案结点只输出路径、不 return，循环到表空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为止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717983" y="39852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76098" y="3922395"/>
              <a:ext cx="45011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答案结点满足 B 也照常入表，它下面可能还有答案</a:t>
              </a:r>
            </a:p>
          </p:txBody>
        </p:sp>
      </p:grpSp>
      <p:grpSp>
        <p:nvGrpSpPr>
          <p:cNvPr id="36" name="c2-card-3"/>
          <p:cNvGrpSpPr/>
          <p:nvPr/>
        </p:nvGrpSpPr>
        <p:grpSpPr>
          <a:xfrm>
            <a:off x="6464618" y="4556760"/>
            <a:ext cx="5193982" cy="1662112"/>
            <a:chOff x="6464618" y="4556760"/>
            <a:chExt cx="5193982" cy="1662112"/>
          </a:xfrm>
        </p:grpSpPr>
        <p:sp>
          <p:nvSpPr>
            <p:cNvPr id="27" name="Rectangle 27"/>
            <p:cNvSpPr/>
            <p:nvPr/>
          </p:nvSpPr>
          <p:spPr>
            <a:xfrm>
              <a:off x="6464618" y="4556760"/>
              <a:ext cx="5193982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4690110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12268" y="47663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03428" y="48020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开销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717983" y="52063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76098" y="5143500"/>
              <a:ext cx="4308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≈ 生成结点数 ×（判答案 + 算 B + 表操作）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717983" y="554164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76098" y="547878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最坏生成整棵解空间树，随规模指数增长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5791" y="5810726"/>
              <a:ext cx="39077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更正：原课件末行写作 end BANDB，应为 end BB。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74761" cy="909257"/>
            <a:chOff x="520446" y="342900"/>
            <a:chExt cx="83747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分支限界法的一般方法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747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LEAST 怎样挑结点，决定了是 FIFO 检索还是 LC 检索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6059805" cy="3150870"/>
            <a:chOff x="533400" y="1524000"/>
            <a:chExt cx="6059805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3667" y="1659731"/>
              <a:ext cx="11129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LEAST 的实现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966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活结点表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5413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先取出谁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6307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得到的检索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顺序队列式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7472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43416" y="22217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最早进入表的结点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82706" y="2108359"/>
              <a:ext cx="124394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FIFO 检索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，类似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783681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顺序栈式（补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4723" y="289702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43416" y="28970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最晚进入表的结点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2706" y="2783681"/>
              <a:ext cx="14516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LIFO 检索，类似 D-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5723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优先队列式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74723" y="35723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极小堆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43416" y="3459004"/>
              <a:ext cx="15003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成本估计 ĉ 最小的结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82706" y="3572351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LC 检索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9947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999548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2476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优先队列式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4723" y="42476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43416" y="4247674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 最大的结点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82706" y="4134326"/>
              <a:ext cx="13784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极大化问题中的 LC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05980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62138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83083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770120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1-card-2"/>
          <p:cNvGrpSpPr/>
          <p:nvPr/>
        </p:nvGrpSpPr>
        <p:grpSpPr>
          <a:xfrm>
            <a:off x="533400" y="4865370"/>
            <a:ext cx="6059805" cy="1384935"/>
            <a:chOff x="533400" y="4865370"/>
            <a:chExt cx="6059805" cy="1384935"/>
          </a:xfrm>
        </p:grpSpPr>
        <p:sp>
          <p:nvSpPr>
            <p:cNvPr id="38" name="Rectangle 38"/>
            <p:cNvSpPr/>
            <p:nvPr/>
          </p:nvSpPr>
          <p:spPr>
            <a:xfrm>
              <a:off x="533400" y="4865370"/>
              <a:ext cx="6059805" cy="1384935"/>
            </a:xfrm>
            <a:prstGeom prst="roundRect">
              <a:avLst>
                <a:gd name="adj" fmla="val 9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998720"/>
              <a:ext cx="47625" cy="111823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" y="50749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1258" y="51106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易混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82078" y="5110162"/>
              <a:ext cx="3391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LIFO 分支限界法和回溯法不是一回事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6765" y="55340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4880" y="5471160"/>
              <a:ext cx="5279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LIFO 仍然先生成 E-结点的全部儿子，再把合格的儿子压栈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86765" y="58693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44880" y="580644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回溯法生成一个儿子就立即扩展它，其余儿子等回溯时才生成</a:t>
              </a:r>
            </a:p>
          </p:txBody>
        </p:sp>
      </p:grpSp>
      <p:grpSp>
        <p:nvGrpSpPr>
          <p:cNvPr id="72" name="c2-cells-1"/>
          <p:cNvGrpSpPr/>
          <p:nvPr/>
        </p:nvGrpSpPr>
        <p:grpSpPr>
          <a:xfrm>
            <a:off x="6891528" y="1572578"/>
            <a:ext cx="3487865" cy="1875472"/>
            <a:chOff x="6891528" y="1572578"/>
            <a:chExt cx="3487865" cy="1875472"/>
          </a:xfrm>
        </p:grpSpPr>
        <p:sp>
          <p:nvSpPr>
            <p:cNvPr id="48" name="TextBox 48"/>
            <p:cNvSpPr txBox="1"/>
            <p:nvPr/>
          </p:nvSpPr>
          <p:spPr>
            <a:xfrm>
              <a:off x="6891528" y="1968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519035" y="1838325"/>
              <a:ext cx="6743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23581" y="1968341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(5)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193405" y="1838325"/>
              <a:ext cx="6743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97951" y="1968341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(5)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867775" y="1838325"/>
              <a:ext cx="6743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972321" y="1968341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(3)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542145" y="1838325"/>
              <a:ext cx="6743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646691" y="1968341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(5)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09535" y="15725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先出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7818120" y="17430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9841230" y="22764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379268" y="2410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新结点从这里进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91528" y="31589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极小堆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519035" y="3028950"/>
              <a:ext cx="6743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23581" y="3158966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(3)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193405" y="3028950"/>
              <a:ext cx="6743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297951" y="3158966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(5)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867775" y="3028950"/>
              <a:ext cx="6743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972321" y="3158966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(5)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542145" y="3028950"/>
              <a:ext cx="6743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646691" y="3158966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(5)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68184" y="2763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堆顶先出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7818120" y="29337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9" name="c2-callout-2"/>
          <p:cNvGrpSpPr/>
          <p:nvPr/>
        </p:nvGrpSpPr>
        <p:grpSpPr>
          <a:xfrm>
            <a:off x="6898005" y="3638550"/>
            <a:ext cx="4760595" cy="1059180"/>
            <a:chOff x="6898005" y="3638550"/>
            <a:chExt cx="4760595" cy="1059180"/>
          </a:xfrm>
        </p:grpSpPr>
        <p:sp>
          <p:nvSpPr>
            <p:cNvPr id="73" name="Rectangle 73"/>
            <p:cNvSpPr/>
            <p:nvPr/>
          </p:nvSpPr>
          <p:spPr>
            <a:xfrm>
              <a:off x="6898005" y="363855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102793" y="4068128"/>
              <a:ext cx="200026" cy="200025"/>
              <a:chOff x="7102793" y="406812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102793" y="40681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142531" y="41125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177247" y="42237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404735" y="3787140"/>
              <a:ext cx="3844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同样四个活结点，括号里是 ĉ 值（取自 15-谜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的第一层）。FIFO 下一个取结点 2，LC 下一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个取结点 4。</a:t>
              </a:r>
            </a:p>
          </p:txBody>
        </p:sp>
      </p:grpSp>
      <p:grpSp>
        <p:nvGrpSpPr>
          <p:cNvPr id="85" name="c2-card-3"/>
          <p:cNvGrpSpPr/>
          <p:nvPr/>
        </p:nvGrpSpPr>
        <p:grpSpPr>
          <a:xfrm>
            <a:off x="6898005" y="4888230"/>
            <a:ext cx="4760595" cy="1362075"/>
            <a:chOff x="6898005" y="4888230"/>
            <a:chExt cx="4760595" cy="1362075"/>
          </a:xfrm>
        </p:grpSpPr>
        <p:sp>
          <p:nvSpPr>
            <p:cNvPr id="80" name="Rectangle 80"/>
            <p:cNvSpPr/>
            <p:nvPr/>
          </p:nvSpPr>
          <p:spPr>
            <a:xfrm>
              <a:off x="6898005" y="4888230"/>
              <a:ext cx="4760595" cy="1362075"/>
            </a:xfrm>
            <a:prstGeom prst="roundRect">
              <a:avLst>
                <a:gd name="adj" fmla="val 97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6907530" y="5021580"/>
              <a:ext cx="47625" cy="10953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145655" y="509778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235863" y="513349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38035" y="5474970"/>
              <a:ext cx="4082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原课件在 FIFO 检索旁标注“类似于 BSF-检索”，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BFS-检索（广度优先检索）。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1700" cy="909257"/>
            <a:chOff x="520446" y="342900"/>
            <a:chExt cx="72317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分支限界法的一般方法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17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例：4-皇后问题的 FIFO 检索共生成 31 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390124" cy="597598"/>
            <a:chOff x="525399" y="1550194"/>
            <a:chExt cx="10390124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390124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xₖ 是第 k 行皇后所在的列，儿子按未用的列从小到大生成。结点内数字是生成次序；红色结点同列或同斜线，被 B 舍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弃；绿色结点 31 是答案。</a:t>
              </a:r>
            </a:p>
          </p:txBody>
        </p:sp>
      </p:grpSp>
      <p:grpSp>
        <p:nvGrpSpPr>
          <p:cNvPr id="110" name="c1-graph-1"/>
          <p:cNvGrpSpPr/>
          <p:nvPr/>
        </p:nvGrpSpPr>
        <p:grpSpPr>
          <a:xfrm>
            <a:off x="991552" y="2331720"/>
            <a:ext cx="10208896" cy="2593658"/>
            <a:chOff x="991552" y="2331720"/>
            <a:chExt cx="10208896" cy="2593658"/>
          </a:xfrm>
        </p:grpSpPr>
        <p:sp>
          <p:nvSpPr>
            <p:cNvPr id="9" name="Freeform 9"/>
            <p:cNvSpPr/>
            <p:nvPr/>
          </p:nvSpPr>
          <p:spPr>
            <a:xfrm>
              <a:off x="2274570" y="2497455"/>
              <a:ext cx="3670935" cy="551498"/>
            </a:xfrm>
            <a:custGeom>
              <a:avLst/>
              <a:gdLst/>
              <a:ahLst/>
              <a:cxnLst/>
              <a:rect l="l" t="t" r="r" b="b"/>
              <a:pathLst>
                <a:path w="3670935" h="551498">
                  <a:moveTo>
                    <a:pt x="3670935" y="0"/>
                  </a:moveTo>
                  <a:lnTo>
                    <a:pt x="0" y="55149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77752" y="2536508"/>
              <a:ext cx="1079182" cy="474345"/>
            </a:xfrm>
            <a:custGeom>
              <a:avLst/>
              <a:gdLst/>
              <a:ahLst/>
              <a:cxnLst/>
              <a:rect l="l" t="t" r="r" b="b"/>
              <a:pathLst>
                <a:path w="1079182" h="474345">
                  <a:moveTo>
                    <a:pt x="1079182" y="0"/>
                  </a:moveTo>
                  <a:lnTo>
                    <a:pt x="0" y="47434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235065" y="2536508"/>
              <a:ext cx="1079182" cy="474345"/>
            </a:xfrm>
            <a:custGeom>
              <a:avLst/>
              <a:gdLst/>
              <a:ahLst/>
              <a:cxnLst/>
              <a:rect l="l" t="t" r="r" b="b"/>
              <a:pathLst>
                <a:path w="1079182" h="474345">
                  <a:moveTo>
                    <a:pt x="0" y="0"/>
                  </a:moveTo>
                  <a:lnTo>
                    <a:pt x="1079182" y="47434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246495" y="2497455"/>
              <a:ext cx="3670935" cy="551498"/>
            </a:xfrm>
            <a:custGeom>
              <a:avLst/>
              <a:gdLst/>
              <a:ahLst/>
              <a:cxnLst/>
              <a:rect l="l" t="t" r="r" b="b"/>
              <a:pathLst>
                <a:path w="3670935" h="551498">
                  <a:moveTo>
                    <a:pt x="0" y="0"/>
                  </a:moveTo>
                  <a:lnTo>
                    <a:pt x="3670935" y="55149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63015" y="3152775"/>
              <a:ext cx="732472" cy="461962"/>
            </a:xfrm>
            <a:custGeom>
              <a:avLst/>
              <a:gdLst/>
              <a:ahLst/>
              <a:cxnLst/>
              <a:rect l="l" t="t" r="r" b="b"/>
              <a:pathLst>
                <a:path w="732472" h="461962">
                  <a:moveTo>
                    <a:pt x="732472" y="0"/>
                  </a:moveTo>
                  <a:lnTo>
                    <a:pt x="0" y="46196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40255" y="3222308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57150" y="0"/>
                  </a:moveTo>
                  <a:lnTo>
                    <a:pt x="0" y="32385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256472" y="3148012"/>
              <a:ext cx="825818" cy="472440"/>
            </a:xfrm>
            <a:custGeom>
              <a:avLst/>
              <a:gdLst/>
              <a:ahLst/>
              <a:cxnLst/>
              <a:rect l="l" t="t" r="r" b="b"/>
              <a:pathLst>
                <a:path w="825818" h="472440">
                  <a:moveTo>
                    <a:pt x="0" y="0"/>
                  </a:moveTo>
                  <a:lnTo>
                    <a:pt x="825818" y="4724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92905" y="3176588"/>
              <a:ext cx="435292" cy="414338"/>
            </a:xfrm>
            <a:custGeom>
              <a:avLst/>
              <a:gdLst/>
              <a:ahLst/>
              <a:cxnLst/>
              <a:rect l="l" t="t" r="r" b="b"/>
              <a:pathLst>
                <a:path w="435292" h="414338">
                  <a:moveTo>
                    <a:pt x="435292" y="0"/>
                  </a:moveTo>
                  <a:lnTo>
                    <a:pt x="0" y="4143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653915" y="3222308"/>
              <a:ext cx="58102" cy="323850"/>
            </a:xfrm>
            <a:custGeom>
              <a:avLst/>
              <a:gdLst/>
              <a:ahLst/>
              <a:cxnLst/>
              <a:rect l="l" t="t" r="r" b="b"/>
              <a:pathLst>
                <a:path w="58102" h="323850">
                  <a:moveTo>
                    <a:pt x="58102" y="0"/>
                  </a:moveTo>
                  <a:lnTo>
                    <a:pt x="0" y="32385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855845" y="3168968"/>
              <a:ext cx="521970" cy="430530"/>
            </a:xfrm>
            <a:custGeom>
              <a:avLst/>
              <a:gdLst/>
              <a:ahLst/>
              <a:cxnLst/>
              <a:rect l="l" t="t" r="r" b="b"/>
              <a:pathLst>
                <a:path w="521970" h="430530">
                  <a:moveTo>
                    <a:pt x="0" y="0"/>
                  </a:moveTo>
                  <a:lnTo>
                    <a:pt x="521970" y="430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814185" y="3168968"/>
              <a:ext cx="521970" cy="430530"/>
            </a:xfrm>
            <a:custGeom>
              <a:avLst/>
              <a:gdLst/>
              <a:ahLst/>
              <a:cxnLst/>
              <a:rect l="l" t="t" r="r" b="b"/>
              <a:pathLst>
                <a:path w="521970" h="430530">
                  <a:moveTo>
                    <a:pt x="521970" y="0"/>
                  </a:moveTo>
                  <a:lnTo>
                    <a:pt x="0" y="430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479982" y="3222308"/>
              <a:ext cx="58103" cy="323850"/>
            </a:xfrm>
            <a:custGeom>
              <a:avLst/>
              <a:gdLst/>
              <a:ahLst/>
              <a:cxnLst/>
              <a:rect l="l" t="t" r="r" b="b"/>
              <a:pathLst>
                <a:path w="58103" h="323850">
                  <a:moveTo>
                    <a:pt x="0" y="0"/>
                  </a:moveTo>
                  <a:lnTo>
                    <a:pt x="58103" y="32385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563802" y="3176588"/>
              <a:ext cx="435292" cy="414338"/>
            </a:xfrm>
            <a:custGeom>
              <a:avLst/>
              <a:gdLst/>
              <a:ahLst/>
              <a:cxnLst/>
              <a:rect l="l" t="t" r="r" b="b"/>
              <a:pathLst>
                <a:path w="435292" h="414338">
                  <a:moveTo>
                    <a:pt x="0" y="0"/>
                  </a:moveTo>
                  <a:lnTo>
                    <a:pt x="435292" y="4143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109710" y="3148012"/>
              <a:ext cx="825817" cy="472440"/>
            </a:xfrm>
            <a:custGeom>
              <a:avLst/>
              <a:gdLst/>
              <a:ahLst/>
              <a:cxnLst/>
              <a:rect l="l" t="t" r="r" b="b"/>
              <a:pathLst>
                <a:path w="825817" h="472440">
                  <a:moveTo>
                    <a:pt x="825817" y="0"/>
                  </a:moveTo>
                  <a:lnTo>
                    <a:pt x="0" y="4724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094595" y="3222308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0" y="0"/>
                  </a:moveTo>
                  <a:lnTo>
                    <a:pt x="57150" y="32385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196512" y="3152775"/>
              <a:ext cx="732473" cy="461962"/>
            </a:xfrm>
            <a:custGeom>
              <a:avLst/>
              <a:gdLst/>
              <a:ahLst/>
              <a:cxnLst/>
              <a:rect l="l" t="t" r="r" b="b"/>
              <a:pathLst>
                <a:path w="732473" h="461962">
                  <a:moveTo>
                    <a:pt x="0" y="0"/>
                  </a:moveTo>
                  <a:lnTo>
                    <a:pt x="732473" y="46196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781175" y="3832860"/>
              <a:ext cx="163830" cy="324803"/>
            </a:xfrm>
            <a:custGeom>
              <a:avLst/>
              <a:gdLst/>
              <a:ahLst/>
              <a:cxnLst/>
              <a:rect l="l" t="t" r="r" b="b"/>
              <a:pathLst>
                <a:path w="163830" h="324803">
                  <a:moveTo>
                    <a:pt x="163830" y="0"/>
                  </a:moveTo>
                  <a:lnTo>
                    <a:pt x="0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081212" y="3832860"/>
              <a:ext cx="163830" cy="324803"/>
            </a:xfrm>
            <a:custGeom>
              <a:avLst/>
              <a:gdLst/>
              <a:ahLst/>
              <a:cxnLst/>
              <a:rect l="l" t="t" r="r" b="b"/>
              <a:pathLst>
                <a:path w="163830" h="324803">
                  <a:moveTo>
                    <a:pt x="0" y="0"/>
                  </a:moveTo>
                  <a:lnTo>
                    <a:pt x="163830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982278" y="3832860"/>
              <a:ext cx="163830" cy="324803"/>
            </a:xfrm>
            <a:custGeom>
              <a:avLst/>
              <a:gdLst/>
              <a:ahLst/>
              <a:cxnLst/>
              <a:rect l="l" t="t" r="r" b="b"/>
              <a:pathLst>
                <a:path w="163830" h="324803">
                  <a:moveTo>
                    <a:pt x="163830" y="0"/>
                  </a:moveTo>
                  <a:lnTo>
                    <a:pt x="0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3281362" y="3833812"/>
              <a:ext cx="156210" cy="322897"/>
            </a:xfrm>
            <a:custGeom>
              <a:avLst/>
              <a:gdLst/>
              <a:ahLst/>
              <a:cxnLst/>
              <a:rect l="l" t="t" r="r" b="b"/>
              <a:pathLst>
                <a:path w="156210" h="322897">
                  <a:moveTo>
                    <a:pt x="0" y="0"/>
                  </a:moveTo>
                  <a:lnTo>
                    <a:pt x="156210" y="32289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263515" y="3832860"/>
              <a:ext cx="162878" cy="324803"/>
            </a:xfrm>
            <a:custGeom>
              <a:avLst/>
              <a:gdLst/>
              <a:ahLst/>
              <a:cxnLst/>
              <a:rect l="l" t="t" r="r" b="b"/>
              <a:pathLst>
                <a:path w="162878" h="324803">
                  <a:moveTo>
                    <a:pt x="162878" y="0"/>
                  </a:moveTo>
                  <a:lnTo>
                    <a:pt x="0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563552" y="3832860"/>
              <a:ext cx="163830" cy="324803"/>
            </a:xfrm>
            <a:custGeom>
              <a:avLst/>
              <a:gdLst/>
              <a:ahLst/>
              <a:cxnLst/>
              <a:rect l="l" t="t" r="r" b="b"/>
              <a:pathLst>
                <a:path w="163830" h="324803">
                  <a:moveTo>
                    <a:pt x="0" y="0"/>
                  </a:moveTo>
                  <a:lnTo>
                    <a:pt x="163830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464618" y="3832860"/>
              <a:ext cx="163830" cy="324803"/>
            </a:xfrm>
            <a:custGeom>
              <a:avLst/>
              <a:gdLst/>
              <a:ahLst/>
              <a:cxnLst/>
              <a:rect l="l" t="t" r="r" b="b"/>
              <a:pathLst>
                <a:path w="163830" h="324803">
                  <a:moveTo>
                    <a:pt x="163830" y="0"/>
                  </a:moveTo>
                  <a:lnTo>
                    <a:pt x="0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765608" y="3832860"/>
              <a:ext cx="162878" cy="324803"/>
            </a:xfrm>
            <a:custGeom>
              <a:avLst/>
              <a:gdLst/>
              <a:ahLst/>
              <a:cxnLst/>
              <a:rect l="l" t="t" r="r" b="b"/>
              <a:pathLst>
                <a:path w="162878" h="324803">
                  <a:moveTo>
                    <a:pt x="0" y="0"/>
                  </a:moveTo>
                  <a:lnTo>
                    <a:pt x="162878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754428" y="3833812"/>
              <a:ext cx="156210" cy="322897"/>
            </a:xfrm>
            <a:custGeom>
              <a:avLst/>
              <a:gdLst/>
              <a:ahLst/>
              <a:cxnLst/>
              <a:rect l="l" t="t" r="r" b="b"/>
              <a:pathLst>
                <a:path w="156210" h="322897">
                  <a:moveTo>
                    <a:pt x="156210" y="0"/>
                  </a:moveTo>
                  <a:lnTo>
                    <a:pt x="0" y="32289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045892" y="3832860"/>
              <a:ext cx="163830" cy="324803"/>
            </a:xfrm>
            <a:custGeom>
              <a:avLst/>
              <a:gdLst/>
              <a:ahLst/>
              <a:cxnLst/>
              <a:rect l="l" t="t" r="r" b="b"/>
              <a:pathLst>
                <a:path w="163830" h="324803">
                  <a:moveTo>
                    <a:pt x="0" y="0"/>
                  </a:moveTo>
                  <a:lnTo>
                    <a:pt x="163830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946958" y="3832860"/>
              <a:ext cx="163830" cy="324803"/>
            </a:xfrm>
            <a:custGeom>
              <a:avLst/>
              <a:gdLst/>
              <a:ahLst/>
              <a:cxnLst/>
              <a:rect l="l" t="t" r="r" b="b"/>
              <a:pathLst>
                <a:path w="163830" h="324803">
                  <a:moveTo>
                    <a:pt x="163830" y="0"/>
                  </a:moveTo>
                  <a:lnTo>
                    <a:pt x="0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246995" y="3832860"/>
              <a:ext cx="163830" cy="324803"/>
            </a:xfrm>
            <a:custGeom>
              <a:avLst/>
              <a:gdLst/>
              <a:ahLst/>
              <a:cxnLst/>
              <a:rect l="l" t="t" r="r" b="b"/>
              <a:pathLst>
                <a:path w="163830" h="324803">
                  <a:moveTo>
                    <a:pt x="0" y="0"/>
                  </a:moveTo>
                  <a:lnTo>
                    <a:pt x="163830" y="3248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914650" y="4446270"/>
              <a:ext cx="9525" cy="183833"/>
            </a:xfrm>
            <a:custGeom>
              <a:avLst/>
              <a:gdLst/>
              <a:ahLst/>
              <a:cxnLst/>
              <a:rect l="l" t="t" r="r" b="b"/>
              <a:pathLst>
                <a:path w="9525" h="183833">
                  <a:moveTo>
                    <a:pt x="0" y="0"/>
                  </a:moveTo>
                  <a:lnTo>
                    <a:pt x="0" y="18383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194935" y="4446270"/>
              <a:ext cx="9525" cy="183833"/>
            </a:xfrm>
            <a:custGeom>
              <a:avLst/>
              <a:gdLst/>
              <a:ahLst/>
              <a:cxnLst/>
              <a:rect l="l" t="t" r="r" b="b"/>
              <a:pathLst>
                <a:path w="9525" h="183833">
                  <a:moveTo>
                    <a:pt x="0" y="0"/>
                  </a:moveTo>
                  <a:lnTo>
                    <a:pt x="0" y="183833"/>
                  </a:lnTo>
                </a:path>
              </a:pathLst>
            </a:custGeom>
            <a:noFill/>
            <a:ln w="24765">
              <a:solidFill>
                <a:srgbClr val="5B6475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5953125" y="233172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981200" y="29289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4595812" y="29289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310438" y="29289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925050" y="29289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91552" y="3553778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869758" y="35537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3071812" y="35537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939540" y="3553778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4484370" y="3553778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5352098" y="35537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554152" y="35537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421880" y="3553778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7966710" y="3553778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834438" y="35537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10036492" y="355377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0914698" y="3553778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569720" y="415099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2170748" y="415099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2771775" y="41509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3361372" y="415099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5052060" y="41509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5653088" y="415099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6253162" y="415099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854190" y="41509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544878" y="415099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134475" y="41509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9735502" y="415099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0336530" y="4150995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2771775" y="4639628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5052060" y="4639628"/>
              <a:ext cx="285750" cy="2857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049851" y="24098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077926" y="30070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692538" y="30070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07163" y="30070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21776" y="30070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88278" y="36309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966483" y="36309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168538" y="36309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036266" y="36309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540281" y="36309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408008" y="36309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10063" y="36309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477791" y="36309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022621" y="36309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890348" y="36309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092403" y="36309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970608" y="363093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625631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226658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827686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417283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107971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708998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309073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910101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600788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190386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791413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392441" y="42281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2827686" y="47167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107971" y="47167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390198" y="473059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 (2, 4, 1, 3)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3957638" y="2694622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3983848" y="272367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x₁=1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264468" y="2694622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291630" y="272367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x₁=2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6621780" y="2694622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647990" y="272367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x₁=3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929562" y="2694622"/>
              <a:ext cx="30575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955773" y="2723674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x₁=4</a:t>
              </a:r>
            </a:p>
          </p:txBody>
        </p:sp>
      </p:grpSp>
      <p:grpSp>
        <p:nvGrpSpPr>
          <p:cNvPr id="140" name="c1-cells-2"/>
          <p:cNvGrpSpPr/>
          <p:nvPr/>
        </p:nvGrpSpPr>
        <p:grpSpPr>
          <a:xfrm>
            <a:off x="527685" y="5162550"/>
            <a:ext cx="6575107" cy="342900"/>
            <a:chOff x="527685" y="5162550"/>
            <a:chExt cx="6575107" cy="342900"/>
          </a:xfrm>
        </p:grpSpPr>
        <p:sp>
          <p:nvSpPr>
            <p:cNvPr id="111" name="TextBox 111"/>
            <p:cNvSpPr txBox="1"/>
            <p:nvPr/>
          </p:nvSpPr>
          <p:spPr>
            <a:xfrm>
              <a:off x="527685" y="52639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入队次序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12353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1395691" y="5263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16544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814791" y="5263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20735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2233891" y="5263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24926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2652991" y="5263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29117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3072091" y="5263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33308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3491191" y="52639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37499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3866755" y="5263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41690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4285855" y="5263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45881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4704955" y="5263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50072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5124055" y="5263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54263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5543155" y="5263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58454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5962255" y="5263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62645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6381355" y="5263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6683692" y="5162550"/>
              <a:ext cx="419100" cy="3429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6800455" y="526399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  <p:grpSp>
        <p:nvGrpSpPr>
          <p:cNvPr id="14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41" name="Rectangle 1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45" name="Group 14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3" name="Freeform 14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4" name="Freeform 14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46" name="TextBox 146"/>
            <p:cNvSpPr txBox="1"/>
            <p:nvPr/>
          </p:nvSpPr>
          <p:spPr>
            <a:xfrm>
              <a:off x="1040130" y="5991225"/>
              <a:ext cx="100006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对比：回溯法按深度优先只处理 16 个结点：1、2、6、7、18、19、8、20、30、21、3、9、10、11、22、31。</a:t>
              </a:r>
            </a:p>
          </p:txBody>
        </p:sp>
      </p:grpSp>
      <p:grpSp>
        <p:nvGrpSpPr>
          <p:cNvPr id="1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8" name="TextBox 14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89299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LC-检索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给活结点排优先次序，先扩展看起来离答案最近的结点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9514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检索为什么盲目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成本函数 c 与成本估计函数 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184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LC-检索的定义及其特例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25678" cy="909257"/>
            <a:chOff x="520446" y="342900"/>
            <a:chExt cx="89256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7528" y="407194"/>
              <a:ext cx="1820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LC-检索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256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检索很盲目，成本函数 c 可以给活结点排出优先次序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544378" cy="1568768"/>
            <a:chOff x="533400" y="1524000"/>
            <a:chExt cx="4544378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9525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405" y="1756410"/>
              <a:ext cx="8189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FIFO 的问题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39292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下一个 E-结点只按进表先后挑选，死板、盲目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36212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对可能很快到达答案结点的活结点没有任何优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先权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272790"/>
            <a:ext cx="4544378" cy="2847022"/>
            <a:chOff x="533400" y="3272790"/>
            <a:chExt cx="4544378" cy="2847022"/>
          </a:xfrm>
        </p:grpSpPr>
        <p:sp>
          <p:nvSpPr>
            <p:cNvPr id="16" name="Rectangle 16"/>
            <p:cNvSpPr/>
            <p:nvPr/>
          </p:nvSpPr>
          <p:spPr>
            <a:xfrm>
              <a:off x="533400" y="3272790"/>
              <a:ext cx="4544378" cy="2847022"/>
            </a:xfrm>
            <a:prstGeom prst="roundRect">
              <a:avLst>
                <a:gd name="adj" fmla="val 46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406140"/>
              <a:ext cx="47625" cy="258032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9620" y="347091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3059" y="35052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理想做法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381" y="3831431"/>
              <a:ext cx="38467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用一个“有智力的”成本函数 c 从活结点表中挑下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E-结点，加快到达答案结点的速度。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524" y="4417695"/>
              <a:ext cx="3865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要给那些可能导致答案结点的活结点赋以优先次序。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5382578" y="1524000"/>
            <a:ext cx="6276022" cy="1910715"/>
            <a:chOff x="5382578" y="1524000"/>
            <a:chExt cx="6276022" cy="1910715"/>
          </a:xfrm>
        </p:grpSpPr>
        <p:sp>
          <p:nvSpPr>
            <p:cNvPr id="23" name="Rectangle 23"/>
            <p:cNvSpPr/>
            <p:nvPr/>
          </p:nvSpPr>
          <p:spPr>
            <a:xfrm>
              <a:off x="5382578" y="1524000"/>
              <a:ext cx="6276022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1690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83291" y="1652588"/>
              <a:ext cx="1094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c(X) 怎样定义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94570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要找的答案结点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85066" y="218313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9002" y="2076450"/>
              <a:ext cx="242773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生成一个答案结点之前还需要生成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的结点数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76029" y="218313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生成结点数最少的答案结点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82578" y="25812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82578" y="258603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85066" y="2714625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 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9002" y="2714625"/>
              <a:ext cx="2580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到离它最近的答案结点的路径长度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76029" y="271462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路径最短的答案结点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82578" y="30060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5066" y="313944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 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9002" y="313944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问题描述中的目标函数值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76029" y="313944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使目标函数取极值的答案结点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82578" y="1524000"/>
              <a:ext cx="6276022" cy="19107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81750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268778" y="1524000"/>
              <a:ext cx="9525" cy="19107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llout-2"/>
          <p:cNvGrpSpPr/>
          <p:nvPr/>
        </p:nvGrpSpPr>
        <p:grpSpPr>
          <a:xfrm>
            <a:off x="5382578" y="3615690"/>
            <a:ext cx="6276022" cy="756285"/>
            <a:chOff x="5382578" y="3615690"/>
            <a:chExt cx="6276022" cy="756285"/>
          </a:xfrm>
        </p:grpSpPr>
        <p:sp>
          <p:nvSpPr>
            <p:cNvPr id="43" name="Rectangle 43"/>
            <p:cNvSpPr/>
            <p:nvPr/>
          </p:nvSpPr>
          <p:spPr>
            <a:xfrm>
              <a:off x="5382578" y="3615690"/>
              <a:ext cx="627602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587365" y="3893820"/>
              <a:ext cx="200026" cy="200025"/>
              <a:chOff x="5587365" y="3893820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587365" y="38938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627104" y="39382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661819" y="40493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889688" y="3762851"/>
              <a:ext cx="526237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三种方法关注的都是"最小成本"。问题中没有目标函数时，通常用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方法 2 定义 c。</a:t>
              </a:r>
            </a:p>
          </p:txBody>
        </p:sp>
      </p:grpSp>
      <p:grpSp>
        <p:nvGrpSpPr>
          <p:cNvPr id="58" name="c2-card-3"/>
          <p:cNvGrpSpPr/>
          <p:nvPr/>
        </p:nvGrpSpPr>
        <p:grpSpPr>
          <a:xfrm>
            <a:off x="5382578" y="4551998"/>
            <a:ext cx="6276022" cy="1568768"/>
            <a:chOff x="5382578" y="4551998"/>
            <a:chExt cx="6276022" cy="1568768"/>
          </a:xfrm>
        </p:grpSpPr>
        <p:sp>
          <p:nvSpPr>
            <p:cNvPr id="50" name="Rectangle 50"/>
            <p:cNvSpPr/>
            <p:nvPr/>
          </p:nvSpPr>
          <p:spPr>
            <a:xfrm>
              <a:off x="5382578" y="4551998"/>
              <a:ext cx="6276022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92102" y="4685348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618798" y="475011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98236" y="478440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本章的例子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626417" y="517017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783008" y="5110639"/>
              <a:ext cx="54517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15-谜没有目标函数，按方法 2：c(X) 取 X 到目标布局的最少移动次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数（8.3 节）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626417" y="5759767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83008" y="5699284"/>
              <a:ext cx="51662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作业调度以罚款总数为目标函数，按方法 3 定义 c（8.5 节）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26276" cy="909257"/>
            <a:chOff x="520446" y="342900"/>
            <a:chExt cx="72262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7528" y="407194"/>
              <a:ext cx="1820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LC-检索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262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成本函数 c(X)：子树 X 中答案结点的最小成本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kv-1"/>
          <p:cNvGrpSpPr/>
          <p:nvPr/>
        </p:nvGrpSpPr>
        <p:grpSpPr>
          <a:xfrm>
            <a:off x="525780" y="1548765"/>
            <a:ext cx="5954649" cy="293370"/>
            <a:chOff x="525780" y="1548765"/>
            <a:chExt cx="595464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0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cost(X)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75435" y="1548765"/>
              <a:ext cx="49049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根到答案结点 X 的真实成本，如路径长度、目标函数值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"/>
              <p:cNvSpPr txBox="1">
                <a:spLocks noGrp="1"/>
              </p:cNvSpPr>
              <p:nvPr/>
            </p:nvSpPr>
            <p:spPr>
              <a:xfrm>
                <a:off x="533400" y="1973580"/>
                <a:ext cx="6059805" cy="942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是答案叶结点</m:t>
                              </m:r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cost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∣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∈</m:t>
                                      </m:r>
                                      <m:r>
                                        <m:rPr>
                                          <m:nor m:val="on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子树 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nor m:val="on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 的答案结点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子树 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含答案结点</m:t>
                              </m:r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∞,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子树 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nor m:val="on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不含答案结点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4"/>
          <p:cNvGrpSpPr/>
          <p:nvPr/>
        </p:nvGrpSpPr>
        <p:grpSpPr>
          <a:xfrm>
            <a:off x="533400" y="3411855"/>
            <a:ext cx="6059805" cy="1631632"/>
            <a:chOff x="533400" y="3411855"/>
            <a:chExt cx="6059805" cy="1631632"/>
          </a:xfrm>
        </p:grpSpPr>
        <p:sp>
          <p:nvSpPr>
            <p:cNvPr id="11" name="Rectangle 11"/>
            <p:cNvSpPr/>
            <p:nvPr/>
          </p:nvSpPr>
          <p:spPr>
            <a:xfrm>
              <a:off x="533400" y="3411855"/>
              <a:ext cx="6059805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54520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36214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3657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82078" y="365664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答案结点可以不是叶结点吗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3430" y="4017645"/>
              <a:ext cx="5234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可以。用不定长的 k-元组表示解时，满足约束的中间结点本身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就是答案结点，例如 8.5 的作业调度问题。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4635341"/>
              <a:ext cx="4139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是从“上帝视角”定义的：要看遍整棵子树才能算出。</a:t>
              </a:r>
            </a:p>
          </p:txBody>
        </p:sp>
      </p:grpSp>
      <p:grpSp>
        <p:nvGrpSpPr>
          <p:cNvPr id="25" name="c1-callout-5"/>
          <p:cNvGrpSpPr/>
          <p:nvPr/>
        </p:nvGrpSpPr>
        <p:grpSpPr>
          <a:xfrm>
            <a:off x="533400" y="5233988"/>
            <a:ext cx="6059805" cy="782955"/>
            <a:chOff x="533400" y="5233988"/>
            <a:chExt cx="6059805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5233988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525453"/>
              <a:ext cx="200026" cy="200026"/>
              <a:chOff x="738188" y="5525453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5254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5921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6254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5382578"/>
              <a:ext cx="4996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例：右图结点旁数字是 c 值，取到达答案结点的最短路径长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度；10、11 是答案结点，灰色结点 c = ∞。</a:t>
              </a:r>
            </a:p>
          </p:txBody>
        </p:sp>
      </p:grpSp>
      <p:grpSp>
        <p:nvGrpSpPr>
          <p:cNvPr id="69" name="c2-graph-1"/>
          <p:cNvGrpSpPr/>
          <p:nvPr/>
        </p:nvGrpSpPr>
        <p:grpSpPr>
          <a:xfrm>
            <a:off x="7187603" y="1758315"/>
            <a:ext cx="4180447" cy="4539615"/>
            <a:chOff x="7187603" y="1758315"/>
            <a:chExt cx="4180447" cy="4539615"/>
          </a:xfrm>
        </p:grpSpPr>
        <p:sp>
          <p:nvSpPr>
            <p:cNvPr id="26" name="Freeform 26"/>
            <p:cNvSpPr/>
            <p:nvPr/>
          </p:nvSpPr>
          <p:spPr>
            <a:xfrm>
              <a:off x="7604760" y="1998345"/>
              <a:ext cx="1537335" cy="986790"/>
            </a:xfrm>
            <a:custGeom>
              <a:avLst/>
              <a:gdLst/>
              <a:ahLst/>
              <a:cxnLst/>
              <a:rect l="l" t="t" r="r" b="b"/>
              <a:pathLst>
                <a:path w="1537335" h="986790">
                  <a:moveTo>
                    <a:pt x="1537335" y="0"/>
                  </a:moveTo>
                  <a:lnTo>
                    <a:pt x="0" y="98679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778240" y="2056448"/>
              <a:ext cx="428625" cy="870585"/>
            </a:xfrm>
            <a:custGeom>
              <a:avLst/>
              <a:gdLst/>
              <a:ahLst/>
              <a:cxnLst/>
              <a:rect l="l" t="t" r="r" b="b"/>
              <a:pathLst>
                <a:path w="428625" h="870585">
                  <a:moveTo>
                    <a:pt x="428625" y="0"/>
                  </a:moveTo>
                  <a:lnTo>
                    <a:pt x="0" y="8705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366885" y="2046922"/>
              <a:ext cx="583883" cy="889635"/>
            </a:xfrm>
            <a:custGeom>
              <a:avLst/>
              <a:gdLst/>
              <a:ahLst/>
              <a:cxnLst/>
              <a:rect l="l" t="t" r="r" b="b"/>
              <a:pathLst>
                <a:path w="583883" h="889635">
                  <a:moveTo>
                    <a:pt x="0" y="0"/>
                  </a:moveTo>
                  <a:lnTo>
                    <a:pt x="583883" y="88963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414510" y="1998345"/>
              <a:ext cx="1536383" cy="986790"/>
            </a:xfrm>
            <a:custGeom>
              <a:avLst/>
              <a:gdLst/>
              <a:ahLst/>
              <a:cxnLst/>
              <a:rect l="l" t="t" r="r" b="b"/>
              <a:pathLst>
                <a:path w="1536383" h="986790">
                  <a:moveTo>
                    <a:pt x="0" y="0"/>
                  </a:moveTo>
                  <a:lnTo>
                    <a:pt x="1536383" y="98679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767638" y="3192780"/>
              <a:ext cx="830580" cy="921067"/>
            </a:xfrm>
            <a:custGeom>
              <a:avLst/>
              <a:gdLst/>
              <a:ahLst/>
              <a:cxnLst/>
              <a:rect l="l" t="t" r="r" b="b"/>
              <a:pathLst>
                <a:path w="830580" h="921067">
                  <a:moveTo>
                    <a:pt x="830580" y="0"/>
                  </a:moveTo>
                  <a:lnTo>
                    <a:pt x="0" y="92106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624888" y="3233738"/>
              <a:ext cx="68580" cy="838200"/>
            </a:xfrm>
            <a:custGeom>
              <a:avLst/>
              <a:gdLst/>
              <a:ahLst/>
              <a:cxnLst/>
              <a:rect l="l" t="t" r="r" b="b"/>
              <a:pathLst>
                <a:path w="68580" h="838200">
                  <a:moveTo>
                    <a:pt x="68580" y="0"/>
                  </a:moveTo>
                  <a:lnTo>
                    <a:pt x="0" y="83820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809672" y="3197542"/>
              <a:ext cx="746760" cy="910590"/>
            </a:xfrm>
            <a:custGeom>
              <a:avLst/>
              <a:gdLst/>
              <a:ahLst/>
              <a:cxnLst/>
              <a:rect l="l" t="t" r="r" b="b"/>
              <a:pathLst>
                <a:path w="746760" h="910590">
                  <a:moveTo>
                    <a:pt x="0" y="0"/>
                  </a:moveTo>
                  <a:lnTo>
                    <a:pt x="746760" y="91059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81135" y="4369118"/>
              <a:ext cx="488633" cy="744855"/>
            </a:xfrm>
            <a:custGeom>
              <a:avLst/>
              <a:gdLst/>
              <a:ahLst/>
              <a:cxnLst/>
              <a:rect l="l" t="t" r="r" b="b"/>
              <a:pathLst>
                <a:path w="488633" h="744855">
                  <a:moveTo>
                    <a:pt x="488633" y="0"/>
                  </a:moveTo>
                  <a:lnTo>
                    <a:pt x="0" y="74485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747885" y="4369118"/>
              <a:ext cx="475297" cy="724852"/>
            </a:xfrm>
            <a:custGeom>
              <a:avLst/>
              <a:gdLst/>
              <a:ahLst/>
              <a:cxnLst/>
              <a:rect l="l" t="t" r="r" b="b"/>
              <a:pathLst>
                <a:path w="475297" h="724852">
                  <a:moveTo>
                    <a:pt x="0" y="0"/>
                  </a:moveTo>
                  <a:lnTo>
                    <a:pt x="475297" y="72485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992552" y="5412105"/>
              <a:ext cx="9525" cy="521970"/>
            </a:xfrm>
            <a:custGeom>
              <a:avLst/>
              <a:gdLst/>
              <a:ahLst/>
              <a:cxnLst/>
              <a:rect l="l" t="t" r="r" b="b"/>
              <a:pathLst>
                <a:path w="9525" h="521970">
                  <a:moveTo>
                    <a:pt x="0" y="0"/>
                  </a:moveTo>
                  <a:lnTo>
                    <a:pt x="0" y="52197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125902" y="175831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316152" y="2920365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554402" y="292036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9887902" y="2920365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934700" y="2920365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506652" y="4081462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459152" y="4081462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506902" y="40814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840152" y="509778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147935" y="5073015"/>
              <a:ext cx="354330" cy="35433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8815388" y="5943600"/>
              <a:ext cx="354330" cy="35433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29051" y="1840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83090" y="185547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19301" y="3002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87603" y="30165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57551" y="3002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11590" y="30165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91051" y="3002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45090" y="30165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37849" y="3002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91888" y="30165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09801" y="4163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78103" y="41776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62301" y="4163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16340" y="41776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10051" y="4163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64090" y="41776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3301" y="51801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11603" y="519398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2313" y="518017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555605" y="519398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99765" y="60507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22105" y="6064567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5716" cy="909257"/>
            <a:chOff x="520446" y="342900"/>
            <a:chExt cx="82357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7528" y="407194"/>
              <a:ext cx="1820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LC-检索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57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算不出来，就用容易计算的成本估计函数 ĉ(X) 代替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297305"/>
            <a:chOff x="533400" y="1524000"/>
            <a:chExt cx="5626418" cy="1297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28662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37" y="1756410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 的难处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50742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c(X) 按答案结点的真实成本定义，要求出它就得生成子树 X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2910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c 的工作量与原问题同样复杂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5"/>
              <p:cNvSpPr txBox="1">
                <a:spLocks noGrp="1"/>
              </p:cNvSpPr>
              <p:nvPr/>
            </p:nvSpPr>
            <p:spPr>
              <a:xfrm>
                <a:off x="533400" y="3001328"/>
                <a:ext cx="562641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acc>
                        <m:accPr>
                          <m:chr m:val="ˆ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5" name="c1-kv-3"/>
          <p:cNvGrpSpPr/>
          <p:nvPr/>
        </p:nvGrpSpPr>
        <p:grpSpPr>
          <a:xfrm>
            <a:off x="526161" y="3662839"/>
            <a:ext cx="5633657" cy="1378839"/>
            <a:chOff x="526161" y="3662839"/>
            <a:chExt cx="5633657" cy="1378839"/>
          </a:xfrm>
        </p:grpSpPr>
        <p:sp>
          <p:nvSpPr>
            <p:cNvPr id="17" name="TextBox 17"/>
            <p:cNvSpPr txBox="1"/>
            <p:nvPr/>
          </p:nvSpPr>
          <p:spPr>
            <a:xfrm>
              <a:off x="526161" y="3662839"/>
              <a:ext cx="468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h(X)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08151" y="3662839"/>
              <a:ext cx="33053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根结点到 X 的成本，已经发生，容易算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9652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161" y="4079081"/>
              <a:ext cx="468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ĝ(X)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8151" y="4079081"/>
              <a:ext cx="4757420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子树 X 中从 X 到最小成本答案结点的估计成本，设计它需要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创造性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6501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161" y="476297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08151" y="4762976"/>
              <a:ext cx="3541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非负函数，调整 h 与 ĝ 在 ĉ 中所占的比重</a:t>
              </a:r>
            </a:p>
          </p:txBody>
        </p:sp>
      </p:grpSp>
      <p:grpSp>
        <p:nvGrpSpPr>
          <p:cNvPr id="32" name="c1-callout-4"/>
          <p:cNvGrpSpPr/>
          <p:nvPr/>
        </p:nvGrpSpPr>
        <p:grpSpPr>
          <a:xfrm>
            <a:off x="533400" y="5165408"/>
            <a:ext cx="5626418" cy="756285"/>
            <a:chOff x="533400" y="5165408"/>
            <a:chExt cx="5626418" cy="756285"/>
          </a:xfrm>
        </p:grpSpPr>
        <p:sp>
          <p:nvSpPr>
            <p:cNvPr id="26" name="Rectangle 26"/>
            <p:cNvSpPr/>
            <p:nvPr/>
          </p:nvSpPr>
          <p:spPr>
            <a:xfrm>
              <a:off x="533400" y="5165408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443538"/>
              <a:ext cx="200026" cy="200025"/>
              <a:chOff x="738188" y="5443538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4435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4879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5991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312569"/>
              <a:ext cx="469430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例：15-谜中 h(X) 取已经移动的步数，ĝ(X) 取不在目标位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置的牌数（见 8.3）。</a:t>
              </a:r>
            </a:p>
          </p:txBody>
        </p:sp>
      </p:grpSp>
      <p:grpSp>
        <p:nvGrpSpPr>
          <p:cNvPr id="47" name="c2-graph-1"/>
          <p:cNvGrpSpPr/>
          <p:nvPr/>
        </p:nvGrpSpPr>
        <p:grpSpPr>
          <a:xfrm>
            <a:off x="6959918" y="1604962"/>
            <a:ext cx="4645654" cy="2403443"/>
            <a:chOff x="6959918" y="1604962"/>
            <a:chExt cx="4645654" cy="2403443"/>
          </a:xfrm>
        </p:grpSpPr>
        <p:sp>
          <p:nvSpPr>
            <p:cNvPr id="33" name="Freeform 33"/>
            <p:cNvSpPr/>
            <p:nvPr/>
          </p:nvSpPr>
          <p:spPr>
            <a:xfrm>
              <a:off x="7399972" y="1966912"/>
              <a:ext cx="9525" cy="585788"/>
            </a:xfrm>
            <a:custGeom>
              <a:avLst/>
              <a:gdLst/>
              <a:ahLst/>
              <a:cxnLst/>
              <a:rect l="l" t="t" r="r" b="b"/>
              <a:pathLst>
                <a:path w="9525" h="585788">
                  <a:moveTo>
                    <a:pt x="0" y="0"/>
                  </a:moveTo>
                  <a:lnTo>
                    <a:pt x="0" y="585788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352348" y="25527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399972" y="2971800"/>
              <a:ext cx="9525" cy="601028"/>
            </a:xfrm>
            <a:custGeom>
              <a:avLst/>
              <a:gdLst/>
              <a:ahLst/>
              <a:cxnLst/>
              <a:rect l="l" t="t" r="r" b="b"/>
              <a:pathLst>
                <a:path w="9525" h="601028">
                  <a:moveTo>
                    <a:pt x="0" y="0"/>
                  </a:moveTo>
                  <a:lnTo>
                    <a:pt x="0" y="601028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7352348" y="35728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223760" y="1604962"/>
              <a:ext cx="352425" cy="35242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247572" y="265747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59918" y="3668078"/>
              <a:ext cx="879158" cy="340042"/>
            </a:xfrm>
            <a:prstGeom prst="roundRect">
              <a:avLst>
                <a:gd name="adj" fmla="val 28011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07339" y="17016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40924" y="27303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8868" y="37590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答案结点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24076" y="2157889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h(X)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47772" y="2174081"/>
              <a:ext cx="2757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根到 X 的成本，已经走过，可以准确算出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24076" y="3238024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ĝ(X)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47772" y="3254216"/>
              <a:ext cx="2550414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往下到答案结点还要多少成本，只能估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4275772"/>
            <a:ext cx="5193982" cy="1645920"/>
            <a:chOff x="6464618" y="4275772"/>
            <a:chExt cx="5193982" cy="1645920"/>
          </a:xfrm>
        </p:grpSpPr>
        <p:sp>
          <p:nvSpPr>
            <p:cNvPr id="48" name="Rectangle 48"/>
            <p:cNvSpPr/>
            <p:nvPr/>
          </p:nvSpPr>
          <p:spPr>
            <a:xfrm>
              <a:off x="6464618" y="4275772"/>
              <a:ext cx="5193982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4409122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700838" y="4473892"/>
              <a:ext cx="90392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79898" y="450818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对 ĉ 的要求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701790" y="4822508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60135" y="486284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91731" y="4834414"/>
              <a:ext cx="3101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易于计算，能代替 c 给活结点表排序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01790" y="514064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60135" y="518002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91731" y="5152549"/>
              <a:ext cx="24240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对每个结点 X，ĉ(X) ≤ c(X)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701790" y="545782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60135" y="549816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91731" y="5470684"/>
              <a:ext cx="32493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 X 是答案结点时，ĉ(X) = c(X)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10278" cy="909257"/>
            <a:chOff x="520446" y="342900"/>
            <a:chExt cx="92102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497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7528" y="407194"/>
              <a:ext cx="1820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LC-检索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102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LC-检索每次选 ĉ 最小的活结点，BFS 和 D-检索是它的特例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6059805" cy="1681162"/>
            <a:chOff x="533400" y="1524000"/>
            <a:chExt cx="6059805" cy="16811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681162"/>
            </a:xfrm>
            <a:prstGeom prst="roundRect">
              <a:avLst>
                <a:gd name="adj" fmla="val 79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144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083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LC-检索（Least Cost search）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988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选取成本估计函数 ĉ 值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的活结点作为下一个 E-结点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3493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活结点表用极小堆实现，LEAST 取堆顶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2797016"/>
              <a:ext cx="53532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h(X) 小说明离根近，ĝ(X) 小说明离答案近，ĉ 把两者合在一起比较。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395662"/>
            <a:ext cx="6059805" cy="1573530"/>
            <a:chOff x="533400" y="3395662"/>
            <a:chExt cx="6059805" cy="1573530"/>
          </a:xfrm>
        </p:grpSpPr>
        <p:sp>
          <p:nvSpPr>
            <p:cNvPr id="18" name="Rectangle 18"/>
            <p:cNvSpPr/>
            <p:nvPr/>
          </p:nvSpPr>
          <p:spPr>
            <a:xfrm>
              <a:off x="533400" y="3395662"/>
              <a:ext cx="605980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0879" y="35313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62800" y="3531394"/>
              <a:ext cx="722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f(h(X))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78928" y="3531394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ĝ(X)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86704" y="35313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223" y="3980021"/>
              <a:ext cx="328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13763" y="3980021"/>
              <a:ext cx="1428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根到 X 的路径长度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0158" y="39800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46561" y="398002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按层生成结点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2891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29387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428649"/>
              <a:ext cx="850951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D-检索（补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充）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13763" y="454199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0158" y="4428649"/>
              <a:ext cx="11752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ĝ(X) ≥ ĝ(Y)，Y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X 的任一儿子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46561" y="442864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新生成的儿子总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是先被扩展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395662"/>
              <a:ext cx="6059805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801178" y="3395662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437572" y="3395662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133975" y="3395662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image-1"/>
          <p:cNvGrpSpPr/>
          <p:nvPr/>
        </p:nvGrpSpPr>
        <p:grpSpPr>
          <a:xfrm>
            <a:off x="6898005" y="1524000"/>
            <a:ext cx="4760595" cy="4159092"/>
            <a:chOff x="6898005" y="1524000"/>
            <a:chExt cx="4760595" cy="4159092"/>
          </a:xfrm>
        </p:grpSpPr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rcRect l="3562" t="0" r="3561" b="0"/>
            <a:stretch>
              <a:fillRect/>
            </a:stretch>
          </p:blipFill>
          <p:spPr>
            <a:xfrm>
              <a:off x="6898005" y="1524000"/>
              <a:ext cx="4760595" cy="3844290"/>
            </a:xfrm>
            <a:prstGeom prst="roundRect">
              <a:avLst>
                <a:gd name="adj" fmla="val 3468"/>
              </a:avLst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279805" y="5463064"/>
              <a:ext cx="3996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左边按到达先后叫号（FIFO），右边按紧急程度叫号（LC）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96163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小结：c 难求，就设计易算且 ĉ(X) ≤ c(X) 的 ĉ，用 ĉ 代替 c 挑选 E-结点。LC-检索适用于求最优解问题。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220995" cy="3351847"/>
            <a:chOff x="667512" y="1835468"/>
            <a:chExt cx="522099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33009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15-谜问题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2110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在同一个开局上比较 FIFO、深度优先和 LC 三种检索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问题描述与状态空间树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判定定理：先判断能否到达目标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5572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与深度优先检索的过程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14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LC-检索的 ĉ 设计与运行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27008" cy="909257"/>
            <a:chOff x="520446" y="342900"/>
            <a:chExt cx="76270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16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6124" y="407194"/>
              <a:ext cx="1946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15-谜问题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270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15-谜：反复移动空格，把开局 (a) 变成目标 (b)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832552" cy="293370"/>
            <a:chOff x="525780" y="1548765"/>
            <a:chExt cx="83255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(a) 开局</a:t>
              </a:r>
            </a:p>
          </p:txBody>
        </p:sp>
      </p:grpSp>
      <p:grpSp>
        <p:nvGrpSpPr>
          <p:cNvPr id="40" name="c1-cells-2"/>
          <p:cNvGrpSpPr/>
          <p:nvPr/>
        </p:nvGrpSpPr>
        <p:grpSpPr>
          <a:xfrm>
            <a:off x="533400" y="1973580"/>
            <a:ext cx="1905000" cy="1905000"/>
            <a:chOff x="533400" y="1973580"/>
            <a:chExt cx="1905000" cy="1905000"/>
          </a:xfrm>
        </p:grpSpPr>
        <p:sp>
          <p:nvSpPr>
            <p:cNvPr id="9" name="Rectangle 9"/>
            <p:cNvSpPr/>
            <p:nvPr/>
          </p:nvSpPr>
          <p:spPr>
            <a:xfrm>
              <a:off x="533400" y="19735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2190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09650" y="19735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88440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485900" y="19735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64690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19735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40940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4498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2190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09650" y="24498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88440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485900" y="2449830"/>
              <a:ext cx="476250" cy="4762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962150" y="24498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140940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9260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2190" y="30803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09650" y="29260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35964" y="30803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485900" y="29260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64690" y="30803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62150" y="29260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088464" y="30803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4023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9714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09650" y="34023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5964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485900" y="34023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612214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962150" y="34023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088464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42" name="c2-text-1"/>
          <p:cNvGrpSpPr/>
          <p:nvPr/>
        </p:nvGrpSpPr>
        <p:grpSpPr>
          <a:xfrm>
            <a:off x="3038475" y="1548765"/>
            <a:ext cx="832552" cy="293370"/>
            <a:chOff x="3038475" y="1548765"/>
            <a:chExt cx="832552" cy="293370"/>
          </a:xfrm>
        </p:grpSpPr>
        <p:sp>
          <p:nvSpPr>
            <p:cNvPr id="41" name="TextBox 41"/>
            <p:cNvSpPr txBox="1"/>
            <p:nvPr/>
          </p:nvSpPr>
          <p:spPr>
            <a:xfrm>
              <a:off x="3038475" y="1548765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(b) 目标</a:t>
              </a:r>
            </a:p>
          </p:txBody>
        </p:sp>
      </p:grpSp>
      <p:grpSp>
        <p:nvGrpSpPr>
          <p:cNvPr id="74" name="c2-cells-2"/>
          <p:cNvGrpSpPr/>
          <p:nvPr/>
        </p:nvGrpSpPr>
        <p:grpSpPr>
          <a:xfrm>
            <a:off x="3046095" y="1973580"/>
            <a:ext cx="1905000" cy="1905000"/>
            <a:chOff x="3046095" y="1973580"/>
            <a:chExt cx="1905000" cy="1905000"/>
          </a:xfrm>
        </p:grpSpPr>
        <p:sp>
          <p:nvSpPr>
            <p:cNvPr id="43" name="Rectangle 43"/>
            <p:cNvSpPr/>
            <p:nvPr/>
          </p:nvSpPr>
          <p:spPr>
            <a:xfrm>
              <a:off x="3046095" y="19735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224885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522345" y="19735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701135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998595" y="19735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177385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74845" y="19735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53635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046095" y="24498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224885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522345" y="24498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701135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998595" y="24498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177385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474845" y="24498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653635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046095" y="29260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224885" y="30803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522345" y="29260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648659" y="30803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998595" y="29260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124909" y="30803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474845" y="292608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601159" y="30803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046095" y="34023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172409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522345" y="34023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648659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998595" y="3402330"/>
              <a:ext cx="4762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124909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474845" y="3402330"/>
              <a:ext cx="476250" cy="4762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</p:grpSp>
      <p:grpSp>
        <p:nvGrpSpPr>
          <p:cNvPr id="83" name="c3-card-1"/>
          <p:cNvGrpSpPr/>
          <p:nvPr/>
        </p:nvGrpSpPr>
        <p:grpSpPr>
          <a:xfrm>
            <a:off x="5559742" y="1524000"/>
            <a:ext cx="6098858" cy="1365885"/>
            <a:chOff x="5559742" y="1524000"/>
            <a:chExt cx="6098858" cy="1365885"/>
          </a:xfrm>
        </p:grpSpPr>
        <p:sp>
          <p:nvSpPr>
            <p:cNvPr id="75" name="Rectangle 75"/>
            <p:cNvSpPr/>
            <p:nvPr/>
          </p:nvSpPr>
          <p:spPr>
            <a:xfrm>
              <a:off x="5559742" y="1524000"/>
              <a:ext cx="6098858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569268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80739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88874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581310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971223" y="2110740"/>
              <a:ext cx="52856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格方盘上放 15 块编号牌，与空格相邻的牌可以移入空格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5813108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971223" y="2446020"/>
              <a:ext cx="4296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通过一系列合法移动，把开局 (a) 变成目标 (b)</a:t>
              </a:r>
            </a:p>
          </p:txBody>
        </p:sp>
      </p:grpSp>
      <p:grpSp>
        <p:nvGrpSpPr>
          <p:cNvPr id="94" name="c3-card-2"/>
          <p:cNvGrpSpPr/>
          <p:nvPr/>
        </p:nvGrpSpPr>
        <p:grpSpPr>
          <a:xfrm>
            <a:off x="5559742" y="3080385"/>
            <a:ext cx="6098858" cy="1986915"/>
            <a:chOff x="5559742" y="3080385"/>
            <a:chExt cx="6098858" cy="1986915"/>
          </a:xfrm>
        </p:grpSpPr>
        <p:sp>
          <p:nvSpPr>
            <p:cNvPr id="84" name="Rectangle 84"/>
            <p:cNvSpPr/>
            <p:nvPr/>
          </p:nvSpPr>
          <p:spPr>
            <a:xfrm>
              <a:off x="5559742" y="3080385"/>
              <a:ext cx="6098858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569268" y="3213735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5807392" y="32899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884799" y="33256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状态空间树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5813108" y="37299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971223" y="36671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结点是一个棋盘布局；开局是根，目标布局是答案结点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5813108" y="40652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971223" y="400240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儿子是当前布局经过一次合法移动得到的布局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5813108" y="44005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971223" y="433768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移动一块牌等于把空格反向移一格，所以边记作空格的移动，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按上、右、下、左的次序生成儿子</a:t>
              </a:r>
            </a:p>
          </p:txBody>
        </p:sp>
      </p:grpSp>
      <p:grpSp>
        <p:nvGrpSpPr>
          <p:cNvPr id="101" name="c3-callout-3"/>
          <p:cNvGrpSpPr/>
          <p:nvPr/>
        </p:nvGrpSpPr>
        <p:grpSpPr>
          <a:xfrm>
            <a:off x="5559742" y="5257800"/>
            <a:ext cx="6098858" cy="782955"/>
            <a:chOff x="5559742" y="5257800"/>
            <a:chExt cx="6098858" cy="782955"/>
          </a:xfrm>
        </p:grpSpPr>
        <p:sp>
          <p:nvSpPr>
            <p:cNvPr id="95" name="Rectangle 95"/>
            <p:cNvSpPr/>
            <p:nvPr/>
          </p:nvSpPr>
          <p:spPr>
            <a:xfrm>
              <a:off x="5559742" y="5257800"/>
              <a:ext cx="609885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5752472" y="5545573"/>
              <a:ext cx="224134" cy="192560"/>
              <a:chOff x="5752472" y="5545573"/>
              <a:chExt cx="224134" cy="19256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5864543" y="561594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5752472" y="554557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5864543" y="56937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6066473" y="5406390"/>
              <a:ext cx="50634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16 格上共有 16! ≈ 2.09×10¹³ 种布局，其中只有一半能到达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目标 (b)，搜索之前要先判断。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85973" cy="909257"/>
            <a:chOff x="520446" y="342900"/>
            <a:chExt cx="81859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16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6124" y="407194"/>
              <a:ext cx="1946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15-谜问题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859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判定定理：ΣLESS(i) + X 为偶数时，目标才可以到达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5742622" cy="2459355"/>
            <a:chOff x="525780" y="1548765"/>
            <a:chExt cx="5742622" cy="245935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位置号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61197" y="1548765"/>
              <a:ext cx="4286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按目标 (b) 给方格编号 1~16，空格的位置是 16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12845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POSITION(i)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61197" y="1988820"/>
              <a:ext cx="3958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开局中牌 i 所在的位置号；POSITION(16) 是空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格的位置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0800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710815"/>
              <a:ext cx="813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LESS(i)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61197" y="2710815"/>
              <a:ext cx="40919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牌号 j &lt; i 且 POSITION(j) &gt; POSITION(i) 的 j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个数，即与 i 构成逆序的牌数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312795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43281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61197" y="3432810"/>
              <a:ext cx="39014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开局中空格在 (c) 的阴影格（行号 + 列号为奇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数）时取 1，否则取 0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139565"/>
            <a:ext cx="5735002" cy="1468755"/>
            <a:chOff x="533400" y="4139565"/>
            <a:chExt cx="5735002" cy="1468755"/>
          </a:xfrm>
        </p:grpSpPr>
        <p:sp>
          <p:nvSpPr>
            <p:cNvPr id="19" name="Rectangle 19"/>
            <p:cNvSpPr/>
            <p:nvPr/>
          </p:nvSpPr>
          <p:spPr>
            <a:xfrm>
              <a:off x="533400" y="4139565"/>
              <a:ext cx="5735002" cy="1468755"/>
            </a:xfrm>
            <a:prstGeom prst="roundRect">
              <a:avLst>
                <a:gd name="adj" fmla="val 9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272915"/>
              <a:ext cx="47625" cy="12020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43491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43848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2078" y="438435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初始状态判定定理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4745355"/>
              <a:ext cx="4911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当且仅当开局的 Σ LESS(i)（1 ≤ i ≤ 16）+ X 是偶数时，目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标状态 (b) 可以由开局到达。</a:t>
              </a:r>
            </a:p>
          </p:txBody>
        </p:sp>
      </p:grpSp>
      <p:grpSp>
        <p:nvGrpSpPr>
          <p:cNvPr id="59" name="c2-cells-1"/>
          <p:cNvGrpSpPr/>
          <p:nvPr/>
        </p:nvGrpSpPr>
        <p:grpSpPr>
          <a:xfrm>
            <a:off x="6567488" y="1524000"/>
            <a:ext cx="1909762" cy="1295400"/>
            <a:chOff x="6567488" y="1524000"/>
            <a:chExt cx="1909762" cy="1295400"/>
          </a:xfrm>
        </p:grpSpPr>
        <p:sp>
          <p:nvSpPr>
            <p:cNvPr id="26" name="TextBox 26"/>
            <p:cNvSpPr txBox="1"/>
            <p:nvPr/>
          </p:nvSpPr>
          <p:spPr>
            <a:xfrm>
              <a:off x="6567488" y="161591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(c)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953250" y="1524000"/>
              <a:ext cx="38100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94499" y="16159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34250" y="1524000"/>
              <a:ext cx="381000" cy="32385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75499" y="16159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715250" y="1524000"/>
              <a:ext cx="38100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56499" y="16159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96250" y="1524000"/>
              <a:ext cx="381000" cy="32385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37499" y="16159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53250" y="1847850"/>
              <a:ext cx="381000" cy="32385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9449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334250" y="1847850"/>
              <a:ext cx="38100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7549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715250" y="1847850"/>
              <a:ext cx="381000" cy="32385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5649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96250" y="1847850"/>
              <a:ext cx="38100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3749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953250" y="2171700"/>
              <a:ext cx="38100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94499" y="22636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334250" y="2171700"/>
              <a:ext cx="381000" cy="32385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31963" y="22636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715250" y="2171700"/>
              <a:ext cx="38100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12963" y="22636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096250" y="2171700"/>
              <a:ext cx="381000" cy="32385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93963" y="22636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953250" y="2495550"/>
              <a:ext cx="381000" cy="32385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50963" y="25874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34250" y="2495550"/>
              <a:ext cx="38100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31963" y="25874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715250" y="2495550"/>
              <a:ext cx="381000" cy="32385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12963" y="25874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096250" y="2495550"/>
              <a:ext cx="381000" cy="3238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93963" y="25874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  <p:grpSp>
        <p:nvGrpSpPr>
          <p:cNvPr id="86" name="c2-table-2"/>
          <p:cNvGrpSpPr/>
          <p:nvPr/>
        </p:nvGrpSpPr>
        <p:grpSpPr>
          <a:xfrm>
            <a:off x="6567488" y="3009900"/>
            <a:ext cx="5091112" cy="1393031"/>
            <a:chOff x="6567488" y="3009900"/>
            <a:chExt cx="5091112" cy="1393031"/>
          </a:xfrm>
        </p:grpSpPr>
        <p:sp>
          <p:nvSpPr>
            <p:cNvPr id="60" name="Rectangle 60"/>
            <p:cNvSpPr/>
            <p:nvPr/>
          </p:nvSpPr>
          <p:spPr>
            <a:xfrm>
              <a:off x="6573202" y="3009900"/>
              <a:ext cx="508539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42545" y="3145631"/>
              <a:ext cx="293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牌 i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05702" y="31456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17195" y="31456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26557" y="31456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32347" y="31456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38137" y="31456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43927" y="31456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249717" y="31456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42560" y="3594259"/>
              <a:ext cx="693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LESS(i)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08072" y="35942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19564" y="35942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78682" y="35942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84472" y="35942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90262" y="35942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96052" y="35942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301842" y="35942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573202" y="3009900"/>
              <a:ext cx="5085398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600950" y="30099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112442" y="30099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8624888" y="30099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230678" y="30099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836468" y="30099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442258" y="30099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11048048" y="3009900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567488" y="3982879"/>
              <a:ext cx="4740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开局 (a) 中其余牌的 LESS 为 0。空格在位置 7，位置更靠后的 8、9、10、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7、11、13、14、15、12 共 9 块牌，所以 LESS(16) = 9</a:t>
              </a:r>
            </a:p>
          </p:txBody>
        </p:sp>
      </p:grpSp>
      <p:grpSp>
        <p:nvGrpSpPr>
          <p:cNvPr id="92" name="c2-callout-3"/>
          <p:cNvGrpSpPr/>
          <p:nvPr/>
        </p:nvGrpSpPr>
        <p:grpSpPr>
          <a:xfrm>
            <a:off x="6573202" y="4549140"/>
            <a:ext cx="5085398" cy="1059180"/>
            <a:chOff x="6573202" y="4549140"/>
            <a:chExt cx="5085398" cy="1059180"/>
          </a:xfrm>
        </p:grpSpPr>
        <p:sp>
          <p:nvSpPr>
            <p:cNvPr id="87" name="Rectangle 87"/>
            <p:cNvSpPr/>
            <p:nvPr/>
          </p:nvSpPr>
          <p:spPr>
            <a:xfrm>
              <a:off x="6573202" y="4549140"/>
              <a:ext cx="5085398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6777990" y="4978718"/>
              <a:ext cx="200026" cy="200026"/>
              <a:chOff x="6777990" y="4978718"/>
              <a:chExt cx="200026" cy="200026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6777990" y="49787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6844665" y="505650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7079933" y="4697730"/>
              <a:ext cx="41300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开局 (a)：Σ LESS = 6 + 9 = 15；空格在位置 7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（第 2 行第 3 列，阴影格），X = 1；15 + 1 = 16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是偶数，(b) 可达。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37361" cy="909257"/>
            <a:chOff x="520446" y="342900"/>
            <a:chExt cx="84373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16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6124" y="407194"/>
              <a:ext cx="1946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15-谜问题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373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检索：逐层展开，生成到第 23 个结点才遇到目标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0" name="fifo-upper"/>
          <p:cNvGrpSpPr/>
          <p:nvPr/>
        </p:nvGrpSpPr>
        <p:grpSpPr>
          <a:xfrm>
            <a:off x="543204" y="1600200"/>
            <a:ext cx="10921086" cy="2801779"/>
            <a:chOff x="543204" y="1600200"/>
            <a:chExt cx="10921086" cy="2801779"/>
          </a:xfrm>
        </p:grpSpPr>
        <p:sp>
          <p:nvSpPr>
            <p:cNvPr id="7" name="Line 7"/>
            <p:cNvSpPr/>
            <p:nvPr/>
          </p:nvSpPr>
          <p:spPr>
            <a:xfrm>
              <a:off x="1645920" y="2324100"/>
              <a:ext cx="3893820" cy="304800"/>
            </a:xfrm>
            <a:custGeom>
              <a:avLst/>
              <a:gdLst/>
              <a:ahLst/>
              <a:cxnLst/>
              <a:rect l="l" t="t" r="r" b="b"/>
              <a:pathLst>
                <a:path w="3893820" h="304800">
                  <a:moveTo>
                    <a:pt x="3893820" y="0"/>
                  </a:moveTo>
                  <a:lnTo>
                    <a:pt x="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870960" y="2324100"/>
              <a:ext cx="1668780" cy="304800"/>
            </a:xfrm>
            <a:custGeom>
              <a:avLst/>
              <a:gdLst/>
              <a:ahLst/>
              <a:cxnLst/>
              <a:rect l="l" t="t" r="r" b="b"/>
              <a:pathLst>
                <a:path w="1668780" h="304800">
                  <a:moveTo>
                    <a:pt x="1668780" y="0"/>
                  </a:moveTo>
                  <a:lnTo>
                    <a:pt x="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539740" y="2324100"/>
              <a:ext cx="1112520" cy="304800"/>
            </a:xfrm>
            <a:custGeom>
              <a:avLst/>
              <a:gdLst/>
              <a:ahLst/>
              <a:cxnLst/>
              <a:rect l="l" t="t" r="r" b="b"/>
              <a:pathLst>
                <a:path w="1112520" h="304800">
                  <a:moveTo>
                    <a:pt x="0" y="0"/>
                  </a:moveTo>
                  <a:lnTo>
                    <a:pt x="111252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539740" y="2324100"/>
              <a:ext cx="4450080" cy="304800"/>
            </a:xfrm>
            <a:custGeom>
              <a:avLst/>
              <a:gdLst/>
              <a:ahLst/>
              <a:cxnLst/>
              <a:rect l="l" t="t" r="r" b="b"/>
              <a:pathLst>
                <a:path w="4450080" h="304800">
                  <a:moveTo>
                    <a:pt x="0" y="0"/>
                  </a:moveTo>
                  <a:lnTo>
                    <a:pt x="445008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89660" y="3352800"/>
              <a:ext cx="556260" cy="304800"/>
            </a:xfrm>
            <a:custGeom>
              <a:avLst/>
              <a:gdLst/>
              <a:ahLst/>
              <a:cxnLst/>
              <a:rect l="l" t="t" r="r" b="b"/>
              <a:pathLst>
                <a:path w="556260" h="304800">
                  <a:moveTo>
                    <a:pt x="556260" y="0"/>
                  </a:moveTo>
                  <a:lnTo>
                    <a:pt x="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645920" y="3352800"/>
              <a:ext cx="556260" cy="304800"/>
            </a:xfrm>
            <a:custGeom>
              <a:avLst/>
              <a:gdLst/>
              <a:ahLst/>
              <a:cxnLst/>
              <a:rect l="l" t="t" r="r" b="b"/>
              <a:pathLst>
                <a:path w="556260" h="304800">
                  <a:moveTo>
                    <a:pt x="0" y="0"/>
                  </a:moveTo>
                  <a:lnTo>
                    <a:pt x="55626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314700" y="3352800"/>
              <a:ext cx="556260" cy="304800"/>
            </a:xfrm>
            <a:custGeom>
              <a:avLst/>
              <a:gdLst/>
              <a:ahLst/>
              <a:cxnLst/>
              <a:rect l="l" t="t" r="r" b="b"/>
              <a:pathLst>
                <a:path w="556260" h="304800">
                  <a:moveTo>
                    <a:pt x="556260" y="0"/>
                  </a:moveTo>
                  <a:lnTo>
                    <a:pt x="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870960" y="3352800"/>
              <a:ext cx="556260" cy="304800"/>
            </a:xfrm>
            <a:custGeom>
              <a:avLst/>
              <a:gdLst/>
              <a:ahLst/>
              <a:cxnLst/>
              <a:rect l="l" t="t" r="r" b="b"/>
              <a:pathLst>
                <a:path w="556260" h="304800">
                  <a:moveTo>
                    <a:pt x="0" y="0"/>
                  </a:moveTo>
                  <a:lnTo>
                    <a:pt x="55626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539740" y="3352800"/>
              <a:ext cx="1112520" cy="304800"/>
            </a:xfrm>
            <a:custGeom>
              <a:avLst/>
              <a:gdLst/>
              <a:ahLst/>
              <a:cxnLst/>
              <a:rect l="l" t="t" r="r" b="b"/>
              <a:pathLst>
                <a:path w="1112520" h="304800">
                  <a:moveTo>
                    <a:pt x="1112520" y="0"/>
                  </a:moveTo>
                  <a:lnTo>
                    <a:pt x="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652260" y="3352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652260" y="3352800"/>
              <a:ext cx="1112520" cy="304800"/>
            </a:xfrm>
            <a:custGeom>
              <a:avLst/>
              <a:gdLst/>
              <a:ahLst/>
              <a:cxnLst/>
              <a:rect l="l" t="t" r="r" b="b"/>
              <a:pathLst>
                <a:path w="1112520" h="304800">
                  <a:moveTo>
                    <a:pt x="0" y="0"/>
                  </a:moveTo>
                  <a:lnTo>
                    <a:pt x="111252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877300" y="3352800"/>
              <a:ext cx="1112520" cy="304800"/>
            </a:xfrm>
            <a:custGeom>
              <a:avLst/>
              <a:gdLst/>
              <a:ahLst/>
              <a:cxnLst/>
              <a:rect l="l" t="t" r="r" b="b"/>
              <a:pathLst>
                <a:path w="1112520" h="304800">
                  <a:moveTo>
                    <a:pt x="1112520" y="0"/>
                  </a:moveTo>
                  <a:lnTo>
                    <a:pt x="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989820" y="33528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9989820" y="3352800"/>
              <a:ext cx="1112520" cy="304800"/>
            </a:xfrm>
            <a:custGeom>
              <a:avLst/>
              <a:gdLst/>
              <a:ahLst/>
              <a:cxnLst/>
              <a:rect l="l" t="t" r="r" b="b"/>
              <a:pathLst>
                <a:path w="1112520" h="304800">
                  <a:moveTo>
                    <a:pt x="0" y="0"/>
                  </a:moveTo>
                  <a:lnTo>
                    <a:pt x="1112520" y="30480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77790" y="16002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33158" y="16397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58765" y="16002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14133" y="16397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539740" y="16002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95108" y="16397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20715" y="16002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76083" y="16397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177790" y="17811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33158" y="18207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58765" y="17811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14133" y="18207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39740" y="178117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20715" y="17811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76083" y="18207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77790" y="19621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33158" y="20016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58765" y="19621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83776" y="20016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39740" y="19621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95108" y="20016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20715" y="19621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745726" y="20016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77790" y="21431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02801" y="21826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58765" y="21431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383776" y="21826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39740" y="21431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564751" y="21826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20715" y="21431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45726" y="21826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77790" y="1600200"/>
              <a:ext cx="723900" cy="7239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043201" y="16392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283970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339338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464945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520313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645920" y="262890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826895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882263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283970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339338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464945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520313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645920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701288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826895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882263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283970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339338" y="3030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464945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489956" y="3030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645920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701288" y="3030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826895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851906" y="3030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283970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308981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464945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489956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645920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670931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826895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851906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283970" y="26289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49381" y="2667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99464" y="28474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09010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564378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3689985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3745353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3870960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3926328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051935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107303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3509010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3564378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3689985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3745353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3870960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3926328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4051935" y="280987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3509010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564378" y="3030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3689985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3714996" y="3030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3870960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3926328" y="3030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4051935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4076946" y="3030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3509010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3534021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3689985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3714996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870960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3895971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4051935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4076946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3509010" y="26289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3374421" y="2667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3324504" y="28474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6290310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345678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6471285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526653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6652260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707628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6833235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888603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6290310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6345678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6471285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6526653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6652260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6707628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6833235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6888603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6290310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6345678" y="3030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6471285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6496296" y="3030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6652260" y="29908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6833235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6858246" y="3030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6290310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6315321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6471285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6496296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6652260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6677271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6833235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6858246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6290310" y="2628900"/>
              <a:ext cx="723900" cy="7239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6155721" y="2667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6105804" y="28474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9627870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9683238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8" name="Rectangle 158"/>
            <p:cNvSpPr/>
            <p:nvPr/>
          </p:nvSpPr>
          <p:spPr>
            <a:xfrm>
              <a:off x="9808845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9864213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9989820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10045188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2" name="Rectangle 162"/>
            <p:cNvSpPr/>
            <p:nvPr/>
          </p:nvSpPr>
          <p:spPr>
            <a:xfrm>
              <a:off x="10170795" y="2628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10226163" y="2668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9627870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9683238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6" name="Rectangle 166"/>
            <p:cNvSpPr/>
            <p:nvPr/>
          </p:nvSpPr>
          <p:spPr>
            <a:xfrm>
              <a:off x="9808845" y="280987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9989820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10045188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9" name="Rectangle 169"/>
            <p:cNvSpPr/>
            <p:nvPr/>
          </p:nvSpPr>
          <p:spPr>
            <a:xfrm>
              <a:off x="10170795" y="2809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10226163" y="2849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9627870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2" name="TextBox 172"/>
            <p:cNvSpPr txBox="1"/>
            <p:nvPr/>
          </p:nvSpPr>
          <p:spPr>
            <a:xfrm>
              <a:off x="9683238" y="3030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73" name="Rectangle 173"/>
            <p:cNvSpPr/>
            <p:nvPr/>
          </p:nvSpPr>
          <p:spPr>
            <a:xfrm>
              <a:off x="9808845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4" name="TextBox 174"/>
            <p:cNvSpPr txBox="1"/>
            <p:nvPr/>
          </p:nvSpPr>
          <p:spPr>
            <a:xfrm>
              <a:off x="9833856" y="3030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5" name="Rectangle 175"/>
            <p:cNvSpPr/>
            <p:nvPr/>
          </p:nvSpPr>
          <p:spPr>
            <a:xfrm>
              <a:off x="9989820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6" name="TextBox 176"/>
            <p:cNvSpPr txBox="1"/>
            <p:nvPr/>
          </p:nvSpPr>
          <p:spPr>
            <a:xfrm>
              <a:off x="10045188" y="3030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7" name="Rectangle 177"/>
            <p:cNvSpPr/>
            <p:nvPr/>
          </p:nvSpPr>
          <p:spPr>
            <a:xfrm>
              <a:off x="10170795" y="2990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10195806" y="3030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79" name="Rectangle 179"/>
            <p:cNvSpPr/>
            <p:nvPr/>
          </p:nvSpPr>
          <p:spPr>
            <a:xfrm>
              <a:off x="9627870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9652881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81" name="Rectangle 181"/>
            <p:cNvSpPr/>
            <p:nvPr/>
          </p:nvSpPr>
          <p:spPr>
            <a:xfrm>
              <a:off x="9808845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9833856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83" name="Rectangle 183"/>
            <p:cNvSpPr/>
            <p:nvPr/>
          </p:nvSpPr>
          <p:spPr>
            <a:xfrm>
              <a:off x="9989820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4" name="TextBox 184"/>
            <p:cNvSpPr txBox="1"/>
            <p:nvPr/>
          </p:nvSpPr>
          <p:spPr>
            <a:xfrm>
              <a:off x="10014831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85" name="Rectangle 185"/>
            <p:cNvSpPr/>
            <p:nvPr/>
          </p:nvSpPr>
          <p:spPr>
            <a:xfrm>
              <a:off x="10170795" y="3171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6" name="TextBox 186"/>
            <p:cNvSpPr txBox="1"/>
            <p:nvPr/>
          </p:nvSpPr>
          <p:spPr>
            <a:xfrm>
              <a:off x="10195806" y="3211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87" name="Rectangle 187"/>
            <p:cNvSpPr/>
            <p:nvPr/>
          </p:nvSpPr>
          <p:spPr>
            <a:xfrm>
              <a:off x="9627870" y="26289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188" name="TextBox 188"/>
            <p:cNvSpPr txBox="1"/>
            <p:nvPr/>
          </p:nvSpPr>
          <p:spPr>
            <a:xfrm>
              <a:off x="9493281" y="2667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9443364" y="28474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190" name="Rectangle 190"/>
            <p:cNvSpPr/>
            <p:nvPr/>
          </p:nvSpPr>
          <p:spPr>
            <a:xfrm>
              <a:off x="72771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1" name="TextBox 191"/>
            <p:cNvSpPr txBox="1"/>
            <p:nvPr/>
          </p:nvSpPr>
          <p:spPr>
            <a:xfrm>
              <a:off x="78307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2" name="Rectangle 192"/>
            <p:cNvSpPr/>
            <p:nvPr/>
          </p:nvSpPr>
          <p:spPr>
            <a:xfrm>
              <a:off x="90868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3" name="TextBox 193"/>
            <p:cNvSpPr txBox="1"/>
            <p:nvPr/>
          </p:nvSpPr>
          <p:spPr>
            <a:xfrm>
              <a:off x="96405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4" name="Rectangle 194"/>
            <p:cNvSpPr/>
            <p:nvPr/>
          </p:nvSpPr>
          <p:spPr>
            <a:xfrm>
              <a:off x="108966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5" name="TextBox 195"/>
            <p:cNvSpPr txBox="1"/>
            <p:nvPr/>
          </p:nvSpPr>
          <p:spPr>
            <a:xfrm>
              <a:off x="114502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6" name="Rectangle 196"/>
            <p:cNvSpPr/>
            <p:nvPr/>
          </p:nvSpPr>
          <p:spPr>
            <a:xfrm>
              <a:off x="1270635" y="365760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72771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78307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9" name="Rectangle 199"/>
            <p:cNvSpPr/>
            <p:nvPr/>
          </p:nvSpPr>
          <p:spPr>
            <a:xfrm>
              <a:off x="90868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0" name="TextBox 200"/>
            <p:cNvSpPr txBox="1"/>
            <p:nvPr/>
          </p:nvSpPr>
          <p:spPr>
            <a:xfrm>
              <a:off x="96405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1" name="Rectangle 201"/>
            <p:cNvSpPr/>
            <p:nvPr/>
          </p:nvSpPr>
          <p:spPr>
            <a:xfrm>
              <a:off x="108966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114502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3" name="Rectangle 203"/>
            <p:cNvSpPr/>
            <p:nvPr/>
          </p:nvSpPr>
          <p:spPr>
            <a:xfrm>
              <a:off x="127063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4" name="TextBox 204"/>
            <p:cNvSpPr txBox="1"/>
            <p:nvPr/>
          </p:nvSpPr>
          <p:spPr>
            <a:xfrm>
              <a:off x="132600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5" name="Rectangle 205"/>
            <p:cNvSpPr/>
            <p:nvPr/>
          </p:nvSpPr>
          <p:spPr>
            <a:xfrm>
              <a:off x="72771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78307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7" name="Rectangle 207"/>
            <p:cNvSpPr/>
            <p:nvPr/>
          </p:nvSpPr>
          <p:spPr>
            <a:xfrm>
              <a:off x="90868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8" name="TextBox 208"/>
            <p:cNvSpPr txBox="1"/>
            <p:nvPr/>
          </p:nvSpPr>
          <p:spPr>
            <a:xfrm>
              <a:off x="93369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9" name="Rectangle 209"/>
            <p:cNvSpPr/>
            <p:nvPr/>
          </p:nvSpPr>
          <p:spPr>
            <a:xfrm>
              <a:off x="108966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114502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11" name="Rectangle 211"/>
            <p:cNvSpPr/>
            <p:nvPr/>
          </p:nvSpPr>
          <p:spPr>
            <a:xfrm>
              <a:off x="127063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2" name="TextBox 212"/>
            <p:cNvSpPr txBox="1"/>
            <p:nvPr/>
          </p:nvSpPr>
          <p:spPr>
            <a:xfrm>
              <a:off x="129564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3" name="Rectangle 213"/>
            <p:cNvSpPr/>
            <p:nvPr/>
          </p:nvSpPr>
          <p:spPr>
            <a:xfrm>
              <a:off x="72771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75272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15" name="Rectangle 215"/>
            <p:cNvSpPr/>
            <p:nvPr/>
          </p:nvSpPr>
          <p:spPr>
            <a:xfrm>
              <a:off x="90868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6" name="TextBox 216"/>
            <p:cNvSpPr txBox="1"/>
            <p:nvPr/>
          </p:nvSpPr>
          <p:spPr>
            <a:xfrm>
              <a:off x="93369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17" name="Rectangle 217"/>
            <p:cNvSpPr/>
            <p:nvPr/>
          </p:nvSpPr>
          <p:spPr>
            <a:xfrm>
              <a:off x="108966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111467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19" name="Rectangle 219"/>
            <p:cNvSpPr/>
            <p:nvPr/>
          </p:nvSpPr>
          <p:spPr>
            <a:xfrm>
              <a:off x="127063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0" name="TextBox 220"/>
            <p:cNvSpPr txBox="1"/>
            <p:nvPr/>
          </p:nvSpPr>
          <p:spPr>
            <a:xfrm>
              <a:off x="129564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1" name="Rectangle 221"/>
            <p:cNvSpPr/>
            <p:nvPr/>
          </p:nvSpPr>
          <p:spPr>
            <a:xfrm>
              <a:off x="727710" y="36576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593121" y="36966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54320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224" name="Rectangle 224"/>
            <p:cNvSpPr/>
            <p:nvPr/>
          </p:nvSpPr>
          <p:spPr>
            <a:xfrm>
              <a:off x="184023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5" name="TextBox 225"/>
            <p:cNvSpPr txBox="1"/>
            <p:nvPr/>
          </p:nvSpPr>
          <p:spPr>
            <a:xfrm>
              <a:off x="189559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6" name="Rectangle 226"/>
            <p:cNvSpPr/>
            <p:nvPr/>
          </p:nvSpPr>
          <p:spPr>
            <a:xfrm>
              <a:off x="2021205" y="365760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27" name="Rectangle 227"/>
            <p:cNvSpPr/>
            <p:nvPr/>
          </p:nvSpPr>
          <p:spPr>
            <a:xfrm>
              <a:off x="220218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8" name="TextBox 228"/>
            <p:cNvSpPr txBox="1"/>
            <p:nvPr/>
          </p:nvSpPr>
          <p:spPr>
            <a:xfrm>
              <a:off x="225754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9" name="Rectangle 229"/>
            <p:cNvSpPr/>
            <p:nvPr/>
          </p:nvSpPr>
          <p:spPr>
            <a:xfrm>
              <a:off x="238315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0" name="TextBox 230"/>
            <p:cNvSpPr txBox="1"/>
            <p:nvPr/>
          </p:nvSpPr>
          <p:spPr>
            <a:xfrm>
              <a:off x="243852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1" name="Rectangle 231"/>
            <p:cNvSpPr/>
            <p:nvPr/>
          </p:nvSpPr>
          <p:spPr>
            <a:xfrm>
              <a:off x="184023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2" name="TextBox 232"/>
            <p:cNvSpPr txBox="1"/>
            <p:nvPr/>
          </p:nvSpPr>
          <p:spPr>
            <a:xfrm>
              <a:off x="189559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3" name="Rectangle 233"/>
            <p:cNvSpPr/>
            <p:nvPr/>
          </p:nvSpPr>
          <p:spPr>
            <a:xfrm>
              <a:off x="202120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4" name="TextBox 234"/>
            <p:cNvSpPr txBox="1"/>
            <p:nvPr/>
          </p:nvSpPr>
          <p:spPr>
            <a:xfrm>
              <a:off x="207657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35" name="Rectangle 235"/>
            <p:cNvSpPr/>
            <p:nvPr/>
          </p:nvSpPr>
          <p:spPr>
            <a:xfrm>
              <a:off x="220218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6" name="TextBox 236"/>
            <p:cNvSpPr txBox="1"/>
            <p:nvPr/>
          </p:nvSpPr>
          <p:spPr>
            <a:xfrm>
              <a:off x="225754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7" name="Rectangle 237"/>
            <p:cNvSpPr/>
            <p:nvPr/>
          </p:nvSpPr>
          <p:spPr>
            <a:xfrm>
              <a:off x="238315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8" name="TextBox 238"/>
            <p:cNvSpPr txBox="1"/>
            <p:nvPr/>
          </p:nvSpPr>
          <p:spPr>
            <a:xfrm>
              <a:off x="243852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9" name="Rectangle 239"/>
            <p:cNvSpPr/>
            <p:nvPr/>
          </p:nvSpPr>
          <p:spPr>
            <a:xfrm>
              <a:off x="184023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0" name="TextBox 240"/>
            <p:cNvSpPr txBox="1"/>
            <p:nvPr/>
          </p:nvSpPr>
          <p:spPr>
            <a:xfrm>
              <a:off x="189559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1" name="Rectangle 241"/>
            <p:cNvSpPr/>
            <p:nvPr/>
          </p:nvSpPr>
          <p:spPr>
            <a:xfrm>
              <a:off x="202120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2" name="TextBox 242"/>
            <p:cNvSpPr txBox="1"/>
            <p:nvPr/>
          </p:nvSpPr>
          <p:spPr>
            <a:xfrm>
              <a:off x="204621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43" name="Rectangle 243"/>
            <p:cNvSpPr/>
            <p:nvPr/>
          </p:nvSpPr>
          <p:spPr>
            <a:xfrm>
              <a:off x="220218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4" name="TextBox 244"/>
            <p:cNvSpPr txBox="1"/>
            <p:nvPr/>
          </p:nvSpPr>
          <p:spPr>
            <a:xfrm>
              <a:off x="225754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5" name="Rectangle 245"/>
            <p:cNvSpPr/>
            <p:nvPr/>
          </p:nvSpPr>
          <p:spPr>
            <a:xfrm>
              <a:off x="238315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6" name="TextBox 246"/>
            <p:cNvSpPr txBox="1"/>
            <p:nvPr/>
          </p:nvSpPr>
          <p:spPr>
            <a:xfrm>
              <a:off x="240816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47" name="Rectangle 247"/>
            <p:cNvSpPr/>
            <p:nvPr/>
          </p:nvSpPr>
          <p:spPr>
            <a:xfrm>
              <a:off x="184023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8" name="TextBox 248"/>
            <p:cNvSpPr txBox="1"/>
            <p:nvPr/>
          </p:nvSpPr>
          <p:spPr>
            <a:xfrm>
              <a:off x="186524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49" name="Rectangle 249"/>
            <p:cNvSpPr/>
            <p:nvPr/>
          </p:nvSpPr>
          <p:spPr>
            <a:xfrm>
              <a:off x="202120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0" name="TextBox 250"/>
            <p:cNvSpPr txBox="1"/>
            <p:nvPr/>
          </p:nvSpPr>
          <p:spPr>
            <a:xfrm>
              <a:off x="204621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51" name="Rectangle 251"/>
            <p:cNvSpPr/>
            <p:nvPr/>
          </p:nvSpPr>
          <p:spPr>
            <a:xfrm>
              <a:off x="220218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2" name="TextBox 252"/>
            <p:cNvSpPr txBox="1"/>
            <p:nvPr/>
          </p:nvSpPr>
          <p:spPr>
            <a:xfrm>
              <a:off x="222719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53" name="Rectangle 253"/>
            <p:cNvSpPr/>
            <p:nvPr/>
          </p:nvSpPr>
          <p:spPr>
            <a:xfrm>
              <a:off x="238315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4" name="TextBox 254"/>
            <p:cNvSpPr txBox="1"/>
            <p:nvPr/>
          </p:nvSpPr>
          <p:spPr>
            <a:xfrm>
              <a:off x="240816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55" name="Rectangle 255"/>
            <p:cNvSpPr/>
            <p:nvPr/>
          </p:nvSpPr>
          <p:spPr>
            <a:xfrm>
              <a:off x="1840230" y="36576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256" name="TextBox 256"/>
            <p:cNvSpPr txBox="1"/>
            <p:nvPr/>
          </p:nvSpPr>
          <p:spPr>
            <a:xfrm>
              <a:off x="1705641" y="36966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57" name="TextBox 257"/>
            <p:cNvSpPr txBox="1"/>
            <p:nvPr/>
          </p:nvSpPr>
          <p:spPr>
            <a:xfrm>
              <a:off x="165572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258" name="Rectangle 258"/>
            <p:cNvSpPr/>
            <p:nvPr/>
          </p:nvSpPr>
          <p:spPr>
            <a:xfrm>
              <a:off x="295275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9" name="TextBox 259"/>
            <p:cNvSpPr txBox="1"/>
            <p:nvPr/>
          </p:nvSpPr>
          <p:spPr>
            <a:xfrm>
              <a:off x="300811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0" name="Rectangle 260"/>
            <p:cNvSpPr/>
            <p:nvPr/>
          </p:nvSpPr>
          <p:spPr>
            <a:xfrm>
              <a:off x="313372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1" name="TextBox 261"/>
            <p:cNvSpPr txBox="1"/>
            <p:nvPr/>
          </p:nvSpPr>
          <p:spPr>
            <a:xfrm>
              <a:off x="318909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2" name="Rectangle 262"/>
            <p:cNvSpPr/>
            <p:nvPr/>
          </p:nvSpPr>
          <p:spPr>
            <a:xfrm>
              <a:off x="331470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3" name="TextBox 263"/>
            <p:cNvSpPr txBox="1"/>
            <p:nvPr/>
          </p:nvSpPr>
          <p:spPr>
            <a:xfrm>
              <a:off x="337006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4" name="Rectangle 264"/>
            <p:cNvSpPr/>
            <p:nvPr/>
          </p:nvSpPr>
          <p:spPr>
            <a:xfrm>
              <a:off x="3495675" y="365760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65" name="Rectangle 265"/>
            <p:cNvSpPr/>
            <p:nvPr/>
          </p:nvSpPr>
          <p:spPr>
            <a:xfrm>
              <a:off x="295275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6" name="TextBox 266"/>
            <p:cNvSpPr txBox="1"/>
            <p:nvPr/>
          </p:nvSpPr>
          <p:spPr>
            <a:xfrm>
              <a:off x="300811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7" name="Rectangle 267"/>
            <p:cNvSpPr/>
            <p:nvPr/>
          </p:nvSpPr>
          <p:spPr>
            <a:xfrm>
              <a:off x="313372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8" name="TextBox 268"/>
            <p:cNvSpPr txBox="1"/>
            <p:nvPr/>
          </p:nvSpPr>
          <p:spPr>
            <a:xfrm>
              <a:off x="318909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9" name="Rectangle 269"/>
            <p:cNvSpPr/>
            <p:nvPr/>
          </p:nvSpPr>
          <p:spPr>
            <a:xfrm>
              <a:off x="331470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0" name="TextBox 270"/>
            <p:cNvSpPr txBox="1"/>
            <p:nvPr/>
          </p:nvSpPr>
          <p:spPr>
            <a:xfrm>
              <a:off x="337006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71" name="Rectangle 271"/>
            <p:cNvSpPr/>
            <p:nvPr/>
          </p:nvSpPr>
          <p:spPr>
            <a:xfrm>
              <a:off x="349567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2" name="TextBox 272"/>
            <p:cNvSpPr txBox="1"/>
            <p:nvPr/>
          </p:nvSpPr>
          <p:spPr>
            <a:xfrm>
              <a:off x="355104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3" name="Rectangle 273"/>
            <p:cNvSpPr/>
            <p:nvPr/>
          </p:nvSpPr>
          <p:spPr>
            <a:xfrm>
              <a:off x="295275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4" name="TextBox 274"/>
            <p:cNvSpPr txBox="1"/>
            <p:nvPr/>
          </p:nvSpPr>
          <p:spPr>
            <a:xfrm>
              <a:off x="300811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75" name="Rectangle 275"/>
            <p:cNvSpPr/>
            <p:nvPr/>
          </p:nvSpPr>
          <p:spPr>
            <a:xfrm>
              <a:off x="313372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6" name="TextBox 276"/>
            <p:cNvSpPr txBox="1"/>
            <p:nvPr/>
          </p:nvSpPr>
          <p:spPr>
            <a:xfrm>
              <a:off x="315873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77" name="Rectangle 277"/>
            <p:cNvSpPr/>
            <p:nvPr/>
          </p:nvSpPr>
          <p:spPr>
            <a:xfrm>
              <a:off x="331470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8" name="TextBox 278"/>
            <p:cNvSpPr txBox="1"/>
            <p:nvPr/>
          </p:nvSpPr>
          <p:spPr>
            <a:xfrm>
              <a:off x="337006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9" name="Rectangle 279"/>
            <p:cNvSpPr/>
            <p:nvPr/>
          </p:nvSpPr>
          <p:spPr>
            <a:xfrm>
              <a:off x="349567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0" name="TextBox 280"/>
            <p:cNvSpPr txBox="1"/>
            <p:nvPr/>
          </p:nvSpPr>
          <p:spPr>
            <a:xfrm>
              <a:off x="352068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81" name="Rectangle 281"/>
            <p:cNvSpPr/>
            <p:nvPr/>
          </p:nvSpPr>
          <p:spPr>
            <a:xfrm>
              <a:off x="295275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2" name="TextBox 282"/>
            <p:cNvSpPr txBox="1"/>
            <p:nvPr/>
          </p:nvSpPr>
          <p:spPr>
            <a:xfrm>
              <a:off x="297776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83" name="Rectangle 283"/>
            <p:cNvSpPr/>
            <p:nvPr/>
          </p:nvSpPr>
          <p:spPr>
            <a:xfrm>
              <a:off x="313372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4" name="TextBox 284"/>
            <p:cNvSpPr txBox="1"/>
            <p:nvPr/>
          </p:nvSpPr>
          <p:spPr>
            <a:xfrm>
              <a:off x="315873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85" name="Rectangle 285"/>
            <p:cNvSpPr/>
            <p:nvPr/>
          </p:nvSpPr>
          <p:spPr>
            <a:xfrm>
              <a:off x="331470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6" name="TextBox 286"/>
            <p:cNvSpPr txBox="1"/>
            <p:nvPr/>
          </p:nvSpPr>
          <p:spPr>
            <a:xfrm>
              <a:off x="333971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87" name="Rectangle 287"/>
            <p:cNvSpPr/>
            <p:nvPr/>
          </p:nvSpPr>
          <p:spPr>
            <a:xfrm>
              <a:off x="349567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8" name="TextBox 288"/>
            <p:cNvSpPr txBox="1"/>
            <p:nvPr/>
          </p:nvSpPr>
          <p:spPr>
            <a:xfrm>
              <a:off x="352068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89" name="Rectangle 289"/>
            <p:cNvSpPr/>
            <p:nvPr/>
          </p:nvSpPr>
          <p:spPr>
            <a:xfrm>
              <a:off x="2952750" y="36576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290" name="TextBox 290"/>
            <p:cNvSpPr txBox="1"/>
            <p:nvPr/>
          </p:nvSpPr>
          <p:spPr>
            <a:xfrm>
              <a:off x="2818161" y="36966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1" name="TextBox 291"/>
            <p:cNvSpPr txBox="1"/>
            <p:nvPr/>
          </p:nvSpPr>
          <p:spPr>
            <a:xfrm>
              <a:off x="276824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292" name="Rectangle 292"/>
            <p:cNvSpPr/>
            <p:nvPr/>
          </p:nvSpPr>
          <p:spPr>
            <a:xfrm>
              <a:off x="406527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3" name="TextBox 293"/>
            <p:cNvSpPr txBox="1"/>
            <p:nvPr/>
          </p:nvSpPr>
          <p:spPr>
            <a:xfrm>
              <a:off x="412063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4" name="Rectangle 294"/>
            <p:cNvSpPr/>
            <p:nvPr/>
          </p:nvSpPr>
          <p:spPr>
            <a:xfrm>
              <a:off x="424624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5" name="TextBox 295"/>
            <p:cNvSpPr txBox="1"/>
            <p:nvPr/>
          </p:nvSpPr>
          <p:spPr>
            <a:xfrm>
              <a:off x="430161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6" name="Rectangle 296"/>
            <p:cNvSpPr/>
            <p:nvPr/>
          </p:nvSpPr>
          <p:spPr>
            <a:xfrm>
              <a:off x="442722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7" name="TextBox 297"/>
            <p:cNvSpPr txBox="1"/>
            <p:nvPr/>
          </p:nvSpPr>
          <p:spPr>
            <a:xfrm>
              <a:off x="448258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8" name="Rectangle 298"/>
            <p:cNvSpPr/>
            <p:nvPr/>
          </p:nvSpPr>
          <p:spPr>
            <a:xfrm>
              <a:off x="460819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9" name="TextBox 299"/>
            <p:cNvSpPr txBox="1"/>
            <p:nvPr/>
          </p:nvSpPr>
          <p:spPr>
            <a:xfrm>
              <a:off x="466356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0" name="Rectangle 300"/>
            <p:cNvSpPr/>
            <p:nvPr/>
          </p:nvSpPr>
          <p:spPr>
            <a:xfrm>
              <a:off x="406527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1" name="TextBox 301"/>
            <p:cNvSpPr txBox="1"/>
            <p:nvPr/>
          </p:nvSpPr>
          <p:spPr>
            <a:xfrm>
              <a:off x="412063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2" name="Rectangle 302"/>
            <p:cNvSpPr/>
            <p:nvPr/>
          </p:nvSpPr>
          <p:spPr>
            <a:xfrm>
              <a:off x="424624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3" name="TextBox 303"/>
            <p:cNvSpPr txBox="1"/>
            <p:nvPr/>
          </p:nvSpPr>
          <p:spPr>
            <a:xfrm>
              <a:off x="430161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4" name="Rectangle 304"/>
            <p:cNvSpPr/>
            <p:nvPr/>
          </p:nvSpPr>
          <p:spPr>
            <a:xfrm>
              <a:off x="442722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5" name="TextBox 305"/>
            <p:cNvSpPr txBox="1"/>
            <p:nvPr/>
          </p:nvSpPr>
          <p:spPr>
            <a:xfrm>
              <a:off x="448258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6" name="Rectangle 306"/>
            <p:cNvSpPr/>
            <p:nvPr/>
          </p:nvSpPr>
          <p:spPr>
            <a:xfrm>
              <a:off x="460819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7" name="TextBox 307"/>
            <p:cNvSpPr txBox="1"/>
            <p:nvPr/>
          </p:nvSpPr>
          <p:spPr>
            <a:xfrm>
              <a:off x="4633206" y="38781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08" name="Rectangle 308"/>
            <p:cNvSpPr/>
            <p:nvPr/>
          </p:nvSpPr>
          <p:spPr>
            <a:xfrm>
              <a:off x="406527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9" name="TextBox 309"/>
            <p:cNvSpPr txBox="1"/>
            <p:nvPr/>
          </p:nvSpPr>
          <p:spPr>
            <a:xfrm>
              <a:off x="412063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10" name="Rectangle 310"/>
            <p:cNvSpPr/>
            <p:nvPr/>
          </p:nvSpPr>
          <p:spPr>
            <a:xfrm>
              <a:off x="424624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1" name="TextBox 311"/>
            <p:cNvSpPr txBox="1"/>
            <p:nvPr/>
          </p:nvSpPr>
          <p:spPr>
            <a:xfrm>
              <a:off x="427125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12" name="Rectangle 312"/>
            <p:cNvSpPr/>
            <p:nvPr/>
          </p:nvSpPr>
          <p:spPr>
            <a:xfrm>
              <a:off x="442722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3" name="TextBox 313"/>
            <p:cNvSpPr txBox="1"/>
            <p:nvPr/>
          </p:nvSpPr>
          <p:spPr>
            <a:xfrm>
              <a:off x="448258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4" name="Rectangle 314"/>
            <p:cNvSpPr/>
            <p:nvPr/>
          </p:nvSpPr>
          <p:spPr>
            <a:xfrm>
              <a:off x="4608195" y="40195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15" name="Rectangle 315"/>
            <p:cNvSpPr/>
            <p:nvPr/>
          </p:nvSpPr>
          <p:spPr>
            <a:xfrm>
              <a:off x="406527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6" name="TextBox 316"/>
            <p:cNvSpPr txBox="1"/>
            <p:nvPr/>
          </p:nvSpPr>
          <p:spPr>
            <a:xfrm>
              <a:off x="409028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17" name="Rectangle 317"/>
            <p:cNvSpPr/>
            <p:nvPr/>
          </p:nvSpPr>
          <p:spPr>
            <a:xfrm>
              <a:off x="424624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8" name="TextBox 318"/>
            <p:cNvSpPr txBox="1"/>
            <p:nvPr/>
          </p:nvSpPr>
          <p:spPr>
            <a:xfrm>
              <a:off x="427125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19" name="Rectangle 319"/>
            <p:cNvSpPr/>
            <p:nvPr/>
          </p:nvSpPr>
          <p:spPr>
            <a:xfrm>
              <a:off x="442722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0" name="TextBox 320"/>
            <p:cNvSpPr txBox="1"/>
            <p:nvPr/>
          </p:nvSpPr>
          <p:spPr>
            <a:xfrm>
              <a:off x="445223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21" name="Rectangle 321"/>
            <p:cNvSpPr/>
            <p:nvPr/>
          </p:nvSpPr>
          <p:spPr>
            <a:xfrm>
              <a:off x="460819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2" name="TextBox 322"/>
            <p:cNvSpPr txBox="1"/>
            <p:nvPr/>
          </p:nvSpPr>
          <p:spPr>
            <a:xfrm>
              <a:off x="463320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3" name="Rectangle 323"/>
            <p:cNvSpPr/>
            <p:nvPr/>
          </p:nvSpPr>
          <p:spPr>
            <a:xfrm>
              <a:off x="4065270" y="36576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324" name="TextBox 324"/>
            <p:cNvSpPr txBox="1"/>
            <p:nvPr/>
          </p:nvSpPr>
          <p:spPr>
            <a:xfrm>
              <a:off x="3930681" y="36966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25" name="TextBox 325"/>
            <p:cNvSpPr txBox="1"/>
            <p:nvPr/>
          </p:nvSpPr>
          <p:spPr>
            <a:xfrm>
              <a:off x="388076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326" name="Rectangle 326"/>
            <p:cNvSpPr/>
            <p:nvPr/>
          </p:nvSpPr>
          <p:spPr>
            <a:xfrm>
              <a:off x="517779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7" name="TextBox 327"/>
            <p:cNvSpPr txBox="1"/>
            <p:nvPr/>
          </p:nvSpPr>
          <p:spPr>
            <a:xfrm>
              <a:off x="523315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8" name="Rectangle 328"/>
            <p:cNvSpPr/>
            <p:nvPr/>
          </p:nvSpPr>
          <p:spPr>
            <a:xfrm>
              <a:off x="535876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9" name="TextBox 329"/>
            <p:cNvSpPr txBox="1"/>
            <p:nvPr/>
          </p:nvSpPr>
          <p:spPr>
            <a:xfrm>
              <a:off x="541413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0" name="Rectangle 330"/>
            <p:cNvSpPr/>
            <p:nvPr/>
          </p:nvSpPr>
          <p:spPr>
            <a:xfrm>
              <a:off x="553974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1" name="TextBox 331"/>
            <p:cNvSpPr txBox="1"/>
            <p:nvPr/>
          </p:nvSpPr>
          <p:spPr>
            <a:xfrm>
              <a:off x="559510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2" name="Rectangle 332"/>
            <p:cNvSpPr/>
            <p:nvPr/>
          </p:nvSpPr>
          <p:spPr>
            <a:xfrm>
              <a:off x="572071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3" name="TextBox 333"/>
            <p:cNvSpPr txBox="1"/>
            <p:nvPr/>
          </p:nvSpPr>
          <p:spPr>
            <a:xfrm>
              <a:off x="577608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4" name="Rectangle 334"/>
            <p:cNvSpPr/>
            <p:nvPr/>
          </p:nvSpPr>
          <p:spPr>
            <a:xfrm>
              <a:off x="517779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5" name="TextBox 335"/>
            <p:cNvSpPr txBox="1"/>
            <p:nvPr/>
          </p:nvSpPr>
          <p:spPr>
            <a:xfrm>
              <a:off x="523315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6" name="Rectangle 336"/>
            <p:cNvSpPr/>
            <p:nvPr/>
          </p:nvSpPr>
          <p:spPr>
            <a:xfrm>
              <a:off x="535876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7" name="TextBox 337"/>
            <p:cNvSpPr txBox="1"/>
            <p:nvPr/>
          </p:nvSpPr>
          <p:spPr>
            <a:xfrm>
              <a:off x="541413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8" name="Rectangle 338"/>
            <p:cNvSpPr/>
            <p:nvPr/>
          </p:nvSpPr>
          <p:spPr>
            <a:xfrm>
              <a:off x="553974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9" name="TextBox 339"/>
            <p:cNvSpPr txBox="1"/>
            <p:nvPr/>
          </p:nvSpPr>
          <p:spPr>
            <a:xfrm>
              <a:off x="559510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0" name="Rectangle 340"/>
            <p:cNvSpPr/>
            <p:nvPr/>
          </p:nvSpPr>
          <p:spPr>
            <a:xfrm>
              <a:off x="572071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1" name="TextBox 341"/>
            <p:cNvSpPr txBox="1"/>
            <p:nvPr/>
          </p:nvSpPr>
          <p:spPr>
            <a:xfrm>
              <a:off x="577608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2" name="Rectangle 342"/>
            <p:cNvSpPr/>
            <p:nvPr/>
          </p:nvSpPr>
          <p:spPr>
            <a:xfrm>
              <a:off x="517779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3" name="TextBox 343"/>
            <p:cNvSpPr txBox="1"/>
            <p:nvPr/>
          </p:nvSpPr>
          <p:spPr>
            <a:xfrm>
              <a:off x="523315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4" name="Rectangle 344"/>
            <p:cNvSpPr/>
            <p:nvPr/>
          </p:nvSpPr>
          <p:spPr>
            <a:xfrm>
              <a:off x="535876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5" name="TextBox 345"/>
            <p:cNvSpPr txBox="1"/>
            <p:nvPr/>
          </p:nvSpPr>
          <p:spPr>
            <a:xfrm>
              <a:off x="538377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46" name="Rectangle 346"/>
            <p:cNvSpPr/>
            <p:nvPr/>
          </p:nvSpPr>
          <p:spPr>
            <a:xfrm>
              <a:off x="553974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7" name="TextBox 347"/>
            <p:cNvSpPr txBox="1"/>
            <p:nvPr/>
          </p:nvSpPr>
          <p:spPr>
            <a:xfrm>
              <a:off x="5564751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48" name="Rectangle 348"/>
            <p:cNvSpPr/>
            <p:nvPr/>
          </p:nvSpPr>
          <p:spPr>
            <a:xfrm>
              <a:off x="5720715" y="40195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49" name="Rectangle 349"/>
            <p:cNvSpPr/>
            <p:nvPr/>
          </p:nvSpPr>
          <p:spPr>
            <a:xfrm>
              <a:off x="517779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0" name="TextBox 350"/>
            <p:cNvSpPr txBox="1"/>
            <p:nvPr/>
          </p:nvSpPr>
          <p:spPr>
            <a:xfrm>
              <a:off x="520280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51" name="Rectangle 351"/>
            <p:cNvSpPr/>
            <p:nvPr/>
          </p:nvSpPr>
          <p:spPr>
            <a:xfrm>
              <a:off x="535876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2" name="TextBox 352"/>
            <p:cNvSpPr txBox="1"/>
            <p:nvPr/>
          </p:nvSpPr>
          <p:spPr>
            <a:xfrm>
              <a:off x="538377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53" name="Rectangle 353"/>
            <p:cNvSpPr/>
            <p:nvPr/>
          </p:nvSpPr>
          <p:spPr>
            <a:xfrm>
              <a:off x="553974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4" name="TextBox 354"/>
            <p:cNvSpPr txBox="1"/>
            <p:nvPr/>
          </p:nvSpPr>
          <p:spPr>
            <a:xfrm>
              <a:off x="556475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55" name="Rectangle 355"/>
            <p:cNvSpPr/>
            <p:nvPr/>
          </p:nvSpPr>
          <p:spPr>
            <a:xfrm>
              <a:off x="572071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6" name="TextBox 356"/>
            <p:cNvSpPr txBox="1"/>
            <p:nvPr/>
          </p:nvSpPr>
          <p:spPr>
            <a:xfrm>
              <a:off x="574572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57" name="Rectangle 357"/>
            <p:cNvSpPr/>
            <p:nvPr/>
          </p:nvSpPr>
          <p:spPr>
            <a:xfrm>
              <a:off x="5177790" y="3657600"/>
              <a:ext cx="723900" cy="7239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358" name="TextBox 358"/>
            <p:cNvSpPr txBox="1"/>
            <p:nvPr/>
          </p:nvSpPr>
          <p:spPr>
            <a:xfrm>
              <a:off x="4961571" y="3696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9" name="TextBox 359"/>
            <p:cNvSpPr txBox="1"/>
            <p:nvPr/>
          </p:nvSpPr>
          <p:spPr>
            <a:xfrm>
              <a:off x="499328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360" name="Rectangle 360"/>
            <p:cNvSpPr/>
            <p:nvPr/>
          </p:nvSpPr>
          <p:spPr>
            <a:xfrm>
              <a:off x="629031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1" name="TextBox 361"/>
            <p:cNvSpPr txBox="1"/>
            <p:nvPr/>
          </p:nvSpPr>
          <p:spPr>
            <a:xfrm>
              <a:off x="634567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2" name="Rectangle 362"/>
            <p:cNvSpPr/>
            <p:nvPr/>
          </p:nvSpPr>
          <p:spPr>
            <a:xfrm>
              <a:off x="647128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3" name="TextBox 363"/>
            <p:cNvSpPr txBox="1"/>
            <p:nvPr/>
          </p:nvSpPr>
          <p:spPr>
            <a:xfrm>
              <a:off x="652665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4" name="Rectangle 364"/>
            <p:cNvSpPr/>
            <p:nvPr/>
          </p:nvSpPr>
          <p:spPr>
            <a:xfrm>
              <a:off x="665226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5" name="TextBox 365"/>
            <p:cNvSpPr txBox="1"/>
            <p:nvPr/>
          </p:nvSpPr>
          <p:spPr>
            <a:xfrm>
              <a:off x="670762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6" name="Rectangle 366"/>
            <p:cNvSpPr/>
            <p:nvPr/>
          </p:nvSpPr>
          <p:spPr>
            <a:xfrm>
              <a:off x="683323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7" name="TextBox 367"/>
            <p:cNvSpPr txBox="1"/>
            <p:nvPr/>
          </p:nvSpPr>
          <p:spPr>
            <a:xfrm>
              <a:off x="688860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8" name="Rectangle 368"/>
            <p:cNvSpPr/>
            <p:nvPr/>
          </p:nvSpPr>
          <p:spPr>
            <a:xfrm>
              <a:off x="629031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9" name="TextBox 369"/>
            <p:cNvSpPr txBox="1"/>
            <p:nvPr/>
          </p:nvSpPr>
          <p:spPr>
            <a:xfrm>
              <a:off x="634567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0" name="Rectangle 370"/>
            <p:cNvSpPr/>
            <p:nvPr/>
          </p:nvSpPr>
          <p:spPr>
            <a:xfrm>
              <a:off x="647128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1" name="TextBox 371"/>
            <p:cNvSpPr txBox="1"/>
            <p:nvPr/>
          </p:nvSpPr>
          <p:spPr>
            <a:xfrm>
              <a:off x="652665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2" name="Rectangle 372"/>
            <p:cNvSpPr/>
            <p:nvPr/>
          </p:nvSpPr>
          <p:spPr>
            <a:xfrm>
              <a:off x="665226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3" name="TextBox 373"/>
            <p:cNvSpPr txBox="1"/>
            <p:nvPr/>
          </p:nvSpPr>
          <p:spPr>
            <a:xfrm>
              <a:off x="670762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4" name="Rectangle 374"/>
            <p:cNvSpPr/>
            <p:nvPr/>
          </p:nvSpPr>
          <p:spPr>
            <a:xfrm>
              <a:off x="683323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5" name="TextBox 375"/>
            <p:cNvSpPr txBox="1"/>
            <p:nvPr/>
          </p:nvSpPr>
          <p:spPr>
            <a:xfrm>
              <a:off x="688860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6" name="Rectangle 376"/>
            <p:cNvSpPr/>
            <p:nvPr/>
          </p:nvSpPr>
          <p:spPr>
            <a:xfrm>
              <a:off x="629031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7" name="TextBox 377"/>
            <p:cNvSpPr txBox="1"/>
            <p:nvPr/>
          </p:nvSpPr>
          <p:spPr>
            <a:xfrm>
              <a:off x="634567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8" name="Rectangle 378"/>
            <p:cNvSpPr/>
            <p:nvPr/>
          </p:nvSpPr>
          <p:spPr>
            <a:xfrm>
              <a:off x="647128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9" name="TextBox 379"/>
            <p:cNvSpPr txBox="1"/>
            <p:nvPr/>
          </p:nvSpPr>
          <p:spPr>
            <a:xfrm>
              <a:off x="649629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0" name="Rectangle 380"/>
            <p:cNvSpPr/>
            <p:nvPr/>
          </p:nvSpPr>
          <p:spPr>
            <a:xfrm>
              <a:off x="665226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1" name="TextBox 381"/>
            <p:cNvSpPr txBox="1"/>
            <p:nvPr/>
          </p:nvSpPr>
          <p:spPr>
            <a:xfrm>
              <a:off x="6677271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82" name="Rectangle 382"/>
            <p:cNvSpPr/>
            <p:nvPr/>
          </p:nvSpPr>
          <p:spPr>
            <a:xfrm>
              <a:off x="683323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3" name="TextBox 383"/>
            <p:cNvSpPr txBox="1"/>
            <p:nvPr/>
          </p:nvSpPr>
          <p:spPr>
            <a:xfrm>
              <a:off x="685824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84" name="Rectangle 384"/>
            <p:cNvSpPr/>
            <p:nvPr/>
          </p:nvSpPr>
          <p:spPr>
            <a:xfrm>
              <a:off x="629031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5" name="TextBox 385"/>
            <p:cNvSpPr txBox="1"/>
            <p:nvPr/>
          </p:nvSpPr>
          <p:spPr>
            <a:xfrm>
              <a:off x="631532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86" name="Rectangle 386"/>
            <p:cNvSpPr/>
            <p:nvPr/>
          </p:nvSpPr>
          <p:spPr>
            <a:xfrm>
              <a:off x="647128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7" name="TextBox 387"/>
            <p:cNvSpPr txBox="1"/>
            <p:nvPr/>
          </p:nvSpPr>
          <p:spPr>
            <a:xfrm>
              <a:off x="649629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88" name="Rectangle 388"/>
            <p:cNvSpPr/>
            <p:nvPr/>
          </p:nvSpPr>
          <p:spPr>
            <a:xfrm>
              <a:off x="6652260" y="420052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89" name="Rectangle 389"/>
            <p:cNvSpPr/>
            <p:nvPr/>
          </p:nvSpPr>
          <p:spPr>
            <a:xfrm>
              <a:off x="683323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0" name="TextBox 390"/>
            <p:cNvSpPr txBox="1"/>
            <p:nvPr/>
          </p:nvSpPr>
          <p:spPr>
            <a:xfrm>
              <a:off x="685824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1" name="Rectangle 391"/>
            <p:cNvSpPr/>
            <p:nvPr/>
          </p:nvSpPr>
          <p:spPr>
            <a:xfrm>
              <a:off x="6290310" y="36576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392" name="TextBox 392"/>
            <p:cNvSpPr txBox="1"/>
            <p:nvPr/>
          </p:nvSpPr>
          <p:spPr>
            <a:xfrm>
              <a:off x="6074091" y="3696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93" name="TextBox 393"/>
            <p:cNvSpPr txBox="1"/>
            <p:nvPr/>
          </p:nvSpPr>
          <p:spPr>
            <a:xfrm>
              <a:off x="610580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394" name="Rectangle 394"/>
            <p:cNvSpPr/>
            <p:nvPr/>
          </p:nvSpPr>
          <p:spPr>
            <a:xfrm>
              <a:off x="740283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5" name="TextBox 395"/>
            <p:cNvSpPr txBox="1"/>
            <p:nvPr/>
          </p:nvSpPr>
          <p:spPr>
            <a:xfrm>
              <a:off x="745819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6" name="Rectangle 396"/>
            <p:cNvSpPr/>
            <p:nvPr/>
          </p:nvSpPr>
          <p:spPr>
            <a:xfrm>
              <a:off x="758380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7" name="TextBox 397"/>
            <p:cNvSpPr txBox="1"/>
            <p:nvPr/>
          </p:nvSpPr>
          <p:spPr>
            <a:xfrm>
              <a:off x="763917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8" name="Rectangle 398"/>
            <p:cNvSpPr/>
            <p:nvPr/>
          </p:nvSpPr>
          <p:spPr>
            <a:xfrm>
              <a:off x="776478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9" name="TextBox 399"/>
            <p:cNvSpPr txBox="1"/>
            <p:nvPr/>
          </p:nvSpPr>
          <p:spPr>
            <a:xfrm>
              <a:off x="782014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0" name="Rectangle 400"/>
            <p:cNvSpPr/>
            <p:nvPr/>
          </p:nvSpPr>
          <p:spPr>
            <a:xfrm>
              <a:off x="794575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01" name="TextBox 401"/>
            <p:cNvSpPr txBox="1"/>
            <p:nvPr/>
          </p:nvSpPr>
          <p:spPr>
            <a:xfrm>
              <a:off x="800112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2" name="Rectangle 402"/>
            <p:cNvSpPr/>
            <p:nvPr/>
          </p:nvSpPr>
          <p:spPr>
            <a:xfrm>
              <a:off x="740283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03" name="TextBox 403"/>
            <p:cNvSpPr txBox="1"/>
            <p:nvPr/>
          </p:nvSpPr>
          <p:spPr>
            <a:xfrm>
              <a:off x="745819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4" name="Rectangle 404"/>
            <p:cNvSpPr/>
            <p:nvPr/>
          </p:nvSpPr>
          <p:spPr>
            <a:xfrm>
              <a:off x="758380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05" name="TextBox 405"/>
            <p:cNvSpPr txBox="1"/>
            <p:nvPr/>
          </p:nvSpPr>
          <p:spPr>
            <a:xfrm>
              <a:off x="763917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6" name="Rectangle 406"/>
            <p:cNvSpPr/>
            <p:nvPr/>
          </p:nvSpPr>
          <p:spPr>
            <a:xfrm>
              <a:off x="776478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07" name="TextBox 407"/>
            <p:cNvSpPr txBox="1"/>
            <p:nvPr/>
          </p:nvSpPr>
          <p:spPr>
            <a:xfrm>
              <a:off x="782014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8" name="Rectangle 408"/>
            <p:cNvSpPr/>
            <p:nvPr/>
          </p:nvSpPr>
          <p:spPr>
            <a:xfrm>
              <a:off x="794575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09" name="TextBox 409"/>
            <p:cNvSpPr txBox="1"/>
            <p:nvPr/>
          </p:nvSpPr>
          <p:spPr>
            <a:xfrm>
              <a:off x="800112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10" name="Rectangle 410"/>
            <p:cNvSpPr/>
            <p:nvPr/>
          </p:nvSpPr>
          <p:spPr>
            <a:xfrm>
              <a:off x="740283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11" name="TextBox 411"/>
            <p:cNvSpPr txBox="1"/>
            <p:nvPr/>
          </p:nvSpPr>
          <p:spPr>
            <a:xfrm>
              <a:off x="745819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12" name="Rectangle 412"/>
            <p:cNvSpPr/>
            <p:nvPr/>
          </p:nvSpPr>
          <p:spPr>
            <a:xfrm>
              <a:off x="7583805" y="40195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413" name="Rectangle 413"/>
            <p:cNvSpPr/>
            <p:nvPr/>
          </p:nvSpPr>
          <p:spPr>
            <a:xfrm>
              <a:off x="776478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14" name="TextBox 414"/>
            <p:cNvSpPr txBox="1"/>
            <p:nvPr/>
          </p:nvSpPr>
          <p:spPr>
            <a:xfrm>
              <a:off x="7789791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5" name="Rectangle 415"/>
            <p:cNvSpPr/>
            <p:nvPr/>
          </p:nvSpPr>
          <p:spPr>
            <a:xfrm>
              <a:off x="794575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16" name="TextBox 416"/>
            <p:cNvSpPr txBox="1"/>
            <p:nvPr/>
          </p:nvSpPr>
          <p:spPr>
            <a:xfrm>
              <a:off x="797076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17" name="Rectangle 417"/>
            <p:cNvSpPr/>
            <p:nvPr/>
          </p:nvSpPr>
          <p:spPr>
            <a:xfrm>
              <a:off x="740283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18" name="TextBox 418"/>
            <p:cNvSpPr txBox="1"/>
            <p:nvPr/>
          </p:nvSpPr>
          <p:spPr>
            <a:xfrm>
              <a:off x="742784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19" name="Rectangle 419"/>
            <p:cNvSpPr/>
            <p:nvPr/>
          </p:nvSpPr>
          <p:spPr>
            <a:xfrm>
              <a:off x="758380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20" name="TextBox 420"/>
            <p:cNvSpPr txBox="1"/>
            <p:nvPr/>
          </p:nvSpPr>
          <p:spPr>
            <a:xfrm>
              <a:off x="760881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21" name="Rectangle 421"/>
            <p:cNvSpPr/>
            <p:nvPr/>
          </p:nvSpPr>
          <p:spPr>
            <a:xfrm>
              <a:off x="776478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22" name="TextBox 422"/>
            <p:cNvSpPr txBox="1"/>
            <p:nvPr/>
          </p:nvSpPr>
          <p:spPr>
            <a:xfrm>
              <a:off x="778979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23" name="Rectangle 423"/>
            <p:cNvSpPr/>
            <p:nvPr/>
          </p:nvSpPr>
          <p:spPr>
            <a:xfrm>
              <a:off x="794575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24" name="TextBox 424"/>
            <p:cNvSpPr txBox="1"/>
            <p:nvPr/>
          </p:nvSpPr>
          <p:spPr>
            <a:xfrm>
              <a:off x="797076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25" name="Rectangle 425"/>
            <p:cNvSpPr/>
            <p:nvPr/>
          </p:nvSpPr>
          <p:spPr>
            <a:xfrm>
              <a:off x="7402830" y="36576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426" name="TextBox 426"/>
            <p:cNvSpPr txBox="1"/>
            <p:nvPr/>
          </p:nvSpPr>
          <p:spPr>
            <a:xfrm>
              <a:off x="7186611" y="3696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27" name="TextBox 427"/>
            <p:cNvSpPr txBox="1"/>
            <p:nvPr/>
          </p:nvSpPr>
          <p:spPr>
            <a:xfrm>
              <a:off x="721832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428" name="Rectangle 428"/>
            <p:cNvSpPr/>
            <p:nvPr/>
          </p:nvSpPr>
          <p:spPr>
            <a:xfrm>
              <a:off x="851535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29" name="TextBox 429"/>
            <p:cNvSpPr txBox="1"/>
            <p:nvPr/>
          </p:nvSpPr>
          <p:spPr>
            <a:xfrm>
              <a:off x="857071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0" name="Rectangle 430"/>
            <p:cNvSpPr/>
            <p:nvPr/>
          </p:nvSpPr>
          <p:spPr>
            <a:xfrm>
              <a:off x="8696325" y="365760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431" name="Rectangle 431"/>
            <p:cNvSpPr/>
            <p:nvPr/>
          </p:nvSpPr>
          <p:spPr>
            <a:xfrm>
              <a:off x="887730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32" name="TextBox 432"/>
            <p:cNvSpPr txBox="1"/>
            <p:nvPr/>
          </p:nvSpPr>
          <p:spPr>
            <a:xfrm>
              <a:off x="893266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3" name="Rectangle 433"/>
            <p:cNvSpPr/>
            <p:nvPr/>
          </p:nvSpPr>
          <p:spPr>
            <a:xfrm>
              <a:off x="905827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34" name="TextBox 434"/>
            <p:cNvSpPr txBox="1"/>
            <p:nvPr/>
          </p:nvSpPr>
          <p:spPr>
            <a:xfrm>
              <a:off x="911364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5" name="Rectangle 435"/>
            <p:cNvSpPr/>
            <p:nvPr/>
          </p:nvSpPr>
          <p:spPr>
            <a:xfrm>
              <a:off x="851535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36" name="TextBox 436"/>
            <p:cNvSpPr txBox="1"/>
            <p:nvPr/>
          </p:nvSpPr>
          <p:spPr>
            <a:xfrm>
              <a:off x="857071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7" name="Rectangle 437"/>
            <p:cNvSpPr/>
            <p:nvPr/>
          </p:nvSpPr>
          <p:spPr>
            <a:xfrm>
              <a:off x="869632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38" name="TextBox 438"/>
            <p:cNvSpPr txBox="1"/>
            <p:nvPr/>
          </p:nvSpPr>
          <p:spPr>
            <a:xfrm>
              <a:off x="875169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9" name="Rectangle 439"/>
            <p:cNvSpPr/>
            <p:nvPr/>
          </p:nvSpPr>
          <p:spPr>
            <a:xfrm>
              <a:off x="887730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40" name="TextBox 440"/>
            <p:cNvSpPr txBox="1"/>
            <p:nvPr/>
          </p:nvSpPr>
          <p:spPr>
            <a:xfrm>
              <a:off x="893266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1" name="Rectangle 441"/>
            <p:cNvSpPr/>
            <p:nvPr/>
          </p:nvSpPr>
          <p:spPr>
            <a:xfrm>
              <a:off x="905827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42" name="TextBox 442"/>
            <p:cNvSpPr txBox="1"/>
            <p:nvPr/>
          </p:nvSpPr>
          <p:spPr>
            <a:xfrm>
              <a:off x="911364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3" name="Rectangle 443"/>
            <p:cNvSpPr/>
            <p:nvPr/>
          </p:nvSpPr>
          <p:spPr>
            <a:xfrm>
              <a:off x="851535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44" name="TextBox 444"/>
            <p:cNvSpPr txBox="1"/>
            <p:nvPr/>
          </p:nvSpPr>
          <p:spPr>
            <a:xfrm>
              <a:off x="857071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5" name="Rectangle 445"/>
            <p:cNvSpPr/>
            <p:nvPr/>
          </p:nvSpPr>
          <p:spPr>
            <a:xfrm>
              <a:off x="869632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46" name="TextBox 446"/>
            <p:cNvSpPr txBox="1"/>
            <p:nvPr/>
          </p:nvSpPr>
          <p:spPr>
            <a:xfrm>
              <a:off x="872133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47" name="Rectangle 447"/>
            <p:cNvSpPr/>
            <p:nvPr/>
          </p:nvSpPr>
          <p:spPr>
            <a:xfrm>
              <a:off x="887730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48" name="TextBox 448"/>
            <p:cNvSpPr txBox="1"/>
            <p:nvPr/>
          </p:nvSpPr>
          <p:spPr>
            <a:xfrm>
              <a:off x="893266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9" name="Rectangle 449"/>
            <p:cNvSpPr/>
            <p:nvPr/>
          </p:nvSpPr>
          <p:spPr>
            <a:xfrm>
              <a:off x="905827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50" name="TextBox 450"/>
            <p:cNvSpPr txBox="1"/>
            <p:nvPr/>
          </p:nvSpPr>
          <p:spPr>
            <a:xfrm>
              <a:off x="908328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51" name="Rectangle 451"/>
            <p:cNvSpPr/>
            <p:nvPr/>
          </p:nvSpPr>
          <p:spPr>
            <a:xfrm>
              <a:off x="851535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52" name="TextBox 452"/>
            <p:cNvSpPr txBox="1"/>
            <p:nvPr/>
          </p:nvSpPr>
          <p:spPr>
            <a:xfrm>
              <a:off x="854036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53" name="Rectangle 453"/>
            <p:cNvSpPr/>
            <p:nvPr/>
          </p:nvSpPr>
          <p:spPr>
            <a:xfrm>
              <a:off x="869632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54" name="TextBox 454"/>
            <p:cNvSpPr txBox="1"/>
            <p:nvPr/>
          </p:nvSpPr>
          <p:spPr>
            <a:xfrm>
              <a:off x="872133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55" name="Rectangle 455"/>
            <p:cNvSpPr/>
            <p:nvPr/>
          </p:nvSpPr>
          <p:spPr>
            <a:xfrm>
              <a:off x="887730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56" name="TextBox 456"/>
            <p:cNvSpPr txBox="1"/>
            <p:nvPr/>
          </p:nvSpPr>
          <p:spPr>
            <a:xfrm>
              <a:off x="890231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57" name="Rectangle 457"/>
            <p:cNvSpPr/>
            <p:nvPr/>
          </p:nvSpPr>
          <p:spPr>
            <a:xfrm>
              <a:off x="905827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58" name="TextBox 458"/>
            <p:cNvSpPr txBox="1"/>
            <p:nvPr/>
          </p:nvSpPr>
          <p:spPr>
            <a:xfrm>
              <a:off x="908328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59" name="Rectangle 459"/>
            <p:cNvSpPr/>
            <p:nvPr/>
          </p:nvSpPr>
          <p:spPr>
            <a:xfrm>
              <a:off x="8515350" y="36576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460" name="TextBox 460"/>
            <p:cNvSpPr txBox="1"/>
            <p:nvPr/>
          </p:nvSpPr>
          <p:spPr>
            <a:xfrm>
              <a:off x="8299131" y="3696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61" name="TextBox 461"/>
            <p:cNvSpPr txBox="1"/>
            <p:nvPr/>
          </p:nvSpPr>
          <p:spPr>
            <a:xfrm>
              <a:off x="833084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462" name="Rectangle 462"/>
            <p:cNvSpPr/>
            <p:nvPr/>
          </p:nvSpPr>
          <p:spPr>
            <a:xfrm>
              <a:off x="962787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63" name="TextBox 463"/>
            <p:cNvSpPr txBox="1"/>
            <p:nvPr/>
          </p:nvSpPr>
          <p:spPr>
            <a:xfrm>
              <a:off x="968323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4" name="Rectangle 464"/>
            <p:cNvSpPr/>
            <p:nvPr/>
          </p:nvSpPr>
          <p:spPr>
            <a:xfrm>
              <a:off x="980884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65" name="TextBox 465"/>
            <p:cNvSpPr txBox="1"/>
            <p:nvPr/>
          </p:nvSpPr>
          <p:spPr>
            <a:xfrm>
              <a:off x="986421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6" name="Rectangle 466"/>
            <p:cNvSpPr/>
            <p:nvPr/>
          </p:nvSpPr>
          <p:spPr>
            <a:xfrm>
              <a:off x="998982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67" name="TextBox 467"/>
            <p:cNvSpPr txBox="1"/>
            <p:nvPr/>
          </p:nvSpPr>
          <p:spPr>
            <a:xfrm>
              <a:off x="1004518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8" name="Rectangle 468"/>
            <p:cNvSpPr/>
            <p:nvPr/>
          </p:nvSpPr>
          <p:spPr>
            <a:xfrm>
              <a:off x="1017079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69" name="TextBox 469"/>
            <p:cNvSpPr txBox="1"/>
            <p:nvPr/>
          </p:nvSpPr>
          <p:spPr>
            <a:xfrm>
              <a:off x="1022616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0" name="Rectangle 470"/>
            <p:cNvSpPr/>
            <p:nvPr/>
          </p:nvSpPr>
          <p:spPr>
            <a:xfrm>
              <a:off x="962787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71" name="TextBox 471"/>
            <p:cNvSpPr txBox="1"/>
            <p:nvPr/>
          </p:nvSpPr>
          <p:spPr>
            <a:xfrm>
              <a:off x="968323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2" name="Rectangle 472"/>
            <p:cNvSpPr/>
            <p:nvPr/>
          </p:nvSpPr>
          <p:spPr>
            <a:xfrm>
              <a:off x="980884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73" name="TextBox 473"/>
            <p:cNvSpPr txBox="1"/>
            <p:nvPr/>
          </p:nvSpPr>
          <p:spPr>
            <a:xfrm>
              <a:off x="9833856" y="38781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4" name="Rectangle 474"/>
            <p:cNvSpPr/>
            <p:nvPr/>
          </p:nvSpPr>
          <p:spPr>
            <a:xfrm>
              <a:off x="998982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75" name="TextBox 475"/>
            <p:cNvSpPr txBox="1"/>
            <p:nvPr/>
          </p:nvSpPr>
          <p:spPr>
            <a:xfrm>
              <a:off x="1004518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6" name="Rectangle 476"/>
            <p:cNvSpPr/>
            <p:nvPr/>
          </p:nvSpPr>
          <p:spPr>
            <a:xfrm>
              <a:off x="1017079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77" name="TextBox 477"/>
            <p:cNvSpPr txBox="1"/>
            <p:nvPr/>
          </p:nvSpPr>
          <p:spPr>
            <a:xfrm>
              <a:off x="1022616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8" name="Rectangle 478"/>
            <p:cNvSpPr/>
            <p:nvPr/>
          </p:nvSpPr>
          <p:spPr>
            <a:xfrm>
              <a:off x="962787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79" name="TextBox 479"/>
            <p:cNvSpPr txBox="1"/>
            <p:nvPr/>
          </p:nvSpPr>
          <p:spPr>
            <a:xfrm>
              <a:off x="968323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0" name="Rectangle 480"/>
            <p:cNvSpPr/>
            <p:nvPr/>
          </p:nvSpPr>
          <p:spPr>
            <a:xfrm>
              <a:off x="9808845" y="40195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481" name="Rectangle 481"/>
            <p:cNvSpPr/>
            <p:nvPr/>
          </p:nvSpPr>
          <p:spPr>
            <a:xfrm>
              <a:off x="998982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82" name="TextBox 482"/>
            <p:cNvSpPr txBox="1"/>
            <p:nvPr/>
          </p:nvSpPr>
          <p:spPr>
            <a:xfrm>
              <a:off x="1004518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3" name="Rectangle 483"/>
            <p:cNvSpPr/>
            <p:nvPr/>
          </p:nvSpPr>
          <p:spPr>
            <a:xfrm>
              <a:off x="1017079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84" name="TextBox 484"/>
            <p:cNvSpPr txBox="1"/>
            <p:nvPr/>
          </p:nvSpPr>
          <p:spPr>
            <a:xfrm>
              <a:off x="1019580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5" name="Rectangle 485"/>
            <p:cNvSpPr/>
            <p:nvPr/>
          </p:nvSpPr>
          <p:spPr>
            <a:xfrm>
              <a:off x="962787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86" name="TextBox 486"/>
            <p:cNvSpPr txBox="1"/>
            <p:nvPr/>
          </p:nvSpPr>
          <p:spPr>
            <a:xfrm>
              <a:off x="965288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87" name="Rectangle 487"/>
            <p:cNvSpPr/>
            <p:nvPr/>
          </p:nvSpPr>
          <p:spPr>
            <a:xfrm>
              <a:off x="980884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88" name="TextBox 488"/>
            <p:cNvSpPr txBox="1"/>
            <p:nvPr/>
          </p:nvSpPr>
          <p:spPr>
            <a:xfrm>
              <a:off x="983385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89" name="Rectangle 489"/>
            <p:cNvSpPr/>
            <p:nvPr/>
          </p:nvSpPr>
          <p:spPr>
            <a:xfrm>
              <a:off x="998982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90" name="TextBox 490"/>
            <p:cNvSpPr txBox="1"/>
            <p:nvPr/>
          </p:nvSpPr>
          <p:spPr>
            <a:xfrm>
              <a:off x="1001483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91" name="Rectangle 491"/>
            <p:cNvSpPr/>
            <p:nvPr/>
          </p:nvSpPr>
          <p:spPr>
            <a:xfrm>
              <a:off x="1017079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92" name="TextBox 492"/>
            <p:cNvSpPr txBox="1"/>
            <p:nvPr/>
          </p:nvSpPr>
          <p:spPr>
            <a:xfrm>
              <a:off x="1019580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3" name="Rectangle 493"/>
            <p:cNvSpPr/>
            <p:nvPr/>
          </p:nvSpPr>
          <p:spPr>
            <a:xfrm>
              <a:off x="9627870" y="36576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494" name="TextBox 494"/>
            <p:cNvSpPr txBox="1"/>
            <p:nvPr/>
          </p:nvSpPr>
          <p:spPr>
            <a:xfrm>
              <a:off x="9411651" y="3696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95" name="TextBox 495"/>
            <p:cNvSpPr txBox="1"/>
            <p:nvPr/>
          </p:nvSpPr>
          <p:spPr>
            <a:xfrm>
              <a:off x="944336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496" name="Rectangle 496"/>
            <p:cNvSpPr/>
            <p:nvPr/>
          </p:nvSpPr>
          <p:spPr>
            <a:xfrm>
              <a:off x="1074039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97" name="TextBox 497"/>
            <p:cNvSpPr txBox="1"/>
            <p:nvPr/>
          </p:nvSpPr>
          <p:spPr>
            <a:xfrm>
              <a:off x="1079575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8" name="Rectangle 498"/>
            <p:cNvSpPr/>
            <p:nvPr/>
          </p:nvSpPr>
          <p:spPr>
            <a:xfrm>
              <a:off x="1092136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99" name="TextBox 499"/>
            <p:cNvSpPr txBox="1"/>
            <p:nvPr/>
          </p:nvSpPr>
          <p:spPr>
            <a:xfrm>
              <a:off x="1097673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0" name="Rectangle 500"/>
            <p:cNvSpPr/>
            <p:nvPr/>
          </p:nvSpPr>
          <p:spPr>
            <a:xfrm>
              <a:off x="11102340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01" name="TextBox 501"/>
            <p:cNvSpPr txBox="1"/>
            <p:nvPr/>
          </p:nvSpPr>
          <p:spPr>
            <a:xfrm>
              <a:off x="11157708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2" name="Rectangle 502"/>
            <p:cNvSpPr/>
            <p:nvPr/>
          </p:nvSpPr>
          <p:spPr>
            <a:xfrm>
              <a:off x="11283315" y="36576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03" name="TextBox 503"/>
            <p:cNvSpPr txBox="1"/>
            <p:nvPr/>
          </p:nvSpPr>
          <p:spPr>
            <a:xfrm>
              <a:off x="11338683" y="36971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4" name="Rectangle 504"/>
            <p:cNvSpPr/>
            <p:nvPr/>
          </p:nvSpPr>
          <p:spPr>
            <a:xfrm>
              <a:off x="10740390" y="383857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505" name="Rectangle 505"/>
            <p:cNvSpPr/>
            <p:nvPr/>
          </p:nvSpPr>
          <p:spPr>
            <a:xfrm>
              <a:off x="1092136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06" name="TextBox 506"/>
            <p:cNvSpPr txBox="1"/>
            <p:nvPr/>
          </p:nvSpPr>
          <p:spPr>
            <a:xfrm>
              <a:off x="1097673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7" name="Rectangle 507"/>
            <p:cNvSpPr/>
            <p:nvPr/>
          </p:nvSpPr>
          <p:spPr>
            <a:xfrm>
              <a:off x="11102340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08" name="TextBox 508"/>
            <p:cNvSpPr txBox="1"/>
            <p:nvPr/>
          </p:nvSpPr>
          <p:spPr>
            <a:xfrm>
              <a:off x="11157708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9" name="Rectangle 509"/>
            <p:cNvSpPr/>
            <p:nvPr/>
          </p:nvSpPr>
          <p:spPr>
            <a:xfrm>
              <a:off x="11283315" y="38385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10" name="TextBox 510"/>
            <p:cNvSpPr txBox="1"/>
            <p:nvPr/>
          </p:nvSpPr>
          <p:spPr>
            <a:xfrm>
              <a:off x="11338683" y="38781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1" name="Rectangle 511"/>
            <p:cNvSpPr/>
            <p:nvPr/>
          </p:nvSpPr>
          <p:spPr>
            <a:xfrm>
              <a:off x="1074039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12" name="TextBox 512"/>
            <p:cNvSpPr txBox="1"/>
            <p:nvPr/>
          </p:nvSpPr>
          <p:spPr>
            <a:xfrm>
              <a:off x="1079575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3" name="Rectangle 513"/>
            <p:cNvSpPr/>
            <p:nvPr/>
          </p:nvSpPr>
          <p:spPr>
            <a:xfrm>
              <a:off x="1092136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14" name="TextBox 514"/>
            <p:cNvSpPr txBox="1"/>
            <p:nvPr/>
          </p:nvSpPr>
          <p:spPr>
            <a:xfrm>
              <a:off x="1094637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5" name="Rectangle 515"/>
            <p:cNvSpPr/>
            <p:nvPr/>
          </p:nvSpPr>
          <p:spPr>
            <a:xfrm>
              <a:off x="11102340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16" name="TextBox 516"/>
            <p:cNvSpPr txBox="1"/>
            <p:nvPr/>
          </p:nvSpPr>
          <p:spPr>
            <a:xfrm>
              <a:off x="11157708" y="40590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7" name="Rectangle 517"/>
            <p:cNvSpPr/>
            <p:nvPr/>
          </p:nvSpPr>
          <p:spPr>
            <a:xfrm>
              <a:off x="11283315" y="40195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18" name="TextBox 518"/>
            <p:cNvSpPr txBox="1"/>
            <p:nvPr/>
          </p:nvSpPr>
          <p:spPr>
            <a:xfrm>
              <a:off x="11308326" y="40590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19" name="Rectangle 519"/>
            <p:cNvSpPr/>
            <p:nvPr/>
          </p:nvSpPr>
          <p:spPr>
            <a:xfrm>
              <a:off x="1074039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20" name="TextBox 520"/>
            <p:cNvSpPr txBox="1"/>
            <p:nvPr/>
          </p:nvSpPr>
          <p:spPr>
            <a:xfrm>
              <a:off x="1076540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21" name="Rectangle 521"/>
            <p:cNvSpPr/>
            <p:nvPr/>
          </p:nvSpPr>
          <p:spPr>
            <a:xfrm>
              <a:off x="1092136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22" name="TextBox 522"/>
            <p:cNvSpPr txBox="1"/>
            <p:nvPr/>
          </p:nvSpPr>
          <p:spPr>
            <a:xfrm>
              <a:off x="1094637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23" name="Rectangle 523"/>
            <p:cNvSpPr/>
            <p:nvPr/>
          </p:nvSpPr>
          <p:spPr>
            <a:xfrm>
              <a:off x="11102340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24" name="TextBox 524"/>
            <p:cNvSpPr txBox="1"/>
            <p:nvPr/>
          </p:nvSpPr>
          <p:spPr>
            <a:xfrm>
              <a:off x="11127351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25" name="Rectangle 525"/>
            <p:cNvSpPr/>
            <p:nvPr/>
          </p:nvSpPr>
          <p:spPr>
            <a:xfrm>
              <a:off x="11283315" y="42005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26" name="TextBox 526"/>
            <p:cNvSpPr txBox="1"/>
            <p:nvPr/>
          </p:nvSpPr>
          <p:spPr>
            <a:xfrm>
              <a:off x="11308326" y="42400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27" name="Rectangle 527"/>
            <p:cNvSpPr/>
            <p:nvPr/>
          </p:nvSpPr>
          <p:spPr>
            <a:xfrm>
              <a:off x="10740390" y="365760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528" name="TextBox 528"/>
            <p:cNvSpPr txBox="1"/>
            <p:nvPr/>
          </p:nvSpPr>
          <p:spPr>
            <a:xfrm>
              <a:off x="10524171" y="3696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29" name="TextBox 529"/>
            <p:cNvSpPr txBox="1"/>
            <p:nvPr/>
          </p:nvSpPr>
          <p:spPr>
            <a:xfrm>
              <a:off x="10555884" y="38761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</p:grpSp>
      <p:grpSp>
        <p:nvGrpSpPr>
          <p:cNvPr id="811" name="fifo-lower"/>
          <p:cNvGrpSpPr/>
          <p:nvPr/>
        </p:nvGrpSpPr>
        <p:grpSpPr>
          <a:xfrm>
            <a:off x="511491" y="4381500"/>
            <a:ext cx="8727759" cy="1258729"/>
            <a:chOff x="511491" y="4381500"/>
            <a:chExt cx="8727759" cy="1258729"/>
          </a:xfrm>
        </p:grpSpPr>
        <p:sp>
          <p:nvSpPr>
            <p:cNvPr id="531" name="Line 531"/>
            <p:cNvSpPr/>
            <p:nvPr/>
          </p:nvSpPr>
          <p:spPr>
            <a:xfrm>
              <a:off x="1089660" y="43815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532" name="Line 532"/>
            <p:cNvSpPr/>
            <p:nvPr/>
          </p:nvSpPr>
          <p:spPr>
            <a:xfrm>
              <a:off x="2202180" y="4381500"/>
              <a:ext cx="9525" cy="514350"/>
            </a:xfrm>
            <a:custGeom>
              <a:avLst/>
              <a:gdLst/>
              <a:ahLst/>
              <a:cxnLst/>
              <a:rect l="l" t="t" r="r" b="b"/>
              <a:pathLst>
                <a:path w="9525" h="514350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533" name="Line 533"/>
            <p:cNvSpPr/>
            <p:nvPr/>
          </p:nvSpPr>
          <p:spPr>
            <a:xfrm>
              <a:off x="2202180" y="4381500"/>
              <a:ext cx="1112520" cy="514350"/>
            </a:xfrm>
            <a:custGeom>
              <a:avLst/>
              <a:gdLst/>
              <a:ahLst/>
              <a:cxnLst/>
              <a:rect l="l" t="t" r="r" b="b"/>
              <a:pathLst>
                <a:path w="1112520" h="514350">
                  <a:moveTo>
                    <a:pt x="0" y="0"/>
                  </a:moveTo>
                  <a:lnTo>
                    <a:pt x="1112520" y="5143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534" name="Line 534"/>
            <p:cNvSpPr/>
            <p:nvPr/>
          </p:nvSpPr>
          <p:spPr>
            <a:xfrm>
              <a:off x="3314700" y="4381500"/>
              <a:ext cx="1112520" cy="514350"/>
            </a:xfrm>
            <a:custGeom>
              <a:avLst/>
              <a:gdLst/>
              <a:ahLst/>
              <a:cxnLst/>
              <a:rect l="l" t="t" r="r" b="b"/>
              <a:pathLst>
                <a:path w="1112520" h="514350">
                  <a:moveTo>
                    <a:pt x="0" y="0"/>
                  </a:moveTo>
                  <a:lnTo>
                    <a:pt x="1112520" y="5143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535" name="Line 535"/>
            <p:cNvSpPr/>
            <p:nvPr/>
          </p:nvSpPr>
          <p:spPr>
            <a:xfrm>
              <a:off x="4427220" y="4381500"/>
              <a:ext cx="1112520" cy="514350"/>
            </a:xfrm>
            <a:custGeom>
              <a:avLst/>
              <a:gdLst/>
              <a:ahLst/>
              <a:cxnLst/>
              <a:rect l="l" t="t" r="r" b="b"/>
              <a:pathLst>
                <a:path w="1112520" h="514350">
                  <a:moveTo>
                    <a:pt x="0" y="0"/>
                  </a:moveTo>
                  <a:lnTo>
                    <a:pt x="1112520" y="5143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536" name="Line 536"/>
            <p:cNvSpPr/>
            <p:nvPr/>
          </p:nvSpPr>
          <p:spPr>
            <a:xfrm>
              <a:off x="4427220" y="4381500"/>
              <a:ext cx="2225040" cy="514350"/>
            </a:xfrm>
            <a:custGeom>
              <a:avLst/>
              <a:gdLst/>
              <a:ahLst/>
              <a:cxnLst/>
              <a:rect l="l" t="t" r="r" b="b"/>
              <a:pathLst>
                <a:path w="2225040" h="514350">
                  <a:moveTo>
                    <a:pt x="0" y="0"/>
                  </a:moveTo>
                  <a:lnTo>
                    <a:pt x="2225040" y="5143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537" name="Line 537"/>
            <p:cNvSpPr/>
            <p:nvPr/>
          </p:nvSpPr>
          <p:spPr>
            <a:xfrm>
              <a:off x="5539740" y="4381500"/>
              <a:ext cx="2225040" cy="514350"/>
            </a:xfrm>
            <a:custGeom>
              <a:avLst/>
              <a:gdLst/>
              <a:ahLst/>
              <a:cxnLst/>
              <a:rect l="l" t="t" r="r" b="b"/>
              <a:pathLst>
                <a:path w="2225040" h="514350">
                  <a:moveTo>
                    <a:pt x="0" y="0"/>
                  </a:moveTo>
                  <a:lnTo>
                    <a:pt x="2225040" y="5143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538" name="Line 538"/>
            <p:cNvSpPr/>
            <p:nvPr/>
          </p:nvSpPr>
          <p:spPr>
            <a:xfrm>
              <a:off x="5539740" y="4381500"/>
              <a:ext cx="3337560" cy="514350"/>
            </a:xfrm>
            <a:custGeom>
              <a:avLst/>
              <a:gdLst/>
              <a:ahLst/>
              <a:cxnLst/>
              <a:rect l="l" t="t" r="r" b="b"/>
              <a:pathLst>
                <a:path w="3337560" h="514350">
                  <a:moveTo>
                    <a:pt x="0" y="0"/>
                  </a:moveTo>
                  <a:lnTo>
                    <a:pt x="3337560" y="5143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539" name="Rectangle 539"/>
            <p:cNvSpPr/>
            <p:nvPr/>
          </p:nvSpPr>
          <p:spPr>
            <a:xfrm>
              <a:off x="72771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40" name="TextBox 540"/>
            <p:cNvSpPr txBox="1"/>
            <p:nvPr/>
          </p:nvSpPr>
          <p:spPr>
            <a:xfrm>
              <a:off x="78307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1" name="Rectangle 541"/>
            <p:cNvSpPr/>
            <p:nvPr/>
          </p:nvSpPr>
          <p:spPr>
            <a:xfrm>
              <a:off x="90868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42" name="TextBox 542"/>
            <p:cNvSpPr txBox="1"/>
            <p:nvPr/>
          </p:nvSpPr>
          <p:spPr>
            <a:xfrm>
              <a:off x="96405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3" name="Rectangle 543"/>
            <p:cNvSpPr/>
            <p:nvPr/>
          </p:nvSpPr>
          <p:spPr>
            <a:xfrm>
              <a:off x="108966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44" name="TextBox 544"/>
            <p:cNvSpPr txBox="1"/>
            <p:nvPr/>
          </p:nvSpPr>
          <p:spPr>
            <a:xfrm>
              <a:off x="114502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5" name="Rectangle 545"/>
            <p:cNvSpPr/>
            <p:nvPr/>
          </p:nvSpPr>
          <p:spPr>
            <a:xfrm>
              <a:off x="127063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46" name="TextBox 546"/>
            <p:cNvSpPr txBox="1"/>
            <p:nvPr/>
          </p:nvSpPr>
          <p:spPr>
            <a:xfrm>
              <a:off x="132600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47" name="Rectangle 547"/>
            <p:cNvSpPr/>
            <p:nvPr/>
          </p:nvSpPr>
          <p:spPr>
            <a:xfrm>
              <a:off x="72771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48" name="TextBox 548"/>
            <p:cNvSpPr txBox="1"/>
            <p:nvPr/>
          </p:nvSpPr>
          <p:spPr>
            <a:xfrm>
              <a:off x="78307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49" name="Rectangle 549"/>
            <p:cNvSpPr/>
            <p:nvPr/>
          </p:nvSpPr>
          <p:spPr>
            <a:xfrm>
              <a:off x="90868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50" name="TextBox 550"/>
            <p:cNvSpPr txBox="1"/>
            <p:nvPr/>
          </p:nvSpPr>
          <p:spPr>
            <a:xfrm>
              <a:off x="96405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1" name="Rectangle 551"/>
            <p:cNvSpPr/>
            <p:nvPr/>
          </p:nvSpPr>
          <p:spPr>
            <a:xfrm>
              <a:off x="108966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52" name="TextBox 552"/>
            <p:cNvSpPr txBox="1"/>
            <p:nvPr/>
          </p:nvSpPr>
          <p:spPr>
            <a:xfrm>
              <a:off x="114502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3" name="Rectangle 553"/>
            <p:cNvSpPr/>
            <p:nvPr/>
          </p:nvSpPr>
          <p:spPr>
            <a:xfrm>
              <a:off x="1270635" y="507682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554" name="Rectangle 554"/>
            <p:cNvSpPr/>
            <p:nvPr/>
          </p:nvSpPr>
          <p:spPr>
            <a:xfrm>
              <a:off x="72771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55" name="TextBox 555"/>
            <p:cNvSpPr txBox="1"/>
            <p:nvPr/>
          </p:nvSpPr>
          <p:spPr>
            <a:xfrm>
              <a:off x="78307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56" name="Rectangle 556"/>
            <p:cNvSpPr/>
            <p:nvPr/>
          </p:nvSpPr>
          <p:spPr>
            <a:xfrm>
              <a:off x="90868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57" name="TextBox 557"/>
            <p:cNvSpPr txBox="1"/>
            <p:nvPr/>
          </p:nvSpPr>
          <p:spPr>
            <a:xfrm>
              <a:off x="93369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58" name="Rectangle 558"/>
            <p:cNvSpPr/>
            <p:nvPr/>
          </p:nvSpPr>
          <p:spPr>
            <a:xfrm>
              <a:off x="108966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59" name="TextBox 559"/>
            <p:cNvSpPr txBox="1"/>
            <p:nvPr/>
          </p:nvSpPr>
          <p:spPr>
            <a:xfrm>
              <a:off x="114502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60" name="Rectangle 560"/>
            <p:cNvSpPr/>
            <p:nvPr/>
          </p:nvSpPr>
          <p:spPr>
            <a:xfrm>
              <a:off x="127063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61" name="TextBox 561"/>
            <p:cNvSpPr txBox="1"/>
            <p:nvPr/>
          </p:nvSpPr>
          <p:spPr>
            <a:xfrm>
              <a:off x="129564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62" name="Rectangle 562"/>
            <p:cNvSpPr/>
            <p:nvPr/>
          </p:nvSpPr>
          <p:spPr>
            <a:xfrm>
              <a:off x="72771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63" name="TextBox 563"/>
            <p:cNvSpPr txBox="1"/>
            <p:nvPr/>
          </p:nvSpPr>
          <p:spPr>
            <a:xfrm>
              <a:off x="75272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64" name="Rectangle 564"/>
            <p:cNvSpPr/>
            <p:nvPr/>
          </p:nvSpPr>
          <p:spPr>
            <a:xfrm>
              <a:off x="90868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65" name="TextBox 565"/>
            <p:cNvSpPr txBox="1"/>
            <p:nvPr/>
          </p:nvSpPr>
          <p:spPr>
            <a:xfrm>
              <a:off x="93369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66" name="Rectangle 566"/>
            <p:cNvSpPr/>
            <p:nvPr/>
          </p:nvSpPr>
          <p:spPr>
            <a:xfrm>
              <a:off x="108966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67" name="TextBox 567"/>
            <p:cNvSpPr txBox="1"/>
            <p:nvPr/>
          </p:nvSpPr>
          <p:spPr>
            <a:xfrm>
              <a:off x="111467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68" name="Rectangle 568"/>
            <p:cNvSpPr/>
            <p:nvPr/>
          </p:nvSpPr>
          <p:spPr>
            <a:xfrm>
              <a:off x="127063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69" name="TextBox 569"/>
            <p:cNvSpPr txBox="1"/>
            <p:nvPr/>
          </p:nvSpPr>
          <p:spPr>
            <a:xfrm>
              <a:off x="129564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0" name="Rectangle 570"/>
            <p:cNvSpPr/>
            <p:nvPr/>
          </p:nvSpPr>
          <p:spPr>
            <a:xfrm>
              <a:off x="727710" y="489585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571" name="TextBox 571"/>
            <p:cNvSpPr txBox="1"/>
            <p:nvPr/>
          </p:nvSpPr>
          <p:spPr>
            <a:xfrm>
              <a:off x="511491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72" name="TextBox 572"/>
            <p:cNvSpPr txBox="1"/>
            <p:nvPr/>
          </p:nvSpPr>
          <p:spPr>
            <a:xfrm>
              <a:off x="543204" y="51144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573" name="Rectangle 573"/>
            <p:cNvSpPr/>
            <p:nvPr/>
          </p:nvSpPr>
          <p:spPr>
            <a:xfrm>
              <a:off x="184023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74" name="TextBox 574"/>
            <p:cNvSpPr txBox="1"/>
            <p:nvPr/>
          </p:nvSpPr>
          <p:spPr>
            <a:xfrm>
              <a:off x="189559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5" name="Rectangle 575"/>
            <p:cNvSpPr/>
            <p:nvPr/>
          </p:nvSpPr>
          <p:spPr>
            <a:xfrm>
              <a:off x="202120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76" name="TextBox 576"/>
            <p:cNvSpPr txBox="1"/>
            <p:nvPr/>
          </p:nvSpPr>
          <p:spPr>
            <a:xfrm>
              <a:off x="207657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7" name="Rectangle 577"/>
            <p:cNvSpPr/>
            <p:nvPr/>
          </p:nvSpPr>
          <p:spPr>
            <a:xfrm>
              <a:off x="220218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78" name="TextBox 578"/>
            <p:cNvSpPr txBox="1"/>
            <p:nvPr/>
          </p:nvSpPr>
          <p:spPr>
            <a:xfrm>
              <a:off x="225754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9" name="Rectangle 579"/>
            <p:cNvSpPr/>
            <p:nvPr/>
          </p:nvSpPr>
          <p:spPr>
            <a:xfrm>
              <a:off x="238315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80" name="TextBox 580"/>
            <p:cNvSpPr txBox="1"/>
            <p:nvPr/>
          </p:nvSpPr>
          <p:spPr>
            <a:xfrm>
              <a:off x="243852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1" name="Rectangle 581"/>
            <p:cNvSpPr/>
            <p:nvPr/>
          </p:nvSpPr>
          <p:spPr>
            <a:xfrm>
              <a:off x="184023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82" name="TextBox 582"/>
            <p:cNvSpPr txBox="1"/>
            <p:nvPr/>
          </p:nvSpPr>
          <p:spPr>
            <a:xfrm>
              <a:off x="189559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3" name="Rectangle 583"/>
            <p:cNvSpPr/>
            <p:nvPr/>
          </p:nvSpPr>
          <p:spPr>
            <a:xfrm>
              <a:off x="2021205" y="507682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584" name="Rectangle 584"/>
            <p:cNvSpPr/>
            <p:nvPr/>
          </p:nvSpPr>
          <p:spPr>
            <a:xfrm>
              <a:off x="220218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85" name="TextBox 585"/>
            <p:cNvSpPr txBox="1"/>
            <p:nvPr/>
          </p:nvSpPr>
          <p:spPr>
            <a:xfrm>
              <a:off x="225754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6" name="Rectangle 586"/>
            <p:cNvSpPr/>
            <p:nvPr/>
          </p:nvSpPr>
          <p:spPr>
            <a:xfrm>
              <a:off x="238315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87" name="TextBox 587"/>
            <p:cNvSpPr txBox="1"/>
            <p:nvPr/>
          </p:nvSpPr>
          <p:spPr>
            <a:xfrm>
              <a:off x="243852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88" name="Rectangle 588"/>
            <p:cNvSpPr/>
            <p:nvPr/>
          </p:nvSpPr>
          <p:spPr>
            <a:xfrm>
              <a:off x="184023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89" name="TextBox 589"/>
            <p:cNvSpPr txBox="1"/>
            <p:nvPr/>
          </p:nvSpPr>
          <p:spPr>
            <a:xfrm>
              <a:off x="189559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90" name="Rectangle 590"/>
            <p:cNvSpPr/>
            <p:nvPr/>
          </p:nvSpPr>
          <p:spPr>
            <a:xfrm>
              <a:off x="202120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91" name="TextBox 591"/>
            <p:cNvSpPr txBox="1"/>
            <p:nvPr/>
          </p:nvSpPr>
          <p:spPr>
            <a:xfrm>
              <a:off x="204621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92" name="Rectangle 592"/>
            <p:cNvSpPr/>
            <p:nvPr/>
          </p:nvSpPr>
          <p:spPr>
            <a:xfrm>
              <a:off x="220218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93" name="TextBox 593"/>
            <p:cNvSpPr txBox="1"/>
            <p:nvPr/>
          </p:nvSpPr>
          <p:spPr>
            <a:xfrm>
              <a:off x="225754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4" name="Rectangle 594"/>
            <p:cNvSpPr/>
            <p:nvPr/>
          </p:nvSpPr>
          <p:spPr>
            <a:xfrm>
              <a:off x="238315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95" name="TextBox 595"/>
            <p:cNvSpPr txBox="1"/>
            <p:nvPr/>
          </p:nvSpPr>
          <p:spPr>
            <a:xfrm>
              <a:off x="240816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96" name="Rectangle 596"/>
            <p:cNvSpPr/>
            <p:nvPr/>
          </p:nvSpPr>
          <p:spPr>
            <a:xfrm>
              <a:off x="184023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97" name="TextBox 597"/>
            <p:cNvSpPr txBox="1"/>
            <p:nvPr/>
          </p:nvSpPr>
          <p:spPr>
            <a:xfrm>
              <a:off x="186524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98" name="Rectangle 598"/>
            <p:cNvSpPr/>
            <p:nvPr/>
          </p:nvSpPr>
          <p:spPr>
            <a:xfrm>
              <a:off x="202120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99" name="TextBox 599"/>
            <p:cNvSpPr txBox="1"/>
            <p:nvPr/>
          </p:nvSpPr>
          <p:spPr>
            <a:xfrm>
              <a:off x="204621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00" name="Rectangle 600"/>
            <p:cNvSpPr/>
            <p:nvPr/>
          </p:nvSpPr>
          <p:spPr>
            <a:xfrm>
              <a:off x="220218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01" name="TextBox 601"/>
            <p:cNvSpPr txBox="1"/>
            <p:nvPr/>
          </p:nvSpPr>
          <p:spPr>
            <a:xfrm>
              <a:off x="222719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02" name="Rectangle 602"/>
            <p:cNvSpPr/>
            <p:nvPr/>
          </p:nvSpPr>
          <p:spPr>
            <a:xfrm>
              <a:off x="238315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03" name="TextBox 603"/>
            <p:cNvSpPr txBox="1"/>
            <p:nvPr/>
          </p:nvSpPr>
          <p:spPr>
            <a:xfrm>
              <a:off x="240816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04" name="Rectangle 604"/>
            <p:cNvSpPr/>
            <p:nvPr/>
          </p:nvSpPr>
          <p:spPr>
            <a:xfrm>
              <a:off x="1840230" y="489585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605" name="TextBox 605"/>
            <p:cNvSpPr txBox="1"/>
            <p:nvPr/>
          </p:nvSpPr>
          <p:spPr>
            <a:xfrm>
              <a:off x="1624011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06" name="TextBox 606"/>
            <p:cNvSpPr txBox="1"/>
            <p:nvPr/>
          </p:nvSpPr>
          <p:spPr>
            <a:xfrm>
              <a:off x="1655724" y="51144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607" name="Rectangle 607"/>
            <p:cNvSpPr/>
            <p:nvPr/>
          </p:nvSpPr>
          <p:spPr>
            <a:xfrm>
              <a:off x="2952750" y="48958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608" name="Rectangle 608"/>
            <p:cNvSpPr/>
            <p:nvPr/>
          </p:nvSpPr>
          <p:spPr>
            <a:xfrm>
              <a:off x="313372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09" name="TextBox 609"/>
            <p:cNvSpPr txBox="1"/>
            <p:nvPr/>
          </p:nvSpPr>
          <p:spPr>
            <a:xfrm>
              <a:off x="318909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0" name="Rectangle 610"/>
            <p:cNvSpPr/>
            <p:nvPr/>
          </p:nvSpPr>
          <p:spPr>
            <a:xfrm>
              <a:off x="331470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11" name="TextBox 611"/>
            <p:cNvSpPr txBox="1"/>
            <p:nvPr/>
          </p:nvSpPr>
          <p:spPr>
            <a:xfrm>
              <a:off x="337006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2" name="Rectangle 612"/>
            <p:cNvSpPr/>
            <p:nvPr/>
          </p:nvSpPr>
          <p:spPr>
            <a:xfrm>
              <a:off x="349567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13" name="TextBox 613"/>
            <p:cNvSpPr txBox="1"/>
            <p:nvPr/>
          </p:nvSpPr>
          <p:spPr>
            <a:xfrm>
              <a:off x="355104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4" name="Rectangle 614"/>
            <p:cNvSpPr/>
            <p:nvPr/>
          </p:nvSpPr>
          <p:spPr>
            <a:xfrm>
              <a:off x="295275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15" name="TextBox 615"/>
            <p:cNvSpPr txBox="1"/>
            <p:nvPr/>
          </p:nvSpPr>
          <p:spPr>
            <a:xfrm>
              <a:off x="300811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6" name="Rectangle 616"/>
            <p:cNvSpPr/>
            <p:nvPr/>
          </p:nvSpPr>
          <p:spPr>
            <a:xfrm>
              <a:off x="313372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17" name="TextBox 617"/>
            <p:cNvSpPr txBox="1"/>
            <p:nvPr/>
          </p:nvSpPr>
          <p:spPr>
            <a:xfrm>
              <a:off x="318909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8" name="Rectangle 618"/>
            <p:cNvSpPr/>
            <p:nvPr/>
          </p:nvSpPr>
          <p:spPr>
            <a:xfrm>
              <a:off x="331470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19" name="TextBox 619"/>
            <p:cNvSpPr txBox="1"/>
            <p:nvPr/>
          </p:nvSpPr>
          <p:spPr>
            <a:xfrm>
              <a:off x="337006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0" name="Rectangle 620"/>
            <p:cNvSpPr/>
            <p:nvPr/>
          </p:nvSpPr>
          <p:spPr>
            <a:xfrm>
              <a:off x="349567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21" name="TextBox 621"/>
            <p:cNvSpPr txBox="1"/>
            <p:nvPr/>
          </p:nvSpPr>
          <p:spPr>
            <a:xfrm>
              <a:off x="355104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2" name="Rectangle 622"/>
            <p:cNvSpPr/>
            <p:nvPr/>
          </p:nvSpPr>
          <p:spPr>
            <a:xfrm>
              <a:off x="295275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23" name="TextBox 623"/>
            <p:cNvSpPr txBox="1"/>
            <p:nvPr/>
          </p:nvSpPr>
          <p:spPr>
            <a:xfrm>
              <a:off x="300811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24" name="Rectangle 624"/>
            <p:cNvSpPr/>
            <p:nvPr/>
          </p:nvSpPr>
          <p:spPr>
            <a:xfrm>
              <a:off x="313372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25" name="TextBox 625"/>
            <p:cNvSpPr txBox="1"/>
            <p:nvPr/>
          </p:nvSpPr>
          <p:spPr>
            <a:xfrm>
              <a:off x="315873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26" name="Rectangle 626"/>
            <p:cNvSpPr/>
            <p:nvPr/>
          </p:nvSpPr>
          <p:spPr>
            <a:xfrm>
              <a:off x="331470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27" name="TextBox 627"/>
            <p:cNvSpPr txBox="1"/>
            <p:nvPr/>
          </p:nvSpPr>
          <p:spPr>
            <a:xfrm>
              <a:off x="337006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28" name="Rectangle 628"/>
            <p:cNvSpPr/>
            <p:nvPr/>
          </p:nvSpPr>
          <p:spPr>
            <a:xfrm>
              <a:off x="349567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29" name="TextBox 629"/>
            <p:cNvSpPr txBox="1"/>
            <p:nvPr/>
          </p:nvSpPr>
          <p:spPr>
            <a:xfrm>
              <a:off x="352068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30" name="Rectangle 630"/>
            <p:cNvSpPr/>
            <p:nvPr/>
          </p:nvSpPr>
          <p:spPr>
            <a:xfrm>
              <a:off x="295275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31" name="TextBox 631"/>
            <p:cNvSpPr txBox="1"/>
            <p:nvPr/>
          </p:nvSpPr>
          <p:spPr>
            <a:xfrm>
              <a:off x="297776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32" name="Rectangle 632"/>
            <p:cNvSpPr/>
            <p:nvPr/>
          </p:nvSpPr>
          <p:spPr>
            <a:xfrm>
              <a:off x="313372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33" name="TextBox 633"/>
            <p:cNvSpPr txBox="1"/>
            <p:nvPr/>
          </p:nvSpPr>
          <p:spPr>
            <a:xfrm>
              <a:off x="315873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34" name="Rectangle 634"/>
            <p:cNvSpPr/>
            <p:nvPr/>
          </p:nvSpPr>
          <p:spPr>
            <a:xfrm>
              <a:off x="331470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35" name="TextBox 635"/>
            <p:cNvSpPr txBox="1"/>
            <p:nvPr/>
          </p:nvSpPr>
          <p:spPr>
            <a:xfrm>
              <a:off x="333971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36" name="Rectangle 636"/>
            <p:cNvSpPr/>
            <p:nvPr/>
          </p:nvSpPr>
          <p:spPr>
            <a:xfrm>
              <a:off x="349567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37" name="TextBox 637"/>
            <p:cNvSpPr txBox="1"/>
            <p:nvPr/>
          </p:nvSpPr>
          <p:spPr>
            <a:xfrm>
              <a:off x="352068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38" name="Rectangle 638"/>
            <p:cNvSpPr/>
            <p:nvPr/>
          </p:nvSpPr>
          <p:spPr>
            <a:xfrm>
              <a:off x="2952750" y="489585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639" name="TextBox 639"/>
            <p:cNvSpPr txBox="1"/>
            <p:nvPr/>
          </p:nvSpPr>
          <p:spPr>
            <a:xfrm>
              <a:off x="2736531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40" name="TextBox 640"/>
            <p:cNvSpPr txBox="1"/>
            <p:nvPr/>
          </p:nvSpPr>
          <p:spPr>
            <a:xfrm>
              <a:off x="2768244" y="51144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641" name="Rectangle 641"/>
            <p:cNvSpPr/>
            <p:nvPr/>
          </p:nvSpPr>
          <p:spPr>
            <a:xfrm>
              <a:off x="406527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42" name="TextBox 642"/>
            <p:cNvSpPr txBox="1"/>
            <p:nvPr/>
          </p:nvSpPr>
          <p:spPr>
            <a:xfrm>
              <a:off x="412063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3" name="Rectangle 643"/>
            <p:cNvSpPr/>
            <p:nvPr/>
          </p:nvSpPr>
          <p:spPr>
            <a:xfrm>
              <a:off x="424624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44" name="TextBox 644"/>
            <p:cNvSpPr txBox="1"/>
            <p:nvPr/>
          </p:nvSpPr>
          <p:spPr>
            <a:xfrm>
              <a:off x="430161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5" name="Rectangle 645"/>
            <p:cNvSpPr/>
            <p:nvPr/>
          </p:nvSpPr>
          <p:spPr>
            <a:xfrm>
              <a:off x="4427220" y="48958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646" name="Rectangle 646"/>
            <p:cNvSpPr/>
            <p:nvPr/>
          </p:nvSpPr>
          <p:spPr>
            <a:xfrm>
              <a:off x="460819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47" name="TextBox 647"/>
            <p:cNvSpPr txBox="1"/>
            <p:nvPr/>
          </p:nvSpPr>
          <p:spPr>
            <a:xfrm>
              <a:off x="466356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8" name="Rectangle 648"/>
            <p:cNvSpPr/>
            <p:nvPr/>
          </p:nvSpPr>
          <p:spPr>
            <a:xfrm>
              <a:off x="406527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49" name="TextBox 649"/>
            <p:cNvSpPr txBox="1"/>
            <p:nvPr/>
          </p:nvSpPr>
          <p:spPr>
            <a:xfrm>
              <a:off x="412063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0" name="Rectangle 650"/>
            <p:cNvSpPr/>
            <p:nvPr/>
          </p:nvSpPr>
          <p:spPr>
            <a:xfrm>
              <a:off x="424624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51" name="TextBox 651"/>
            <p:cNvSpPr txBox="1"/>
            <p:nvPr/>
          </p:nvSpPr>
          <p:spPr>
            <a:xfrm>
              <a:off x="430161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2" name="Rectangle 652"/>
            <p:cNvSpPr/>
            <p:nvPr/>
          </p:nvSpPr>
          <p:spPr>
            <a:xfrm>
              <a:off x="442722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53" name="TextBox 653"/>
            <p:cNvSpPr txBox="1"/>
            <p:nvPr/>
          </p:nvSpPr>
          <p:spPr>
            <a:xfrm>
              <a:off x="448258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54" name="Rectangle 654"/>
            <p:cNvSpPr/>
            <p:nvPr/>
          </p:nvSpPr>
          <p:spPr>
            <a:xfrm>
              <a:off x="460819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55" name="TextBox 655"/>
            <p:cNvSpPr txBox="1"/>
            <p:nvPr/>
          </p:nvSpPr>
          <p:spPr>
            <a:xfrm>
              <a:off x="466356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56" name="Rectangle 656"/>
            <p:cNvSpPr/>
            <p:nvPr/>
          </p:nvSpPr>
          <p:spPr>
            <a:xfrm>
              <a:off x="406527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57" name="TextBox 657"/>
            <p:cNvSpPr txBox="1"/>
            <p:nvPr/>
          </p:nvSpPr>
          <p:spPr>
            <a:xfrm>
              <a:off x="412063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58" name="Rectangle 658"/>
            <p:cNvSpPr/>
            <p:nvPr/>
          </p:nvSpPr>
          <p:spPr>
            <a:xfrm>
              <a:off x="424624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59" name="TextBox 659"/>
            <p:cNvSpPr txBox="1"/>
            <p:nvPr/>
          </p:nvSpPr>
          <p:spPr>
            <a:xfrm>
              <a:off x="427125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60" name="Rectangle 660"/>
            <p:cNvSpPr/>
            <p:nvPr/>
          </p:nvSpPr>
          <p:spPr>
            <a:xfrm>
              <a:off x="442722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61" name="TextBox 661"/>
            <p:cNvSpPr txBox="1"/>
            <p:nvPr/>
          </p:nvSpPr>
          <p:spPr>
            <a:xfrm>
              <a:off x="448258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62" name="Rectangle 662"/>
            <p:cNvSpPr/>
            <p:nvPr/>
          </p:nvSpPr>
          <p:spPr>
            <a:xfrm>
              <a:off x="460819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63" name="TextBox 663"/>
            <p:cNvSpPr txBox="1"/>
            <p:nvPr/>
          </p:nvSpPr>
          <p:spPr>
            <a:xfrm>
              <a:off x="463320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64" name="Rectangle 664"/>
            <p:cNvSpPr/>
            <p:nvPr/>
          </p:nvSpPr>
          <p:spPr>
            <a:xfrm>
              <a:off x="406527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65" name="TextBox 665"/>
            <p:cNvSpPr txBox="1"/>
            <p:nvPr/>
          </p:nvSpPr>
          <p:spPr>
            <a:xfrm>
              <a:off x="409028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66" name="Rectangle 666"/>
            <p:cNvSpPr/>
            <p:nvPr/>
          </p:nvSpPr>
          <p:spPr>
            <a:xfrm>
              <a:off x="424624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67" name="TextBox 667"/>
            <p:cNvSpPr txBox="1"/>
            <p:nvPr/>
          </p:nvSpPr>
          <p:spPr>
            <a:xfrm>
              <a:off x="427125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68" name="Rectangle 668"/>
            <p:cNvSpPr/>
            <p:nvPr/>
          </p:nvSpPr>
          <p:spPr>
            <a:xfrm>
              <a:off x="442722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69" name="TextBox 669"/>
            <p:cNvSpPr txBox="1"/>
            <p:nvPr/>
          </p:nvSpPr>
          <p:spPr>
            <a:xfrm>
              <a:off x="445223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70" name="Rectangle 670"/>
            <p:cNvSpPr/>
            <p:nvPr/>
          </p:nvSpPr>
          <p:spPr>
            <a:xfrm>
              <a:off x="460819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71" name="TextBox 671"/>
            <p:cNvSpPr txBox="1"/>
            <p:nvPr/>
          </p:nvSpPr>
          <p:spPr>
            <a:xfrm>
              <a:off x="463320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72" name="Rectangle 672"/>
            <p:cNvSpPr/>
            <p:nvPr/>
          </p:nvSpPr>
          <p:spPr>
            <a:xfrm>
              <a:off x="4065270" y="489585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673" name="TextBox 673"/>
            <p:cNvSpPr txBox="1"/>
            <p:nvPr/>
          </p:nvSpPr>
          <p:spPr>
            <a:xfrm>
              <a:off x="3849051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74" name="TextBox 674"/>
            <p:cNvSpPr txBox="1"/>
            <p:nvPr/>
          </p:nvSpPr>
          <p:spPr>
            <a:xfrm>
              <a:off x="3880764" y="51144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675" name="Rectangle 675"/>
            <p:cNvSpPr/>
            <p:nvPr/>
          </p:nvSpPr>
          <p:spPr>
            <a:xfrm>
              <a:off x="517779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76" name="TextBox 676"/>
            <p:cNvSpPr txBox="1"/>
            <p:nvPr/>
          </p:nvSpPr>
          <p:spPr>
            <a:xfrm>
              <a:off x="523315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7" name="Rectangle 677"/>
            <p:cNvSpPr/>
            <p:nvPr/>
          </p:nvSpPr>
          <p:spPr>
            <a:xfrm>
              <a:off x="535876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78" name="TextBox 678"/>
            <p:cNvSpPr txBox="1"/>
            <p:nvPr/>
          </p:nvSpPr>
          <p:spPr>
            <a:xfrm>
              <a:off x="541413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9" name="Rectangle 679"/>
            <p:cNvSpPr/>
            <p:nvPr/>
          </p:nvSpPr>
          <p:spPr>
            <a:xfrm>
              <a:off x="553974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80" name="TextBox 680"/>
            <p:cNvSpPr txBox="1"/>
            <p:nvPr/>
          </p:nvSpPr>
          <p:spPr>
            <a:xfrm>
              <a:off x="559510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1" name="Rectangle 681"/>
            <p:cNvSpPr/>
            <p:nvPr/>
          </p:nvSpPr>
          <p:spPr>
            <a:xfrm>
              <a:off x="572071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82" name="TextBox 682"/>
            <p:cNvSpPr txBox="1"/>
            <p:nvPr/>
          </p:nvSpPr>
          <p:spPr>
            <a:xfrm>
              <a:off x="577608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3" name="Rectangle 683"/>
            <p:cNvSpPr/>
            <p:nvPr/>
          </p:nvSpPr>
          <p:spPr>
            <a:xfrm>
              <a:off x="517779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84" name="TextBox 684"/>
            <p:cNvSpPr txBox="1"/>
            <p:nvPr/>
          </p:nvSpPr>
          <p:spPr>
            <a:xfrm>
              <a:off x="523315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5" name="Rectangle 685"/>
            <p:cNvSpPr/>
            <p:nvPr/>
          </p:nvSpPr>
          <p:spPr>
            <a:xfrm>
              <a:off x="535876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86" name="TextBox 686"/>
            <p:cNvSpPr txBox="1"/>
            <p:nvPr/>
          </p:nvSpPr>
          <p:spPr>
            <a:xfrm>
              <a:off x="541413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7" name="Rectangle 687"/>
            <p:cNvSpPr/>
            <p:nvPr/>
          </p:nvSpPr>
          <p:spPr>
            <a:xfrm>
              <a:off x="553974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88" name="TextBox 688"/>
            <p:cNvSpPr txBox="1"/>
            <p:nvPr/>
          </p:nvSpPr>
          <p:spPr>
            <a:xfrm>
              <a:off x="559510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9" name="Rectangle 689"/>
            <p:cNvSpPr/>
            <p:nvPr/>
          </p:nvSpPr>
          <p:spPr>
            <a:xfrm>
              <a:off x="572071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90" name="TextBox 690"/>
            <p:cNvSpPr txBox="1"/>
            <p:nvPr/>
          </p:nvSpPr>
          <p:spPr>
            <a:xfrm>
              <a:off x="5745726" y="5116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91" name="Rectangle 691"/>
            <p:cNvSpPr/>
            <p:nvPr/>
          </p:nvSpPr>
          <p:spPr>
            <a:xfrm>
              <a:off x="517779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92" name="TextBox 692"/>
            <p:cNvSpPr txBox="1"/>
            <p:nvPr/>
          </p:nvSpPr>
          <p:spPr>
            <a:xfrm>
              <a:off x="523315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93" name="Rectangle 693"/>
            <p:cNvSpPr/>
            <p:nvPr/>
          </p:nvSpPr>
          <p:spPr>
            <a:xfrm>
              <a:off x="535876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94" name="TextBox 694"/>
            <p:cNvSpPr txBox="1"/>
            <p:nvPr/>
          </p:nvSpPr>
          <p:spPr>
            <a:xfrm>
              <a:off x="538377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5" name="Rectangle 695"/>
            <p:cNvSpPr/>
            <p:nvPr/>
          </p:nvSpPr>
          <p:spPr>
            <a:xfrm>
              <a:off x="553974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96" name="TextBox 696"/>
            <p:cNvSpPr txBox="1"/>
            <p:nvPr/>
          </p:nvSpPr>
          <p:spPr>
            <a:xfrm>
              <a:off x="559510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7" name="Rectangle 697"/>
            <p:cNvSpPr/>
            <p:nvPr/>
          </p:nvSpPr>
          <p:spPr>
            <a:xfrm>
              <a:off x="572071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98" name="TextBox 698"/>
            <p:cNvSpPr txBox="1"/>
            <p:nvPr/>
          </p:nvSpPr>
          <p:spPr>
            <a:xfrm>
              <a:off x="574572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99" name="Rectangle 699"/>
            <p:cNvSpPr/>
            <p:nvPr/>
          </p:nvSpPr>
          <p:spPr>
            <a:xfrm>
              <a:off x="517779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00" name="TextBox 700"/>
            <p:cNvSpPr txBox="1"/>
            <p:nvPr/>
          </p:nvSpPr>
          <p:spPr>
            <a:xfrm>
              <a:off x="520280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01" name="Rectangle 701"/>
            <p:cNvSpPr/>
            <p:nvPr/>
          </p:nvSpPr>
          <p:spPr>
            <a:xfrm>
              <a:off x="535876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02" name="TextBox 702"/>
            <p:cNvSpPr txBox="1"/>
            <p:nvPr/>
          </p:nvSpPr>
          <p:spPr>
            <a:xfrm>
              <a:off x="538377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03" name="Rectangle 703"/>
            <p:cNvSpPr/>
            <p:nvPr/>
          </p:nvSpPr>
          <p:spPr>
            <a:xfrm>
              <a:off x="553974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04" name="TextBox 704"/>
            <p:cNvSpPr txBox="1"/>
            <p:nvPr/>
          </p:nvSpPr>
          <p:spPr>
            <a:xfrm>
              <a:off x="556475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05" name="Rectangle 705"/>
            <p:cNvSpPr/>
            <p:nvPr/>
          </p:nvSpPr>
          <p:spPr>
            <a:xfrm>
              <a:off x="5720715" y="543877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706" name="Rectangle 706"/>
            <p:cNvSpPr/>
            <p:nvPr/>
          </p:nvSpPr>
          <p:spPr>
            <a:xfrm>
              <a:off x="5177790" y="489585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707" name="TextBox 707"/>
            <p:cNvSpPr txBox="1"/>
            <p:nvPr/>
          </p:nvSpPr>
          <p:spPr>
            <a:xfrm>
              <a:off x="4961571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08" name="TextBox 708"/>
            <p:cNvSpPr txBox="1"/>
            <p:nvPr/>
          </p:nvSpPr>
          <p:spPr>
            <a:xfrm>
              <a:off x="4993284" y="51144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709" name="Rectangle 709"/>
            <p:cNvSpPr/>
            <p:nvPr/>
          </p:nvSpPr>
          <p:spPr>
            <a:xfrm>
              <a:off x="629031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10" name="TextBox 710"/>
            <p:cNvSpPr txBox="1"/>
            <p:nvPr/>
          </p:nvSpPr>
          <p:spPr>
            <a:xfrm>
              <a:off x="634567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1" name="Rectangle 711"/>
            <p:cNvSpPr/>
            <p:nvPr/>
          </p:nvSpPr>
          <p:spPr>
            <a:xfrm>
              <a:off x="647128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12" name="TextBox 712"/>
            <p:cNvSpPr txBox="1"/>
            <p:nvPr/>
          </p:nvSpPr>
          <p:spPr>
            <a:xfrm>
              <a:off x="652665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3" name="Rectangle 713"/>
            <p:cNvSpPr/>
            <p:nvPr/>
          </p:nvSpPr>
          <p:spPr>
            <a:xfrm>
              <a:off x="665226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14" name="TextBox 714"/>
            <p:cNvSpPr txBox="1"/>
            <p:nvPr/>
          </p:nvSpPr>
          <p:spPr>
            <a:xfrm>
              <a:off x="670762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5" name="Rectangle 715"/>
            <p:cNvSpPr/>
            <p:nvPr/>
          </p:nvSpPr>
          <p:spPr>
            <a:xfrm>
              <a:off x="683323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16" name="TextBox 716"/>
            <p:cNvSpPr txBox="1"/>
            <p:nvPr/>
          </p:nvSpPr>
          <p:spPr>
            <a:xfrm>
              <a:off x="688860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7" name="Rectangle 717"/>
            <p:cNvSpPr/>
            <p:nvPr/>
          </p:nvSpPr>
          <p:spPr>
            <a:xfrm>
              <a:off x="629031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18" name="TextBox 718"/>
            <p:cNvSpPr txBox="1"/>
            <p:nvPr/>
          </p:nvSpPr>
          <p:spPr>
            <a:xfrm>
              <a:off x="634567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9" name="Rectangle 719"/>
            <p:cNvSpPr/>
            <p:nvPr/>
          </p:nvSpPr>
          <p:spPr>
            <a:xfrm>
              <a:off x="647128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20" name="TextBox 720"/>
            <p:cNvSpPr txBox="1"/>
            <p:nvPr/>
          </p:nvSpPr>
          <p:spPr>
            <a:xfrm>
              <a:off x="652665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1" name="Rectangle 721"/>
            <p:cNvSpPr/>
            <p:nvPr/>
          </p:nvSpPr>
          <p:spPr>
            <a:xfrm>
              <a:off x="665226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22" name="TextBox 722"/>
            <p:cNvSpPr txBox="1"/>
            <p:nvPr/>
          </p:nvSpPr>
          <p:spPr>
            <a:xfrm>
              <a:off x="670762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23" name="Rectangle 723"/>
            <p:cNvSpPr/>
            <p:nvPr/>
          </p:nvSpPr>
          <p:spPr>
            <a:xfrm>
              <a:off x="683323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24" name="TextBox 724"/>
            <p:cNvSpPr txBox="1"/>
            <p:nvPr/>
          </p:nvSpPr>
          <p:spPr>
            <a:xfrm>
              <a:off x="6858246" y="5116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25" name="Rectangle 725"/>
            <p:cNvSpPr/>
            <p:nvPr/>
          </p:nvSpPr>
          <p:spPr>
            <a:xfrm>
              <a:off x="629031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26" name="TextBox 726"/>
            <p:cNvSpPr txBox="1"/>
            <p:nvPr/>
          </p:nvSpPr>
          <p:spPr>
            <a:xfrm>
              <a:off x="634567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27" name="Rectangle 727"/>
            <p:cNvSpPr/>
            <p:nvPr/>
          </p:nvSpPr>
          <p:spPr>
            <a:xfrm>
              <a:off x="647128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28" name="TextBox 728"/>
            <p:cNvSpPr txBox="1"/>
            <p:nvPr/>
          </p:nvSpPr>
          <p:spPr>
            <a:xfrm>
              <a:off x="649629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29" name="Rectangle 729"/>
            <p:cNvSpPr/>
            <p:nvPr/>
          </p:nvSpPr>
          <p:spPr>
            <a:xfrm>
              <a:off x="6652260" y="525780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730" name="Rectangle 730"/>
            <p:cNvSpPr/>
            <p:nvPr/>
          </p:nvSpPr>
          <p:spPr>
            <a:xfrm>
              <a:off x="683323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31" name="TextBox 731"/>
            <p:cNvSpPr txBox="1"/>
            <p:nvPr/>
          </p:nvSpPr>
          <p:spPr>
            <a:xfrm>
              <a:off x="6888603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2" name="Rectangle 732"/>
            <p:cNvSpPr/>
            <p:nvPr/>
          </p:nvSpPr>
          <p:spPr>
            <a:xfrm>
              <a:off x="629031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33" name="TextBox 733"/>
            <p:cNvSpPr txBox="1"/>
            <p:nvPr/>
          </p:nvSpPr>
          <p:spPr>
            <a:xfrm>
              <a:off x="631532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34" name="Rectangle 734"/>
            <p:cNvSpPr/>
            <p:nvPr/>
          </p:nvSpPr>
          <p:spPr>
            <a:xfrm>
              <a:off x="647128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35" name="TextBox 735"/>
            <p:cNvSpPr txBox="1"/>
            <p:nvPr/>
          </p:nvSpPr>
          <p:spPr>
            <a:xfrm>
              <a:off x="649629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36" name="Rectangle 736"/>
            <p:cNvSpPr/>
            <p:nvPr/>
          </p:nvSpPr>
          <p:spPr>
            <a:xfrm>
              <a:off x="665226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37" name="TextBox 737"/>
            <p:cNvSpPr txBox="1"/>
            <p:nvPr/>
          </p:nvSpPr>
          <p:spPr>
            <a:xfrm>
              <a:off x="667727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38" name="Rectangle 738"/>
            <p:cNvSpPr/>
            <p:nvPr/>
          </p:nvSpPr>
          <p:spPr>
            <a:xfrm>
              <a:off x="683323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39" name="TextBox 739"/>
            <p:cNvSpPr txBox="1"/>
            <p:nvPr/>
          </p:nvSpPr>
          <p:spPr>
            <a:xfrm>
              <a:off x="685824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40" name="Rectangle 740"/>
            <p:cNvSpPr/>
            <p:nvPr/>
          </p:nvSpPr>
          <p:spPr>
            <a:xfrm>
              <a:off x="6290310" y="489585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741" name="TextBox 741"/>
            <p:cNvSpPr txBox="1"/>
            <p:nvPr/>
          </p:nvSpPr>
          <p:spPr>
            <a:xfrm>
              <a:off x="6074091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742" name="TextBox 742"/>
            <p:cNvSpPr txBox="1"/>
            <p:nvPr/>
          </p:nvSpPr>
          <p:spPr>
            <a:xfrm>
              <a:off x="6105804" y="51144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743" name="Rectangle 743"/>
            <p:cNvSpPr/>
            <p:nvPr/>
          </p:nvSpPr>
          <p:spPr>
            <a:xfrm>
              <a:off x="740283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44" name="TextBox 744"/>
            <p:cNvSpPr txBox="1"/>
            <p:nvPr/>
          </p:nvSpPr>
          <p:spPr>
            <a:xfrm>
              <a:off x="745819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5" name="Rectangle 745"/>
            <p:cNvSpPr/>
            <p:nvPr/>
          </p:nvSpPr>
          <p:spPr>
            <a:xfrm>
              <a:off x="758380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46" name="TextBox 746"/>
            <p:cNvSpPr txBox="1"/>
            <p:nvPr/>
          </p:nvSpPr>
          <p:spPr>
            <a:xfrm>
              <a:off x="763917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7" name="Rectangle 747"/>
            <p:cNvSpPr/>
            <p:nvPr/>
          </p:nvSpPr>
          <p:spPr>
            <a:xfrm>
              <a:off x="7764780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48" name="TextBox 748"/>
            <p:cNvSpPr txBox="1"/>
            <p:nvPr/>
          </p:nvSpPr>
          <p:spPr>
            <a:xfrm>
              <a:off x="782014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9" name="Rectangle 749"/>
            <p:cNvSpPr/>
            <p:nvPr/>
          </p:nvSpPr>
          <p:spPr>
            <a:xfrm>
              <a:off x="7945755" y="4895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50" name="TextBox 750"/>
            <p:cNvSpPr txBox="1"/>
            <p:nvPr/>
          </p:nvSpPr>
          <p:spPr>
            <a:xfrm>
              <a:off x="800112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51" name="Rectangle 751"/>
            <p:cNvSpPr/>
            <p:nvPr/>
          </p:nvSpPr>
          <p:spPr>
            <a:xfrm>
              <a:off x="740283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52" name="TextBox 752"/>
            <p:cNvSpPr txBox="1"/>
            <p:nvPr/>
          </p:nvSpPr>
          <p:spPr>
            <a:xfrm>
              <a:off x="745819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53" name="Rectangle 753"/>
            <p:cNvSpPr/>
            <p:nvPr/>
          </p:nvSpPr>
          <p:spPr>
            <a:xfrm>
              <a:off x="7583805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54" name="TextBox 754"/>
            <p:cNvSpPr txBox="1"/>
            <p:nvPr/>
          </p:nvSpPr>
          <p:spPr>
            <a:xfrm>
              <a:off x="763917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55" name="Rectangle 755"/>
            <p:cNvSpPr/>
            <p:nvPr/>
          </p:nvSpPr>
          <p:spPr>
            <a:xfrm>
              <a:off x="7764780" y="5076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56" name="TextBox 756"/>
            <p:cNvSpPr txBox="1"/>
            <p:nvPr/>
          </p:nvSpPr>
          <p:spPr>
            <a:xfrm>
              <a:off x="782014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57" name="Rectangle 757"/>
            <p:cNvSpPr/>
            <p:nvPr/>
          </p:nvSpPr>
          <p:spPr>
            <a:xfrm>
              <a:off x="7945755" y="507682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758" name="Rectangle 758"/>
            <p:cNvSpPr/>
            <p:nvPr/>
          </p:nvSpPr>
          <p:spPr>
            <a:xfrm>
              <a:off x="740283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59" name="TextBox 759"/>
            <p:cNvSpPr txBox="1"/>
            <p:nvPr/>
          </p:nvSpPr>
          <p:spPr>
            <a:xfrm>
              <a:off x="745819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60" name="Rectangle 760"/>
            <p:cNvSpPr/>
            <p:nvPr/>
          </p:nvSpPr>
          <p:spPr>
            <a:xfrm>
              <a:off x="758380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61" name="TextBox 761"/>
            <p:cNvSpPr txBox="1"/>
            <p:nvPr/>
          </p:nvSpPr>
          <p:spPr>
            <a:xfrm>
              <a:off x="760881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62" name="Rectangle 762"/>
            <p:cNvSpPr/>
            <p:nvPr/>
          </p:nvSpPr>
          <p:spPr>
            <a:xfrm>
              <a:off x="7764780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63" name="TextBox 763"/>
            <p:cNvSpPr txBox="1"/>
            <p:nvPr/>
          </p:nvSpPr>
          <p:spPr>
            <a:xfrm>
              <a:off x="7789791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64" name="Rectangle 764"/>
            <p:cNvSpPr/>
            <p:nvPr/>
          </p:nvSpPr>
          <p:spPr>
            <a:xfrm>
              <a:off x="7945755" y="52578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65" name="TextBox 765"/>
            <p:cNvSpPr txBox="1"/>
            <p:nvPr/>
          </p:nvSpPr>
          <p:spPr>
            <a:xfrm>
              <a:off x="8001123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66" name="Rectangle 766"/>
            <p:cNvSpPr/>
            <p:nvPr/>
          </p:nvSpPr>
          <p:spPr>
            <a:xfrm>
              <a:off x="740283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67" name="TextBox 767"/>
            <p:cNvSpPr txBox="1"/>
            <p:nvPr/>
          </p:nvSpPr>
          <p:spPr>
            <a:xfrm>
              <a:off x="742784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68" name="Rectangle 768"/>
            <p:cNvSpPr/>
            <p:nvPr/>
          </p:nvSpPr>
          <p:spPr>
            <a:xfrm>
              <a:off x="758380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69" name="TextBox 769"/>
            <p:cNvSpPr txBox="1"/>
            <p:nvPr/>
          </p:nvSpPr>
          <p:spPr>
            <a:xfrm>
              <a:off x="760881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70" name="Rectangle 770"/>
            <p:cNvSpPr/>
            <p:nvPr/>
          </p:nvSpPr>
          <p:spPr>
            <a:xfrm>
              <a:off x="7764780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71" name="TextBox 771"/>
            <p:cNvSpPr txBox="1"/>
            <p:nvPr/>
          </p:nvSpPr>
          <p:spPr>
            <a:xfrm>
              <a:off x="778979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72" name="Rectangle 772"/>
            <p:cNvSpPr/>
            <p:nvPr/>
          </p:nvSpPr>
          <p:spPr>
            <a:xfrm>
              <a:off x="7945755" y="54387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73" name="TextBox 773"/>
            <p:cNvSpPr txBox="1"/>
            <p:nvPr/>
          </p:nvSpPr>
          <p:spPr>
            <a:xfrm>
              <a:off x="797076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74" name="Rectangle 774"/>
            <p:cNvSpPr/>
            <p:nvPr/>
          </p:nvSpPr>
          <p:spPr>
            <a:xfrm>
              <a:off x="7402830" y="4895850"/>
              <a:ext cx="723900" cy="7239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775" name="TextBox 775"/>
            <p:cNvSpPr txBox="1"/>
            <p:nvPr/>
          </p:nvSpPr>
          <p:spPr>
            <a:xfrm>
              <a:off x="7186611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776" name="TextBox 776"/>
            <p:cNvSpPr txBox="1"/>
            <p:nvPr/>
          </p:nvSpPr>
          <p:spPr>
            <a:xfrm>
              <a:off x="7218324" y="51144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777" name="Rectangle 777"/>
            <p:cNvSpPr/>
            <p:nvPr/>
          </p:nvSpPr>
          <p:spPr>
            <a:xfrm>
              <a:off x="8515350" y="4895850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78" name="TextBox 778"/>
            <p:cNvSpPr txBox="1"/>
            <p:nvPr/>
          </p:nvSpPr>
          <p:spPr>
            <a:xfrm>
              <a:off x="857071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9" name="Rectangle 779"/>
            <p:cNvSpPr/>
            <p:nvPr/>
          </p:nvSpPr>
          <p:spPr>
            <a:xfrm>
              <a:off x="8696325" y="4895850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80" name="TextBox 780"/>
            <p:cNvSpPr txBox="1"/>
            <p:nvPr/>
          </p:nvSpPr>
          <p:spPr>
            <a:xfrm>
              <a:off x="875169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1" name="Rectangle 781"/>
            <p:cNvSpPr/>
            <p:nvPr/>
          </p:nvSpPr>
          <p:spPr>
            <a:xfrm>
              <a:off x="8877300" y="4895850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82" name="TextBox 782"/>
            <p:cNvSpPr txBox="1"/>
            <p:nvPr/>
          </p:nvSpPr>
          <p:spPr>
            <a:xfrm>
              <a:off x="8932668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3" name="Rectangle 783"/>
            <p:cNvSpPr/>
            <p:nvPr/>
          </p:nvSpPr>
          <p:spPr>
            <a:xfrm>
              <a:off x="9058275" y="4895850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84" name="TextBox 784"/>
            <p:cNvSpPr txBox="1"/>
            <p:nvPr/>
          </p:nvSpPr>
          <p:spPr>
            <a:xfrm>
              <a:off x="9113643" y="4935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5" name="Rectangle 785"/>
            <p:cNvSpPr/>
            <p:nvPr/>
          </p:nvSpPr>
          <p:spPr>
            <a:xfrm>
              <a:off x="8515350" y="5076825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86" name="TextBox 786"/>
            <p:cNvSpPr txBox="1"/>
            <p:nvPr/>
          </p:nvSpPr>
          <p:spPr>
            <a:xfrm>
              <a:off x="857071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7" name="Rectangle 787"/>
            <p:cNvSpPr/>
            <p:nvPr/>
          </p:nvSpPr>
          <p:spPr>
            <a:xfrm>
              <a:off x="8696325" y="5076825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88" name="TextBox 788"/>
            <p:cNvSpPr txBox="1"/>
            <p:nvPr/>
          </p:nvSpPr>
          <p:spPr>
            <a:xfrm>
              <a:off x="875169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9" name="Rectangle 789"/>
            <p:cNvSpPr/>
            <p:nvPr/>
          </p:nvSpPr>
          <p:spPr>
            <a:xfrm>
              <a:off x="8877300" y="5076825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90" name="TextBox 790"/>
            <p:cNvSpPr txBox="1"/>
            <p:nvPr/>
          </p:nvSpPr>
          <p:spPr>
            <a:xfrm>
              <a:off x="8932668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91" name="Rectangle 791"/>
            <p:cNvSpPr/>
            <p:nvPr/>
          </p:nvSpPr>
          <p:spPr>
            <a:xfrm>
              <a:off x="9058275" y="5076825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92" name="TextBox 792"/>
            <p:cNvSpPr txBox="1"/>
            <p:nvPr/>
          </p:nvSpPr>
          <p:spPr>
            <a:xfrm>
              <a:off x="9113643" y="51163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93" name="Rectangle 793"/>
            <p:cNvSpPr/>
            <p:nvPr/>
          </p:nvSpPr>
          <p:spPr>
            <a:xfrm>
              <a:off x="8515350" y="5257800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94" name="TextBox 794"/>
            <p:cNvSpPr txBox="1"/>
            <p:nvPr/>
          </p:nvSpPr>
          <p:spPr>
            <a:xfrm>
              <a:off x="8570718" y="5297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95" name="Rectangle 795"/>
            <p:cNvSpPr/>
            <p:nvPr/>
          </p:nvSpPr>
          <p:spPr>
            <a:xfrm>
              <a:off x="8696325" y="5257800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96" name="TextBox 796"/>
            <p:cNvSpPr txBox="1"/>
            <p:nvPr/>
          </p:nvSpPr>
          <p:spPr>
            <a:xfrm>
              <a:off x="872133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97" name="Rectangle 797"/>
            <p:cNvSpPr/>
            <p:nvPr/>
          </p:nvSpPr>
          <p:spPr>
            <a:xfrm>
              <a:off x="8877300" y="5257800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798" name="TextBox 798"/>
            <p:cNvSpPr txBox="1"/>
            <p:nvPr/>
          </p:nvSpPr>
          <p:spPr>
            <a:xfrm>
              <a:off x="8902311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99" name="Rectangle 799"/>
            <p:cNvSpPr/>
            <p:nvPr/>
          </p:nvSpPr>
          <p:spPr>
            <a:xfrm>
              <a:off x="9058275" y="5257800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800" name="TextBox 800"/>
            <p:cNvSpPr txBox="1"/>
            <p:nvPr/>
          </p:nvSpPr>
          <p:spPr>
            <a:xfrm>
              <a:off x="9083286" y="52973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01" name="Rectangle 801"/>
            <p:cNvSpPr/>
            <p:nvPr/>
          </p:nvSpPr>
          <p:spPr>
            <a:xfrm>
              <a:off x="8515350" y="5438775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802" name="TextBox 802"/>
            <p:cNvSpPr txBox="1"/>
            <p:nvPr/>
          </p:nvSpPr>
          <p:spPr>
            <a:xfrm>
              <a:off x="854036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03" name="Rectangle 803"/>
            <p:cNvSpPr/>
            <p:nvPr/>
          </p:nvSpPr>
          <p:spPr>
            <a:xfrm>
              <a:off x="8696325" y="5438775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804" name="TextBox 804"/>
            <p:cNvSpPr txBox="1"/>
            <p:nvPr/>
          </p:nvSpPr>
          <p:spPr>
            <a:xfrm>
              <a:off x="8721336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05" name="Rectangle 805"/>
            <p:cNvSpPr/>
            <p:nvPr/>
          </p:nvSpPr>
          <p:spPr>
            <a:xfrm>
              <a:off x="8877300" y="5438775"/>
              <a:ext cx="180975" cy="180975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806" name="TextBox 806"/>
            <p:cNvSpPr txBox="1"/>
            <p:nvPr/>
          </p:nvSpPr>
          <p:spPr>
            <a:xfrm>
              <a:off x="8902311" y="54783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07" name="Rectangle 807"/>
            <p:cNvSpPr/>
            <p:nvPr/>
          </p:nvSpPr>
          <p:spPr>
            <a:xfrm>
              <a:off x="9058275" y="543877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808" name="Rectangle 808"/>
            <p:cNvSpPr/>
            <p:nvPr/>
          </p:nvSpPr>
          <p:spPr>
            <a:xfrm>
              <a:off x="8515350" y="4895850"/>
              <a:ext cx="723900" cy="723900"/>
            </a:xfrm>
            <a:prstGeom prst="rect">
              <a:avLst/>
            </a:prstGeom>
            <a:noFill/>
            <a:ln w="28575">
              <a:solidFill>
                <a:srgbClr val="14A38B"/>
              </a:solidFill>
            </a:ln>
          </p:spPr>
        </p:sp>
        <p:sp>
          <p:nvSpPr>
            <p:cNvPr id="809" name="TextBox 809"/>
            <p:cNvSpPr txBox="1"/>
            <p:nvPr/>
          </p:nvSpPr>
          <p:spPr>
            <a:xfrm>
              <a:off x="8299131" y="4934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810" name="TextBox 810"/>
            <p:cNvSpPr txBox="1"/>
            <p:nvPr/>
          </p:nvSpPr>
          <p:spPr>
            <a:xfrm>
              <a:off x="8330844" y="511444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</p:grpSp>
      <p:grpSp>
        <p:nvGrpSpPr>
          <p:cNvPr id="815" name="fifo-note"/>
          <p:cNvGrpSpPr/>
          <p:nvPr/>
        </p:nvGrpSpPr>
        <p:grpSpPr>
          <a:xfrm>
            <a:off x="9677400" y="4533900"/>
            <a:ext cx="1981200" cy="1085850"/>
            <a:chOff x="9677400" y="4533900"/>
            <a:chExt cx="1981200" cy="1085850"/>
          </a:xfrm>
        </p:grpSpPr>
        <p:sp>
          <p:nvSpPr>
            <p:cNvPr id="812" name="Rectangle 812"/>
            <p:cNvSpPr/>
            <p:nvPr/>
          </p:nvSpPr>
          <p:spPr>
            <a:xfrm>
              <a:off x="9677400" y="4533900"/>
              <a:ext cx="1981200" cy="1085850"/>
            </a:xfrm>
            <a:prstGeom prst="roundRect">
              <a:avLst>
                <a:gd name="adj" fmla="val 10526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13" name="TextBox 813"/>
            <p:cNvSpPr txBox="1"/>
            <p:nvPr/>
          </p:nvSpPr>
          <p:spPr>
            <a:xfrm>
              <a:off x="9823704" y="467106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结点 23 就是目标</a:t>
              </a:r>
            </a:p>
          </p:txBody>
        </p:sp>
        <p:sp>
          <p:nvSpPr>
            <p:cNvPr id="814" name="TextBox 814"/>
            <p:cNvSpPr txBox="1"/>
            <p:nvPr/>
          </p:nvSpPr>
          <p:spPr>
            <a:xfrm>
              <a:off x="9824466" y="4934902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 3，离根最近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橙框为根到它的路径</a:t>
              </a:r>
            </a:p>
          </p:txBody>
        </p:sp>
      </p:grpSp>
      <p:grpSp>
        <p:nvGrpSpPr>
          <p:cNvPr id="820" name="fifo-caption"/>
          <p:cNvGrpSpPr/>
          <p:nvPr/>
        </p:nvGrpSpPr>
        <p:grpSpPr>
          <a:xfrm>
            <a:off x="533400" y="5753100"/>
            <a:ext cx="11125200" cy="609600"/>
            <a:chOff x="533400" y="5753100"/>
            <a:chExt cx="11125200" cy="609600"/>
          </a:xfrm>
        </p:grpSpPr>
        <p:sp>
          <p:nvSpPr>
            <p:cNvPr id="816" name="Rectangle 816"/>
            <p:cNvSpPr/>
            <p:nvPr/>
          </p:nvSpPr>
          <p:spPr>
            <a:xfrm>
              <a:off x="533400" y="5753100"/>
              <a:ext cx="11125200" cy="609600"/>
            </a:xfrm>
            <a:prstGeom prst="roundRect">
              <a:avLst>
                <a:gd name="adj" fmla="val 187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7" name="Rectangle 817"/>
            <p:cNvSpPr/>
            <p:nvPr/>
          </p:nvSpPr>
          <p:spPr>
            <a:xfrm>
              <a:off x="542925" y="5867400"/>
              <a:ext cx="47625" cy="3810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8" name="TextBox 818"/>
            <p:cNvSpPr txBox="1"/>
            <p:nvPr/>
          </p:nvSpPr>
          <p:spPr>
            <a:xfrm>
              <a:off x="756285" y="5879306"/>
              <a:ext cx="8304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左侧数字是生成次序，下面的字是空格这一步的移动方向。每个结点按上、右、下、左试探，与父结点相同的布局不再生成。</a:t>
              </a:r>
            </a:p>
          </p:txBody>
        </p:sp>
        <p:sp>
          <p:nvSpPr>
            <p:cNvPr id="819" name="TextBox 819"/>
            <p:cNvSpPr txBox="1"/>
            <p:nvPr/>
          </p:nvSpPr>
          <p:spPr>
            <a:xfrm>
              <a:off x="756285" y="6107906"/>
              <a:ext cx="6907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逐层生成：第 1 层 4 个、第 2 层 10 个，第 3 层生成到第 8 个时出现目标，一共生成 23 个结点。</a:t>
              </a:r>
            </a:p>
          </p:txBody>
        </p:sp>
      </p:grpSp>
      <p:grpSp>
        <p:nvGrpSpPr>
          <p:cNvPr id="8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1" name="TextBox 82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822" name="TextBox 8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16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6124" y="407194"/>
              <a:ext cx="1946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15-谜问题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深度优先检索：沿最左路径一直下探，离目标越来越远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7" name="dfs-path"/>
          <p:cNvGrpSpPr/>
          <p:nvPr/>
        </p:nvGrpSpPr>
        <p:grpSpPr>
          <a:xfrm>
            <a:off x="703897" y="1685449"/>
            <a:ext cx="10697067" cy="2125980"/>
            <a:chOff x="703897" y="1685449"/>
            <a:chExt cx="10697067" cy="2125980"/>
          </a:xfrm>
        </p:grpSpPr>
        <p:sp>
          <p:nvSpPr>
            <p:cNvPr id="7" name="Rectangle 7"/>
            <p:cNvSpPr/>
            <p:nvPr/>
          </p:nvSpPr>
          <p:spPr>
            <a:xfrm>
              <a:off x="1231582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6951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412558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67926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593532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48901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74508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29876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231582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86951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412558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67926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593532" y="204787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74508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829876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231582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86951" y="2268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412558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37569" y="2268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593532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47383" y="22683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774508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96483" y="2268379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231582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56594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412558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37569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593532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618544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774508" y="24098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796483" y="24493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231582" y="1866900"/>
              <a:ext cx="723900" cy="723900"/>
            </a:xfrm>
            <a:prstGeom prst="rect">
              <a:avLst/>
            </a:prstGeom>
            <a:noFill/>
            <a:ln w="2286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5830" y="1685449"/>
              <a:ext cx="995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1（3 张不在位）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086100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41468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267075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322443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448050" y="186690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629025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84393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086100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41468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267075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322443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448050" y="20478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501900" y="20874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629025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684393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086100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141468" y="2268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267075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292086" y="2268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48050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501900" y="22683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629025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651001" y="2268379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086100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111111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267075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292086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448050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473061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629025" y="24098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651001" y="24493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086100" y="186690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405003" y="16854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940618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995986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121592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176961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302568" y="18669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356418" y="19064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483542" y="186690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4940618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995986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121592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176961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02568" y="20478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356418" y="20874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483542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538911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4940618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995986" y="2268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121592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146604" y="2268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302568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356418" y="22683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483542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505518" y="2268379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940618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965629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5121592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146604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5302568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327579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483542" y="24098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5505518" y="24493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4940618" y="186690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259520" y="16854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6794182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849551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975158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030526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7156132" y="18669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7209983" y="19064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7337108" y="18669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390958" y="19064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794182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849551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6975158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7030526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7156132" y="20478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7209983" y="20874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7337108" y="204787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6794182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6849551" y="2268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6975158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7000169" y="2268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7156132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7209983" y="22683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7337108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7359083" y="2268379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6794182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819194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6975158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7000169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7156132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7181144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7337108" y="24098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7359083" y="24493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6794182" y="186690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7113085" y="16854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8648700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8704068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8829675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8885043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9010650" y="18669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9064500" y="19064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9191625" y="18669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9245475" y="19064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8648700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8704068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8829675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8885043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9010650" y="20478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9064500" y="20874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9191625" y="20478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9213601" y="208740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8648700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8704068" y="2268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8829675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8854686" y="2268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9010650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9064500" y="22683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9191625" y="22288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62" name="Rectangle 162"/>
            <p:cNvSpPr/>
            <p:nvPr/>
          </p:nvSpPr>
          <p:spPr>
            <a:xfrm>
              <a:off x="8648700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8673711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8829675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8854686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66" name="Rectangle 166"/>
            <p:cNvSpPr/>
            <p:nvPr/>
          </p:nvSpPr>
          <p:spPr>
            <a:xfrm>
              <a:off x="9010650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9035661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9191625" y="24098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9213601" y="24493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70" name="Rectangle 170"/>
            <p:cNvSpPr/>
            <p:nvPr/>
          </p:nvSpPr>
          <p:spPr>
            <a:xfrm>
              <a:off x="8648700" y="186690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171" name="TextBox 171"/>
            <p:cNvSpPr txBox="1"/>
            <p:nvPr/>
          </p:nvSpPr>
          <p:spPr>
            <a:xfrm>
              <a:off x="8967603" y="16854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2" name="Rectangle 172"/>
            <p:cNvSpPr/>
            <p:nvPr/>
          </p:nvSpPr>
          <p:spPr>
            <a:xfrm>
              <a:off x="10503218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3" name="TextBox 173"/>
            <p:cNvSpPr txBox="1"/>
            <p:nvPr/>
          </p:nvSpPr>
          <p:spPr>
            <a:xfrm>
              <a:off x="10558586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4" name="Rectangle 174"/>
            <p:cNvSpPr/>
            <p:nvPr/>
          </p:nvSpPr>
          <p:spPr>
            <a:xfrm>
              <a:off x="10684192" y="18669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5" name="TextBox 175"/>
            <p:cNvSpPr txBox="1"/>
            <p:nvPr/>
          </p:nvSpPr>
          <p:spPr>
            <a:xfrm>
              <a:off x="10739561" y="19064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6" name="Rectangle 176"/>
            <p:cNvSpPr/>
            <p:nvPr/>
          </p:nvSpPr>
          <p:spPr>
            <a:xfrm>
              <a:off x="10865168" y="18669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77" name="TextBox 177"/>
            <p:cNvSpPr txBox="1"/>
            <p:nvPr/>
          </p:nvSpPr>
          <p:spPr>
            <a:xfrm>
              <a:off x="10919018" y="19064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8" name="Rectangle 178"/>
            <p:cNvSpPr/>
            <p:nvPr/>
          </p:nvSpPr>
          <p:spPr>
            <a:xfrm>
              <a:off x="11046142" y="18669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1099993" y="19064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0" name="Rectangle 180"/>
            <p:cNvSpPr/>
            <p:nvPr/>
          </p:nvSpPr>
          <p:spPr>
            <a:xfrm>
              <a:off x="10503218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1" name="TextBox 181"/>
            <p:cNvSpPr txBox="1"/>
            <p:nvPr/>
          </p:nvSpPr>
          <p:spPr>
            <a:xfrm>
              <a:off x="10558586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2" name="Rectangle 182"/>
            <p:cNvSpPr/>
            <p:nvPr/>
          </p:nvSpPr>
          <p:spPr>
            <a:xfrm>
              <a:off x="10684192" y="20478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10739561" y="20874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4" name="Rectangle 184"/>
            <p:cNvSpPr/>
            <p:nvPr/>
          </p:nvSpPr>
          <p:spPr>
            <a:xfrm>
              <a:off x="10865168" y="20478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85" name="TextBox 185"/>
            <p:cNvSpPr txBox="1"/>
            <p:nvPr/>
          </p:nvSpPr>
          <p:spPr>
            <a:xfrm>
              <a:off x="10919018" y="20874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6" name="Rectangle 186"/>
            <p:cNvSpPr/>
            <p:nvPr/>
          </p:nvSpPr>
          <p:spPr>
            <a:xfrm>
              <a:off x="11046142" y="20478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87" name="TextBox 187"/>
            <p:cNvSpPr txBox="1"/>
            <p:nvPr/>
          </p:nvSpPr>
          <p:spPr>
            <a:xfrm>
              <a:off x="11068118" y="208740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88" name="Rectangle 188"/>
            <p:cNvSpPr/>
            <p:nvPr/>
          </p:nvSpPr>
          <p:spPr>
            <a:xfrm>
              <a:off x="10503218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9" name="TextBox 189"/>
            <p:cNvSpPr txBox="1"/>
            <p:nvPr/>
          </p:nvSpPr>
          <p:spPr>
            <a:xfrm>
              <a:off x="10558586" y="22683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0" name="Rectangle 190"/>
            <p:cNvSpPr/>
            <p:nvPr/>
          </p:nvSpPr>
          <p:spPr>
            <a:xfrm>
              <a:off x="10684192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1" name="TextBox 191"/>
            <p:cNvSpPr txBox="1"/>
            <p:nvPr/>
          </p:nvSpPr>
          <p:spPr>
            <a:xfrm>
              <a:off x="10709204" y="2268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2" name="Rectangle 192"/>
            <p:cNvSpPr/>
            <p:nvPr/>
          </p:nvSpPr>
          <p:spPr>
            <a:xfrm>
              <a:off x="10865168" y="22288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93" name="TextBox 193"/>
            <p:cNvSpPr txBox="1"/>
            <p:nvPr/>
          </p:nvSpPr>
          <p:spPr>
            <a:xfrm>
              <a:off x="10919018" y="22683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94" name="Rectangle 194"/>
            <p:cNvSpPr/>
            <p:nvPr/>
          </p:nvSpPr>
          <p:spPr>
            <a:xfrm>
              <a:off x="11046142" y="22288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5" name="TextBox 195"/>
            <p:cNvSpPr txBox="1"/>
            <p:nvPr/>
          </p:nvSpPr>
          <p:spPr>
            <a:xfrm>
              <a:off x="11071154" y="22683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96" name="Rectangle 196"/>
            <p:cNvSpPr/>
            <p:nvPr/>
          </p:nvSpPr>
          <p:spPr>
            <a:xfrm>
              <a:off x="10503218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7" name="TextBox 197"/>
            <p:cNvSpPr txBox="1"/>
            <p:nvPr/>
          </p:nvSpPr>
          <p:spPr>
            <a:xfrm>
              <a:off x="10528229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98" name="Rectangle 198"/>
            <p:cNvSpPr/>
            <p:nvPr/>
          </p:nvSpPr>
          <p:spPr>
            <a:xfrm>
              <a:off x="10684192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9" name="TextBox 199"/>
            <p:cNvSpPr txBox="1"/>
            <p:nvPr/>
          </p:nvSpPr>
          <p:spPr>
            <a:xfrm>
              <a:off x="10709204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00" name="Rectangle 200"/>
            <p:cNvSpPr/>
            <p:nvPr/>
          </p:nvSpPr>
          <p:spPr>
            <a:xfrm>
              <a:off x="10865168" y="24098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1" name="TextBox 201"/>
            <p:cNvSpPr txBox="1"/>
            <p:nvPr/>
          </p:nvSpPr>
          <p:spPr>
            <a:xfrm>
              <a:off x="10890179" y="244935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02" name="Rectangle 202"/>
            <p:cNvSpPr/>
            <p:nvPr/>
          </p:nvSpPr>
          <p:spPr>
            <a:xfrm>
              <a:off x="11046142" y="240982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03" name="Rectangle 203"/>
            <p:cNvSpPr/>
            <p:nvPr/>
          </p:nvSpPr>
          <p:spPr>
            <a:xfrm>
              <a:off x="10503218" y="186690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204" name="TextBox 204"/>
            <p:cNvSpPr txBox="1"/>
            <p:nvPr/>
          </p:nvSpPr>
          <p:spPr>
            <a:xfrm>
              <a:off x="10822120" y="16854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5" name="Rectangle 205"/>
            <p:cNvSpPr/>
            <p:nvPr/>
          </p:nvSpPr>
          <p:spPr>
            <a:xfrm>
              <a:off x="1231582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1286951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7" name="Rectangle 207"/>
            <p:cNvSpPr/>
            <p:nvPr/>
          </p:nvSpPr>
          <p:spPr>
            <a:xfrm>
              <a:off x="1412558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8" name="TextBox 208"/>
            <p:cNvSpPr txBox="1"/>
            <p:nvPr/>
          </p:nvSpPr>
          <p:spPr>
            <a:xfrm>
              <a:off x="1467926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9" name="Rectangle 209"/>
            <p:cNvSpPr/>
            <p:nvPr/>
          </p:nvSpPr>
          <p:spPr>
            <a:xfrm>
              <a:off x="1593532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1647383" y="3106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1" name="Rectangle 211"/>
            <p:cNvSpPr/>
            <p:nvPr/>
          </p:nvSpPr>
          <p:spPr>
            <a:xfrm>
              <a:off x="1774508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12" name="TextBox 212"/>
            <p:cNvSpPr txBox="1"/>
            <p:nvPr/>
          </p:nvSpPr>
          <p:spPr>
            <a:xfrm>
              <a:off x="1828358" y="3106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13" name="Rectangle 213"/>
            <p:cNvSpPr/>
            <p:nvPr/>
          </p:nvSpPr>
          <p:spPr>
            <a:xfrm>
              <a:off x="1231582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1286951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5" name="Rectangle 215"/>
            <p:cNvSpPr/>
            <p:nvPr/>
          </p:nvSpPr>
          <p:spPr>
            <a:xfrm>
              <a:off x="1412558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6" name="TextBox 216"/>
            <p:cNvSpPr txBox="1"/>
            <p:nvPr/>
          </p:nvSpPr>
          <p:spPr>
            <a:xfrm>
              <a:off x="1467926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7" name="Rectangle 217"/>
            <p:cNvSpPr/>
            <p:nvPr/>
          </p:nvSpPr>
          <p:spPr>
            <a:xfrm>
              <a:off x="1593532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1647383" y="328755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9" name="Rectangle 219"/>
            <p:cNvSpPr/>
            <p:nvPr/>
          </p:nvSpPr>
          <p:spPr>
            <a:xfrm>
              <a:off x="1774508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20" name="TextBox 220"/>
            <p:cNvSpPr txBox="1"/>
            <p:nvPr/>
          </p:nvSpPr>
          <p:spPr>
            <a:xfrm>
              <a:off x="1796483" y="32875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21" name="Rectangle 221"/>
            <p:cNvSpPr/>
            <p:nvPr/>
          </p:nvSpPr>
          <p:spPr>
            <a:xfrm>
              <a:off x="1231582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1286951" y="34685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23" name="Rectangle 223"/>
            <p:cNvSpPr/>
            <p:nvPr/>
          </p:nvSpPr>
          <p:spPr>
            <a:xfrm>
              <a:off x="1412558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4" name="TextBox 224"/>
            <p:cNvSpPr txBox="1"/>
            <p:nvPr/>
          </p:nvSpPr>
          <p:spPr>
            <a:xfrm>
              <a:off x="1437569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25" name="Rectangle 225"/>
            <p:cNvSpPr/>
            <p:nvPr/>
          </p:nvSpPr>
          <p:spPr>
            <a:xfrm>
              <a:off x="1593532" y="34290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26" name="TextBox 226"/>
            <p:cNvSpPr txBox="1"/>
            <p:nvPr/>
          </p:nvSpPr>
          <p:spPr>
            <a:xfrm>
              <a:off x="1647383" y="34685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7" name="Rectangle 227"/>
            <p:cNvSpPr/>
            <p:nvPr/>
          </p:nvSpPr>
          <p:spPr>
            <a:xfrm>
              <a:off x="1774508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8" name="TextBox 228"/>
            <p:cNvSpPr txBox="1"/>
            <p:nvPr/>
          </p:nvSpPr>
          <p:spPr>
            <a:xfrm>
              <a:off x="1799519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9" name="Rectangle 229"/>
            <p:cNvSpPr/>
            <p:nvPr/>
          </p:nvSpPr>
          <p:spPr>
            <a:xfrm>
              <a:off x="1231582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0" name="TextBox 230"/>
            <p:cNvSpPr txBox="1"/>
            <p:nvPr/>
          </p:nvSpPr>
          <p:spPr>
            <a:xfrm>
              <a:off x="1256594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31" name="Rectangle 231"/>
            <p:cNvSpPr/>
            <p:nvPr/>
          </p:nvSpPr>
          <p:spPr>
            <a:xfrm>
              <a:off x="1412558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2" name="TextBox 232"/>
            <p:cNvSpPr txBox="1"/>
            <p:nvPr/>
          </p:nvSpPr>
          <p:spPr>
            <a:xfrm>
              <a:off x="1437569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33" name="Rectangle 233"/>
            <p:cNvSpPr/>
            <p:nvPr/>
          </p:nvSpPr>
          <p:spPr>
            <a:xfrm>
              <a:off x="1593532" y="360997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34" name="Rectangle 234"/>
            <p:cNvSpPr/>
            <p:nvPr/>
          </p:nvSpPr>
          <p:spPr>
            <a:xfrm>
              <a:off x="1774508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35" name="TextBox 235"/>
            <p:cNvSpPr txBox="1"/>
            <p:nvPr/>
          </p:nvSpPr>
          <p:spPr>
            <a:xfrm>
              <a:off x="1796483" y="364950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36" name="Rectangle 236"/>
            <p:cNvSpPr/>
            <p:nvPr/>
          </p:nvSpPr>
          <p:spPr>
            <a:xfrm>
              <a:off x="1231582" y="306705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237" name="TextBox 237"/>
            <p:cNvSpPr txBox="1"/>
            <p:nvPr/>
          </p:nvSpPr>
          <p:spPr>
            <a:xfrm>
              <a:off x="1550485" y="28855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38" name="Rectangle 238"/>
            <p:cNvSpPr/>
            <p:nvPr/>
          </p:nvSpPr>
          <p:spPr>
            <a:xfrm>
              <a:off x="3086100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9" name="TextBox 239"/>
            <p:cNvSpPr txBox="1"/>
            <p:nvPr/>
          </p:nvSpPr>
          <p:spPr>
            <a:xfrm>
              <a:off x="3141468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0" name="Rectangle 240"/>
            <p:cNvSpPr/>
            <p:nvPr/>
          </p:nvSpPr>
          <p:spPr>
            <a:xfrm>
              <a:off x="3267075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1" name="TextBox 241"/>
            <p:cNvSpPr txBox="1"/>
            <p:nvPr/>
          </p:nvSpPr>
          <p:spPr>
            <a:xfrm>
              <a:off x="3322443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2" name="Rectangle 242"/>
            <p:cNvSpPr/>
            <p:nvPr/>
          </p:nvSpPr>
          <p:spPr>
            <a:xfrm>
              <a:off x="3448050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43" name="TextBox 243"/>
            <p:cNvSpPr txBox="1"/>
            <p:nvPr/>
          </p:nvSpPr>
          <p:spPr>
            <a:xfrm>
              <a:off x="3501900" y="3106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4" name="Rectangle 244"/>
            <p:cNvSpPr/>
            <p:nvPr/>
          </p:nvSpPr>
          <p:spPr>
            <a:xfrm>
              <a:off x="3629025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45" name="TextBox 245"/>
            <p:cNvSpPr txBox="1"/>
            <p:nvPr/>
          </p:nvSpPr>
          <p:spPr>
            <a:xfrm>
              <a:off x="3682875" y="3106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6" name="Rectangle 246"/>
            <p:cNvSpPr/>
            <p:nvPr/>
          </p:nvSpPr>
          <p:spPr>
            <a:xfrm>
              <a:off x="3086100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7" name="TextBox 247"/>
            <p:cNvSpPr txBox="1"/>
            <p:nvPr/>
          </p:nvSpPr>
          <p:spPr>
            <a:xfrm>
              <a:off x="3141468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8" name="Rectangle 248"/>
            <p:cNvSpPr/>
            <p:nvPr/>
          </p:nvSpPr>
          <p:spPr>
            <a:xfrm>
              <a:off x="3267075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9" name="TextBox 249"/>
            <p:cNvSpPr txBox="1"/>
            <p:nvPr/>
          </p:nvSpPr>
          <p:spPr>
            <a:xfrm>
              <a:off x="3322443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50" name="Rectangle 250"/>
            <p:cNvSpPr/>
            <p:nvPr/>
          </p:nvSpPr>
          <p:spPr>
            <a:xfrm>
              <a:off x="3448050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51" name="TextBox 251"/>
            <p:cNvSpPr txBox="1"/>
            <p:nvPr/>
          </p:nvSpPr>
          <p:spPr>
            <a:xfrm>
              <a:off x="3501900" y="328755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2" name="Rectangle 252"/>
            <p:cNvSpPr/>
            <p:nvPr/>
          </p:nvSpPr>
          <p:spPr>
            <a:xfrm>
              <a:off x="3629025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53" name="TextBox 253"/>
            <p:cNvSpPr txBox="1"/>
            <p:nvPr/>
          </p:nvSpPr>
          <p:spPr>
            <a:xfrm>
              <a:off x="3651001" y="32875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54" name="Rectangle 254"/>
            <p:cNvSpPr/>
            <p:nvPr/>
          </p:nvSpPr>
          <p:spPr>
            <a:xfrm>
              <a:off x="3086100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5" name="TextBox 255"/>
            <p:cNvSpPr txBox="1"/>
            <p:nvPr/>
          </p:nvSpPr>
          <p:spPr>
            <a:xfrm>
              <a:off x="3141468" y="34685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56" name="Rectangle 256"/>
            <p:cNvSpPr/>
            <p:nvPr/>
          </p:nvSpPr>
          <p:spPr>
            <a:xfrm>
              <a:off x="3267075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7" name="TextBox 257"/>
            <p:cNvSpPr txBox="1"/>
            <p:nvPr/>
          </p:nvSpPr>
          <p:spPr>
            <a:xfrm>
              <a:off x="3292086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8" name="Rectangle 258"/>
            <p:cNvSpPr/>
            <p:nvPr/>
          </p:nvSpPr>
          <p:spPr>
            <a:xfrm>
              <a:off x="3448050" y="342900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59" name="Rectangle 259"/>
            <p:cNvSpPr/>
            <p:nvPr/>
          </p:nvSpPr>
          <p:spPr>
            <a:xfrm>
              <a:off x="3629025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0" name="TextBox 260"/>
            <p:cNvSpPr txBox="1"/>
            <p:nvPr/>
          </p:nvSpPr>
          <p:spPr>
            <a:xfrm>
              <a:off x="3654036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61" name="Rectangle 261"/>
            <p:cNvSpPr/>
            <p:nvPr/>
          </p:nvSpPr>
          <p:spPr>
            <a:xfrm>
              <a:off x="3086100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2" name="TextBox 262"/>
            <p:cNvSpPr txBox="1"/>
            <p:nvPr/>
          </p:nvSpPr>
          <p:spPr>
            <a:xfrm>
              <a:off x="3111111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63" name="Rectangle 263"/>
            <p:cNvSpPr/>
            <p:nvPr/>
          </p:nvSpPr>
          <p:spPr>
            <a:xfrm>
              <a:off x="3267075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4" name="TextBox 264"/>
            <p:cNvSpPr txBox="1"/>
            <p:nvPr/>
          </p:nvSpPr>
          <p:spPr>
            <a:xfrm>
              <a:off x="3292086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65" name="Rectangle 265"/>
            <p:cNvSpPr/>
            <p:nvPr/>
          </p:nvSpPr>
          <p:spPr>
            <a:xfrm>
              <a:off x="3448050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66" name="TextBox 266"/>
            <p:cNvSpPr txBox="1"/>
            <p:nvPr/>
          </p:nvSpPr>
          <p:spPr>
            <a:xfrm>
              <a:off x="3501900" y="36495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7" name="Rectangle 267"/>
            <p:cNvSpPr/>
            <p:nvPr/>
          </p:nvSpPr>
          <p:spPr>
            <a:xfrm>
              <a:off x="3629025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68" name="TextBox 268"/>
            <p:cNvSpPr txBox="1"/>
            <p:nvPr/>
          </p:nvSpPr>
          <p:spPr>
            <a:xfrm>
              <a:off x="3651001" y="364950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69" name="Rectangle 269"/>
            <p:cNvSpPr/>
            <p:nvPr/>
          </p:nvSpPr>
          <p:spPr>
            <a:xfrm>
              <a:off x="3086100" y="306705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270" name="TextBox 270"/>
            <p:cNvSpPr txBox="1"/>
            <p:nvPr/>
          </p:nvSpPr>
          <p:spPr>
            <a:xfrm>
              <a:off x="3405003" y="28855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71" name="Rectangle 271"/>
            <p:cNvSpPr/>
            <p:nvPr/>
          </p:nvSpPr>
          <p:spPr>
            <a:xfrm>
              <a:off x="4940618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2" name="TextBox 272"/>
            <p:cNvSpPr txBox="1"/>
            <p:nvPr/>
          </p:nvSpPr>
          <p:spPr>
            <a:xfrm>
              <a:off x="4995986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3" name="Rectangle 273"/>
            <p:cNvSpPr/>
            <p:nvPr/>
          </p:nvSpPr>
          <p:spPr>
            <a:xfrm>
              <a:off x="5121592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4" name="TextBox 274"/>
            <p:cNvSpPr txBox="1"/>
            <p:nvPr/>
          </p:nvSpPr>
          <p:spPr>
            <a:xfrm>
              <a:off x="5176961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5" name="Rectangle 275"/>
            <p:cNvSpPr/>
            <p:nvPr/>
          </p:nvSpPr>
          <p:spPr>
            <a:xfrm>
              <a:off x="5302568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76" name="TextBox 276"/>
            <p:cNvSpPr txBox="1"/>
            <p:nvPr/>
          </p:nvSpPr>
          <p:spPr>
            <a:xfrm>
              <a:off x="5356418" y="3106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7" name="Rectangle 277"/>
            <p:cNvSpPr/>
            <p:nvPr/>
          </p:nvSpPr>
          <p:spPr>
            <a:xfrm>
              <a:off x="5483542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78" name="TextBox 278"/>
            <p:cNvSpPr txBox="1"/>
            <p:nvPr/>
          </p:nvSpPr>
          <p:spPr>
            <a:xfrm>
              <a:off x="5537393" y="3106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79" name="Rectangle 279"/>
            <p:cNvSpPr/>
            <p:nvPr/>
          </p:nvSpPr>
          <p:spPr>
            <a:xfrm>
              <a:off x="4940618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0" name="TextBox 280"/>
            <p:cNvSpPr txBox="1"/>
            <p:nvPr/>
          </p:nvSpPr>
          <p:spPr>
            <a:xfrm>
              <a:off x="4995986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1" name="Rectangle 281"/>
            <p:cNvSpPr/>
            <p:nvPr/>
          </p:nvSpPr>
          <p:spPr>
            <a:xfrm>
              <a:off x="5121592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2" name="TextBox 282"/>
            <p:cNvSpPr txBox="1"/>
            <p:nvPr/>
          </p:nvSpPr>
          <p:spPr>
            <a:xfrm>
              <a:off x="5176961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3" name="Rectangle 283"/>
            <p:cNvSpPr/>
            <p:nvPr/>
          </p:nvSpPr>
          <p:spPr>
            <a:xfrm>
              <a:off x="5302568" y="324802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84" name="Rectangle 284"/>
            <p:cNvSpPr/>
            <p:nvPr/>
          </p:nvSpPr>
          <p:spPr>
            <a:xfrm>
              <a:off x="5483542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85" name="TextBox 285"/>
            <p:cNvSpPr txBox="1"/>
            <p:nvPr/>
          </p:nvSpPr>
          <p:spPr>
            <a:xfrm>
              <a:off x="5505518" y="32875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86" name="Rectangle 286"/>
            <p:cNvSpPr/>
            <p:nvPr/>
          </p:nvSpPr>
          <p:spPr>
            <a:xfrm>
              <a:off x="4940618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7" name="TextBox 287"/>
            <p:cNvSpPr txBox="1"/>
            <p:nvPr/>
          </p:nvSpPr>
          <p:spPr>
            <a:xfrm>
              <a:off x="4995986" y="34685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88" name="Rectangle 288"/>
            <p:cNvSpPr/>
            <p:nvPr/>
          </p:nvSpPr>
          <p:spPr>
            <a:xfrm>
              <a:off x="5121592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9" name="TextBox 289"/>
            <p:cNvSpPr txBox="1"/>
            <p:nvPr/>
          </p:nvSpPr>
          <p:spPr>
            <a:xfrm>
              <a:off x="5146604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90" name="Rectangle 290"/>
            <p:cNvSpPr/>
            <p:nvPr/>
          </p:nvSpPr>
          <p:spPr>
            <a:xfrm>
              <a:off x="5302568" y="34290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91" name="TextBox 291"/>
            <p:cNvSpPr txBox="1"/>
            <p:nvPr/>
          </p:nvSpPr>
          <p:spPr>
            <a:xfrm>
              <a:off x="5356418" y="34685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2" name="Rectangle 292"/>
            <p:cNvSpPr/>
            <p:nvPr/>
          </p:nvSpPr>
          <p:spPr>
            <a:xfrm>
              <a:off x="5483542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3" name="TextBox 293"/>
            <p:cNvSpPr txBox="1"/>
            <p:nvPr/>
          </p:nvSpPr>
          <p:spPr>
            <a:xfrm>
              <a:off x="5508554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94" name="Rectangle 294"/>
            <p:cNvSpPr/>
            <p:nvPr/>
          </p:nvSpPr>
          <p:spPr>
            <a:xfrm>
              <a:off x="4940618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5" name="TextBox 295"/>
            <p:cNvSpPr txBox="1"/>
            <p:nvPr/>
          </p:nvSpPr>
          <p:spPr>
            <a:xfrm>
              <a:off x="4965629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96" name="Rectangle 296"/>
            <p:cNvSpPr/>
            <p:nvPr/>
          </p:nvSpPr>
          <p:spPr>
            <a:xfrm>
              <a:off x="5121592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7" name="TextBox 297"/>
            <p:cNvSpPr txBox="1"/>
            <p:nvPr/>
          </p:nvSpPr>
          <p:spPr>
            <a:xfrm>
              <a:off x="5146604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98" name="Rectangle 298"/>
            <p:cNvSpPr/>
            <p:nvPr/>
          </p:nvSpPr>
          <p:spPr>
            <a:xfrm>
              <a:off x="5302568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99" name="TextBox 299"/>
            <p:cNvSpPr txBox="1"/>
            <p:nvPr/>
          </p:nvSpPr>
          <p:spPr>
            <a:xfrm>
              <a:off x="5356418" y="36495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0" name="Rectangle 300"/>
            <p:cNvSpPr/>
            <p:nvPr/>
          </p:nvSpPr>
          <p:spPr>
            <a:xfrm>
              <a:off x="5483542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01" name="TextBox 301"/>
            <p:cNvSpPr txBox="1"/>
            <p:nvPr/>
          </p:nvSpPr>
          <p:spPr>
            <a:xfrm>
              <a:off x="5505518" y="364950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02" name="Rectangle 302"/>
            <p:cNvSpPr/>
            <p:nvPr/>
          </p:nvSpPr>
          <p:spPr>
            <a:xfrm>
              <a:off x="4940618" y="306705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303" name="TextBox 303"/>
            <p:cNvSpPr txBox="1"/>
            <p:nvPr/>
          </p:nvSpPr>
          <p:spPr>
            <a:xfrm>
              <a:off x="5259520" y="28855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04" name="Rectangle 304"/>
            <p:cNvSpPr/>
            <p:nvPr/>
          </p:nvSpPr>
          <p:spPr>
            <a:xfrm>
              <a:off x="6794182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5" name="TextBox 305"/>
            <p:cNvSpPr txBox="1"/>
            <p:nvPr/>
          </p:nvSpPr>
          <p:spPr>
            <a:xfrm>
              <a:off x="6849551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6" name="Rectangle 306"/>
            <p:cNvSpPr/>
            <p:nvPr/>
          </p:nvSpPr>
          <p:spPr>
            <a:xfrm>
              <a:off x="6975158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7" name="TextBox 307"/>
            <p:cNvSpPr txBox="1"/>
            <p:nvPr/>
          </p:nvSpPr>
          <p:spPr>
            <a:xfrm>
              <a:off x="7030526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8" name="Rectangle 308"/>
            <p:cNvSpPr/>
            <p:nvPr/>
          </p:nvSpPr>
          <p:spPr>
            <a:xfrm>
              <a:off x="7156132" y="30670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09" name="Rectangle 309"/>
            <p:cNvSpPr/>
            <p:nvPr/>
          </p:nvSpPr>
          <p:spPr>
            <a:xfrm>
              <a:off x="7337108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10" name="TextBox 310"/>
            <p:cNvSpPr txBox="1"/>
            <p:nvPr/>
          </p:nvSpPr>
          <p:spPr>
            <a:xfrm>
              <a:off x="7390958" y="3106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1" name="Rectangle 311"/>
            <p:cNvSpPr/>
            <p:nvPr/>
          </p:nvSpPr>
          <p:spPr>
            <a:xfrm>
              <a:off x="6794182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2" name="TextBox 312"/>
            <p:cNvSpPr txBox="1"/>
            <p:nvPr/>
          </p:nvSpPr>
          <p:spPr>
            <a:xfrm>
              <a:off x="6849551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3" name="Rectangle 313"/>
            <p:cNvSpPr/>
            <p:nvPr/>
          </p:nvSpPr>
          <p:spPr>
            <a:xfrm>
              <a:off x="6975158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4" name="TextBox 314"/>
            <p:cNvSpPr txBox="1"/>
            <p:nvPr/>
          </p:nvSpPr>
          <p:spPr>
            <a:xfrm>
              <a:off x="7030526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5" name="Rectangle 315"/>
            <p:cNvSpPr/>
            <p:nvPr/>
          </p:nvSpPr>
          <p:spPr>
            <a:xfrm>
              <a:off x="7156132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16" name="TextBox 316"/>
            <p:cNvSpPr txBox="1"/>
            <p:nvPr/>
          </p:nvSpPr>
          <p:spPr>
            <a:xfrm>
              <a:off x="7209983" y="328755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7" name="Rectangle 317"/>
            <p:cNvSpPr/>
            <p:nvPr/>
          </p:nvSpPr>
          <p:spPr>
            <a:xfrm>
              <a:off x="7337108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18" name="TextBox 318"/>
            <p:cNvSpPr txBox="1"/>
            <p:nvPr/>
          </p:nvSpPr>
          <p:spPr>
            <a:xfrm>
              <a:off x="7359083" y="32875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19" name="Rectangle 319"/>
            <p:cNvSpPr/>
            <p:nvPr/>
          </p:nvSpPr>
          <p:spPr>
            <a:xfrm>
              <a:off x="6794182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0" name="TextBox 320"/>
            <p:cNvSpPr txBox="1"/>
            <p:nvPr/>
          </p:nvSpPr>
          <p:spPr>
            <a:xfrm>
              <a:off x="6849551" y="34685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21" name="Rectangle 321"/>
            <p:cNvSpPr/>
            <p:nvPr/>
          </p:nvSpPr>
          <p:spPr>
            <a:xfrm>
              <a:off x="6975158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2" name="TextBox 322"/>
            <p:cNvSpPr txBox="1"/>
            <p:nvPr/>
          </p:nvSpPr>
          <p:spPr>
            <a:xfrm>
              <a:off x="7000169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3" name="Rectangle 323"/>
            <p:cNvSpPr/>
            <p:nvPr/>
          </p:nvSpPr>
          <p:spPr>
            <a:xfrm>
              <a:off x="7156132" y="34290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24" name="TextBox 324"/>
            <p:cNvSpPr txBox="1"/>
            <p:nvPr/>
          </p:nvSpPr>
          <p:spPr>
            <a:xfrm>
              <a:off x="7209983" y="34685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5" name="Rectangle 325"/>
            <p:cNvSpPr/>
            <p:nvPr/>
          </p:nvSpPr>
          <p:spPr>
            <a:xfrm>
              <a:off x="7337108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6" name="TextBox 326"/>
            <p:cNvSpPr txBox="1"/>
            <p:nvPr/>
          </p:nvSpPr>
          <p:spPr>
            <a:xfrm>
              <a:off x="7362119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7" name="Rectangle 327"/>
            <p:cNvSpPr/>
            <p:nvPr/>
          </p:nvSpPr>
          <p:spPr>
            <a:xfrm>
              <a:off x="6794182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8" name="TextBox 328"/>
            <p:cNvSpPr txBox="1"/>
            <p:nvPr/>
          </p:nvSpPr>
          <p:spPr>
            <a:xfrm>
              <a:off x="6819194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29" name="Rectangle 329"/>
            <p:cNvSpPr/>
            <p:nvPr/>
          </p:nvSpPr>
          <p:spPr>
            <a:xfrm>
              <a:off x="6975158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0" name="TextBox 330"/>
            <p:cNvSpPr txBox="1"/>
            <p:nvPr/>
          </p:nvSpPr>
          <p:spPr>
            <a:xfrm>
              <a:off x="7000169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31" name="Rectangle 331"/>
            <p:cNvSpPr/>
            <p:nvPr/>
          </p:nvSpPr>
          <p:spPr>
            <a:xfrm>
              <a:off x="7156132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32" name="TextBox 332"/>
            <p:cNvSpPr txBox="1"/>
            <p:nvPr/>
          </p:nvSpPr>
          <p:spPr>
            <a:xfrm>
              <a:off x="7209983" y="36495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3" name="Rectangle 333"/>
            <p:cNvSpPr/>
            <p:nvPr/>
          </p:nvSpPr>
          <p:spPr>
            <a:xfrm>
              <a:off x="7337108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34" name="TextBox 334"/>
            <p:cNvSpPr txBox="1"/>
            <p:nvPr/>
          </p:nvSpPr>
          <p:spPr>
            <a:xfrm>
              <a:off x="7359083" y="364950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5" name="Rectangle 335"/>
            <p:cNvSpPr/>
            <p:nvPr/>
          </p:nvSpPr>
          <p:spPr>
            <a:xfrm>
              <a:off x="6794182" y="306705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336" name="TextBox 336"/>
            <p:cNvSpPr txBox="1"/>
            <p:nvPr/>
          </p:nvSpPr>
          <p:spPr>
            <a:xfrm>
              <a:off x="7074991" y="28855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37" name="Rectangle 337"/>
            <p:cNvSpPr/>
            <p:nvPr/>
          </p:nvSpPr>
          <p:spPr>
            <a:xfrm>
              <a:off x="8648700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8" name="TextBox 338"/>
            <p:cNvSpPr txBox="1"/>
            <p:nvPr/>
          </p:nvSpPr>
          <p:spPr>
            <a:xfrm>
              <a:off x="8704068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9" name="Rectangle 339"/>
            <p:cNvSpPr/>
            <p:nvPr/>
          </p:nvSpPr>
          <p:spPr>
            <a:xfrm>
              <a:off x="8829675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0" name="TextBox 340"/>
            <p:cNvSpPr txBox="1"/>
            <p:nvPr/>
          </p:nvSpPr>
          <p:spPr>
            <a:xfrm>
              <a:off x="8885043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1" name="Rectangle 341"/>
            <p:cNvSpPr/>
            <p:nvPr/>
          </p:nvSpPr>
          <p:spPr>
            <a:xfrm>
              <a:off x="9010650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42" name="TextBox 342"/>
            <p:cNvSpPr txBox="1"/>
            <p:nvPr/>
          </p:nvSpPr>
          <p:spPr>
            <a:xfrm>
              <a:off x="9064500" y="3106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3" name="Rectangle 343"/>
            <p:cNvSpPr/>
            <p:nvPr/>
          </p:nvSpPr>
          <p:spPr>
            <a:xfrm>
              <a:off x="9191625" y="3067050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44" name="Rectangle 344"/>
            <p:cNvSpPr/>
            <p:nvPr/>
          </p:nvSpPr>
          <p:spPr>
            <a:xfrm>
              <a:off x="8648700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5" name="TextBox 345"/>
            <p:cNvSpPr txBox="1"/>
            <p:nvPr/>
          </p:nvSpPr>
          <p:spPr>
            <a:xfrm>
              <a:off x="8704068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6" name="Rectangle 346"/>
            <p:cNvSpPr/>
            <p:nvPr/>
          </p:nvSpPr>
          <p:spPr>
            <a:xfrm>
              <a:off x="8829675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7" name="TextBox 347"/>
            <p:cNvSpPr txBox="1"/>
            <p:nvPr/>
          </p:nvSpPr>
          <p:spPr>
            <a:xfrm>
              <a:off x="8885043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8" name="Rectangle 348"/>
            <p:cNvSpPr/>
            <p:nvPr/>
          </p:nvSpPr>
          <p:spPr>
            <a:xfrm>
              <a:off x="9010650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49" name="TextBox 349"/>
            <p:cNvSpPr txBox="1"/>
            <p:nvPr/>
          </p:nvSpPr>
          <p:spPr>
            <a:xfrm>
              <a:off x="9064500" y="328755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0" name="Rectangle 350"/>
            <p:cNvSpPr/>
            <p:nvPr/>
          </p:nvSpPr>
          <p:spPr>
            <a:xfrm>
              <a:off x="9191625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51" name="TextBox 351"/>
            <p:cNvSpPr txBox="1"/>
            <p:nvPr/>
          </p:nvSpPr>
          <p:spPr>
            <a:xfrm>
              <a:off x="9213601" y="328755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52" name="Rectangle 352"/>
            <p:cNvSpPr/>
            <p:nvPr/>
          </p:nvSpPr>
          <p:spPr>
            <a:xfrm>
              <a:off x="8648700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3" name="TextBox 353"/>
            <p:cNvSpPr txBox="1"/>
            <p:nvPr/>
          </p:nvSpPr>
          <p:spPr>
            <a:xfrm>
              <a:off x="8704068" y="34685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4" name="Rectangle 354"/>
            <p:cNvSpPr/>
            <p:nvPr/>
          </p:nvSpPr>
          <p:spPr>
            <a:xfrm>
              <a:off x="8829675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5" name="TextBox 355"/>
            <p:cNvSpPr txBox="1"/>
            <p:nvPr/>
          </p:nvSpPr>
          <p:spPr>
            <a:xfrm>
              <a:off x="8854686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6" name="Rectangle 356"/>
            <p:cNvSpPr/>
            <p:nvPr/>
          </p:nvSpPr>
          <p:spPr>
            <a:xfrm>
              <a:off x="9010650" y="34290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57" name="TextBox 357"/>
            <p:cNvSpPr txBox="1"/>
            <p:nvPr/>
          </p:nvSpPr>
          <p:spPr>
            <a:xfrm>
              <a:off x="9064500" y="34685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8" name="Rectangle 358"/>
            <p:cNvSpPr/>
            <p:nvPr/>
          </p:nvSpPr>
          <p:spPr>
            <a:xfrm>
              <a:off x="9191625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9" name="TextBox 359"/>
            <p:cNvSpPr txBox="1"/>
            <p:nvPr/>
          </p:nvSpPr>
          <p:spPr>
            <a:xfrm>
              <a:off x="9216636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60" name="Rectangle 360"/>
            <p:cNvSpPr/>
            <p:nvPr/>
          </p:nvSpPr>
          <p:spPr>
            <a:xfrm>
              <a:off x="8648700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1" name="TextBox 361"/>
            <p:cNvSpPr txBox="1"/>
            <p:nvPr/>
          </p:nvSpPr>
          <p:spPr>
            <a:xfrm>
              <a:off x="8673711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62" name="Rectangle 362"/>
            <p:cNvSpPr/>
            <p:nvPr/>
          </p:nvSpPr>
          <p:spPr>
            <a:xfrm>
              <a:off x="8829675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3" name="TextBox 363"/>
            <p:cNvSpPr txBox="1"/>
            <p:nvPr/>
          </p:nvSpPr>
          <p:spPr>
            <a:xfrm>
              <a:off x="8854686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64" name="Rectangle 364"/>
            <p:cNvSpPr/>
            <p:nvPr/>
          </p:nvSpPr>
          <p:spPr>
            <a:xfrm>
              <a:off x="9010650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65" name="TextBox 365"/>
            <p:cNvSpPr txBox="1"/>
            <p:nvPr/>
          </p:nvSpPr>
          <p:spPr>
            <a:xfrm>
              <a:off x="9064500" y="36495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6" name="Rectangle 366"/>
            <p:cNvSpPr/>
            <p:nvPr/>
          </p:nvSpPr>
          <p:spPr>
            <a:xfrm>
              <a:off x="9191625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67" name="TextBox 367"/>
            <p:cNvSpPr txBox="1"/>
            <p:nvPr/>
          </p:nvSpPr>
          <p:spPr>
            <a:xfrm>
              <a:off x="9213601" y="364950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8" name="Rectangle 368"/>
            <p:cNvSpPr/>
            <p:nvPr/>
          </p:nvSpPr>
          <p:spPr>
            <a:xfrm>
              <a:off x="8648700" y="306705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369" name="TextBox 369"/>
            <p:cNvSpPr txBox="1"/>
            <p:nvPr/>
          </p:nvSpPr>
          <p:spPr>
            <a:xfrm>
              <a:off x="8929509" y="288559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70" name="Rectangle 370"/>
            <p:cNvSpPr/>
            <p:nvPr/>
          </p:nvSpPr>
          <p:spPr>
            <a:xfrm>
              <a:off x="10503218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1" name="TextBox 371"/>
            <p:cNvSpPr txBox="1"/>
            <p:nvPr/>
          </p:nvSpPr>
          <p:spPr>
            <a:xfrm>
              <a:off x="10558586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2" name="Rectangle 372"/>
            <p:cNvSpPr/>
            <p:nvPr/>
          </p:nvSpPr>
          <p:spPr>
            <a:xfrm>
              <a:off x="10684192" y="306705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3" name="TextBox 373"/>
            <p:cNvSpPr txBox="1"/>
            <p:nvPr/>
          </p:nvSpPr>
          <p:spPr>
            <a:xfrm>
              <a:off x="10739561" y="31065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4" name="Rectangle 374"/>
            <p:cNvSpPr/>
            <p:nvPr/>
          </p:nvSpPr>
          <p:spPr>
            <a:xfrm>
              <a:off x="10865168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75" name="TextBox 375"/>
            <p:cNvSpPr txBox="1"/>
            <p:nvPr/>
          </p:nvSpPr>
          <p:spPr>
            <a:xfrm>
              <a:off x="10919018" y="310657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6" name="Rectangle 376"/>
            <p:cNvSpPr/>
            <p:nvPr/>
          </p:nvSpPr>
          <p:spPr>
            <a:xfrm>
              <a:off x="11046142" y="306705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77" name="TextBox 377"/>
            <p:cNvSpPr txBox="1"/>
            <p:nvPr/>
          </p:nvSpPr>
          <p:spPr>
            <a:xfrm>
              <a:off x="11068118" y="3106579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78" name="Rectangle 378"/>
            <p:cNvSpPr/>
            <p:nvPr/>
          </p:nvSpPr>
          <p:spPr>
            <a:xfrm>
              <a:off x="10503218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9" name="TextBox 379"/>
            <p:cNvSpPr txBox="1"/>
            <p:nvPr/>
          </p:nvSpPr>
          <p:spPr>
            <a:xfrm>
              <a:off x="10558586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0" name="Rectangle 380"/>
            <p:cNvSpPr/>
            <p:nvPr/>
          </p:nvSpPr>
          <p:spPr>
            <a:xfrm>
              <a:off x="10684192" y="324802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1" name="TextBox 381"/>
            <p:cNvSpPr txBox="1"/>
            <p:nvPr/>
          </p:nvSpPr>
          <p:spPr>
            <a:xfrm>
              <a:off x="10739561" y="3287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2" name="Rectangle 382"/>
            <p:cNvSpPr/>
            <p:nvPr/>
          </p:nvSpPr>
          <p:spPr>
            <a:xfrm>
              <a:off x="10865168" y="324802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83" name="TextBox 383"/>
            <p:cNvSpPr txBox="1"/>
            <p:nvPr/>
          </p:nvSpPr>
          <p:spPr>
            <a:xfrm>
              <a:off x="10919018" y="328755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4" name="Rectangle 384"/>
            <p:cNvSpPr/>
            <p:nvPr/>
          </p:nvSpPr>
          <p:spPr>
            <a:xfrm>
              <a:off x="11046142" y="3248025"/>
              <a:ext cx="180975" cy="18097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85" name="Rectangle 385"/>
            <p:cNvSpPr/>
            <p:nvPr/>
          </p:nvSpPr>
          <p:spPr>
            <a:xfrm>
              <a:off x="10503218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6" name="TextBox 386"/>
            <p:cNvSpPr txBox="1"/>
            <p:nvPr/>
          </p:nvSpPr>
          <p:spPr>
            <a:xfrm>
              <a:off x="10558586" y="34685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7" name="Rectangle 387"/>
            <p:cNvSpPr/>
            <p:nvPr/>
          </p:nvSpPr>
          <p:spPr>
            <a:xfrm>
              <a:off x="10684192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8" name="TextBox 388"/>
            <p:cNvSpPr txBox="1"/>
            <p:nvPr/>
          </p:nvSpPr>
          <p:spPr>
            <a:xfrm>
              <a:off x="10709204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9" name="Rectangle 389"/>
            <p:cNvSpPr/>
            <p:nvPr/>
          </p:nvSpPr>
          <p:spPr>
            <a:xfrm>
              <a:off x="10865168" y="3429000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90" name="TextBox 390"/>
            <p:cNvSpPr txBox="1"/>
            <p:nvPr/>
          </p:nvSpPr>
          <p:spPr>
            <a:xfrm>
              <a:off x="10919018" y="3468529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1" name="Rectangle 391"/>
            <p:cNvSpPr/>
            <p:nvPr/>
          </p:nvSpPr>
          <p:spPr>
            <a:xfrm>
              <a:off x="11046142" y="3429000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2" name="TextBox 392"/>
            <p:cNvSpPr txBox="1"/>
            <p:nvPr/>
          </p:nvSpPr>
          <p:spPr>
            <a:xfrm>
              <a:off x="11071154" y="346852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3" name="Rectangle 393"/>
            <p:cNvSpPr/>
            <p:nvPr/>
          </p:nvSpPr>
          <p:spPr>
            <a:xfrm>
              <a:off x="10503218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4" name="TextBox 394"/>
            <p:cNvSpPr txBox="1"/>
            <p:nvPr/>
          </p:nvSpPr>
          <p:spPr>
            <a:xfrm>
              <a:off x="10528229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95" name="Rectangle 395"/>
            <p:cNvSpPr/>
            <p:nvPr/>
          </p:nvSpPr>
          <p:spPr>
            <a:xfrm>
              <a:off x="10684192" y="3609975"/>
              <a:ext cx="180975" cy="1809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6" name="TextBox 396"/>
            <p:cNvSpPr txBox="1"/>
            <p:nvPr/>
          </p:nvSpPr>
          <p:spPr>
            <a:xfrm>
              <a:off x="10709204" y="364950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97" name="Rectangle 397"/>
            <p:cNvSpPr/>
            <p:nvPr/>
          </p:nvSpPr>
          <p:spPr>
            <a:xfrm>
              <a:off x="10865168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98" name="TextBox 398"/>
            <p:cNvSpPr txBox="1"/>
            <p:nvPr/>
          </p:nvSpPr>
          <p:spPr>
            <a:xfrm>
              <a:off x="10919018" y="3649504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9" name="Rectangle 399"/>
            <p:cNvSpPr/>
            <p:nvPr/>
          </p:nvSpPr>
          <p:spPr>
            <a:xfrm>
              <a:off x="11046142" y="3609975"/>
              <a:ext cx="180975" cy="18097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400" name="TextBox 400"/>
            <p:cNvSpPr txBox="1"/>
            <p:nvPr/>
          </p:nvSpPr>
          <p:spPr>
            <a:xfrm>
              <a:off x="11068118" y="3649504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01" name="Rectangle 401"/>
            <p:cNvSpPr/>
            <p:nvPr/>
          </p:nvSpPr>
          <p:spPr>
            <a:xfrm>
              <a:off x="10503218" y="3067050"/>
              <a:ext cx="723900" cy="723900"/>
            </a:xfrm>
            <a:prstGeom prst="rect">
              <a:avLst/>
            </a:prstGeom>
            <a:noFill/>
            <a:ln w="15240">
              <a:solidFill>
                <a:srgbClr val="5B6475"/>
              </a:solidFill>
            </a:ln>
          </p:spPr>
        </p:sp>
        <p:sp>
          <p:nvSpPr>
            <p:cNvPr id="402" name="TextBox 402"/>
            <p:cNvSpPr txBox="1"/>
            <p:nvPr/>
          </p:nvSpPr>
          <p:spPr>
            <a:xfrm>
              <a:off x="10329371" y="2885599"/>
              <a:ext cx="10715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12（6 张不在位）</a:t>
              </a:r>
            </a:p>
          </p:txBody>
        </p:sp>
        <p:sp>
          <p:nvSpPr>
            <p:cNvPr id="403" name="Line 403"/>
            <p:cNvSpPr/>
            <p:nvPr/>
          </p:nvSpPr>
          <p:spPr>
            <a:xfrm>
              <a:off x="2012632" y="2228850"/>
              <a:ext cx="930592" cy="9525"/>
            </a:xfrm>
            <a:custGeom>
              <a:avLst/>
              <a:gdLst/>
              <a:ahLst/>
              <a:cxnLst/>
              <a:rect l="l" t="t" r="r" b="b"/>
              <a:pathLst>
                <a:path w="930592" h="9525">
                  <a:moveTo>
                    <a:pt x="0" y="0"/>
                  </a:moveTo>
                  <a:lnTo>
                    <a:pt x="930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4" name="Polygon 404"/>
            <p:cNvSpPr/>
            <p:nvPr/>
          </p:nvSpPr>
          <p:spPr>
            <a:xfrm>
              <a:off x="2943225" y="21859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5" name="TextBox 405"/>
            <p:cNvSpPr txBox="1"/>
            <p:nvPr/>
          </p:nvSpPr>
          <p:spPr>
            <a:xfrm>
              <a:off x="2445258" y="20393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406" name="Line 406"/>
            <p:cNvSpPr/>
            <p:nvPr/>
          </p:nvSpPr>
          <p:spPr>
            <a:xfrm>
              <a:off x="3867150" y="2228850"/>
              <a:ext cx="930592" cy="9525"/>
            </a:xfrm>
            <a:custGeom>
              <a:avLst/>
              <a:gdLst/>
              <a:ahLst/>
              <a:cxnLst/>
              <a:rect l="l" t="t" r="r" b="b"/>
              <a:pathLst>
                <a:path w="930592" h="9525">
                  <a:moveTo>
                    <a:pt x="0" y="0"/>
                  </a:moveTo>
                  <a:lnTo>
                    <a:pt x="930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7" name="Polygon 407"/>
            <p:cNvSpPr/>
            <p:nvPr/>
          </p:nvSpPr>
          <p:spPr>
            <a:xfrm>
              <a:off x="4797742" y="21859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8" name="TextBox 408"/>
            <p:cNvSpPr txBox="1"/>
            <p:nvPr/>
          </p:nvSpPr>
          <p:spPr>
            <a:xfrm>
              <a:off x="4298823" y="20393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409" name="Line 409"/>
            <p:cNvSpPr/>
            <p:nvPr/>
          </p:nvSpPr>
          <p:spPr>
            <a:xfrm>
              <a:off x="5721668" y="2228850"/>
              <a:ext cx="929640" cy="9525"/>
            </a:xfrm>
            <a:custGeom>
              <a:avLst/>
              <a:gdLst/>
              <a:ahLst/>
              <a:cxnLst/>
              <a:rect l="l" t="t" r="r" b="b"/>
              <a:pathLst>
                <a:path w="929640" h="9525">
                  <a:moveTo>
                    <a:pt x="0" y="0"/>
                  </a:moveTo>
                  <a:lnTo>
                    <a:pt x="929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0" name="Polygon 410"/>
            <p:cNvSpPr/>
            <p:nvPr/>
          </p:nvSpPr>
          <p:spPr>
            <a:xfrm>
              <a:off x="6651308" y="21859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1" name="TextBox 411"/>
            <p:cNvSpPr txBox="1"/>
            <p:nvPr/>
          </p:nvSpPr>
          <p:spPr>
            <a:xfrm>
              <a:off x="6153341" y="20393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412" name="Line 412"/>
            <p:cNvSpPr/>
            <p:nvPr/>
          </p:nvSpPr>
          <p:spPr>
            <a:xfrm>
              <a:off x="7575232" y="2228850"/>
              <a:ext cx="930593" cy="9525"/>
            </a:xfrm>
            <a:custGeom>
              <a:avLst/>
              <a:gdLst/>
              <a:ahLst/>
              <a:cxnLst/>
              <a:rect l="l" t="t" r="r" b="b"/>
              <a:pathLst>
                <a:path w="930593" h="9525">
                  <a:moveTo>
                    <a:pt x="0" y="0"/>
                  </a:moveTo>
                  <a:lnTo>
                    <a:pt x="93059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3" name="Polygon 413"/>
            <p:cNvSpPr/>
            <p:nvPr/>
          </p:nvSpPr>
          <p:spPr>
            <a:xfrm>
              <a:off x="8505825" y="21859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4" name="TextBox 414"/>
            <p:cNvSpPr txBox="1"/>
            <p:nvPr/>
          </p:nvSpPr>
          <p:spPr>
            <a:xfrm>
              <a:off x="8007858" y="20393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415" name="Line 415"/>
            <p:cNvSpPr/>
            <p:nvPr/>
          </p:nvSpPr>
          <p:spPr>
            <a:xfrm>
              <a:off x="9429750" y="2228850"/>
              <a:ext cx="930593" cy="9525"/>
            </a:xfrm>
            <a:custGeom>
              <a:avLst/>
              <a:gdLst/>
              <a:ahLst/>
              <a:cxnLst/>
              <a:rect l="l" t="t" r="r" b="b"/>
              <a:pathLst>
                <a:path w="930593" h="9525">
                  <a:moveTo>
                    <a:pt x="0" y="0"/>
                  </a:moveTo>
                  <a:lnTo>
                    <a:pt x="93059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6" name="Polygon 416"/>
            <p:cNvSpPr/>
            <p:nvPr/>
          </p:nvSpPr>
          <p:spPr>
            <a:xfrm>
              <a:off x="10360342" y="21859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7" name="TextBox 417"/>
            <p:cNvSpPr txBox="1"/>
            <p:nvPr/>
          </p:nvSpPr>
          <p:spPr>
            <a:xfrm>
              <a:off x="9861423" y="20393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  <p:sp>
          <p:nvSpPr>
            <p:cNvPr id="418" name="Freeform 418"/>
            <p:cNvSpPr/>
            <p:nvPr/>
          </p:nvSpPr>
          <p:spPr>
            <a:xfrm>
              <a:off x="945832" y="2590800"/>
              <a:ext cx="9919335" cy="838200"/>
            </a:xfrm>
            <a:custGeom>
              <a:avLst/>
              <a:gdLst/>
              <a:ahLst/>
              <a:cxnLst/>
              <a:rect l="l" t="t" r="r" b="b"/>
              <a:pathLst>
                <a:path w="9919335" h="838200">
                  <a:moveTo>
                    <a:pt x="9919335" y="0"/>
                  </a:moveTo>
                  <a:lnTo>
                    <a:pt x="9919335" y="209550"/>
                  </a:lnTo>
                  <a:lnTo>
                    <a:pt x="0" y="209550"/>
                  </a:lnTo>
                  <a:lnTo>
                    <a:pt x="0" y="8382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9" name="Line 419"/>
            <p:cNvSpPr/>
            <p:nvPr/>
          </p:nvSpPr>
          <p:spPr>
            <a:xfrm>
              <a:off x="945832" y="3429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0" name="Polygon 420"/>
            <p:cNvSpPr/>
            <p:nvPr/>
          </p:nvSpPr>
          <p:spPr>
            <a:xfrm>
              <a:off x="1088708" y="33861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1" name="TextBox 421"/>
            <p:cNvSpPr txBox="1"/>
            <p:nvPr/>
          </p:nvSpPr>
          <p:spPr>
            <a:xfrm>
              <a:off x="703897" y="32394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</a:t>
              </a:r>
            </a:p>
          </p:txBody>
        </p:sp>
        <p:sp>
          <p:nvSpPr>
            <p:cNvPr id="422" name="Line 422"/>
            <p:cNvSpPr/>
            <p:nvPr/>
          </p:nvSpPr>
          <p:spPr>
            <a:xfrm>
              <a:off x="2012632" y="3429000"/>
              <a:ext cx="930592" cy="9525"/>
            </a:xfrm>
            <a:custGeom>
              <a:avLst/>
              <a:gdLst/>
              <a:ahLst/>
              <a:cxnLst/>
              <a:rect l="l" t="t" r="r" b="b"/>
              <a:pathLst>
                <a:path w="930592" h="9525">
                  <a:moveTo>
                    <a:pt x="0" y="0"/>
                  </a:moveTo>
                  <a:lnTo>
                    <a:pt x="930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3" name="Polygon 423"/>
            <p:cNvSpPr/>
            <p:nvPr/>
          </p:nvSpPr>
          <p:spPr>
            <a:xfrm>
              <a:off x="2943225" y="33861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4" name="TextBox 424"/>
            <p:cNvSpPr txBox="1"/>
            <p:nvPr/>
          </p:nvSpPr>
          <p:spPr>
            <a:xfrm>
              <a:off x="2445258" y="32394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425" name="Line 425"/>
            <p:cNvSpPr/>
            <p:nvPr/>
          </p:nvSpPr>
          <p:spPr>
            <a:xfrm>
              <a:off x="3867150" y="3429000"/>
              <a:ext cx="930592" cy="9525"/>
            </a:xfrm>
            <a:custGeom>
              <a:avLst/>
              <a:gdLst/>
              <a:ahLst/>
              <a:cxnLst/>
              <a:rect l="l" t="t" r="r" b="b"/>
              <a:pathLst>
                <a:path w="930592" h="9525">
                  <a:moveTo>
                    <a:pt x="0" y="0"/>
                  </a:moveTo>
                  <a:lnTo>
                    <a:pt x="9305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6" name="Polygon 426"/>
            <p:cNvSpPr/>
            <p:nvPr/>
          </p:nvSpPr>
          <p:spPr>
            <a:xfrm>
              <a:off x="4797742" y="33861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7" name="TextBox 427"/>
            <p:cNvSpPr txBox="1"/>
            <p:nvPr/>
          </p:nvSpPr>
          <p:spPr>
            <a:xfrm>
              <a:off x="4298823" y="32394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428" name="Line 428"/>
            <p:cNvSpPr/>
            <p:nvPr/>
          </p:nvSpPr>
          <p:spPr>
            <a:xfrm>
              <a:off x="5721668" y="3429000"/>
              <a:ext cx="929640" cy="9525"/>
            </a:xfrm>
            <a:custGeom>
              <a:avLst/>
              <a:gdLst/>
              <a:ahLst/>
              <a:cxnLst/>
              <a:rect l="l" t="t" r="r" b="b"/>
              <a:pathLst>
                <a:path w="929640" h="9525">
                  <a:moveTo>
                    <a:pt x="0" y="0"/>
                  </a:moveTo>
                  <a:lnTo>
                    <a:pt x="929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9" name="Polygon 429"/>
            <p:cNvSpPr/>
            <p:nvPr/>
          </p:nvSpPr>
          <p:spPr>
            <a:xfrm>
              <a:off x="6651308" y="33861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0" name="TextBox 430"/>
            <p:cNvSpPr txBox="1"/>
            <p:nvPr/>
          </p:nvSpPr>
          <p:spPr>
            <a:xfrm>
              <a:off x="6153341" y="32394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431" name="Line 431"/>
            <p:cNvSpPr/>
            <p:nvPr/>
          </p:nvSpPr>
          <p:spPr>
            <a:xfrm>
              <a:off x="7575232" y="3429000"/>
              <a:ext cx="930593" cy="9525"/>
            </a:xfrm>
            <a:custGeom>
              <a:avLst/>
              <a:gdLst/>
              <a:ahLst/>
              <a:cxnLst/>
              <a:rect l="l" t="t" r="r" b="b"/>
              <a:pathLst>
                <a:path w="930593" h="9525">
                  <a:moveTo>
                    <a:pt x="0" y="0"/>
                  </a:moveTo>
                  <a:lnTo>
                    <a:pt x="93059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2" name="Polygon 432"/>
            <p:cNvSpPr/>
            <p:nvPr/>
          </p:nvSpPr>
          <p:spPr>
            <a:xfrm>
              <a:off x="8505825" y="33861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3" name="TextBox 433"/>
            <p:cNvSpPr txBox="1"/>
            <p:nvPr/>
          </p:nvSpPr>
          <p:spPr>
            <a:xfrm>
              <a:off x="8007858" y="32394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</a:t>
              </a:r>
            </a:p>
          </p:txBody>
        </p:sp>
        <p:sp>
          <p:nvSpPr>
            <p:cNvPr id="434" name="Line 434"/>
            <p:cNvSpPr/>
            <p:nvPr/>
          </p:nvSpPr>
          <p:spPr>
            <a:xfrm>
              <a:off x="9429750" y="3429000"/>
              <a:ext cx="930593" cy="9525"/>
            </a:xfrm>
            <a:custGeom>
              <a:avLst/>
              <a:gdLst/>
              <a:ahLst/>
              <a:cxnLst/>
              <a:rect l="l" t="t" r="r" b="b"/>
              <a:pathLst>
                <a:path w="930593" h="9525">
                  <a:moveTo>
                    <a:pt x="0" y="0"/>
                  </a:moveTo>
                  <a:lnTo>
                    <a:pt x="93059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5" name="Polygon 435"/>
            <p:cNvSpPr/>
            <p:nvPr/>
          </p:nvSpPr>
          <p:spPr>
            <a:xfrm>
              <a:off x="10360342" y="338613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6" name="TextBox 436"/>
            <p:cNvSpPr txBox="1"/>
            <p:nvPr/>
          </p:nvSpPr>
          <p:spPr>
            <a:xfrm>
              <a:off x="9861423" y="32394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</a:t>
              </a:r>
            </a:p>
          </p:txBody>
        </p:sp>
      </p:grpSp>
      <p:grpSp>
        <p:nvGrpSpPr>
          <p:cNvPr id="455" name="dfs-compare"/>
          <p:cNvGrpSpPr/>
          <p:nvPr/>
        </p:nvGrpSpPr>
        <p:grpSpPr>
          <a:xfrm>
            <a:off x="533400" y="4038600"/>
            <a:ext cx="11125200" cy="1685925"/>
            <a:chOff x="533400" y="4038600"/>
            <a:chExt cx="11125200" cy="1685925"/>
          </a:xfrm>
        </p:grpSpPr>
        <p:sp>
          <p:nvSpPr>
            <p:cNvPr id="438" name="Rectangle 438"/>
            <p:cNvSpPr/>
            <p:nvPr/>
          </p:nvSpPr>
          <p:spPr>
            <a:xfrm>
              <a:off x="533400" y="4038600"/>
              <a:ext cx="11125200" cy="3619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9" name="TextBox 439"/>
            <p:cNvSpPr txBox="1"/>
            <p:nvPr/>
          </p:nvSpPr>
          <p:spPr>
            <a:xfrm>
              <a:off x="679704" y="41471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检索方式</a:t>
              </a:r>
            </a:p>
          </p:txBody>
        </p:sp>
        <p:sp>
          <p:nvSpPr>
            <p:cNvPr id="440" name="TextBox 440"/>
            <p:cNvSpPr txBox="1"/>
            <p:nvPr/>
          </p:nvSpPr>
          <p:spPr>
            <a:xfrm>
              <a:off x="2108454" y="4147185"/>
              <a:ext cx="15554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下一个 E-结点怎样选</a:t>
              </a:r>
            </a:p>
          </p:txBody>
        </p:sp>
        <p:sp>
          <p:nvSpPr>
            <p:cNvPr id="441" name="TextBox 441"/>
            <p:cNvSpPr txBox="1"/>
            <p:nvPr/>
          </p:nvSpPr>
          <p:spPr>
            <a:xfrm>
              <a:off x="5823204" y="41471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在这个开局上的表现</a:t>
              </a:r>
            </a:p>
          </p:txBody>
        </p:sp>
        <p:sp>
          <p:nvSpPr>
            <p:cNvPr id="442" name="Rectangle 442"/>
            <p:cNvSpPr/>
            <p:nvPr/>
          </p:nvSpPr>
          <p:spPr>
            <a:xfrm>
              <a:off x="533400" y="4400550"/>
              <a:ext cx="111252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3" name="TextBox 443"/>
            <p:cNvSpPr txBox="1"/>
            <p:nvPr/>
          </p:nvSpPr>
          <p:spPr>
            <a:xfrm>
              <a:off x="679704" y="4547235"/>
              <a:ext cx="397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FIFO</a:t>
              </a:r>
            </a:p>
          </p:txBody>
        </p:sp>
        <p:sp>
          <p:nvSpPr>
            <p:cNvPr id="444" name="TextBox 444"/>
            <p:cNvSpPr txBox="1"/>
            <p:nvPr/>
          </p:nvSpPr>
          <p:spPr>
            <a:xfrm>
              <a:off x="2108454" y="454723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最早进入活结点表的结点</a:t>
              </a:r>
            </a:p>
          </p:txBody>
        </p:sp>
        <p:sp>
          <p:nvSpPr>
            <p:cNvPr id="445" name="TextBox 445"/>
            <p:cNvSpPr txBox="1"/>
            <p:nvPr/>
          </p:nvSpPr>
          <p:spPr>
            <a:xfrm>
              <a:off x="5823204" y="4547235"/>
              <a:ext cx="289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逐层生成 23 个结点后找到深度 3 的目标</a:t>
              </a:r>
            </a:p>
          </p:txBody>
        </p:sp>
        <p:sp>
          <p:nvSpPr>
            <p:cNvPr id="446" name="Rectangle 446"/>
            <p:cNvSpPr/>
            <p:nvPr/>
          </p:nvSpPr>
          <p:spPr>
            <a:xfrm>
              <a:off x="533400" y="4838700"/>
              <a:ext cx="11125200" cy="4381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7" name="TextBox 447"/>
            <p:cNvSpPr txBox="1"/>
            <p:nvPr/>
          </p:nvSpPr>
          <p:spPr>
            <a:xfrm>
              <a:off x="679704" y="4985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深度优先</a:t>
              </a:r>
            </a:p>
          </p:txBody>
        </p:sp>
        <p:sp>
          <p:nvSpPr>
            <p:cNvPr id="448" name="TextBox 448"/>
            <p:cNvSpPr txBox="1"/>
            <p:nvPr/>
          </p:nvSpPr>
          <p:spPr>
            <a:xfrm>
              <a:off x="2108454" y="498538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最新生成的结点，沿最左路径下探</a:t>
              </a:r>
            </a:p>
          </p:txBody>
        </p:sp>
        <p:sp>
          <p:nvSpPr>
            <p:cNvPr id="449" name="TextBox 449"/>
            <p:cNvSpPr txBox="1"/>
            <p:nvPr/>
          </p:nvSpPr>
          <p:spPr>
            <a:xfrm>
              <a:off x="5823204" y="4985385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走了 11 步仍未到达，不在位的牌由 3 张增加到 6 张</a:t>
              </a:r>
            </a:p>
          </p:txBody>
        </p:sp>
        <p:sp>
          <p:nvSpPr>
            <p:cNvPr id="450" name="Rectangle 450"/>
            <p:cNvSpPr/>
            <p:nvPr/>
          </p:nvSpPr>
          <p:spPr>
            <a:xfrm>
              <a:off x="533400" y="5276850"/>
              <a:ext cx="111252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1" name="TextBox 451"/>
            <p:cNvSpPr txBox="1"/>
            <p:nvPr/>
          </p:nvSpPr>
          <p:spPr>
            <a:xfrm>
              <a:off x="679704" y="542353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LC</a:t>
              </a:r>
            </a:p>
          </p:txBody>
        </p:sp>
        <p:sp>
          <p:nvSpPr>
            <p:cNvPr id="452" name="TextBox 452"/>
            <p:cNvSpPr txBox="1"/>
            <p:nvPr/>
          </p:nvSpPr>
          <p:spPr>
            <a:xfrm>
              <a:off x="2108454" y="5423535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 = f + ĝ 最小的结点</a:t>
              </a:r>
            </a:p>
          </p:txBody>
        </p:sp>
        <p:sp>
          <p:nvSpPr>
            <p:cNvPr id="453" name="TextBox 453"/>
            <p:cNvSpPr txBox="1"/>
            <p:nvPr/>
          </p:nvSpPr>
          <p:spPr>
            <a:xfrm>
              <a:off x="5823204" y="5423535"/>
              <a:ext cx="3598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只扩展结点 1、4、10，生成 10 个结点就找到目标</a:t>
              </a:r>
            </a:p>
          </p:txBody>
        </p:sp>
        <p:sp>
          <p:nvSpPr>
            <p:cNvPr id="454" name="Line 454"/>
            <p:cNvSpPr/>
            <p:nvPr/>
          </p:nvSpPr>
          <p:spPr>
            <a:xfrm>
              <a:off x="533400" y="5715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1430">
              <a:solidFill>
                <a:srgbClr val="D9DFEA"/>
              </a:solidFill>
            </a:ln>
          </p:spPr>
        </p:sp>
      </p:grpSp>
      <p:grpSp>
        <p:nvGrpSpPr>
          <p:cNvPr id="458" name="dfs-caption"/>
          <p:cNvGrpSpPr/>
          <p:nvPr/>
        </p:nvGrpSpPr>
        <p:grpSpPr>
          <a:xfrm>
            <a:off x="533400" y="5867400"/>
            <a:ext cx="11125200" cy="495300"/>
            <a:chOff x="533400" y="5867400"/>
            <a:chExt cx="11125200" cy="495300"/>
          </a:xfrm>
        </p:grpSpPr>
        <p:sp>
          <p:nvSpPr>
            <p:cNvPr id="456" name="Rectangle 456"/>
            <p:cNvSpPr/>
            <p:nvPr/>
          </p:nvSpPr>
          <p:spPr>
            <a:xfrm>
              <a:off x="533400" y="5867400"/>
              <a:ext cx="11125200" cy="495300"/>
            </a:xfrm>
            <a:prstGeom prst="roundRect">
              <a:avLst>
                <a:gd name="adj" fmla="val 2307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7" name="TextBox 457"/>
            <p:cNvSpPr txBox="1"/>
            <p:nvPr/>
          </p:nvSpPr>
          <p:spPr>
            <a:xfrm>
              <a:off x="717804" y="6042660"/>
              <a:ext cx="7316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和深度优先都不看当前布局，只按固定次序展开；LC 用 ĉ 估计离目标还有多远，过程见后两页。</a:t>
              </a:r>
            </a:p>
          </p:txBody>
        </p:sp>
      </p:grpSp>
      <p:grpSp>
        <p:nvGrpSpPr>
          <p:cNvPr id="4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9" name="TextBox 4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460" name="TextBox 4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0974" cy="909257"/>
            <a:chOff x="520446" y="342900"/>
            <a:chExt cx="72109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16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6124" y="407194"/>
              <a:ext cx="1946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15-谜问题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09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LC-检索的 ĉ：已经移动的步数 + 不在位的牌数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6276022" cy="2322195"/>
            <a:chOff x="533400" y="1524000"/>
            <a:chExt cx="6276022" cy="23221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322195"/>
            </a:xfrm>
            <a:prstGeom prst="roundRect">
              <a:avLst>
                <a:gd name="adj" fmla="val 57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54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18110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02" y="1769269"/>
              <a:ext cx="1041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15-谜的 c 与 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5387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c(X)：从开局到达目标时棋牌最少的移动次数。根到最近答案结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点那条路径上的结点，c 取这条路径的长度；其余结点 c = ∞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1863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= f(X) + ĝ(X)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43955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f(X)：从开局到 X 已经移动的次数，即 X 的深度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651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02330"/>
              <a:ext cx="3501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ĝ(X)：不在目标位置的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非空白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牌的数目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036695"/>
            <a:ext cx="6276022" cy="1937385"/>
            <a:chOff x="533400" y="4036695"/>
            <a:chExt cx="6276022" cy="1937385"/>
          </a:xfrm>
        </p:grpSpPr>
        <p:sp>
          <p:nvSpPr>
            <p:cNvPr id="20" name="Rectangle 20"/>
            <p:cNvSpPr/>
            <p:nvPr/>
          </p:nvSpPr>
          <p:spPr>
            <a:xfrm>
              <a:off x="533400" y="4036695"/>
              <a:ext cx="627602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17004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" y="4246245"/>
              <a:ext cx="1560195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3099" y="4281964"/>
              <a:ext cx="14160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 ĉ(X) ≤ c(X)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6863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623435"/>
              <a:ext cx="5282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每张不在位的牌至少还要移动一次，从 X 到目标至少还要 ĝ(X)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53073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5244465"/>
              <a:ext cx="5253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ĝ(X) 是子树 X 中到答案结点最短路径长度的下界估计，ĉ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 LC-检索的要求</a:t>
              </a:r>
            </a:p>
          </p:txBody>
        </p:sp>
      </p:grpSp>
      <p:grpSp>
        <p:nvGrpSpPr>
          <p:cNvPr id="30" name="c2-text-1"/>
          <p:cNvGrpSpPr/>
          <p:nvPr/>
        </p:nvGrpSpPr>
        <p:grpSpPr>
          <a:xfrm>
            <a:off x="7106602" y="1548765"/>
            <a:ext cx="2851852" cy="293370"/>
            <a:chOff x="7106602" y="1548765"/>
            <a:chExt cx="2851852" cy="293370"/>
          </a:xfrm>
        </p:grpSpPr>
        <p:sp>
          <p:nvSpPr>
            <p:cNvPr id="29" name="TextBox 29"/>
            <p:cNvSpPr txBox="1"/>
            <p:nvPr/>
          </p:nvSpPr>
          <p:spPr>
            <a:xfrm>
              <a:off x="7106602" y="1548765"/>
              <a:ext cx="2851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开局 (a)，橙色格是不在位的牌</a:t>
              </a:r>
            </a:p>
          </p:txBody>
        </p:sp>
      </p:grpSp>
      <p:grpSp>
        <p:nvGrpSpPr>
          <p:cNvPr id="62" name="c2-cells-2"/>
          <p:cNvGrpSpPr/>
          <p:nvPr/>
        </p:nvGrpSpPr>
        <p:grpSpPr>
          <a:xfrm>
            <a:off x="7114222" y="1973580"/>
            <a:ext cx="2057400" cy="1905000"/>
            <a:chOff x="7114222" y="1973580"/>
            <a:chExt cx="2057400" cy="1905000"/>
          </a:xfrm>
        </p:grpSpPr>
        <p:sp>
          <p:nvSpPr>
            <p:cNvPr id="31" name="Rectangle 31"/>
            <p:cNvSpPr/>
            <p:nvPr/>
          </p:nvSpPr>
          <p:spPr>
            <a:xfrm>
              <a:off x="7114222" y="197358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12063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8572" y="197358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26413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142922" y="197358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40763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657272" y="197358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55113" y="21278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114222" y="244983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12063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8572" y="244983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26413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142922" y="2449830"/>
              <a:ext cx="514350" cy="47625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657272" y="244983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55113" y="26041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14222" y="292608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312063" y="30803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8572" y="292608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73936" y="30803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42922" y="2926080"/>
              <a:ext cx="514350" cy="4762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40763" y="308038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657272" y="2926080"/>
              <a:ext cx="514350" cy="4762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802636" y="308038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114222" y="340233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59586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8572" y="340233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73936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42922" y="3402330"/>
              <a:ext cx="514350" cy="47625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288286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657272" y="3402330"/>
              <a:ext cx="514350" cy="47625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802636" y="3556635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7114222" y="4069080"/>
            <a:ext cx="4544378" cy="1059180"/>
            <a:chOff x="7114222" y="4069080"/>
            <a:chExt cx="4544378" cy="1059180"/>
          </a:xfrm>
        </p:grpSpPr>
        <p:sp>
          <p:nvSpPr>
            <p:cNvPr id="63" name="Rectangle 63"/>
            <p:cNvSpPr/>
            <p:nvPr/>
          </p:nvSpPr>
          <p:spPr>
            <a:xfrm>
              <a:off x="7114222" y="406908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19010" y="4498658"/>
              <a:ext cx="200026" cy="200025"/>
              <a:chOff x="7319010" y="4498658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19010" y="4498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358749" y="4543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393464" y="4654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620952" y="4217670"/>
              <a:ext cx="36918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7、11、12 不在目标位置，ĝ = 3；根的深度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 0，所以 ĉ(根) = 0 + 3 = 3。空格不计入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ĝ。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77077" cy="909257"/>
            <a:chOff x="520446" y="342900"/>
            <a:chExt cx="93770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916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6124" y="407194"/>
              <a:ext cx="1946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15-谜问题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770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LC-检索：只扩展结点 1、4、10，生成 10 个结点就到达目标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6" name="lc-tree"/>
          <p:cNvGrpSpPr/>
          <p:nvPr/>
        </p:nvGrpSpPr>
        <p:grpSpPr>
          <a:xfrm>
            <a:off x="857250" y="1600200"/>
            <a:ext cx="6480015" cy="4191952"/>
            <a:chOff x="857250" y="1600200"/>
            <a:chExt cx="6480015" cy="4191952"/>
          </a:xfrm>
        </p:grpSpPr>
        <p:sp>
          <p:nvSpPr>
            <p:cNvPr id="7" name="Line 7"/>
            <p:cNvSpPr/>
            <p:nvPr/>
          </p:nvSpPr>
          <p:spPr>
            <a:xfrm>
              <a:off x="1257300" y="2400300"/>
              <a:ext cx="2438400" cy="323850"/>
            </a:xfrm>
            <a:custGeom>
              <a:avLst/>
              <a:gdLst/>
              <a:ahLst/>
              <a:cxnLst/>
              <a:rect l="l" t="t" r="r" b="b"/>
              <a:pathLst>
                <a:path w="2438400" h="323850">
                  <a:moveTo>
                    <a:pt x="2438400" y="0"/>
                  </a:moveTo>
                  <a:lnTo>
                    <a:pt x="0" y="3238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857500" y="2400300"/>
              <a:ext cx="838200" cy="323850"/>
            </a:xfrm>
            <a:custGeom>
              <a:avLst/>
              <a:gdLst/>
              <a:ahLst/>
              <a:cxnLst/>
              <a:rect l="l" t="t" r="r" b="b"/>
              <a:pathLst>
                <a:path w="838200" h="323850">
                  <a:moveTo>
                    <a:pt x="838200" y="0"/>
                  </a:moveTo>
                  <a:lnTo>
                    <a:pt x="0" y="3238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95700" y="2400300"/>
              <a:ext cx="762000" cy="323850"/>
            </a:xfrm>
            <a:custGeom>
              <a:avLst/>
              <a:gdLst/>
              <a:ahLst/>
              <a:cxnLst/>
              <a:rect l="l" t="t" r="r" b="b"/>
              <a:pathLst>
                <a:path w="762000" h="323850">
                  <a:moveTo>
                    <a:pt x="0" y="0"/>
                  </a:moveTo>
                  <a:lnTo>
                    <a:pt x="762000" y="32385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695700" y="2400300"/>
              <a:ext cx="2362200" cy="323850"/>
            </a:xfrm>
            <a:custGeom>
              <a:avLst/>
              <a:gdLst/>
              <a:ahLst/>
              <a:cxnLst/>
              <a:rect l="l" t="t" r="r" b="b"/>
              <a:pathLst>
                <a:path w="2362200" h="323850">
                  <a:moveTo>
                    <a:pt x="0" y="0"/>
                  </a:moveTo>
                  <a:lnTo>
                    <a:pt x="2362200" y="3238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857500" y="3524250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600200" y="0"/>
                  </a:moveTo>
                  <a:lnTo>
                    <a:pt x="0" y="32385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457700" y="352425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457700" y="3524250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0" y="0"/>
                  </a:moveTo>
                  <a:lnTo>
                    <a:pt x="1600200" y="3238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038350" y="4648200"/>
              <a:ext cx="819150" cy="323850"/>
            </a:xfrm>
            <a:custGeom>
              <a:avLst/>
              <a:gdLst/>
              <a:ahLst/>
              <a:cxnLst/>
              <a:rect l="l" t="t" r="r" b="b"/>
              <a:pathLst>
                <a:path w="819150" h="323850">
                  <a:moveTo>
                    <a:pt x="819150" y="0"/>
                  </a:moveTo>
                  <a:lnTo>
                    <a:pt x="0" y="323850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857500" y="4648200"/>
              <a:ext cx="781050" cy="323850"/>
            </a:xfrm>
            <a:custGeom>
              <a:avLst/>
              <a:gdLst/>
              <a:ahLst/>
              <a:cxnLst/>
              <a:rect l="l" t="t" r="r" b="b"/>
              <a:pathLst>
                <a:path w="781050" h="323850">
                  <a:moveTo>
                    <a:pt x="0" y="0"/>
                  </a:moveTo>
                  <a:lnTo>
                    <a:pt x="781050" y="32385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295650" y="1600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57582" y="16440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95675" y="1600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57607" y="16440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95700" y="1600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57632" y="16440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95725" y="1600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57657" y="16440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295650" y="1800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57582" y="18440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495675" y="1800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57607" y="18440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95700" y="1800225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95725" y="1800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57657" y="18440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295650" y="20002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357582" y="20440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495675" y="20002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524288" y="204406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695700" y="200025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55966" y="20440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95725" y="200025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921006" y="20440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95650" y="22002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24263" y="22440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495675" y="22002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24288" y="22440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695700" y="22002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24313" y="22440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895725" y="220027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921006" y="22440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295650" y="1600200"/>
              <a:ext cx="800100" cy="8001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166616" y="165830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66616" y="186785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ĉ=0+3=3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166997" y="2085499"/>
              <a:ext cx="662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{7,11,12}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7250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19182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57275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9207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257300" y="2724150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457325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519257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57250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9182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57275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19207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257300" y="292417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317566" y="29679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457325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519257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57250" y="3124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19182" y="31680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57275" y="3124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85888" y="31680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257300" y="312420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317566" y="31680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457325" y="312420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482606" y="31680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57250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5863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57275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85888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257300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285913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457325" y="332422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482606" y="33680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57250" y="2724150"/>
              <a:ext cx="800100" cy="8001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728216" y="2782252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2 上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728216" y="299180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ĉ=1+4=5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728597" y="3209449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{3,7,11,12}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2457450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519382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2657475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719407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2857500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919432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3057525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3119457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2457450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2519382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2657475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2719407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2857500" y="292417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2917766" y="29679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3057525" y="2924175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2457450" y="3124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2519382" y="31680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2657475" y="3124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2686088" y="31680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2857500" y="312420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2917766" y="31680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3057525" y="312420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3082806" y="31680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2457450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2486063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2657475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2686088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2857500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2886113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057525" y="332422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3082806" y="33680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2457450" y="2724150"/>
              <a:ext cx="800100" cy="8001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3328416" y="2782252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3 右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3328416" y="299180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ĉ=1+4=5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3328797" y="3209449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{7,8,11,12}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4057650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4119582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4257675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4319607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4457700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4519632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4657725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4719657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4057650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4119582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4257675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4319607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4457700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4519632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4657725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4719657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4057650" y="3124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4119582" y="31680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4257675" y="3124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4286288" y="31680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4457700" y="3124200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4657725" y="312420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4683006" y="31680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44" name="Rectangle 144"/>
            <p:cNvSpPr/>
            <p:nvPr/>
          </p:nvSpPr>
          <p:spPr>
            <a:xfrm>
              <a:off x="4057650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4086263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4257675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4286288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4457700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4486313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4657725" y="332422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4683006" y="33680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4057650" y="2724150"/>
              <a:ext cx="800100" cy="8001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4928616" y="2782252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4 下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4928616" y="299180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ĉ=1+2=3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4928997" y="3209449"/>
              <a:ext cx="51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{11,12}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5657850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5719782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8" name="Rectangle 158"/>
            <p:cNvSpPr/>
            <p:nvPr/>
          </p:nvSpPr>
          <p:spPr>
            <a:xfrm>
              <a:off x="5857875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5919807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6057900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119832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2" name="Rectangle 162"/>
            <p:cNvSpPr/>
            <p:nvPr/>
          </p:nvSpPr>
          <p:spPr>
            <a:xfrm>
              <a:off x="6257925" y="2724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6319857" y="2767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5657850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5719782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6" name="Rectangle 166"/>
            <p:cNvSpPr/>
            <p:nvPr/>
          </p:nvSpPr>
          <p:spPr>
            <a:xfrm>
              <a:off x="5857875" y="2924175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6057900" y="292417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6118166" y="29679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9" name="Rectangle 169"/>
            <p:cNvSpPr/>
            <p:nvPr/>
          </p:nvSpPr>
          <p:spPr>
            <a:xfrm>
              <a:off x="6257925" y="2924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6319857" y="29679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5657850" y="3124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2" name="TextBox 172"/>
            <p:cNvSpPr txBox="1"/>
            <p:nvPr/>
          </p:nvSpPr>
          <p:spPr>
            <a:xfrm>
              <a:off x="5719782" y="31680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73" name="Rectangle 173"/>
            <p:cNvSpPr/>
            <p:nvPr/>
          </p:nvSpPr>
          <p:spPr>
            <a:xfrm>
              <a:off x="5857875" y="31242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4" name="TextBox 174"/>
            <p:cNvSpPr txBox="1"/>
            <p:nvPr/>
          </p:nvSpPr>
          <p:spPr>
            <a:xfrm>
              <a:off x="5886488" y="31680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5" name="Rectangle 175"/>
            <p:cNvSpPr/>
            <p:nvPr/>
          </p:nvSpPr>
          <p:spPr>
            <a:xfrm>
              <a:off x="6057900" y="312420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76" name="TextBox 176"/>
            <p:cNvSpPr txBox="1"/>
            <p:nvPr/>
          </p:nvSpPr>
          <p:spPr>
            <a:xfrm>
              <a:off x="6118166" y="31680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7" name="Rectangle 177"/>
            <p:cNvSpPr/>
            <p:nvPr/>
          </p:nvSpPr>
          <p:spPr>
            <a:xfrm>
              <a:off x="6257925" y="312420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6283206" y="31680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79" name="Rectangle 179"/>
            <p:cNvSpPr/>
            <p:nvPr/>
          </p:nvSpPr>
          <p:spPr>
            <a:xfrm>
              <a:off x="5657850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5686463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81" name="Rectangle 181"/>
            <p:cNvSpPr/>
            <p:nvPr/>
          </p:nvSpPr>
          <p:spPr>
            <a:xfrm>
              <a:off x="5857875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5886488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83" name="Rectangle 183"/>
            <p:cNvSpPr/>
            <p:nvPr/>
          </p:nvSpPr>
          <p:spPr>
            <a:xfrm>
              <a:off x="6057900" y="33242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4" name="TextBox 184"/>
            <p:cNvSpPr txBox="1"/>
            <p:nvPr/>
          </p:nvSpPr>
          <p:spPr>
            <a:xfrm>
              <a:off x="6086513" y="33680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85" name="Rectangle 185"/>
            <p:cNvSpPr/>
            <p:nvPr/>
          </p:nvSpPr>
          <p:spPr>
            <a:xfrm>
              <a:off x="6257925" y="332422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86" name="TextBox 186"/>
            <p:cNvSpPr txBox="1"/>
            <p:nvPr/>
          </p:nvSpPr>
          <p:spPr>
            <a:xfrm>
              <a:off x="6283206" y="33680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87" name="Rectangle 187"/>
            <p:cNvSpPr/>
            <p:nvPr/>
          </p:nvSpPr>
          <p:spPr>
            <a:xfrm>
              <a:off x="5657850" y="2724150"/>
              <a:ext cx="800100" cy="8001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188" name="TextBox 188"/>
            <p:cNvSpPr txBox="1"/>
            <p:nvPr/>
          </p:nvSpPr>
          <p:spPr>
            <a:xfrm>
              <a:off x="6528816" y="2782252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5 左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6528816" y="299180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ĉ=1+4=5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6529197" y="3209449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{6,7,11,12}</a:t>
              </a:r>
            </a:p>
          </p:txBody>
        </p:sp>
        <p:sp>
          <p:nvSpPr>
            <p:cNvPr id="191" name="Rectangle 191"/>
            <p:cNvSpPr/>
            <p:nvPr/>
          </p:nvSpPr>
          <p:spPr>
            <a:xfrm>
              <a:off x="2457450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2" name="TextBox 192"/>
            <p:cNvSpPr txBox="1"/>
            <p:nvPr/>
          </p:nvSpPr>
          <p:spPr>
            <a:xfrm>
              <a:off x="2519382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2657475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2719407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5" name="Rectangle 195"/>
            <p:cNvSpPr/>
            <p:nvPr/>
          </p:nvSpPr>
          <p:spPr>
            <a:xfrm>
              <a:off x="2857500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6" name="TextBox 196"/>
            <p:cNvSpPr txBox="1"/>
            <p:nvPr/>
          </p:nvSpPr>
          <p:spPr>
            <a:xfrm>
              <a:off x="2919432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7" name="Rectangle 197"/>
            <p:cNvSpPr/>
            <p:nvPr/>
          </p:nvSpPr>
          <p:spPr>
            <a:xfrm>
              <a:off x="3057525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119457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9" name="Rectangle 199"/>
            <p:cNvSpPr/>
            <p:nvPr/>
          </p:nvSpPr>
          <p:spPr>
            <a:xfrm>
              <a:off x="2457450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0" name="TextBox 200"/>
            <p:cNvSpPr txBox="1"/>
            <p:nvPr/>
          </p:nvSpPr>
          <p:spPr>
            <a:xfrm>
              <a:off x="2519382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1" name="Rectangle 201"/>
            <p:cNvSpPr/>
            <p:nvPr/>
          </p:nvSpPr>
          <p:spPr>
            <a:xfrm>
              <a:off x="2657475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2719407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3" name="Rectangle 203"/>
            <p:cNvSpPr/>
            <p:nvPr/>
          </p:nvSpPr>
          <p:spPr>
            <a:xfrm>
              <a:off x="2857500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4" name="TextBox 204"/>
            <p:cNvSpPr txBox="1"/>
            <p:nvPr/>
          </p:nvSpPr>
          <p:spPr>
            <a:xfrm>
              <a:off x="2919432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5" name="Rectangle 205"/>
            <p:cNvSpPr/>
            <p:nvPr/>
          </p:nvSpPr>
          <p:spPr>
            <a:xfrm>
              <a:off x="3057525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3119457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7" name="Rectangle 207"/>
            <p:cNvSpPr/>
            <p:nvPr/>
          </p:nvSpPr>
          <p:spPr>
            <a:xfrm>
              <a:off x="2457450" y="4248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8" name="TextBox 208"/>
            <p:cNvSpPr txBox="1"/>
            <p:nvPr/>
          </p:nvSpPr>
          <p:spPr>
            <a:xfrm>
              <a:off x="2519382" y="4291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9" name="Rectangle 209"/>
            <p:cNvSpPr/>
            <p:nvPr/>
          </p:nvSpPr>
          <p:spPr>
            <a:xfrm>
              <a:off x="2657475" y="4248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2686088" y="429196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11" name="Rectangle 211"/>
            <p:cNvSpPr/>
            <p:nvPr/>
          </p:nvSpPr>
          <p:spPr>
            <a:xfrm>
              <a:off x="2857500" y="4248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2" name="TextBox 212"/>
            <p:cNvSpPr txBox="1"/>
            <p:nvPr/>
          </p:nvSpPr>
          <p:spPr>
            <a:xfrm>
              <a:off x="2886113" y="429196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3" name="Rectangle 213"/>
            <p:cNvSpPr/>
            <p:nvPr/>
          </p:nvSpPr>
          <p:spPr>
            <a:xfrm>
              <a:off x="3057525" y="4248150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2457450" y="4448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5" name="TextBox 215"/>
            <p:cNvSpPr txBox="1"/>
            <p:nvPr/>
          </p:nvSpPr>
          <p:spPr>
            <a:xfrm>
              <a:off x="2486063" y="44919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16" name="Rectangle 216"/>
            <p:cNvSpPr/>
            <p:nvPr/>
          </p:nvSpPr>
          <p:spPr>
            <a:xfrm>
              <a:off x="2657475" y="4448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7" name="TextBox 217"/>
            <p:cNvSpPr txBox="1"/>
            <p:nvPr/>
          </p:nvSpPr>
          <p:spPr>
            <a:xfrm>
              <a:off x="2686088" y="44919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18" name="Rectangle 218"/>
            <p:cNvSpPr/>
            <p:nvPr/>
          </p:nvSpPr>
          <p:spPr>
            <a:xfrm>
              <a:off x="2857500" y="4448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9" name="TextBox 219"/>
            <p:cNvSpPr txBox="1"/>
            <p:nvPr/>
          </p:nvSpPr>
          <p:spPr>
            <a:xfrm>
              <a:off x="2886113" y="44919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20" name="Rectangle 220"/>
            <p:cNvSpPr/>
            <p:nvPr/>
          </p:nvSpPr>
          <p:spPr>
            <a:xfrm>
              <a:off x="3057525" y="444817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21" name="TextBox 221"/>
            <p:cNvSpPr txBox="1"/>
            <p:nvPr/>
          </p:nvSpPr>
          <p:spPr>
            <a:xfrm>
              <a:off x="3082806" y="44919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2" name="Rectangle 222"/>
            <p:cNvSpPr/>
            <p:nvPr/>
          </p:nvSpPr>
          <p:spPr>
            <a:xfrm>
              <a:off x="2457450" y="3848100"/>
              <a:ext cx="800100" cy="8001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223" name="TextBox 223"/>
            <p:cNvSpPr txBox="1"/>
            <p:nvPr/>
          </p:nvSpPr>
          <p:spPr>
            <a:xfrm>
              <a:off x="3328416" y="3906202"/>
              <a:ext cx="6870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10 右</a:t>
              </a:r>
            </a:p>
          </p:txBody>
        </p:sp>
        <p:sp>
          <p:nvSpPr>
            <p:cNvPr id="224" name="TextBox 224"/>
            <p:cNvSpPr txBox="1"/>
            <p:nvPr/>
          </p:nvSpPr>
          <p:spPr>
            <a:xfrm>
              <a:off x="3328416" y="411575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ĉ=2+1=3</a:t>
              </a:r>
            </a:p>
          </p:txBody>
        </p:sp>
        <p:sp>
          <p:nvSpPr>
            <p:cNvPr id="225" name="TextBox 225"/>
            <p:cNvSpPr txBox="1"/>
            <p:nvPr/>
          </p:nvSpPr>
          <p:spPr>
            <a:xfrm>
              <a:off x="3328797" y="4333399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{12}</a:t>
              </a:r>
            </a:p>
          </p:txBody>
        </p:sp>
        <p:sp>
          <p:nvSpPr>
            <p:cNvPr id="226" name="Rectangle 226"/>
            <p:cNvSpPr/>
            <p:nvPr/>
          </p:nvSpPr>
          <p:spPr>
            <a:xfrm>
              <a:off x="4057650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7" name="TextBox 227"/>
            <p:cNvSpPr txBox="1"/>
            <p:nvPr/>
          </p:nvSpPr>
          <p:spPr>
            <a:xfrm>
              <a:off x="4119582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8" name="Rectangle 228"/>
            <p:cNvSpPr/>
            <p:nvPr/>
          </p:nvSpPr>
          <p:spPr>
            <a:xfrm>
              <a:off x="4257675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9" name="TextBox 229"/>
            <p:cNvSpPr txBox="1"/>
            <p:nvPr/>
          </p:nvSpPr>
          <p:spPr>
            <a:xfrm>
              <a:off x="4319607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0" name="Rectangle 230"/>
            <p:cNvSpPr/>
            <p:nvPr/>
          </p:nvSpPr>
          <p:spPr>
            <a:xfrm>
              <a:off x="4457700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1" name="TextBox 231"/>
            <p:cNvSpPr txBox="1"/>
            <p:nvPr/>
          </p:nvSpPr>
          <p:spPr>
            <a:xfrm>
              <a:off x="4519632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2" name="Rectangle 232"/>
            <p:cNvSpPr/>
            <p:nvPr/>
          </p:nvSpPr>
          <p:spPr>
            <a:xfrm>
              <a:off x="4657725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3" name="TextBox 233"/>
            <p:cNvSpPr txBox="1"/>
            <p:nvPr/>
          </p:nvSpPr>
          <p:spPr>
            <a:xfrm>
              <a:off x="4719657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4" name="Rectangle 234"/>
            <p:cNvSpPr/>
            <p:nvPr/>
          </p:nvSpPr>
          <p:spPr>
            <a:xfrm>
              <a:off x="4057650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5" name="TextBox 235"/>
            <p:cNvSpPr txBox="1"/>
            <p:nvPr/>
          </p:nvSpPr>
          <p:spPr>
            <a:xfrm>
              <a:off x="4119582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6" name="Rectangle 236"/>
            <p:cNvSpPr/>
            <p:nvPr/>
          </p:nvSpPr>
          <p:spPr>
            <a:xfrm>
              <a:off x="4257675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7" name="TextBox 237"/>
            <p:cNvSpPr txBox="1"/>
            <p:nvPr/>
          </p:nvSpPr>
          <p:spPr>
            <a:xfrm>
              <a:off x="4319607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38" name="Rectangle 238"/>
            <p:cNvSpPr/>
            <p:nvPr/>
          </p:nvSpPr>
          <p:spPr>
            <a:xfrm>
              <a:off x="4457700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9" name="TextBox 239"/>
            <p:cNvSpPr txBox="1"/>
            <p:nvPr/>
          </p:nvSpPr>
          <p:spPr>
            <a:xfrm>
              <a:off x="4519632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0" name="Rectangle 240"/>
            <p:cNvSpPr/>
            <p:nvPr/>
          </p:nvSpPr>
          <p:spPr>
            <a:xfrm>
              <a:off x="4657725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1" name="TextBox 241"/>
            <p:cNvSpPr txBox="1"/>
            <p:nvPr/>
          </p:nvSpPr>
          <p:spPr>
            <a:xfrm>
              <a:off x="4719657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2" name="Rectangle 242"/>
            <p:cNvSpPr/>
            <p:nvPr/>
          </p:nvSpPr>
          <p:spPr>
            <a:xfrm>
              <a:off x="4057650" y="4248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3" name="TextBox 243"/>
            <p:cNvSpPr txBox="1"/>
            <p:nvPr/>
          </p:nvSpPr>
          <p:spPr>
            <a:xfrm>
              <a:off x="4119582" y="4291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4" name="Rectangle 244"/>
            <p:cNvSpPr/>
            <p:nvPr/>
          </p:nvSpPr>
          <p:spPr>
            <a:xfrm>
              <a:off x="4257675" y="4248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5" name="TextBox 245"/>
            <p:cNvSpPr txBox="1"/>
            <p:nvPr/>
          </p:nvSpPr>
          <p:spPr>
            <a:xfrm>
              <a:off x="4286288" y="429196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46" name="Rectangle 246"/>
            <p:cNvSpPr/>
            <p:nvPr/>
          </p:nvSpPr>
          <p:spPr>
            <a:xfrm>
              <a:off x="4457700" y="424815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47" name="TextBox 247"/>
            <p:cNvSpPr txBox="1"/>
            <p:nvPr/>
          </p:nvSpPr>
          <p:spPr>
            <a:xfrm>
              <a:off x="4482981" y="42919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48" name="Rectangle 248"/>
            <p:cNvSpPr/>
            <p:nvPr/>
          </p:nvSpPr>
          <p:spPr>
            <a:xfrm>
              <a:off x="4657725" y="424815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49" name="TextBox 249"/>
            <p:cNvSpPr txBox="1"/>
            <p:nvPr/>
          </p:nvSpPr>
          <p:spPr>
            <a:xfrm>
              <a:off x="4683006" y="42919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50" name="Rectangle 250"/>
            <p:cNvSpPr/>
            <p:nvPr/>
          </p:nvSpPr>
          <p:spPr>
            <a:xfrm>
              <a:off x="4057650" y="4448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1" name="TextBox 251"/>
            <p:cNvSpPr txBox="1"/>
            <p:nvPr/>
          </p:nvSpPr>
          <p:spPr>
            <a:xfrm>
              <a:off x="4086263" y="44919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52" name="Rectangle 252"/>
            <p:cNvSpPr/>
            <p:nvPr/>
          </p:nvSpPr>
          <p:spPr>
            <a:xfrm>
              <a:off x="4257675" y="4448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3" name="TextBox 253"/>
            <p:cNvSpPr txBox="1"/>
            <p:nvPr/>
          </p:nvSpPr>
          <p:spPr>
            <a:xfrm>
              <a:off x="4286288" y="44919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54" name="Rectangle 254"/>
            <p:cNvSpPr/>
            <p:nvPr/>
          </p:nvSpPr>
          <p:spPr>
            <a:xfrm>
              <a:off x="4457700" y="4448175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55" name="Rectangle 255"/>
            <p:cNvSpPr/>
            <p:nvPr/>
          </p:nvSpPr>
          <p:spPr>
            <a:xfrm>
              <a:off x="4657725" y="444817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56" name="TextBox 256"/>
            <p:cNvSpPr txBox="1"/>
            <p:nvPr/>
          </p:nvSpPr>
          <p:spPr>
            <a:xfrm>
              <a:off x="4683006" y="44919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57" name="Rectangle 257"/>
            <p:cNvSpPr/>
            <p:nvPr/>
          </p:nvSpPr>
          <p:spPr>
            <a:xfrm>
              <a:off x="4057650" y="3848100"/>
              <a:ext cx="800100" cy="8001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258" name="TextBox 258"/>
            <p:cNvSpPr txBox="1"/>
            <p:nvPr/>
          </p:nvSpPr>
          <p:spPr>
            <a:xfrm>
              <a:off x="4928616" y="3906202"/>
              <a:ext cx="6870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11 下</a:t>
              </a:r>
            </a:p>
          </p:txBody>
        </p:sp>
        <p:sp>
          <p:nvSpPr>
            <p:cNvPr id="259" name="TextBox 259"/>
            <p:cNvSpPr txBox="1"/>
            <p:nvPr/>
          </p:nvSpPr>
          <p:spPr>
            <a:xfrm>
              <a:off x="4928616" y="411575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ĉ=2+3=5</a:t>
              </a:r>
            </a:p>
          </p:txBody>
        </p:sp>
        <p:sp>
          <p:nvSpPr>
            <p:cNvPr id="260" name="TextBox 260"/>
            <p:cNvSpPr txBox="1"/>
            <p:nvPr/>
          </p:nvSpPr>
          <p:spPr>
            <a:xfrm>
              <a:off x="4928997" y="4333399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{11,12,15}</a:t>
              </a:r>
            </a:p>
          </p:txBody>
        </p:sp>
        <p:sp>
          <p:nvSpPr>
            <p:cNvPr id="261" name="Rectangle 261"/>
            <p:cNvSpPr/>
            <p:nvPr/>
          </p:nvSpPr>
          <p:spPr>
            <a:xfrm>
              <a:off x="5657850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2" name="TextBox 262"/>
            <p:cNvSpPr txBox="1"/>
            <p:nvPr/>
          </p:nvSpPr>
          <p:spPr>
            <a:xfrm>
              <a:off x="5719782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3" name="Rectangle 263"/>
            <p:cNvSpPr/>
            <p:nvPr/>
          </p:nvSpPr>
          <p:spPr>
            <a:xfrm>
              <a:off x="5857875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4" name="TextBox 264"/>
            <p:cNvSpPr txBox="1"/>
            <p:nvPr/>
          </p:nvSpPr>
          <p:spPr>
            <a:xfrm>
              <a:off x="5919807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5" name="Rectangle 265"/>
            <p:cNvSpPr/>
            <p:nvPr/>
          </p:nvSpPr>
          <p:spPr>
            <a:xfrm>
              <a:off x="6057900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6" name="TextBox 266"/>
            <p:cNvSpPr txBox="1"/>
            <p:nvPr/>
          </p:nvSpPr>
          <p:spPr>
            <a:xfrm>
              <a:off x="6119832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7" name="Rectangle 267"/>
            <p:cNvSpPr/>
            <p:nvPr/>
          </p:nvSpPr>
          <p:spPr>
            <a:xfrm>
              <a:off x="6257925" y="3848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8" name="TextBox 268"/>
            <p:cNvSpPr txBox="1"/>
            <p:nvPr/>
          </p:nvSpPr>
          <p:spPr>
            <a:xfrm>
              <a:off x="6319857" y="3891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9" name="Rectangle 269"/>
            <p:cNvSpPr/>
            <p:nvPr/>
          </p:nvSpPr>
          <p:spPr>
            <a:xfrm>
              <a:off x="5657850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0" name="TextBox 270"/>
            <p:cNvSpPr txBox="1"/>
            <p:nvPr/>
          </p:nvSpPr>
          <p:spPr>
            <a:xfrm>
              <a:off x="5719782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1" name="Rectangle 271"/>
            <p:cNvSpPr/>
            <p:nvPr/>
          </p:nvSpPr>
          <p:spPr>
            <a:xfrm>
              <a:off x="5857875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2" name="TextBox 272"/>
            <p:cNvSpPr txBox="1"/>
            <p:nvPr/>
          </p:nvSpPr>
          <p:spPr>
            <a:xfrm>
              <a:off x="5919807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3" name="Rectangle 273"/>
            <p:cNvSpPr/>
            <p:nvPr/>
          </p:nvSpPr>
          <p:spPr>
            <a:xfrm>
              <a:off x="6057900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4" name="TextBox 274"/>
            <p:cNvSpPr txBox="1"/>
            <p:nvPr/>
          </p:nvSpPr>
          <p:spPr>
            <a:xfrm>
              <a:off x="6119832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5" name="Rectangle 275"/>
            <p:cNvSpPr/>
            <p:nvPr/>
          </p:nvSpPr>
          <p:spPr>
            <a:xfrm>
              <a:off x="6257925" y="4048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6" name="TextBox 276"/>
            <p:cNvSpPr txBox="1"/>
            <p:nvPr/>
          </p:nvSpPr>
          <p:spPr>
            <a:xfrm>
              <a:off x="6319857" y="4091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77" name="Rectangle 277"/>
            <p:cNvSpPr/>
            <p:nvPr/>
          </p:nvSpPr>
          <p:spPr>
            <a:xfrm>
              <a:off x="5657850" y="42481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8" name="TextBox 278"/>
            <p:cNvSpPr txBox="1"/>
            <p:nvPr/>
          </p:nvSpPr>
          <p:spPr>
            <a:xfrm>
              <a:off x="5719782" y="42919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79" name="Rectangle 279"/>
            <p:cNvSpPr/>
            <p:nvPr/>
          </p:nvSpPr>
          <p:spPr>
            <a:xfrm>
              <a:off x="5857875" y="4248150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80" name="Rectangle 280"/>
            <p:cNvSpPr/>
            <p:nvPr/>
          </p:nvSpPr>
          <p:spPr>
            <a:xfrm>
              <a:off x="6057900" y="424815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81" name="TextBox 281"/>
            <p:cNvSpPr txBox="1"/>
            <p:nvPr/>
          </p:nvSpPr>
          <p:spPr>
            <a:xfrm>
              <a:off x="6083181" y="42919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2" name="Rectangle 282"/>
            <p:cNvSpPr/>
            <p:nvPr/>
          </p:nvSpPr>
          <p:spPr>
            <a:xfrm>
              <a:off x="6257925" y="424815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83" name="TextBox 283"/>
            <p:cNvSpPr txBox="1"/>
            <p:nvPr/>
          </p:nvSpPr>
          <p:spPr>
            <a:xfrm>
              <a:off x="6283206" y="42919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84" name="Rectangle 284"/>
            <p:cNvSpPr/>
            <p:nvPr/>
          </p:nvSpPr>
          <p:spPr>
            <a:xfrm>
              <a:off x="5657850" y="4448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5" name="TextBox 285"/>
            <p:cNvSpPr txBox="1"/>
            <p:nvPr/>
          </p:nvSpPr>
          <p:spPr>
            <a:xfrm>
              <a:off x="5686463" y="44919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86" name="Rectangle 286"/>
            <p:cNvSpPr/>
            <p:nvPr/>
          </p:nvSpPr>
          <p:spPr>
            <a:xfrm>
              <a:off x="5857875" y="4448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7" name="TextBox 287"/>
            <p:cNvSpPr txBox="1"/>
            <p:nvPr/>
          </p:nvSpPr>
          <p:spPr>
            <a:xfrm>
              <a:off x="5886488" y="44919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88" name="Rectangle 288"/>
            <p:cNvSpPr/>
            <p:nvPr/>
          </p:nvSpPr>
          <p:spPr>
            <a:xfrm>
              <a:off x="6057900" y="44481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9" name="TextBox 289"/>
            <p:cNvSpPr txBox="1"/>
            <p:nvPr/>
          </p:nvSpPr>
          <p:spPr>
            <a:xfrm>
              <a:off x="6086513" y="449199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90" name="Rectangle 290"/>
            <p:cNvSpPr/>
            <p:nvPr/>
          </p:nvSpPr>
          <p:spPr>
            <a:xfrm>
              <a:off x="6257925" y="444817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91" name="TextBox 291"/>
            <p:cNvSpPr txBox="1"/>
            <p:nvPr/>
          </p:nvSpPr>
          <p:spPr>
            <a:xfrm>
              <a:off x="6283206" y="44919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92" name="Rectangle 292"/>
            <p:cNvSpPr/>
            <p:nvPr/>
          </p:nvSpPr>
          <p:spPr>
            <a:xfrm>
              <a:off x="5657850" y="3848100"/>
              <a:ext cx="800100" cy="8001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293" name="TextBox 293"/>
            <p:cNvSpPr txBox="1"/>
            <p:nvPr/>
          </p:nvSpPr>
          <p:spPr>
            <a:xfrm>
              <a:off x="6528816" y="3906202"/>
              <a:ext cx="6870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12 左</a:t>
              </a:r>
            </a:p>
          </p:txBody>
        </p:sp>
        <p:sp>
          <p:nvSpPr>
            <p:cNvPr id="294" name="TextBox 294"/>
            <p:cNvSpPr txBox="1"/>
            <p:nvPr/>
          </p:nvSpPr>
          <p:spPr>
            <a:xfrm>
              <a:off x="6528816" y="411575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ĉ=2+3=5</a:t>
              </a:r>
            </a:p>
          </p:txBody>
        </p:sp>
        <p:sp>
          <p:nvSpPr>
            <p:cNvPr id="295" name="TextBox 295"/>
            <p:cNvSpPr txBox="1"/>
            <p:nvPr/>
          </p:nvSpPr>
          <p:spPr>
            <a:xfrm>
              <a:off x="6529197" y="4333399"/>
              <a:ext cx="7355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{10,11,12}</a:t>
              </a:r>
            </a:p>
          </p:txBody>
        </p:sp>
        <p:sp>
          <p:nvSpPr>
            <p:cNvPr id="296" name="Rectangle 296"/>
            <p:cNvSpPr/>
            <p:nvPr/>
          </p:nvSpPr>
          <p:spPr>
            <a:xfrm>
              <a:off x="1638300" y="49720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7" name="TextBox 297"/>
            <p:cNvSpPr txBox="1"/>
            <p:nvPr/>
          </p:nvSpPr>
          <p:spPr>
            <a:xfrm>
              <a:off x="1700232" y="50158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8" name="Rectangle 298"/>
            <p:cNvSpPr/>
            <p:nvPr/>
          </p:nvSpPr>
          <p:spPr>
            <a:xfrm>
              <a:off x="1838325" y="49720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9" name="TextBox 299"/>
            <p:cNvSpPr txBox="1"/>
            <p:nvPr/>
          </p:nvSpPr>
          <p:spPr>
            <a:xfrm>
              <a:off x="1900257" y="50158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0" name="Rectangle 300"/>
            <p:cNvSpPr/>
            <p:nvPr/>
          </p:nvSpPr>
          <p:spPr>
            <a:xfrm>
              <a:off x="2038350" y="49720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1" name="TextBox 301"/>
            <p:cNvSpPr txBox="1"/>
            <p:nvPr/>
          </p:nvSpPr>
          <p:spPr>
            <a:xfrm>
              <a:off x="2100282" y="50158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2" name="Rectangle 302"/>
            <p:cNvSpPr/>
            <p:nvPr/>
          </p:nvSpPr>
          <p:spPr>
            <a:xfrm>
              <a:off x="2238375" y="49720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3" name="TextBox 303"/>
            <p:cNvSpPr txBox="1"/>
            <p:nvPr/>
          </p:nvSpPr>
          <p:spPr>
            <a:xfrm>
              <a:off x="2300307" y="50158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4" name="Rectangle 304"/>
            <p:cNvSpPr/>
            <p:nvPr/>
          </p:nvSpPr>
          <p:spPr>
            <a:xfrm>
              <a:off x="1638300" y="51720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5" name="TextBox 305"/>
            <p:cNvSpPr txBox="1"/>
            <p:nvPr/>
          </p:nvSpPr>
          <p:spPr>
            <a:xfrm>
              <a:off x="1700232" y="52158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6" name="Rectangle 306"/>
            <p:cNvSpPr/>
            <p:nvPr/>
          </p:nvSpPr>
          <p:spPr>
            <a:xfrm>
              <a:off x="1838325" y="51720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7" name="TextBox 307"/>
            <p:cNvSpPr txBox="1"/>
            <p:nvPr/>
          </p:nvSpPr>
          <p:spPr>
            <a:xfrm>
              <a:off x="1900257" y="52158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8" name="Rectangle 308"/>
            <p:cNvSpPr/>
            <p:nvPr/>
          </p:nvSpPr>
          <p:spPr>
            <a:xfrm>
              <a:off x="2038350" y="51720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9" name="TextBox 309"/>
            <p:cNvSpPr txBox="1"/>
            <p:nvPr/>
          </p:nvSpPr>
          <p:spPr>
            <a:xfrm>
              <a:off x="2100282" y="52158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0" name="Rectangle 310"/>
            <p:cNvSpPr/>
            <p:nvPr/>
          </p:nvSpPr>
          <p:spPr>
            <a:xfrm>
              <a:off x="2238375" y="5172075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11" name="Rectangle 311"/>
            <p:cNvSpPr/>
            <p:nvPr/>
          </p:nvSpPr>
          <p:spPr>
            <a:xfrm>
              <a:off x="1638300" y="5372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2" name="TextBox 312"/>
            <p:cNvSpPr txBox="1"/>
            <p:nvPr/>
          </p:nvSpPr>
          <p:spPr>
            <a:xfrm>
              <a:off x="1700232" y="5415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13" name="Rectangle 313"/>
            <p:cNvSpPr/>
            <p:nvPr/>
          </p:nvSpPr>
          <p:spPr>
            <a:xfrm>
              <a:off x="1838325" y="5372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4" name="TextBox 314"/>
            <p:cNvSpPr txBox="1"/>
            <p:nvPr/>
          </p:nvSpPr>
          <p:spPr>
            <a:xfrm>
              <a:off x="1866938" y="54159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15" name="Rectangle 315"/>
            <p:cNvSpPr/>
            <p:nvPr/>
          </p:nvSpPr>
          <p:spPr>
            <a:xfrm>
              <a:off x="2038350" y="5372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6" name="TextBox 316"/>
            <p:cNvSpPr txBox="1"/>
            <p:nvPr/>
          </p:nvSpPr>
          <p:spPr>
            <a:xfrm>
              <a:off x="2066963" y="54159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17" name="Rectangle 317"/>
            <p:cNvSpPr/>
            <p:nvPr/>
          </p:nvSpPr>
          <p:spPr>
            <a:xfrm>
              <a:off x="2238375" y="5372100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18" name="TextBox 318"/>
            <p:cNvSpPr txBox="1"/>
            <p:nvPr/>
          </p:nvSpPr>
          <p:spPr>
            <a:xfrm>
              <a:off x="2298641" y="54159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9" name="Rectangle 319"/>
            <p:cNvSpPr/>
            <p:nvPr/>
          </p:nvSpPr>
          <p:spPr>
            <a:xfrm>
              <a:off x="1638300" y="5572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0" name="TextBox 320"/>
            <p:cNvSpPr txBox="1"/>
            <p:nvPr/>
          </p:nvSpPr>
          <p:spPr>
            <a:xfrm>
              <a:off x="1666913" y="56159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21" name="Rectangle 321"/>
            <p:cNvSpPr/>
            <p:nvPr/>
          </p:nvSpPr>
          <p:spPr>
            <a:xfrm>
              <a:off x="1838325" y="5572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2" name="TextBox 322"/>
            <p:cNvSpPr txBox="1"/>
            <p:nvPr/>
          </p:nvSpPr>
          <p:spPr>
            <a:xfrm>
              <a:off x="1866938" y="56159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23" name="Rectangle 323"/>
            <p:cNvSpPr/>
            <p:nvPr/>
          </p:nvSpPr>
          <p:spPr>
            <a:xfrm>
              <a:off x="2038350" y="5572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4" name="TextBox 324"/>
            <p:cNvSpPr txBox="1"/>
            <p:nvPr/>
          </p:nvSpPr>
          <p:spPr>
            <a:xfrm>
              <a:off x="2066963" y="56159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25" name="Rectangle 325"/>
            <p:cNvSpPr/>
            <p:nvPr/>
          </p:nvSpPr>
          <p:spPr>
            <a:xfrm>
              <a:off x="2238375" y="5572125"/>
              <a:ext cx="200025" cy="200025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26" name="TextBox 326"/>
            <p:cNvSpPr txBox="1"/>
            <p:nvPr/>
          </p:nvSpPr>
          <p:spPr>
            <a:xfrm>
              <a:off x="2263656" y="56159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7" name="Rectangle 327"/>
            <p:cNvSpPr/>
            <p:nvPr/>
          </p:nvSpPr>
          <p:spPr>
            <a:xfrm>
              <a:off x="1638300" y="4972050"/>
              <a:ext cx="800100" cy="8001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328" name="TextBox 328"/>
            <p:cNvSpPr txBox="1"/>
            <p:nvPr/>
          </p:nvSpPr>
          <p:spPr>
            <a:xfrm>
              <a:off x="2509266" y="5030152"/>
              <a:ext cx="6870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22 上</a:t>
              </a:r>
            </a:p>
          </p:txBody>
        </p:sp>
        <p:sp>
          <p:nvSpPr>
            <p:cNvPr id="329" name="TextBox 329"/>
            <p:cNvSpPr txBox="1"/>
            <p:nvPr/>
          </p:nvSpPr>
          <p:spPr>
            <a:xfrm>
              <a:off x="2509266" y="523970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ĉ=3+2=5</a:t>
              </a:r>
            </a:p>
          </p:txBody>
        </p:sp>
        <p:sp>
          <p:nvSpPr>
            <p:cNvPr id="330" name="TextBox 330"/>
            <p:cNvSpPr txBox="1"/>
            <p:nvPr/>
          </p:nvSpPr>
          <p:spPr>
            <a:xfrm>
              <a:off x="2509647" y="5457349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{8,12}</a:t>
              </a:r>
            </a:p>
          </p:txBody>
        </p:sp>
        <p:sp>
          <p:nvSpPr>
            <p:cNvPr id="331" name="Rectangle 331"/>
            <p:cNvSpPr/>
            <p:nvPr/>
          </p:nvSpPr>
          <p:spPr>
            <a:xfrm>
              <a:off x="3238500" y="49720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2" name="TextBox 332"/>
            <p:cNvSpPr txBox="1"/>
            <p:nvPr/>
          </p:nvSpPr>
          <p:spPr>
            <a:xfrm>
              <a:off x="3300432" y="50158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3" name="Rectangle 333"/>
            <p:cNvSpPr/>
            <p:nvPr/>
          </p:nvSpPr>
          <p:spPr>
            <a:xfrm>
              <a:off x="3438525" y="49720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4" name="TextBox 334"/>
            <p:cNvSpPr txBox="1"/>
            <p:nvPr/>
          </p:nvSpPr>
          <p:spPr>
            <a:xfrm>
              <a:off x="3500457" y="50158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5" name="Rectangle 335"/>
            <p:cNvSpPr/>
            <p:nvPr/>
          </p:nvSpPr>
          <p:spPr>
            <a:xfrm>
              <a:off x="3638550" y="49720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6" name="TextBox 336"/>
            <p:cNvSpPr txBox="1"/>
            <p:nvPr/>
          </p:nvSpPr>
          <p:spPr>
            <a:xfrm>
              <a:off x="3700482" y="50158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7" name="Rectangle 337"/>
            <p:cNvSpPr/>
            <p:nvPr/>
          </p:nvSpPr>
          <p:spPr>
            <a:xfrm>
              <a:off x="3838575" y="497205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8" name="TextBox 338"/>
            <p:cNvSpPr txBox="1"/>
            <p:nvPr/>
          </p:nvSpPr>
          <p:spPr>
            <a:xfrm>
              <a:off x="3900507" y="50158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9" name="Rectangle 339"/>
            <p:cNvSpPr/>
            <p:nvPr/>
          </p:nvSpPr>
          <p:spPr>
            <a:xfrm>
              <a:off x="3238500" y="51720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0" name="TextBox 340"/>
            <p:cNvSpPr txBox="1"/>
            <p:nvPr/>
          </p:nvSpPr>
          <p:spPr>
            <a:xfrm>
              <a:off x="3300432" y="52158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1" name="Rectangle 341"/>
            <p:cNvSpPr/>
            <p:nvPr/>
          </p:nvSpPr>
          <p:spPr>
            <a:xfrm>
              <a:off x="3438525" y="51720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2" name="TextBox 342"/>
            <p:cNvSpPr txBox="1"/>
            <p:nvPr/>
          </p:nvSpPr>
          <p:spPr>
            <a:xfrm>
              <a:off x="3500457" y="52158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3" name="Rectangle 343"/>
            <p:cNvSpPr/>
            <p:nvPr/>
          </p:nvSpPr>
          <p:spPr>
            <a:xfrm>
              <a:off x="3638550" y="51720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4" name="TextBox 344"/>
            <p:cNvSpPr txBox="1"/>
            <p:nvPr/>
          </p:nvSpPr>
          <p:spPr>
            <a:xfrm>
              <a:off x="3700482" y="52158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5" name="Rectangle 345"/>
            <p:cNvSpPr/>
            <p:nvPr/>
          </p:nvSpPr>
          <p:spPr>
            <a:xfrm>
              <a:off x="3838575" y="517207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6" name="TextBox 346"/>
            <p:cNvSpPr txBox="1"/>
            <p:nvPr/>
          </p:nvSpPr>
          <p:spPr>
            <a:xfrm>
              <a:off x="3900507" y="52158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7" name="Rectangle 347"/>
            <p:cNvSpPr/>
            <p:nvPr/>
          </p:nvSpPr>
          <p:spPr>
            <a:xfrm>
              <a:off x="3238500" y="5372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8" name="TextBox 348"/>
            <p:cNvSpPr txBox="1"/>
            <p:nvPr/>
          </p:nvSpPr>
          <p:spPr>
            <a:xfrm>
              <a:off x="3300432" y="541591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9" name="Rectangle 349"/>
            <p:cNvSpPr/>
            <p:nvPr/>
          </p:nvSpPr>
          <p:spPr>
            <a:xfrm>
              <a:off x="3438525" y="5372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0" name="TextBox 350"/>
            <p:cNvSpPr txBox="1"/>
            <p:nvPr/>
          </p:nvSpPr>
          <p:spPr>
            <a:xfrm>
              <a:off x="3467138" y="54159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1" name="Rectangle 351"/>
            <p:cNvSpPr/>
            <p:nvPr/>
          </p:nvSpPr>
          <p:spPr>
            <a:xfrm>
              <a:off x="3638550" y="5372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2" name="TextBox 352"/>
            <p:cNvSpPr txBox="1"/>
            <p:nvPr/>
          </p:nvSpPr>
          <p:spPr>
            <a:xfrm>
              <a:off x="3667163" y="54159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53" name="Rectangle 353"/>
            <p:cNvSpPr/>
            <p:nvPr/>
          </p:nvSpPr>
          <p:spPr>
            <a:xfrm>
              <a:off x="3838575" y="5372100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4" name="TextBox 354"/>
            <p:cNvSpPr txBox="1"/>
            <p:nvPr/>
          </p:nvSpPr>
          <p:spPr>
            <a:xfrm>
              <a:off x="3867188" y="541591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55" name="Rectangle 355"/>
            <p:cNvSpPr/>
            <p:nvPr/>
          </p:nvSpPr>
          <p:spPr>
            <a:xfrm>
              <a:off x="3238500" y="5572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6" name="TextBox 356"/>
            <p:cNvSpPr txBox="1"/>
            <p:nvPr/>
          </p:nvSpPr>
          <p:spPr>
            <a:xfrm>
              <a:off x="3267113" y="56159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57" name="Rectangle 357"/>
            <p:cNvSpPr/>
            <p:nvPr/>
          </p:nvSpPr>
          <p:spPr>
            <a:xfrm>
              <a:off x="3438525" y="5572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8" name="TextBox 358"/>
            <p:cNvSpPr txBox="1"/>
            <p:nvPr/>
          </p:nvSpPr>
          <p:spPr>
            <a:xfrm>
              <a:off x="3467138" y="56159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59" name="Rectangle 359"/>
            <p:cNvSpPr/>
            <p:nvPr/>
          </p:nvSpPr>
          <p:spPr>
            <a:xfrm>
              <a:off x="3638550" y="5572125"/>
              <a:ext cx="200025" cy="2000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0" name="TextBox 360"/>
            <p:cNvSpPr txBox="1"/>
            <p:nvPr/>
          </p:nvSpPr>
          <p:spPr>
            <a:xfrm>
              <a:off x="3667163" y="56159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1" name="Rectangle 361"/>
            <p:cNvSpPr/>
            <p:nvPr/>
          </p:nvSpPr>
          <p:spPr>
            <a:xfrm>
              <a:off x="3838575" y="5572125"/>
              <a:ext cx="200025" cy="200025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62" name="Rectangle 362"/>
            <p:cNvSpPr/>
            <p:nvPr/>
          </p:nvSpPr>
          <p:spPr>
            <a:xfrm>
              <a:off x="3238500" y="4972050"/>
              <a:ext cx="800100" cy="800100"/>
            </a:xfrm>
            <a:prstGeom prst="rect">
              <a:avLst/>
            </a:prstGeom>
            <a:noFill/>
            <a:ln w="24765">
              <a:solidFill>
                <a:srgbClr val="14A38B"/>
              </a:solidFill>
            </a:ln>
          </p:spPr>
        </p:sp>
        <p:sp>
          <p:nvSpPr>
            <p:cNvPr id="363" name="TextBox 363"/>
            <p:cNvSpPr txBox="1"/>
            <p:nvPr/>
          </p:nvSpPr>
          <p:spPr>
            <a:xfrm>
              <a:off x="4109466" y="5030152"/>
              <a:ext cx="6870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结点 23 下</a:t>
              </a:r>
            </a:p>
          </p:txBody>
        </p:sp>
        <p:sp>
          <p:nvSpPr>
            <p:cNvPr id="364" name="TextBox 364"/>
            <p:cNvSpPr txBox="1"/>
            <p:nvPr/>
          </p:nvSpPr>
          <p:spPr>
            <a:xfrm>
              <a:off x="4109466" y="523970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ĉ=3+0=3</a:t>
              </a:r>
            </a:p>
          </p:txBody>
        </p:sp>
        <p:sp>
          <p:nvSpPr>
            <p:cNvPr id="365" name="TextBox 365"/>
            <p:cNvSpPr txBox="1"/>
            <p:nvPr/>
          </p:nvSpPr>
          <p:spPr>
            <a:xfrm>
              <a:off x="4109847" y="54573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</p:grpSp>
      <p:grpSp>
        <p:nvGrpSpPr>
          <p:cNvPr id="395" name="lc-steps"/>
          <p:cNvGrpSpPr/>
          <p:nvPr/>
        </p:nvGrpSpPr>
        <p:grpSpPr>
          <a:xfrm>
            <a:off x="7429500" y="1524000"/>
            <a:ext cx="4229100" cy="4838700"/>
            <a:chOff x="7429500" y="1524000"/>
            <a:chExt cx="4229100" cy="4838700"/>
          </a:xfrm>
        </p:grpSpPr>
        <p:sp>
          <p:nvSpPr>
            <p:cNvPr id="367" name="Rectangle 367"/>
            <p:cNvSpPr/>
            <p:nvPr/>
          </p:nvSpPr>
          <p:spPr>
            <a:xfrm>
              <a:off x="7429500" y="1524000"/>
              <a:ext cx="4229100" cy="4838700"/>
            </a:xfrm>
            <a:prstGeom prst="roundRect">
              <a:avLst>
                <a:gd name="adj" fmla="val 31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8" name="TextBox 368"/>
            <p:cNvSpPr txBox="1"/>
            <p:nvPr/>
          </p:nvSpPr>
          <p:spPr>
            <a:xfrm>
              <a:off x="7594473" y="1691164"/>
              <a:ext cx="24610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每次从活结点表取 ĉ 最小的结点</a:t>
              </a:r>
            </a:p>
          </p:txBody>
        </p:sp>
        <p:sp>
          <p:nvSpPr>
            <p:cNvPr id="369" name="Rectangle 369"/>
            <p:cNvSpPr/>
            <p:nvPr/>
          </p:nvSpPr>
          <p:spPr>
            <a:xfrm>
              <a:off x="7562850" y="2000250"/>
              <a:ext cx="3962400" cy="323850"/>
            </a:xfrm>
            <a:prstGeom prst="rect">
              <a:avLst/>
            </a:prstGeom>
            <a:solidFill>
              <a:srgbClr val="2F4B9A"/>
            </a:solidFill>
            <a:ln w="9525">
              <a:solidFill>
                <a:srgbClr val="D9DFEA"/>
              </a:solidFill>
            </a:ln>
          </p:spPr>
        </p:sp>
        <p:sp>
          <p:nvSpPr>
            <p:cNvPr id="370" name="TextBox 370"/>
            <p:cNvSpPr txBox="1"/>
            <p:nvPr/>
          </p:nvSpPr>
          <p:spPr>
            <a:xfrm>
              <a:off x="7633716" y="20964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371" name="TextBox 371"/>
            <p:cNvSpPr txBox="1"/>
            <p:nvPr/>
          </p:nvSpPr>
          <p:spPr>
            <a:xfrm>
              <a:off x="7919466" y="2096452"/>
              <a:ext cx="4658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372" name="TextBox 372"/>
            <p:cNvSpPr txBox="1"/>
            <p:nvPr/>
          </p:nvSpPr>
          <p:spPr>
            <a:xfrm>
              <a:off x="8471916" y="2096452"/>
              <a:ext cx="1148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新生成的儿子 (ĉ)</a:t>
              </a:r>
            </a:p>
          </p:txBody>
        </p:sp>
        <p:sp>
          <p:nvSpPr>
            <p:cNvPr id="373" name="TextBox 373"/>
            <p:cNvSpPr txBox="1"/>
            <p:nvPr/>
          </p:nvSpPr>
          <p:spPr>
            <a:xfrm>
              <a:off x="10072116" y="2096452"/>
              <a:ext cx="865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活结点表 (ĉ)</a:t>
              </a:r>
            </a:p>
          </p:txBody>
        </p:sp>
        <p:sp>
          <p:nvSpPr>
            <p:cNvPr id="374" name="Rectangle 374"/>
            <p:cNvSpPr/>
            <p:nvPr/>
          </p:nvSpPr>
          <p:spPr>
            <a:xfrm>
              <a:off x="7562850" y="2324100"/>
              <a:ext cx="39624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5" name="TextBox 375"/>
            <p:cNvSpPr txBox="1"/>
            <p:nvPr/>
          </p:nvSpPr>
          <p:spPr>
            <a:xfrm>
              <a:off x="7633716" y="24679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6" name="TextBox 376"/>
            <p:cNvSpPr txBox="1"/>
            <p:nvPr/>
          </p:nvSpPr>
          <p:spPr>
            <a:xfrm>
              <a:off x="7919466" y="2467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7" name="TextBox 377"/>
            <p:cNvSpPr txBox="1"/>
            <p:nvPr/>
          </p:nvSpPr>
          <p:spPr>
            <a:xfrm>
              <a:off x="8471916" y="2467928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2(5) 3(5) 4(3) 5(5)</a:t>
              </a:r>
            </a:p>
          </p:txBody>
        </p:sp>
        <p:sp>
          <p:nvSpPr>
            <p:cNvPr id="378" name="TextBox 378"/>
            <p:cNvSpPr txBox="1"/>
            <p:nvPr/>
          </p:nvSpPr>
          <p:spPr>
            <a:xfrm>
              <a:off x="10072116" y="2467928"/>
              <a:ext cx="91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4(3) 2 3 5(5)</a:t>
              </a:r>
            </a:p>
          </p:txBody>
        </p:sp>
        <p:sp>
          <p:nvSpPr>
            <p:cNvPr id="379" name="Rectangle 379"/>
            <p:cNvSpPr/>
            <p:nvPr/>
          </p:nvSpPr>
          <p:spPr>
            <a:xfrm>
              <a:off x="7562850" y="2743200"/>
              <a:ext cx="39624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0" name="TextBox 380"/>
            <p:cNvSpPr txBox="1"/>
            <p:nvPr/>
          </p:nvSpPr>
          <p:spPr>
            <a:xfrm>
              <a:off x="7633716" y="2887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1" name="TextBox 381"/>
            <p:cNvSpPr txBox="1"/>
            <p:nvPr/>
          </p:nvSpPr>
          <p:spPr>
            <a:xfrm>
              <a:off x="7919466" y="28870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2" name="TextBox 382"/>
            <p:cNvSpPr txBox="1"/>
            <p:nvPr/>
          </p:nvSpPr>
          <p:spPr>
            <a:xfrm>
              <a:off x="8471916" y="2887028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10(3) 11(5) 12(5)</a:t>
              </a:r>
            </a:p>
          </p:txBody>
        </p:sp>
        <p:sp>
          <p:nvSpPr>
            <p:cNvPr id="383" name="TextBox 383"/>
            <p:cNvSpPr txBox="1"/>
            <p:nvPr/>
          </p:nvSpPr>
          <p:spPr>
            <a:xfrm>
              <a:off x="10072116" y="2887028"/>
              <a:ext cx="1388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10(3) 2 3 5 11 12(5)</a:t>
              </a:r>
            </a:p>
          </p:txBody>
        </p:sp>
        <p:sp>
          <p:nvSpPr>
            <p:cNvPr id="384" name="Rectangle 384"/>
            <p:cNvSpPr/>
            <p:nvPr/>
          </p:nvSpPr>
          <p:spPr>
            <a:xfrm>
              <a:off x="7562850" y="3162300"/>
              <a:ext cx="3962400" cy="4191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5" name="TextBox 385"/>
            <p:cNvSpPr txBox="1"/>
            <p:nvPr/>
          </p:nvSpPr>
          <p:spPr>
            <a:xfrm>
              <a:off x="7633716" y="33061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6" name="TextBox 386"/>
            <p:cNvSpPr txBox="1"/>
            <p:nvPr/>
          </p:nvSpPr>
          <p:spPr>
            <a:xfrm>
              <a:off x="7919466" y="330612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7" name="TextBox 387"/>
            <p:cNvSpPr txBox="1"/>
            <p:nvPr/>
          </p:nvSpPr>
          <p:spPr>
            <a:xfrm>
              <a:off x="8471916" y="3306128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22(5)，23 是目标</a:t>
              </a:r>
            </a:p>
          </p:txBody>
        </p:sp>
        <p:sp>
          <p:nvSpPr>
            <p:cNvPr id="388" name="TextBox 388"/>
            <p:cNvSpPr txBox="1"/>
            <p:nvPr/>
          </p:nvSpPr>
          <p:spPr>
            <a:xfrm>
              <a:off x="10072116" y="33061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停止</a:t>
              </a:r>
            </a:p>
          </p:txBody>
        </p:sp>
        <p:sp>
          <p:nvSpPr>
            <p:cNvPr id="389" name="TextBox 389"/>
            <p:cNvSpPr txBox="1"/>
            <p:nvPr/>
          </p:nvSpPr>
          <p:spPr>
            <a:xfrm>
              <a:off x="7595235" y="3783806"/>
              <a:ext cx="1460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ĉ(X) = f(X) + ĝ(X)</a:t>
              </a:r>
            </a:p>
          </p:txBody>
        </p:sp>
        <p:sp>
          <p:nvSpPr>
            <p:cNvPr id="390" name="TextBox 390"/>
            <p:cNvSpPr txBox="1"/>
            <p:nvPr/>
          </p:nvSpPr>
          <p:spPr>
            <a:xfrm>
              <a:off x="7595235" y="4069556"/>
              <a:ext cx="2194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f(X)：从根到 X 已经移动的次数</a:t>
              </a:r>
            </a:p>
          </p:txBody>
        </p:sp>
        <p:sp>
          <p:nvSpPr>
            <p:cNvPr id="391" name="TextBox 391"/>
            <p:cNvSpPr txBox="1"/>
            <p:nvPr/>
          </p:nvSpPr>
          <p:spPr>
            <a:xfrm>
              <a:off x="7595235" y="4317206"/>
              <a:ext cx="30664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ĝ(X)：不在目标位置的非空白牌数（橙色格）</a:t>
              </a:r>
            </a:p>
          </p:txBody>
        </p:sp>
        <p:sp>
          <p:nvSpPr>
            <p:cNvPr id="392" name="TextBox 392"/>
            <p:cNvSpPr txBox="1"/>
            <p:nvPr/>
          </p:nvSpPr>
          <p:spPr>
            <a:xfrm>
              <a:off x="7595235" y="4564856"/>
              <a:ext cx="275666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每张不在位的牌至少还要移动一次，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ĉ(X) 不会超过真实的最少步数 c(X)。</a:t>
              </a:r>
            </a:p>
          </p:txBody>
        </p:sp>
        <p:sp>
          <p:nvSpPr>
            <p:cNvPr id="393" name="TextBox 393"/>
            <p:cNvSpPr txBox="1"/>
            <p:nvPr/>
          </p:nvSpPr>
          <p:spPr>
            <a:xfrm>
              <a:off x="7595235" y="5098256"/>
              <a:ext cx="2876499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本例只生成 10 个结点，FIFO 生成了 23 个；</a:t>
              </a:r>
              <a:br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深度优先走了 11 步仍未到达。</a:t>
              </a:r>
            </a:p>
          </p:txBody>
        </p:sp>
        <p:sp>
          <p:nvSpPr>
            <p:cNvPr id="394" name="TextBox 394"/>
            <p:cNvSpPr txBox="1"/>
            <p:nvPr/>
          </p:nvSpPr>
          <p:spPr>
            <a:xfrm>
              <a:off x="7595235" y="5593556"/>
              <a:ext cx="37647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在这个开局上，LC-检索几乎和使用精确的 c 一样有效。</a:t>
              </a:r>
            </a:p>
          </p:txBody>
        </p:sp>
      </p:grpSp>
      <p:grpSp>
        <p:nvGrpSpPr>
          <p:cNvPr id="3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6" name="TextBox 39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397" name="TextBox 3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4125" cy="3675697"/>
            <a:chOff x="667512" y="1835468"/>
            <a:chExt cx="6334125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求最小成本的分支限界法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24219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先让 LC-检索找到的答案真正最小，再用上界 U 剪掉不可能更优的子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749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8.2 LC：出表时再判答案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3029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 U、上界函数 u(X) 与 ε 技巧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35326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8.3 UB、8.4 FIFOBB、8.5 LCBB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极大化问题与剪枝总结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49770" cy="909257"/>
            <a:chOff x="520446" y="342900"/>
            <a:chExt cx="85497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497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生成儿子时就判答案，LC-检索可能错过最小成本的答案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44141" cy="308039"/>
            <a:chOff x="525399" y="1550194"/>
            <a:chExt cx="954414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441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可行解是满足约束条件的答案结点；最优解是使目标函数取极值的答案结点。算法 BB 找到的是前者。</a:t>
              </a:r>
            </a:p>
          </p:txBody>
        </p:sp>
      </p:grpSp>
      <p:grpSp>
        <p:nvGrpSpPr>
          <p:cNvPr id="34" name="c1-graph-1"/>
          <p:cNvGrpSpPr/>
          <p:nvPr/>
        </p:nvGrpSpPr>
        <p:grpSpPr>
          <a:xfrm>
            <a:off x="755122" y="2225992"/>
            <a:ext cx="4966757" cy="3758090"/>
            <a:chOff x="755122" y="2225992"/>
            <a:chExt cx="4966757" cy="3758090"/>
          </a:xfrm>
        </p:grpSpPr>
        <p:sp>
          <p:nvSpPr>
            <p:cNvPr id="9" name="Freeform 9"/>
            <p:cNvSpPr/>
            <p:nvPr/>
          </p:nvSpPr>
          <p:spPr>
            <a:xfrm>
              <a:off x="2044065" y="2552700"/>
              <a:ext cx="1071563" cy="1268730"/>
            </a:xfrm>
            <a:custGeom>
              <a:avLst/>
              <a:gdLst/>
              <a:ahLst/>
              <a:cxnLst/>
              <a:rect l="l" t="t" r="r" b="b"/>
              <a:pathLst>
                <a:path w="1071563" h="1268730">
                  <a:moveTo>
                    <a:pt x="1071563" y="0"/>
                  </a:moveTo>
                  <a:lnTo>
                    <a:pt x="0" y="12687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61372" y="2552700"/>
              <a:ext cx="1071562" cy="1268730"/>
            </a:xfrm>
            <a:custGeom>
              <a:avLst/>
              <a:gdLst/>
              <a:ahLst/>
              <a:cxnLst/>
              <a:rect l="l" t="t" r="r" b="b"/>
              <a:pathLst>
                <a:path w="1071562" h="1268730">
                  <a:moveTo>
                    <a:pt x="0" y="0"/>
                  </a:moveTo>
                  <a:lnTo>
                    <a:pt x="1071562" y="12687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50632" y="4091940"/>
              <a:ext cx="621030" cy="1332547"/>
            </a:xfrm>
            <a:custGeom>
              <a:avLst/>
              <a:gdLst/>
              <a:ahLst/>
              <a:cxnLst/>
              <a:rect l="l" t="t" r="r" b="b"/>
              <a:pathLst>
                <a:path w="621030" h="1332547">
                  <a:moveTo>
                    <a:pt x="621030" y="0"/>
                  </a:moveTo>
                  <a:lnTo>
                    <a:pt x="0" y="133254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00250" y="4095750"/>
              <a:ext cx="528638" cy="1325880"/>
            </a:xfrm>
            <a:custGeom>
              <a:avLst/>
              <a:gdLst/>
              <a:ahLst/>
              <a:cxnLst/>
              <a:rect l="l" t="t" r="r" b="b"/>
              <a:pathLst>
                <a:path w="528638" h="1325880">
                  <a:moveTo>
                    <a:pt x="0" y="0"/>
                  </a:moveTo>
                  <a:lnTo>
                    <a:pt x="528638" y="132588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948112" y="4095750"/>
              <a:ext cx="528638" cy="1325880"/>
            </a:xfrm>
            <a:custGeom>
              <a:avLst/>
              <a:gdLst/>
              <a:ahLst/>
              <a:cxnLst/>
              <a:rect l="l" t="t" r="r" b="b"/>
              <a:pathLst>
                <a:path w="528638" h="1325880">
                  <a:moveTo>
                    <a:pt x="528638" y="0"/>
                  </a:moveTo>
                  <a:lnTo>
                    <a:pt x="0" y="132588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05338" y="4091940"/>
              <a:ext cx="621030" cy="1332547"/>
            </a:xfrm>
            <a:custGeom>
              <a:avLst/>
              <a:gdLst/>
              <a:ahLst/>
              <a:cxnLst/>
              <a:rect l="l" t="t" r="r" b="b"/>
              <a:pathLst>
                <a:path w="621030" h="1332547">
                  <a:moveTo>
                    <a:pt x="0" y="0"/>
                  </a:moveTo>
                  <a:lnTo>
                    <a:pt x="621030" y="133254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57525" y="222599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787842" y="379285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384358" y="379285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30605" y="5418772"/>
              <a:ext cx="304800" cy="3048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436495" y="5418772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735705" y="5418772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141595" y="5418772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40773" y="232314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70910" y="2336959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c=10 ĉ=0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77938" y="386143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264" y="387524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c=20 ĉ=2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74453" y="386143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40592" y="387524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c=10 ĉ=4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0700" y="548735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122" y="5764054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答案 c=ĉ=20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41717" y="57640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40927" y="576405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31690" y="548735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66112" y="5764054"/>
              <a:ext cx="855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答案 c=ĉ=10</a:t>
              </a:r>
            </a:p>
          </p:txBody>
        </p:sp>
      </p:grpSp>
      <p:grpSp>
        <p:nvGrpSpPr>
          <p:cNvPr id="48" name="c2-steps-1"/>
          <p:cNvGrpSpPr/>
          <p:nvPr/>
        </p:nvGrpSpPr>
        <p:grpSpPr>
          <a:xfrm>
            <a:off x="6248400" y="1977390"/>
            <a:ext cx="5137704" cy="1878615"/>
            <a:chOff x="6248400" y="1977390"/>
            <a:chExt cx="5137704" cy="1878615"/>
          </a:xfrm>
        </p:grpSpPr>
        <p:sp>
          <p:nvSpPr>
            <p:cNvPr id="35" name="Rectangle 35"/>
            <p:cNvSpPr/>
            <p:nvPr/>
          </p:nvSpPr>
          <p:spPr>
            <a:xfrm>
              <a:off x="6381750" y="212026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248400" y="1977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26279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248400" y="32785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2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9880" y="2011680"/>
              <a:ext cx="598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023" y="2304574"/>
              <a:ext cx="4337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X（ĉ=2）和 Y（ĉ=4），都不是答案，放入活结点表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9880" y="2662238"/>
              <a:ext cx="5193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X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023" y="2955131"/>
              <a:ext cx="47250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的 ĉ 最小。生成儿子时发现答案结点 A，立即输出，成本 20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9880" y="33127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实际情况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023" y="3606641"/>
              <a:ext cx="30307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成本最小的答案是 Y 下面的 B，成本 10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4033838"/>
            <a:ext cx="5410200" cy="2223135"/>
            <a:chOff x="6248400" y="4033838"/>
            <a:chExt cx="5410200" cy="2223135"/>
          </a:xfrm>
        </p:grpSpPr>
        <p:sp>
          <p:nvSpPr>
            <p:cNvPr id="49" name="Rectangle 49"/>
            <p:cNvSpPr/>
            <p:nvPr/>
          </p:nvSpPr>
          <p:spPr>
            <a:xfrm>
              <a:off x="6248400" y="4033838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4167188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6050" y="42433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6258" y="42791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501765" y="468344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59880" y="4620578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 c(X) &gt; c(Y)，却有 ĉ(X) &lt; ĉ(Y)，ĉ 把 X 排在了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501765" y="5304472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9880" y="5241608"/>
              <a:ext cx="4463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要让 BB 一定找到最小成本，还得追加要求：c(X) &lt;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c(Y) 时 ĉ(X) &lt; ĉ(Y)。这很难实现，一般只能找到满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足前三项要求的 ĉ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4558" cy="909257"/>
            <a:chOff x="520446" y="342900"/>
            <a:chExt cx="84545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45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改进：从活结点表取出 E-结点时，再判断它是不是答案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graph-1"/>
          <p:cNvGrpSpPr/>
          <p:nvPr/>
        </p:nvGrpSpPr>
        <p:grpSpPr>
          <a:xfrm>
            <a:off x="1011438" y="1826895"/>
            <a:ext cx="4567347" cy="4078129"/>
            <a:chOff x="1011438" y="1826895"/>
            <a:chExt cx="4567347" cy="4078129"/>
          </a:xfrm>
        </p:grpSpPr>
        <p:sp>
          <p:nvSpPr>
            <p:cNvPr id="7" name="Freeform 7"/>
            <p:cNvSpPr/>
            <p:nvPr/>
          </p:nvSpPr>
          <p:spPr>
            <a:xfrm>
              <a:off x="2038350" y="2159318"/>
              <a:ext cx="1083945" cy="1413510"/>
            </a:xfrm>
            <a:custGeom>
              <a:avLst/>
              <a:gdLst/>
              <a:ahLst/>
              <a:cxnLst/>
              <a:rect l="l" t="t" r="r" b="b"/>
              <a:pathLst>
                <a:path w="1083945" h="1413510">
                  <a:moveTo>
                    <a:pt x="1083945" y="0"/>
                  </a:moveTo>
                  <a:lnTo>
                    <a:pt x="0" y="14135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54705" y="2159318"/>
              <a:ext cx="1083945" cy="1413510"/>
            </a:xfrm>
            <a:custGeom>
              <a:avLst/>
              <a:gdLst/>
              <a:ahLst/>
              <a:cxnLst/>
              <a:rect l="l" t="t" r="r" b="b"/>
              <a:pathLst>
                <a:path w="1083945" h="1413510">
                  <a:moveTo>
                    <a:pt x="0" y="0"/>
                  </a:moveTo>
                  <a:lnTo>
                    <a:pt x="1083945" y="14135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45870" y="3850958"/>
              <a:ext cx="631507" cy="1491615"/>
            </a:xfrm>
            <a:custGeom>
              <a:avLst/>
              <a:gdLst/>
              <a:ahLst/>
              <a:cxnLst/>
              <a:rect l="l" t="t" r="r" b="b"/>
              <a:pathLst>
                <a:path w="631507" h="1491615">
                  <a:moveTo>
                    <a:pt x="631507" y="0"/>
                  </a:moveTo>
                  <a:lnTo>
                    <a:pt x="0" y="149161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95488" y="3853815"/>
              <a:ext cx="538162" cy="1485900"/>
            </a:xfrm>
            <a:custGeom>
              <a:avLst/>
              <a:gdLst/>
              <a:ahLst/>
              <a:cxnLst/>
              <a:rect l="l" t="t" r="r" b="b"/>
              <a:pathLst>
                <a:path w="538162" h="1485900">
                  <a:moveTo>
                    <a:pt x="0" y="0"/>
                  </a:moveTo>
                  <a:lnTo>
                    <a:pt x="538162" y="148590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943350" y="3853815"/>
              <a:ext cx="538162" cy="1485900"/>
            </a:xfrm>
            <a:custGeom>
              <a:avLst/>
              <a:gdLst/>
              <a:ahLst/>
              <a:cxnLst/>
              <a:rect l="l" t="t" r="r" b="b"/>
              <a:pathLst>
                <a:path w="538162" h="1485900">
                  <a:moveTo>
                    <a:pt x="538162" y="0"/>
                  </a:moveTo>
                  <a:lnTo>
                    <a:pt x="0" y="148590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99622" y="3850958"/>
              <a:ext cx="631508" cy="1491615"/>
            </a:xfrm>
            <a:custGeom>
              <a:avLst/>
              <a:gdLst/>
              <a:ahLst/>
              <a:cxnLst/>
              <a:rect l="l" t="t" r="r" b="b"/>
              <a:pathLst>
                <a:path w="631508" h="1491615">
                  <a:moveTo>
                    <a:pt x="0" y="0"/>
                  </a:moveTo>
                  <a:lnTo>
                    <a:pt x="631508" y="149161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057525" y="1826895"/>
              <a:ext cx="361950" cy="3619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787842" y="354901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384358" y="354901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030605" y="533971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436495" y="5339715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735705" y="5339715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141595" y="5339715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40773" y="192405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70910" y="1937861"/>
              <a:ext cx="484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E₁ ĉ=0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77938" y="361759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52101" y="3631406"/>
              <a:ext cx="484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E₂ ĉ=2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4453" y="361759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40592" y="3631406"/>
              <a:ext cx="4843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E₃ ĉ=4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0700" y="540734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1438" y="568499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ĉ=20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41717" y="56849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40927" y="56849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∞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31690" y="540734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09205" y="5684996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E₄ ĉ=10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248400" y="1524000"/>
            <a:ext cx="5410200" cy="2697480"/>
            <a:chOff x="6248400" y="1524000"/>
            <a:chExt cx="5410200" cy="2697480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51193" y="1659731"/>
              <a:ext cx="567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8613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生成的儿子入表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03387" y="1659731"/>
              <a:ext cx="11463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活结点表（ĉ）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56223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29678" y="2108359"/>
              <a:ext cx="3855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02343" y="2108359"/>
              <a:ext cx="868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X(2) Y(4)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421255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6223" y="267033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29678" y="255698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暂不判定，与 ∞ 结点一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起入表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02343" y="2670334"/>
              <a:ext cx="1123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Y(4) A(20) ∞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6223" y="323230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29678" y="3232309"/>
              <a:ext cx="11757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 结点、B 入表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02343" y="3232309"/>
              <a:ext cx="1378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B(10) A(20) ∞ ∞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541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546158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6223" y="379428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29678" y="3680936"/>
              <a:ext cx="18254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取出时判定 B 是答案，输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02343" y="379428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21709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48975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llout-2"/>
          <p:cNvGrpSpPr/>
          <p:nvPr/>
        </p:nvGrpSpPr>
        <p:grpSpPr>
          <a:xfrm>
            <a:off x="6248400" y="4411980"/>
            <a:ext cx="5410200" cy="1059180"/>
            <a:chOff x="6248400" y="4411980"/>
            <a:chExt cx="5410200" cy="1059180"/>
          </a:xfrm>
        </p:grpSpPr>
        <p:sp>
          <p:nvSpPr>
            <p:cNvPr id="58" name="Rectangle 58"/>
            <p:cNvSpPr/>
            <p:nvPr/>
          </p:nvSpPr>
          <p:spPr>
            <a:xfrm>
              <a:off x="6248400" y="441198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4841558"/>
              <a:ext cx="200026" cy="200026"/>
              <a:chOff x="6453188" y="4841558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48415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19863" y="491934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130" y="4560570"/>
              <a:ext cx="45015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改进后输出的是成本为 10 的答案结点 B。下一页证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明：只要答案结点处 ĉ = c，取出的第一个答案结点成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本一定最小。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43835" cy="909257"/>
            <a:chOff x="520446" y="342900"/>
            <a:chExt cx="90438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438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8.2 LC：取出的 E-结点若是答案，它的成本一定最小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4173855"/>
            <a:chOff x="533400" y="1524000"/>
            <a:chExt cx="5410200" cy="4173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173855"/>
            </a:xfrm>
            <a:prstGeom prst="roundRect">
              <a:avLst>
                <a:gd name="adj" fmla="val 22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49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8.2 基于 ĉ 求最小成本的 LC-检索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654" y="1939290"/>
              <a:ext cx="3479292" cy="36941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02"/>
                </a:lnSpc>
              </a:pP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LC(T, ĉ)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找最小成本答案结点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E ← T; 将活结点表初始化为空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loop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E 是答案结点 then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输出从 E 到 T 的那条路径; return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for E 的每个儿子 X do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B(X) then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call ADD(X); PARENT(X) ← E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表中不再有活结点 then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print(</a:t>
              </a:r>
              <a:r>
                <a:rPr lang="en-US" sz="120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"no answer node"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return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call LEAST(E)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选 ĉ 最小的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LC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6248400" y="1533525"/>
            <a:ext cx="5081016" cy="2840736"/>
            <a:chOff x="6248400" y="1533525"/>
            <a:chExt cx="5081016" cy="2840736"/>
          </a:xfrm>
        </p:grpSpPr>
        <p:sp>
          <p:nvSpPr>
            <p:cNvPr id="11" name="Rectangle 11"/>
            <p:cNvSpPr/>
            <p:nvPr/>
          </p:nvSpPr>
          <p:spPr>
            <a:xfrm>
              <a:off x="6381750" y="1676400"/>
              <a:ext cx="19050" cy="20716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248400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42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248400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42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248400" y="36052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2024" y="3679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60261" y="1566386"/>
              <a:ext cx="1572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是表中 ĉ 最小的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1404" y="1846898"/>
              <a:ext cx="33906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对活结点表中的每个结点 L，都有 ĉ(E) ≤ ĉ(L)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0261" y="218360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答案结点处估计准确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404" y="2464118"/>
              <a:ext cx="20983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是答案结点时 ĉ(E) = c(E)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0261" y="279987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连成不等式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404" y="3080385"/>
              <a:ext cx="45994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c(E) = ĉ(E) ≤ ĉ(L) ≤ c(L)。还没生成的答案结点都在某个活结点 L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的子树里，成本不小于 c(L)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0261" y="36380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1404" y="3918585"/>
              <a:ext cx="46680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的成本不大于其他任何答案结点，算法 LC 选中的是最小成本答案结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248400" y="4545330"/>
            <a:ext cx="5410200" cy="756285"/>
            <a:chOff x="6248400" y="4545330"/>
            <a:chExt cx="5410200" cy="756285"/>
          </a:xfrm>
        </p:grpSpPr>
        <p:sp>
          <p:nvSpPr>
            <p:cNvPr id="29" name="Rectangle 29"/>
            <p:cNvSpPr/>
            <p:nvPr/>
          </p:nvSpPr>
          <p:spPr>
            <a:xfrm>
              <a:off x="6248400" y="454533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41129" y="4819768"/>
              <a:ext cx="224134" cy="192560"/>
              <a:chOff x="6441129" y="4819768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553200" y="48901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441129" y="48197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53200" y="4967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755511" y="4692491"/>
              <a:ext cx="44688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若答案结点 E 不满足 ĉ(E) = c(E)，算法 LC 也不能保证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给出成本最小的答案结点。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248400" y="5481638"/>
            <a:ext cx="5410200" cy="756285"/>
            <a:chOff x="6248400" y="5481638"/>
            <a:chExt cx="5410200" cy="756285"/>
          </a:xfrm>
        </p:grpSpPr>
        <p:sp>
          <p:nvSpPr>
            <p:cNvPr id="36" name="Rectangle 36"/>
            <p:cNvSpPr/>
            <p:nvPr/>
          </p:nvSpPr>
          <p:spPr>
            <a:xfrm>
              <a:off x="6248400" y="548163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53188" y="5759768"/>
              <a:ext cx="200026" cy="200026"/>
              <a:chOff x="6453188" y="575976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53188" y="57597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53200" y="58264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42088" y="58597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55511" y="5628799"/>
              <a:ext cx="45139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开销：ADD、LEAST 在极小堆上各为 O(log L)，L 是活结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点数；生成的结点数最坏仍是整棵树。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46840" cy="909257"/>
            <a:chOff x="520446" y="342900"/>
            <a:chExt cx="92468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46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 U：最小成本不会超过 U，ĉ(X) 超过 U 的子树不必再搜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加速的思路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满足约束的可行解不一定成本最小；若结点 X 不能导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致最小成本答案结点，子树 X 就剪掉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设最小成本的上界 U。ĉ(X) &gt; U（或 ≥ U）时，无需检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索以 X 为根的子树</a:t>
              </a:r>
            </a:p>
          </p:txBody>
        </p:sp>
      </p:grpSp>
      <p:grpSp>
        <p:nvGrpSpPr>
          <p:cNvPr id="32" name="c1-bullets-2"/>
          <p:cNvGrpSpPr/>
          <p:nvPr/>
        </p:nvGrpSpPr>
        <p:grpSpPr>
          <a:xfrm>
            <a:off x="525780" y="3676650"/>
            <a:ext cx="4210131" cy="1823370"/>
            <a:chOff x="525780" y="3676650"/>
            <a:chExt cx="4210131" cy="1823370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6766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极小化问题的建模步骤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01574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307" y="40513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148" y="4027646"/>
              <a:ext cx="3932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目标函数作为成本函数 c，约束条件作为约束函数 B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432244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307" y="43571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148" y="433339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问题转化为寻找解空间树中的最小成本答案结点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62819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5307" y="466382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148" y="4639151"/>
              <a:ext cx="3387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设计成本估计函数 ĉ(X)，满足 ĉ(X) ≤ c(X)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493395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5307" y="496957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3148" y="4944904"/>
              <a:ext cx="2986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设计最小成本的上界 U，满足 c(X) ≤ U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33400" y="523970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5307" y="52753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3148" y="5250656"/>
              <a:ext cx="2441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 ĉ(X) 和 U 做分支限界搜索</a:t>
              </a:r>
            </a:p>
          </p:txBody>
        </p:sp>
      </p:grpSp>
      <p:grpSp>
        <p:nvGrpSpPr>
          <p:cNvPr id="41" name="c2-kv-1"/>
          <p:cNvGrpSpPr/>
          <p:nvPr/>
        </p:nvGrpSpPr>
        <p:grpSpPr>
          <a:xfrm>
            <a:off x="6240780" y="1548765"/>
            <a:ext cx="5417820" cy="1737360"/>
            <a:chOff x="6240780" y="1548765"/>
            <a:chExt cx="5417820" cy="1737360"/>
          </a:xfrm>
        </p:grpSpPr>
        <p:sp>
          <p:nvSpPr>
            <p:cNvPr id="33" name="TextBox 33"/>
            <p:cNvSpPr txBox="1"/>
            <p:nvPr/>
          </p:nvSpPr>
          <p:spPr>
            <a:xfrm>
              <a:off x="6240780" y="154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85623" y="1548765"/>
              <a:ext cx="458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当前已生成的所有结点对最小成本所作上界估计中的最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小值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1507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0780" y="22707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取值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85623" y="2270760"/>
              <a:ext cx="39871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初值为 ∞，或用启发式方法求得（不小于最小成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本）；随着结点的访问不断改小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8727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40780" y="2992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85623" y="299275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界定当前结点的死活，通过剪枝加快找到最优解</a:t>
              </a:r>
            </a:p>
          </p:txBody>
        </p:sp>
      </p:grpSp>
      <p:grpSp>
        <p:nvGrpSpPr>
          <p:cNvPr id="59" name="c2-graph-2"/>
          <p:cNvGrpSpPr/>
          <p:nvPr/>
        </p:nvGrpSpPr>
        <p:grpSpPr>
          <a:xfrm>
            <a:off x="6337935" y="4032885"/>
            <a:ext cx="5151819" cy="2398872"/>
            <a:chOff x="6337935" y="4032885"/>
            <a:chExt cx="5151819" cy="2398872"/>
          </a:xfrm>
        </p:grpSpPr>
        <p:sp>
          <p:nvSpPr>
            <p:cNvPr id="42" name="Freeform 42"/>
            <p:cNvSpPr/>
            <p:nvPr/>
          </p:nvSpPr>
          <p:spPr>
            <a:xfrm>
              <a:off x="6385560" y="4633912"/>
              <a:ext cx="3512820" cy="9525"/>
            </a:xfrm>
            <a:custGeom>
              <a:avLst/>
              <a:gdLst/>
              <a:ahLst/>
              <a:cxnLst/>
              <a:rect l="l" t="t" r="r" b="b"/>
              <a:pathLst>
                <a:path w="3512820" h="9525">
                  <a:moveTo>
                    <a:pt x="0" y="0"/>
                  </a:moveTo>
                  <a:lnTo>
                    <a:pt x="3512820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43" name="Freeform 43"/>
            <p:cNvSpPr/>
            <p:nvPr/>
          </p:nvSpPr>
          <p:spPr>
            <a:xfrm>
              <a:off x="6376035" y="6041708"/>
              <a:ext cx="3531870" cy="9525"/>
            </a:xfrm>
            <a:custGeom>
              <a:avLst/>
              <a:gdLst/>
              <a:ahLst/>
              <a:cxnLst/>
              <a:rect l="l" t="t" r="r" b="b"/>
              <a:pathLst>
                <a:path w="3531870" h="9525">
                  <a:moveTo>
                    <a:pt x="0" y="0"/>
                  </a:moveTo>
                  <a:lnTo>
                    <a:pt x="353187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537960" y="4367212"/>
              <a:ext cx="285750" cy="1428750"/>
            </a:xfrm>
            <a:prstGeom prst="roundRect">
              <a:avLst>
                <a:gd name="adj" fmla="val 13333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025640" y="5260658"/>
              <a:ext cx="285750" cy="666750"/>
            </a:xfrm>
            <a:prstGeom prst="roundRect">
              <a:avLst>
                <a:gd name="adj" fmla="val 1333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12368" y="4032885"/>
              <a:ext cx="285750" cy="1714500"/>
            </a:xfrm>
            <a:prstGeom prst="roundRect">
              <a:avLst>
                <a:gd name="adj" fmla="val 13333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999095" y="4926330"/>
              <a:ext cx="285750" cy="952500"/>
            </a:xfrm>
            <a:prstGeom prst="roundRect">
              <a:avLst>
                <a:gd name="adj" fmla="val 1333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485822" y="5485448"/>
              <a:ext cx="285750" cy="476250"/>
            </a:xfrm>
            <a:prstGeom prst="roundRect">
              <a:avLst>
                <a:gd name="adj" fmla="val 1333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972550" y="4592002"/>
              <a:ext cx="285750" cy="1238250"/>
            </a:xfrm>
            <a:prstGeom prst="roundRect">
              <a:avLst>
                <a:gd name="adj" fmla="val 13333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460230" y="5094922"/>
              <a:ext cx="285750" cy="809625"/>
            </a:xfrm>
            <a:prstGeom prst="roundRect">
              <a:avLst>
                <a:gd name="adj" fmla="val 1333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6337935" y="4614862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9907905" y="4614862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347460" y="60321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917430" y="60321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028682" y="456723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54628" y="4061936"/>
              <a:ext cx="10739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ĉ(X) ≥ U：杀死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54628" y="5240179"/>
              <a:ext cx="113512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15"/>
                </a:lnSpc>
              </a:pPr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ĉ(X) &lt; U：进入活</a:t>
              </a:r>
              <a:br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结点表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96262" y="6211729"/>
              <a:ext cx="1891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各结点的 ĉ(X)，U 只会变小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3255" cy="909257"/>
            <a:chOff x="520446" y="342900"/>
            <a:chExt cx="82332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32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上界函数 u(X) 帮 U 更快变小：ĉ(X) ≤ c(X) ≤ u(X)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2291715"/>
            <a:chOff x="533400" y="1524000"/>
            <a:chExt cx="5193982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771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成本上界函数 u(X)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u(X) 是对成本 c(X) 的上界估计，可以仿照 ĉ(X) 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1270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根到 X 的成本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263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加上子树 X 中 X 到最小成本答案结点的成本上界估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006215"/>
            <a:ext cx="5193982" cy="1701165"/>
            <a:chOff x="533400" y="4006215"/>
            <a:chExt cx="5193982" cy="1701165"/>
          </a:xfrm>
        </p:grpSpPr>
        <p:sp>
          <p:nvSpPr>
            <p:cNvPr id="18" name="Rectangle 18"/>
            <p:cNvSpPr/>
            <p:nvPr/>
          </p:nvSpPr>
          <p:spPr>
            <a:xfrm>
              <a:off x="533400" y="4006215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413956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4215765"/>
              <a:ext cx="95059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8054" y="4251484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对 u 的要求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1050" y="457962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2899" y="46219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2040" y="4592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易于计算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81050" y="491490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899" y="49571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2040" y="4928235"/>
              <a:ext cx="1167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c(X) ≤ u(X)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1050" y="525018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2899" y="52924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2040" y="5263515"/>
              <a:ext cx="3432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 X 是答案结点时，c(X) = u(X)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032182" y="1524000"/>
            <a:ext cx="5626418" cy="2248852"/>
            <a:chOff x="6032182" y="1524000"/>
            <a:chExt cx="5626418" cy="2248852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3016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9059" y="1659731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 U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50031" y="1659731"/>
              <a:ext cx="1167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上界函数 u(X)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40006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针对的范围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64908" y="21083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算法当前生成的全部结点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15666" y="2108359"/>
              <a:ext cx="17731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从根到 X 的这一条路径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242125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40006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64908" y="255698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所有结点对最小成本上界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估计的最小值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15666" y="2556986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这条路径下最小成本的上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界估计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40006" y="33456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64908" y="3232309"/>
              <a:ext cx="18742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 X 的 ĉ 值，界定 X 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15666" y="3232309"/>
              <a:ext cx="17929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 u(X) 比 U 小时，用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它改小 U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1524000"/>
              <a:ext cx="5626418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5232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40308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llout-2"/>
          <p:cNvGrpSpPr/>
          <p:nvPr/>
        </p:nvGrpSpPr>
        <p:grpSpPr>
          <a:xfrm>
            <a:off x="6032182" y="3963352"/>
            <a:ext cx="5626418" cy="782955"/>
            <a:chOff x="6032182" y="3963352"/>
            <a:chExt cx="5626418" cy="782955"/>
          </a:xfrm>
        </p:grpSpPr>
        <p:sp>
          <p:nvSpPr>
            <p:cNvPr id="52" name="Rectangle 52"/>
            <p:cNvSpPr/>
            <p:nvPr/>
          </p:nvSpPr>
          <p:spPr>
            <a:xfrm>
              <a:off x="6032182" y="3963352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236970" y="4254818"/>
              <a:ext cx="200026" cy="200025"/>
              <a:chOff x="6236970" y="4254818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236970" y="42548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276709" y="42992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311424" y="44103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538912" y="4111942"/>
              <a:ext cx="4672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 一边拿 ĉ(X) 判断结点死活，一边利用 u(X) 把自己改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小；U 越小，剪枝越多。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formula8"/>
              <p:cNvSpPr txBox="1">
                <a:spLocks noGrp="1"/>
              </p:cNvSpPr>
              <p:nvPr/>
            </p:nvSpPr>
            <p:spPr>
              <a:xfrm>
                <a:off x="6032182" y="4936808"/>
                <a:ext cx="5626418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22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22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2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2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22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2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2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22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22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22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0832" cy="909257"/>
            <a:chOff x="520446" y="342900"/>
            <a:chExt cx="51708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08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用一个例子分清 cost、c、ĉ 和 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542" y="1545907"/>
            <a:ext cx="4984623" cy="1556576"/>
            <a:chOff x="526542" y="1545907"/>
            <a:chExt cx="4984623" cy="155657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67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cost(X)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78127" y="1545907"/>
              <a:ext cx="22336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根到答案结点 X 的真实成本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3261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1938338"/>
              <a:ext cx="4454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c(X)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8127" y="1938338"/>
              <a:ext cx="3468434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子树 X 中所有答案结点的最小成本，即最小的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 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784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585085"/>
              <a:ext cx="1058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ĉ(X)、u(X)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127" y="2585085"/>
              <a:ext cx="330555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c(X) 的下界、上界估计：ĉ(X) ≤ c(X) ≤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u(X)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219450"/>
            <a:ext cx="4977765" cy="1485900"/>
            <a:chOff x="533400" y="3219450"/>
            <a:chExt cx="4977765" cy="1485900"/>
          </a:xfrm>
        </p:grpSpPr>
        <p:sp>
          <p:nvSpPr>
            <p:cNvPr id="16" name="Rectangle 16"/>
            <p:cNvSpPr/>
            <p:nvPr/>
          </p:nvSpPr>
          <p:spPr>
            <a:xfrm>
              <a:off x="533400" y="3219450"/>
              <a:ext cx="4977765" cy="1485900"/>
            </a:xfrm>
            <a:prstGeom prst="roundRect">
              <a:avLst>
                <a:gd name="adj" fmla="val 897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0090" y="34061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2762" y="34390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28662" y="380619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4682" y="3749992"/>
              <a:ext cx="41713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 1 自身 cost = 10，但 u(1) = 7：子树 1 里一定有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成本不超过 7 的解（实际是叶结点 4，成本 4）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28662" y="436435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84682" y="4308158"/>
              <a:ext cx="4345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cost(X) &gt; u(X) 时，以 X 为根的子树中一定有更优解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874895"/>
            <a:ext cx="4977765" cy="1185862"/>
            <a:chOff x="533400" y="4874895"/>
            <a:chExt cx="4977765" cy="1185862"/>
          </a:xfrm>
        </p:grpSpPr>
        <p:sp>
          <p:nvSpPr>
            <p:cNvPr id="24" name="Rectangle 24"/>
            <p:cNvSpPr/>
            <p:nvPr/>
          </p:nvSpPr>
          <p:spPr>
            <a:xfrm>
              <a:off x="533400" y="4874895"/>
              <a:ext cx="497776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500824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8190" y="50615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0862" y="50944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332" y="5406390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原课件图中结点 3 标作“U=6”，应为上界函数值 u(3) = 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（U 是全局的界）。</a:t>
              </a:r>
            </a:p>
          </p:txBody>
        </p:sp>
      </p:grpSp>
      <p:grpSp>
        <p:nvGrpSpPr>
          <p:cNvPr id="54" name="c2-graph-1"/>
          <p:cNvGrpSpPr/>
          <p:nvPr/>
        </p:nvGrpSpPr>
        <p:grpSpPr>
          <a:xfrm>
            <a:off x="7051346" y="1787842"/>
            <a:ext cx="4423432" cy="3890582"/>
            <a:chOff x="7051346" y="1787842"/>
            <a:chExt cx="4423432" cy="3890582"/>
          </a:xfrm>
        </p:grpSpPr>
        <p:sp>
          <p:nvSpPr>
            <p:cNvPr id="30" name="Freeform 30"/>
            <p:cNvSpPr/>
            <p:nvPr/>
          </p:nvSpPr>
          <p:spPr>
            <a:xfrm>
              <a:off x="9297352" y="2075498"/>
              <a:ext cx="632460" cy="906780"/>
            </a:xfrm>
            <a:custGeom>
              <a:avLst/>
              <a:gdLst/>
              <a:ahLst/>
              <a:cxnLst/>
              <a:rect l="l" t="t" r="r" b="b"/>
              <a:pathLst>
                <a:path w="632460" h="906780">
                  <a:moveTo>
                    <a:pt x="632460" y="0"/>
                  </a:moveTo>
                  <a:lnTo>
                    <a:pt x="0" y="90678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479155" y="3248025"/>
              <a:ext cx="632460" cy="906780"/>
            </a:xfrm>
            <a:custGeom>
              <a:avLst/>
              <a:gdLst/>
              <a:ahLst/>
              <a:cxnLst/>
              <a:rect l="l" t="t" r="r" b="b"/>
              <a:pathLst>
                <a:path w="632460" h="906780">
                  <a:moveTo>
                    <a:pt x="632460" y="0"/>
                  </a:moveTo>
                  <a:lnTo>
                    <a:pt x="0" y="90678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305925" y="3242310"/>
              <a:ext cx="732473" cy="919162"/>
            </a:xfrm>
            <a:custGeom>
              <a:avLst/>
              <a:gdLst/>
              <a:ahLst/>
              <a:cxnLst/>
              <a:rect l="l" t="t" r="r" b="b"/>
              <a:pathLst>
                <a:path w="732473" h="919162">
                  <a:moveTo>
                    <a:pt x="0" y="0"/>
                  </a:moveTo>
                  <a:lnTo>
                    <a:pt x="732473" y="91916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386762" y="4450080"/>
              <a:ext cx="9525" cy="764858"/>
            </a:xfrm>
            <a:custGeom>
              <a:avLst/>
              <a:gdLst/>
              <a:ahLst/>
              <a:cxnLst/>
              <a:rect l="l" t="t" r="r" b="b"/>
              <a:pathLst>
                <a:path w="9525" h="764858">
                  <a:moveTo>
                    <a:pt x="0" y="0"/>
                  </a:moveTo>
                  <a:lnTo>
                    <a:pt x="0" y="76485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869805" y="17907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052560" y="296322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234362" y="413575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986962" y="4135755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234362" y="5224462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969463" y="18678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52218" y="30403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4021" y="421290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86621" y="421290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4021" y="530256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42628" y="1787842"/>
              <a:ext cx="834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ĉ=3 c=4 u=7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22150" y="212217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cost=10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24431" y="2960370"/>
              <a:ext cx="834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ĉ=2 c=4 u=7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81695" y="329565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cost=8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07186" y="4132898"/>
              <a:ext cx="834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ĉ=4 c=5 u=6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64450" y="4468178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cost=7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84548" y="4132898"/>
              <a:ext cx="99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ĉ=c=u=cost=4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84548" y="44681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51346" y="5221605"/>
              <a:ext cx="99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ĉ=c=u=cost=5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31948" y="547306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5815965" y="5881688"/>
            <a:ext cx="5842635" cy="481012"/>
            <a:chOff x="5815965" y="5881688"/>
            <a:chExt cx="5842635" cy="481012"/>
          </a:xfrm>
        </p:grpSpPr>
        <p:sp>
          <p:nvSpPr>
            <p:cNvPr id="55" name="Rectangle 55"/>
            <p:cNvSpPr/>
            <p:nvPr/>
          </p:nvSpPr>
          <p:spPr>
            <a:xfrm>
              <a:off x="5815965" y="5881688"/>
              <a:ext cx="5842635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020753" y="6022658"/>
              <a:ext cx="200026" cy="200026"/>
              <a:chOff x="6020753" y="6022658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020753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120765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109653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323457" y="6028373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设图中每个结点都满足约束条件，都是答案结点。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435904" cy="909257"/>
            <a:chOff x="520446" y="342900"/>
            <a:chExt cx="94359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4359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有两种来源、两种剪枝条件，ε 技巧把它们统一为 ĉ(X) ≥ 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951220" cy="1800225"/>
            <a:chOff x="533400" y="1524000"/>
            <a:chExt cx="5951220" cy="1800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4478" y="1659731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 的值来自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8500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意味着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55451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可以杀死的活结点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答案结点的真实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 cost(X)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88083" y="2108359"/>
              <a:ext cx="23131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已经找到成本为 U 的答案，只需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再找更小的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26520" y="2221706"/>
              <a:ext cx="710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≥ U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某结点的上界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u(X)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88083" y="2783681"/>
              <a:ext cx="23131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确信存在成本不超过 U 的答案，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但还没找到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26520" y="2897029"/>
              <a:ext cx="710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&gt; U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95122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075498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1393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3514725"/>
            <a:ext cx="5951220" cy="2283142"/>
            <a:chOff x="533400" y="3514725"/>
            <a:chExt cx="5951220" cy="2283142"/>
          </a:xfrm>
        </p:grpSpPr>
        <p:sp>
          <p:nvSpPr>
            <p:cNvPr id="23" name="Rectangle 23"/>
            <p:cNvSpPr/>
            <p:nvPr/>
          </p:nvSpPr>
          <p:spPr>
            <a:xfrm>
              <a:off x="533400" y="3514725"/>
              <a:ext cx="5951220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648075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72427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7793" y="375999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ε 技巧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16433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101465"/>
              <a:ext cx="4787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取足够小的正常数 ε：对任意 u(X) &lt; u(Y)，都有 u(X) &lt;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u(X)+ε &lt; u(Y)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78536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722495"/>
              <a:ext cx="3401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从 u(X) 取值时追加 ε：U ← u(X)+ε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51206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5057775"/>
              <a:ext cx="3862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从 cost(X) 取值时不调整：U ← cost(X)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573" y="5388769"/>
              <a:ext cx="4848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这样两种来源都统一为：当前结点 X 满足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ĉ(X) ≥ U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就被杀死。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789420" y="1524000"/>
            <a:ext cx="4869180" cy="1365885"/>
            <a:chOff x="6789420" y="1524000"/>
            <a:chExt cx="4869180" cy="1365885"/>
          </a:xfrm>
        </p:grpSpPr>
        <p:sp>
          <p:nvSpPr>
            <p:cNvPr id="35" name="Rectangle 35"/>
            <p:cNvSpPr/>
            <p:nvPr/>
          </p:nvSpPr>
          <p:spPr>
            <a:xfrm>
              <a:off x="6789420" y="1524000"/>
              <a:ext cx="4869180" cy="1365885"/>
            </a:xfrm>
            <a:prstGeom prst="roundRect">
              <a:avLst>
                <a:gd name="adj" fmla="val 97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98970" y="1733550"/>
              <a:ext cx="11896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65153" y="1769269"/>
              <a:ext cx="1058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 什么时候改小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00468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62800" y="2110740"/>
              <a:ext cx="39758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发现答案结点 X，真实成本 cost(X) 比 U 小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00468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62800" y="2446020"/>
              <a:ext cx="2840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发现结点 X，上界 u(X) 比 U 小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789420" y="3080385"/>
            <a:ext cx="4869180" cy="2717482"/>
            <a:chOff x="6789420" y="3080385"/>
            <a:chExt cx="4869180" cy="2717482"/>
          </a:xfrm>
        </p:grpSpPr>
        <p:sp>
          <p:nvSpPr>
            <p:cNvPr id="43" name="Rectangle 43"/>
            <p:cNvSpPr/>
            <p:nvPr/>
          </p:nvSpPr>
          <p:spPr>
            <a:xfrm>
              <a:off x="6789420" y="3080385"/>
              <a:ext cx="4869180" cy="2717482"/>
            </a:xfrm>
            <a:prstGeom prst="roundRect">
              <a:avLst>
                <a:gd name="adj" fmla="val 4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98945" y="3213735"/>
              <a:ext cx="47625" cy="245078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037070" y="3289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27278" y="3325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29450" y="3667125"/>
              <a:ext cx="4111943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答案结点 X 不是叶结点，cost(X) 和 u(X) 都比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 U 好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29450" y="4278630"/>
              <a:ext cx="4091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取较小的一个：U ← min(cost(X), u(X)+ε)，同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时记 ans ← X。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30593" y="4896326"/>
              <a:ext cx="41175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这时 ans 可能暂时不是最终答案，之后找到更好的答案结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点会替换它。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72874" cy="909257"/>
            <a:chOff x="520446" y="342900"/>
            <a:chExt cx="78728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728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8.3 界函数 UB：先判断死活，再看能否改小 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735002" cy="3487102"/>
            <a:chOff x="533400" y="1524000"/>
            <a:chExt cx="5735002" cy="34871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3487102"/>
            </a:xfrm>
            <a:prstGeom prst="roundRect">
              <a:avLst>
                <a:gd name="adj" fmla="val 27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861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8.3 界函数 UB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273" y="1940719"/>
              <a:ext cx="3987546" cy="300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l-GR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UB(X, ε, U, ans)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X：当前结点；U：当前上界估计值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ans：当前最小成本的答案结点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X 满足 ĉ(X) ≤ c(X) ≤ u(X)；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X 是答案结点时 cost(X) 为根到 X 的真实成本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if ĉ(X) ≥ U then return false endif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if X 是解结点 and cost(X) &lt; U then</a:t>
              </a:r>
              <a:br/>
              <a:r>
                <a:rPr lang="el-GR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 ← min(cost(X), u(X)+ε); ans ← X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else</a:t>
              </a:r>
              <a:br/>
              <a:r>
                <a:rPr lang="el-GR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u(X)+ε &lt; U then U ← u(X)+ε endif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endif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true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UB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201602"/>
            <a:ext cx="5735002" cy="782955"/>
            <a:chOff x="533400" y="5201602"/>
            <a:chExt cx="5735002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5201602"/>
              <a:ext cx="573500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93068"/>
              <a:ext cx="200026" cy="200026"/>
              <a:chOff x="738188" y="5493068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930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5597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5930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350192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和 ans 由调用者共享：每次调用都可能改写它们，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FIFOBB、LCBB 正是靠多次调用 UB 逐步收紧 U。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573202" y="1533525"/>
            <a:ext cx="4806570" cy="2764440"/>
            <a:chOff x="6573202" y="1533525"/>
            <a:chExt cx="4806570" cy="2764440"/>
          </a:xfrm>
        </p:grpSpPr>
        <p:sp>
          <p:nvSpPr>
            <p:cNvPr id="18" name="Rectangle 18"/>
            <p:cNvSpPr/>
            <p:nvPr/>
          </p:nvSpPr>
          <p:spPr>
            <a:xfrm>
              <a:off x="6706552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57320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6682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73202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6682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73202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682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73202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66826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84683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判死活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85826" y="1861661"/>
              <a:ext cx="4040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≥ U 时返回 false，调用者不把 X 放进活结点表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84683" y="2218372"/>
              <a:ext cx="1215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是更好的解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85826" y="2512219"/>
              <a:ext cx="43939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cost(X) &lt; U 时，用 min(cost(X), u(X)+ε) 改 U，并记 ans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← 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84683" y="310419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只能改上界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85826" y="3397091"/>
              <a:ext cx="275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否则若 u(X)+ε &lt; U，令 U ← u(X)+ε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84683" y="3754755"/>
              <a:ext cx="9491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true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85826" y="4048601"/>
              <a:ext cx="2407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仍是活的，可以进入活结点表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573202" y="4475798"/>
            <a:ext cx="5085398" cy="782955"/>
            <a:chOff x="6573202" y="4475798"/>
            <a:chExt cx="5085398" cy="782955"/>
          </a:xfrm>
        </p:grpSpPr>
        <p:sp>
          <p:nvSpPr>
            <p:cNvPr id="36" name="Rectangle 36"/>
            <p:cNvSpPr/>
            <p:nvPr/>
          </p:nvSpPr>
          <p:spPr>
            <a:xfrm>
              <a:off x="6573202" y="4475798"/>
              <a:ext cx="508539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777990" y="4767263"/>
              <a:ext cx="200026" cy="200025"/>
              <a:chOff x="6777990" y="4767263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777990" y="47672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17729" y="48117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52444" y="49228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079933" y="4624388"/>
              <a:ext cx="3329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 ← min(cost(X), u(X)+ε) 比只用 U ←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cost(X) 剪枝能力更强。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98481" cy="909257"/>
            <a:chOff x="520446" y="342900"/>
            <a:chExt cx="86984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984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8.4 FIFOBB：入队时查 B 和 U，出队时再查一次 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4762500"/>
            <a:chOff x="533400" y="1524000"/>
            <a:chExt cx="5626418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762500"/>
            </a:xfrm>
            <a:prstGeom prst="roundRect">
              <a:avLst>
                <a:gd name="adj" fmla="val 200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607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8.4 求最小成本的 FIFO-分支限界算法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290062" cy="427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l-GR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FIFOBB(T, ĉ, u, ε, cost)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T 至少含一个解结点；不可行结点 ĉ(X)=∞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 ← T; PARENT(E) ← 0; U ← ∞; ans ← 0</a:t>
              </a:r>
              <a:br/>
              <a:r>
                <a:rPr lang="el-GR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call UB(E, ε, U, ans)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将队列初始化为空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loop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for E 的每个儿子 X do</a:t>
              </a:r>
              <a:br/>
              <a:r>
                <a:rPr lang="el-GR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B(X) and UB(X, ε, U, ans)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call ADDQ(X); PARENT(X) ← 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loop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取下一个 E-结点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if 队列为空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"least cost ="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U)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输出从 ans 到 T 的路径; return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call DELETEQ(E)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ĉ(E) &lt; U then exit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FIFOBB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6464618" y="1524000"/>
            <a:ext cx="5193982" cy="2844165"/>
            <a:chOff x="6464618" y="1524000"/>
            <a:chExt cx="5193982" cy="2844165"/>
          </a:xfrm>
        </p:grpSpPr>
        <p:sp>
          <p:nvSpPr>
            <p:cNvPr id="11" name="Rectangle 11"/>
            <p:cNvSpPr/>
            <p:nvPr/>
          </p:nvSpPr>
          <p:spPr>
            <a:xfrm>
              <a:off x="6464618" y="1524000"/>
              <a:ext cx="5193982" cy="2844165"/>
            </a:xfrm>
            <a:prstGeom prst="roundRect">
              <a:avLst>
                <a:gd name="adj" fmla="val 4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474142" y="1657350"/>
              <a:ext cx="47625" cy="25774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712268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9062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正确性要点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717983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76098" y="2110740"/>
              <a:ext cx="2481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 B 剪掉的子树不含可行解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717983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76098" y="244602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被杀死的 X 满足 ĉ(X) ≥ U。若 U 来自 cost，子树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中没有比 ans 更便宜的解；若 U = u(Y)+ε，则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c(X) ≥ ĉ(X) &gt; u(Y) ≥ c(Y)，更优的解在子树 Y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717983" y="37014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76098" y="3638550"/>
              <a:ext cx="4301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入队后 U 可能又变小，所以出队时要再检验 ĉ(E)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U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464618" y="4558665"/>
            <a:ext cx="5193982" cy="1727835"/>
            <a:chOff x="6464618" y="4558665"/>
            <a:chExt cx="5193982" cy="1727835"/>
          </a:xfrm>
        </p:grpSpPr>
        <p:sp>
          <p:nvSpPr>
            <p:cNvPr id="22" name="Rectangle 22"/>
            <p:cNvSpPr/>
            <p:nvPr/>
          </p:nvSpPr>
          <p:spPr>
            <a:xfrm>
              <a:off x="6464618" y="4558665"/>
              <a:ext cx="5193982" cy="1727835"/>
            </a:xfrm>
            <a:prstGeom prst="roundRect">
              <a:avLst>
                <a:gd name="adj" fmla="val 77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4142" y="4692015"/>
              <a:ext cx="47625" cy="14611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12268" y="47682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3428" y="48039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开销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717983" y="52082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76098" y="5145405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时间：生成结点数 × 计算 B、ĉ、u 的代价，队列操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 O(1)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717983" y="58293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76098" y="576643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空间：队列可能存下一整层的活结点，最坏是指数级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6080" cy="909257"/>
            <a:chOff x="520446" y="342900"/>
            <a:chExt cx="89560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60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8.5 LCBB：活结点表换成极小堆，堆顶 ĉ ≥ U 时结束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4559618"/>
            <a:chOff x="533400" y="1524000"/>
            <a:chExt cx="5626418" cy="4559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559618"/>
            </a:xfrm>
            <a:prstGeom prst="roundRect">
              <a:avLst>
                <a:gd name="adj" fmla="val 208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453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8.5 求最小成本的 LC-分支限界算法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098038" cy="40747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l-GR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LCBB(T, ĉ, u, ε, cost)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T 至少含一个解结点；不可行结点 ĉ(X)=∞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ADD：结点加入极小堆；LEAST：删去堆顶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 ← T; PARENT(E) ← 0; U ← ∞; ans ← 0</a:t>
              </a:r>
              <a:br/>
              <a:r>
                <a:rPr lang="el-GR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call UB(E, ε, U, ans)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将活结点表初始化为空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loop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for E 的每个儿子 X do</a:t>
              </a:r>
              <a:br/>
              <a:r>
                <a:rPr lang="el-GR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B(X) and UB(X, ε, U, ans)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call ADD(X); PARENT(X) ← E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表中不再有活结点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or 堆顶结点的 ĉ 值 ≥ U then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print(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"least cost ="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U)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输出从 ans 到 T 的路径; return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call LEAST(E)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LCBB</a:t>
              </a:r>
            </a:p>
          </p:txBody>
        </p:sp>
      </p:grpSp>
      <p:grpSp>
        <p:nvGrpSpPr>
          <p:cNvPr id="35" name="c2-table-1"/>
          <p:cNvGrpSpPr/>
          <p:nvPr/>
        </p:nvGrpSpPr>
        <p:grpSpPr>
          <a:xfrm>
            <a:off x="6464618" y="1524000"/>
            <a:ext cx="5193982" cy="2470786"/>
            <a:chOff x="6464618" y="1524000"/>
            <a:chExt cx="5193982" cy="2470786"/>
          </a:xfrm>
        </p:grpSpPr>
        <p:sp>
          <p:nvSpPr>
            <p:cNvPr id="11" name="Rectangle 11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2355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81101" y="1659731"/>
              <a:ext cx="634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FIFOBB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55045" y="1659731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LCBB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72441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活结点表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1926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92843" y="210835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ĉ 排序的极小堆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64618" y="2421255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72441" y="2556986"/>
              <a:ext cx="80827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出表时的 U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19263" y="2556986"/>
              <a:ext cx="15572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逐个出队，丢掉 ĉ(E)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U 的结点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843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只看堆顶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64618" y="3092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72441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终止条件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19263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队列为空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92843" y="3232309"/>
              <a:ext cx="1498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表空，或堆顶 ĉ ≥ U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64618" y="35413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4618" y="354615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72441" y="36809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一次表操作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19263" y="3680936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92843" y="3680936"/>
              <a:ext cx="7354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O(log L)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70667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680258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2"/>
          <p:cNvGrpSpPr/>
          <p:nvPr/>
        </p:nvGrpSpPr>
        <p:grpSpPr>
          <a:xfrm>
            <a:off x="6464618" y="4185285"/>
            <a:ext cx="5193982" cy="1937385"/>
            <a:chOff x="6464618" y="4185285"/>
            <a:chExt cx="5193982" cy="1937385"/>
          </a:xfrm>
        </p:grpSpPr>
        <p:sp>
          <p:nvSpPr>
            <p:cNvPr id="36" name="Rectangle 36"/>
            <p:cNvSpPr/>
            <p:nvPr/>
          </p:nvSpPr>
          <p:spPr>
            <a:xfrm>
              <a:off x="6464618" y="4185285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431863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12268" y="4394835"/>
              <a:ext cx="202787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49523" y="4430554"/>
              <a:ext cx="1954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为什么能停，和 LC 有何不同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717983" y="48348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76098" y="477202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堆顶 ĉ ≥ U 时，表中其余结点的 ĉ 都不小于它，可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以一起杀死，算法立即结束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717983" y="54559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6098" y="5393055"/>
              <a:ext cx="4091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 LC 取出答案结点就停，要求答案结点处 ĉ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c；LCBB 靠 UB 更新 U 和 ans，不需要这个条件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极大化问题：取相反数，或者把大小关系全部反过来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842635" cy="1937385"/>
            <a:chOff x="533400" y="1524000"/>
            <a:chExt cx="5842635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两种做法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1050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2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2040" y="211074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取目标函数的相反数作为成本函数 c，转化为极小化问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题，前面的算法直接可用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7184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31770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镜像修改：目标函数作为 c，寻找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最大成本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的答案结点，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下表各项全部反过来</a:t>
              </a:r>
            </a:p>
          </p:txBody>
        </p:sp>
      </p:grpSp>
      <p:grpSp>
        <p:nvGrpSpPr>
          <p:cNvPr id="46" name="c1-table-2"/>
          <p:cNvGrpSpPr/>
          <p:nvPr/>
        </p:nvGrpSpPr>
        <p:grpSpPr>
          <a:xfrm>
            <a:off x="533400" y="3651885"/>
            <a:ext cx="5842635" cy="2692718"/>
            <a:chOff x="533400" y="3651885"/>
            <a:chExt cx="5842635" cy="2692718"/>
          </a:xfrm>
        </p:grpSpPr>
        <p:sp>
          <p:nvSpPr>
            <p:cNvPr id="18" name="Rectangle 18"/>
            <p:cNvSpPr/>
            <p:nvPr/>
          </p:nvSpPr>
          <p:spPr>
            <a:xfrm>
              <a:off x="533400" y="3651885"/>
              <a:ext cx="584263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1390" y="37876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3518" y="37876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极小化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7270" y="378761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极大化（镜像）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223" y="42362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估计函数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27098" y="4236244"/>
              <a:ext cx="1589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≤ c(X) ≤ u(X)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05478" y="4236244"/>
              <a:ext cx="1589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u(X) ≤ c(X) ≤ ĉ(X)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443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54914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684871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 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27098" y="46848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上界，不断减小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5478" y="468487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下界，不断增大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939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513349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杀死条件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27098" y="5133499"/>
              <a:ext cx="710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≥ U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05478" y="5133499"/>
              <a:ext cx="710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≤ U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44258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544734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558212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27098" y="558212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足够小的正常数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05478" y="558212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足够小的负常数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58912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603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活结点表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27098" y="603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极小堆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05478" y="603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极大堆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651885"/>
              <a:ext cx="584263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814512" y="365188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092892" y="365188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graph-1"/>
          <p:cNvGrpSpPr/>
          <p:nvPr/>
        </p:nvGrpSpPr>
        <p:grpSpPr>
          <a:xfrm>
            <a:off x="6761798" y="2461260"/>
            <a:ext cx="4831778" cy="2714149"/>
            <a:chOff x="6761798" y="2461260"/>
            <a:chExt cx="4831778" cy="2714149"/>
          </a:xfrm>
        </p:grpSpPr>
        <p:sp>
          <p:nvSpPr>
            <p:cNvPr id="47" name="Freeform 47"/>
            <p:cNvSpPr/>
            <p:nvPr/>
          </p:nvSpPr>
          <p:spPr>
            <a:xfrm>
              <a:off x="6809422" y="3551872"/>
              <a:ext cx="3228022" cy="9525"/>
            </a:xfrm>
            <a:custGeom>
              <a:avLst/>
              <a:gdLst/>
              <a:ahLst/>
              <a:cxnLst/>
              <a:rect l="l" t="t" r="r" b="b"/>
              <a:pathLst>
                <a:path w="3228022" h="9525">
                  <a:moveTo>
                    <a:pt x="0" y="0"/>
                  </a:moveTo>
                  <a:lnTo>
                    <a:pt x="3228022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6799898" y="4721542"/>
              <a:ext cx="3247072" cy="9525"/>
            </a:xfrm>
            <a:custGeom>
              <a:avLst/>
              <a:gdLst/>
              <a:ahLst/>
              <a:cxnLst/>
              <a:rect l="l" t="t" r="r" b="b"/>
              <a:pathLst>
                <a:path w="3247072" h="9525">
                  <a:moveTo>
                    <a:pt x="0" y="0"/>
                  </a:moveTo>
                  <a:lnTo>
                    <a:pt x="324707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936105" y="2837498"/>
              <a:ext cx="285750" cy="1428750"/>
            </a:xfrm>
            <a:prstGeom prst="roundRect">
              <a:avLst>
                <a:gd name="adj" fmla="val 1333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84732" y="3843338"/>
              <a:ext cx="285750" cy="666750"/>
            </a:xfrm>
            <a:prstGeom prst="roundRect">
              <a:avLst>
                <a:gd name="adj" fmla="val 13333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832408" y="2461260"/>
              <a:ext cx="285750" cy="1714500"/>
            </a:xfrm>
            <a:prstGeom prst="roundRect">
              <a:avLst>
                <a:gd name="adj" fmla="val 1333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280082" y="3467100"/>
              <a:ext cx="285750" cy="952500"/>
            </a:xfrm>
            <a:prstGeom prst="roundRect">
              <a:avLst>
                <a:gd name="adj" fmla="val 1333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8728710" y="4095750"/>
              <a:ext cx="285750" cy="476250"/>
            </a:xfrm>
            <a:prstGeom prst="roundRect">
              <a:avLst>
                <a:gd name="adj" fmla="val 13333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176385" y="3090862"/>
              <a:ext cx="285750" cy="1238250"/>
            </a:xfrm>
            <a:prstGeom prst="roundRect">
              <a:avLst>
                <a:gd name="adj" fmla="val 1333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624060" y="3656648"/>
              <a:ext cx="285750" cy="809625"/>
            </a:xfrm>
            <a:prstGeom prst="roundRect">
              <a:avLst>
                <a:gd name="adj" fmla="val 1333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761798" y="3532822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0046970" y="3532822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6771322" y="47120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0056495" y="47120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158222" y="349567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58450" y="2478881"/>
              <a:ext cx="1135126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15"/>
                </a:lnSpc>
              </a:pPr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ĉ(X) &gt; U：进入活</a:t>
              </a:r>
              <a:br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结点表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458450" y="4201954"/>
              <a:ext cx="10739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ĉ(X) ≤ U：杀死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77249" y="4955381"/>
              <a:ext cx="1891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各结点的 ĉ(X)，U 只会增大</a:t>
              </a:r>
            </a:p>
          </p:txBody>
        </p:sp>
      </p:grpSp>
      <p:grpSp>
        <p:nvGrpSpPr>
          <p:cNvPr id="71" name="c2-callout-2"/>
          <p:cNvGrpSpPr/>
          <p:nvPr/>
        </p:nvGrpSpPr>
        <p:grpSpPr>
          <a:xfrm>
            <a:off x="6680835" y="5303520"/>
            <a:ext cx="4977765" cy="1059180"/>
            <a:chOff x="6680835" y="5303520"/>
            <a:chExt cx="4977765" cy="1059180"/>
          </a:xfrm>
        </p:grpSpPr>
        <p:sp>
          <p:nvSpPr>
            <p:cNvPr id="65" name="Rectangle 65"/>
            <p:cNvSpPr/>
            <p:nvPr/>
          </p:nvSpPr>
          <p:spPr>
            <a:xfrm>
              <a:off x="6680835" y="5303520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885623" y="5733098"/>
              <a:ext cx="200026" cy="200025"/>
              <a:chOff x="6885623" y="5733098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885623" y="5733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925361" y="5777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60077" y="5888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7187565" y="5452110"/>
              <a:ext cx="4044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极大化时 ĉ 是乐观的上界估计：连最乐观的估计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都不超过已知下界 U，子树里就不会有更好的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解。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求最小成本的分支限界法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求最优解的分支限界法：剪枝依据、剪枝时机与终止条件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flow-1"/>
          <p:cNvGrpSpPr/>
          <p:nvPr/>
        </p:nvGrpSpPr>
        <p:grpSpPr>
          <a:xfrm>
            <a:off x="707708" y="1707832"/>
            <a:ext cx="4629150" cy="4471036"/>
            <a:chOff x="707708" y="1707832"/>
            <a:chExt cx="4629150" cy="4471036"/>
          </a:xfrm>
        </p:grpSpPr>
        <p:sp>
          <p:nvSpPr>
            <p:cNvPr id="7" name="Freeform 7"/>
            <p:cNvSpPr/>
            <p:nvPr/>
          </p:nvSpPr>
          <p:spPr>
            <a:xfrm>
              <a:off x="1777365" y="2145982"/>
              <a:ext cx="9525" cy="181927"/>
            </a:xfrm>
            <a:custGeom>
              <a:avLst/>
              <a:gdLst/>
              <a:ahLst/>
              <a:cxnLst/>
              <a:rect l="l" t="t" r="r" b="b"/>
              <a:pathLst>
                <a:path w="9525" h="181927">
                  <a:moveTo>
                    <a:pt x="0" y="0"/>
                  </a:moveTo>
                  <a:lnTo>
                    <a:pt x="0" y="181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24978" y="23279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47975" y="2733675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91815" y="26812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77365" y="3034665"/>
              <a:ext cx="9525" cy="100012"/>
            </a:xfrm>
            <a:custGeom>
              <a:avLst/>
              <a:gdLst/>
              <a:ahLst/>
              <a:cxnLst/>
              <a:rect l="l" t="t" r="r" b="b"/>
              <a:pathLst>
                <a:path w="9525" h="100012">
                  <a:moveTo>
                    <a:pt x="0" y="0"/>
                  </a:moveTo>
                  <a:lnTo>
                    <a:pt x="0" y="1000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24978" y="31346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47975" y="3540442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91815" y="34880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3840480"/>
              <a:ext cx="9525" cy="181928"/>
            </a:xfrm>
            <a:custGeom>
              <a:avLst/>
              <a:gdLst/>
              <a:ahLst/>
              <a:cxnLst/>
              <a:rect l="l" t="t" r="r" b="b"/>
              <a:pathLst>
                <a:path w="9525" h="181928">
                  <a:moveTo>
                    <a:pt x="0" y="0"/>
                  </a:moveTo>
                  <a:lnTo>
                    <a:pt x="0" y="181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24978" y="40224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777365" y="4565332"/>
              <a:ext cx="9525" cy="181927"/>
            </a:xfrm>
            <a:custGeom>
              <a:avLst/>
              <a:gdLst/>
              <a:ahLst/>
              <a:cxnLst/>
              <a:rect l="l" t="t" r="r" b="b"/>
              <a:pathLst>
                <a:path w="9525" h="181927">
                  <a:moveTo>
                    <a:pt x="0" y="0"/>
                  </a:moveTo>
                  <a:lnTo>
                    <a:pt x="0" y="1819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724978" y="47472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847975" y="5153025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091815" y="51006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777365" y="5454015"/>
              <a:ext cx="9525" cy="181928"/>
            </a:xfrm>
            <a:custGeom>
              <a:avLst/>
              <a:gdLst/>
              <a:ahLst/>
              <a:cxnLst/>
              <a:rect l="l" t="t" r="r" b="b"/>
              <a:pathLst>
                <a:path w="9525" h="181928">
                  <a:moveTo>
                    <a:pt x="0" y="0"/>
                  </a:moveTo>
                  <a:lnTo>
                    <a:pt x="0" y="1819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724978" y="56359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7708" y="1707832"/>
              <a:ext cx="2140268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07708" y="2432685"/>
              <a:ext cx="2140268" cy="601980"/>
            </a:xfrm>
            <a:custGeom>
              <a:avLst/>
              <a:gdLst/>
              <a:ahLst/>
              <a:cxnLst/>
              <a:rect l="l" t="t" r="r" b="b"/>
              <a:pathLst>
                <a:path w="2140268" h="601980">
                  <a:moveTo>
                    <a:pt x="1069658" y="0"/>
                  </a:moveTo>
                  <a:lnTo>
                    <a:pt x="2140268" y="300990"/>
                  </a:lnTo>
                  <a:lnTo>
                    <a:pt x="1069658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196590" y="2514600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07708" y="3239452"/>
              <a:ext cx="2140268" cy="601027"/>
            </a:xfrm>
            <a:custGeom>
              <a:avLst/>
              <a:gdLst/>
              <a:ahLst/>
              <a:cxnLst/>
              <a:rect l="l" t="t" r="r" b="b"/>
              <a:pathLst>
                <a:path w="2140268" h="601027">
                  <a:moveTo>
                    <a:pt x="1069658" y="0"/>
                  </a:moveTo>
                  <a:lnTo>
                    <a:pt x="2140268" y="300990"/>
                  </a:lnTo>
                  <a:lnTo>
                    <a:pt x="1069658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196590" y="3321368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7708" y="4127182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07708" y="4852035"/>
              <a:ext cx="2140268" cy="601980"/>
            </a:xfrm>
            <a:custGeom>
              <a:avLst/>
              <a:gdLst/>
              <a:ahLst/>
              <a:cxnLst/>
              <a:rect l="l" t="t" r="r" b="b"/>
              <a:pathLst>
                <a:path w="2140268" h="601980">
                  <a:moveTo>
                    <a:pt x="1069658" y="0"/>
                  </a:moveTo>
                  <a:lnTo>
                    <a:pt x="2140268" y="300990"/>
                  </a:lnTo>
                  <a:lnTo>
                    <a:pt x="1069658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196590" y="4933950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07708" y="5740718"/>
              <a:ext cx="2140268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45013" y="1837849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生成儿子 X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84457" y="2644616"/>
              <a:ext cx="585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B(X)？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70516" y="26446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舍弃：没有可行解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36040" y="3451384"/>
              <a:ext cx="882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&lt; U？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70516" y="345138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杀死：没有更优解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53947" y="425719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进入活结点表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8029" y="5063966"/>
              <a:ext cx="1498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出表时仍有 ĉ &lt; U？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87457" y="50639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杀死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3971" y="5870734"/>
              <a:ext cx="1486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成为 E-结点，扩展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907982" y="25174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946273" y="25441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805940" y="304514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829181" y="307181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907982" y="33242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946273" y="33508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805940" y="389191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829181" y="391858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07982" y="493680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946273" y="49634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805940" y="550545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829181" y="553212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68" name="c2-table-1"/>
          <p:cNvGrpSpPr/>
          <p:nvPr/>
        </p:nvGrpSpPr>
        <p:grpSpPr>
          <a:xfrm>
            <a:off x="5815965" y="1524000"/>
            <a:ext cx="5842635" cy="2248852"/>
            <a:chOff x="5815965" y="1524000"/>
            <a:chExt cx="5842635" cy="2248852"/>
          </a:xfrm>
        </p:grpSpPr>
        <p:sp>
          <p:nvSpPr>
            <p:cNvPr id="54" name="Rectangle 54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791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014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23788" y="2221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剪枝依据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08711" y="2108359"/>
              <a:ext cx="40200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约束函数 B：限定是否存在可行解；成本估计 ĉ(X) 和界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U：界定是否存在最优解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15965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23788" y="28970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剪枝发生点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08711" y="2783681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进活结点表时接受 B 检验和 U 检验；X 出活结点表时再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 U 检验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23788" y="34590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终止条件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08711" y="3459004"/>
              <a:ext cx="40132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活结点表为空，或表中再没有能通过 U 检验的活结点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15965" y="1524000"/>
              <a:ext cx="584263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7096125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2"/>
          <p:cNvGrpSpPr/>
          <p:nvPr/>
        </p:nvGrpSpPr>
        <p:grpSpPr>
          <a:xfrm>
            <a:off x="5815965" y="3963352"/>
            <a:ext cx="5842635" cy="1335405"/>
            <a:chOff x="5815965" y="3963352"/>
            <a:chExt cx="5842635" cy="1335405"/>
          </a:xfrm>
        </p:grpSpPr>
        <p:sp>
          <p:nvSpPr>
            <p:cNvPr id="69" name="Rectangle 69"/>
            <p:cNvSpPr/>
            <p:nvPr/>
          </p:nvSpPr>
          <p:spPr>
            <a:xfrm>
              <a:off x="5815965" y="3963352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25490" y="4096702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63615" y="417290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53823" y="42086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63690" y="4208145"/>
              <a:ext cx="33065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回溯法求最优解时能用 ĉ(X) 和 U 吗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55995" y="4569142"/>
              <a:ext cx="5092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能。回溯法扩展结点前同样可以比较 ĉ(X) 与当前的界 U，剪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掉不可能更优的子树，提高效率。</a:t>
              </a:r>
            </a:p>
          </p:txBody>
        </p:sp>
      </p:grpSp>
      <p:grpSp>
        <p:nvGrpSpPr>
          <p:cNvPr id="82" name="c2-callout-3"/>
          <p:cNvGrpSpPr/>
          <p:nvPr/>
        </p:nvGrpSpPr>
        <p:grpSpPr>
          <a:xfrm>
            <a:off x="5815965" y="5489258"/>
            <a:ext cx="5842635" cy="533400"/>
            <a:chOff x="5815965" y="5489258"/>
            <a:chExt cx="5842635" cy="533400"/>
          </a:xfrm>
        </p:grpSpPr>
        <p:sp>
          <p:nvSpPr>
            <p:cNvPr id="76" name="Rectangle 76"/>
            <p:cNvSpPr/>
            <p:nvPr/>
          </p:nvSpPr>
          <p:spPr>
            <a:xfrm>
              <a:off x="5815965" y="5489258"/>
              <a:ext cx="5842635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020753" y="5655945"/>
              <a:ext cx="200026" cy="200026"/>
              <a:chOff x="6020753" y="5655945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020753" y="56559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120765" y="57226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109653" y="57559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322695" y="5651182"/>
              <a:ext cx="5175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左图按极小化问题画出；极大化问题把 ĉ &lt; U 换成 ĉ &gt; U。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67528" cy="3351847"/>
            <a:chOff x="667512" y="1835468"/>
            <a:chExt cx="53675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带有期限的作业调度问题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一个极小化问题：选哪些作业按期完成，罚款最少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317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 k-元组解空间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04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约束函数 B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成本估计 ĉ 与上界 u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580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FIFOBB 实例运行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61496" cy="909257"/>
            <a:chOff x="520446" y="342900"/>
            <a:chExt cx="99614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614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问题：一台处理机上选作业，按期完成的放进 J，其余作业交罚款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004060"/>
            <a:chOff x="533400" y="1524000"/>
            <a:chExt cx="5410200" cy="20040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04060"/>
            </a:xfrm>
            <a:prstGeom prst="roundRect">
              <a:avLst>
                <a:gd name="adj" fmla="val 6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736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问题描述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个作业、一台处理机。作业 i 用三元组 (pᵢ, dᵢ, tᵢ) 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示：需要 tᵢ 个时间处理，期限 dᵢ 之前没有完成要交罚款 pᵢ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1270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目标：选作业子集 J，使 J 中作业都能在期限内完成，且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不在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中的作业罚款总数最小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316563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这是一个极小化问题。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28447" y="3698558"/>
            <a:ext cx="5415153" cy="2263806"/>
            <a:chOff x="528447" y="3698558"/>
            <a:chExt cx="5415153" cy="2263806"/>
          </a:xfrm>
        </p:grpSpPr>
        <p:sp>
          <p:nvSpPr>
            <p:cNvPr id="17" name="Rectangle 17"/>
            <p:cNvSpPr/>
            <p:nvPr/>
          </p:nvSpPr>
          <p:spPr>
            <a:xfrm>
              <a:off x="533400" y="3698558"/>
              <a:ext cx="541020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0924" y="3820001"/>
              <a:ext cx="407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 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20621" y="3820001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罚款 pᵢ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02699" y="3820001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期限 dᵢ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84776" y="3820001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 tᵢ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5656" y="4220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40752" y="4220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22830" y="4220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04907" y="42200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4938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49865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15656" y="46201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99289" y="462010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2830" y="46201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04907" y="46201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939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15656" y="50201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40752" y="5020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22830" y="5020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04907" y="502015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2939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529875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15656" y="54202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40752" y="54202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22830" y="54202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04907" y="54202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698558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791652" y="369855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173730" y="369855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556760" y="369855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8447" y="5771674"/>
              <a:ext cx="7025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实例：n = 4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248400" y="1524000"/>
            <a:ext cx="5410200" cy="2085975"/>
            <a:chOff x="6248400" y="1524000"/>
            <a:chExt cx="5410200" cy="2085975"/>
          </a:xfrm>
        </p:grpSpPr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2085975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1657350"/>
              <a:ext cx="47625" cy="18192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3190" y="1710690"/>
              <a:ext cx="122491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42760" y="1743551"/>
              <a:ext cx="10857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解空间（k-元组）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81762" y="21107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37782" y="2054542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不定长的 k-元组 (x₁, …, xₖ)，k ≤ n，xⱼ 是选中作业的下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81762" y="26689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7782" y="261270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显式约束：xᵢ &lt; xᵢ₊₁，1 ≤ i &lt; k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481762" y="296894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37782" y="291274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隐式约束：选中的作业都能在期限前完成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81762" y="326898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37782" y="321278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目标函数：未选中作业的罚款总数最小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3780472"/>
            <a:ext cx="5410200" cy="2144078"/>
            <a:chOff x="6248400" y="3780472"/>
            <a:chExt cx="5410200" cy="2144078"/>
          </a:xfrm>
        </p:grpSpPr>
        <p:sp>
          <p:nvSpPr>
            <p:cNvPr id="62" name="Rectangle 62"/>
            <p:cNvSpPr/>
            <p:nvPr/>
          </p:nvSpPr>
          <p:spPr>
            <a:xfrm>
              <a:off x="6248400" y="3780472"/>
              <a:ext cx="5410200" cy="2144078"/>
            </a:xfrm>
            <a:prstGeom prst="roundRect">
              <a:avLst>
                <a:gd name="adj" fmla="val 62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7925" y="3913822"/>
              <a:ext cx="47625" cy="18773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3190" y="396716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54660" y="40000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状态空间树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81762" y="436721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37782" y="4311015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2ⁿ = 16 个结点，按层次遍历编号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81762" y="466725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37782" y="461105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圆形结点满足约束条件，方形结点不可行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67475" y="4907756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更正：原课件显式约束写作 xᵢ ≤ xᵢ₊₁。同一作业不能选两次，应为 xᵢ &lt;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xᵢ₊₁。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18215" cy="909257"/>
            <a:chOff x="520446" y="342900"/>
            <a:chExt cx="96182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182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约束函数 B：按期限排序后逐个累加时间，有作业超期就不可行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0" name="c1-graph-1"/>
          <p:cNvGrpSpPr/>
          <p:nvPr/>
        </p:nvGrpSpPr>
        <p:grpSpPr>
          <a:xfrm>
            <a:off x="540068" y="1686878"/>
            <a:ext cx="5322570" cy="3551872"/>
            <a:chOff x="540068" y="1686878"/>
            <a:chExt cx="5322570" cy="3551872"/>
          </a:xfrm>
        </p:grpSpPr>
        <p:sp>
          <p:nvSpPr>
            <p:cNvPr id="7" name="Freeform 7"/>
            <p:cNvSpPr/>
            <p:nvPr/>
          </p:nvSpPr>
          <p:spPr>
            <a:xfrm>
              <a:off x="1904048" y="1931670"/>
              <a:ext cx="1309687" cy="917258"/>
            </a:xfrm>
            <a:custGeom>
              <a:avLst/>
              <a:gdLst/>
              <a:ahLst/>
              <a:cxnLst/>
              <a:rect l="l" t="t" r="r" b="b"/>
              <a:pathLst>
                <a:path w="1309687" h="917258">
                  <a:moveTo>
                    <a:pt x="1309687" y="0"/>
                  </a:moveTo>
                  <a:lnTo>
                    <a:pt x="0" y="91725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87090" y="1996440"/>
              <a:ext cx="200977" cy="788670"/>
            </a:xfrm>
            <a:custGeom>
              <a:avLst/>
              <a:gdLst/>
              <a:ahLst/>
              <a:cxnLst/>
              <a:rect l="l" t="t" r="r" b="b"/>
              <a:pathLst>
                <a:path w="200977" h="788670">
                  <a:moveTo>
                    <a:pt x="0" y="0"/>
                  </a:moveTo>
                  <a:lnTo>
                    <a:pt x="200977" y="78867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75672" y="1936432"/>
              <a:ext cx="1204912" cy="908685"/>
            </a:xfrm>
            <a:custGeom>
              <a:avLst/>
              <a:gdLst/>
              <a:ahLst/>
              <a:cxnLst/>
              <a:rect l="l" t="t" r="r" b="b"/>
              <a:pathLst>
                <a:path w="1204912" h="908685">
                  <a:moveTo>
                    <a:pt x="0" y="0"/>
                  </a:moveTo>
                  <a:lnTo>
                    <a:pt x="1204912" y="9086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93770" y="1907858"/>
              <a:ext cx="2069782" cy="965835"/>
            </a:xfrm>
            <a:custGeom>
              <a:avLst/>
              <a:gdLst/>
              <a:ahLst/>
              <a:cxnLst/>
              <a:rect l="l" t="t" r="r" b="b"/>
              <a:pathLst>
                <a:path w="2069782" h="965835">
                  <a:moveTo>
                    <a:pt x="0" y="0"/>
                  </a:moveTo>
                  <a:lnTo>
                    <a:pt x="2069782" y="96583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29665" y="3077528"/>
              <a:ext cx="552450" cy="832485"/>
            </a:xfrm>
            <a:custGeom>
              <a:avLst/>
              <a:gdLst/>
              <a:ahLst/>
              <a:cxnLst/>
              <a:rect l="l" t="t" r="r" b="b"/>
              <a:pathLst>
                <a:path w="552450" h="832485">
                  <a:moveTo>
                    <a:pt x="552450" y="0"/>
                  </a:moveTo>
                  <a:lnTo>
                    <a:pt x="0" y="8324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87842" y="3103245"/>
              <a:ext cx="79058" cy="781050"/>
            </a:xfrm>
            <a:custGeom>
              <a:avLst/>
              <a:gdLst/>
              <a:ahLst/>
              <a:cxnLst/>
              <a:rect l="l" t="t" r="r" b="b"/>
              <a:pathLst>
                <a:path w="79058" h="781050">
                  <a:moveTo>
                    <a:pt x="0" y="0"/>
                  </a:moveTo>
                  <a:lnTo>
                    <a:pt x="79058" y="78105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64995" y="3073718"/>
              <a:ext cx="601027" cy="841058"/>
            </a:xfrm>
            <a:custGeom>
              <a:avLst/>
              <a:gdLst/>
              <a:ahLst/>
              <a:cxnLst/>
              <a:rect l="l" t="t" r="r" b="b"/>
              <a:pathLst>
                <a:path w="601027" h="841058">
                  <a:moveTo>
                    <a:pt x="0" y="0"/>
                  </a:moveTo>
                  <a:lnTo>
                    <a:pt x="601027" y="84105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87090" y="3099435"/>
              <a:ext cx="200977" cy="788670"/>
            </a:xfrm>
            <a:custGeom>
              <a:avLst/>
              <a:gdLst/>
              <a:ahLst/>
              <a:cxnLst/>
              <a:rect l="l" t="t" r="r" b="b"/>
              <a:pathLst>
                <a:path w="200977" h="788670">
                  <a:moveTo>
                    <a:pt x="200977" y="0"/>
                  </a:moveTo>
                  <a:lnTo>
                    <a:pt x="0" y="78867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682365" y="3094672"/>
              <a:ext cx="280035" cy="783908"/>
            </a:xfrm>
            <a:custGeom>
              <a:avLst/>
              <a:gdLst/>
              <a:ahLst/>
              <a:cxnLst/>
              <a:rect l="l" t="t" r="r" b="b"/>
              <a:pathLst>
                <a:path w="280035" h="783908">
                  <a:moveTo>
                    <a:pt x="0" y="0"/>
                  </a:moveTo>
                  <a:lnTo>
                    <a:pt x="280035" y="78390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09172" y="3104198"/>
              <a:ext cx="9525" cy="763905"/>
            </a:xfrm>
            <a:custGeom>
              <a:avLst/>
              <a:gdLst/>
              <a:ahLst/>
              <a:cxnLst/>
              <a:rect l="l" t="t" r="r" b="b"/>
              <a:pathLst>
                <a:path w="9525" h="763905">
                  <a:moveTo>
                    <a:pt x="0" y="0"/>
                  </a:moveTo>
                  <a:lnTo>
                    <a:pt x="0" y="76390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67715" y="4200525"/>
              <a:ext cx="226695" cy="778193"/>
            </a:xfrm>
            <a:custGeom>
              <a:avLst/>
              <a:gdLst/>
              <a:ahLst/>
              <a:cxnLst/>
              <a:rect l="l" t="t" r="r" b="b"/>
              <a:pathLst>
                <a:path w="226695" h="778193">
                  <a:moveTo>
                    <a:pt x="226695" y="0"/>
                  </a:moveTo>
                  <a:lnTo>
                    <a:pt x="0" y="77819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84898" y="4200525"/>
              <a:ext cx="226695" cy="778193"/>
            </a:xfrm>
            <a:custGeom>
              <a:avLst/>
              <a:gdLst/>
              <a:ahLst/>
              <a:cxnLst/>
              <a:rect l="l" t="t" r="r" b="b"/>
              <a:pathLst>
                <a:path w="226695" h="778193">
                  <a:moveTo>
                    <a:pt x="0" y="0"/>
                  </a:moveTo>
                  <a:lnTo>
                    <a:pt x="226695" y="77819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884045" y="4207192"/>
              <a:ext cx="9525" cy="771525"/>
            </a:xfrm>
            <a:custGeom>
              <a:avLst/>
              <a:gdLst/>
              <a:ahLst/>
              <a:cxnLst/>
              <a:rect l="l" t="t" r="r" b="b"/>
              <a:pathLst>
                <a:path w="9525" h="771525">
                  <a:moveTo>
                    <a:pt x="0" y="0"/>
                  </a:moveTo>
                  <a:lnTo>
                    <a:pt x="0" y="7715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347085" y="4207192"/>
              <a:ext cx="9525" cy="771525"/>
            </a:xfrm>
            <a:custGeom>
              <a:avLst/>
              <a:gdLst/>
              <a:ahLst/>
              <a:cxnLst/>
              <a:rect l="l" t="t" r="r" b="b"/>
              <a:pathLst>
                <a:path w="9525" h="771525">
                  <a:moveTo>
                    <a:pt x="0" y="0"/>
                  </a:moveTo>
                  <a:lnTo>
                    <a:pt x="0" y="7715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194685" y="168687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619250" y="27898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475672" y="27898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656772" y="27898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557838" y="278987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87730" y="389286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731645" y="389286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68868" y="3914775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194685" y="3892868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854768" y="3878580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642485" y="3878580"/>
              <a:ext cx="333375" cy="3333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0068" y="4978718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59192" y="4978718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93545" y="4978718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56585" y="4978718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304038" y="177879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51872" y="1787366"/>
              <a:ext cx="4400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c(1) = 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28603" y="28817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85025" y="28817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66125" y="28817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67190" y="28817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7083" y="39847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40998" y="39847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16320" y="39847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04038" y="39847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40314" y="39847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28031" y="39847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9426" y="50477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68551" y="50477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02904" y="50477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265944" y="50477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492692" y="23117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524248" y="23417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420428" y="23117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451983" y="23417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010978" y="23117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43486" y="23417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461510" y="23117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493066" y="23417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339215" y="34147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370771" y="3444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761172" y="34147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792728" y="3444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099310" y="341566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130866" y="34456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420428" y="34147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451983" y="34447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755708" y="34080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787263" y="34370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742498" y="34080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774053" y="34370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14388" y="45110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45943" y="4540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131570" y="45110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63126" y="4540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817370" y="45138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848926" y="45439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3280410" y="45138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311966" y="45439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87" name="c1-callout-2"/>
          <p:cNvGrpSpPr/>
          <p:nvPr/>
        </p:nvGrpSpPr>
        <p:grpSpPr>
          <a:xfrm>
            <a:off x="533400" y="5633085"/>
            <a:ext cx="5626418" cy="729615"/>
            <a:chOff x="533400" y="5633085"/>
            <a:chExt cx="5626418" cy="729615"/>
          </a:xfrm>
        </p:grpSpPr>
        <p:sp>
          <p:nvSpPr>
            <p:cNvPr id="81" name="Rectangle 81"/>
            <p:cNvSpPr/>
            <p:nvPr/>
          </p:nvSpPr>
          <p:spPr>
            <a:xfrm>
              <a:off x="533400" y="5633085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892" y="5779770"/>
              <a:ext cx="46085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边上数字是新选入的作业；结点 16 = {1,2,3,4} 在不可行结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12 之下，不再画出。</a:t>
              </a:r>
            </a:p>
          </p:txBody>
        </p:sp>
      </p:grpSp>
      <p:grpSp>
        <p:nvGrpSpPr>
          <p:cNvPr id="93" name="c2-card-1"/>
          <p:cNvGrpSpPr/>
          <p:nvPr/>
        </p:nvGrpSpPr>
        <p:grpSpPr>
          <a:xfrm>
            <a:off x="6464618" y="1524000"/>
            <a:ext cx="5193982" cy="1185862"/>
            <a:chOff x="6464618" y="1524000"/>
            <a:chExt cx="5193982" cy="1185862"/>
          </a:xfrm>
        </p:grpSpPr>
        <p:sp>
          <p:nvSpPr>
            <p:cNvPr id="88" name="Rectangle 88"/>
            <p:cNvSpPr/>
            <p:nvPr/>
          </p:nvSpPr>
          <p:spPr>
            <a:xfrm>
              <a:off x="6464618" y="1524000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6474142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689408" y="1710690"/>
              <a:ext cx="90963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758902" y="1743551"/>
              <a:ext cx="7716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B(X) 怎样算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682549" y="2054542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Sₓ 中的作业按期限从小到大排列，依次累加处理时间；每个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作业都不超期，X 才可行。</a:t>
              </a:r>
            </a:p>
          </p:txBody>
        </p:sp>
      </p:grpSp>
      <p:grpSp>
        <p:nvGrpSpPr>
          <p:cNvPr id="125" name="c2-table-2"/>
          <p:cNvGrpSpPr/>
          <p:nvPr/>
        </p:nvGrpSpPr>
        <p:grpSpPr>
          <a:xfrm>
            <a:off x="6459665" y="2879408"/>
            <a:ext cx="5198935" cy="2464783"/>
            <a:chOff x="6459665" y="2879408"/>
            <a:chExt cx="5198935" cy="2464783"/>
          </a:xfrm>
        </p:grpSpPr>
        <p:sp>
          <p:nvSpPr>
            <p:cNvPr id="94" name="Rectangle 94"/>
            <p:cNvSpPr/>
            <p:nvPr/>
          </p:nvSpPr>
          <p:spPr>
            <a:xfrm>
              <a:off x="6464618" y="2879408"/>
              <a:ext cx="5193982" cy="60007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619596" y="3100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247966" y="31008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作业集合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273934" y="310086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检验过程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321733" y="3000851"/>
              <a:ext cx="1536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726834" y="36009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342200" y="36009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{1,4}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120062" y="3600926"/>
              <a:ext cx="1828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 = d₄ = 1，只能完成一个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317465" y="36009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464618" y="38747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464618" y="3879532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683298" y="40009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259274" y="400097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{1,2,3}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120062" y="4000976"/>
              <a:ext cx="2928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1、3、2 依次在 1、2、4 完成，作业 2 超期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317465" y="400097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464618" y="427482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683298" y="44010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259274" y="440102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{2,3,4}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120062" y="4401026"/>
              <a:ext cx="2928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4、3、2 依次在 1、2、4 完成，作业 2 超期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317465" y="44010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464618" y="46748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464618" y="4679632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6726834" y="48010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342200" y="480107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{2,3}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120062" y="480107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3、2 依次在 1、3 完成，不超期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317465" y="480107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464618" y="2879408"/>
              <a:ext cx="5193982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7083742" y="2879408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018145" y="2879408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11134725" y="2879408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459665" y="5153501"/>
              <a:ext cx="35059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 = {1,2,4}、14 = {1,3,4} 同时含作业 1 和 4，也不可行</a:t>
              </a:r>
            </a:p>
          </p:txBody>
        </p:sp>
      </p:grpSp>
      <p:grpSp>
        <p:nvGrpSpPr>
          <p:cNvPr id="131" name="c2-callout-3"/>
          <p:cNvGrpSpPr/>
          <p:nvPr/>
        </p:nvGrpSpPr>
        <p:grpSpPr>
          <a:xfrm>
            <a:off x="6464618" y="5474970"/>
            <a:ext cx="5193982" cy="729615"/>
            <a:chOff x="6464618" y="5474970"/>
            <a:chExt cx="5193982" cy="729615"/>
          </a:xfrm>
        </p:grpSpPr>
        <p:sp>
          <p:nvSpPr>
            <p:cNvPr id="126" name="Rectangle 126"/>
            <p:cNvSpPr/>
            <p:nvPr/>
          </p:nvSpPr>
          <p:spPr>
            <a:xfrm>
              <a:off x="6464618" y="547497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29" name="Group 129"/>
            <p:cNvGrpSpPr/>
            <p:nvPr/>
          </p:nvGrpSpPr>
          <p:grpSpPr>
            <a:xfrm>
              <a:off x="6669405" y="5739765"/>
              <a:ext cx="200026" cy="200026"/>
              <a:chOff x="6669405" y="5739765"/>
              <a:chExt cx="200026" cy="200026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6669405" y="57397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6736080" y="581755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30" name="TextBox 130"/>
            <p:cNvSpPr txBox="1"/>
            <p:nvPr/>
          </p:nvSpPr>
          <p:spPr>
            <a:xfrm>
              <a:off x="6972110" y="5621655"/>
              <a:ext cx="423138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共 10 个结点通过 B 检验。最优解是结点 9 = {2,3}，罚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款 p₁ + p₄ = 8，即 c(1) = 8。</a:t>
              </a:r>
            </a:p>
          </p:txBody>
        </p:sp>
      </p:grpSp>
      <p:grpSp>
        <p:nvGrpSpPr>
          <p:cNvPr id="1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2" name="TextBox 13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7723" cy="909257"/>
            <a:chOff x="520446" y="342900"/>
            <a:chExt cx="68177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77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 只计已经放弃的作业，u 计所有未选的作业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111942" cy="1750695"/>
            <a:chOff x="533400" y="1524000"/>
            <a:chExt cx="4111942" cy="17506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111942" cy="1750695"/>
            </a:xfrm>
            <a:prstGeom prst="roundRect">
              <a:avLst>
                <a:gd name="adj" fmla="val 76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839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263842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3587" y="1756410"/>
              <a:ext cx="2570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成本估计 ĉ(X) = Σ pᵢ（i &lt; m，i ∉ Sₓ）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30351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Sₓ 是从根到 X 选中的作业集合，m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max{i | i ∈ Sₓ}；X 不可行时 ĉ(X) = 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3524" y="2667952"/>
              <a:ext cx="3441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下标小于 m 又没选的作业，在子树 X 中不会再被选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入，罚款一定要交，所以 ĉ(X) ≤ c(X)。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54718"/>
            <a:ext cx="4111942" cy="1861185"/>
            <a:chOff x="533400" y="3454718"/>
            <a:chExt cx="4111942" cy="1861185"/>
          </a:xfrm>
        </p:grpSpPr>
        <p:sp>
          <p:nvSpPr>
            <p:cNvPr id="15" name="Rectangle 15"/>
            <p:cNvSpPr/>
            <p:nvPr/>
          </p:nvSpPr>
          <p:spPr>
            <a:xfrm>
              <a:off x="533400" y="3454718"/>
              <a:ext cx="4111942" cy="1861185"/>
            </a:xfrm>
            <a:prstGeom prst="roundRect">
              <a:avLst>
                <a:gd name="adj" fmla="val 71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588068"/>
              <a:ext cx="47625" cy="15944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3652838"/>
              <a:ext cx="193071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5496" y="3687128"/>
              <a:ext cx="1819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上界 u(X) = Σ pᵢ（i ∉ Sₓ）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7240" y="407384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3831" y="4014311"/>
              <a:ext cx="337781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停在 X 不再加作业，罚款就是 u(X)，所以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c(X) ≤ u(X)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7240" y="466344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3831" y="4602956"/>
              <a:ext cx="31794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可行时它本身就是一个解，cost(X) =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u(X)</a:t>
              </a:r>
            </a:p>
          </p:txBody>
        </p:sp>
      </p:grpSp>
      <p:grpSp>
        <p:nvGrpSpPr>
          <p:cNvPr id="99" name="c2-table-1"/>
          <p:cNvGrpSpPr/>
          <p:nvPr/>
        </p:nvGrpSpPr>
        <p:grpSpPr>
          <a:xfrm>
            <a:off x="4944809" y="1524000"/>
            <a:ext cx="6713791" cy="2401824"/>
            <a:chOff x="4944809" y="1524000"/>
            <a:chExt cx="6713791" cy="2401824"/>
          </a:xfrm>
        </p:grpSpPr>
        <p:sp>
          <p:nvSpPr>
            <p:cNvPr id="24" name="Rectangle 24"/>
            <p:cNvSpPr/>
            <p:nvPr/>
          </p:nvSpPr>
          <p:spPr>
            <a:xfrm>
              <a:off x="4950142" y="1524000"/>
              <a:ext cx="6708458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1778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6990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378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7767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155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8544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932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92261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9614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53385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7270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80754" y="207645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7212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600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7989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8377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8766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02700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05633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009518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13403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17288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950142" y="236791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950142" y="2372678"/>
              <a:ext cx="670845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32681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7212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600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7989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39355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43240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9154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50057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98367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57827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61712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950142" y="279273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32681" y="29260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827700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31585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35470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39355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43240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91549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50057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856470" y="2807018"/>
              <a:ext cx="58483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098367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57827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61712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950142" y="321659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950142" y="3221355"/>
              <a:ext cx="670845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232681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87212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76009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7989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39355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243240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91549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450057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856470" y="3230880"/>
              <a:ext cx="58483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098367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657827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61712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950142" y="1524000"/>
              <a:ext cx="6708458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561594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21982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82371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742759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803148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863536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23829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984218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1044606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4995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944809" y="3720465"/>
              <a:ext cx="52547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可行结点的 cost = u。结点 8、12~15 不可行，ĉ = u = ∞；结点 9 = {2,3} 是最优解</a:t>
              </a:r>
            </a:p>
          </p:txBody>
        </p:sp>
      </p:grpSp>
      <p:grpSp>
        <p:nvGrpSpPr>
          <p:cNvPr id="105" name="c2-card-2"/>
          <p:cNvGrpSpPr/>
          <p:nvPr/>
        </p:nvGrpSpPr>
        <p:grpSpPr>
          <a:xfrm>
            <a:off x="4950142" y="4065270"/>
            <a:ext cx="6708458" cy="1250632"/>
            <a:chOff x="4950142" y="4065270"/>
            <a:chExt cx="6708458" cy="1250632"/>
          </a:xfrm>
        </p:grpSpPr>
        <p:sp>
          <p:nvSpPr>
            <p:cNvPr id="100" name="Rectangle 100"/>
            <p:cNvSpPr/>
            <p:nvPr/>
          </p:nvSpPr>
          <p:spPr>
            <a:xfrm>
              <a:off x="4950142" y="4065270"/>
              <a:ext cx="670845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4959668" y="419862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5186362" y="42633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5277802" y="42976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5179124" y="4623911"/>
              <a:ext cx="587552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原课件运行表把结点 11 的 ĉ、cost、u 都写成 ∞。{3,4} 是可行解，三者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 15；只是 FIFOBB 中结点 4 被杀死，11 不会被生成。</a:t>
              </a:r>
            </a:p>
          </p:txBody>
        </p:sp>
      </p:grpSp>
      <p:grpSp>
        <p:nvGrpSpPr>
          <p:cNvPr id="11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106" name="Rectangle 10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10" name="Group 110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1040511" y="5753576"/>
              <a:ext cx="968070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可行的非叶结点也是答案结点，但 ĉ ≠ c（如根：ĉ = 0，c = 8），算法 LC 会把根当作答案直接输出，所以要用 FIFOBB 或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LCBB。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58382" cy="909257"/>
            <a:chOff x="520446" y="342900"/>
            <a:chExt cx="78583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带有期限的作业调度问题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583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FIFOBB 实例运行：U 依次变为 24、19、14、9、8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544172" cy="293370"/>
            <a:chOff x="525780" y="1548765"/>
            <a:chExt cx="9544172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544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ε = 0.1。可行结点都是解结点且 cost = u，UB 中 U ← min(cost, u+ε) = cost；ĉ(X) ≥ U 的结点被杀死。</a:t>
              </a:r>
            </a:p>
          </p:txBody>
        </p:sp>
      </p:grpSp>
      <p:grpSp>
        <p:nvGrpSpPr>
          <p:cNvPr id="52" name="c1-table-1"/>
          <p:cNvGrpSpPr/>
          <p:nvPr/>
        </p:nvGrpSpPr>
        <p:grpSpPr>
          <a:xfrm>
            <a:off x="528066" y="1954530"/>
            <a:ext cx="6281356" cy="3680079"/>
            <a:chOff x="528066" y="1954530"/>
            <a:chExt cx="6281356" cy="3680079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276022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9478" y="20831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48289" y="2083118"/>
              <a:ext cx="1026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儿子 X 的处理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39515" y="20831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33724" y="20831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64592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2118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856" y="2506980"/>
              <a:ext cx="29839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UB(根)：cost = 24，U ← 24；2：ĉ = 0，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 = 19，U ← 19；3：ĉ = 5，cost = 14，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← 14；4、5：ĉ = 15、21 ≥ 14，杀死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79252" y="2613660"/>
              <a:ext cx="4312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24→19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→14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6021" y="2613660"/>
              <a:ext cx="3474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1→2→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3056" y="2720340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22516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229928"/>
              <a:ext cx="627602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2118" y="34651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7856" y="3358515"/>
              <a:ext cx="2778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6：ĉ = 0，cost = 9，U ← 9；7：ĉ = 10 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9，杀死；8 = {1,4} 不满足 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44377" y="34651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29237" y="34651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3056" y="3465195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3 6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86334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118" y="41033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7856" y="3996690"/>
              <a:ext cx="28620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9：ĉ = 5，cost = 8，U ← 8；10：ĉ = 11 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8，杀死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4377" y="41033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29237" y="410337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13056" y="4103370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5005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50532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2118" y="463391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7856" y="4633912"/>
              <a:ext cx="1207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12、13 不满足 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44377" y="46339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29237" y="46339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81712" y="46339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9253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2118" y="50587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7856" y="5058728"/>
              <a:ext cx="868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不满足 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44377" y="50587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29237" y="505872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45364" y="505872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954530"/>
              <a:ext cx="6276022" cy="3400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30605" y="1954530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482465" y="1954530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97805" y="1954530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51232" y="1954530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066" y="5429250"/>
              <a:ext cx="3305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每次出队时都有 ĉ(E) &lt; U，E 依次是 1、2、3、6、9</a:t>
              </a:r>
            </a:p>
          </p:txBody>
        </p:sp>
      </p:grpSp>
      <p:grpSp>
        <p:nvGrpSpPr>
          <p:cNvPr id="101" name="c2-graph-1"/>
          <p:cNvGrpSpPr/>
          <p:nvPr/>
        </p:nvGrpSpPr>
        <p:grpSpPr>
          <a:xfrm>
            <a:off x="7105650" y="2119312"/>
            <a:ext cx="4534712" cy="3765805"/>
            <a:chOff x="7105650" y="2119312"/>
            <a:chExt cx="4534712" cy="3765805"/>
          </a:xfrm>
        </p:grpSpPr>
        <p:sp>
          <p:nvSpPr>
            <p:cNvPr id="53" name="Freeform 53"/>
            <p:cNvSpPr/>
            <p:nvPr/>
          </p:nvSpPr>
          <p:spPr>
            <a:xfrm>
              <a:off x="8221980" y="2347912"/>
              <a:ext cx="1056322" cy="930592"/>
            </a:xfrm>
            <a:custGeom>
              <a:avLst/>
              <a:gdLst/>
              <a:ahLst/>
              <a:cxnLst/>
              <a:rect l="l" t="t" r="r" b="b"/>
              <a:pathLst>
                <a:path w="1056322" h="930592">
                  <a:moveTo>
                    <a:pt x="1056322" y="0"/>
                  </a:moveTo>
                  <a:lnTo>
                    <a:pt x="0" y="93059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449752" y="2382202"/>
              <a:ext cx="419100" cy="862013"/>
            </a:xfrm>
            <a:custGeom>
              <a:avLst/>
              <a:gdLst/>
              <a:ahLst/>
              <a:cxnLst/>
              <a:rect l="l" t="t" r="r" b="b"/>
              <a:pathLst>
                <a:path w="419100" h="862013">
                  <a:moveTo>
                    <a:pt x="0" y="0"/>
                  </a:moveTo>
                  <a:lnTo>
                    <a:pt x="419100" y="86201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497378" y="2344102"/>
              <a:ext cx="1141095" cy="937260"/>
            </a:xfrm>
            <a:custGeom>
              <a:avLst/>
              <a:gdLst/>
              <a:ahLst/>
              <a:cxnLst/>
              <a:rect l="l" t="t" r="r" b="b"/>
              <a:pathLst>
                <a:path w="1141095" h="937260">
                  <a:moveTo>
                    <a:pt x="0" y="0"/>
                  </a:moveTo>
                  <a:lnTo>
                    <a:pt x="1141095" y="93726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512618" y="2322195"/>
              <a:ext cx="1792605" cy="982027"/>
            </a:xfrm>
            <a:custGeom>
              <a:avLst/>
              <a:gdLst/>
              <a:ahLst/>
              <a:cxnLst/>
              <a:rect l="l" t="t" r="r" b="b"/>
              <a:pathLst>
                <a:path w="1792605" h="982027">
                  <a:moveTo>
                    <a:pt x="0" y="0"/>
                  </a:moveTo>
                  <a:lnTo>
                    <a:pt x="1792605" y="98202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594282" y="3498532"/>
              <a:ext cx="448628" cy="794385"/>
            </a:xfrm>
            <a:custGeom>
              <a:avLst/>
              <a:gdLst/>
              <a:ahLst/>
              <a:cxnLst/>
              <a:rect l="l" t="t" r="r" b="b"/>
              <a:pathLst>
                <a:path w="448628" h="794385">
                  <a:moveTo>
                    <a:pt x="448628" y="0"/>
                  </a:moveTo>
                  <a:lnTo>
                    <a:pt x="0" y="79438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132445" y="3515678"/>
              <a:ext cx="99060" cy="760095"/>
            </a:xfrm>
            <a:custGeom>
              <a:avLst/>
              <a:gdLst/>
              <a:ahLst/>
              <a:cxnLst/>
              <a:rect l="l" t="t" r="r" b="b"/>
              <a:pathLst>
                <a:path w="99060" h="760095">
                  <a:moveTo>
                    <a:pt x="0" y="0"/>
                  </a:moveTo>
                  <a:lnTo>
                    <a:pt x="99060" y="76009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199120" y="3489008"/>
              <a:ext cx="591503" cy="799147"/>
            </a:xfrm>
            <a:custGeom>
              <a:avLst/>
              <a:gdLst/>
              <a:ahLst/>
              <a:cxnLst/>
              <a:rect l="l" t="t" r="r" b="b"/>
              <a:pathLst>
                <a:path w="591503" h="799147">
                  <a:moveTo>
                    <a:pt x="0" y="0"/>
                  </a:moveTo>
                  <a:lnTo>
                    <a:pt x="591503" y="79914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774555" y="3514725"/>
              <a:ext cx="132397" cy="762000"/>
            </a:xfrm>
            <a:custGeom>
              <a:avLst/>
              <a:gdLst/>
              <a:ahLst/>
              <a:cxnLst/>
              <a:rect l="l" t="t" r="r" b="b"/>
              <a:pathLst>
                <a:path w="132397" h="762000">
                  <a:moveTo>
                    <a:pt x="132397" y="0"/>
                  </a:moveTo>
                  <a:lnTo>
                    <a:pt x="0" y="76200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10006012" y="3495675"/>
              <a:ext cx="486727" cy="800100"/>
            </a:xfrm>
            <a:custGeom>
              <a:avLst/>
              <a:gdLst/>
              <a:ahLst/>
              <a:cxnLst/>
              <a:rect l="l" t="t" r="r" b="b"/>
              <a:pathLst>
                <a:path w="486727" h="800100">
                  <a:moveTo>
                    <a:pt x="0" y="0"/>
                  </a:moveTo>
                  <a:lnTo>
                    <a:pt x="486727" y="80010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326630" y="4558665"/>
              <a:ext cx="163830" cy="700088"/>
            </a:xfrm>
            <a:custGeom>
              <a:avLst/>
              <a:gdLst/>
              <a:ahLst/>
              <a:cxnLst/>
              <a:rect l="l" t="t" r="r" b="b"/>
              <a:pathLst>
                <a:path w="163830" h="700088">
                  <a:moveTo>
                    <a:pt x="163830" y="0"/>
                  </a:moveTo>
                  <a:lnTo>
                    <a:pt x="0" y="70008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567612" y="4554855"/>
              <a:ext cx="230505" cy="703898"/>
            </a:xfrm>
            <a:custGeom>
              <a:avLst/>
              <a:gdLst/>
              <a:ahLst/>
              <a:cxnLst/>
              <a:rect l="l" t="t" r="r" b="b"/>
              <a:pathLst>
                <a:path w="230505" h="703898">
                  <a:moveTo>
                    <a:pt x="0" y="0"/>
                  </a:moveTo>
                  <a:lnTo>
                    <a:pt x="230505" y="70389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749790" y="4562475"/>
              <a:ext cx="9525" cy="696278"/>
            </a:xfrm>
            <a:custGeom>
              <a:avLst/>
              <a:gdLst/>
              <a:ahLst/>
              <a:cxnLst/>
              <a:rect l="l" t="t" r="r" b="b"/>
              <a:pathLst>
                <a:path w="9525" h="696278">
                  <a:moveTo>
                    <a:pt x="0" y="0"/>
                  </a:moveTo>
                  <a:lnTo>
                    <a:pt x="0" y="69627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251632" y="2119312"/>
              <a:ext cx="268605" cy="268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7979092" y="3238500"/>
              <a:ext cx="268605" cy="268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797415" y="3238500"/>
              <a:ext cx="268605" cy="268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0615612" y="3238500"/>
              <a:ext cx="268605" cy="26860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1296650" y="3238500"/>
              <a:ext cx="268605" cy="26860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7388542" y="4284345"/>
              <a:ext cx="268605" cy="26860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8116252" y="4284345"/>
              <a:ext cx="268605" cy="26860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8696325" y="4288155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9615488" y="4284345"/>
              <a:ext cx="268605" cy="26860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10433685" y="4284345"/>
              <a:ext cx="268605" cy="26860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7105650" y="5258752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650480" y="5258752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9559290" y="5258752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342888" y="21921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070348" y="33123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88670" y="33123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706868" y="33123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387905" y="33123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479798" y="4357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07508" y="4357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843778" y="4357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706743" y="4357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486846" y="435721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215009" y="53278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759839" y="53278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668649" y="532780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698736" y="217741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0/24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463405" y="32966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0/19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281728" y="32966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5/14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540505" y="3745230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15/18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221543" y="370808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21/21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154609" y="400621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0/9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041145" y="475297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10/13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062591" y="434244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5/8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358578" y="475297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11/11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282494" y="5499735"/>
              <a:ext cx="2290953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41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橙色数字为 ĉ/u；红色结点被 U 杀死，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灰色方块不满足 B</a:t>
              </a:r>
            </a:p>
          </p:txBody>
        </p:sp>
      </p:grpSp>
      <p:grpSp>
        <p:nvGrpSpPr>
          <p:cNvPr id="10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02" name="Rectangle 10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1040511" y="6011704"/>
              <a:ext cx="99791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队列为空，算法结束：U = 8，ans = 9，选作业 {2,3}，罚款 8。进入过活结点表的只有 1、2、3、6、9 这 5 个结点。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673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一个极大化问题：用贪心解同时构造上界 ĉ 和下界 u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问题描述与实例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从贪心解得到 ĉ 与 u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823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n-元组表示下的 LCBB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9823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k-元组表示下的 LCBB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21272" cy="909257"/>
            <a:chOff x="520446" y="342900"/>
            <a:chExt cx="62212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21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背包：物品要么整件装入，要么不装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2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620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  </m:t>
                              </m:r>
                              <m:r>
                                <m:rPr>
                                  <m:nor m:val="on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约束：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nary>
                                <m:naryPr>
                                  <m:chr m:val="∑"/>
                                  <m:limLoc m:val="undOvr"/>
                                  <m:grow m:val="off"/>
                                  <m:subHide m:val="off"/>
                                  <m:supHide m:val="off"/>
                                  <m:ctrl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d>
                        <m:dPr>
                          <m:begChr m:val="{"/>
                          <m:sepChr m:val=""/>
                          <m:endChr m:val="}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2"/>
          <p:cNvGrpSpPr/>
          <p:nvPr/>
        </p:nvGrpSpPr>
        <p:grpSpPr>
          <a:xfrm>
            <a:off x="533400" y="2313622"/>
            <a:ext cx="5626418" cy="2000250"/>
            <a:chOff x="533400" y="2313622"/>
            <a:chExt cx="5626418" cy="2000250"/>
          </a:xfrm>
        </p:grpSpPr>
        <p:sp>
          <p:nvSpPr>
            <p:cNvPr id="8" name="Rectangle 8"/>
            <p:cNvSpPr/>
            <p:nvPr/>
          </p:nvSpPr>
          <p:spPr>
            <a:xfrm>
              <a:off x="533400" y="2313622"/>
              <a:ext cx="5626418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446972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8190" y="25003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0862" y="25331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90131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845118"/>
              <a:ext cx="46257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 &gt; 0，wᵢ &gt; 0，1 ≤ i ≤ n；不能只装物品的一部分，xᵢ 只能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0 或 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34585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3402330"/>
              <a:ext cx="47971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极大化问题，按镜像方式处理：u(X) ≤ c(X) ≤ ĉ(X)；活结点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表用极大堆；ε 取足够小的负常数；U 不断增大，ĉ(X) ≤ U 的结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点被杀死</a:t>
              </a:r>
            </a:p>
          </p:txBody>
        </p:sp>
      </p:grpSp>
      <p:grpSp>
        <p:nvGrpSpPr>
          <p:cNvPr id="47" name="c1-table-3"/>
          <p:cNvGrpSpPr/>
          <p:nvPr/>
        </p:nvGrpSpPr>
        <p:grpSpPr>
          <a:xfrm>
            <a:off x="528447" y="4484370"/>
            <a:ext cx="5631371" cy="1863756"/>
            <a:chOff x="528447" y="4484370"/>
            <a:chExt cx="5631371" cy="1863756"/>
          </a:xfrm>
        </p:grpSpPr>
        <p:sp>
          <p:nvSpPr>
            <p:cNvPr id="17" name="Rectangle 17"/>
            <p:cNvSpPr/>
            <p:nvPr/>
          </p:nvSpPr>
          <p:spPr>
            <a:xfrm>
              <a:off x="533400" y="4484370"/>
              <a:ext cx="5626418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1884" y="4605814"/>
              <a:ext cx="407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物品 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78671" y="4605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39756" y="4605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9889" y="4605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60021" y="4605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559" y="500586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 pᵢ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39282" y="500586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00367" y="500586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60499" y="500586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20632" y="500586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2797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28447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2728" y="5405914"/>
              <a:ext cx="5662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重量 wᵢ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80745" y="54059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41830" y="54059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1962" y="54059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20632" y="540591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6797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147" y="5805964"/>
              <a:ext cx="573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 / wᵢ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80745" y="580596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58904" y="580596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01962" y="580596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79169" y="580596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484370"/>
              <a:ext cx="562641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913572" y="44843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932748" y="44843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034790" y="44843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053965" y="448437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8447" y="6157436"/>
              <a:ext cx="30270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实例：n = 4，M = 10；物品已按 p/w 非增次序排列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464618" y="1524000"/>
            <a:ext cx="5193982" cy="1528762"/>
            <a:chOff x="6464618" y="1524000"/>
            <a:chExt cx="5193982" cy="1528762"/>
          </a:xfrm>
        </p:grpSpPr>
        <p:sp>
          <p:nvSpPr>
            <p:cNvPr id="48" name="Rectangle 48"/>
            <p:cNvSpPr/>
            <p:nvPr/>
          </p:nvSpPr>
          <p:spPr>
            <a:xfrm>
              <a:off x="6464618" y="1524000"/>
              <a:ext cx="5193982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74142" y="1657350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89408" y="1710690"/>
              <a:ext cx="122491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58977" y="1743551"/>
              <a:ext cx="10857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解空间（n-元组）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97980" y="21107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53999" y="2054542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(x₁, x₂, x₃, x₄)，显式约束 xᵢ = 0 或 1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97980" y="241173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53999" y="2355532"/>
              <a:ext cx="3123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隐式约束：选中物品的重量和不超过 M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97980" y="271176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53999" y="265557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目标函数：选中物品的效益和最大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6464618" y="3223260"/>
            <a:ext cx="5193982" cy="1528762"/>
            <a:chOff x="6464618" y="3223260"/>
            <a:chExt cx="5193982" cy="1528762"/>
          </a:xfrm>
        </p:grpSpPr>
        <p:sp>
          <p:nvSpPr>
            <p:cNvPr id="59" name="Rectangle 59"/>
            <p:cNvSpPr/>
            <p:nvPr/>
          </p:nvSpPr>
          <p:spPr>
            <a:xfrm>
              <a:off x="6464618" y="3223260"/>
              <a:ext cx="5193982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4142" y="3356610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689408" y="340995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70878" y="344281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状态空间树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697980" y="381000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53999" y="3753802"/>
              <a:ext cx="3612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31 个结点：15 个非叶结点和 16 个叶结点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697980" y="41100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53999" y="40538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答案结点都在叶结点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697980" y="441007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53999" y="435387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结点按层次遍历编号，向左的边表示 xᵢ = 1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464618" y="4921568"/>
            <a:ext cx="5193982" cy="729615"/>
            <a:chOff x="6464618" y="4921568"/>
            <a:chExt cx="5193982" cy="729615"/>
          </a:xfrm>
        </p:grpSpPr>
        <p:sp>
          <p:nvSpPr>
            <p:cNvPr id="70" name="Rectangle 70"/>
            <p:cNvSpPr/>
            <p:nvPr/>
          </p:nvSpPr>
          <p:spPr>
            <a:xfrm>
              <a:off x="6464618" y="492156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669405" y="5186363"/>
              <a:ext cx="200026" cy="200025"/>
              <a:chOff x="6669405" y="5186363"/>
              <a:chExt cx="200026" cy="200025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669405" y="51863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709144" y="52308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743859" y="53419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972110" y="5068252"/>
              <a:ext cx="41628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思考：怎样构造 ĉ 和 u，使 u(X) ≤ c(X) ≤ ĉ(X)？思路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是把物品按 p/w 排好后用贪心法探查。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75411" cy="909257"/>
            <a:chOff x="520446" y="342900"/>
            <a:chExt cx="81754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754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贪心解给出两头的界：pp ≤ 子问题最优值 ≤ pp + Δpⱼ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727065" cy="2998756"/>
            <a:chOff x="533400" y="1533525"/>
            <a:chExt cx="5727065" cy="299875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已经做出的决定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51904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由路径 x₁…xₖ 到达，已得效益 p = Σ pᵢxᵢ（1 ≤ i ≤ k），剩余容量 M −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wᵢxᵢ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对剩下的物品贪心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4923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物品已按 p/w 非增排列，按顺序把物品 k+1, …, n 装进剩余容量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2161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找第一个装不下的物品 j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53144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xₖ₊₁ … xⱼ₋₁ 都取 1，xⱼ = Δ（0 ≤ Δ &lt; 1）；令 pp = Σ pᵢ（k &lt; i &lt; j）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夹住子问题的最优值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52392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pp 是一种可行的 0/1 装法，分数贪心解是 0/1 最优值的上界，所以 pp 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 X 的最优值 ≤ pp + Δpⱼ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4"/>
              <p:cNvSpPr txBox="1">
                <a:spLocks noGrp="1"/>
              </p:cNvSpPr>
              <p:nvPr/>
            </p:nvSpPr>
            <p:spPr>
              <a:xfrm>
                <a:off x="533400" y="4711065"/>
                <a:ext cx="6059805" cy="438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pp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acc>
                        <m:accPr>
                          <m:chr m:val="ˆ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pp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+Δ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32" name="c1-callout-3"/>
          <p:cNvGrpSpPr/>
          <p:nvPr/>
        </p:nvGrpSpPr>
        <p:grpSpPr>
          <a:xfrm>
            <a:off x="533400" y="5339715"/>
            <a:ext cx="6059805" cy="782955"/>
            <a:chOff x="533400" y="5339715"/>
            <a:chExt cx="6059805" cy="782955"/>
          </a:xfrm>
        </p:grpSpPr>
        <p:sp>
          <p:nvSpPr>
            <p:cNvPr id="26" name="Rectangle 26"/>
            <p:cNvSpPr/>
            <p:nvPr/>
          </p:nvSpPr>
          <p:spPr>
            <a:xfrm>
              <a:off x="533400" y="533971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631180"/>
              <a:ext cx="200026" cy="200025"/>
              <a:chOff x="738188" y="5631180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6311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6756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7867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488305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例（M = 10）：根结点装入物品 1、2 后剩 4，物品 3（w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7，p = 14）装不下，Δ = 4/7：u = 20，ĉ = 20 + 8 = 28。</a:t>
              </a:r>
            </a:p>
          </p:txBody>
        </p:sp>
      </p:grpSp>
      <p:grpSp>
        <p:nvGrpSpPr>
          <p:cNvPr id="35" name="c2-image-1"/>
          <p:cNvGrpSpPr/>
          <p:nvPr/>
        </p:nvGrpSpPr>
        <p:grpSpPr>
          <a:xfrm>
            <a:off x="6898005" y="1524000"/>
            <a:ext cx="4760595" cy="3052287"/>
            <a:chOff x="6898005" y="1524000"/>
            <a:chExt cx="4760595" cy="3052287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0" t="11664" r="0" b="11665"/>
            <a:stretch>
              <a:fillRect/>
            </a:stretch>
          </p:blipFill>
          <p:spPr>
            <a:xfrm>
              <a:off x="6898005" y="1524000"/>
              <a:ext cx="4760595" cy="2737485"/>
            </a:xfrm>
            <a:prstGeom prst="roundRect">
              <a:avLst>
                <a:gd name="adj" fmla="val 4871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6992125" y="4356259"/>
              <a:ext cx="4572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最后一件切一片塞满空隙：真实的 0/1 装法达不到这个值，它是上界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898005" y="4741545"/>
            <a:ext cx="4760595" cy="1621155"/>
            <a:chOff x="6898005" y="4741545"/>
            <a:chExt cx="4760595" cy="1621155"/>
          </a:xfrm>
        </p:grpSpPr>
        <p:sp>
          <p:nvSpPr>
            <p:cNvPr id="36" name="Rectangle 36"/>
            <p:cNvSpPr/>
            <p:nvPr/>
          </p:nvSpPr>
          <p:spPr>
            <a:xfrm>
              <a:off x="6898005" y="4741545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907530" y="487489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45655" y="49510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35863" y="49868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思考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5730" y="4986338"/>
              <a:ext cx="938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n+1 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38035" y="5347335"/>
              <a:ext cx="4139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剩下的物品全部装得下，Δ = 0，pp 就是子问题的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最优值，u(X) = c(X) = ĉ(X)。X 是叶结点时三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个值同样相等。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22058" cy="909257"/>
            <a:chOff x="520446" y="342900"/>
            <a:chExt cx="97220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220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n-元组状态空间树：B 剪掉结点 8、12，每个结点旁标出 ĉ 与 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40949" cy="597598"/>
            <a:chOff x="525399" y="1550194"/>
            <a:chExt cx="10640949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40949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边上的 1/0 是 xᵢ 的取值。方形结点重量超过 M，被约束函数 B 剪掉，8、12 的儿子不再生成。结点旁橙色为 ĉ、蓝色为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u；可行叶结点三个值相等，只标一个。</a:t>
              </a:r>
            </a:p>
          </p:txBody>
        </p:sp>
      </p:grpSp>
      <p:grpSp>
        <p:nvGrpSpPr>
          <p:cNvPr id="174" name="c1-graph-1"/>
          <p:cNvGrpSpPr/>
          <p:nvPr/>
        </p:nvGrpSpPr>
        <p:grpSpPr>
          <a:xfrm>
            <a:off x="1333500" y="2298382"/>
            <a:ext cx="9955816" cy="3870579"/>
            <a:chOff x="1333500" y="2298382"/>
            <a:chExt cx="9955816" cy="3870579"/>
          </a:xfrm>
        </p:grpSpPr>
        <p:sp>
          <p:nvSpPr>
            <p:cNvPr id="9" name="Freeform 9"/>
            <p:cNvSpPr/>
            <p:nvPr/>
          </p:nvSpPr>
          <p:spPr>
            <a:xfrm>
              <a:off x="3626168" y="2536508"/>
              <a:ext cx="2325052" cy="754380"/>
            </a:xfrm>
            <a:custGeom>
              <a:avLst/>
              <a:gdLst/>
              <a:ahLst/>
              <a:cxnLst/>
              <a:rect l="l" t="t" r="r" b="b"/>
              <a:pathLst>
                <a:path w="2325052" h="754380">
                  <a:moveTo>
                    <a:pt x="2325052" y="0"/>
                  </a:moveTo>
                  <a:lnTo>
                    <a:pt x="0" y="75438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240780" y="2536508"/>
              <a:ext cx="2325052" cy="754380"/>
            </a:xfrm>
            <a:custGeom>
              <a:avLst/>
              <a:gdLst/>
              <a:ahLst/>
              <a:cxnLst/>
              <a:rect l="l" t="t" r="r" b="b"/>
              <a:pathLst>
                <a:path w="2325052" h="754380">
                  <a:moveTo>
                    <a:pt x="0" y="0"/>
                  </a:moveTo>
                  <a:lnTo>
                    <a:pt x="2325052" y="75438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307908" y="3420428"/>
              <a:ext cx="1045845" cy="682942"/>
            </a:xfrm>
            <a:custGeom>
              <a:avLst/>
              <a:gdLst/>
              <a:ahLst/>
              <a:cxnLst/>
              <a:rect l="l" t="t" r="r" b="b"/>
              <a:pathLst>
                <a:path w="1045845" h="682942">
                  <a:moveTo>
                    <a:pt x="1045845" y="0"/>
                  </a:moveTo>
                  <a:lnTo>
                    <a:pt x="0" y="68294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09022" y="3420428"/>
              <a:ext cx="1046798" cy="682942"/>
            </a:xfrm>
            <a:custGeom>
              <a:avLst/>
              <a:gdLst/>
              <a:ahLst/>
              <a:cxnLst/>
              <a:rect l="l" t="t" r="r" b="b"/>
              <a:pathLst>
                <a:path w="1046798" h="682942">
                  <a:moveTo>
                    <a:pt x="0" y="0"/>
                  </a:moveTo>
                  <a:lnTo>
                    <a:pt x="1046798" y="68294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536180" y="3420428"/>
              <a:ext cx="1046797" cy="682942"/>
            </a:xfrm>
            <a:custGeom>
              <a:avLst/>
              <a:gdLst/>
              <a:ahLst/>
              <a:cxnLst/>
              <a:rect l="l" t="t" r="r" b="b"/>
              <a:pathLst>
                <a:path w="1046797" h="682942">
                  <a:moveTo>
                    <a:pt x="1046797" y="0"/>
                  </a:moveTo>
                  <a:lnTo>
                    <a:pt x="0" y="68294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838248" y="3420428"/>
              <a:ext cx="1045845" cy="682942"/>
            </a:xfrm>
            <a:custGeom>
              <a:avLst/>
              <a:gdLst/>
              <a:ahLst/>
              <a:cxnLst/>
              <a:rect l="l" t="t" r="r" b="b"/>
              <a:pathLst>
                <a:path w="1045845" h="682942">
                  <a:moveTo>
                    <a:pt x="0" y="0"/>
                  </a:moveTo>
                  <a:lnTo>
                    <a:pt x="1045845" y="68294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24012" y="4307205"/>
              <a:ext cx="462915" cy="598170"/>
            </a:xfrm>
            <a:custGeom>
              <a:avLst/>
              <a:gdLst/>
              <a:ahLst/>
              <a:cxnLst/>
              <a:rect l="l" t="t" r="r" b="b"/>
              <a:pathLst>
                <a:path w="462915" h="598170">
                  <a:moveTo>
                    <a:pt x="462915" y="0"/>
                  </a:moveTo>
                  <a:lnTo>
                    <a:pt x="0" y="59817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271712" y="4307205"/>
              <a:ext cx="461010" cy="606742"/>
            </a:xfrm>
            <a:custGeom>
              <a:avLst/>
              <a:gdLst/>
              <a:ahLst/>
              <a:cxnLst/>
              <a:rect l="l" t="t" r="r" b="b"/>
              <a:pathLst>
                <a:path w="461010" h="606742">
                  <a:moveTo>
                    <a:pt x="0" y="0"/>
                  </a:moveTo>
                  <a:lnTo>
                    <a:pt x="461010" y="60674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230052" y="4307205"/>
              <a:ext cx="461010" cy="606742"/>
            </a:xfrm>
            <a:custGeom>
              <a:avLst/>
              <a:gdLst/>
              <a:ahLst/>
              <a:cxnLst/>
              <a:rect l="l" t="t" r="r" b="b"/>
              <a:pathLst>
                <a:path w="461010" h="606742">
                  <a:moveTo>
                    <a:pt x="461010" y="0"/>
                  </a:moveTo>
                  <a:lnTo>
                    <a:pt x="0" y="60674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876800" y="4307205"/>
              <a:ext cx="469582" cy="607695"/>
            </a:xfrm>
            <a:custGeom>
              <a:avLst/>
              <a:gdLst/>
              <a:ahLst/>
              <a:cxnLst/>
              <a:rect l="l" t="t" r="r" b="b"/>
              <a:pathLst>
                <a:path w="469582" h="607695">
                  <a:moveTo>
                    <a:pt x="0" y="0"/>
                  </a:moveTo>
                  <a:lnTo>
                    <a:pt x="469582" y="60769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853238" y="4307205"/>
              <a:ext cx="461962" cy="598170"/>
            </a:xfrm>
            <a:custGeom>
              <a:avLst/>
              <a:gdLst/>
              <a:ahLst/>
              <a:cxnLst/>
              <a:rect l="l" t="t" r="r" b="b"/>
              <a:pathLst>
                <a:path w="461962" h="598170">
                  <a:moveTo>
                    <a:pt x="461962" y="0"/>
                  </a:moveTo>
                  <a:lnTo>
                    <a:pt x="0" y="59817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500938" y="4307205"/>
              <a:ext cx="461010" cy="606742"/>
            </a:xfrm>
            <a:custGeom>
              <a:avLst/>
              <a:gdLst/>
              <a:ahLst/>
              <a:cxnLst/>
              <a:rect l="l" t="t" r="r" b="b"/>
              <a:pathLst>
                <a:path w="461010" h="606742">
                  <a:moveTo>
                    <a:pt x="0" y="0"/>
                  </a:moveTo>
                  <a:lnTo>
                    <a:pt x="461010" y="60674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459278" y="4307205"/>
              <a:ext cx="461010" cy="606742"/>
            </a:xfrm>
            <a:custGeom>
              <a:avLst/>
              <a:gdLst/>
              <a:ahLst/>
              <a:cxnLst/>
              <a:rect l="l" t="t" r="r" b="b"/>
              <a:pathLst>
                <a:path w="461010" h="606742">
                  <a:moveTo>
                    <a:pt x="461010" y="0"/>
                  </a:moveTo>
                  <a:lnTo>
                    <a:pt x="0" y="60674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105072" y="4307205"/>
              <a:ext cx="470535" cy="607695"/>
            </a:xfrm>
            <a:custGeom>
              <a:avLst/>
              <a:gdLst/>
              <a:ahLst/>
              <a:cxnLst/>
              <a:rect l="l" t="t" r="r" b="b"/>
              <a:pathLst>
                <a:path w="470535" h="607695">
                  <a:moveTo>
                    <a:pt x="0" y="0"/>
                  </a:moveTo>
                  <a:lnTo>
                    <a:pt x="470535" y="60769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554605" y="5176838"/>
              <a:ext cx="214312" cy="538162"/>
            </a:xfrm>
            <a:custGeom>
              <a:avLst/>
              <a:gdLst/>
              <a:ahLst/>
              <a:cxnLst/>
              <a:rect l="l" t="t" r="r" b="b"/>
              <a:pathLst>
                <a:path w="214312" h="538162">
                  <a:moveTo>
                    <a:pt x="214312" y="0"/>
                  </a:moveTo>
                  <a:lnTo>
                    <a:pt x="0" y="53816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883218" y="5175885"/>
              <a:ext cx="218123" cy="528638"/>
            </a:xfrm>
            <a:custGeom>
              <a:avLst/>
              <a:gdLst/>
              <a:ahLst/>
              <a:cxnLst/>
              <a:rect l="l" t="t" r="r" b="b"/>
              <a:pathLst>
                <a:path w="218123" h="528638">
                  <a:moveTo>
                    <a:pt x="0" y="0"/>
                  </a:moveTo>
                  <a:lnTo>
                    <a:pt x="218123" y="5286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857625" y="5175885"/>
              <a:ext cx="221933" cy="539115"/>
            </a:xfrm>
            <a:custGeom>
              <a:avLst/>
              <a:gdLst/>
              <a:ahLst/>
              <a:cxnLst/>
              <a:rect l="l" t="t" r="r" b="b"/>
              <a:pathLst>
                <a:path w="221933" h="539115">
                  <a:moveTo>
                    <a:pt x="221933" y="0"/>
                  </a:moveTo>
                  <a:lnTo>
                    <a:pt x="0" y="53911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194810" y="5176838"/>
              <a:ext cx="209550" cy="526732"/>
            </a:xfrm>
            <a:custGeom>
              <a:avLst/>
              <a:gdLst/>
              <a:ahLst/>
              <a:cxnLst/>
              <a:rect l="l" t="t" r="r" b="b"/>
              <a:pathLst>
                <a:path w="209550" h="526732">
                  <a:moveTo>
                    <a:pt x="0" y="0"/>
                  </a:moveTo>
                  <a:lnTo>
                    <a:pt x="209550" y="52673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169218" y="5176838"/>
              <a:ext cx="214312" cy="538162"/>
            </a:xfrm>
            <a:custGeom>
              <a:avLst/>
              <a:gdLst/>
              <a:ahLst/>
              <a:cxnLst/>
              <a:rect l="l" t="t" r="r" b="b"/>
              <a:pathLst>
                <a:path w="214312" h="538162">
                  <a:moveTo>
                    <a:pt x="214312" y="0"/>
                  </a:moveTo>
                  <a:lnTo>
                    <a:pt x="0" y="53816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497830" y="5175885"/>
              <a:ext cx="217170" cy="528638"/>
            </a:xfrm>
            <a:custGeom>
              <a:avLst/>
              <a:gdLst/>
              <a:ahLst/>
              <a:cxnLst/>
              <a:rect l="l" t="t" r="r" b="b"/>
              <a:pathLst>
                <a:path w="217170" h="528638">
                  <a:moveTo>
                    <a:pt x="0" y="0"/>
                  </a:moveTo>
                  <a:lnTo>
                    <a:pt x="217170" y="5286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782878" y="5176838"/>
              <a:ext cx="214312" cy="538162"/>
            </a:xfrm>
            <a:custGeom>
              <a:avLst/>
              <a:gdLst/>
              <a:ahLst/>
              <a:cxnLst/>
              <a:rect l="l" t="t" r="r" b="b"/>
              <a:pathLst>
                <a:path w="214312" h="538162">
                  <a:moveTo>
                    <a:pt x="214312" y="0"/>
                  </a:moveTo>
                  <a:lnTo>
                    <a:pt x="0" y="53816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112442" y="5175885"/>
              <a:ext cx="217170" cy="528638"/>
            </a:xfrm>
            <a:custGeom>
              <a:avLst/>
              <a:gdLst/>
              <a:ahLst/>
              <a:cxnLst/>
              <a:rect l="l" t="t" r="r" b="b"/>
              <a:pathLst>
                <a:path w="217170" h="528638">
                  <a:moveTo>
                    <a:pt x="0" y="0"/>
                  </a:moveTo>
                  <a:lnTo>
                    <a:pt x="217170" y="5286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086850" y="5175885"/>
              <a:ext cx="221932" cy="539115"/>
            </a:xfrm>
            <a:custGeom>
              <a:avLst/>
              <a:gdLst/>
              <a:ahLst/>
              <a:cxnLst/>
              <a:rect l="l" t="t" r="r" b="b"/>
              <a:pathLst>
                <a:path w="221932" h="539115">
                  <a:moveTo>
                    <a:pt x="221932" y="0"/>
                  </a:moveTo>
                  <a:lnTo>
                    <a:pt x="0" y="53911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423082" y="5176838"/>
              <a:ext cx="209550" cy="526732"/>
            </a:xfrm>
            <a:custGeom>
              <a:avLst/>
              <a:gdLst/>
              <a:ahLst/>
              <a:cxnLst/>
              <a:rect l="l" t="t" r="r" b="b"/>
              <a:pathLst>
                <a:path w="209550" h="526732">
                  <a:moveTo>
                    <a:pt x="0" y="0"/>
                  </a:moveTo>
                  <a:lnTo>
                    <a:pt x="209550" y="52673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402252" y="5176838"/>
              <a:ext cx="209550" cy="526732"/>
            </a:xfrm>
            <a:custGeom>
              <a:avLst/>
              <a:gdLst/>
              <a:ahLst/>
              <a:cxnLst/>
              <a:rect l="l" t="t" r="r" b="b"/>
              <a:pathLst>
                <a:path w="209550" h="526732">
                  <a:moveTo>
                    <a:pt x="209550" y="0"/>
                  </a:moveTo>
                  <a:lnTo>
                    <a:pt x="0" y="52673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726102" y="5175885"/>
              <a:ext cx="218123" cy="528638"/>
            </a:xfrm>
            <a:custGeom>
              <a:avLst/>
              <a:gdLst/>
              <a:ahLst/>
              <a:cxnLst/>
              <a:rect l="l" t="t" r="r" b="b"/>
              <a:pathLst>
                <a:path w="218123" h="528638">
                  <a:moveTo>
                    <a:pt x="0" y="0"/>
                  </a:moveTo>
                  <a:lnTo>
                    <a:pt x="218123" y="5286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953125" y="234600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338512" y="319468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567738" y="319468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2037398" y="404336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4640580" y="404336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265670" y="404336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868852" y="404336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333500" y="4905375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2682240" y="48920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3994785" y="48920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5296852" y="48920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561772" y="4905375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911465" y="48920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224010" y="48920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525125" y="489204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311718" y="5715000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3015615" y="570261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613785" y="5715000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4317682" y="5702618"/>
              <a:ext cx="285750" cy="2857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4926330" y="5715000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5630228" y="570261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540942" y="5715000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8244840" y="570261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843010" y="5715000"/>
              <a:ext cx="381000" cy="260032"/>
            </a:xfrm>
            <a:prstGeom prst="roundRect">
              <a:avLst>
                <a:gd name="adj" fmla="val 14652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9546908" y="570261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0203180" y="570261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0859452" y="570261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52953" y="24283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438340" y="327707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67565" y="327707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137225" y="41257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740408" y="41257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65498" y="41257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968680" y="412575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480953" y="49744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782068" y="49744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056519" y="49744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358586" y="49744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71131" y="49744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73199" y="49744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85744" y="49744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586859" y="497443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421076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077349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723144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379416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035689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691961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650301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06574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952369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608641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264914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921186" y="5784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4722495" y="28346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754051" y="2863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336155" y="28346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367711" y="28636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2764155" y="36833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795711" y="37123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4065270" y="36833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4096826" y="37123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992428" y="36833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024936" y="37123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9294495" y="36833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9326051" y="37123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788795" y="45272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820351" y="4556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2435542" y="45319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2467098" y="45610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4393882" y="45319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4425438" y="45610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044440" y="45319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075996" y="45610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7017068" y="452723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049576" y="45562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7664768" y="45319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696323" y="45610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9623108" y="45319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9654663" y="45610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10273665" y="45319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10305221" y="45610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2594610" y="53673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2626166" y="53963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2925128" y="53616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2956683" y="53906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3902392" y="53673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3933948" y="53963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4232910" y="53616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4264466" y="53906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5209222" y="53673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5240778" y="53963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5539740" y="53616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5571296" y="53906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7823835" y="53673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7855391" y="53963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8154352" y="53616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8185908" y="53906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9130665" y="53673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9162221" y="53963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9461182" y="53616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9492738" y="53906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10440352" y="53616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10471908" y="53906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10768965" y="536162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10800521" y="53906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5537833" y="229838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5537833" y="25298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2979418" y="30318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2979418" y="32632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9038654" y="30318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9038654" y="32632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733548" y="40347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733548" y="42662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5056251" y="403479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25.8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5056251" y="42662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6961821" y="40347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6961821" y="42662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0284524" y="403479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19.4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0284524" y="42662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2226560" y="488346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27.2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2389821" y="5114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3539105" y="488346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25.8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3702366" y="5114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5701094" y="488346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24.4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5701094" y="5114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7454833" y="488346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20.8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7618093" y="5114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8768330" y="488346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19.4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8931591" y="5114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10930318" y="48834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66" name="TextBox 166"/>
            <p:cNvSpPr txBox="1"/>
            <p:nvPr/>
          </p:nvSpPr>
          <p:spPr>
            <a:xfrm>
              <a:off x="10930318" y="5114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3354134" y="59636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4655248" y="59636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5968746" y="59636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8582406" y="59636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9884474" y="59636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10540746" y="59636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1197018" y="59636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5" name="TextBox 17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贪心解向量里的分数位置，就是第一个装不下的物品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27685" y="1524000"/>
            <a:ext cx="3265170" cy="3886677"/>
            <a:chOff x="527685" y="1524000"/>
            <a:chExt cx="3265170" cy="388667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25945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79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0011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贪心解向量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2412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4325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053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6878" y="2108359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4/7, 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7911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9823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053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6878" y="2556986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4/7,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7911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9823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053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6878" y="3005614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6/7,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79111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98236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053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26878" y="3454241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4/7,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79111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98236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63328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0537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79492" y="3903821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0, 1, 1/10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84338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98236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1195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216718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0537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26878" y="4352449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6/7, 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79111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98236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66058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0537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79492" y="4801076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0, 1, 3/10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684338" y="480107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98236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3259455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11537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54984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20135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7685" y="5190649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 1~7 的向量与原课件一致</a:t>
              </a:r>
            </a:p>
          </p:txBody>
        </p:sp>
      </p:grpSp>
      <p:grpSp>
        <p:nvGrpSpPr>
          <p:cNvPr id="97" name="c2-table-1"/>
          <p:cNvGrpSpPr/>
          <p:nvPr/>
        </p:nvGrpSpPr>
        <p:grpSpPr>
          <a:xfrm>
            <a:off x="4091940" y="1524000"/>
            <a:ext cx="3265170" cy="3637121"/>
            <a:chOff x="4091940" y="1524000"/>
            <a:chExt cx="3265170" cy="3637121"/>
          </a:xfrm>
        </p:grpSpPr>
        <p:sp>
          <p:nvSpPr>
            <p:cNvPr id="55" name="Rectangle 55"/>
            <p:cNvSpPr/>
            <p:nvPr/>
          </p:nvSpPr>
          <p:spPr>
            <a:xfrm>
              <a:off x="4097655" y="1524000"/>
              <a:ext cx="325945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2122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64367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贪心解向量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8933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0846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3479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43747" y="2108359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0, 4/10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49546" y="21083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27.2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6344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097655" y="241649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097655" y="2421255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285037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43747" y="2556986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0, 1, 1/10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4954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6344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97655" y="2866072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285037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843747" y="3005614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0, 0, 8/10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249546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6344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097655" y="3314700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097655" y="3319462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285037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843747" y="3454241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0, 6/10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49546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20.8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963443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4097655" y="3763328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285037" y="390382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843747" y="3903821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0, 1, 3/10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49546" y="390382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63443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4097655" y="4211955"/>
              <a:ext cx="32594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4097655" y="4216718"/>
              <a:ext cx="325945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285037" y="43524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4985906" y="4352449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0, 0, 0, 1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344318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963443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97655" y="1524000"/>
              <a:ext cx="325945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467963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11409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676656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4091940" y="4741069"/>
              <a:ext cx="2962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 9~15 按同一方法补算；8、12 超重；结点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 中物品 4 整件装入，j = n+1</a:t>
              </a:r>
            </a:p>
          </p:txBody>
        </p:sp>
      </p:grpSp>
      <p:grpSp>
        <p:nvGrpSpPr>
          <p:cNvPr id="114" name="c3-card-1"/>
          <p:cNvGrpSpPr/>
          <p:nvPr/>
        </p:nvGrpSpPr>
        <p:grpSpPr>
          <a:xfrm>
            <a:off x="7662862" y="1524000"/>
            <a:ext cx="3995738" cy="2607945"/>
            <a:chOff x="7662862" y="1524000"/>
            <a:chExt cx="3995738" cy="2607945"/>
          </a:xfrm>
        </p:grpSpPr>
        <p:sp>
          <p:nvSpPr>
            <p:cNvPr id="98" name="Rectangle 98"/>
            <p:cNvSpPr/>
            <p:nvPr/>
          </p:nvSpPr>
          <p:spPr>
            <a:xfrm>
              <a:off x="7662862" y="1524000"/>
              <a:ext cx="3995738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7672388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910512" y="1733550"/>
              <a:ext cx="184689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959875" y="1769269"/>
              <a:ext cx="174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算结点 5（x₁=1，x₂=0）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7910512" y="20974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972362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211502" y="2110740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已得 p = 10，剩余容量 10 − 2 = 8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7910512" y="24326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972362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211502" y="2446020"/>
              <a:ext cx="2996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 3（w = 7）装得下：pp = 14，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剩余容量 1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7910512" y="30537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972362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211502" y="3067050"/>
              <a:ext cx="3240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 4（w = 10）装不下：Δ = 1/10</a:t>
              </a:r>
            </a:p>
          </p:txBody>
        </p:sp>
        <p:sp>
          <p:nvSpPr>
            <p:cNvPr id="111" name="Ellipse 111"/>
            <p:cNvSpPr/>
            <p:nvPr/>
          </p:nvSpPr>
          <p:spPr>
            <a:xfrm>
              <a:off x="7910512" y="338899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972362" y="34312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211502" y="3402330"/>
              <a:ext cx="2406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ĉ(5) = 10 + 14 + 18×1/10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25.8；u(5) = 24</a:t>
              </a:r>
            </a:p>
          </p:txBody>
        </p:sp>
      </p:grpSp>
      <p:grpSp>
        <p:nvGrpSpPr>
          <p:cNvPr id="128" name="c3-card-2"/>
          <p:cNvGrpSpPr/>
          <p:nvPr/>
        </p:nvGrpSpPr>
        <p:grpSpPr>
          <a:xfrm>
            <a:off x="7662862" y="4322445"/>
            <a:ext cx="3995738" cy="1986915"/>
            <a:chOff x="7662862" y="4322445"/>
            <a:chExt cx="3995738" cy="1986915"/>
          </a:xfrm>
        </p:grpSpPr>
        <p:sp>
          <p:nvSpPr>
            <p:cNvPr id="115" name="Rectangle 115"/>
            <p:cNvSpPr/>
            <p:nvPr/>
          </p:nvSpPr>
          <p:spPr>
            <a:xfrm>
              <a:off x="7662862" y="4322445"/>
              <a:ext cx="3995738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7672388" y="4455795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7910512" y="4531995"/>
              <a:ext cx="209359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953092" y="4567714"/>
              <a:ext cx="2008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算结点 9（x₁=x₂=1，x₃=0）</a:t>
              </a:r>
            </a:p>
          </p:txBody>
        </p:sp>
        <p:sp>
          <p:nvSpPr>
            <p:cNvPr id="119" name="Ellipse 119"/>
            <p:cNvSpPr/>
            <p:nvPr/>
          </p:nvSpPr>
          <p:spPr>
            <a:xfrm>
              <a:off x="7910512" y="489585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972362" y="49381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211502" y="490918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已得 p = 20，剩余容量 4</a:t>
              </a:r>
            </a:p>
          </p:txBody>
        </p:sp>
        <p:sp>
          <p:nvSpPr>
            <p:cNvPr id="122" name="Ellipse 122"/>
            <p:cNvSpPr/>
            <p:nvPr/>
          </p:nvSpPr>
          <p:spPr>
            <a:xfrm>
              <a:off x="7910512" y="523113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972362" y="52734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211502" y="5244465"/>
              <a:ext cx="3260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物品 4 就装不下：pp = 0，Δ = 4/10</a:t>
              </a:r>
            </a:p>
          </p:txBody>
        </p:sp>
        <p:sp>
          <p:nvSpPr>
            <p:cNvPr id="125" name="Ellipse 125"/>
            <p:cNvSpPr/>
            <p:nvPr/>
          </p:nvSpPr>
          <p:spPr>
            <a:xfrm>
              <a:off x="7910512" y="556641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7972362" y="56087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211502" y="5579745"/>
              <a:ext cx="2644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ĉ(9) = 20 + 18×4/10 = 27.2；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u(9) = 20</a:t>
              </a:r>
            </a:p>
          </p:txBody>
        </p:sp>
      </p:grpSp>
      <p:grpSp>
        <p:nvGrpSpPr>
          <p:cNvPr id="1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9" name="TextBox 12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64906" cy="909257"/>
            <a:chOff x="520446" y="342900"/>
            <a:chExt cx="8164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64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n-元组 LCBB 运行：U 从 19.9 增大到 24，ans = 21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134987" cy="293370"/>
            <a:chOff x="525780" y="1548765"/>
            <a:chExt cx="7134987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1349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ε = −0.1，活结点表是极大堆；只有叶结点是解结点，ĉ(X) ≤ U 的结点被杀死。</a:t>
              </a:r>
            </a:p>
          </p:txBody>
        </p:sp>
      </p:grpSp>
      <p:grpSp>
        <p:nvGrpSpPr>
          <p:cNvPr id="65" name="c1-table-1"/>
          <p:cNvGrpSpPr/>
          <p:nvPr/>
        </p:nvGrpSpPr>
        <p:grpSpPr>
          <a:xfrm>
            <a:off x="528066" y="1954530"/>
            <a:ext cx="6713792" cy="3675317"/>
            <a:chOff x="528066" y="1954530"/>
            <a:chExt cx="6713792" cy="3675317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708458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6623" y="20831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33024" y="2083118"/>
              <a:ext cx="1026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儿子 X 的处理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02305" y="208311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48877" y="20831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5539" y="208311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活结点表（堆顶在前）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263" y="25069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72146" y="2506980"/>
              <a:ext cx="2258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← u(1)+ε = 19.9；2、3 入表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73893" y="250698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4389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99342" y="2506980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2(28) 3(22)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9844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03208"/>
              <a:ext cx="670845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9263" y="29317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2146" y="2931795"/>
              <a:ext cx="1707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4、5 入表；U ← u(5)+ε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73893" y="293179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23.9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44389" y="29317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9342" y="2931795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4(28) 5 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2326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9263" y="3356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72146" y="3356610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超重；9 入表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73893" y="3356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23.9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44389" y="3356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99342" y="335661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9(27.2) 5 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4712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51885"/>
              <a:ext cx="670845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9263" y="37804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72146" y="3780472"/>
              <a:ext cx="1809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超重；19：ĉ = 20 ≤ 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73893" y="37804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23.9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44389" y="378047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99342" y="3780472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5(25.8) 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0719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9263" y="42052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72146" y="4205288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10、11 入表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173893" y="420528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23.9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44389" y="420528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399342" y="4205288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10(25.8) 11 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49675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4501515"/>
              <a:ext cx="670845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2617" y="46291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72146" y="4629150"/>
              <a:ext cx="2066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超重；21：cost = 24 &gt; U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262742" y="46291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899965" y="46291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99342" y="4629150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11(24.4) 21 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92061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2617" y="505396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72146" y="5053965"/>
              <a:ext cx="1809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 超重；23：ĉ = 10 ≤ U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262742" y="50539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99965" y="50539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99342" y="505396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21(24) 3(22)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954530"/>
              <a:ext cx="6708458" cy="3395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64895" y="195453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016692" y="195453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688205" y="195453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292090" y="195453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8066" y="5424488"/>
              <a:ext cx="5299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23.9 = u(5) − 0.1；19、23 的 ĉ ≤ U 被杀死；最后堆顶 21 的 ĉ = 24 ≤ U，算法结束</a:t>
              </a:r>
            </a:p>
          </p:txBody>
        </p:sp>
      </p:grpSp>
      <p:grpSp>
        <p:nvGrpSpPr>
          <p:cNvPr id="119" name="c2-graph-1"/>
          <p:cNvGrpSpPr/>
          <p:nvPr/>
        </p:nvGrpSpPr>
        <p:grpSpPr>
          <a:xfrm>
            <a:off x="7561898" y="2089785"/>
            <a:ext cx="4057650" cy="3499485"/>
            <a:chOff x="7561898" y="2089785"/>
            <a:chExt cx="4057650" cy="3499485"/>
          </a:xfrm>
        </p:grpSpPr>
        <p:sp>
          <p:nvSpPr>
            <p:cNvPr id="66" name="Freeform 66"/>
            <p:cNvSpPr/>
            <p:nvPr/>
          </p:nvSpPr>
          <p:spPr>
            <a:xfrm>
              <a:off x="9289732" y="2308860"/>
              <a:ext cx="708660" cy="672465"/>
            </a:xfrm>
            <a:custGeom>
              <a:avLst/>
              <a:gdLst/>
              <a:ahLst/>
              <a:cxnLst/>
              <a:rect l="l" t="t" r="r" b="b"/>
              <a:pathLst>
                <a:path w="708660" h="672465">
                  <a:moveTo>
                    <a:pt x="708660" y="0"/>
                  </a:moveTo>
                  <a:lnTo>
                    <a:pt x="0" y="67246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0197465" y="2304098"/>
              <a:ext cx="783908" cy="681990"/>
            </a:xfrm>
            <a:custGeom>
              <a:avLst/>
              <a:gdLst/>
              <a:ahLst/>
              <a:cxnLst/>
              <a:rect l="l" t="t" r="r" b="b"/>
              <a:pathLst>
                <a:path w="783908" h="681990">
                  <a:moveTo>
                    <a:pt x="0" y="0"/>
                  </a:moveTo>
                  <a:lnTo>
                    <a:pt x="783908" y="68199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384858" y="3167062"/>
              <a:ext cx="708660" cy="673417"/>
            </a:xfrm>
            <a:custGeom>
              <a:avLst/>
              <a:gdLst/>
              <a:ahLst/>
              <a:cxnLst/>
              <a:rect l="l" t="t" r="r" b="b"/>
              <a:pathLst>
                <a:path w="708660" h="673417">
                  <a:moveTo>
                    <a:pt x="708660" y="0"/>
                  </a:moveTo>
                  <a:lnTo>
                    <a:pt x="0" y="67341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9293542" y="3163252"/>
              <a:ext cx="782955" cy="681038"/>
            </a:xfrm>
            <a:custGeom>
              <a:avLst/>
              <a:gdLst/>
              <a:ahLst/>
              <a:cxnLst/>
              <a:rect l="l" t="t" r="r" b="b"/>
              <a:pathLst>
                <a:path w="782955" h="681038">
                  <a:moveTo>
                    <a:pt x="0" y="0"/>
                  </a:moveTo>
                  <a:lnTo>
                    <a:pt x="782955" y="6810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7826692" y="4047172"/>
              <a:ext cx="388620" cy="624840"/>
            </a:xfrm>
            <a:custGeom>
              <a:avLst/>
              <a:gdLst/>
              <a:ahLst/>
              <a:cxnLst/>
              <a:rect l="l" t="t" r="r" b="b"/>
              <a:pathLst>
                <a:path w="388620" h="624840">
                  <a:moveTo>
                    <a:pt x="388620" y="0"/>
                  </a:moveTo>
                  <a:lnTo>
                    <a:pt x="0" y="62484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8329612" y="4060508"/>
              <a:ext cx="201930" cy="602933"/>
            </a:xfrm>
            <a:custGeom>
              <a:avLst/>
              <a:gdLst/>
              <a:ahLst/>
              <a:cxnLst/>
              <a:rect l="l" t="t" r="r" b="b"/>
              <a:pathLst>
                <a:path w="201930" h="602933">
                  <a:moveTo>
                    <a:pt x="0" y="0"/>
                  </a:moveTo>
                  <a:lnTo>
                    <a:pt x="201930" y="60293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10108882" y="4067175"/>
              <a:ext cx="56198" cy="590550"/>
            </a:xfrm>
            <a:custGeom>
              <a:avLst/>
              <a:gdLst/>
              <a:ahLst/>
              <a:cxnLst/>
              <a:rect l="l" t="t" r="r" b="b"/>
              <a:pathLst>
                <a:path w="56198" h="590550">
                  <a:moveTo>
                    <a:pt x="56198" y="0"/>
                  </a:moveTo>
                  <a:lnTo>
                    <a:pt x="0" y="59055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0283190" y="4017645"/>
              <a:ext cx="859155" cy="689610"/>
            </a:xfrm>
            <a:custGeom>
              <a:avLst/>
              <a:gdLst/>
              <a:ahLst/>
              <a:cxnLst/>
              <a:rect l="l" t="t" r="r" b="b"/>
              <a:pathLst>
                <a:path w="859155" h="689610">
                  <a:moveTo>
                    <a:pt x="0" y="0"/>
                  </a:moveTo>
                  <a:lnTo>
                    <a:pt x="859155" y="68961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8304848" y="4912995"/>
              <a:ext cx="210503" cy="430530"/>
            </a:xfrm>
            <a:custGeom>
              <a:avLst/>
              <a:gdLst/>
              <a:ahLst/>
              <a:cxnLst/>
              <a:rect l="l" t="t" r="r" b="b"/>
              <a:pathLst>
                <a:path w="210503" h="430530">
                  <a:moveTo>
                    <a:pt x="210503" y="0"/>
                  </a:moveTo>
                  <a:lnTo>
                    <a:pt x="0" y="430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8634412" y="4912995"/>
              <a:ext cx="209550" cy="429578"/>
            </a:xfrm>
            <a:custGeom>
              <a:avLst/>
              <a:gdLst/>
              <a:ahLst/>
              <a:cxnLst/>
              <a:rect l="l" t="t" r="r" b="b"/>
              <a:pathLst>
                <a:path w="209550" h="429578">
                  <a:moveTo>
                    <a:pt x="0" y="0"/>
                  </a:moveTo>
                  <a:lnTo>
                    <a:pt x="209550" y="42957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9825990" y="4912995"/>
              <a:ext cx="210503" cy="430530"/>
            </a:xfrm>
            <a:custGeom>
              <a:avLst/>
              <a:gdLst/>
              <a:ahLst/>
              <a:cxnLst/>
              <a:rect l="l" t="t" r="r" b="b"/>
              <a:pathLst>
                <a:path w="210503" h="430530">
                  <a:moveTo>
                    <a:pt x="210503" y="0"/>
                  </a:moveTo>
                  <a:lnTo>
                    <a:pt x="0" y="430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10155555" y="4912995"/>
              <a:ext cx="210502" cy="429578"/>
            </a:xfrm>
            <a:custGeom>
              <a:avLst/>
              <a:gdLst/>
              <a:ahLst/>
              <a:cxnLst/>
              <a:rect l="l" t="t" r="r" b="b"/>
              <a:pathLst>
                <a:path w="210502" h="429578">
                  <a:moveTo>
                    <a:pt x="0" y="0"/>
                  </a:moveTo>
                  <a:lnTo>
                    <a:pt x="210502" y="42957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10977562" y="4912995"/>
              <a:ext cx="210502" cy="430530"/>
            </a:xfrm>
            <a:custGeom>
              <a:avLst/>
              <a:gdLst/>
              <a:ahLst/>
              <a:cxnLst/>
              <a:rect l="l" t="t" r="r" b="b"/>
              <a:pathLst>
                <a:path w="210502" h="430530">
                  <a:moveTo>
                    <a:pt x="210502" y="0"/>
                  </a:moveTo>
                  <a:lnTo>
                    <a:pt x="0" y="4305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1293792" y="4918710"/>
              <a:ext cx="154305" cy="418147"/>
            </a:xfrm>
            <a:custGeom>
              <a:avLst/>
              <a:gdLst/>
              <a:ahLst/>
              <a:cxnLst/>
              <a:rect l="l" t="t" r="r" b="b"/>
              <a:pathLst>
                <a:path w="154305" h="418147">
                  <a:moveTo>
                    <a:pt x="0" y="0"/>
                  </a:moveTo>
                  <a:lnTo>
                    <a:pt x="154305" y="41814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9970770" y="2089785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9065895" y="294894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10957560" y="2948940"/>
              <a:ext cx="251460" cy="25146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8161020" y="3807142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10052685" y="3807142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561898" y="4672012"/>
              <a:ext cx="381000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8448675" y="4666298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9970770" y="4666298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11121390" y="4666298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8055292" y="5343525"/>
              <a:ext cx="381000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8778240" y="5337810"/>
              <a:ext cx="251460" cy="25146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9576435" y="5343525"/>
              <a:ext cx="381000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92" name="Ellipse 92"/>
            <p:cNvSpPr/>
            <p:nvPr/>
          </p:nvSpPr>
          <p:spPr>
            <a:xfrm>
              <a:off x="10299382" y="5337810"/>
              <a:ext cx="251460" cy="25146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10728008" y="5343525"/>
              <a:ext cx="381000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94" name="Ellipse 94"/>
            <p:cNvSpPr/>
            <p:nvPr/>
          </p:nvSpPr>
          <p:spPr>
            <a:xfrm>
              <a:off x="11368088" y="5337810"/>
              <a:ext cx="251460" cy="25146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0056753" y="21602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151878" y="30184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043543" y="301847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247003" y="3876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138668" y="3876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712651" y="47358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534658" y="47358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021769" y="47358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172389" y="47358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171061" y="54073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829239" y="54073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692204" y="54073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350381" y="54073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843776" y="54073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419086" y="54073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394407" y="2140268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28/20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490485" y="2998470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28/20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873880" y="3408998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22/10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585610" y="3856673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28/20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460736" y="3856673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25.8/24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8733854" y="4752975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27.2/20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314015" y="4752975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25.8/24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464635" y="4752975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24.4/10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624191" y="2140268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橙色数字为 ĉ/u</a:t>
              </a:r>
            </a:p>
          </p:txBody>
        </p:sp>
      </p:grpSp>
      <p:grpSp>
        <p:nvGrpSpPr>
          <p:cNvPr id="12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20" name="Rectangle 12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4" name="TextBox 124"/>
            <p:cNvSpPr txBox="1"/>
            <p:nvPr/>
          </p:nvSpPr>
          <p:spPr>
            <a:xfrm>
              <a:off x="1040511" y="6011704"/>
              <a:ext cx="96060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结果：ans = 21 = (1, 0, 1, 0)，装入物品 1 和 3，重量 9，效益 U = 24。结点 3 留在堆里，结束时一起被杀死。</a:t>
              </a:r>
            </a:p>
          </p:txBody>
        </p:sp>
      </p:grpSp>
      <p:grpSp>
        <p:nvGrpSpPr>
          <p:cNvPr id="1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6" name="TextBox 12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28901" cy="909257"/>
            <a:chOff x="520446" y="342900"/>
            <a:chExt cx="89289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289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k-元组表示：每个可行结点都是解，ĉ、cost、u 各不相等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4" name="c1-graph-1"/>
          <p:cNvGrpSpPr/>
          <p:nvPr/>
        </p:nvGrpSpPr>
        <p:grpSpPr>
          <a:xfrm>
            <a:off x="537210" y="1543050"/>
            <a:ext cx="4667250" cy="1962150"/>
            <a:chOff x="537210" y="1543050"/>
            <a:chExt cx="4667250" cy="1962150"/>
          </a:xfrm>
        </p:grpSpPr>
        <p:sp>
          <p:nvSpPr>
            <p:cNvPr id="7" name="Freeform 7"/>
            <p:cNvSpPr/>
            <p:nvPr/>
          </p:nvSpPr>
          <p:spPr>
            <a:xfrm>
              <a:off x="1744980" y="1744028"/>
              <a:ext cx="1082040" cy="449580"/>
            </a:xfrm>
            <a:custGeom>
              <a:avLst/>
              <a:gdLst/>
              <a:ahLst/>
              <a:cxnLst/>
              <a:rect l="l" t="t" r="r" b="b"/>
              <a:pathLst>
                <a:path w="1082040" h="449580">
                  <a:moveTo>
                    <a:pt x="1082040" y="0"/>
                  </a:moveTo>
                  <a:lnTo>
                    <a:pt x="0" y="44958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27998" y="1825942"/>
              <a:ext cx="122873" cy="286703"/>
            </a:xfrm>
            <a:custGeom>
              <a:avLst/>
              <a:gdLst/>
              <a:ahLst/>
              <a:cxnLst/>
              <a:rect l="l" t="t" r="r" b="b"/>
              <a:pathLst>
                <a:path w="122873" h="286703">
                  <a:moveTo>
                    <a:pt x="0" y="0"/>
                  </a:moveTo>
                  <a:lnTo>
                    <a:pt x="122873" y="286703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107055" y="1747838"/>
              <a:ext cx="987742" cy="441960"/>
            </a:xfrm>
            <a:custGeom>
              <a:avLst/>
              <a:gdLst/>
              <a:ahLst/>
              <a:cxnLst/>
              <a:rect l="l" t="t" r="r" b="b"/>
              <a:pathLst>
                <a:path w="987742" h="441960">
                  <a:moveTo>
                    <a:pt x="0" y="0"/>
                  </a:moveTo>
                  <a:lnTo>
                    <a:pt x="987742" y="44196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14675" y="1725930"/>
              <a:ext cx="1800225" cy="486728"/>
            </a:xfrm>
            <a:custGeom>
              <a:avLst/>
              <a:gdLst/>
              <a:ahLst/>
              <a:cxnLst/>
              <a:rect l="l" t="t" r="r" b="b"/>
              <a:pathLst>
                <a:path w="1800225" h="486728">
                  <a:moveTo>
                    <a:pt x="0" y="0"/>
                  </a:moveTo>
                  <a:lnTo>
                    <a:pt x="1800225" y="48672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84898" y="2353628"/>
              <a:ext cx="405765" cy="363855"/>
            </a:xfrm>
            <a:custGeom>
              <a:avLst/>
              <a:gdLst/>
              <a:ahLst/>
              <a:cxnLst/>
              <a:rect l="l" t="t" r="r" b="b"/>
              <a:pathLst>
                <a:path w="405765" h="363855">
                  <a:moveTo>
                    <a:pt x="405765" y="0"/>
                  </a:moveTo>
                  <a:lnTo>
                    <a:pt x="0" y="36385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54492" y="2396490"/>
              <a:ext cx="95250" cy="278130"/>
            </a:xfrm>
            <a:custGeom>
              <a:avLst/>
              <a:gdLst/>
              <a:ahLst/>
              <a:cxnLst/>
              <a:rect l="l" t="t" r="r" b="b"/>
              <a:pathLst>
                <a:path w="95250" h="278130">
                  <a:moveTo>
                    <a:pt x="0" y="0"/>
                  </a:moveTo>
                  <a:lnTo>
                    <a:pt x="95250" y="2781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727835" y="2342198"/>
              <a:ext cx="465773" cy="338137"/>
            </a:xfrm>
            <a:custGeom>
              <a:avLst/>
              <a:gdLst/>
              <a:ahLst/>
              <a:cxnLst/>
              <a:rect l="l" t="t" r="r" b="b"/>
              <a:pathLst>
                <a:path w="465773" h="338137">
                  <a:moveTo>
                    <a:pt x="0" y="0"/>
                  </a:moveTo>
                  <a:lnTo>
                    <a:pt x="465773" y="338137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01340" y="2400300"/>
              <a:ext cx="72390" cy="278130"/>
            </a:xfrm>
            <a:custGeom>
              <a:avLst/>
              <a:gdLst/>
              <a:ahLst/>
              <a:cxnLst/>
              <a:rect l="l" t="t" r="r" b="b"/>
              <a:pathLst>
                <a:path w="72390" h="278130">
                  <a:moveTo>
                    <a:pt x="72390" y="0"/>
                  </a:moveTo>
                  <a:lnTo>
                    <a:pt x="0" y="27813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305175" y="2372678"/>
              <a:ext cx="236220" cy="305752"/>
            </a:xfrm>
            <a:custGeom>
              <a:avLst/>
              <a:gdLst/>
              <a:ahLst/>
              <a:cxnLst/>
              <a:rect l="l" t="t" r="r" b="b"/>
              <a:pathLst>
                <a:path w="236220" h="305752">
                  <a:moveTo>
                    <a:pt x="0" y="0"/>
                  </a:moveTo>
                  <a:lnTo>
                    <a:pt x="236220" y="30575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259580" y="2402205"/>
              <a:ext cx="47625" cy="276225"/>
            </a:xfrm>
            <a:custGeom>
              <a:avLst/>
              <a:gdLst/>
              <a:ahLst/>
              <a:cxnLst/>
              <a:rect l="l" t="t" r="r" b="b"/>
              <a:pathLst>
                <a:path w="47625" h="276225">
                  <a:moveTo>
                    <a:pt x="0" y="0"/>
                  </a:moveTo>
                  <a:lnTo>
                    <a:pt x="47625" y="2762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90575" y="2958465"/>
              <a:ext cx="119062" cy="266700"/>
            </a:xfrm>
            <a:custGeom>
              <a:avLst/>
              <a:gdLst/>
              <a:ahLst/>
              <a:cxnLst/>
              <a:rect l="l" t="t" r="r" b="b"/>
              <a:pathLst>
                <a:path w="119062" h="266700">
                  <a:moveTo>
                    <a:pt x="119062" y="0"/>
                  </a:moveTo>
                  <a:lnTo>
                    <a:pt x="0" y="26670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43940" y="2952750"/>
              <a:ext cx="144780" cy="272415"/>
            </a:xfrm>
            <a:custGeom>
              <a:avLst/>
              <a:gdLst/>
              <a:ahLst/>
              <a:cxnLst/>
              <a:rect l="l" t="t" r="r" b="b"/>
              <a:pathLst>
                <a:path w="144780" h="272415">
                  <a:moveTo>
                    <a:pt x="0" y="0"/>
                  </a:moveTo>
                  <a:lnTo>
                    <a:pt x="144780" y="27241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799272" y="2970848"/>
              <a:ext cx="9525" cy="254318"/>
            </a:xfrm>
            <a:custGeom>
              <a:avLst/>
              <a:gdLst/>
              <a:ahLst/>
              <a:cxnLst/>
              <a:rect l="l" t="t" r="r" b="b"/>
              <a:pathLst>
                <a:path w="9525" h="254318">
                  <a:moveTo>
                    <a:pt x="0" y="0"/>
                  </a:moveTo>
                  <a:lnTo>
                    <a:pt x="0" y="25431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825115" y="154305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462088" y="210978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068955" y="210978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090988" y="210978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918710" y="210978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28675" y="26755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656398" y="26755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3608" y="2678430"/>
              <a:ext cx="381000" cy="280035"/>
            </a:xfrm>
            <a:prstGeom prst="roundRect">
              <a:avLst>
                <a:gd name="adj" fmla="val 1360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74645" y="2678430"/>
              <a:ext cx="381000" cy="280035"/>
            </a:xfrm>
            <a:prstGeom prst="roundRect">
              <a:avLst>
                <a:gd name="adj" fmla="val 1360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58528" y="2678430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40518" y="2678430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7210" y="3225165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72515" y="3225165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07820" y="3225165"/>
              <a:ext cx="382905" cy="280035"/>
            </a:xfrm>
            <a:prstGeom prst="roundRect">
              <a:avLst>
                <a:gd name="adj" fmla="val 13605"/>
              </a:avLst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21841" y="16202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58813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65681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87713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15436" y="21869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5401" y="2753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53123" y="2753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37958" y="2753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18996" y="2753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63016" y="2753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44053" y="2753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0746" y="32994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77003" y="32994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12308" y="32994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219325" y="18907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250881" y="1919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023235" y="18907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054791" y="1919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533775" y="18907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566283" y="1919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948112" y="18907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979668" y="19197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221105" y="2456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252661" y="24865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635442" y="245649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666998" y="24865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893570" y="243268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925126" y="24617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070860" y="246030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102416" y="24903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356610" y="244697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88166" y="24769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216718" y="24622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248273" y="24912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82955" y="30127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4511" y="30418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49655" y="30108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81211" y="3039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732598" y="301942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764153" y="30484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81" name="c1-callout-2"/>
          <p:cNvGrpSpPr/>
          <p:nvPr/>
        </p:nvGrpSpPr>
        <p:grpSpPr>
          <a:xfrm>
            <a:off x="533400" y="3737610"/>
            <a:ext cx="4869180" cy="782955"/>
            <a:chOff x="533400" y="3737610"/>
            <a:chExt cx="4869180" cy="782955"/>
          </a:xfrm>
        </p:grpSpPr>
        <p:sp>
          <p:nvSpPr>
            <p:cNvPr id="75" name="Rectangle 75"/>
            <p:cNvSpPr/>
            <p:nvPr/>
          </p:nvSpPr>
          <p:spPr>
            <a:xfrm>
              <a:off x="533400" y="3737610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4029075"/>
              <a:ext cx="200026" cy="200026"/>
              <a:chOff x="738188" y="4029075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40290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38200" y="4095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27088" y="41290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130" y="3886200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边上的数字是装入的物品下标。方形结点超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重，被 B 剪掉（9 的儿子 15 不再生成）。</a:t>
              </a:r>
            </a:p>
          </p:txBody>
        </p:sp>
      </p:grpSp>
      <p:grpSp>
        <p:nvGrpSpPr>
          <p:cNvPr id="90" name="c1-card-3"/>
          <p:cNvGrpSpPr/>
          <p:nvPr/>
        </p:nvGrpSpPr>
        <p:grpSpPr>
          <a:xfrm>
            <a:off x="533400" y="4711065"/>
            <a:ext cx="4869180" cy="1651635"/>
            <a:chOff x="533400" y="4711065"/>
            <a:chExt cx="4869180" cy="1651635"/>
          </a:xfrm>
        </p:grpSpPr>
        <p:sp>
          <p:nvSpPr>
            <p:cNvPr id="82" name="Rectangle 82"/>
            <p:cNvSpPr/>
            <p:nvPr/>
          </p:nvSpPr>
          <p:spPr>
            <a:xfrm>
              <a:off x="533400" y="4711065"/>
              <a:ext cx="486918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542925" y="484441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81050" y="49206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67308" y="49563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怎样算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786765" y="53606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44880" y="5297805"/>
              <a:ext cx="4063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最后装入物品 m：下标小于 m 未装的取 0，大于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的按贪心装，得到 ĉ、u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86765" y="598170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44880" y="5918835"/>
              <a:ext cx="2680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cost(X) 是已装物品的效益和</a:t>
              </a:r>
            </a:p>
          </p:txBody>
        </p:sp>
      </p:grpSp>
      <p:grpSp>
        <p:nvGrpSpPr>
          <p:cNvPr id="155" name="c2-table-1"/>
          <p:cNvGrpSpPr/>
          <p:nvPr/>
        </p:nvGrpSpPr>
        <p:grpSpPr>
          <a:xfrm>
            <a:off x="5707380" y="1524000"/>
            <a:ext cx="5951220" cy="3590925"/>
            <a:chOff x="5707380" y="1524000"/>
            <a:chExt cx="5951220" cy="3590925"/>
          </a:xfrm>
        </p:grpSpPr>
        <p:sp>
          <p:nvSpPr>
            <p:cNvPr id="91" name="Rectangle 91"/>
            <p:cNvSpPr/>
            <p:nvPr/>
          </p:nvSpPr>
          <p:spPr>
            <a:xfrm>
              <a:off x="5707380" y="1524000"/>
              <a:ext cx="595122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8562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60015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装入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73995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贪心解向量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519250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203421" y="165973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cost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18612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97880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651846" y="2108359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}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666718" y="2108359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4/7, 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47423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35505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14110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70738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570738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597880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630307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{1}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666718" y="2556986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4/7, 0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47423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30767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14110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570738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597880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630307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{2}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666718" y="3005614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6/7, 0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474233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307671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14110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5707380" y="3314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5707380" y="331946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597880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6630307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{3}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7619332" y="3454241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0, 1, 3/10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9379461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19.4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0307671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141108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5707380" y="37633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5978807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6630307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{4}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7761491" y="3903821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0, 0, 0, 1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9474233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0307671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1141108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5707380" y="42119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5707380" y="4216718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5978807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6535534" y="435244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{1,2}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666718" y="4352449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1, 4/7, 0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9474233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0307671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1141108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5707380" y="46605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5978807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6535534" y="480107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{1,3}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619332" y="4801076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0, 1, 1/10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9379461" y="480107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25.8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0307671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11141108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5707380" y="1524000"/>
              <a:ext cx="5951220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50" name="Rectangle 150"/>
            <p:cNvSpPr/>
            <p:nvPr/>
          </p:nvSpPr>
          <p:spPr>
            <a:xfrm>
              <a:off x="6356985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719042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915447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9987915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1082040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62" name="c2-callout-2"/>
          <p:cNvGrpSpPr/>
          <p:nvPr/>
        </p:nvGrpSpPr>
        <p:grpSpPr>
          <a:xfrm>
            <a:off x="5707380" y="5305425"/>
            <a:ext cx="5951220" cy="782955"/>
            <a:chOff x="5707380" y="5305425"/>
            <a:chExt cx="5951220" cy="782955"/>
          </a:xfrm>
        </p:grpSpPr>
        <p:sp>
          <p:nvSpPr>
            <p:cNvPr id="156" name="Rectangle 156"/>
            <p:cNvSpPr/>
            <p:nvPr/>
          </p:nvSpPr>
          <p:spPr>
            <a:xfrm>
              <a:off x="5707380" y="5305425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0" name="Group 160"/>
            <p:cNvGrpSpPr/>
            <p:nvPr/>
          </p:nvGrpSpPr>
          <p:grpSpPr>
            <a:xfrm>
              <a:off x="5912168" y="5596890"/>
              <a:ext cx="200026" cy="200025"/>
              <a:chOff x="5912168" y="5596890"/>
              <a:chExt cx="200026" cy="200025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5912168" y="55968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8" name="Freeform 158"/>
              <p:cNvSpPr/>
              <p:nvPr/>
            </p:nvSpPr>
            <p:spPr>
              <a:xfrm>
                <a:off x="5951906" y="56413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9" name="Freeform 159"/>
              <p:cNvSpPr/>
              <p:nvPr/>
            </p:nvSpPr>
            <p:spPr>
              <a:xfrm>
                <a:off x="5986622" y="57524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1" name="TextBox 161"/>
            <p:cNvSpPr txBox="1"/>
            <p:nvPr/>
          </p:nvSpPr>
          <p:spPr>
            <a:xfrm>
              <a:off x="6214110" y="5454015"/>
              <a:ext cx="4853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例：结点 3 = {2}，x₁ 取 0、x₂ = 1，剩余容量 6，物品 3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只能装 6/7：ĉ = 10 + 12 = 22，u = cost = 10。</a:t>
              </a:r>
            </a:p>
          </p:txBody>
        </p:sp>
      </p:grpSp>
      <p:grpSp>
        <p:nvGrpSpPr>
          <p:cNvPr id="1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3" name="TextBox 16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26695" cy="909257"/>
            <a:chOff x="520446" y="342900"/>
            <a:chExt cx="95266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266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k-元组 LCBB 运行：堆顶还是 6 时不能停，堆顶变成 3 才结束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837287" cy="264033"/>
            <a:chOff x="526542" y="1545907"/>
            <a:chExt cx="983728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8372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ε = −0.1。可行结点都是解结点：cost(X) &gt; U 时 U ← max(cost(X), u(X)+ε)，并记 ans ← X；ĉ(X) ≤ U 的结点被杀死。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28447" y="1928812"/>
            <a:ext cx="6172391" cy="3263932"/>
            <a:chOff x="528447" y="1928812"/>
            <a:chExt cx="6172391" cy="32639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7902" y="20502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0059" y="2050256"/>
              <a:ext cx="957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儿子 X 的处理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98365" y="20502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37632" y="20502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9171" y="2050256"/>
              <a:ext cx="1003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活结点表（ĉ）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0366" y="25503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2038" y="2450306"/>
              <a:ext cx="26855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UB(根)：cost = 0 &gt; −∞，U ← max(0, 20 −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0.1) = 19.9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78513" y="255031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26777" y="25503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17808" y="25503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92417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928938"/>
              <a:ext cx="616743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62038" y="3050381"/>
              <a:ext cx="27139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 入表（cost 与 u+ε 都不大于 U，不改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U）；4、5 的 ĉ = 19.4、18 ≤ U，杀死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78513" y="31503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19.9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26777" y="31503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17808" y="3150394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2(28) 3(22)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524250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0366" y="3750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2038" y="3650456"/>
              <a:ext cx="26286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6：cost = 20 &gt; U，U ← 20，ans ← 6；7：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 = 24 &gt; U，U ← 24，ans ← 7；8 超重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61439" y="375046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26777" y="37504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7808" y="3650456"/>
              <a:ext cx="9928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6(28) 7(25.8)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3(22)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2432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29088"/>
              <a:ext cx="616743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366" y="4250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2038" y="425053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12、13 超重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61439" y="42505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26777" y="42505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17808" y="4250531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7(25.8) 3(22)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524375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0366" y="4650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2038" y="4650581"/>
              <a:ext cx="524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超重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61439" y="46505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26777" y="46505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17808" y="46505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3(22)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928812"/>
              <a:ext cx="6167438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0120" y="1928812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167188" y="1928812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722495" y="1928812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15890" y="1928812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8447" y="5002054"/>
              <a:ext cx="37840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堆顶 3 的 ĉ = 22 ≤ U = 24，算法结束：U = 24，ans = 7 = {1,3}</a:t>
              </a:r>
            </a:p>
          </p:txBody>
        </p:sp>
      </p:grpSp>
      <p:grpSp>
        <p:nvGrpSpPr>
          <p:cNvPr id="58" name="c1-callout-2"/>
          <p:cNvGrpSpPr/>
          <p:nvPr/>
        </p:nvGrpSpPr>
        <p:grpSpPr>
          <a:xfrm>
            <a:off x="533400" y="5324475"/>
            <a:ext cx="6167438" cy="729615"/>
            <a:chOff x="533400" y="5324475"/>
            <a:chExt cx="6167438" cy="729615"/>
          </a:xfrm>
        </p:grpSpPr>
        <p:sp>
          <p:nvSpPr>
            <p:cNvPr id="52" name="Rectangle 52"/>
            <p:cNvSpPr/>
            <p:nvPr/>
          </p:nvSpPr>
          <p:spPr>
            <a:xfrm>
              <a:off x="533400" y="5324475"/>
              <a:ext cx="616743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589270"/>
              <a:ext cx="200026" cy="200025"/>
              <a:chOff x="738188" y="5589270"/>
              <a:chExt cx="200026" cy="2000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5892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77926" y="56337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2642" y="57448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5470208"/>
              <a:ext cx="51486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结点 1 是答案结点，但 u(1) &gt; cost(1)，U 取较大的 19.9，ans 暂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记为 1；后面找到更好的解时 ans 被修正。</a:t>
              </a:r>
            </a:p>
          </p:txBody>
        </p:sp>
      </p:grpSp>
      <p:grpSp>
        <p:nvGrpSpPr>
          <p:cNvPr id="70" name="c2-card-1"/>
          <p:cNvGrpSpPr/>
          <p:nvPr/>
        </p:nvGrpSpPr>
        <p:grpSpPr>
          <a:xfrm>
            <a:off x="7005638" y="1928812"/>
            <a:ext cx="4652962" cy="2562225"/>
            <a:chOff x="7005638" y="1928812"/>
            <a:chExt cx="4652962" cy="2562225"/>
          </a:xfrm>
        </p:grpSpPr>
        <p:sp>
          <p:nvSpPr>
            <p:cNvPr id="59" name="Rectangle 59"/>
            <p:cNvSpPr/>
            <p:nvPr/>
          </p:nvSpPr>
          <p:spPr>
            <a:xfrm>
              <a:off x="7005638" y="1928812"/>
              <a:ext cx="4652962" cy="2562225"/>
            </a:xfrm>
            <a:prstGeom prst="roundRect">
              <a:avLst>
                <a:gd name="adj" fmla="val 5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15162" y="2062162"/>
              <a:ext cx="47625" cy="22955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230428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23099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239000" y="251555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395020" y="2459355"/>
              <a:ext cx="37170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原课件在 E = 2 之后写“堆顶结点 ĉ(7) ≤ U，算法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结束”，此时 ans = 7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239000" y="307276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95020" y="3016568"/>
              <a:ext cx="36998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这时堆顶是结点 6（ĉ = 28），而且 ĉ(7) = 25.8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也大于 U = 24，都不满足结束条件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239000" y="363093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395020" y="3574732"/>
              <a:ext cx="36827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还要依次扩展 6、7（儿子全部超重），堆顶变为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3、ĉ(3) = 22 ≤ 24 时才结束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24712" y="4127659"/>
              <a:ext cx="2261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最终结果 U = 24、ans = 7 不变。</a:t>
              </a:r>
            </a:p>
          </p:txBody>
        </p:sp>
      </p:grpSp>
      <p:grpSp>
        <p:nvGrpSpPr>
          <p:cNvPr id="76" name="c2-callout-2"/>
          <p:cNvGrpSpPr/>
          <p:nvPr/>
        </p:nvGrpSpPr>
        <p:grpSpPr>
          <a:xfrm>
            <a:off x="7005638" y="4660582"/>
            <a:ext cx="4652962" cy="978218"/>
            <a:chOff x="7005638" y="4660582"/>
            <a:chExt cx="4652962" cy="978218"/>
          </a:xfrm>
        </p:grpSpPr>
        <p:sp>
          <p:nvSpPr>
            <p:cNvPr id="71" name="Rectangle 71"/>
            <p:cNvSpPr/>
            <p:nvPr/>
          </p:nvSpPr>
          <p:spPr>
            <a:xfrm>
              <a:off x="7005638" y="4660582"/>
              <a:ext cx="4652962" cy="978218"/>
            </a:xfrm>
            <a:prstGeom prst="roundRect">
              <a:avLst>
                <a:gd name="adj" fmla="val 116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210425" y="5049203"/>
              <a:ext cx="200026" cy="200026"/>
              <a:chOff x="7210425" y="5049203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210425" y="50492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277100" y="51269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513130" y="4806315"/>
              <a:ext cx="37856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两种表示得到同一个最优解：装入物品 1 和 3，效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益 24。k-元组表示中 cost 可以直接改 U，U 更早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达到 24。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49670" cy="909257"/>
            <a:chOff x="520446" y="342900"/>
            <a:chExt cx="68496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496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自测题（一）：一般方法、LC-检索与 15-谜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514600"/>
            <a:chOff x="533400" y="1524000"/>
            <a:chExt cx="3505200" cy="2514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回溯法与分支限界法最本质的区别是什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么？存储上有什么不同？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2996946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E-结点的处理方式不同：回溯法生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成一个儿子就转去扩展它；分支限界法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先生成 E-结点的全部儿子，再从活结点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表选下一个 E-结点。分支限界法要额外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维护活结点表。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208145"/>
            <a:ext cx="3505200" cy="2000250"/>
            <a:chOff x="533400" y="4208145"/>
            <a:chExt cx="35052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533400" y="4208145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43948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44276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4739640"/>
              <a:ext cx="30068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15-谜 LC-检索中，结点 11（结点 4 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空格再下移）的 ĉ 是多少？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5296852"/>
              <a:ext cx="29883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深度为 2；不在位的牌是 11、12、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共 3 张；ĉ(11) = 2 + 3 = 5。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257425"/>
            <a:chOff x="4343400" y="1524000"/>
            <a:chExt cx="3505200" cy="225742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054542"/>
              <a:ext cx="2881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4-皇后问题中，FIFO 检索为什么比回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溯法多处理了 15 个结点？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3232" y="2612708"/>
              <a:ext cx="295408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要把第 1、2 层的活结点全部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展开后才进入第 3、4 层；回溯法沿深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度方向直接走到解 (2, 4, 1, 3)，途中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只多试了几个被 B 剪掉的结点。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950970"/>
            <a:ext cx="3505200" cy="2257425"/>
            <a:chOff x="4343400" y="3950970"/>
            <a:chExt cx="3505200" cy="2257425"/>
          </a:xfrm>
        </p:grpSpPr>
        <p:sp>
          <p:nvSpPr>
            <p:cNvPr id="25" name="Rectangle 25"/>
            <p:cNvSpPr/>
            <p:nvPr/>
          </p:nvSpPr>
          <p:spPr>
            <a:xfrm>
              <a:off x="4343400" y="395097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0090" y="41376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9547" y="41705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3232" y="4482465"/>
              <a:ext cx="2959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成本估计函数 ĉ 要满足哪几条要求？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3232" y="4782502"/>
              <a:ext cx="291122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易于计算；对每个结点 ĉ(X) 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c(X)；叶结点 X 是答案结点时 ĉ(X)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c(X)。算法 LC 的最小性证明用到后两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257425"/>
            <a:chOff x="8153400" y="1524000"/>
            <a:chExt cx="3505200" cy="225742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3232" y="2054542"/>
              <a:ext cx="288250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15-谜开局前三行与目标相同，第四行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13、15、14、空格。能否到达目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3232" y="2869882"/>
              <a:ext cx="2996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不能。只有 LESS(15) = 1，其余为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0；空格在位置 16（第 4 行第 4 列），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0；和为 1，是奇数。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950970"/>
            <a:ext cx="3505200" cy="2257425"/>
            <a:chOff x="8153400" y="3950970"/>
            <a:chExt cx="3505200" cy="2257425"/>
          </a:xfrm>
        </p:grpSpPr>
        <p:sp>
          <p:nvSpPr>
            <p:cNvPr id="37" name="Rectangle 37"/>
            <p:cNvSpPr/>
            <p:nvPr/>
          </p:nvSpPr>
          <p:spPr>
            <a:xfrm>
              <a:off x="8153400" y="395097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0090" y="41376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9547" y="41705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3232" y="4482465"/>
              <a:ext cx="28996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LC-检索时，算法 BB 为什么可能找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不到最小成本答案？算法 LC 怎样改？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3232" y="5039678"/>
              <a:ext cx="2851213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BB 在生成儿子时就判答案，而 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的大小次序不一定与 c 一致。LC 改为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E-结点出表时才判断，此时 c(E)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ĉ(E) ≤ ĉ(L) ≤ c(L)。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56379" cy="909257"/>
            <a:chOff x="520446" y="342900"/>
            <a:chExt cx="59563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563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自测题（二）：上界 U 与两个应用问题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57425"/>
            <a:chOff x="533400" y="1524000"/>
            <a:chExt cx="3505200" cy="22574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7346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UB 中 U 什么时候取 min(cost(X),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u(X)+ε)？加 ε 的目的是什么？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292836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是解结点且 cost(X) &lt; U 时；否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则只在 u(X)+ε &lt; U 时令 U ← u(X)+ε。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ε 后两种来源都能用 ĉ(X) ≥ U 统一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杀死结点。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50970"/>
            <a:ext cx="3505200" cy="2257425"/>
            <a:chOff x="533400" y="3950970"/>
            <a:chExt cx="3505200" cy="2257425"/>
          </a:xfrm>
        </p:grpSpPr>
        <p:sp>
          <p:nvSpPr>
            <p:cNvPr id="13" name="Rectangle 13"/>
            <p:cNvSpPr/>
            <p:nvPr/>
          </p:nvSpPr>
          <p:spPr>
            <a:xfrm>
              <a:off x="533400" y="395097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41376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41705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4482465"/>
              <a:ext cx="289064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作业调度实例改用 LCBB，E-结点依次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是哪些？结果变不变？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5039678"/>
              <a:ext cx="297122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依次为 1、2、6、3、9（ĉ(6) = 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 ĉ(3) = 5，先出堆）。U 同样依次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变为 24、19、14、9、8，结果 U = 8、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ans = 9 不变。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000250"/>
            <a:chOff x="4343400" y="1524000"/>
            <a:chExt cx="35052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054542"/>
              <a:ext cx="293565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FIFOBB 求极大化问题时，出队检验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要怎样改？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3232" y="2612708"/>
              <a:ext cx="28769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按镜像修改：ε 取负数，U 是不断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增大的下界；出队时 ĉ(E) ≤ U 的结点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丢掉，只有 ĉ(E) &gt; U 才扩展。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93795"/>
            <a:ext cx="3505200" cy="2514600"/>
            <a:chOff x="4343400" y="3693795"/>
            <a:chExt cx="3505200" cy="2514600"/>
          </a:xfrm>
        </p:grpSpPr>
        <p:sp>
          <p:nvSpPr>
            <p:cNvPr id="25" name="Rectangle 25"/>
            <p:cNvSpPr/>
            <p:nvPr/>
          </p:nvSpPr>
          <p:spPr>
            <a:xfrm>
              <a:off x="4343400" y="3693795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0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9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3232" y="4225290"/>
              <a:ext cx="28717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背包中结点 X 的 ĉ 与 u 怎样算？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u(X) ≤ c(X) ≤ ĉ(X)？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3232" y="4782502"/>
              <a:ext cx="296265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对剩余物品按 p/w 贪心：ĉ = p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pp + Δpⱼ，u = p + pp。pp 对应一种可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行的 0/1 装法；分数贪心解不小于 0/1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最优值。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000250"/>
            <a:chOff x="8153400" y="1524000"/>
            <a:chExt cx="3505200" cy="200025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3232" y="2054542"/>
              <a:ext cx="25558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作业调度的 FIFOBB 中，结点 7 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{1,3} 为什么被杀死？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3232" y="2612708"/>
              <a:ext cx="29197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7 时 U = 9。ĉ(7) = p₂ = 10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U：作业 2 已被放弃，罚款至少 10，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不可能比已知的 9 更好。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693795"/>
            <a:ext cx="3505200" cy="2514600"/>
            <a:chOff x="8153400" y="3693795"/>
            <a:chExt cx="3505200" cy="2514600"/>
          </a:xfrm>
        </p:grpSpPr>
        <p:sp>
          <p:nvSpPr>
            <p:cNvPr id="37" name="Rectangle 37"/>
            <p:cNvSpPr/>
            <p:nvPr/>
          </p:nvSpPr>
          <p:spPr>
            <a:xfrm>
              <a:off x="8153400" y="3693795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0090" y="388048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9547" y="391334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3232" y="4225290"/>
              <a:ext cx="296179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背包 n-元组 LCBB 中，叶结点 19 为什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么被杀死？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3232" y="4782502"/>
              <a:ext cx="291979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= (1, 1, 0, 0)，ĉ(19) = 20 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23.9，它不可能比已知的下界更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92286" cy="909257"/>
            <a:chOff x="520446" y="342900"/>
            <a:chExt cx="22922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93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0335" y="407194"/>
              <a:ext cx="2144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第8章 分支限界 · 0/1 背包问题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167438" cy="3800475"/>
            <a:chOff x="533400" y="1524000"/>
            <a:chExt cx="6167438" cy="38004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22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546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145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与回溯法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41170" y="2045494"/>
              <a:ext cx="46413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都在解空间树上搜索、用约束函数 B 剪枝；分支限界法一次生成 E-结点的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全部儿子，维护活结点表，可以按 ĉ 挑选结点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1936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24125"/>
              <a:ext cx="616743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745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检索方式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41170" y="2645569"/>
              <a:ext cx="45346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用队列；LC 用极小堆，取 ĉ = f(h) + ĝ 最小的结点；BFS、D-检索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LC 的特例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1194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3345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估计函数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41170" y="3245644"/>
              <a:ext cx="448487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≤ c(X) ≤ u(X)；答案结点处 ĉ = c 时，算法 LC 取出的第一个答案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成本最小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719512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24275"/>
              <a:ext cx="616743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94573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上界 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41170" y="3845719"/>
              <a:ext cx="44279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UB 用 cost 或 u+ε 改小 U，ĉ(X) ≥ U 的结点杀死；FIFOBB 出队再检，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LCBB 看堆顶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31958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44457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极大化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41170" y="4445794"/>
              <a:ext cx="46055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取相反数，或镜像：u ≤ c ≤ ĉ，U 为下界不断增大，ĉ ≤ U 的结点杀死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719638"/>
              <a:ext cx="616743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724400"/>
              <a:ext cx="616743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945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经典问题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41170" y="4845844"/>
              <a:ext cx="45559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15-谜先用判定定理；作业调度 ĉ 计已放弃作业；背包用贪心解构造 ĉ 与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6167438" cy="38004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639252" y="1524000"/>
              <a:ext cx="9525" cy="38004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2-card-1"/>
          <p:cNvGrpSpPr/>
          <p:nvPr/>
        </p:nvGrpSpPr>
        <p:grpSpPr>
          <a:xfrm>
            <a:off x="7005638" y="1524000"/>
            <a:ext cx="4652962" cy="3800475"/>
            <a:chOff x="7005638" y="1524000"/>
            <a:chExt cx="4652962" cy="3800475"/>
          </a:xfrm>
        </p:grpSpPr>
        <p:sp>
          <p:nvSpPr>
            <p:cNvPr id="33" name="Rectangle 33"/>
            <p:cNvSpPr/>
            <p:nvPr/>
          </p:nvSpPr>
          <p:spPr>
            <a:xfrm>
              <a:off x="7005638" y="1524000"/>
              <a:ext cx="4652962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15162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230428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93546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239000" y="211074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95020" y="2054542"/>
              <a:ext cx="38713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检索方式中的“BSF-检索”应为 BFS；算法 8.1 末行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end BB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239000" y="266890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95020" y="2612708"/>
              <a:ext cx="36741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 cost、c、ĉ、u 的图中结点 3 的“U=6”应为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u=6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239000" y="322611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95020" y="3169920"/>
              <a:ext cx="39142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作业调度的显式约束应为 xᵢ &lt; xᵢ₊₁；运行表中结点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的 ĉ、cost、u 应为 15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239000" y="378333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95020" y="3727132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k-元组背包 LCBB：E = 2 之后堆顶是 6，不能结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束；扩展 6、7 后堆顶为 3 才结束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6" name="Rectangle 4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8373"/>
              <a:ext cx="9594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复习时重点练手算：FIFOBB 和 LCBB 每一步写清 E、入表结点、U、ans 和活结点表；先做 B 检验，再拿 ĉ 与 U 比较。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第8章 分支限界法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ch8">
  <a:themeElements>
    <a:clrScheme name="algo_ch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ch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ch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2026-09-17T06:26:53Z</dcterms:created>
  <dcterms:modified xsi:type="dcterms:W3CDTF">2026-09-17T06:26:53Z</dcterms:modified>
  <cp:category/>
  <cp:contentStatus/>
</cp:coreProperties>
</file>