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hw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hw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a32c3b1eeb49f7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124aaaff2e199d6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2869d5d79093336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739434" cy="3437763"/>
            <a:chOff x="666750" y="1619250"/>
            <a:chExt cx="47394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965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3747" y="1718310"/>
              <a:ext cx="240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第2章作业讲解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73943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算法导引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92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O、Ω、Θ 的定义完成 10 道证明与判断题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按定义找 c 和 n₀（题1、2、5）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50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 的运算性质（题3、4）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6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 与 Θ 的判断（题6~10）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自测 6 题与更正汇总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74197" cy="205359"/>
            <a:chOff x="680466" y="6192202"/>
            <a:chExt cx="477419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自学复习版｜据吉林大学《算法设计与分析》第2章作业讲解整理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本次作业讲解路线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解题前的准备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 题总览，三个定义，集合式的读法，四类题型的写法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按定义找常数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34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题1 2n² + 11n − 10 = O(n²)，题2 n² = O(n³)，题5 n³ ≠ O(n²)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861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的运算性质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74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题3 O(f)·O(g) = O(f·g)，题4 O(cf) = O(f)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620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与 Θ 的判断题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84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题6 Ω 的吸收，题7 Ω(cf)，题8~10 Θ 的和取 min、max 还是和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50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道自测题，10 题结论表，原讲解的更正汇总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对具体的 f(n)、g(n)，写出一组 c、n₀ 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 f(n) = O(g(n))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用反证法证明 f(n) ≠ O(g(n))，构造出的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同时满足 n₁ ≥ n₀ 和不等式失败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把集合式 A = B 读成“任取 A 中的函数，证明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它属于 B”，并正确合并 n₀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 Θ(f) + Θ(g) 等于 Θ(min)、Θ(max) 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Θ(f + g)，不成立时给出反例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6124" cy="909257"/>
            <a:chOff x="520446" y="342900"/>
            <a:chExt cx="5986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6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题总览：九题成立，只有题8 不成立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3" name="c1-table-1"/>
          <p:cNvGrpSpPr/>
          <p:nvPr/>
        </p:nvGrpSpPr>
        <p:grpSpPr>
          <a:xfrm>
            <a:off x="533400" y="1524000"/>
            <a:ext cx="11125200" cy="4194810"/>
            <a:chOff x="533400" y="1524000"/>
            <a:chExt cx="11125200" cy="4194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766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80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2953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991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关键常数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62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5781" y="2023110"/>
              <a:ext cx="1558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+ 11n − 10 = O(n²)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12682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9824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按定义找常数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71978" y="2023110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3，n₀ = 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62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95781" y="2404110"/>
              <a:ext cx="7595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 = O(n³)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12682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9824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按定义找常数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71978" y="2404110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1，n₀ = 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062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5781" y="2785110"/>
              <a:ext cx="1458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O(f)·O(g) = O(f·g)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2682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9824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任取左边的函数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71978" y="2785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c₁c₂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0626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95781" y="3167062"/>
              <a:ext cx="1777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O(cf) = O(f)，c 为正常数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12682" y="3167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69824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任取左边的函数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71978" y="3167062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0626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95781" y="3548062"/>
              <a:ext cx="7595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≠ O(n²)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12682" y="3548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9824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1978" y="354806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max{n₀, ⌈c₀⌉} + 1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0626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95781" y="3930015"/>
              <a:ext cx="237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= Ω(f)，则 Ω(f) + Ω(g) = Ω(f)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12682" y="393001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69824" y="3930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任取左边的函数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71978" y="3930015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 + c₂c₃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0626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95781" y="4311015"/>
              <a:ext cx="1719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Ω(cf) = Ω(f)，c 为正常数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12682" y="431101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69824" y="4311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任取左边的函数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71978" y="4311015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c₁c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0626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95781" y="4692015"/>
              <a:ext cx="1879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Θ(f) + Θ(g) = Θ(min(f, g))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437822" y="4584382"/>
              <a:ext cx="142684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42006" y="4692015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不成立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9824" y="4692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举反例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71978" y="4692015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n，g = 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0626" y="5073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95781" y="5073968"/>
              <a:ext cx="1915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Θ(f) + Θ(g) = Θ(max(f, g))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12682" y="50739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69824" y="50739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上下界分别证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71978" y="5073968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min{c₁, c₂}，2max{c₁′, c₂′}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5333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533781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79811" y="54549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295781" y="5454968"/>
              <a:ext cx="1545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Θ(f) + Θ(g) = Θ(f + g)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12682" y="54549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69824" y="54549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上下界分别证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71978" y="5454968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min{c₁, c₂}，max{c₁′, c₂′}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1524000"/>
              <a:ext cx="11125200" cy="4194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19634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42353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7038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872538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4" name="Rectangle 8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1273" y="6039326"/>
              <a:ext cx="10429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表中 f、g 是 f(n)、g(n) 的简写。前 5 题原题写“证明”，结论已知；题6~10 以问号结尾，先用具体函数试反例，试不出再按定义证明。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三个定义与两条约定：所有证明都从这里展开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065520" cy="2091214"/>
            <a:chOff x="527685" y="1524000"/>
            <a:chExt cx="6065520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32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7922" y="1659731"/>
              <a:ext cx="1090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≥ n₀ 时成立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657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66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O(g(n))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8593" y="2108359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|f(n)| ≤ c|g(n)|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03673" y="2108359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上界：阶不高于 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330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Ω(g(n))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8593" y="2556986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|f(n)| ≥ c|g(n)|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03673" y="2556986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下界：阶不低于 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330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Θ(g(n))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8593" y="3005614"/>
              <a:ext cx="2235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c₁|g(n)| ≤ |f(n)| ≤ c₂|g(n)|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367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4600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9108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95186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c、c₁、c₂、n₀ 都是正常数（第2章定义2.1~2.3）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761422"/>
            <a:ext cx="6059805" cy="2242185"/>
            <a:chOff x="533400" y="3761422"/>
            <a:chExt cx="6059805" cy="2242185"/>
          </a:xfrm>
        </p:grpSpPr>
        <p:sp>
          <p:nvSpPr>
            <p:cNvPr id="28" name="Rectangle 28"/>
            <p:cNvSpPr/>
            <p:nvPr/>
          </p:nvSpPr>
          <p:spPr>
            <a:xfrm>
              <a:off x="533400" y="3761422"/>
              <a:ext cx="6059805" cy="2242185"/>
            </a:xfrm>
            <a:prstGeom prst="roundRect">
              <a:avLst>
                <a:gd name="adj" fmla="val 594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15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3978" y="40062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本讲的证明都按这两条来写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42950" y="4353878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4799" y="439616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940" y="4367212"/>
              <a:ext cx="5092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两边都有渐近记号时，“=”从左往右读：左边集合里的每个函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数都属于右边。O(f) + O(g) 指所有 f₁ + f₂（f₁ ∈ O(f)，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f₂ ∈ O(g)）组成的集合，乘法同理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42950" y="5260658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4799" y="530294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3940" y="5273992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f、g 默认渐近非负（n 充分大后取值 ≥ 0），算法的计算时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间都满足，绝对值可以直接去掉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7022782" y="1524000"/>
            <a:ext cx="4510088" cy="3890487"/>
            <a:chOff x="7022782" y="1524000"/>
            <a:chExt cx="4510088" cy="3890487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22226" t="0" r="22226" b="0"/>
            <a:stretch>
              <a:fillRect/>
            </a:stretch>
          </p:blipFill>
          <p:spPr>
            <a:xfrm>
              <a:off x="7022782" y="1524000"/>
              <a:ext cx="4510088" cy="3382328"/>
            </a:xfrm>
            <a:prstGeom prst="roundRect">
              <a:avLst>
                <a:gd name="adj" fmla="val 3942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032308" y="5002054"/>
              <a:ext cx="44919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过了小旗（n₀）之后，红衣选手 c·g(n) 始终领先 f(n)；小旗之前谁领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先都不影响结论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898005" y="5579745"/>
            <a:ext cx="4760595" cy="782955"/>
            <a:chOff x="6898005" y="5579745"/>
            <a:chExt cx="4760595" cy="782955"/>
          </a:xfrm>
        </p:grpSpPr>
        <p:sp>
          <p:nvSpPr>
            <p:cNvPr id="42" name="Rectangle 42"/>
            <p:cNvSpPr/>
            <p:nvPr/>
          </p:nvSpPr>
          <p:spPr>
            <a:xfrm>
              <a:off x="6898005" y="55797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102793" y="5871210"/>
              <a:ext cx="200026" cy="200026"/>
              <a:chOff x="7102793" y="587121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102793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02805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191693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404735" y="5728335"/>
              <a:ext cx="3777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O 关系时，c 和 n₀ 可以一起调：c 取大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一些，n₀ 往往就能取小一些。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四类题型：每一类要写出的东西不同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951220" cy="3217545"/>
            <a:chOff x="533400" y="1524000"/>
            <a:chExt cx="5951220" cy="32175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825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2699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63937" y="165544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答案里必须出现的内容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141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具体函数 f = O(g)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3732" y="2191702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76232" y="2085022"/>
              <a:ext cx="2808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一组具体的 c、n₀，再验证 n ≥ n₀ 时不等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式成立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595122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835592"/>
              <a:ext cx="141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具体函数 f ≠ O(g)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3732" y="28355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6232" y="2728912"/>
              <a:ext cx="2785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 c、n₀ 存在，构造一个 n₁ ≥ n₀ 使不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等式失败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250882"/>
              <a:ext cx="1765935" cy="8382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586162"/>
              <a:ext cx="11153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集合关系 A =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3732" y="3372802"/>
              <a:ext cx="48463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9、10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76232" y="3479482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A 中的函数，展开定义，放缩后推出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它属于 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928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097655"/>
              <a:ext cx="595122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3357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判断命题真假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3732" y="43357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6~10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6232" y="4229100"/>
              <a:ext cx="28773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先代入阶不同的函数（如 f = n、g = 1）试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反例，试不出再证明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951220" cy="32175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13622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66122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2"/>
          <p:cNvGrpSpPr/>
          <p:nvPr/>
        </p:nvGrpSpPr>
        <p:grpSpPr>
          <a:xfrm>
            <a:off x="533400" y="4927282"/>
            <a:ext cx="5951220" cy="1089660"/>
            <a:chOff x="533400" y="4927282"/>
            <a:chExt cx="5951220" cy="1089660"/>
          </a:xfrm>
        </p:grpSpPr>
        <p:sp>
          <p:nvSpPr>
            <p:cNvPr id="33" name="Rectangle 33"/>
            <p:cNvSpPr/>
            <p:nvPr/>
          </p:nvSpPr>
          <p:spPr>
            <a:xfrm>
              <a:off x="533400" y="4927282"/>
              <a:ext cx="5951220" cy="1089660"/>
            </a:xfrm>
            <a:prstGeom prst="roundRect">
              <a:avLst>
                <a:gd name="adj" fmla="val 1049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367456"/>
              <a:ext cx="224134" cy="192560"/>
              <a:chOff x="726129" y="536745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54378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3674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5156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5241131"/>
              <a:ext cx="497382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集合关系题最常见的丢分点：两个定义各有自己的 n₁、n₂，合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并时 n₀ 必须取 max{n₁, n₂}。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6789420" y="1533525"/>
            <a:ext cx="4814926" cy="3031236"/>
            <a:chOff x="6789420" y="1533525"/>
            <a:chExt cx="4814926" cy="3031236"/>
          </a:xfrm>
        </p:grpSpPr>
        <p:sp>
          <p:nvSpPr>
            <p:cNvPr id="40" name="Rectangle 40"/>
            <p:cNvSpPr/>
            <p:nvPr/>
          </p:nvSpPr>
          <p:spPr>
            <a:xfrm>
              <a:off x="692277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8942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304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8942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8304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8942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304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89420" y="40166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8304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128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任取元素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2424" y="1846898"/>
              <a:ext cx="1915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f₁ ∈ O(f)、f₂ ∈ O(g)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1281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展开定义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2424" y="2467927"/>
              <a:ext cx="30169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c₁、n₁ 和 c₂、n₂ 以及各自的不等式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1281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合并范围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02424" y="3088957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时两个不等式同时成立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128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放缩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2424" y="3709988"/>
              <a:ext cx="4401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f₁、f₂ 出发，放大（O）或缩小（Ω）到右边函数的常数倍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1281" y="40495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写出常数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02424" y="4330065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明确给出 c₀ 和 n₀，结论才算证完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789420" y="4741545"/>
            <a:ext cx="4869180" cy="1274445"/>
            <a:chOff x="6789420" y="4741545"/>
            <a:chExt cx="4869180" cy="1274445"/>
          </a:xfrm>
        </p:grpSpPr>
        <p:sp>
          <p:nvSpPr>
            <p:cNvPr id="62" name="Rectangle 62"/>
            <p:cNvSpPr/>
            <p:nvPr/>
          </p:nvSpPr>
          <p:spPr>
            <a:xfrm>
              <a:off x="6789420" y="4741545"/>
              <a:ext cx="486918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98945" y="487489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031355" y="4945380"/>
              <a:ext cx="71818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15035" y="4981099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对照题3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24116" y="5318284"/>
              <a:ext cx="36122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f₁、f₂ → 写出 c₁、n₁、c₂、n₂ → n ≥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max{n₁, n₂} → f₁f₂ ≤ c₁c₂·fg → c₀ = c₁c₂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46427" cy="2997517"/>
            <a:chOff x="667512" y="1835468"/>
            <a:chExt cx="554642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按定义找常数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36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给出具体的 c 和 n₀ 证明成立，或者用反证法说明找不到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02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2n² + 11n − 10 = O(n²)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6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n² = O(n³)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6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n³ ≠ O(n²)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4394" cy="909257"/>
            <a:chOff x="520446" y="342900"/>
            <a:chExt cx="78243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按定义找常数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43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题1：取 c = 3 作差，因式分解后 n₀ = 10 自然出现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45870"/>
            <a:chOff x="533400" y="1524000"/>
            <a:chExt cx="5626418" cy="1245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992" y="1768792"/>
              <a:ext cx="2805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2n² + 11n − 10 = O(n²)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484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思路：最高次项系数是 2，c 取比 2 大的数；作差后看差什么时候 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969895"/>
            <a:ext cx="5286121" cy="2997804"/>
            <a:chOff x="533400" y="2969895"/>
            <a:chExt cx="5286121" cy="2997804"/>
          </a:xfrm>
        </p:grpSpPr>
        <p:sp>
          <p:nvSpPr>
            <p:cNvPr id="14" name="Rectangle 14"/>
            <p:cNvSpPr/>
            <p:nvPr/>
          </p:nvSpPr>
          <p:spPr>
            <a:xfrm>
              <a:off x="666750" y="311277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698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437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547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285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062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5800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1568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230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0041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写出要证的不等式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97079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c、n₀，使 n ≥ n₀ 时 2n² + 11n − 10 ≤ c·n²（n ≥ 1 时 f(n) &gt;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0，绝对值可去掉）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889058"/>
              <a:ext cx="122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3 作差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182904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3n² − (2n² + 11n − 10) = n² − 11n + 10 = (n − 1)(n − 10)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54056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判断符号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833461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10 时两个因子都 ≥ 0，差 ≥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191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484019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3、n₀ = 10，n ≥ 10 时 f(n) ≤ 3n²，所以 f(n) = O(n²)。证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662738" y="1659255"/>
            <a:ext cx="4944782" cy="3276600"/>
            <a:chOff x="6662738" y="1659255"/>
            <a:chExt cx="4944782" cy="3276600"/>
          </a:xfrm>
        </p:grpSpPr>
        <p:sp>
          <p:nvSpPr>
            <p:cNvPr id="32" name="Freeform 32"/>
            <p:cNvSpPr/>
            <p:nvPr/>
          </p:nvSpPr>
          <p:spPr>
            <a:xfrm>
              <a:off x="6691312" y="3854768"/>
              <a:ext cx="4688205" cy="9525"/>
            </a:xfrm>
            <a:custGeom>
              <a:avLst/>
              <a:gdLst/>
              <a:ahLst/>
              <a:cxnLst/>
              <a:rect l="l" t="t" r="r" b="b"/>
              <a:pathLst>
                <a:path w="4688205" h="9525">
                  <a:moveTo>
                    <a:pt x="0" y="0"/>
                  </a:moveTo>
                  <a:lnTo>
                    <a:pt x="46882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379518" y="3807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879908" y="178308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31242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832282" y="16878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904672" y="1959292"/>
              <a:ext cx="4466272" cy="2645092"/>
            </a:xfrm>
            <a:custGeom>
              <a:avLst/>
              <a:gdLst/>
              <a:ahLst/>
              <a:cxnLst/>
              <a:rect l="l" t="t" r="r" b="b"/>
              <a:pathLst>
                <a:path w="4466272" h="2645092">
                  <a:moveTo>
                    <a:pt x="0" y="1552575"/>
                  </a:moveTo>
                  <a:lnTo>
                    <a:pt x="136208" y="1718310"/>
                  </a:lnTo>
                  <a:lnTo>
                    <a:pt x="297180" y="1895475"/>
                  </a:lnTo>
                  <a:lnTo>
                    <a:pt x="459105" y="2051685"/>
                  </a:lnTo>
                  <a:lnTo>
                    <a:pt x="620078" y="2192655"/>
                  </a:lnTo>
                  <a:lnTo>
                    <a:pt x="781050" y="2311718"/>
                  </a:lnTo>
                  <a:lnTo>
                    <a:pt x="942022" y="2413635"/>
                  </a:lnTo>
                  <a:lnTo>
                    <a:pt x="1102995" y="2496502"/>
                  </a:lnTo>
                  <a:lnTo>
                    <a:pt x="1263968" y="2561273"/>
                  </a:lnTo>
                  <a:lnTo>
                    <a:pt x="1424940" y="2608898"/>
                  </a:lnTo>
                  <a:lnTo>
                    <a:pt x="1585912" y="2637473"/>
                  </a:lnTo>
                  <a:lnTo>
                    <a:pt x="1746885" y="2645092"/>
                  </a:lnTo>
                  <a:lnTo>
                    <a:pt x="1907858" y="2637473"/>
                  </a:lnTo>
                  <a:lnTo>
                    <a:pt x="2068830" y="2608898"/>
                  </a:lnTo>
                  <a:lnTo>
                    <a:pt x="2229802" y="2561273"/>
                  </a:lnTo>
                  <a:lnTo>
                    <a:pt x="2390775" y="2496502"/>
                  </a:lnTo>
                  <a:lnTo>
                    <a:pt x="2551748" y="2413635"/>
                  </a:lnTo>
                  <a:lnTo>
                    <a:pt x="2712720" y="2311718"/>
                  </a:lnTo>
                  <a:lnTo>
                    <a:pt x="2873692" y="2192655"/>
                  </a:lnTo>
                  <a:lnTo>
                    <a:pt x="3034665" y="2051685"/>
                  </a:lnTo>
                  <a:lnTo>
                    <a:pt x="3195638" y="1895475"/>
                  </a:lnTo>
                  <a:lnTo>
                    <a:pt x="3356610" y="1718310"/>
                  </a:lnTo>
                  <a:lnTo>
                    <a:pt x="3517583" y="1523048"/>
                  </a:lnTo>
                  <a:lnTo>
                    <a:pt x="3678555" y="1309688"/>
                  </a:lnTo>
                  <a:lnTo>
                    <a:pt x="3839528" y="1077278"/>
                  </a:lnTo>
                  <a:lnTo>
                    <a:pt x="4000500" y="827723"/>
                  </a:lnTo>
                  <a:lnTo>
                    <a:pt x="4161472" y="560070"/>
                  </a:lnTo>
                  <a:lnTo>
                    <a:pt x="4322445" y="270510"/>
                  </a:lnTo>
                  <a:lnTo>
                    <a:pt x="446627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62738" y="384524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870382" y="491680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870382" y="165925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51332" y="34537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59515" y="18973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154228" y="380714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043160" y="379761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02036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34320" y="1692116"/>
              <a:ext cx="2663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d(n) = 3n² − f(n) = (n − 1)(n − 10)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39441" y="347376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44711" y="3972401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n₀ = 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74050" y="408908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= 2~9：d &lt; 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52099" y="285845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n ≥ 10：d ≥ 0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5334000"/>
            <a:ext cx="5193982" cy="782955"/>
            <a:chOff x="6464618" y="5334000"/>
            <a:chExt cx="5193982" cy="782955"/>
          </a:xfrm>
        </p:grpSpPr>
        <p:sp>
          <p:nvSpPr>
            <p:cNvPr id="51" name="Rectangle 51"/>
            <p:cNvSpPr/>
            <p:nvPr/>
          </p:nvSpPr>
          <p:spPr>
            <a:xfrm>
              <a:off x="6464618" y="53340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625465"/>
              <a:ext cx="200026" cy="200025"/>
              <a:chOff x="6669405" y="562546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625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09144" y="5669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43859" y="5781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348" y="5482590"/>
              <a:ext cx="4063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曲线在 n = 1 和 n = 10 两处穿过横轴，中间一段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3n² 小于 f(n)，所以 n₀ 最小只能取 10。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7382" cy="909257"/>
            <a:chOff x="520446" y="342900"/>
            <a:chExt cx="74673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按定义找常数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73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复核：逐点比较，再换几组常数看 n₀ 怎么变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8447" y="1524000"/>
            <a:ext cx="5415153" cy="3315366"/>
            <a:chOff x="528447" y="1524000"/>
            <a:chExt cx="5415153" cy="3315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25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3068" y="1641157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146" y="164115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3n²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5261" y="1641157"/>
              <a:ext cx="1086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(n − 1)(n − 10)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1971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25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6730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4940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0705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2219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25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08987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7197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2931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219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825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08987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27197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1572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2219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8256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31244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9454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2931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999672" y="3059430"/>
              <a:ext cx="93440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2219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7441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31244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49454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0705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999672" y="3440430"/>
              <a:ext cx="93440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2219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7441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031244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49454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931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2219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189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7441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31244" y="4311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49454" y="4311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2931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422192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36969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36505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8326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98538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447" y="4648676"/>
              <a:ext cx="2872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f(n) = 2n² + 11n − 10，脚本逐点核对到 n = 10⁵</a:t>
              </a:r>
            </a:p>
          </p:txBody>
        </p:sp>
      </p:grpSp>
      <p:grpSp>
        <p:nvGrpSpPr>
          <p:cNvPr id="72" name="c1-callout-2"/>
          <p:cNvGrpSpPr/>
          <p:nvPr/>
        </p:nvGrpSpPr>
        <p:grpSpPr>
          <a:xfrm>
            <a:off x="533400" y="4965382"/>
            <a:ext cx="5410200" cy="702945"/>
            <a:chOff x="533400" y="4965382"/>
            <a:chExt cx="5410200" cy="702945"/>
          </a:xfrm>
        </p:grpSpPr>
        <p:sp>
          <p:nvSpPr>
            <p:cNvPr id="66" name="Rectangle 66"/>
            <p:cNvSpPr/>
            <p:nvPr/>
          </p:nvSpPr>
          <p:spPr>
            <a:xfrm>
              <a:off x="533400" y="496538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216843"/>
              <a:ext cx="200026" cy="200026"/>
              <a:chOff x="738188" y="5216843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2168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5283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53168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1273" y="5110639"/>
              <a:ext cx="43695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时两边恰好相等，但 n = 2 起又不成立，所以不能取 n₀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1。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6248400" y="1524000"/>
            <a:ext cx="5410200" cy="1906905"/>
            <a:chOff x="6248400" y="1524000"/>
            <a:chExt cx="5410200" cy="1906905"/>
          </a:xfrm>
        </p:grpSpPr>
        <p:sp>
          <p:nvSpPr>
            <p:cNvPr id="73" name="Rectangle 73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8134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25404" y="1641157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最小的 n₀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269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8134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015162" y="1914525"/>
              <a:ext cx="106299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29297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82356" y="2023110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− 2n² = 11n − 10 &gt; 0，对所有 n ≥ 1 都超出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8134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6358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82356" y="2404110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− 1)(n − 10) ≥ 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58134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50245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182356" y="2785110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− 11n + 10 ≥ 0，根约为 1.15 和 4.35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540531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015162" y="3059430"/>
              <a:ext cx="106299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0245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182356" y="316706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11n − 10 ≤ 11n ≤ 11n²，所以 f(n) ≤ 13n²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152400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700087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8291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8" name="c2-card-2"/>
          <p:cNvGrpSpPr/>
          <p:nvPr/>
        </p:nvGrpSpPr>
        <p:grpSpPr>
          <a:xfrm>
            <a:off x="6248400" y="3595688"/>
            <a:ext cx="5410200" cy="2072640"/>
            <a:chOff x="6248400" y="3595688"/>
            <a:chExt cx="5410200" cy="2072640"/>
          </a:xfrm>
        </p:grpSpPr>
        <p:sp>
          <p:nvSpPr>
            <p:cNvPr id="100" name="Rectangle 100"/>
            <p:cNvSpPr/>
            <p:nvPr/>
          </p:nvSpPr>
          <p:spPr>
            <a:xfrm>
              <a:off x="6248400" y="3595688"/>
              <a:ext cx="5410200" cy="2072640"/>
            </a:xfrm>
            <a:prstGeom prst="roundRect">
              <a:avLst>
                <a:gd name="adj" fmla="val 643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429375" y="3776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22047" y="3809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995351" y="3816191"/>
              <a:ext cx="1281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越大，n₀ 越小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438900" y="41852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594348" y="4133374"/>
              <a:ext cx="4484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必须大于最高次项系数 2，否则低次项 11n 永远补不回来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438900" y="44700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94348" y="4418171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考试时取 c = 13、n₀ = 1 最省事：把每个正的低次项都放大成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 项，负项直接丢掉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9" name="Rectangle 10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041273" y="6039326"/>
              <a:ext cx="8378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原讲解只写了“取 c₀ = 3、n₀ = 10”，没有验证不等式。答题时要写出作差分解这一步，否则等于只给了答案。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3377" cy="909257"/>
            <a:chOff x="520446" y="342900"/>
            <a:chExt cx="63633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按定义找常数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3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题2：n² = O(n³) 成立，但这个上界不紧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010602"/>
            <a:chOff x="533400" y="1524000"/>
            <a:chExt cx="5410200" cy="1010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10602"/>
            </a:xfrm>
            <a:prstGeom prst="roundRect">
              <a:avLst>
                <a:gd name="adj" fmla="val 13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43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第2题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992" y="1768792"/>
              <a:ext cx="1607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n² = O(n³)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思路：n ≥ 1 时多乘一个 n 只会变大。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734628"/>
            <a:ext cx="3519256" cy="1878615"/>
            <a:chOff x="533400" y="2734628"/>
            <a:chExt cx="3519256" cy="1878615"/>
          </a:xfrm>
        </p:grpSpPr>
        <p:sp>
          <p:nvSpPr>
            <p:cNvPr id="14" name="Rectangle 14"/>
            <p:cNvSpPr/>
            <p:nvPr/>
          </p:nvSpPr>
          <p:spPr>
            <a:xfrm>
              <a:off x="666750" y="287750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346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808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851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59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366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10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276891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写出要证的不等式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6276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c、n₀，使 n ≥ n₀ 时 n² ≤ c·n³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419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713321"/>
              <a:ext cx="2408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n² = n²·1 ≤ n²·n = n³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0709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363879"/>
              <a:ext cx="3106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1、n₀ = 1，得 n² = O(n³)。证毕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792028"/>
            <a:ext cx="5410200" cy="1487805"/>
            <a:chOff x="533400" y="4792028"/>
            <a:chExt cx="5410200" cy="1487805"/>
          </a:xfrm>
        </p:grpSpPr>
        <p:sp>
          <p:nvSpPr>
            <p:cNvPr id="28" name="Rectangle 28"/>
            <p:cNvSpPr/>
            <p:nvPr/>
          </p:nvSpPr>
          <p:spPr>
            <a:xfrm>
              <a:off x="533400" y="4792028"/>
              <a:ext cx="5410200" cy="1487805"/>
            </a:xfrm>
            <a:prstGeom prst="roundRect">
              <a:avLst>
                <a:gd name="adj" fmla="val 76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435918"/>
              <a:ext cx="200026" cy="200026"/>
              <a:chOff x="738188" y="543591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435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502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535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293042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不必是 1：n² ≤ c·n³ 等价于 n ≥ 1/c，任取 c &gt;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0，令 n₀ = ⌈1/c⌉ 都行。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242685" y="1524000"/>
            <a:ext cx="5415915" cy="2988469"/>
            <a:chOff x="6242685" y="1524000"/>
            <a:chExt cx="5415915" cy="2988469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897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956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815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56223" y="2108359"/>
              <a:ext cx="870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O(n²)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9550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69908" y="2108359"/>
              <a:ext cx="2099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低阶函数属于高阶函数的 O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2556986"/>
              <a:ext cx="971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 = O(n³)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9550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69908" y="2556986"/>
              <a:ext cx="165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题2，上界成立但不紧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2880360"/>
              <a:ext cx="18202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6223" y="3005614"/>
              <a:ext cx="971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 = O(n²)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95501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69908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最紧的上界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6223" y="3454241"/>
              <a:ext cx="1275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100n² = O(n²)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95501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69908" y="3454241"/>
              <a:ext cx="1796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常数倍不影响，c = 100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6223" y="3903821"/>
              <a:ext cx="971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= O(n²)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7202" y="3777615"/>
              <a:ext cx="95440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95501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69908" y="3903821"/>
              <a:ext cx="165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题5，下一页用反证法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8291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05732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2685" y="4292441"/>
              <a:ext cx="3262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一般地，a、b ≥ 0 时 nᵃ = O(nᵇ) 当且仅当 a ≤ b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248400" y="4658678"/>
            <a:ext cx="5410200" cy="1621155"/>
            <a:chOff x="6248400" y="4658678"/>
            <a:chExt cx="5410200" cy="1621155"/>
          </a:xfrm>
        </p:grpSpPr>
        <p:sp>
          <p:nvSpPr>
            <p:cNvPr id="67" name="Rectangle 67"/>
            <p:cNvSpPr/>
            <p:nvPr/>
          </p:nvSpPr>
          <p:spPr>
            <a:xfrm>
              <a:off x="6248400" y="4658678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57925" y="4792028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96050" y="48682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86258" y="4903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97078" y="49034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成立不等于有用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88430" y="5264468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分析算法时间时要写最紧的上界。说某个二重循环是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 不算错，但它实际是 Θ(n²)，O(n³) 丢掉了信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5102" cy="909257"/>
            <a:chOff x="520446" y="342900"/>
            <a:chExt cx="7935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按定义找常数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5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题5：假设常数 c₀ 存在，n 一旦超过 c₀ 就产生矛盾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982980"/>
            <a:chOff x="533400" y="1524000"/>
            <a:chExt cx="5842635" cy="982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982980"/>
            </a:xfrm>
            <a:prstGeom prst="roundRect">
              <a:avLst>
                <a:gd name="adj" fmla="val 135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162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第5题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15215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n³ ≠ O(n²)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115502"/>
              <a:ext cx="4285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思路：n³/n² = n 会无限增大，任何固定的 c₀ 都会被超过。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702242"/>
            <a:ext cx="5522519" cy="2410206"/>
            <a:chOff x="533400" y="2702242"/>
            <a:chExt cx="5522519" cy="2410206"/>
          </a:xfrm>
        </p:grpSpPr>
        <p:sp>
          <p:nvSpPr>
            <p:cNvPr id="14" name="Rectangle 14"/>
            <p:cNvSpPr/>
            <p:nvPr/>
          </p:nvSpPr>
          <p:spPr>
            <a:xfrm>
              <a:off x="666750" y="2845118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022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7760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223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96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43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17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643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638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27351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015615"/>
              <a:ext cx="3509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假设存在正常数 c₀、n₀，使 n ≥ n₀ 时 n³ ≤ c₀n²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3561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3636645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两边除以 n²（n ≥ 1）得 n ≤ c₀：所有 n ≥ n₀ 都不超过常数 c₀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3976211"/>
              <a:ext cx="677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n₁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4256722"/>
              <a:ext cx="459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n₁ = max{n₀, ⌈c₀⌉} + 1，则 n₁ 是整数，n₁ &gt; n₀ 且 n₁ &gt; c₀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45972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导出矛盾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4877752"/>
              <a:ext cx="5109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≥ n₀，由假设得 n₁ ≤ c₀，与 n₁ &gt; c₀ 矛盾。所以 n³ ≠ O(n²)。证毕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289232"/>
            <a:ext cx="5842635" cy="756285"/>
            <a:chOff x="533400" y="5289232"/>
            <a:chExt cx="5842635" cy="756285"/>
          </a:xfrm>
        </p:grpSpPr>
        <p:sp>
          <p:nvSpPr>
            <p:cNvPr id="32" name="Rectangle 32"/>
            <p:cNvSpPr/>
            <p:nvPr/>
          </p:nvSpPr>
          <p:spPr>
            <a:xfrm>
              <a:off x="533400" y="528923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567363"/>
              <a:ext cx="200026" cy="200025"/>
              <a:chOff x="738188" y="5567363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5673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6118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7229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5436394"/>
              <a:ext cx="464921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n₁ 要同时满足 n₁ ≥ n₀（假设才能用）和 n₁ &gt; c₀（才能矛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盾），所以取两者的最大值再加 1。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680835" y="1524000"/>
            <a:ext cx="4977765" cy="2156460"/>
            <a:chOff x="6680835" y="1524000"/>
            <a:chExt cx="4977765" cy="2156460"/>
          </a:xfrm>
        </p:grpSpPr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2277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1393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4179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原讲解的两处写法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23722" y="21069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2067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3664" y="2119789"/>
              <a:ext cx="40450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原讲解取 n₁ = c₀ + n₀。c₀ 只是正常数，不一定是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整数（c₀ = 2.5、n₀ = 3 时 n₁ = 5.5），而 n 取正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整数，所以改取 n₁ = max{n₀, ⌈c₀⌉} + 1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23722" y="296989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82067" y="30102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13664" y="2982754"/>
              <a:ext cx="37655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n₁³ ≤ c₀n₁² 只能推出 n₁ ≤ c₀，原讲解写作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c₀。改正后仍与 n₁ &gt; c₀ 矛盾，结论不变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865245"/>
            <a:ext cx="4977765" cy="2179320"/>
            <a:chOff x="6680835" y="3865245"/>
            <a:chExt cx="4977765" cy="2179320"/>
          </a:xfrm>
        </p:grpSpPr>
        <p:sp>
          <p:nvSpPr>
            <p:cNvPr id="51" name="Rectangle 51"/>
            <p:cNvSpPr/>
            <p:nvPr/>
          </p:nvSpPr>
          <p:spPr>
            <a:xfrm>
              <a:off x="6680835" y="3865245"/>
              <a:ext cx="4977765" cy="2179320"/>
            </a:xfrm>
            <a:prstGeom prst="roundRect">
              <a:avLst>
                <a:gd name="adj" fmla="val 61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84670" y="4069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75831" y="4104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套路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86079" y="4109561"/>
              <a:ext cx="12966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 f ≠ O(g)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92290" y="452151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48881" y="4461034"/>
              <a:ext cx="3713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f ≤ c·g 化成“某个随 n 增大的量 ≤ 常数”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92290" y="48415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48881" y="4781074"/>
              <a:ext cx="4401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构造一个既 ≥ n₀ 又超过常数的 n₁，写出具体表达式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0590" cy="909257"/>
            <a:chOff x="520446" y="342900"/>
            <a:chExt cx="75205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按定义找常数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05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复核：不管对手给出多大的 c₀，都能找到 n₁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7685" y="1524000"/>
            <a:ext cx="5632133" cy="2539842"/>
            <a:chOff x="527685" y="1524000"/>
            <a:chExt cx="5632133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699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7710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7721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9514" y="1659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n₁³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73043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c₀n₁²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4202" y="210835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1807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43150" y="1982152"/>
              <a:ext cx="8810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1818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645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4949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3713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8076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2341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9691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1331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995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4202" y="300561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8076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28643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12593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1030301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75633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1020100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4691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3375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3387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28276" y="345424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8012006001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91316" y="345424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4004001000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2875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2886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22897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9201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3843814"/>
              <a:ext cx="4368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n₁ = max{n₀, ⌈c₀⌉} + 1；每一行都有 n₁³ &gt; c₀n₁²，假设被推翻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4210050"/>
            <a:ext cx="5626418" cy="1602105"/>
            <a:chOff x="533400" y="4210050"/>
            <a:chExt cx="5626418" cy="1602105"/>
          </a:xfrm>
        </p:grpSpPr>
        <p:sp>
          <p:nvSpPr>
            <p:cNvPr id="46" name="Rectangle 46"/>
            <p:cNvSpPr/>
            <p:nvPr/>
          </p:nvSpPr>
          <p:spPr>
            <a:xfrm>
              <a:off x="533400" y="421005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3434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1050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1258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3430" y="4796790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同一对函数反过来看：n³ = Ω(n²)（c = 1，n₀ = 1），n²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O(n³)（题2）。三个结论合起来说明 n³ 的阶严格高于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464618" y="1524000"/>
            <a:ext cx="5193982" cy="4288155"/>
            <a:chOff x="6464618" y="1524000"/>
            <a:chExt cx="5193982" cy="4288155"/>
          </a:xfrm>
        </p:grpSpPr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4288155"/>
            </a:xfrm>
            <a:prstGeom prst="roundRect">
              <a:avLst>
                <a:gd name="adj" fmla="val 31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1657350"/>
              <a:ext cx="47625" cy="4021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3295" y="1768792"/>
              <a:ext cx="161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2ⁿ ≠ O(n²)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12267" y="21164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4117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13258" y="2129790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先证 n ≥ 10 时 2ⁿ ≥ n³：n = 10 时 1024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1000；n ≥ 4 时 (1 + 1/n)³ ≤ 2，所以 2ⁿ⁺¹ = 2·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≥ 2n³ ≥ (n + 1)³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12267" y="3023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74117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13258" y="3036570"/>
              <a:ext cx="2155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反设 n ≥ n₀ 时 2ⁿ ≤ cn²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712267" y="33585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4117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13258" y="337185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n₁ = max{n₀, 10, ⌈c⌉} + 1，n = n₁ 时 2ⁿ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= n·n² &gt; c·n²，矛盾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05791" y="3989546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脚本核对：n = 2~9 时 2ⁿ &lt; n³，所以第 1 步的起点必须取 10。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04648" y="4289108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同样的办法可以证明 2ⁿ ≠ O(nᵏ)（k 为任意固定正整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数）：指数函数的阶高于任何多项式。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246114" cy="2643187"/>
            <a:chOff x="667512" y="1835468"/>
            <a:chExt cx="624611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242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的运算性质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等式两边都是函数集合，任取左边的一个函数，证明它落在右边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795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O(f(n))·O(g(n)) = O(f(n)·g(n))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5837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O(cf(n)) = O(f(n))，c 为正常数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30087" cy="909257"/>
            <a:chOff x="520446" y="342900"/>
            <a:chExt cx="50300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69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141" y="407194"/>
              <a:ext cx="2172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O 的运算性质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300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题3：两个上界相乘，常数也相乘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982980"/>
            <a:chOff x="533400" y="1524000"/>
            <a:chExt cx="5951220" cy="982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982980"/>
            </a:xfrm>
            <a:prstGeom prst="roundRect">
              <a:avLst>
                <a:gd name="adj" fmla="val 135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162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第3题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38413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O(f(n))·O(g(n)) = O(f(n)·g(n))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115502"/>
              <a:ext cx="4285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思路：任取 f₁ ∈ O(f)、f₂ ∈ O(g)，证明 f₁f₂ ∈ O(fg)。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702242"/>
            <a:ext cx="5618836" cy="2410206"/>
            <a:chOff x="533400" y="2702242"/>
            <a:chExt cx="5618836" cy="2410206"/>
          </a:xfrm>
        </p:grpSpPr>
        <p:sp>
          <p:nvSpPr>
            <p:cNvPr id="14" name="Rectangle 14"/>
            <p:cNvSpPr/>
            <p:nvPr/>
          </p:nvSpPr>
          <p:spPr>
            <a:xfrm>
              <a:off x="666750" y="2845118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022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7760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223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96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43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17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643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638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273510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展开第一个条件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015615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c₁、n₁，n ≥ n₁ 时 |f₁(n)| ≤ c₁|f(n)|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3561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展开第二个条件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3636645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c₂、n₂，n ≥ n₂ 时 |f₂(n)| ≤ c₂|g(n)|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397621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两式相乘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4256722"/>
              <a:ext cx="5205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 |f₁(n)f₂(n)| = |f₁(n)|·|f₂(n)| ≤ c₁c₂|f(n)g(n)|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459724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4877752"/>
              <a:ext cx="4482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c₀ = c₁c₂、n₀ = max{n₁, n₂}，所以 f₁f₂ ∈ O(fg)。证毕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789420" y="1524000"/>
            <a:ext cx="4869180" cy="1545908"/>
            <a:chOff x="6789420" y="1524000"/>
            <a:chExt cx="4869180" cy="1545908"/>
          </a:xfrm>
        </p:grpSpPr>
        <p:sp>
          <p:nvSpPr>
            <p:cNvPr id="32" name="Rectangle 32"/>
            <p:cNvSpPr/>
            <p:nvPr/>
          </p:nvSpPr>
          <p:spPr>
            <a:xfrm>
              <a:off x="6789420" y="1524000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135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2156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4116" y="2100739"/>
              <a:ext cx="38286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原讲解第二行写作“有 f₂(n) ≤ c₂×f(n)”，应为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f₂(n) ≤ c₂×g(n)。后面乘积一行用的正是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c₂g(n)，属于笔误，但照抄会让证明不成立。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789420" y="3255645"/>
            <a:ext cx="4869180" cy="2368868"/>
            <a:chOff x="6789420" y="3255645"/>
            <a:chExt cx="4869180" cy="2368868"/>
          </a:xfrm>
        </p:grpSpPr>
        <p:sp>
          <p:nvSpPr>
            <p:cNvPr id="38" name="Rectangle 38"/>
            <p:cNvSpPr/>
            <p:nvPr/>
          </p:nvSpPr>
          <p:spPr>
            <a:xfrm>
              <a:off x="6789420" y="3255645"/>
              <a:ext cx="4869180" cy="2368868"/>
            </a:xfrm>
            <a:prstGeom prst="roundRect">
              <a:avLst>
                <a:gd name="adj" fmla="val 562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93255" y="34594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6712" y="34951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为什么能相乘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00875" y="389286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57466" y="3832384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不等式 a ≤ b、c ≤ d 相乘得 ac ≤ bd，要求四个数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都非负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00875" y="44843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57466" y="4423886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定义里带绝对值，两边自然非负；去掉绝对值写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时，要先说明 f₁、f₂ 渐近非负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87159" y="5012055"/>
              <a:ext cx="4111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原讲解说“存在正整数 c₁”，c₁ 取任意正实数即可，不必是整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72881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n₀ 要取 max{n₁, n₂}：只取 n₁ 时，第二个不等式在 n₁ ≤ n &lt; n₂ 这段可能还不成立。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69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141" y="407194"/>
              <a:ext cx="2172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O 的运算性质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代入数字：嵌套循环的次数就是两个上界之积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662112"/>
            <a:chOff x="533400" y="1524000"/>
            <a:chExt cx="5410200" cy="1662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869" y="1767364"/>
              <a:ext cx="30056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f₁(n) = 3n + 5，f₂(n) = 2n² + 7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4265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∈ O(n)：n ≥ 5 时 3n + 5 ≤ 4n，c₁ = 4，n₁ = 5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439829"/>
              <a:ext cx="4582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∈ O(n²)：n ≥ 3 时 2n² + 7 ≤ 3n²，c₂ = 3，n₂ = 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281940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275986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按题3：n ≥ max{5, 3} = 5 时 f₁f₂ ≤ 12n³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27685" y="3370898"/>
            <a:ext cx="5415915" cy="2016919"/>
            <a:chOff x="527685" y="3370898"/>
            <a:chExt cx="5415915" cy="2016919"/>
          </a:xfrm>
        </p:grpSpPr>
        <p:sp>
          <p:nvSpPr>
            <p:cNvPr id="19" name="Rectangle 19"/>
            <p:cNvSpPr/>
            <p:nvPr/>
          </p:nvSpPr>
          <p:spPr>
            <a:xfrm>
              <a:off x="533400" y="3370898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7386" y="35023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6357" y="3502342"/>
              <a:ext cx="103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f₁(n)·f₂(n)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706" y="350234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12n³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25415" y="3502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7386" y="39328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05329" y="3932872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× 57 = 1140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68622" y="39328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2534" y="39328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271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3195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0740" y="4362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16480" y="436245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× 207 = 7245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9773" y="4362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42534" y="4362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567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0740" y="47929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27631" y="4792980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× 807 = 52455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79773" y="47929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2534" y="4792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370898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502092" y="33708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00450" y="33708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836795" y="33708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685" y="5167789"/>
              <a:ext cx="2951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脚本核对 5 ≤ n ≤ 10⁵ 全部满足 f₁f₂ ≤ 12n³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6248400" y="1524000"/>
            <a:ext cx="5410200" cy="1516380"/>
            <a:chOff x="6248400" y="1524000"/>
            <a:chExt cx="5410200" cy="1516380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6797" y="1675924"/>
              <a:ext cx="1861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 f₁(n) 次，内层 f₂(n) 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035" y="1937861"/>
              <a:ext cx="356743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for i ← 1 to 3n+5 do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外层 f₁(n) 次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← 1 to 2n²+7 do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内层 f₂(n) 次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 ← x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3226118"/>
            <a:ext cx="5410200" cy="2117408"/>
            <a:chOff x="6248400" y="3226118"/>
            <a:chExt cx="5410200" cy="2117408"/>
          </a:xfrm>
        </p:grpSpPr>
        <p:sp>
          <p:nvSpPr>
            <p:cNvPr id="49" name="Rectangle 49"/>
            <p:cNvSpPr/>
            <p:nvPr/>
          </p:nvSpPr>
          <p:spPr>
            <a:xfrm>
              <a:off x="6248400" y="3226118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359468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34299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0543" y="3465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3802856"/>
              <a:ext cx="43516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← x + 1 共执行 (3n + 5)(2n² + 7) 次。按题3 直接写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O(n)·O(n²) = O(n³)，不必展开乘积。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4239" y="4390072"/>
              <a:ext cx="42641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两段程序先后执行时用加法，结果取较大者：O(n³) + O(n²) =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O(n³)。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8540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n₀ 取 5 而不是 3：n = 3、4 时 3n + 5 分别是 14、17，超过 4n 的 12、16，第一个不等式还不成立。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69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141" y="407194"/>
              <a:ext cx="2172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O 的运算性质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题4：常数因子可以提出来，两个方向都成立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010602"/>
            <a:chOff x="533400" y="1524000"/>
            <a:chExt cx="5951220" cy="1010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010602"/>
            </a:xfrm>
            <a:prstGeom prst="roundRect">
              <a:avLst>
                <a:gd name="adj" fmla="val 13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43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第4题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992" y="1768792"/>
              <a:ext cx="3987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O(cf(n)) = O(f(n))，c 是正的常数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思路：c 是固定正数，可以并进定义里的常数。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734628"/>
            <a:ext cx="5478429" cy="2529172"/>
            <a:chOff x="533400" y="2734628"/>
            <a:chExt cx="5478429" cy="2529172"/>
          </a:xfrm>
        </p:grpSpPr>
        <p:sp>
          <p:nvSpPr>
            <p:cNvPr id="14" name="Rectangle 14"/>
            <p:cNvSpPr/>
            <p:nvPr/>
          </p:nvSpPr>
          <p:spPr>
            <a:xfrm>
              <a:off x="666750" y="2877502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346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808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851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59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366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10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6872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761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2768918"/>
              <a:ext cx="1920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⊆：任取 f₁ ∈ O(cf)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062764"/>
              <a:ext cx="352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c₁、n₁，n ≥ n₁ 时 |f₁(n)| ≤ c₁·c|f(n)|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419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并入常数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13321"/>
              <a:ext cx="4888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c₀ = c₁c、n₀ = n₁，得 |f₁(n)| ≤ c₀|f(n)|，所以 f₁ ∈ O(f)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070985"/>
              <a:ext cx="1806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⊇：任取 f₂ ∈ O(f)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363879"/>
              <a:ext cx="4872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c₂、n₂，n ≥ n₂ 时 |f₂(n)| ≤ c₂|f(n)| = (c₂/c)·|c·f(n)|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72154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拆出常数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014436"/>
              <a:ext cx="5065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&gt; 0，所以 c₂/c 也是正常数，f₂ ∈ O(cf)。两个集合相等，证毕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789420" y="1524000"/>
            <a:ext cx="4869180" cy="1887855"/>
            <a:chOff x="6789420" y="1524000"/>
            <a:chExt cx="4869180" cy="1887855"/>
          </a:xfrm>
        </p:grpSpPr>
        <p:sp>
          <p:nvSpPr>
            <p:cNvPr id="32" name="Rectangle 32"/>
            <p:cNvSpPr/>
            <p:nvPr/>
          </p:nvSpPr>
          <p:spPr>
            <a:xfrm>
              <a:off x="6789420" y="1524000"/>
              <a:ext cx="486918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9450" y="2110740"/>
              <a:ext cx="39966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原讲解只证了 O(cf) ⊆ O(f)。按“从左往右读”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的约定这已够用；不过题4 两边其实是同一个集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合，反方向也成立，这里补上。题7 的 Ω(cf)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Ω(f) 同理。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789420" y="3602355"/>
            <a:ext cx="4869180" cy="1670685"/>
            <a:chOff x="6789420" y="3602355"/>
            <a:chExt cx="4869180" cy="1670685"/>
          </a:xfrm>
        </p:grpSpPr>
        <p:sp>
          <p:nvSpPr>
            <p:cNvPr id="38" name="Rectangle 38"/>
            <p:cNvSpPr/>
            <p:nvPr/>
          </p:nvSpPr>
          <p:spPr>
            <a:xfrm>
              <a:off x="6789420" y="3602355"/>
              <a:ext cx="486918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98945" y="373570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37070" y="38119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27278" y="38476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38098" y="384714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能提出来的只有常数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42710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4208145"/>
              <a:ext cx="3971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O(n·f(n)) ≠ O(f(n))：f = 1 时 n ∉ O(1)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42785" y="46062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0900" y="4543425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0 时 O(0·f) = O(0)，只含 n₀ 以后恒为 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的函数，与 O(f) 不同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9495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放到算法分析里：执行 3n² 次和 n² 次基本运算的两个算法数量级相同，比较时先比阶，阶相同再比常数。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69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141" y="407194"/>
              <a:ext cx="2172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O 的运算性质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的应用：常数倍、对数底都可以忽略，指数底不行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6276022" cy="3590925"/>
            <a:chOff x="533400" y="1524000"/>
            <a:chExt cx="6276022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51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158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化简结果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61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664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O(5n²)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22348" y="2108359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28250" y="210835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66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O(n²/2)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2348" y="2556986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28250" y="2556986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1/2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87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O(2ⁿ⁺¹)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2348" y="3005614"/>
              <a:ext cx="550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28250" y="300561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2ⁿ⁺¹ = 2·2ⁿ，c = 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808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O(log₂n)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24050" y="3328988"/>
              <a:ext cx="14868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22348" y="3454241"/>
              <a:ext cx="727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8250" y="345424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 = log₁₀n / log₁₀2 ≈ 3.32·log₁₀n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3903821"/>
              <a:ext cx="664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O(ln 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22348" y="3903821"/>
              <a:ext cx="727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8250" y="390382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n = ln 2·log₂n ≈ 0.69·log₂n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26242"/>
              <a:ext cx="136207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352449"/>
              <a:ext cx="5769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O(3ⁿ)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22348" y="4352449"/>
              <a:ext cx="1323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不能写成 O(2ⁿ)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28250" y="4352449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3ⁿ/2ⁿ = 1.5ⁿ 随 n 增大，不是常数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801076"/>
              <a:ext cx="917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22348" y="480107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不能去掉 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28250" y="4801076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不是常数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6276022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90976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1566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3"/>
              <p:cNvSpPr txBox="1">
                <a:spLocks noGrp="1"/>
              </p:cNvSpPr>
              <p:nvPr/>
            </p:nvSpPr>
            <p:spPr>
              <a:xfrm>
                <a:off x="7114222" y="1524000"/>
                <a:ext cx="4544378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</m:fName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num>
                        <m:den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rd-2"/>
          <p:cNvGrpSpPr/>
          <p:nvPr/>
        </p:nvGrpSpPr>
        <p:grpSpPr>
          <a:xfrm>
            <a:off x="7114222" y="2383155"/>
            <a:ext cx="4544378" cy="1602105"/>
            <a:chOff x="7114222" y="2383155"/>
            <a:chExt cx="4544378" cy="1602105"/>
          </a:xfrm>
        </p:grpSpPr>
        <p:sp>
          <p:nvSpPr>
            <p:cNvPr id="48" name="Rectangle 48"/>
            <p:cNvSpPr/>
            <p:nvPr/>
          </p:nvSpPr>
          <p:spPr>
            <a:xfrm>
              <a:off x="7114222" y="2383155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23772" y="25927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05129" y="26284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换底公式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6152" y="296989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不同底的对数只差一个与 n 无关的常数因子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（log₂n = log₂10·log₁₀n），按题4 可以去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掉，所以复杂度里的 log n 一般不写底数。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7114222" y="4175760"/>
            <a:ext cx="4544378" cy="1316355"/>
            <a:chOff x="7114222" y="4175760"/>
            <a:chExt cx="4544378" cy="1316355"/>
          </a:xfrm>
        </p:grpSpPr>
        <p:sp>
          <p:nvSpPr>
            <p:cNvPr id="53" name="Rectangle 53"/>
            <p:cNvSpPr/>
            <p:nvPr/>
          </p:nvSpPr>
          <p:spPr>
            <a:xfrm>
              <a:off x="7114222" y="4175760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3748" y="430911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61872" y="438531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56030" y="44210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54252" y="476250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二分查找比较约 log₂n 次，写成 O(log n)；换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成十进制的 log₁₀n 也是同一个集合。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7153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2ⁿ 与 3ⁿ 的比值 1.5ⁿ 不是常数，所以指数的底不能随意换：O(2ⁿ) ⊊ O(3ⁿ)。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771150" cy="2997517"/>
            <a:chOff x="667512" y="1835468"/>
            <a:chExt cx="577115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53507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与 Θ 的判断题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先判断真假，成立就按定义证明，不成立就举一个反例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7067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若 g = Ω(f)，Ω(f) + Ω(g) = Ω(f)？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54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Ω(cf) = Ω(f)？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5531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题8~10 Θ(f) + Θ(g) 等于 Θ(min)、Θ(max) 还是 Θ(f + g)？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10526" cy="909257"/>
            <a:chOff x="520446" y="342900"/>
            <a:chExt cx="50105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105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题6：成立，Ω 的证明要往小里缩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345882"/>
            <a:chOff x="533400" y="1524000"/>
            <a:chExt cx="6059805" cy="13458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45882"/>
            </a:xfrm>
            <a:prstGeom prst="roundRect">
              <a:avLst>
                <a:gd name="adj" fmla="val 99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791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第6题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487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g(n) = Ω(f(n))，则 Ω(f(n)) + Ω(g(n)) = Ω(f(n))？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461736"/>
              <a:ext cx="50914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结论：成立。任取 f₁ ∈ Ω(f)、f₂ ∈ Ω(g)，证明 f₁ + f₂ ∈ Ω(f)。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069908"/>
            <a:ext cx="5594091" cy="2764440"/>
            <a:chOff x="533400" y="3069908"/>
            <a:chExt cx="5594091" cy="2764440"/>
          </a:xfrm>
        </p:grpSpPr>
        <p:sp>
          <p:nvSpPr>
            <p:cNvPr id="14" name="Rectangle 14"/>
            <p:cNvSpPr/>
            <p:nvPr/>
          </p:nvSpPr>
          <p:spPr>
            <a:xfrm>
              <a:off x="666750" y="3212782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719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2568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330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10419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展开两个元素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398044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n₁ 时 f₁(n) ≥ c₁f(n)；n ≥ n₂ 时 f₂(n) ≥ c₂g(n)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048601"/>
              <a:ext cx="2774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Ω(f)：n ≥ n₃ 时 g(n) ≥ c₃f(n)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4062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699159"/>
              <a:ext cx="4979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n₂, n₃} 时 f₁ + f₂ ≥ c₁f + c₂g ≥ c₁f + c₂c₃f = (c₁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c₂c₃)f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2911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584984"/>
              <a:ext cx="51814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c₀ = c₁ + c₂c₃、n₀ = max{n₁, n₂, n₃}，f₁ + f₂ ∈ Ω(f)。证毕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5"/>
              <p:cNvSpPr txBox="1">
                <a:spLocks noGrp="1"/>
              </p:cNvSpPr>
              <p:nvPr/>
            </p:nvSpPr>
            <p:spPr>
              <a:xfrm>
                <a:off x="6898005" y="1524000"/>
                <a:ext cx="476059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rd-2"/>
          <p:cNvGrpSpPr/>
          <p:nvPr/>
        </p:nvGrpSpPr>
        <p:grpSpPr>
          <a:xfrm>
            <a:off x="6898005" y="2133600"/>
            <a:ext cx="4760595" cy="1986915"/>
            <a:chOff x="6898005" y="2133600"/>
            <a:chExt cx="4760595" cy="1986915"/>
          </a:xfrm>
        </p:grpSpPr>
        <p:sp>
          <p:nvSpPr>
            <p:cNvPr id="33" name="Rectangle 33"/>
            <p:cNvSpPr/>
            <p:nvPr/>
          </p:nvSpPr>
          <p:spPr>
            <a:xfrm>
              <a:off x="6898005" y="2133600"/>
              <a:ext cx="4760595" cy="1986915"/>
            </a:xfrm>
            <a:prstGeom prst="roundRect">
              <a:avLst>
                <a:gd name="adj" fmla="val 671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07555" y="2343150"/>
              <a:ext cx="126492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8114" y="2378869"/>
              <a:ext cx="1141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O 的证明对照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13270" y="27832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71385" y="2720340"/>
              <a:ext cx="4143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O：从 f₁ 出发往大里放，终点是 c₀·右边函数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13270" y="31184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71385" y="3055620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Ω：从 f₁ 出发往小里缩，终点同样是 c₀·右边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13270" y="37395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71385" y="3676650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三个条件各有一个 n，n₀ 取三者最大值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898005" y="4311015"/>
            <a:ext cx="4760595" cy="1510665"/>
            <a:chOff x="6898005" y="4311015"/>
            <a:chExt cx="4760595" cy="1510665"/>
          </a:xfrm>
        </p:grpSpPr>
        <p:sp>
          <p:nvSpPr>
            <p:cNvPr id="43" name="Rectangle 43"/>
            <p:cNvSpPr/>
            <p:nvPr/>
          </p:nvSpPr>
          <p:spPr>
            <a:xfrm>
              <a:off x="6898005" y="4311015"/>
              <a:ext cx="4760595" cy="1510665"/>
            </a:xfrm>
            <a:prstGeom prst="roundRect">
              <a:avLst>
                <a:gd name="adj" fmla="val 75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02793" y="4966335"/>
              <a:ext cx="200026" cy="200026"/>
              <a:chOff x="7102793" y="496633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102793" y="49663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02805" y="5033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191693" y="50663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04735" y="4823460"/>
              <a:ext cx="3672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原讲解的证明正确，下一页看条件 g = Ω(f)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到底起了什么作用。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1241" cy="909257"/>
            <a:chOff x="520446" y="342900"/>
            <a:chExt cx="77812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1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再想一步：条件可以去掉，更紧的下界是 Ω(g)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1768792"/>
              <a:ext cx="2175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不用条件也能得到 Ω(f)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渐近非负，所以 f₁ + f₂ ≥ f₁ ≥ c₁f。条件 g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Ω(f) 在原证明里只是把常数从 c₁ 提高到 c₁ + c₂c₃。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049905"/>
            <a:ext cx="5410200" cy="2272665"/>
            <a:chOff x="533400" y="3049905"/>
            <a:chExt cx="5410200" cy="227266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793" y="32951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8760" y="3294698"/>
              <a:ext cx="1771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更紧的结论是 Ω(g)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655695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+ f₂ ≥ f₂ ≥ c₂g，所以 Ω(f) + Ω(g) ⊆ Ω(g)；又 g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Ω(f) 推出 Ω(g) ⊆ Ω(f)（传递性）。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273391"/>
              <a:ext cx="4975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 的阶不低于 f，下界取 g 信息更多，和题9 “和取较大者”一致。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005965"/>
            <a:chOff x="6248400" y="1524000"/>
            <a:chExt cx="5410200" cy="200596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91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54202" y="1768792"/>
              <a:ext cx="3002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n，g = n²（满足 g = Ω(f)）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880" y="2129790"/>
              <a:ext cx="3621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= n − 3 ∈ Ω(n)：n ≥ 6 时 n − 3 ≥ n/2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2465070"/>
              <a:ext cx="172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= n²/4 ∈ Ω(n²)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280035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+ f₂ = n²/4 + n − 3 ≥ n²/4，属于 Ω(n²)，当然也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 Ω(n)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720465"/>
            <a:ext cx="5410200" cy="1602105"/>
            <a:chOff x="6248400" y="3720465"/>
            <a:chExt cx="5410200" cy="1602105"/>
          </a:xfrm>
        </p:grpSpPr>
        <p:sp>
          <p:nvSpPr>
            <p:cNvPr id="34" name="Rectangle 34"/>
            <p:cNvSpPr/>
            <p:nvPr/>
          </p:nvSpPr>
          <p:spPr>
            <a:xfrm>
              <a:off x="6248400" y="372046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8538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39300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9507" y="39657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反方向不成立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4307205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 = 1、g = n：函数 h(n) = 1 属于 Ω(1)，但左边任一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+ f₂ ≥ c₂n 会无限增大，不可能等于 1。所以这里的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“=”只能从左往右读。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8330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一般地，f、g 渐近非负时 Ω(f) + Ω(g) = Ω(max(f, g))：和的下界同样由较大的函数决定。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589" cy="909257"/>
            <a:chOff x="520446" y="342900"/>
            <a:chExt cx="6709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题7：成立，与题4 同一个套路，不等号反向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982980"/>
            <a:chOff x="533400" y="1524000"/>
            <a:chExt cx="5951220" cy="982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982980"/>
            </a:xfrm>
            <a:prstGeom prst="roundRect">
              <a:avLst>
                <a:gd name="adj" fmla="val 135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162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第7题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34404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Ω(cf(n)) = Ω(f(n))，c 是正的常数？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115502"/>
              <a:ext cx="3865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结论：成立。c 是固定正数，并进定义里的常数即可。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702242"/>
            <a:ext cx="4904003" cy="1789176"/>
            <a:chOff x="533400" y="2702242"/>
            <a:chExt cx="4904003" cy="1789176"/>
          </a:xfrm>
        </p:grpSpPr>
        <p:sp>
          <p:nvSpPr>
            <p:cNvPr id="14" name="Rectangle 14"/>
            <p:cNvSpPr/>
            <p:nvPr/>
          </p:nvSpPr>
          <p:spPr>
            <a:xfrm>
              <a:off x="666750" y="2845118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022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7760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223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96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43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17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2735104"/>
              <a:ext cx="17772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⊆：任取 f₁ ∈ Ω(cf)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015615"/>
              <a:ext cx="3202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c₁、n₁，n ≥ n₁ 时 f₁(n) ≥ c₁·c·f(n)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3561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并入常数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636645"/>
              <a:ext cx="4356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c₀ = c₁c、n₀ = n₁，得 f₁(n) ≥ c₀f(n)，所以 f₁ ∈ Ω(f)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976211"/>
              <a:ext cx="24343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⊇（补充）：任取 f₂ ∈ Ω(f)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256722"/>
              <a:ext cx="4490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n₂ 时 f₂(n) ≥ c₂f(n) = (c₂/c)·cf(n)，所以 f₂ ∈ Ω(cf)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668202"/>
            <a:ext cx="5951220" cy="1613535"/>
            <a:chOff x="533400" y="4668202"/>
            <a:chExt cx="5951220" cy="1613535"/>
          </a:xfrm>
        </p:grpSpPr>
        <p:sp>
          <p:nvSpPr>
            <p:cNvPr id="28" name="Rectangle 28"/>
            <p:cNvSpPr/>
            <p:nvPr/>
          </p:nvSpPr>
          <p:spPr>
            <a:xfrm>
              <a:off x="533400" y="4668202"/>
              <a:ext cx="595122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01552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87203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0445" y="49077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3869" y="4911566"/>
              <a:ext cx="1614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Ω(n²/2) = Ω(n²)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2955" y="53235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546" y="5263039"/>
              <a:ext cx="3009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n²/2 ∈ Ω(n²)：取 c = 1/2、n₀ = 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56435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5583079"/>
              <a:ext cx="48475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冒泡排序比较 n(n − 1)/2 次，n ≥ 2 时 n(n − 1)/2 ≥ n²/4，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 Ω(n²)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789420" y="1524000"/>
            <a:ext cx="4869180" cy="2150745"/>
            <a:chOff x="6789420" y="1524000"/>
            <a:chExt cx="4869180" cy="2150745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2299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67434" y="1655445"/>
              <a:ext cx="724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题4（O）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37956" y="1655445"/>
              <a:ext cx="688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题7（Ω）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476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展开定义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57794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≤ c₁·cf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11346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≥ c₁·cf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4766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新常数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57794" y="2515552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11346" y="2515552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= c₁c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4766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反方向常数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7794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c₂/c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11346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c₂/c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89420" y="324421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94766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57794" y="3375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两个集合相等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11346" y="3375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两个集合相等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1524000"/>
              <a:ext cx="486918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4768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90123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rd-2"/>
          <p:cNvGrpSpPr/>
          <p:nvPr/>
        </p:nvGrpSpPr>
        <p:grpSpPr>
          <a:xfrm>
            <a:off x="6789420" y="3860482"/>
            <a:ext cx="4869180" cy="1274445"/>
            <a:chOff x="6789420" y="3860482"/>
            <a:chExt cx="4869180" cy="1274445"/>
          </a:xfrm>
        </p:grpSpPr>
        <p:sp>
          <p:nvSpPr>
            <p:cNvPr id="63" name="Rectangle 63"/>
            <p:cNvSpPr/>
            <p:nvPr/>
          </p:nvSpPr>
          <p:spPr>
            <a:xfrm>
              <a:off x="6789420" y="3860482"/>
              <a:ext cx="4869180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93255" y="4064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83463" y="4100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86016" y="4437221"/>
              <a:ext cx="42614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Θ(cf) = Θ(f) 同理：上下两个常数分别乘 c 即可。三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个记号都不受正常数因子影响。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789420" y="5320665"/>
            <a:ext cx="4869180" cy="961072"/>
            <a:chOff x="6789420" y="5320665"/>
            <a:chExt cx="4869180" cy="961072"/>
          </a:xfrm>
        </p:grpSpPr>
        <p:sp>
          <p:nvSpPr>
            <p:cNvPr id="68" name="Rectangle 68"/>
            <p:cNvSpPr/>
            <p:nvPr/>
          </p:nvSpPr>
          <p:spPr>
            <a:xfrm>
              <a:off x="6789420" y="5320665"/>
              <a:ext cx="4869180" cy="961072"/>
            </a:xfrm>
            <a:prstGeom prst="roundRect">
              <a:avLst>
                <a:gd name="adj" fmla="val 118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982149" y="5697021"/>
              <a:ext cx="224134" cy="192560"/>
              <a:chOff x="6982149" y="5697021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94220" y="57673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82149" y="56970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094220" y="5845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296531" y="5569744"/>
              <a:ext cx="391883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必须大于 0：Ω(0·f) = Ω(0) 包含所有函数，显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然不等于 Ω(f)。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9222" cy="909257"/>
            <a:chOff x="520446" y="342900"/>
            <a:chExt cx="5949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9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题8：不成立，n + 1 不可能被常数压住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010602"/>
            <a:chOff x="533400" y="1524000"/>
            <a:chExt cx="5951220" cy="1010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010602"/>
            </a:xfrm>
            <a:prstGeom prst="roundRect">
              <a:avLst>
                <a:gd name="adj" fmla="val 13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43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第8题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992" y="1768792"/>
              <a:ext cx="442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Θ(f(n)) + Θ(g(n)) = Θ(min(f(n), g(n)))？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结论：不成立。选两个阶不同的函数，看较小者能不能控制它们的和。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734628"/>
            <a:ext cx="5594985" cy="2763488"/>
            <a:chOff x="533400" y="2734628"/>
            <a:chExt cx="5594985" cy="2763488"/>
          </a:xfrm>
        </p:grpSpPr>
        <p:sp>
          <p:nvSpPr>
            <p:cNvPr id="14" name="Rectangle 14"/>
            <p:cNvSpPr/>
            <p:nvPr/>
          </p:nvSpPr>
          <p:spPr>
            <a:xfrm>
              <a:off x="666750" y="2877502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346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808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851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59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366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10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6872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761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276891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选函数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0627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n，g(n) = 1，n ≥ 1 时 min{f, g} =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419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在左边取一个元素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13321"/>
              <a:ext cx="3735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∈ Θ(n)、1 ∈ Θ(1)，所以 n + 1 ∈ Θ(n) + Θ(1)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0709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检查是否属于右边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363879"/>
              <a:ext cx="3867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n + 1 ∈ Θ(1)，存在 c、n₀，n ≥ n₀ 时 n + 1 ≤ 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72154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导出矛盾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014436"/>
              <a:ext cx="5182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 = max{n₀, ⌈c⌉}，则 n + 1 &gt; c，矛盾。左边不包含于右边，命题不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783705" y="1524000"/>
            <a:ext cx="4874895" cy="2539842"/>
            <a:chOff x="6783705" y="1524000"/>
            <a:chExt cx="4874895" cy="2539842"/>
          </a:xfrm>
        </p:grpSpPr>
        <p:sp>
          <p:nvSpPr>
            <p:cNvPr id="32" name="Rectangle 32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1610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4893" y="1659731"/>
              <a:ext cx="1035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+ g = n + 1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74112" y="1659731"/>
              <a:ext cx="854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min{f, g}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68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496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418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4738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4305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35456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941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4738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4827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35945" y="300561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04641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4738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3506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6434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0986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4738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702290" y="3328988"/>
              <a:ext cx="94678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15873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1524000"/>
              <a:ext cx="486918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75049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30497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68800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83705" y="3843814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比值无界，找不到常数 c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789420" y="4210050"/>
            <a:ext cx="4869180" cy="1947862"/>
            <a:chOff x="6789420" y="4210050"/>
            <a:chExt cx="4869180" cy="1947862"/>
          </a:xfrm>
        </p:grpSpPr>
        <p:sp>
          <p:nvSpPr>
            <p:cNvPr id="65" name="Rectangle 65"/>
            <p:cNvSpPr/>
            <p:nvPr/>
          </p:nvSpPr>
          <p:spPr>
            <a:xfrm>
              <a:off x="6789420" y="4210050"/>
              <a:ext cx="4869180" cy="1947862"/>
            </a:xfrm>
            <a:prstGeom prst="roundRect">
              <a:avLst>
                <a:gd name="adj" fmla="val 684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98970" y="441960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76376" y="44553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反例怎么找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004685" y="4859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62800" y="479679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f、g 同阶时 min、max、f + g 都与它们同阶，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等式碰巧成立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04685" y="54806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62800" y="54178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所以反例必须选阶不同的两个函数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92493" y="5749766"/>
              <a:ext cx="3894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能说的只是较弱的 Θ(f) + Θ(g) ⊆ Ω(min(f, g))。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3211" cy="909257"/>
            <a:chOff x="520446" y="342900"/>
            <a:chExt cx="6403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3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题9：成立，和的阶由较大的那个函数决定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245870"/>
            <a:chOff x="533400" y="1524000"/>
            <a:chExt cx="6059805" cy="1245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第9题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992" y="1768792"/>
              <a:ext cx="4476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Θ(f(n)) + Θ(g(n)) = Θ(max(f(n), g(n)))？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5182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结论：成立。记 h = max{f, g}，关键不等式是 h ≤ f + g ≤ 2h（f、g 非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负）。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969895"/>
            <a:ext cx="5991306" cy="2763489"/>
            <a:chOff x="533400" y="2969895"/>
            <a:chExt cx="5991306" cy="2763489"/>
          </a:xfrm>
        </p:grpSpPr>
        <p:sp>
          <p:nvSpPr>
            <p:cNvPr id="14" name="Rectangle 14"/>
            <p:cNvSpPr/>
            <p:nvPr/>
          </p:nvSpPr>
          <p:spPr>
            <a:xfrm>
              <a:off x="666750" y="311277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698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437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204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6942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710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3448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9215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995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0041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展开两个元素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97079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n₁ 时 c₁f ≤ f₁ ≤ c₁′f；n ≥ n₂ 时 c₂g ≤ f₂ ≤ c₂′g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65474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947636"/>
              <a:ext cx="4777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c₀ = min{c₁, c₂}：c₀h ≤ c₀(f + g) ≤ c₁f + c₂g ≤ f₁ + f₂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3053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599146"/>
              <a:ext cx="5578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c₀′ = max{c₁′, c₂′}：f₁ + f₂ ≤ c₁′f + c₂′g ≤ c₀′(f + g) ≤ 2c₀′h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9558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249704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 c₀h ≤ f₁ + f₂ ≤ 2c₀′h，所以 f₁ + f₂ 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Θ(max{f, g})。证毕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161746" y="518969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高的一摞加上矮的一摞，只比高的那摞多一点，至多是它的两倍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898005" y="5579745"/>
            <a:ext cx="4760595" cy="782955"/>
            <a:chOff x="6898005" y="5579745"/>
            <a:chExt cx="4760595" cy="782955"/>
          </a:xfrm>
        </p:grpSpPr>
        <p:sp>
          <p:nvSpPr>
            <p:cNvPr id="35" name="Rectangle 35"/>
            <p:cNvSpPr/>
            <p:nvPr/>
          </p:nvSpPr>
          <p:spPr>
            <a:xfrm>
              <a:off x="6898005" y="55797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102793" y="5871210"/>
              <a:ext cx="200026" cy="200026"/>
              <a:chOff x="7102793" y="5871210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102793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02805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91693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404735" y="5728335"/>
              <a:ext cx="3510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原讲解的证明正确；上界最后一步 c₀′f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c₀′g ≤ 2c₀′h 用的正是 f + g ≤ 2h。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题10：成立，而且与题9 是同一个结论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010602"/>
            <a:chOff x="533400" y="1524000"/>
            <a:chExt cx="5951220" cy="1010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010602"/>
            </a:xfrm>
            <a:prstGeom prst="roundRect">
              <a:avLst>
                <a:gd name="adj" fmla="val 13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43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5817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053" y="1769269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第10题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5907" y="1768792"/>
              <a:ext cx="3920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Θ(f(n)) + Θ(g(n)) = Θ(f(n) + g(n))？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126456"/>
              <a:ext cx="5363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结论：成立。沿用题9 的 c₀ = min{c₁, c₂}、c₀′ = max{c₁′, c₂′}。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734628"/>
            <a:ext cx="5473065" cy="2112931"/>
            <a:chOff x="533400" y="2734628"/>
            <a:chExt cx="5473065" cy="2112931"/>
          </a:xfrm>
        </p:grpSpPr>
        <p:sp>
          <p:nvSpPr>
            <p:cNvPr id="14" name="Rectangle 14"/>
            <p:cNvSpPr/>
            <p:nvPr/>
          </p:nvSpPr>
          <p:spPr>
            <a:xfrm>
              <a:off x="666750" y="287750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7346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808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3851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59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366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10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27689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62764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c₀(f + g) = c₀f + c₀g ≤ c₁f + c₂g ≤ f₁ + f₂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419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713321"/>
              <a:ext cx="3958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+ f₂ ≤ c₁′f + c₂′g ≤ c₀′f + c₀′g = c₀′(f + g)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0709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363879"/>
              <a:ext cx="5060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 c₀(f + g) ≤ f₁ + f₂ ≤ c₀′(f + g)，所以 f₁ + f₂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 Θ(f + g)。证毕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026342"/>
            <a:ext cx="5951220" cy="782955"/>
            <a:chOff x="533400" y="5026342"/>
            <a:chExt cx="5951220" cy="782955"/>
          </a:xfrm>
        </p:grpSpPr>
        <p:sp>
          <p:nvSpPr>
            <p:cNvPr id="28" name="Rectangle 28"/>
            <p:cNvSpPr/>
            <p:nvPr/>
          </p:nvSpPr>
          <p:spPr>
            <a:xfrm>
              <a:off x="533400" y="5026342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317808"/>
              <a:ext cx="200026" cy="200025"/>
              <a:chOff x="738188" y="531780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3178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3622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4733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174932"/>
              <a:ext cx="4958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这里不需要 max 与和之间的换算，上界常数是 c₀′，比题9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 2c₀′ 小一半。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789420" y="1524000"/>
            <a:ext cx="4869180" cy="1795462"/>
            <a:chOff x="6789420" y="1524000"/>
            <a:chExt cx="4869180" cy="1795462"/>
          </a:xfrm>
        </p:grpSpPr>
        <p:sp>
          <p:nvSpPr>
            <p:cNvPr id="35" name="Rectangle 35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3778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99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035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97243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9233" y="2108359"/>
              <a:ext cx="110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Θ(min(f, g))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15525" y="1982152"/>
              <a:ext cx="173355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013823" y="2108359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不成立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97243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79233" y="2556986"/>
              <a:ext cx="115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Θ(max(f, g))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3823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97243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9233" y="3005614"/>
              <a:ext cx="697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Θ(f + g)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13823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89420" y="1524000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46664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90123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8"/>
              <p:cNvSpPr txBox="1">
                <a:spLocks noGrp="1"/>
              </p:cNvSpPr>
              <p:nvPr/>
            </p:nvSpPr>
            <p:spPr>
              <a:xfrm>
                <a:off x="6789420" y="3509962"/>
                <a:ext cx="486918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</m:d>
                        </m:e>
                      </m:func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1" name="c2-card-3"/>
          <p:cNvGrpSpPr/>
          <p:nvPr/>
        </p:nvGrpSpPr>
        <p:grpSpPr>
          <a:xfrm>
            <a:off x="6789420" y="4119562"/>
            <a:ext cx="4869180" cy="1689735"/>
            <a:chOff x="6789420" y="4119562"/>
            <a:chExt cx="4869180" cy="1689735"/>
          </a:xfrm>
        </p:grpSpPr>
        <p:sp>
          <p:nvSpPr>
            <p:cNvPr id="57" name="Rectangle 57"/>
            <p:cNvSpPr/>
            <p:nvPr/>
          </p:nvSpPr>
          <p:spPr>
            <a:xfrm>
              <a:off x="6789420" y="4119562"/>
              <a:ext cx="4869180" cy="1689735"/>
            </a:xfrm>
            <a:prstGeom prst="roundRect">
              <a:avLst>
                <a:gd name="adj" fmla="val 78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98970" y="4329112"/>
              <a:ext cx="1256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6867" y="4364831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题9 与题10 等价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91350" y="4706302"/>
              <a:ext cx="4101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由上式，max{f, g} 与 f + g 同阶，Θ(max(f,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g)) 和 Θ(f + g) 是同一个集合。顺序执行的两段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程序，总时间的阶就是较慢那一段的阶。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32955" cy="909257"/>
            <a:chOff x="520446" y="342900"/>
            <a:chExt cx="57329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88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123" y="407194"/>
              <a:ext cx="2331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 · Ω 与 Θ 的判断题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32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题8~10 数值复核：比值有界才是同阶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276022" cy="1568768"/>
            <a:chOff x="533400" y="1524000"/>
            <a:chExt cx="6276022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取定两个函数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5512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f₁(n) = 3n + 2 ∈ Θ(n)：n ≥ 2 时 3n ≤ f₁ ≤ 4n，c₁ = 3，c₁′ = 4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f₂(n) = n²/2 − n ∈ Θ(n²)：n ≥ 4 时 n²/4 ≤ f₂ ≤ n²/2，c₂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1/4，c₂′ = 1/2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28066" y="3272790"/>
            <a:ext cx="6281356" cy="2401824"/>
            <a:chOff x="528066" y="3272790"/>
            <a:chExt cx="6281356" cy="2401824"/>
          </a:xfrm>
        </p:grpSpPr>
        <p:sp>
          <p:nvSpPr>
            <p:cNvPr id="16" name="Rectangle 16"/>
            <p:cNvSpPr/>
            <p:nvPr/>
          </p:nvSpPr>
          <p:spPr>
            <a:xfrm>
              <a:off x="533400" y="3272790"/>
              <a:ext cx="627602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8343" y="34013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03408" y="3401377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f₁ + f₂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78700" y="3401377"/>
              <a:ext cx="470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÷ max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82127" y="3401377"/>
              <a:ext cx="724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÷ (f + g)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0231" y="3401377"/>
              <a:ext cx="427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÷ min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8458" y="38261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5138" y="382619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82276" y="382619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11979" y="382619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0.6545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8194" y="382619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116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12146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5167" y="42500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27440" y="425005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82276" y="425005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11979" y="425005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0.5150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50496" y="42500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52.02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415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01875" y="467487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49741" y="467487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502002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82276" y="467487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11979" y="467487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0.5015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8194" y="467487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663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7109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95167" y="509873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72043" y="509873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50020002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007042" y="4980622"/>
              <a:ext cx="121348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82276" y="509873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11979" y="509873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669280" y="4980622"/>
              <a:ext cx="113061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9345" y="509873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272790"/>
              <a:ext cx="627602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584960" y="327279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992755" y="327279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25290" y="327279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654992" y="327279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8066" y="5469255"/>
              <a:ext cx="3608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 = n，g = n²；max = n²，min = n；比值用脚本逐项计算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7114222" y="1524000"/>
            <a:ext cx="4544378" cy="1840230"/>
            <a:chOff x="7114222" y="1524000"/>
            <a:chExt cx="4544378" cy="1840230"/>
          </a:xfrm>
        </p:grpSpPr>
        <p:sp>
          <p:nvSpPr>
            <p:cNvPr id="56" name="Rectangle 56"/>
            <p:cNvSpPr/>
            <p:nvPr/>
          </p:nvSpPr>
          <p:spPr>
            <a:xfrm>
              <a:off x="7114222" y="1524000"/>
              <a:ext cx="4544378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50442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29881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与证明对照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43204" y="2082641"/>
              <a:ext cx="33597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按题9：c₀ = min{3, 1/4} = 1/4，c₀′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max{4, 1/2} = 4，n₀ = max{2, 4} = 4。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43204" y="2672239"/>
              <a:ext cx="35942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n ≥ 4 时 (1/4)·n² ≤ f₁ + f₂ ≤ 8n²，表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 ÷ max 一列都落在 [1/4, 8] 里。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7114222" y="3544252"/>
            <a:ext cx="4544378" cy="2088832"/>
            <a:chOff x="7114222" y="3544252"/>
            <a:chExt cx="4544378" cy="2088832"/>
          </a:xfrm>
        </p:grpSpPr>
        <p:sp>
          <p:nvSpPr>
            <p:cNvPr id="63" name="Rectangle 63"/>
            <p:cNvSpPr/>
            <p:nvPr/>
          </p:nvSpPr>
          <p:spPr>
            <a:xfrm>
              <a:off x="7114222" y="3544252"/>
              <a:ext cx="4544378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123748" y="3677602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358062" y="38261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14654" y="3765709"/>
              <a:ext cx="35671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max、÷ (f + g) 都趋于 0.5，有界：题9、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题10 成立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58062" y="44157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14654" y="4355306"/>
              <a:ext cx="3407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min 随 n 线性增长，无界：题8 不成立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44347" y="4669155"/>
              <a:ext cx="3799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 来自 f₂ 的首项系数 1/2，f₁ 的阶低，n 越大影响越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1" name="Rectangle 7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511" y="6011704"/>
              <a:ext cx="9629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判断两个函数是否同阶，可以先算几个大 n 处的比值：稳定在一个正数附近就是同阶，一直变大或趋于 0 就不是。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自测：把本次作业的套路用到新题上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68768"/>
            <a:chOff x="533400" y="1524000"/>
            <a:chExt cx="5410200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3970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3n² − 5n + 7 = O(n²)，写出一组 c、n₀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400776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3，n₀ = 2：n ≥ 2 时 −5n + 7 &lt; 0，所以 f(n) 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3n²（f(n) 恒正）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72790"/>
            <a:ext cx="5410200" cy="1297305"/>
            <a:chOff x="533400" y="3272790"/>
            <a:chExt cx="5410200" cy="1297305"/>
          </a:xfrm>
        </p:grpSpPr>
        <p:sp>
          <p:nvSpPr>
            <p:cNvPr id="13" name="Rectangle 13"/>
            <p:cNvSpPr/>
            <p:nvPr/>
          </p:nvSpPr>
          <p:spPr>
            <a:xfrm>
              <a:off x="533400" y="327279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3831431"/>
              <a:ext cx="3616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O(f) + O(g) = O(min(f, g)) 成立吗？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149566"/>
              <a:ext cx="36604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不成立：f = n、g = 1 时 n + 1 ∉ O(1)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50118"/>
            <a:ext cx="5410200" cy="1568768"/>
            <a:chOff x="533400" y="4750118"/>
            <a:chExt cx="5410200" cy="1568768"/>
          </a:xfrm>
        </p:grpSpPr>
        <p:sp>
          <p:nvSpPr>
            <p:cNvPr id="19" name="Rectangle 19"/>
            <p:cNvSpPr/>
            <p:nvPr/>
          </p:nvSpPr>
          <p:spPr>
            <a:xfrm>
              <a:off x="533400" y="475011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494823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468" y="49825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5309711"/>
              <a:ext cx="27921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Θ(n²) + Θ(n log n) 等于什么？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281" y="5626894"/>
              <a:ext cx="2437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Θ(n²)：按题9 取较大者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568768"/>
            <a:chOff x="6248400" y="1524000"/>
            <a:chExt cx="5410200" cy="156876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2082641"/>
              <a:ext cx="1409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n² ≠ O(n)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2400776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n² ≤ cn 得 n ≤ c，取 n = max{n₀, ⌈c⌉} + 1 即矛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盾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272790"/>
            <a:ext cx="5410200" cy="1297305"/>
            <a:chOff x="6248400" y="3272790"/>
            <a:chExt cx="5410200" cy="1297305"/>
          </a:xfrm>
        </p:grpSpPr>
        <p:sp>
          <p:nvSpPr>
            <p:cNvPr id="31" name="Rectangle 31"/>
            <p:cNvSpPr/>
            <p:nvPr/>
          </p:nvSpPr>
          <p:spPr>
            <a:xfrm>
              <a:off x="6248400" y="327279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6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5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9281" y="3831431"/>
              <a:ext cx="276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O(n·f(n)) = O(f(n)) 对吗？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9281" y="4149566"/>
              <a:ext cx="3632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不对：n 不是常数，f = 1 时 n ∉ O(1)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750118"/>
            <a:ext cx="5410200" cy="1568768"/>
            <a:chOff x="6248400" y="4750118"/>
            <a:chExt cx="5410200" cy="1568768"/>
          </a:xfrm>
        </p:grpSpPr>
        <p:sp>
          <p:nvSpPr>
            <p:cNvPr id="37" name="Rectangle 37"/>
            <p:cNvSpPr/>
            <p:nvPr/>
          </p:nvSpPr>
          <p:spPr>
            <a:xfrm>
              <a:off x="6248400" y="475011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6520" y="494823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5468" y="49825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9281" y="5309711"/>
              <a:ext cx="2751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Ω(f) + Ω(g) 最紧能写成什么？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9281" y="562689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Ω(max(f, g))：f₁ + f₂ ≥ min{c₁, c₂}(f + g) ≥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min{c₁, c₂}·max{f, g}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93184" cy="909257"/>
            <a:chOff x="520446" y="342900"/>
            <a:chExt cx="4993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93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小结：10 题的结论、方法与更正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5842635" cy="3141346"/>
            <a:chOff x="533400" y="1524000"/>
            <a:chExt cx="5842635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444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85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9375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84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6578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93823" y="2108359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作差或放大，给出 c、n₀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6578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3823" y="2556986"/>
              <a:ext cx="322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反证：化成 n ≤ c₀，取 n₁ &gt; max{n₀, c₀}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384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76578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3823" y="3005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任取左边函数，常数相乘或并入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384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6578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93823" y="3454241"/>
              <a:ext cx="2824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往小里缩；题6 更紧的下界是 Ω(g)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78280" y="3777615"/>
              <a:ext cx="79914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76578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93823" y="3903821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 f = n、g = 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352449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9、10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76578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93823" y="4352449"/>
              <a:ext cx="2580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max{f, g} ≤ f + g ≤ 2max{f, g}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84263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46399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8123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2"/>
          <p:cNvGrpSpPr/>
          <p:nvPr/>
        </p:nvGrpSpPr>
        <p:grpSpPr>
          <a:xfrm>
            <a:off x="533400" y="4855845"/>
            <a:ext cx="5842635" cy="782955"/>
            <a:chOff x="533400" y="4855845"/>
            <a:chExt cx="5842635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485584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147312"/>
              <a:ext cx="200023" cy="200023"/>
              <a:chOff x="738188" y="5147312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1473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52139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004435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集合式从左往右读；每个定义的 n 取最大值；常数必须写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出具体表达式。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680835" y="1524000"/>
            <a:ext cx="4977765" cy="2223135"/>
            <a:chOff x="6680835" y="1524000"/>
            <a:chExt cx="4977765" cy="2223135"/>
          </a:xfrm>
        </p:grpSpPr>
        <p:sp>
          <p:nvSpPr>
            <p:cNvPr id="48" name="Rectangle 48"/>
            <p:cNvSpPr/>
            <p:nvPr/>
          </p:nvSpPr>
          <p:spPr>
            <a:xfrm>
              <a:off x="6680835" y="1524000"/>
              <a:ext cx="497776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28485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033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29475" y="2110740"/>
              <a:ext cx="3368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题3：原讲解写 f₂(n) ≤ c₂×f(n)，应为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c₂×g(n)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28485" y="27184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033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9475" y="2731770"/>
              <a:ext cx="3891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题5：n₁ 改取 max{n₀, ⌈c₀⌉} + 1 以保证是整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数；由 n₁³ ≤ c₀n₁² 推出的是 n₁ ≤ c₀（原写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c₀）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680835" y="3937635"/>
            <a:ext cx="4977765" cy="1701165"/>
            <a:chOff x="6680835" y="3937635"/>
            <a:chExt cx="4977765" cy="1701165"/>
          </a:xfrm>
        </p:grpSpPr>
        <p:sp>
          <p:nvSpPr>
            <p:cNvPr id="59" name="Rectangle 59"/>
            <p:cNvSpPr/>
            <p:nvPr/>
          </p:nvSpPr>
          <p:spPr>
            <a:xfrm>
              <a:off x="6680835" y="3937635"/>
              <a:ext cx="497776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407098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28485" y="41471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19646" y="4182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934200" y="45872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92315" y="4524375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题1：补上作差分解 (n − 1)(n − 10) 的验证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34200" y="49225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92315" y="4859655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题4、7：补上反方向，两边是同一个集合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934200" y="52578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2315" y="5194935"/>
              <a:ext cx="4398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题6：条件 g = Ω(f) 可去掉；更紧的下界是 Ω(g)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 作业讲解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hw2">
  <a:themeElements>
    <a:clrScheme name="algo_hw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hw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hw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2026-09-23T09:31:20Z</dcterms:created>
  <dcterms:modified xsi:type="dcterms:W3CDTF">2026-09-23T09:31:20Z</dcterms:modified>
  <cp:category/>
  <cp:contentStatus/>
</cp:coreProperties>
</file>