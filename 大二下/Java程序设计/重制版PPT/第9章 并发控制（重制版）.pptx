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ac195d79fa1d55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7cfaa51f802908b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9d9459fbee9d2fd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9159" t="0" r="9159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第9章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并发控制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多个线程同时干活，怎样共享数据又不出错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进程、线程与内存模型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创建线程的两种方式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synchronized 与 wait/notify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4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Lock、Condition 与死锁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自学复习版｜据吉林大学《Java程序设计》第9章课件整理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628482"/>
            <a:chOff x="521970" y="1515428"/>
            <a:chExt cx="6287453" cy="4628482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69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多任务系统、进程与线程、CPU 核心、串行并发并行、多线程的作用、线程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之间共享哪些内存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线程创建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369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Thread 类的常用方法、继承 Thread 与实现 Runnable、run 与 start、线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程状态、优先级与 Daemon 线程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线程之间的协作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442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部分更新与读写不一致、synchronized 同步区域、wait/notify、生产者消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费者、同步注意事项、死锁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43007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5348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5710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扩展锁机制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887754"/>
              <a:ext cx="54018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synchronized 的不足、ReentrantLock 的标准写法、用 Condition 重写有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界缓冲区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543687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5416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57784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两轮自测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894546"/>
              <a:ext cx="4734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道题，一页概念辨析、一页读程序判断结果，答案紧跟题目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570095"/>
            <a:chOff x="7114222" y="1524000"/>
            <a:chExt cx="4544378" cy="457009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57009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3033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分清进程与线程，说出线程之间共享堆、各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自独占栈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会用两种方式创建并启动线程，能解释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与 start() 的区别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看到一段共享变量的代码，能指出竞争条件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并用 synchronized 修复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339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会用 while + wait/notifyAll 或 Lock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Condition 写生产者消费者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能列出死锁的四个必要条件，并用固定加锁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顺序避免死锁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571238" cy="2643187"/>
            <a:chOff x="667512" y="1835468"/>
            <a:chExt cx="457123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从多任务操作系统讲到线程之间共享的内存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331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进程是资源分配的单位，线程是 CPU 调度的单位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同一进程的线程共享堆，各自有独立的栈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多任务操作系统：同一时间运行多个应用程序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21155"/>
            <a:chOff x="533400" y="1524000"/>
            <a:chExt cx="5626418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578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操作系统（Operating System，OS）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管理和控制计算机硬件与软件资源的计算机程序，是直接运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行在「裸机」上的最基本的系统软件，任何其他软件都必须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在操作系统的支持下才能运行。</a:t>
              </a:r>
            </a:p>
          </p:txBody>
        </p:sp>
      </p:grpSp>
      <p:grpSp>
        <p:nvGrpSpPr>
          <p:cNvPr id="29" name="c1-compare-2"/>
          <p:cNvGrpSpPr/>
          <p:nvPr/>
        </p:nvGrpSpPr>
        <p:grpSpPr>
          <a:xfrm>
            <a:off x="533400" y="3335655"/>
            <a:ext cx="5627370" cy="2796540"/>
            <a:chOff x="533400" y="3335655"/>
            <a:chExt cx="5627370" cy="2796540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2604135" cy="2796540"/>
            </a:xfrm>
            <a:prstGeom prst="roundRect">
              <a:avLst>
                <a:gd name="adj" fmla="val 512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5330" y="35699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单任务操作系统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39871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924300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一个用户在同一时间只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能运行一个应用程序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46081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4545330"/>
              <a:ext cx="1483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例：早期的 DOS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56635" y="3335655"/>
              <a:ext cx="2604135" cy="2796540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66160" y="3469005"/>
              <a:ext cx="47625" cy="2529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96665" y="35699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多任务操作系统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10000" y="39871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68115" y="3924300"/>
              <a:ext cx="1729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用户在同一时间可以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运行多个应用程序，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每个应用程序称作一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个任务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10000" y="5179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68115" y="5116830"/>
              <a:ext cx="1472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例：Windows、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Linux、macOS、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185160" y="45720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55500" y="46682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6597968" y="1702118"/>
            <a:ext cx="4927282" cy="2025014"/>
            <a:chOff x="6597968" y="1702118"/>
            <a:chExt cx="4927282" cy="2025014"/>
          </a:xfrm>
        </p:grpSpPr>
        <p:sp>
          <p:nvSpPr>
            <p:cNvPr id="30" name="Freeform 30"/>
            <p:cNvSpPr/>
            <p:nvPr/>
          </p:nvSpPr>
          <p:spPr>
            <a:xfrm>
              <a:off x="7330440" y="2245042"/>
              <a:ext cx="1731645" cy="250508"/>
            </a:xfrm>
            <a:custGeom>
              <a:avLst/>
              <a:gdLst/>
              <a:ahLst/>
              <a:cxnLst/>
              <a:rect l="l" t="t" r="r" b="b"/>
              <a:pathLst>
                <a:path w="1731645" h="250508">
                  <a:moveTo>
                    <a:pt x="0" y="250508"/>
                  </a:moveTo>
                  <a:lnTo>
                    <a:pt x="0" y="72390"/>
                  </a:lnTo>
                  <a:lnTo>
                    <a:pt x="1731645" y="72390"/>
                  </a:lnTo>
                  <a:lnTo>
                    <a:pt x="1731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09698" y="21402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062912" y="27146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224838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330440" y="2933700"/>
              <a:ext cx="1731645" cy="250508"/>
            </a:xfrm>
            <a:custGeom>
              <a:avLst/>
              <a:gdLst/>
              <a:ahLst/>
              <a:cxnLst/>
              <a:rect l="l" t="t" r="r" b="b"/>
              <a:pathLst>
                <a:path w="1731645" h="250508">
                  <a:moveTo>
                    <a:pt x="0" y="0"/>
                  </a:moveTo>
                  <a:lnTo>
                    <a:pt x="0" y="178117"/>
                  </a:lnTo>
                  <a:lnTo>
                    <a:pt x="1731645" y="178117"/>
                  </a:lnTo>
                  <a:lnTo>
                    <a:pt x="1731645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09698" y="31842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2085" y="2140268"/>
              <a:ext cx="1730692" cy="75248"/>
            </a:xfrm>
            <a:custGeom>
              <a:avLst/>
              <a:gdLst/>
              <a:ahLst/>
              <a:cxnLst/>
              <a:rect l="l" t="t" r="r" b="b"/>
              <a:pathLst>
                <a:path w="1730692" h="75248">
                  <a:moveTo>
                    <a:pt x="0" y="0"/>
                  </a:moveTo>
                  <a:lnTo>
                    <a:pt x="0" y="75248"/>
                  </a:lnTo>
                  <a:lnTo>
                    <a:pt x="1730692" y="75248"/>
                  </a:lnTo>
                  <a:lnTo>
                    <a:pt x="1730692" y="457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740390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793605" y="27146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955530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062085" y="3213735"/>
              <a:ext cx="1730692" cy="75248"/>
            </a:xfrm>
            <a:custGeom>
              <a:avLst/>
              <a:gdLst/>
              <a:ahLst/>
              <a:cxnLst/>
              <a:rect l="l" t="t" r="r" b="b"/>
              <a:pathLst>
                <a:path w="1730692" h="75248">
                  <a:moveTo>
                    <a:pt x="0" y="75248"/>
                  </a:moveTo>
                  <a:lnTo>
                    <a:pt x="0" y="0"/>
                  </a:lnTo>
                  <a:lnTo>
                    <a:pt x="1730692" y="0"/>
                  </a:lnTo>
                  <a:lnTo>
                    <a:pt x="1730692" y="295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740390" y="3138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597968" y="2495550"/>
              <a:ext cx="1464945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329612" y="1702118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329612" y="249555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329612" y="3288982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60305" y="2290762"/>
              <a:ext cx="1464945" cy="847725"/>
            </a:xfrm>
            <a:prstGeom prst="roundRect">
              <a:avLst>
                <a:gd name="adj" fmla="val 11236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7022" y="26255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用户同时在做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3294" y="18321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听歌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97138" y="26255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写文档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10981" y="34189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运行程序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02684" y="2406491"/>
              <a:ext cx="980186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多任务系统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 CPU、内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存、磁盘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4095750"/>
            <a:ext cx="5193982" cy="2036445"/>
            <a:chOff x="6464618" y="4095750"/>
            <a:chExt cx="5193982" cy="2036445"/>
          </a:xfrm>
        </p:grpSpPr>
        <p:sp>
          <p:nvSpPr>
            <p:cNvPr id="53" name="Rectangle 53"/>
            <p:cNvSpPr/>
            <p:nvPr/>
          </p:nvSpPr>
          <p:spPr>
            <a:xfrm>
              <a:off x="6464618" y="4095750"/>
              <a:ext cx="5193982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422910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12268" y="430530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90626" y="43410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动手看一看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0015" y="434054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任务管理器里的进程列表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4648" y="4701540"/>
              <a:ext cx="4539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 页截的是 Windows 任务管理器：浏览器、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资源管理器、WPS 同时在跑，每一行是一个进程，还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列出各自占用的 CPU、内存、磁盘和网络。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进程与线程：一个程序可以有多条执行路线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5417439" cy="1925574"/>
            <a:chOff x="526161" y="1547336"/>
            <a:chExt cx="5417439" cy="1925574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2297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进程 process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33004" y="1547336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正在运行的程序实例。操作系统按进程分配内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存、文件等资源，进程之间的内存互相隔离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212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236946"/>
              <a:ext cx="11193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线程 thread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3004" y="2236946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进程内部的一条执行路线，有自己的程序计数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器和栈，是 CPU 调度的基本单位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10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9265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3004" y="2926556"/>
              <a:ext cx="371144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一个进程至少有一个线程（Java 程序启动时就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main 线程），也可以有多个线程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602355"/>
            <a:ext cx="5410200" cy="2150745"/>
            <a:chOff x="533400" y="3602355"/>
            <a:chExt cx="5410200" cy="2150745"/>
          </a:xfrm>
        </p:grpSpPr>
        <p:sp>
          <p:nvSpPr>
            <p:cNvPr id="16" name="Rectangle 16"/>
            <p:cNvSpPr/>
            <p:nvPr/>
          </p:nvSpPr>
          <p:spPr>
            <a:xfrm>
              <a:off x="533400" y="3602355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4593" y="37338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91765" y="3733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8213" y="3733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46" y="416337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7004" y="416337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各有独立地址空间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3452" y="416337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共享所属进程的内存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57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46246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59390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创建与切换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7004" y="459390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3452" y="459390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882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50244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37004" y="502443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需要管道、套接字等机制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93452" y="502443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直接读写共享变量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3178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32257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54540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一个出错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37004" y="545401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一般不影响别的进程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93452" y="545401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可能拖垮整个进程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602355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26895" y="36023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883342" y="36023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graph-1"/>
          <p:cNvGrpSpPr/>
          <p:nvPr/>
        </p:nvGrpSpPr>
        <p:grpSpPr>
          <a:xfrm>
            <a:off x="6559868" y="1821180"/>
            <a:ext cx="4787264" cy="2714625"/>
            <a:chOff x="6559868" y="1821180"/>
            <a:chExt cx="4787264" cy="2714625"/>
          </a:xfrm>
        </p:grpSpPr>
        <p:sp>
          <p:nvSpPr>
            <p:cNvPr id="41" name="Freeform 41"/>
            <p:cNvSpPr/>
            <p:nvPr/>
          </p:nvSpPr>
          <p:spPr>
            <a:xfrm>
              <a:off x="7506652" y="2357438"/>
              <a:ext cx="976312" cy="666750"/>
            </a:xfrm>
            <a:custGeom>
              <a:avLst/>
              <a:gdLst/>
              <a:ahLst/>
              <a:cxnLst/>
              <a:rect l="l" t="t" r="r" b="b"/>
              <a:pathLst>
                <a:path w="976312" h="666750">
                  <a:moveTo>
                    <a:pt x="0" y="0"/>
                  </a:moveTo>
                  <a:lnTo>
                    <a:pt x="976312" y="6667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455342" y="2985135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105727" y="93345"/>
                  </a:moveTo>
                  <a:lnTo>
                    <a:pt x="0" y="78105"/>
                  </a:lnTo>
                  <a:lnTo>
                    <a:pt x="542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953500" y="2357438"/>
              <a:ext cx="9525" cy="625792"/>
            </a:xfrm>
            <a:custGeom>
              <a:avLst/>
              <a:gdLst/>
              <a:ahLst/>
              <a:cxnLst/>
              <a:rect l="l" t="t" r="r" b="b"/>
              <a:pathLst>
                <a:path w="9525" h="625792">
                  <a:moveTo>
                    <a:pt x="0" y="0"/>
                  </a:moveTo>
                  <a:lnTo>
                    <a:pt x="0" y="6257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905875" y="29832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424035" y="2357438"/>
              <a:ext cx="976313" cy="666750"/>
            </a:xfrm>
            <a:custGeom>
              <a:avLst/>
              <a:gdLst/>
              <a:ahLst/>
              <a:cxnLst/>
              <a:rect l="l" t="t" r="r" b="b"/>
              <a:pathLst>
                <a:path w="976313" h="666750">
                  <a:moveTo>
                    <a:pt x="976313" y="0"/>
                  </a:moveTo>
                  <a:lnTo>
                    <a:pt x="0" y="6667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345930" y="2985135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0" y="93345"/>
                  </a:moveTo>
                  <a:lnTo>
                    <a:pt x="51435" y="0"/>
                  </a:lnTo>
                  <a:lnTo>
                    <a:pt x="105727" y="781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559868" y="1821180"/>
              <a:ext cx="1108710" cy="536258"/>
            </a:xfrm>
            <a:prstGeom prst="roundRect">
              <a:avLst>
                <a:gd name="adj" fmla="val 1776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99145" y="1821180"/>
              <a:ext cx="1108710" cy="536258"/>
            </a:xfrm>
            <a:prstGeom prst="roundRect">
              <a:avLst>
                <a:gd name="adj" fmla="val 1776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38422" y="1821180"/>
              <a:ext cx="1108710" cy="536258"/>
            </a:xfrm>
            <a:prstGeom prst="roundRect">
              <a:avLst>
                <a:gd name="adj" fmla="val 1776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06752" y="3078480"/>
              <a:ext cx="1293495" cy="536258"/>
            </a:xfrm>
            <a:prstGeom prst="roundRect">
              <a:avLst>
                <a:gd name="adj" fmla="val 17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25640" y="4166235"/>
              <a:ext cx="609600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07680" y="4166235"/>
              <a:ext cx="609600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89720" y="4166235"/>
              <a:ext cx="609600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71760" y="4166235"/>
              <a:ext cx="609600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21127" y="1919288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65810" y="21097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单线程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60404" y="1919288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24316" y="21097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03042" y="1919288"/>
              <a:ext cx="5794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63593" y="21097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三个线程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11118" y="317563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 CPU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24316" y="3366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轮流执行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71483" y="427672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53523" y="427672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35563" y="427672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17603" y="427672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70420" y="378142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多核时，不同线程可以分到不同核上真正同时运行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248400" y="4851082"/>
            <a:ext cx="5410200" cy="902018"/>
            <a:chOff x="6248400" y="4851082"/>
            <a:chExt cx="5410200" cy="902018"/>
          </a:xfrm>
        </p:grpSpPr>
        <p:sp>
          <p:nvSpPr>
            <p:cNvPr id="69" name="Rectangle 69"/>
            <p:cNvSpPr/>
            <p:nvPr/>
          </p:nvSpPr>
          <p:spPr>
            <a:xfrm>
              <a:off x="6248400" y="4851082"/>
              <a:ext cx="5410200" cy="902018"/>
            </a:xfrm>
            <a:prstGeom prst="roundRect">
              <a:avLst>
                <a:gd name="adj" fmla="val 1267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453188" y="5201603"/>
              <a:ext cx="200026" cy="200026"/>
              <a:chOff x="6453188" y="5201603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52016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53200" y="52682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42088" y="53016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755511" y="5071586"/>
              <a:ext cx="433362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8、9、13 页用三幅图表达同一件事：线程是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上被调度的单位，核越多，能同时跑的线程越多。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与核心：物理核、逻辑核分别是什么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951220" cy="2661285"/>
            <a:chOff x="533400" y="1524000"/>
            <a:chExt cx="5951220" cy="2661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109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6828" y="2023110"/>
              <a:ext cx="437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物理核数量 = CPU 个数（主板上装的 CPU 数量）× 每个 CPU 的核心数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95122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97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虚拟核（逻辑核）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56828" y="2404110"/>
              <a:ext cx="40111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超线程技术让一个物理核模拟两个逻辑核。常说的「4 核 8 线程」指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个物理核、8 个逻辑核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971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操作系统看到的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56828" y="29718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个核（逻辑核），实际上只有 4 个物理核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18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超线程的效果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56828" y="335375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单个物理核可以实现线程级别的并行计算，但性能比不上两个物理核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128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8280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单核与多核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56828" y="3734752"/>
              <a:ext cx="407117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都是一个 CPU，不同的是每个 CPU 上的核心数。多核 CPU 替代多个单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CPU，体积更小、功耗更低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951220" cy="2661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57388" y="1524000"/>
              <a:ext cx="9525" cy="2661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4350068"/>
            <a:ext cx="5951220" cy="1555432"/>
            <a:chOff x="533400" y="4350068"/>
            <a:chExt cx="5951220" cy="1555432"/>
          </a:xfrm>
        </p:grpSpPr>
        <p:sp>
          <p:nvSpPr>
            <p:cNvPr id="29" name="Rectangle 29"/>
            <p:cNvSpPr/>
            <p:nvPr/>
          </p:nvSpPr>
          <p:spPr>
            <a:xfrm>
              <a:off x="533400" y="4350068"/>
              <a:ext cx="5951220" cy="1555432"/>
            </a:xfrm>
            <a:prstGeom prst="roundRect">
              <a:avLst>
                <a:gd name="adj" fmla="val 8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483418"/>
              <a:ext cx="47625" cy="12887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53104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044" y="45639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查看本机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2475" y="4850130"/>
              <a:ext cx="555117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0872" y="50020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0872" y="5263039"/>
              <a:ext cx="3501009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Runtime.getRuntime().availableProcessors();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System.out.println(n);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返回的是逻辑核数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789420" y="1524000"/>
            <a:ext cx="4869180" cy="1687830"/>
            <a:chOff x="6789420" y="1524000"/>
            <a:chExt cx="4869180" cy="1687830"/>
          </a:xfrm>
        </p:grpSpPr>
        <p:sp>
          <p:nvSpPr>
            <p:cNvPr id="37" name="Rectangle 37"/>
            <p:cNvSpPr/>
            <p:nvPr/>
          </p:nvSpPr>
          <p:spPr>
            <a:xfrm>
              <a:off x="6789420" y="1524000"/>
              <a:ext cx="486918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98945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0849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0116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74470" y="174450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「一个核心只能同时执行一个线程」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02018" y="206168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 页最后一条这样写，和同页「4 核 8 线程」一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条矛盾：开了超线程的物理核同一时刻可以执行两个线程。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02018" y="258937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准确说法：一个逻辑核（硬件线程）同一时刻只执行一个线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789420" y="3376612"/>
            <a:ext cx="4869180" cy="2528888"/>
            <a:chOff x="6789420" y="3376612"/>
            <a:chExt cx="4869180" cy="2528888"/>
          </a:xfrm>
        </p:grpSpPr>
        <p:sp>
          <p:nvSpPr>
            <p:cNvPr id="45" name="Rectangle 45"/>
            <p:cNvSpPr/>
            <p:nvPr/>
          </p:nvSpPr>
          <p:spPr>
            <a:xfrm>
              <a:off x="6789420" y="3376612"/>
              <a:ext cx="4869180" cy="2528888"/>
            </a:xfrm>
            <a:prstGeom prst="roundRect">
              <a:avLst>
                <a:gd name="adj" fmla="val 527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70395" y="355758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47814" y="3590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和本章的关系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34528" y="359806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核数决定能真正同时跑几个线程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63918" y="3914299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线程数多于逻辑核数时，多出来的线程只能轮流使用 CPU，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这就是下一页说的并发。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串行、并发与并行：安检口的比喻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626418" cy="2475548"/>
            <a:chOff x="533400" y="1524000"/>
            <a:chExt cx="5626418" cy="2475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51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5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009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原课件的比喻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41336" y="21083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多个任务一个执行完再执行另一个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502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吃完饭再看球赛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62641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430780"/>
              <a:ext cx="881062" cy="8829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1336" y="2556986"/>
              <a:ext cx="24513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多个线程在单个核心上运行，同一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时间只有一个在跑，系统不停切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换，看起来像同时运行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55020" y="2556986"/>
              <a:ext cx="14759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一会儿跑去食堂吃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饭，一会儿跑去客厅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看球赛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333750"/>
              <a:ext cx="881062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41336" y="3459004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每个线程分配独立的核心，真正同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55020" y="35723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一边吃饭一边看球赛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626418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2875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4243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4190048"/>
            <a:ext cx="5626418" cy="1956435"/>
            <a:chOff x="533400" y="4190048"/>
            <a:chExt cx="5626418" cy="1956435"/>
          </a:xfrm>
        </p:grpSpPr>
        <p:sp>
          <p:nvSpPr>
            <p:cNvPr id="29" name="Rectangle 29"/>
            <p:cNvSpPr/>
            <p:nvPr/>
          </p:nvSpPr>
          <p:spPr>
            <a:xfrm>
              <a:off x="533400" y="4190048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323398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39959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7308" y="44353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安检口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24000" y="4434840"/>
              <a:ext cx="1789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12 页的图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3430" y="4795838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上图：红、蓝两队排进同一个安检口，「一次只能通过一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个」，出口处红蓝交错。这是并发。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3430" y="541686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下图：红队、蓝队各有一个安检口，两队同时通过。这是并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6719367" y="1524000"/>
            <a:ext cx="4685436" cy="3614262"/>
            <a:chOff x="6719367" y="1524000"/>
            <a:chExt cx="4685436" cy="3614262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15" t="0" r="15" b="0"/>
            <a:stretch>
              <a:fillRect/>
            </a:stretch>
          </p:blipFill>
          <p:spPr>
            <a:xfrm>
              <a:off x="6861810" y="1524000"/>
              <a:ext cx="4399598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719367" y="4918234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左：两队合成一队过同一道门（并发）；右：两队各过一道门（并行）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464618" y="5303520"/>
            <a:ext cx="5193982" cy="1059180"/>
            <a:chOff x="6464618" y="5303520"/>
            <a:chExt cx="5193982" cy="1059180"/>
          </a:xfrm>
        </p:grpSpPr>
        <p:sp>
          <p:nvSpPr>
            <p:cNvPr id="40" name="Rectangle 40"/>
            <p:cNvSpPr/>
            <p:nvPr/>
          </p:nvSpPr>
          <p:spPr>
            <a:xfrm>
              <a:off x="6464618" y="530352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69405" y="5733098"/>
              <a:ext cx="200026" cy="200026"/>
              <a:chOff x="6669405" y="573309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9405" y="5733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69418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58305" y="5833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971348" y="545211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并发讲的是「同一段时间里都有进展」，并行讲的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是「同一时刻都在执行」。多核机器上两者常同时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5549" cy="909257"/>
            <a:chOff x="520446" y="342900"/>
            <a:chExt cx="67755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55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为什么要用多线程，Java 又怎样实现多线程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8066" y="1524000"/>
            <a:ext cx="5415534" cy="2508504"/>
            <a:chOff x="528066" y="1524000"/>
            <a:chExt cx="5415534" cy="25085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03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554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1158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 UI 响应速度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1275" y="205406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下载放到后台线程，窗口照样能拖动、点按钮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提高硬件资源的利用效率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1275" y="2459831"/>
              <a:ext cx="2631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 CPU 上把计算拆给几个线程同时做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隔离高速硬件和低速硬件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1275" y="2865596"/>
              <a:ext cx="3186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一个线程等磁盘或网络时，别的线程继续用 CPU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3713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提供程序上的抽象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81275" y="3271361"/>
              <a:ext cx="2998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服务器为每个请求开一个线程，每段代码只管一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个客户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7650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8066" y="3827145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14 页列出四条作用，例子为补充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4166235"/>
            <a:ext cx="5410200" cy="1831658"/>
            <a:chOff x="533400" y="4166235"/>
            <a:chExt cx="5410200" cy="1831658"/>
          </a:xfrm>
        </p:grpSpPr>
        <p:sp>
          <p:nvSpPr>
            <p:cNvPr id="27" name="Rectangle 27"/>
            <p:cNvSpPr/>
            <p:nvPr/>
          </p:nvSpPr>
          <p:spPr>
            <a:xfrm>
              <a:off x="533400" y="4166235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29958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43586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5345" y="43929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7597" y="43986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线程也不是越多越好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478917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473297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线程切换要保存和恢复现场，线程远多于核数时切换开销变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534828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5292090"/>
              <a:ext cx="3813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每个平台线程都有自己的栈，默认约 1 MB 量级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565118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559498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共享数据要加锁，写错了会出现本章后面讲的丢更新和死锁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7957185" y="1571625"/>
            <a:ext cx="1993582" cy="1378267"/>
            <a:chOff x="7957185" y="1571625"/>
            <a:chExt cx="1993582" cy="1378267"/>
          </a:xfrm>
        </p:grpSpPr>
        <p:sp>
          <p:nvSpPr>
            <p:cNvPr id="39" name="Freeform 39"/>
            <p:cNvSpPr/>
            <p:nvPr/>
          </p:nvSpPr>
          <p:spPr>
            <a:xfrm>
              <a:off x="8953500" y="1918335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05875" y="19926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53500" y="2434590"/>
              <a:ext cx="9525" cy="73343"/>
            </a:xfrm>
            <a:custGeom>
              <a:avLst/>
              <a:gdLst/>
              <a:ahLst/>
              <a:cxnLst/>
              <a:rect l="l" t="t" r="r" b="b"/>
              <a:pathLst>
                <a:path w="9525" h="73343">
                  <a:moveTo>
                    <a:pt x="0" y="0"/>
                  </a:moveTo>
                  <a:lnTo>
                    <a:pt x="0" y="733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05875" y="25079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957185" y="1571625"/>
              <a:ext cx="1993582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957185" y="2087880"/>
              <a:ext cx="19935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957185" y="2603182"/>
              <a:ext cx="19935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19383" y="1674971"/>
              <a:ext cx="1468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多线程编程模型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20932" y="2191226"/>
              <a:ext cx="865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虚拟机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43139" y="270652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宿主系统的多任务管理模块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86800" y="243268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06422" y="24650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委派实现</a:t>
              </a:r>
            </a:p>
          </p:txBody>
        </p:sp>
      </p:grpSp>
      <p:grpSp>
        <p:nvGrpSpPr>
          <p:cNvPr id="58" name="c2-bullets-2"/>
          <p:cNvGrpSpPr/>
          <p:nvPr/>
        </p:nvGrpSpPr>
        <p:grpSpPr>
          <a:xfrm>
            <a:off x="6257925" y="3191351"/>
            <a:ext cx="3565398" cy="764858"/>
            <a:chOff x="6257925" y="3191351"/>
            <a:chExt cx="3565398" cy="764858"/>
          </a:xfrm>
        </p:grpSpPr>
        <p:sp>
          <p:nvSpPr>
            <p:cNvPr id="52" name="Ellipse 52"/>
            <p:cNvSpPr/>
            <p:nvPr/>
          </p:nvSpPr>
          <p:spPr>
            <a:xfrm>
              <a:off x="6257925" y="323373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14135" y="3191351"/>
              <a:ext cx="2052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要求宿主系统支持多线程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57925" y="350615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4135" y="3463766"/>
              <a:ext cx="3409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在各个宿主系统上使用同样的多线程编程模型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257925" y="377856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14135" y="373618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具体的实现委派给了宿主系统的多任务管理模块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6248400" y="4086225"/>
            <a:ext cx="5410200" cy="1911668"/>
            <a:chOff x="6248400" y="4086225"/>
            <a:chExt cx="5410200" cy="1911668"/>
          </a:xfrm>
        </p:grpSpPr>
        <p:sp>
          <p:nvSpPr>
            <p:cNvPr id="59" name="Rectangle 59"/>
            <p:cNvSpPr/>
            <p:nvPr/>
          </p:nvSpPr>
          <p:spPr>
            <a:xfrm>
              <a:off x="6248400" y="4086225"/>
              <a:ext cx="5410200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219575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8905" y="427863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2344" y="43129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版本补充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29297" y="4318635"/>
              <a:ext cx="1597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21 的虚拟线程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2047" y="4652962"/>
              <a:ext cx="47800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上面三条说的是平台线程：一个 Java 线程对应一个操作系统线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程。JDK 21 正式加入虚拟线程（JEP 444），由 JVM 自己调度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到少量平台线程上运行，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Thread.ofVirtual().start(r)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即可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创建。本章其余内容对两种线程都适用。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多线程内存模型：栈各自独有，堆大家共享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896302" y="1635919"/>
            <a:ext cx="4468178" cy="2185511"/>
            <a:chOff x="896302" y="1635919"/>
            <a:chExt cx="4468178" cy="2185511"/>
          </a:xfrm>
        </p:grpSpPr>
        <p:sp>
          <p:nvSpPr>
            <p:cNvPr id="7" name="Freeform 7"/>
            <p:cNvSpPr/>
            <p:nvPr/>
          </p:nvSpPr>
          <p:spPr>
            <a:xfrm>
              <a:off x="1832610" y="2953702"/>
              <a:ext cx="725805" cy="9525"/>
            </a:xfrm>
            <a:custGeom>
              <a:avLst/>
              <a:gdLst/>
              <a:ahLst/>
              <a:cxnLst/>
              <a:rect l="l" t="t" r="r" b="b"/>
              <a:pathLst>
                <a:path w="725805" h="9525">
                  <a:moveTo>
                    <a:pt x="0" y="0"/>
                  </a:moveTo>
                  <a:lnTo>
                    <a:pt x="7258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558415" y="29060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95700" y="2416492"/>
              <a:ext cx="785812" cy="313373"/>
            </a:xfrm>
            <a:custGeom>
              <a:avLst/>
              <a:gdLst/>
              <a:ahLst/>
              <a:cxnLst/>
              <a:rect l="l" t="t" r="r" b="b"/>
              <a:pathLst>
                <a:path w="785812" h="313373">
                  <a:moveTo>
                    <a:pt x="785812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607118" y="268509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80010"/>
                  </a:moveTo>
                  <a:lnTo>
                    <a:pt x="70485" y="0"/>
                  </a:lnTo>
                  <a:lnTo>
                    <a:pt x="105728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96302" y="2087880"/>
              <a:ext cx="936308" cy="329565"/>
            </a:xfrm>
            <a:prstGeom prst="roundRect">
              <a:avLst>
                <a:gd name="adj" fmla="val 2890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96302" y="2789872"/>
              <a:ext cx="936308" cy="329565"/>
            </a:xfrm>
            <a:prstGeom prst="roundRect">
              <a:avLst>
                <a:gd name="adj" fmla="val 2890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96302" y="3491865"/>
              <a:ext cx="936308" cy="329565"/>
            </a:xfrm>
            <a:prstGeom prst="roundRect">
              <a:avLst>
                <a:gd name="adj" fmla="val 2890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53665" y="2130742"/>
              <a:ext cx="953452" cy="1646872"/>
            </a:xfrm>
            <a:prstGeom prst="roundRect">
              <a:avLst>
                <a:gd name="adj" fmla="val 999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28172" y="2087880"/>
              <a:ext cx="936308" cy="329565"/>
            </a:xfrm>
            <a:prstGeom prst="roundRect">
              <a:avLst>
                <a:gd name="adj" fmla="val 2890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28172" y="2789872"/>
              <a:ext cx="936308" cy="329565"/>
            </a:xfrm>
            <a:prstGeom prst="roundRect">
              <a:avLst>
                <a:gd name="adj" fmla="val 2890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28172" y="3491865"/>
              <a:ext cx="936308" cy="329565"/>
            </a:xfrm>
            <a:prstGeom prst="roundRect">
              <a:avLst>
                <a:gd name="adj" fmla="val 2890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0534" y="1635919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 A 的栈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625" y="2181701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方法A 栈帧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5625" y="2883694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方法B 栈帧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5625" y="3586639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方法C 栈帧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73426" y="2705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47264" y="2883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对象、数组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22651" y="30627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（共享）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92404" y="1635919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 B 的栈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7495" y="2181701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方法B 栈帧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7495" y="2883694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方法C 栈帧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495" y="3586639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方法A 栈帧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090738" y="286797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17217" y="290036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91915" y="2505075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18394" y="25374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</p:grpSp>
      <p:grpSp>
        <p:nvGrpSpPr>
          <p:cNvPr id="37" name="c1-code-2"/>
          <p:cNvGrpSpPr/>
          <p:nvPr/>
        </p:nvGrpSpPr>
        <p:grpSpPr>
          <a:xfrm>
            <a:off x="533400" y="4299585"/>
            <a:ext cx="5193982" cy="1261110"/>
            <a:chOff x="533400" y="4299585"/>
            <a:chExt cx="5193982" cy="1261110"/>
          </a:xfrm>
        </p:grpSpPr>
        <p:sp>
          <p:nvSpPr>
            <p:cNvPr id="34" name="Rectangle 34"/>
            <p:cNvSpPr/>
            <p:nvPr/>
          </p:nvSpPr>
          <p:spPr>
            <a:xfrm>
              <a:off x="533400" y="4299585"/>
              <a:ext cx="5193982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797" y="44515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对照代码看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416" y="4712970"/>
              <a:ext cx="424453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work(Counter counter)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0;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局部变量：在本线程的栈里，别人看不到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counter.x++;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counter 指向堆里的对象：各线程共享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026848" y="1524000"/>
            <a:ext cx="5631752" cy="3114294"/>
            <a:chOff x="6026848" y="1524000"/>
            <a:chExt cx="5631752" cy="3114294"/>
          </a:xfrm>
        </p:grpSpPr>
        <p:sp>
          <p:nvSpPr>
            <p:cNvPr id="38" name="Rectangle 38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8059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运行时数据区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81099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共享还是私有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0069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存放什么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32195" y="2054066"/>
              <a:ext cx="563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 Heap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29538" y="1939290"/>
              <a:ext cx="121920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2002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线程共享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58275" y="205406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出来的对象和数组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2182" y="233553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32195" y="2559844"/>
              <a:ext cx="1482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元数据区 Metaspace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729538" y="2345055"/>
              <a:ext cx="121920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20025" y="2559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线程共享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58275" y="2459831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类信息、静态变量、运行常量池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（JDK 8 起取代永久代）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2936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32195" y="3165634"/>
              <a:ext cx="1317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栈 VM Stack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20025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线程私有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58275" y="306562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每次方法调用一个栈帧：局部变量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表、操作数栈、方法出口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3542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32182" y="354711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2195" y="36714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程序计数器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20025" y="36714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线程私有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58275" y="367141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当前线程执行到哪条字节码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39481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32195" y="40771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本地方法栈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20025" y="40771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线程私有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58275" y="4077176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native 方法使用的栈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1524000"/>
              <a:ext cx="5626418" cy="28346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715250" y="1524000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953500" y="1524000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26848" y="4432935"/>
              <a:ext cx="20303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36 页 JVM 结构图整理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032182" y="4772025"/>
            <a:ext cx="5626418" cy="1483995"/>
            <a:chOff x="6032182" y="4772025"/>
            <a:chExt cx="5626418" cy="1483995"/>
          </a:xfrm>
        </p:grpSpPr>
        <p:sp>
          <p:nvSpPr>
            <p:cNvPr id="70" name="Rectangle 70"/>
            <p:cNvSpPr/>
            <p:nvPr/>
          </p:nvSpPr>
          <p:spPr>
            <a:xfrm>
              <a:off x="6032182" y="4772025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41708" y="490537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62688" y="496443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2126" y="499872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问题的来源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46430" y="50044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每个线程还有自己的工作内存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55830" y="533876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36 页右下角：线程读写共享变量时先拷到自己的工作内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存，改完再写回主内存。两个线程同时拷走同一个值、各改各的，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就会出现第三部分要讲的读写不一致。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54778" cy="2997517"/>
            <a:chOff x="667512" y="1835468"/>
            <a:chExt cx="515477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线程创建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448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目标是拿到一个 Thread 实例，再调用它的 start()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7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 Thread 类，重写 run()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897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Runnable 接口，交给 new Thread(r)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7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线程的状态、优先级与 Daemon 属性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11843" cy="909257"/>
            <a:chOff x="520446" y="342900"/>
            <a:chExt cx="5111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11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类：构造方法与常用方法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059805" cy="4673917"/>
            <a:chOff x="533400" y="1524000"/>
            <a:chExt cx="6059805" cy="467391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9926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282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1290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Thread()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01937" y="2076450"/>
              <a:ext cx="2928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创建线程对象，运行时执行自己的 run()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72678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501265"/>
              <a:ext cx="178841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Thread(Runnable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1937" y="2607945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创建线程对象，运行时执行 target.run()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06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020378"/>
              <a:ext cx="2646998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324612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1937" y="3139440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启动线程：JVM 新建一个执行路线去调用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6433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64807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3883342"/>
              <a:ext cx="1996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sleep(long millis)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01937" y="3776662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让当前线程休眠指定毫秒数，不释放已持有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81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414838"/>
              <a:ext cx="1148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yield()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01937" y="4414838"/>
              <a:ext cx="2929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当前线程让出 CPU，回到就绪态重新排队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7063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71106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4945380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interrupt()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01937" y="4838700"/>
              <a:ext cx="2945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给线程发中断请求；在 sleep、wait 中的线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程会收到 InterruptedException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34352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5476875"/>
              <a:ext cx="2414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setPriority(int newPriority)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01937" y="547687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设置优先级，取值 1–10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7683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773102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889" y="5901690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join()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01937" y="590169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等待该线程结束（补充，复核程序里常用）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46729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194685" y="1524000"/>
              <a:ext cx="9525" cy="46729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1"/>
          <p:cNvGrpSpPr/>
          <p:nvPr/>
        </p:nvGrpSpPr>
        <p:grpSpPr>
          <a:xfrm>
            <a:off x="6898005" y="1524000"/>
            <a:ext cx="4760595" cy="1268730"/>
            <a:chOff x="6898005" y="1524000"/>
            <a:chExt cx="4760595" cy="1268730"/>
          </a:xfrm>
        </p:grpSpPr>
        <p:sp>
          <p:nvSpPr>
            <p:cNvPr id="41" name="Rectangle 41"/>
            <p:cNvSpPr/>
            <p:nvPr/>
          </p:nvSpPr>
          <p:spPr>
            <a:xfrm>
              <a:off x="6898005" y="1524000"/>
              <a:ext cx="476059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07530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3422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1766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类的位置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84236" y="1756886"/>
              <a:ext cx="1687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java.lang.Thread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26986" y="21007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继承于 java.lang.Object，并且实现了 Runnable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接口，所以 Thread 自己就有 run() 方法。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898005" y="2972752"/>
            <a:ext cx="4760595" cy="1586865"/>
            <a:chOff x="6898005" y="2972752"/>
            <a:chExt cx="4760595" cy="1586865"/>
          </a:xfrm>
        </p:grpSpPr>
        <p:sp>
          <p:nvSpPr>
            <p:cNvPr id="48" name="Rectangle 48"/>
            <p:cNvSpPr/>
            <p:nvPr/>
          </p:nvSpPr>
          <p:spPr>
            <a:xfrm>
              <a:off x="6898005" y="2972752"/>
              <a:ext cx="4760595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07530" y="3106102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34225" y="31708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25665" y="32051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17536" y="3206591"/>
              <a:ext cx="22673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19 页的两处笔误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26986" y="3549491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yeild()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yield()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26986" y="3867626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setPriority(in newPriority)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的参数类型应为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6898005" y="4739640"/>
            <a:ext cx="4760595" cy="1540192"/>
            <a:chOff x="6898005" y="4739640"/>
            <a:chExt cx="4760595" cy="1540192"/>
          </a:xfrm>
        </p:grpSpPr>
        <p:sp>
          <p:nvSpPr>
            <p:cNvPr id="56" name="Rectangle 56"/>
            <p:cNvSpPr/>
            <p:nvPr/>
          </p:nvSpPr>
          <p:spPr>
            <a:xfrm>
              <a:off x="6898005" y="4739640"/>
              <a:ext cx="476059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07530" y="487299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34225" y="49377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25665" y="4972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17536" y="4973479"/>
              <a:ext cx="22954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 和 yield 是静态方法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26986" y="5316379"/>
              <a:ext cx="401802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t.sleep(1000)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能编译，但睡的是正在执行这行代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码的线程，不是 t。写成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Thread.sleep(1000)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会误读。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77073" cy="909257"/>
            <a:chOff x="520446" y="342900"/>
            <a:chExt cx="5977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77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方法一：继承 Thread 类，重写 run()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397442"/>
            <a:chOff x="533400" y="1524000"/>
            <a:chExt cx="5842635" cy="2397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45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20 页（JDK 文档里的例子）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38442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PrimeThread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minPrime;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PrimeThread(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minPrime)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.minPrime = minPrime;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compute primes larger than minPrime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. . 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096702"/>
            <a:ext cx="5842635" cy="1788795"/>
            <a:chOff x="533400" y="4096702"/>
            <a:chExt cx="5842635" cy="1788795"/>
          </a:xfrm>
        </p:grpSpPr>
        <p:sp>
          <p:nvSpPr>
            <p:cNvPr id="11" name="Rectangle 11"/>
            <p:cNvSpPr/>
            <p:nvPr/>
          </p:nvSpPr>
          <p:spPr>
            <a:xfrm>
              <a:off x="533400" y="4096702"/>
              <a:ext cx="5842635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248626"/>
              <a:ext cx="2858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 run()：打印大于 minPrime 的前 5 个素数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507897"/>
              <a:ext cx="480402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found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minPrime + 1; found &lt; 5; n++)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(isPrime(n)) { System.out.println(getName()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":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n); found++;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创建并启动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PrimeThread p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PrimeThread(143);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p.start();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Thread-0: 149、151、157、163、167（JDK 21 实测）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6680835" y="1533525"/>
            <a:ext cx="4845776" cy="2279809"/>
            <a:chOff x="6680835" y="1533525"/>
            <a:chExt cx="4845776" cy="2279809"/>
          </a:xfrm>
        </p:grpSpPr>
        <p:sp>
          <p:nvSpPr>
            <p:cNvPr id="15" name="Rectangle 15"/>
            <p:cNvSpPr/>
            <p:nvPr/>
          </p:nvSpPr>
          <p:spPr>
            <a:xfrm>
              <a:off x="681418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680835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445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680835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445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680835" y="32946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445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3077" y="1564957"/>
              <a:ext cx="1855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写一个 Thread 的子类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4220" y="183308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线程要用的数据放在字段里，通过构造方法传入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3077" y="2152650"/>
              <a:ext cx="959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 run()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4220" y="2419826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里写这个线程要做的事，run() 返回线程就结束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3077" y="2739390"/>
              <a:ext cx="1514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一个子类对象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4220" y="30065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此时线程处于新建状态，还没有运行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3077" y="3326130"/>
              <a:ext cx="1169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start()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4220" y="3593306"/>
              <a:ext cx="4432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为它分配资源、新开一条执行路线，再由这条路线调用 run()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680835" y="3982402"/>
            <a:ext cx="4977765" cy="729615"/>
            <a:chOff x="6680835" y="3982402"/>
            <a:chExt cx="4977765" cy="729615"/>
          </a:xfrm>
        </p:grpSpPr>
        <p:sp>
          <p:nvSpPr>
            <p:cNvPr id="33" name="Rectangle 33"/>
            <p:cNvSpPr/>
            <p:nvPr/>
          </p:nvSpPr>
          <p:spPr>
            <a:xfrm>
              <a:off x="6680835" y="398240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73564" y="4243506"/>
              <a:ext cx="224134" cy="192560"/>
              <a:chOff x="6873564" y="424350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985635" y="43138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73564" y="42435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985635" y="43916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188327" y="4129088"/>
              <a:ext cx="39742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Java 只能单继承：一个类继承了 Thread，就不能再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继承别的类。</a:t>
              </a:r>
            </a:p>
          </p:txBody>
        </p:sp>
      </p:grpSp>
      <p:grpSp>
        <p:nvGrpSpPr>
          <p:cNvPr id="43" name="c2-code-3"/>
          <p:cNvGrpSpPr/>
          <p:nvPr/>
        </p:nvGrpSpPr>
        <p:grpSpPr>
          <a:xfrm>
            <a:off x="6680835" y="4887278"/>
            <a:ext cx="4977765" cy="1308735"/>
            <a:chOff x="6680835" y="4887278"/>
            <a:chExt cx="4977765" cy="1308735"/>
          </a:xfrm>
        </p:grpSpPr>
        <p:sp>
          <p:nvSpPr>
            <p:cNvPr id="40" name="Rectangle 40"/>
            <p:cNvSpPr/>
            <p:nvPr/>
          </p:nvSpPr>
          <p:spPr>
            <a:xfrm>
              <a:off x="6680835" y="4887278"/>
              <a:ext cx="4977765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9232" y="5039201"/>
              <a:ext cx="31862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补全代码用到的 isPrime（放在 PrimeThread 类里）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09422" y="5298472"/>
              <a:ext cx="2283841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isPrime(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2; d * d &lt;= n; d++)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% d == 0)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&gt; 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2881" cy="909257"/>
            <a:chOff x="520446" y="342900"/>
            <a:chExt cx="7882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2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9.1　TestThread：三个线程的输出交错在一起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167438" cy="4550092"/>
            <a:chOff x="533400" y="1524000"/>
            <a:chExt cx="6167438" cy="4550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550092"/>
            </a:xfrm>
            <a:prstGeom prst="roundRect">
              <a:avLst>
                <a:gd name="adj" fmla="val 20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8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21 页（去掉 IDE 生成的注释）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74821" cy="4067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TestThread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MyThread t1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MyThread t2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MyThread t3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"t3"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"t1 start"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t1.start();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"t2 start"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t2.start();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"t3 start"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t3.start();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threadName;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MyThread(String threadName)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.threadName = threadName;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10;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System.out.println(threadName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"---"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005638" y="1524000"/>
            <a:ext cx="4652962" cy="2936558"/>
            <a:chOff x="7005638" y="1524000"/>
            <a:chExt cx="4652962" cy="2936558"/>
          </a:xfrm>
        </p:grpSpPr>
        <p:sp>
          <p:nvSpPr>
            <p:cNvPr id="11" name="Rectangle 11"/>
            <p:cNvSpPr/>
            <p:nvPr/>
          </p:nvSpPr>
          <p:spPr>
            <a:xfrm>
              <a:off x="7005638" y="1524000"/>
              <a:ext cx="4652962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034" y="1675924"/>
              <a:ext cx="1791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实测两次（前 12 行）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3272" y="1937861"/>
              <a:ext cx="1810766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 1 次        第 2 次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t1 start       t1 start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t2 start       t2 start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 start       t3 start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t3---1         t2---1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t3---2         t2---2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t1---1         t2---3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t2---1         t2---4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t3---3         t2---5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t3---4         t2---6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t3---5         t3---1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t3---6         t3---2</a:t>
              </a:r>
            </a:p>
          </p:txBody>
        </p:sp>
      </p:grpSp>
      <p:grpSp>
        <p:nvGrpSpPr>
          <p:cNvPr id="21" name="c2-bullets-2"/>
          <p:cNvGrpSpPr/>
          <p:nvPr/>
        </p:nvGrpSpPr>
        <p:grpSpPr>
          <a:xfrm>
            <a:off x="7015162" y="4672489"/>
            <a:ext cx="4588247" cy="1346644"/>
            <a:chOff x="7015162" y="4672489"/>
            <a:chExt cx="4588247" cy="1346644"/>
          </a:xfrm>
        </p:grpSpPr>
        <p:sp>
          <p:nvSpPr>
            <p:cNvPr id="15" name="Ellipse 15"/>
            <p:cNvSpPr/>
            <p:nvPr/>
          </p:nvSpPr>
          <p:spPr>
            <a:xfrm>
              <a:off x="7015162" y="47244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0611" y="4672489"/>
              <a:ext cx="4432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每个线程打印 9 行（i 从 1 到 9），共 27 行加 3 行 start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015162" y="503015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70611" y="497824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同一线程内部的顺序固定，线程之间怎样交错由调度决定，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每次运行都可能不同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015162" y="557879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0611" y="5526881"/>
              <a:ext cx="3776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22 页的两次截图里，t3 start 甚至出现在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t2---4 之后：main 线程也在和 t1、t2 抢 CPU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5067" cy="909257"/>
            <a:chOff x="520446" y="342900"/>
            <a:chExt cx="79750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50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方法二：实现 Runnable 接口，交给 Thread 去运行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059805" cy="4029075"/>
            <a:chOff x="533400" y="1524000"/>
            <a:chExt cx="6059805" cy="4029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29075"/>
            </a:xfrm>
            <a:prstGeom prst="roundRect">
              <a:avLst>
                <a:gd name="adj" fmla="val 2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90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9.2　TestRunnable（原课件第 26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30149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62153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94157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5194"/>
              <a:ext cx="3390265" cy="3533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TestRunnable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Runnable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threadName;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TestRunnable(String threadName)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.threadName = threadName;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System.out.println(threadName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"---"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Runnable t1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TestRunnable(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"t1"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Runnable t2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TestRunnable(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"t2"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Runnable t3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TestRunnable(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"t3"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"t1 start"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Thread(t1).start();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"t2 start"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Thread(t2).start();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"t3 start"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Thread(t3).start();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steps-1"/>
          <p:cNvGrpSpPr/>
          <p:nvPr/>
        </p:nvGrpSpPr>
        <p:grpSpPr>
          <a:xfrm>
            <a:off x="6898005" y="1533525"/>
            <a:ext cx="4589830" cy="1693069"/>
            <a:chOff x="6898005" y="1533525"/>
            <a:chExt cx="4589830" cy="1693069"/>
          </a:xfrm>
        </p:grpSpPr>
        <p:sp>
          <p:nvSpPr>
            <p:cNvPr id="14" name="Rectangle 14"/>
            <p:cNvSpPr/>
            <p:nvPr/>
          </p:nvSpPr>
          <p:spPr>
            <a:xfrm>
              <a:off x="703135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98005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162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98005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162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0247" y="1564957"/>
              <a:ext cx="1232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Runnable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1390" y="1833086"/>
              <a:ext cx="2390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Runnable 只有一个方法 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void run()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0247" y="2152650"/>
              <a:ext cx="1615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把任务交给 Thread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1390" y="2419826"/>
              <a:ext cx="4176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Thread(r)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：Thread 对象负责线程，r 只负责「做什么」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0247" y="2739390"/>
              <a:ext cx="1169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start()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1390" y="3006566"/>
              <a:ext cx="2594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的 run() 会转去调用 r.run()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395662"/>
            <a:ext cx="4760595" cy="1195388"/>
            <a:chOff x="6898005" y="3395662"/>
            <a:chExt cx="4760595" cy="1195388"/>
          </a:xfrm>
        </p:grpSpPr>
        <p:sp>
          <p:nvSpPr>
            <p:cNvPr id="28" name="Rectangle 28"/>
            <p:cNvSpPr/>
            <p:nvPr/>
          </p:nvSpPr>
          <p:spPr>
            <a:xfrm>
              <a:off x="6898005" y="3395662"/>
              <a:ext cx="4760595" cy="1195388"/>
            </a:xfrm>
            <a:prstGeom prst="roundRect">
              <a:avLst>
                <a:gd name="adj" fmla="val 11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7530" y="3529012"/>
              <a:ext cx="47625" cy="928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21652" y="36099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21652" y="393001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每个线程打印 0 到 9 共 10 行；三个线程的交错顺序每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次不同，和例 9.1 一样。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6898005" y="4765358"/>
            <a:ext cx="4760595" cy="1446848"/>
            <a:chOff x="6898005" y="4765358"/>
            <a:chExt cx="4760595" cy="1446848"/>
          </a:xfrm>
        </p:grpSpPr>
        <p:sp>
          <p:nvSpPr>
            <p:cNvPr id="33" name="Rectangle 33"/>
            <p:cNvSpPr/>
            <p:nvPr/>
          </p:nvSpPr>
          <p:spPr>
            <a:xfrm>
              <a:off x="6898005" y="4765358"/>
              <a:ext cx="4760595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7530" y="4898708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28510" y="4957762"/>
              <a:ext cx="81153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6146" y="4992052"/>
              <a:ext cx="656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Java 8 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7482" y="4997768"/>
              <a:ext cx="2022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Lambda 写 Runnable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28510" y="5310188"/>
              <a:ext cx="4337685" cy="693420"/>
            </a:xfrm>
            <a:prstGeom prst="roundRect">
              <a:avLst>
                <a:gd name="adj" fmla="val 137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56907" y="546211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56526" y="5723572"/>
              <a:ext cx="39887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Thread(() -&gt; System.out.println(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"hi"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)).start();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4622" cy="909257"/>
            <a:chOff x="520446" y="342900"/>
            <a:chExt cx="7314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4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与 start()：只有 start() 会开新线程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406842"/>
            <a:chOff x="533400" y="1524000"/>
            <a:chExt cx="5626418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027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实测：同一个线程对象分别调用 run() 和 start()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4034536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Thread 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Thread(() -&gt; System.out.println(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"run() 在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Thread.currentThread().getName()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里执行"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"t1"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t.run();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普通方法调用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t.start();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新开线程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t.join();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t.start();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第二次启动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095625"/>
            <a:ext cx="5626418" cy="1033462"/>
            <a:chOff x="533400" y="3095625"/>
            <a:chExt cx="5626418" cy="1033462"/>
          </a:xfrm>
        </p:grpSpPr>
        <p:sp>
          <p:nvSpPr>
            <p:cNvPr id="11" name="Rectangle 11"/>
            <p:cNvSpPr/>
            <p:nvPr/>
          </p:nvSpPr>
          <p:spPr>
            <a:xfrm>
              <a:off x="533400" y="3095625"/>
              <a:ext cx="5626418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247549"/>
              <a:ext cx="98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3508534"/>
              <a:ext cx="4390898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run() 在 main 里执行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run() 在 t1 里执行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Exception in thread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"main"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java.lang.IllegalThreadStateException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293870"/>
            <a:ext cx="5626418" cy="1945958"/>
            <a:chOff x="533400" y="4293870"/>
            <a:chExt cx="5626418" cy="1945958"/>
          </a:xfrm>
        </p:grpSpPr>
        <p:sp>
          <p:nvSpPr>
            <p:cNvPr id="15" name="Rectangle 15"/>
            <p:cNvSpPr/>
            <p:nvPr/>
          </p:nvSpPr>
          <p:spPr>
            <a:xfrm>
              <a:off x="533400" y="4293870"/>
              <a:ext cx="5626418" cy="1945958"/>
            </a:xfrm>
            <a:prstGeom prst="roundRect">
              <a:avLst>
                <a:gd name="adj" fmla="val 685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74845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8590" y="4507706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28 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76615" y="45153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创建线程的三条要点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4375" y="482060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6282" y="48562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4123" y="4831556"/>
              <a:ext cx="2586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目标是获取到一个 Thread 的实例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4375" y="510540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6282" y="51410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4123" y="5116354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start 方法开始线程并分配资源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14375" y="539019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6282" y="54258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123" y="5401151"/>
              <a:ext cx="350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run 方法中返回是退出线程唯一正确的方法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464618" y="1524000"/>
            <a:ext cx="5193982" cy="2280285"/>
            <a:chOff x="6464618" y="1524000"/>
            <a:chExt cx="5193982" cy="228028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8943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81175" y="1641157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run()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24560" y="1641157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start()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9296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02296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普通方法调用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8231" y="2023110"/>
              <a:ext cx="13660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 JVM 启动新线程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286952"/>
              <a:ext cx="519398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9296" y="2404110"/>
              <a:ext cx="8107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在哪个线程执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02296" y="2497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调用者所在的线程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383078" y="2296478"/>
              <a:ext cx="2265998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68231" y="24974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新线程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8498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9296" y="2971800"/>
              <a:ext cx="8107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调用方何时继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02296" y="3065145"/>
              <a:ext cx="1289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执行完才返回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8231" y="30651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立刻返回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4185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342328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9296" y="354044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能调用几次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02296" y="354044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68231" y="354044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只能一次（见左侧输出）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02855" y="1524000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368790" y="1524000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2"/>
          <p:cNvGrpSpPr/>
          <p:nvPr/>
        </p:nvGrpSpPr>
        <p:grpSpPr>
          <a:xfrm>
            <a:off x="6464618" y="3969068"/>
            <a:ext cx="5193982" cy="702945"/>
            <a:chOff x="6464618" y="3969068"/>
            <a:chExt cx="5193982" cy="702945"/>
          </a:xfrm>
        </p:grpSpPr>
        <p:sp>
          <p:nvSpPr>
            <p:cNvPr id="55" name="Rectangle 55"/>
            <p:cNvSpPr/>
            <p:nvPr/>
          </p:nvSpPr>
          <p:spPr>
            <a:xfrm>
              <a:off x="6464618" y="396906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4220528"/>
              <a:ext cx="200026" cy="200026"/>
              <a:chOff x="6669405" y="422052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42205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4287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58305" y="43205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2491" y="4114324"/>
              <a:ext cx="4133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23、24 页把 start() 改成 run()：三个 run()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main 里依次执行，输出不再交错。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464618" y="4836795"/>
            <a:ext cx="5193982" cy="1403032"/>
            <a:chOff x="6464618" y="4836795"/>
            <a:chExt cx="5193982" cy="1403032"/>
          </a:xfrm>
        </p:grpSpPr>
        <p:sp>
          <p:nvSpPr>
            <p:cNvPr id="62" name="Rectangle 62"/>
            <p:cNvSpPr/>
            <p:nvPr/>
          </p:nvSpPr>
          <p:spPr>
            <a:xfrm>
              <a:off x="6464618" y="4836795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4142" y="497014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83692" y="501777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69214" y="50506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版本补充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99223" y="5057299"/>
              <a:ext cx="1698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stop() 已经不能用了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77216" y="5373529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Thread.stop()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自 JDK 1.2 起废弃，JDK 20 起直接抛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UnsupportedOperationException（JDK 21 实测）。要让线程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停下，用 interrupt() 通知它，由 run() 自己检查后返回。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5737" cy="909257"/>
            <a:chOff x="520446" y="342900"/>
            <a:chExt cx="9035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5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9.3　Thread 与 Runnable：10 个对象，还是 1 个对象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276022" cy="3948112"/>
            <a:chOff x="533400" y="1524000"/>
            <a:chExt cx="6276022" cy="3948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948112"/>
            </a:xfrm>
            <a:prstGeom prst="roundRect">
              <a:avLst>
                <a:gd name="adj" fmla="val 24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241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MyThreadTest（原课件第 30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1265"/>
              <a:ext cx="6237922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098482"/>
              <a:ext cx="6237922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397568"/>
              <a:ext cx="6237922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5004"/>
              <a:ext cx="2873375" cy="345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MyThreadTest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"thread"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Thread 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t.start();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"runnable"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MyRunnable r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MyRunnable();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Thread 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Thread(r);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t.start();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MyThread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 System.out.println(++x);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MyRunnable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Runnable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 System.out.println(++x);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table-1"/>
          <p:cNvGrpSpPr/>
          <p:nvPr/>
        </p:nvGrpSpPr>
        <p:grpSpPr>
          <a:xfrm>
            <a:off x="7114222" y="1524000"/>
            <a:ext cx="4544378" cy="1330642"/>
            <a:chOff x="7114222" y="1524000"/>
            <a:chExt cx="4544378" cy="1330642"/>
          </a:xfrm>
        </p:grpSpPr>
        <p:sp>
          <p:nvSpPr>
            <p:cNvPr id="14" name="Rectangle 14"/>
            <p:cNvSpPr/>
            <p:nvPr/>
          </p:nvSpPr>
          <p:spPr>
            <a:xfrm>
              <a:off x="7114222" y="1524000"/>
              <a:ext cx="454437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8573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169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对象个数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87487" y="164115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有几份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213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08901" y="2023110"/>
              <a:ext cx="110980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MyThread()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44344" y="2116455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53981" y="2116455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71226" y="2116455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次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14222" y="246888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14222" y="2473642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08901" y="2590800"/>
              <a:ext cx="1361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Thread(r) ×10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4344" y="259080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 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53981" y="2590800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86072" y="2483168"/>
              <a:ext cx="116300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71226" y="2590800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到 10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14222" y="1524000"/>
              <a:ext cx="4544378" cy="13306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744902" y="152400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654540" y="152400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71785" y="152400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2"/>
          <p:cNvGrpSpPr/>
          <p:nvPr/>
        </p:nvGrpSpPr>
        <p:grpSpPr>
          <a:xfrm>
            <a:off x="7114222" y="3019425"/>
            <a:ext cx="4544378" cy="1160145"/>
            <a:chOff x="7114222" y="3019425"/>
            <a:chExt cx="4544378" cy="1160145"/>
          </a:xfrm>
        </p:grpSpPr>
        <p:sp>
          <p:nvSpPr>
            <p:cNvPr id="35" name="Rectangle 35"/>
            <p:cNvSpPr/>
            <p:nvPr/>
          </p:nvSpPr>
          <p:spPr>
            <a:xfrm>
              <a:off x="7114222" y="3019425"/>
              <a:ext cx="454437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315277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3298" y="3200400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07513" y="3233261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31 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94586" y="32399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同一实例的多个线程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6820" y="3557111"/>
              <a:ext cx="3963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 10 个线程共用同一个 Runnable 实例 r，操作的是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x，所以打印出 1 到 10。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7114222" y="4344352"/>
            <a:ext cx="4544378" cy="1629728"/>
            <a:chOff x="7114222" y="4344352"/>
            <a:chExt cx="4544378" cy="1629728"/>
          </a:xfrm>
        </p:grpSpPr>
        <p:sp>
          <p:nvSpPr>
            <p:cNvPr id="42" name="Rectangle 42"/>
            <p:cNvSpPr/>
            <p:nvPr/>
          </p:nvSpPr>
          <p:spPr>
            <a:xfrm>
              <a:off x="7114222" y="4344352"/>
              <a:ext cx="4544378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447770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33298" y="452532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17867" y="45581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实测说明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26820" y="4865846"/>
              <a:ext cx="39306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21 两次运行，runnable 之前分别只有 8 个和 4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1，其余的 1 排在 runnable 之后：main 可能先打出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runnable。原课件截图 runnable 下有 11 个数，道理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36601" cy="909257"/>
            <a:chOff x="520446" y="342900"/>
            <a:chExt cx="78366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366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9.4　两个线程共用一个 Runnable：结果对了吗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791778"/>
            <a:chOff x="533400" y="1524000"/>
            <a:chExt cx="5626418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022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32 页（run 里各数 10 次）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611120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MyRunnable r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MyRunnable();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Thread t3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Thread(r);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Thread t4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Thread(r);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t3.start();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t4.start();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MyRunnable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Runnable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System.out.println(++x);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506278"/>
            <a:ext cx="5626418" cy="1110615"/>
            <a:chOff x="533400" y="4506278"/>
            <a:chExt cx="5626418" cy="1110615"/>
          </a:xfrm>
        </p:grpSpPr>
        <p:sp>
          <p:nvSpPr>
            <p:cNvPr id="11" name="Rectangle 11"/>
            <p:cNvSpPr/>
            <p:nvPr/>
          </p:nvSpPr>
          <p:spPr>
            <a:xfrm>
              <a:off x="533400" y="4506278"/>
              <a:ext cx="562641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658201"/>
              <a:ext cx="3041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输出的 runnable 段（原课件截图 / JDK 21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4921091"/>
              <a:ext cx="365988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原课件: 1 2 3 4 5 7 8 9 10 11 6 12 13 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实测 1: 1 2 3 5 6 7 8 9 10 11 12 4 14 ... 20 13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实测 2: 1 2 3 4 6 7 8 9 10 11 5 12 ... 20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464618" y="1524000"/>
            <a:ext cx="5193982" cy="1956435"/>
            <a:chOff x="6464618" y="1524000"/>
            <a:chExt cx="5193982" cy="1956435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74142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1226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062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为什么乱序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0015" y="1768792"/>
              <a:ext cx="2073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++x 和 println 是两步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4648" y="2129790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 算出 4 以后还没来得及打印就被换下，t4 接着算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5、6、… 并打印，t3 回来才打出 4。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04648" y="275082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这次 x 最终都是 20，是因为循环只有 10 次、碰撞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464618" y="3670935"/>
            <a:ext cx="5193982" cy="2624138"/>
            <a:chOff x="6464618" y="3670935"/>
            <a:chExt cx="5193982" cy="2624138"/>
          </a:xfrm>
        </p:grpSpPr>
        <p:sp>
          <p:nvSpPr>
            <p:cNvPr id="23" name="Rectangle 23"/>
            <p:cNvSpPr/>
            <p:nvPr/>
          </p:nvSpPr>
          <p:spPr>
            <a:xfrm>
              <a:off x="6464618" y="3670935"/>
              <a:ext cx="5193982" cy="2624138"/>
            </a:xfrm>
            <a:prstGeom prst="roundRect">
              <a:avLst>
                <a:gd name="adj" fmla="val 50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3804285"/>
              <a:ext cx="47625" cy="23574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12268" y="38804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4576" y="39162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放大竞争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98092" y="3915728"/>
              <a:ext cx="35091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两个线程各对同一个 x 自增 100000 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12268" y="4251960"/>
              <a:ext cx="4736782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0665" y="44038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9902" y="4665821"/>
              <a:ext cx="237972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counter = 126065（期望 200000）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counter = 114760（期望 200000）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4648" y="5279708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丢了七八万次自增。原因是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x++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由读、加、写三步组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成，第三部分会画出交错过程并用 synchronized 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方式一与方式二有什么区别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6059805" cy="3234690"/>
            <a:chOff x="533400" y="1524000"/>
            <a:chExt cx="6059805" cy="32346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828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4346" y="1648301"/>
              <a:ext cx="888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 Thread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0404" y="1648301"/>
              <a:ext cx="102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 Runnable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7880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占用了唯一的父类位置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0072" y="20540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还可以继承别的类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559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任务与线程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7880" y="25598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任务和线程绑在同一个对象里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0072" y="2459831"/>
              <a:ext cx="15974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任务（Runnable）与线程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（Thread）分开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7880" y="316563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每个线程对象各有一份字段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99585" y="2950845"/>
              <a:ext cx="2283142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90072" y="306562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多个线程可以共用一个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 实例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23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7110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671411"/>
              <a:ext cx="108071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run() 里取当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前线程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87880" y="3771424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 this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0072" y="3771424"/>
              <a:ext cx="184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Thread.currentThread()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481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3772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配合线程池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87880" y="43772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不方便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0072" y="4277201"/>
              <a:ext cx="1967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executor.execute(r)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直接交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32346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83105" y="1524000"/>
              <a:ext cx="9525" cy="32346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85298" y="1524000"/>
              <a:ext cx="9525" cy="32346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2"/>
          <p:cNvGrpSpPr/>
          <p:nvPr/>
        </p:nvGrpSpPr>
        <p:grpSpPr>
          <a:xfrm>
            <a:off x="533400" y="4933950"/>
            <a:ext cx="6059805" cy="1317308"/>
            <a:chOff x="533400" y="4933950"/>
            <a:chExt cx="6059805" cy="1317308"/>
          </a:xfrm>
        </p:grpSpPr>
        <p:sp>
          <p:nvSpPr>
            <p:cNvPr id="37" name="Rectangle 37"/>
            <p:cNvSpPr/>
            <p:nvPr/>
          </p:nvSpPr>
          <p:spPr>
            <a:xfrm>
              <a:off x="533400" y="4933950"/>
              <a:ext cx="6059805" cy="1317308"/>
            </a:xfrm>
            <a:prstGeom prst="roundRect">
              <a:avLst>
                <a:gd name="adj" fmla="val 867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492115"/>
              <a:ext cx="200026" cy="200025"/>
              <a:chOff x="738188" y="549211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4921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5365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6476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5374005"/>
              <a:ext cx="506291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一般优先实现 Runnable：任务可以复用、可以交给线程池，也不占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继承位置。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898005" y="1524000"/>
            <a:ext cx="4760595" cy="2123122"/>
            <a:chOff x="6898005" y="1524000"/>
            <a:chExt cx="4760595" cy="2123122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2123122"/>
            </a:xfrm>
            <a:prstGeom prst="roundRect">
              <a:avLst>
                <a:gd name="adj" fmla="val 6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185642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8510" y="1716405"/>
              <a:ext cx="178117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80853" y="1750695"/>
              <a:ext cx="1676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29 页的四个问题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27558" y="206121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83236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08354" y="2072640"/>
              <a:ext cx="2997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类和 Runnable 接口两种方式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27558" y="236315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83236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08354" y="2375535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和 start() 的区别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27558" y="266604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83236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08354" y="267843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线程只能被启动一次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27558" y="296799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83236" y="3007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08354" y="298037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方式一与方式二有什么区别？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22795" y="327898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前三个问题见前几页，第四个见左表。</a:t>
              </a:r>
            </a:p>
          </p:txBody>
        </p:sp>
      </p:grpSp>
      <p:grpSp>
        <p:nvGrpSpPr>
          <p:cNvPr id="80" name="c2-table-2"/>
          <p:cNvGrpSpPr/>
          <p:nvPr/>
        </p:nvGrpSpPr>
        <p:grpSpPr>
          <a:xfrm>
            <a:off x="6898005" y="3822382"/>
            <a:ext cx="4760595" cy="2428876"/>
            <a:chOff x="6898005" y="3822382"/>
            <a:chExt cx="4760595" cy="2428876"/>
          </a:xfrm>
        </p:grpSpPr>
        <p:sp>
          <p:nvSpPr>
            <p:cNvPr id="62" name="Rectangle 62"/>
            <p:cNvSpPr/>
            <p:nvPr/>
          </p:nvSpPr>
          <p:spPr>
            <a:xfrm>
              <a:off x="6898005" y="3822382"/>
              <a:ext cx="476059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69313" y="39466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49611" y="39466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98017" y="4352449"/>
              <a:ext cx="1926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Thread(r).start();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54565" y="43524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启动新线程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46291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98005" y="4633912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98017" y="4758214"/>
              <a:ext cx="2052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MyThread().start();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54565" y="47582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启动新线程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898005" y="50349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98017" y="5263991"/>
              <a:ext cx="8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r.start();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54565" y="5163979"/>
              <a:ext cx="14978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编译错误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：Runnable 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start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898005" y="56407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898005" y="5645468"/>
              <a:ext cx="476059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98017" y="5869781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t.run();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54565" y="5769769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没开新线程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，只是普通调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898005" y="3822382"/>
              <a:ext cx="4760595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9749790" y="3822382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83598" cy="909257"/>
            <a:chOff x="520446" y="342900"/>
            <a:chExt cx="84835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835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线程的状态：原课件的七种与 Thread.State 的六个值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410200" cy="3246120"/>
            <a:chOff x="533400" y="1524000"/>
            <a:chExt cx="5410200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6808" y="1648301"/>
              <a:ext cx="1034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40 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26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2025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Born / New Thread（出生）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13710" y="2054066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之后、start 之前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1900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Ready / Runnable（就绪）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3710" y="2459831"/>
              <a:ext cx="925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等待分到 CPU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1189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Running（运行）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13710" y="2865596"/>
              <a:ext cx="1123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 CPU 上执行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1236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Sleeping（休眠）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13710" y="3271361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sleep()，时间到自动醒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677126"/>
              <a:ext cx="1181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Waiting（等待）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3710" y="3677126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wait()，等别人 notify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082891"/>
              <a:ext cx="1189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Blocked（阻塞）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3710" y="408289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想进同步区域，锁被别人占着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59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488656"/>
              <a:ext cx="96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Dead（死亡）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13710" y="4488656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返回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410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0893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945380"/>
            <a:ext cx="5410200" cy="1261110"/>
            <a:chOff x="533400" y="4945380"/>
            <a:chExt cx="5410200" cy="1261110"/>
          </a:xfrm>
        </p:grpSpPr>
        <p:sp>
          <p:nvSpPr>
            <p:cNvPr id="36" name="Rectangle 36"/>
            <p:cNvSpPr/>
            <p:nvPr/>
          </p:nvSpPr>
          <p:spPr>
            <a:xfrm>
              <a:off x="533400" y="4945380"/>
              <a:ext cx="5410200" cy="1261110"/>
            </a:xfrm>
            <a:prstGeom prst="roundRect">
              <a:avLst>
                <a:gd name="adj" fmla="val 90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475923"/>
              <a:ext cx="200026" cy="200026"/>
              <a:chOff x="738188" y="547592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4759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542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5759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233035"/>
              <a:ext cx="420566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就绪和运行在 JVM 里都算 RUNNABLE：线程此刻在不在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上由操作系统决定，Java 层面看不到，所以不再细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248400" y="1524000"/>
            <a:ext cx="5410200" cy="3040380"/>
            <a:chOff x="6248400" y="1524000"/>
            <a:chExt cx="5410200" cy="3040380"/>
          </a:xfrm>
        </p:grpSpPr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51208" y="1648301"/>
              <a:ext cx="1067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Thread.State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07181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对应原课件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8412" y="205406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21078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出生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8412" y="2459831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30590" y="2345055"/>
              <a:ext cx="31184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21078" y="2459831"/>
              <a:ext cx="1884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 + 运行（JVM 不区分）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8412" y="286559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1078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阻塞（等锁）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8412" y="3271361"/>
              <a:ext cx="605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21078" y="3271361"/>
              <a:ext cx="2175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等待（无限期 wait()、join()）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8412" y="3777139"/>
              <a:ext cx="1148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TIMED_WAITING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21078" y="3677126"/>
              <a:ext cx="22943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休眠 sleep(ms)，以及 wait(ms)、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join(ms)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153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415861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8412" y="4282916"/>
              <a:ext cx="9230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TERMINATED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21078" y="4282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死亡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1524000"/>
              <a:ext cx="5410200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516302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6248400" y="4739640"/>
            <a:ext cx="5410200" cy="1466850"/>
            <a:chOff x="6248400" y="4739640"/>
            <a:chExt cx="5410200" cy="1466850"/>
          </a:xfrm>
        </p:grpSpPr>
        <p:sp>
          <p:nvSpPr>
            <p:cNvPr id="70" name="Rectangle 70"/>
            <p:cNvSpPr/>
            <p:nvPr/>
          </p:nvSpPr>
          <p:spPr>
            <a:xfrm>
              <a:off x="6248400" y="473964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487299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78905" y="49320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66345" y="49663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72047" y="5288280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t.getState()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返回上表的枚举值。原课件的七种是操作系统课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的讲法，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getState()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不会返回「运行」和「休眠」这两个名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线程的生命周期：哪些方法让线程在状态之间转移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graph-1"/>
          <p:cNvGrpSpPr/>
          <p:nvPr/>
        </p:nvGrpSpPr>
        <p:grpSpPr>
          <a:xfrm>
            <a:off x="815340" y="1612582"/>
            <a:ext cx="6278880" cy="4281488"/>
            <a:chOff x="815340" y="1612582"/>
            <a:chExt cx="6278880" cy="4281488"/>
          </a:xfrm>
        </p:grpSpPr>
        <p:sp>
          <p:nvSpPr>
            <p:cNvPr id="7" name="Freeform 7"/>
            <p:cNvSpPr/>
            <p:nvPr/>
          </p:nvSpPr>
          <p:spPr>
            <a:xfrm>
              <a:off x="1592580" y="1898332"/>
              <a:ext cx="1274445" cy="9525"/>
            </a:xfrm>
            <a:custGeom>
              <a:avLst/>
              <a:gdLst/>
              <a:ahLst/>
              <a:cxnLst/>
              <a:rect l="l" t="t" r="r" b="b"/>
              <a:pathLst>
                <a:path w="1274445" h="9525">
                  <a:moveTo>
                    <a:pt x="0" y="0"/>
                  </a:moveTo>
                  <a:lnTo>
                    <a:pt x="12744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7025" y="18507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739515" y="1646872"/>
              <a:ext cx="1680210" cy="154305"/>
            </a:xfrm>
            <a:custGeom>
              <a:avLst/>
              <a:gdLst/>
              <a:ahLst/>
              <a:cxnLst/>
              <a:rect l="l" t="t" r="r" b="b"/>
              <a:pathLst>
                <a:path w="1680210" h="154305">
                  <a:moveTo>
                    <a:pt x="0" y="154305"/>
                  </a:moveTo>
                  <a:cubicBezTo>
                    <a:pt x="590550" y="7620"/>
                    <a:pt x="1150620" y="0"/>
                    <a:pt x="1680210" y="1314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07342" y="173259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68580"/>
                  </a:moveTo>
                  <a:lnTo>
                    <a:pt x="0" y="92392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760470" y="2060258"/>
              <a:ext cx="1816418" cy="330835"/>
            </a:xfrm>
            <a:custGeom>
              <a:avLst/>
              <a:gdLst/>
              <a:ahLst/>
              <a:cxnLst/>
              <a:rect l="l" t="t" r="r" b="b"/>
              <a:pathLst>
                <a:path w="1816418" h="330835">
                  <a:moveTo>
                    <a:pt x="1816418" y="0"/>
                  </a:moveTo>
                  <a:cubicBezTo>
                    <a:pt x="1182052" y="316865"/>
                    <a:pt x="576580" y="330835"/>
                    <a:pt x="0" y="419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74745" y="206025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0" y="0"/>
                  </a:moveTo>
                  <a:lnTo>
                    <a:pt x="106680" y="0"/>
                  </a:lnTo>
                  <a:lnTo>
                    <a:pt x="63817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02130" y="2060258"/>
              <a:ext cx="3722370" cy="1602105"/>
            </a:xfrm>
            <a:custGeom>
              <a:avLst/>
              <a:gdLst/>
              <a:ahLst/>
              <a:cxnLst/>
              <a:rect l="l" t="t" r="r" b="b"/>
              <a:pathLst>
                <a:path w="3722370" h="1602105">
                  <a:moveTo>
                    <a:pt x="3722370" y="0"/>
                  </a:moveTo>
                  <a:lnTo>
                    <a:pt x="0" y="16021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14500" y="361854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0962"/>
                  </a:moveTo>
                  <a:lnTo>
                    <a:pt x="68580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503998" y="2126932"/>
              <a:ext cx="1612582" cy="1572577"/>
            </a:xfrm>
            <a:custGeom>
              <a:avLst/>
              <a:gdLst/>
              <a:ahLst/>
              <a:cxnLst/>
              <a:rect l="l" t="t" r="r" b="b"/>
              <a:pathLst>
                <a:path w="1612582" h="1572577">
                  <a:moveTo>
                    <a:pt x="0" y="1572577"/>
                  </a:moveTo>
                  <a:lnTo>
                    <a:pt x="16125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83242" y="2060258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0"/>
                  </a:moveTo>
                  <a:lnTo>
                    <a:pt x="66675" y="100012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982652" y="2060258"/>
              <a:ext cx="597217" cy="1180147"/>
            </a:xfrm>
            <a:custGeom>
              <a:avLst/>
              <a:gdLst/>
              <a:ahLst/>
              <a:cxnLst/>
              <a:rect l="l" t="t" r="r" b="b"/>
              <a:pathLst>
                <a:path w="597217" h="1180147">
                  <a:moveTo>
                    <a:pt x="0" y="0"/>
                  </a:moveTo>
                  <a:lnTo>
                    <a:pt x="597217" y="1180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537960" y="321945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5725" y="106680"/>
                  </a:moveTo>
                  <a:lnTo>
                    <a:pt x="0" y="4286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900738" y="2060258"/>
              <a:ext cx="9525" cy="3414712"/>
            </a:xfrm>
            <a:custGeom>
              <a:avLst/>
              <a:gdLst/>
              <a:ahLst/>
              <a:cxnLst/>
              <a:rect l="l" t="t" r="r" b="b"/>
              <a:pathLst>
                <a:path w="9525" h="3414712">
                  <a:moveTo>
                    <a:pt x="0" y="0"/>
                  </a:moveTo>
                  <a:lnTo>
                    <a:pt x="0" y="34147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853112" y="54749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834765" y="5732145"/>
              <a:ext cx="1677353" cy="9525"/>
            </a:xfrm>
            <a:custGeom>
              <a:avLst/>
              <a:gdLst/>
              <a:ahLst/>
              <a:cxnLst/>
              <a:rect l="l" t="t" r="r" b="b"/>
              <a:pathLst>
                <a:path w="1677353" h="9525">
                  <a:moveTo>
                    <a:pt x="167735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A1343C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739515" y="5684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A1343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511868" y="2060258"/>
              <a:ext cx="2281238" cy="3430905"/>
            </a:xfrm>
            <a:custGeom>
              <a:avLst/>
              <a:gdLst/>
              <a:ahLst/>
              <a:cxnLst/>
              <a:rect l="l" t="t" r="r" b="b"/>
              <a:pathLst>
                <a:path w="2281238" h="3430905">
                  <a:moveTo>
                    <a:pt x="2281238" y="0"/>
                  </a:moveTo>
                  <a:lnTo>
                    <a:pt x="0" y="34309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458528" y="5464492"/>
              <a:ext cx="92392" cy="105727"/>
            </a:xfrm>
            <a:custGeom>
              <a:avLst/>
              <a:gdLst/>
              <a:ahLst/>
              <a:cxnLst/>
              <a:rect l="l" t="t" r="r" b="b"/>
              <a:pathLst>
                <a:path w="92392" h="105727">
                  <a:moveTo>
                    <a:pt x="0" y="105727"/>
                  </a:moveTo>
                  <a:lnTo>
                    <a:pt x="13335" y="0"/>
                  </a:lnTo>
                  <a:lnTo>
                    <a:pt x="92392" y="523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350895" y="2155508"/>
              <a:ext cx="9525" cy="3414712"/>
            </a:xfrm>
            <a:custGeom>
              <a:avLst/>
              <a:gdLst/>
              <a:ahLst/>
              <a:cxnLst/>
              <a:rect l="l" t="t" r="r" b="b"/>
              <a:pathLst>
                <a:path w="9525" h="3414712">
                  <a:moveTo>
                    <a:pt x="0" y="34147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303270" y="20602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" y="1736408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962275" y="1736408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12118" y="1736408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49642" y="3699510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316980" y="3326130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962275" y="5570220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12118" y="5570220"/>
              <a:ext cx="77724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1116" y="18368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新线程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8051" y="18368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7893" y="18368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5418" y="38009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休眠态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2756" y="34266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48051" y="56716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97893" y="56716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039302" y="1819275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60167" y="1848326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start()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381500" y="1612582"/>
              <a:ext cx="4876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96468" y="1641634"/>
              <a:ext cx="457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获得 CPU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45280" y="2219325"/>
              <a:ext cx="96107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151427" y="2248376"/>
              <a:ext cx="9478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yield() / 时间片到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93758" y="2801302"/>
              <a:ext cx="45148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16038" y="2830354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sleep()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845945" y="2801302"/>
              <a:ext cx="9982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851824" y="2830354"/>
              <a:ext cx="986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时间到 / interrupt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01702" y="2614612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19199" y="2643664"/>
              <a:ext cx="5669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run() 返回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693092" y="3736658"/>
              <a:ext cx="41433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16594" y="3765709"/>
              <a:ext cx="3682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wait()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124325" y="5653088"/>
              <a:ext cx="10029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29349" y="5683091"/>
              <a:ext cx="9919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notify / interrupt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79595" y="373665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399801" y="376570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抢锁失败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156585" y="3736658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180550" y="3765709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拿到锁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7546658" y="1524000"/>
            <a:ext cx="4111942" cy="1930718"/>
            <a:chOff x="7546658" y="1524000"/>
            <a:chExt cx="4111942" cy="1930718"/>
          </a:xfrm>
        </p:grpSpPr>
        <p:sp>
          <p:nvSpPr>
            <p:cNvPr id="62" name="Rectangle 62"/>
            <p:cNvSpPr/>
            <p:nvPr/>
          </p:nvSpPr>
          <p:spPr>
            <a:xfrm>
              <a:off x="7546658" y="1524000"/>
              <a:ext cx="4111942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56182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6573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5840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32661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等待态被唤醒后先去抢锁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59256" y="2061686"/>
              <a:ext cx="3483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41 页画成等待态经 notify 直接回到就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绪态，标签还拼成了 interrutp。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59256" y="2589371"/>
              <a:ext cx="3516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 返回前必须重新拿到锁，所以被叫醒的线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程先进阻塞态，拿到锁才回就绪态（红色箭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头），和原课件第 51 页的文字一致。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7546658" y="3619500"/>
            <a:ext cx="4111942" cy="702945"/>
            <a:chOff x="7546658" y="3619500"/>
            <a:chExt cx="4111942" cy="702945"/>
          </a:xfrm>
        </p:grpSpPr>
        <p:sp>
          <p:nvSpPr>
            <p:cNvPr id="70" name="Rectangle 70"/>
            <p:cNvSpPr/>
            <p:nvPr/>
          </p:nvSpPr>
          <p:spPr>
            <a:xfrm>
              <a:off x="7546658" y="3619500"/>
              <a:ext cx="411194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751445" y="3870960"/>
              <a:ext cx="200026" cy="200025"/>
              <a:chOff x="7751445" y="3870960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751445" y="38709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91184" y="39154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825899" y="40265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054530" y="3764756"/>
              <a:ext cx="3256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阻塞态和等待态都不占 CPU。区别在于：阻塞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在等锁，等待在等别人通知。</a:t>
              </a:r>
            </a:p>
          </p:txBody>
        </p:sp>
      </p:grpSp>
      <p:grpSp>
        <p:nvGrpSpPr>
          <p:cNvPr id="91" name="c2-table-3"/>
          <p:cNvGrpSpPr/>
          <p:nvPr/>
        </p:nvGrpSpPr>
        <p:grpSpPr>
          <a:xfrm>
            <a:off x="7546658" y="4487228"/>
            <a:ext cx="4111942" cy="1712595"/>
            <a:chOff x="7546658" y="4487228"/>
            <a:chExt cx="4111942" cy="1712595"/>
          </a:xfrm>
        </p:grpSpPr>
        <p:sp>
          <p:nvSpPr>
            <p:cNvPr id="77" name="Rectangle 77"/>
            <p:cNvSpPr/>
            <p:nvPr/>
          </p:nvSpPr>
          <p:spPr>
            <a:xfrm>
              <a:off x="7546658" y="4487228"/>
              <a:ext cx="411194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04454" y="46043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图中状态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67841" y="4604385"/>
              <a:ext cx="1160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getState() 返回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41336" y="498633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就绪态、运行态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33001" y="4986338"/>
              <a:ext cx="66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546658" y="524541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546658" y="5250180"/>
              <a:ext cx="411194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641336" y="53673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休眠态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533001" y="5367338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TIMED_WAITING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546658" y="562641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41336" y="584168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等待态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533001" y="5749290"/>
              <a:ext cx="139750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WAITING（wait(ms) 为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TIMED_WAITING）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546658" y="4487228"/>
              <a:ext cx="4111942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9433560" y="4487228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9139" cy="909257"/>
            <a:chOff x="520446" y="342900"/>
            <a:chExt cx="67191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91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9.5　用 getState() 看线程走过的状态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951220" cy="3495675"/>
            <a:chOff x="533400" y="1524000"/>
            <a:chExt cx="5951220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54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LifeCycleThread（原课件第 42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5465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774821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LifeCycleThread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lock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lock.wait();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(InterruptedException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e.printStackTrace();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LifeCycleThread thread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LifeCycleThread();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thread.start();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5210175"/>
            <a:ext cx="5951220" cy="831532"/>
            <a:chOff x="533400" y="5210175"/>
            <a:chExt cx="5951220" cy="831532"/>
          </a:xfrm>
        </p:grpSpPr>
        <p:sp>
          <p:nvSpPr>
            <p:cNvPr id="12" name="Rectangle 12"/>
            <p:cNvSpPr/>
            <p:nvPr/>
          </p:nvSpPr>
          <p:spPr>
            <a:xfrm>
              <a:off x="533400" y="5210175"/>
              <a:ext cx="5951220" cy="831532"/>
            </a:xfrm>
            <a:prstGeom prst="roundRect">
              <a:avLst>
                <a:gd name="adj" fmla="val 1374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26129" y="5521761"/>
              <a:ext cx="224134" cy="192560"/>
              <a:chOff x="726129" y="5521761"/>
              <a:chExt cx="224134" cy="1925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8200" y="55921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6129" y="55217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6699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382578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没有任何线程对 lock 调用 notify，这个线程打印 11 后永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远停在 WAITING，程序不会自己结束。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783705" y="1524000"/>
            <a:ext cx="4874895" cy="4561999"/>
            <a:chOff x="6783705" y="1524000"/>
            <a:chExt cx="4874895" cy="4561999"/>
          </a:xfrm>
        </p:grpSpPr>
        <p:sp>
          <p:nvSpPr>
            <p:cNvPr id="19" name="Rectangle 19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244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复核程序制造的情形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6170" y="1659731"/>
              <a:ext cx="1015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getState()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97243" y="2108359"/>
              <a:ext cx="1815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之后、start 之前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15716" y="2108359"/>
              <a:ext cx="349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97243" y="2556986"/>
              <a:ext cx="1649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CPU 上做循环计算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15716" y="2556986"/>
              <a:ext cx="81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97243" y="3005614"/>
              <a:ext cx="1361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sleep(500) 期间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15716" y="3005614"/>
              <a:ext cx="12510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TIMED_WAITING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97243" y="3454241"/>
              <a:ext cx="1452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lock.wait() 期间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15716" y="3454241"/>
              <a:ext cx="659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89420" y="37633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97243" y="3903821"/>
              <a:ext cx="16202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锁被 main 占着时进入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15716" y="4017169"/>
              <a:ext cx="75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44386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89420" y="444341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7243" y="4579144"/>
              <a:ext cx="2839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 notify，但 main 还没退出同步块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817418" y="4452938"/>
              <a:ext cx="183165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15716" y="4579144"/>
              <a:ext cx="75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488727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97243" y="5027771"/>
              <a:ext cx="125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返回之后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15716" y="5027771"/>
              <a:ext cx="100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TERMINATED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9420" y="53368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89420" y="5341620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7243" y="5476399"/>
              <a:ext cx="2482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LifeCycleThread 打印 11 之后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15716" y="5476399"/>
              <a:ext cx="659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1524000"/>
              <a:ext cx="4869180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0313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3705" y="5865971"/>
              <a:ext cx="4118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实测，程序见 decks/java/java_ch9_verify/states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63922" cy="909257"/>
            <a:chOff x="520446" y="342900"/>
            <a:chExt cx="42639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线程创建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639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线程优先级与 Daemon 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831658"/>
            <a:chOff x="533400" y="1524000"/>
            <a:chExt cx="5410200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250" y="1750695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43 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5772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线程优先级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2655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线程优先级由操作系统实现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3717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优先级分为 10 级，用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setPriority(int)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设置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275177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69557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线程组调度依赖于宿主系统的调度算法，优先级设置有复杂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3530918"/>
            <a:ext cx="5410200" cy="1623060"/>
            <a:chOff x="533400" y="3530918"/>
            <a:chExt cx="5410200" cy="1623060"/>
          </a:xfrm>
        </p:grpSpPr>
        <p:sp>
          <p:nvSpPr>
            <p:cNvPr id="19" name="Rectangle 19"/>
            <p:cNvSpPr/>
            <p:nvPr/>
          </p:nvSpPr>
          <p:spPr>
            <a:xfrm>
              <a:off x="533400" y="3530918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99971" y="36552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80458" y="36552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412" y="4060984"/>
              <a:ext cx="16742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Thread.MIN_PRIORITY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14382" y="406098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3376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34244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466749"/>
              <a:ext cx="2443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Thread.NORM_PRIORITY（默认）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4382" y="44667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43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872514"/>
              <a:ext cx="171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Thread.MAX_PRIORITY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72919" y="487251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30918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774758" y="353091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329238"/>
            <a:ext cx="5410200" cy="915352"/>
            <a:chOff x="533400" y="5329238"/>
            <a:chExt cx="5410200" cy="915352"/>
          </a:xfrm>
        </p:grpSpPr>
        <p:sp>
          <p:nvSpPr>
            <p:cNvPr id="34" name="Rectangle 34"/>
            <p:cNvSpPr/>
            <p:nvPr/>
          </p:nvSpPr>
          <p:spPr>
            <a:xfrm>
              <a:off x="533400" y="5329238"/>
              <a:ext cx="5410200" cy="915352"/>
            </a:xfrm>
            <a:prstGeom prst="roundRect">
              <a:avLst>
                <a:gd name="adj" fmla="val 1248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683686"/>
              <a:ext cx="224134" cy="192560"/>
              <a:chOff x="726129" y="568368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7540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6836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8318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556831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优先级只是给调度器的提示，不能保证高优先级的线程先执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行完。程序的正确性不能依赖优先级。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831658"/>
            <a:chOff x="6248400" y="1524000"/>
            <a:chExt cx="5410200" cy="1831658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8905" y="1716405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1250" y="1750695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44 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00772" y="1756410"/>
              <a:ext cx="2199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Daemon 线程（守护线程）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2047" y="2090738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线程有一个特殊的属性 daemon。如果此值为真，当其他非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Daemon 线程都处于终止态时，整个进程结束。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2047" y="2649855"/>
              <a:ext cx="5066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daemon 线程是后台监控线程，它有可能在任何运行点被终止。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2047" y="2952750"/>
              <a:ext cx="3898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相关方法：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setDaemon(boolean)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isDaemon()</a:t>
              </a:r>
            </a:p>
          </p:txBody>
        </p:sp>
      </p:grpSp>
      <p:grpSp>
        <p:nvGrpSpPr>
          <p:cNvPr id="53" name="c2-code-2"/>
          <p:cNvGrpSpPr/>
          <p:nvPr/>
        </p:nvGrpSpPr>
        <p:grpSpPr>
          <a:xfrm>
            <a:off x="6248400" y="3530918"/>
            <a:ext cx="5410200" cy="1072515"/>
            <a:chOff x="6248400" y="3530918"/>
            <a:chExt cx="5410200" cy="1072515"/>
          </a:xfrm>
        </p:grpSpPr>
        <p:sp>
          <p:nvSpPr>
            <p:cNvPr id="50" name="Rectangle 50"/>
            <p:cNvSpPr/>
            <p:nvPr/>
          </p:nvSpPr>
          <p:spPr>
            <a:xfrm>
              <a:off x="6248400" y="3530918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76797" y="36828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6416" y="3944302"/>
              <a:ext cx="4457890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Thread d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Thread(() -&gt; {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监控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 });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d.setDaemon(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必须在 start() 之前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d.start();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248400" y="4777740"/>
            <a:ext cx="5410200" cy="1466850"/>
            <a:chOff x="6248400" y="4777740"/>
            <a:chExt cx="5410200" cy="1466850"/>
          </a:xfrm>
        </p:grpSpPr>
        <p:sp>
          <p:nvSpPr>
            <p:cNvPr id="54" name="Rectangle 54"/>
            <p:cNvSpPr/>
            <p:nvPr/>
          </p:nvSpPr>
          <p:spPr>
            <a:xfrm>
              <a:off x="6248400" y="477774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91109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8905" y="49701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0345" y="5004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2047" y="5327333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start()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之后再调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setDaemon(true)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IllegalThreadStateException（实测）。新线程默认继承创建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者的 daemon 属性，main 创建的线程默认 false。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232083" cy="2997517"/>
            <a:chOff x="667512" y="1835468"/>
            <a:chExt cx="523208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线程之间的协作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共享内存带来的冲突，靠锁和通知来解决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992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保证同一时间只有一个线程进入同步区域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56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wait/notify 让线程等条件、发通知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多把锁按不同顺序申请会死锁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共享内存的两个问题：部分更新与读写不一致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226820"/>
            <a:chOff x="533400" y="1524000"/>
            <a:chExt cx="4760595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250" y="1750695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35 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5772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线程之间共享信息的两种办法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0427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消息，或者共享内存。Java 线程之间主要靠共享内存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（堆里的对象）。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542" y="2947988"/>
            <a:ext cx="4767453" cy="1423225"/>
            <a:chOff x="526542" y="2947988"/>
            <a:chExt cx="4767453" cy="1423225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294798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部分更新问题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55292" y="2947988"/>
              <a:ext cx="30998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一个实例有多个属性，多个线程同时试图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更新该实例，一个线程只改了一半就被别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的线程读走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7442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385381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读写不一致问题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55292" y="3853815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两个线程同时读同一个值、各自计算再写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回，后写的覆盖先写的</a:t>
              </a:r>
            </a:p>
          </p:txBody>
        </p:sp>
      </p:grpSp>
      <p:grpSp>
        <p:nvGrpSpPr>
          <p:cNvPr id="23" name="c1-code-3"/>
          <p:cNvGrpSpPr/>
          <p:nvPr/>
        </p:nvGrpSpPr>
        <p:grpSpPr>
          <a:xfrm>
            <a:off x="533400" y="4492942"/>
            <a:ext cx="4760595" cy="1640205"/>
            <a:chOff x="533400" y="4492942"/>
            <a:chExt cx="4760595" cy="1640205"/>
          </a:xfrm>
        </p:grpSpPr>
        <p:sp>
          <p:nvSpPr>
            <p:cNvPr id="20" name="Rectangle 20"/>
            <p:cNvSpPr/>
            <p:nvPr/>
          </p:nvSpPr>
          <p:spPr>
            <a:xfrm>
              <a:off x="533400" y="4492942"/>
              <a:ext cx="4760595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797" y="4644866"/>
              <a:ext cx="20677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原课件的例子（shareInt 初值 0）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416" y="4906328"/>
              <a:ext cx="199091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线程1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step =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shareInt = shareInt + step;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线程2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step = 2;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shareInt = shareInt + step;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598795" y="1524000"/>
            <a:ext cx="6059805" cy="2434590"/>
            <a:chOff x="5598795" y="1524000"/>
            <a:chExt cx="6059805" cy="2434590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366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3379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9115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851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43879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6525" y="205406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线程1 读到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43888" y="205406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线程1 读到 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01250" y="205406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线程1 读到 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43879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6525" y="245983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线程1 写回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43888" y="245983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线程2 读到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01250" y="245983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线程2 读到 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43879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6525" y="286559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线程2 读到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43888" y="286559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线程1 写回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01250" y="286559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线程2 写回 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43879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6525" y="327136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线程2 写回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3888" y="327136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线程2 写回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01250" y="327136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线程1 写回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36641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6525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43888" y="367712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2（丢了 +1）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01250" y="367712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1（丢了 +2）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1524000"/>
              <a:ext cx="605980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38175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3911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89647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5598795" y="4133850"/>
            <a:ext cx="6059805" cy="729615"/>
            <a:chOff x="5598795" y="4133850"/>
            <a:chExt cx="6059805" cy="729615"/>
          </a:xfrm>
        </p:grpSpPr>
        <p:sp>
          <p:nvSpPr>
            <p:cNvPr id="60" name="Rectangle 60"/>
            <p:cNvSpPr/>
            <p:nvPr/>
          </p:nvSpPr>
          <p:spPr>
            <a:xfrm>
              <a:off x="5598795" y="413385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5803583" y="4398647"/>
              <a:ext cx="200023" cy="200023"/>
              <a:chOff x="5803583" y="439864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803583" y="43986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936933" y="44653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106287" y="4279582"/>
              <a:ext cx="50029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shareInt = shareInt + step 在机器上是「读、加、写」三步。两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个线程的三步交错，就可能得到 1、2、3 三种结果。</a:t>
              </a:r>
            </a:p>
          </p:txBody>
        </p:sp>
      </p:grpSp>
      <p:grpSp>
        <p:nvGrpSpPr>
          <p:cNvPr id="72" name="c2-card-3"/>
          <p:cNvGrpSpPr/>
          <p:nvPr/>
        </p:nvGrpSpPr>
        <p:grpSpPr>
          <a:xfrm>
            <a:off x="5598795" y="5037772"/>
            <a:ext cx="6059805" cy="1226820"/>
            <a:chOff x="5598795" y="5037772"/>
            <a:chExt cx="6059805" cy="1226820"/>
          </a:xfrm>
        </p:grpSpPr>
        <p:sp>
          <p:nvSpPr>
            <p:cNvPr id="66" name="Rectangle 66"/>
            <p:cNvSpPr/>
            <p:nvPr/>
          </p:nvSpPr>
          <p:spPr>
            <a:xfrm>
              <a:off x="5598795" y="5037772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608320" y="5171122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829300" y="52301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20740" y="52644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12992" y="5270183"/>
              <a:ext cx="3415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两个线程各做 100 万次（期望 3000000）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22442" y="5604510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不加锁三次运行：1984362、1003821、1000000。加上下一页的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以后三次都是 3000000。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同步区域：同一时间只能有一个线程拥有监控器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574482"/>
            <a:chOff x="533400" y="1524000"/>
            <a:chExt cx="5410200" cy="15744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250" y="1750695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37 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5772" y="1756410"/>
              <a:ext cx="243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同步区域（监控器 monitor）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4618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使用了锁（monitor）对象，Java 里任何对象都可以当锁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同一时间只能有一个线程拥有监控器对象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275177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69557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编程者需要根据需要设置监控器，决定哪些代码用哪把锁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273742"/>
            <a:ext cx="5410200" cy="1072515"/>
            <a:chOff x="533400" y="3273742"/>
            <a:chExt cx="5410200" cy="1072515"/>
          </a:xfrm>
        </p:grpSpPr>
        <p:sp>
          <p:nvSpPr>
            <p:cNvPr id="19" name="Rectangle 19"/>
            <p:cNvSpPr/>
            <p:nvPr/>
          </p:nvSpPr>
          <p:spPr>
            <a:xfrm>
              <a:off x="533400" y="3273742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342566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方法一：同步方法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416" y="3687128"/>
              <a:ext cx="375113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ReturnType methodName(parameterList)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method statement;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code-3"/>
          <p:cNvGrpSpPr/>
          <p:nvPr/>
        </p:nvGrpSpPr>
        <p:grpSpPr>
          <a:xfrm>
            <a:off x="533400" y="4520565"/>
            <a:ext cx="5410200" cy="1072515"/>
            <a:chOff x="533400" y="4520565"/>
            <a:chExt cx="5410200" cy="1072515"/>
          </a:xfrm>
        </p:grpSpPr>
        <p:sp>
          <p:nvSpPr>
            <p:cNvPr id="23" name="Rectangle 23"/>
            <p:cNvSpPr/>
            <p:nvPr/>
          </p:nvSpPr>
          <p:spPr>
            <a:xfrm>
              <a:off x="533400" y="4520565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46724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方法二：同步代码块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416" y="4933950"/>
              <a:ext cx="169754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(object)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248400" y="1524000"/>
            <a:ext cx="5410200" cy="1823085"/>
            <a:chOff x="6248400" y="1524000"/>
            <a:chExt cx="5410200" cy="182308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9875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26917" y="16483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锁的是哪个对象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8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实例同步方法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62098" y="205406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33553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8412" y="25598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静态同步方法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2098" y="2459831"/>
              <a:ext cx="14480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该类的 Class 对象（如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Counter.class）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8412" y="3065621"/>
              <a:ext cx="2124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(object) { … }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2098" y="306562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括号里的 object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05732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steps-2"/>
          <p:cNvGrpSpPr/>
          <p:nvPr/>
        </p:nvGrpSpPr>
        <p:grpSpPr>
          <a:xfrm>
            <a:off x="6248400" y="3531870"/>
            <a:ext cx="5111623" cy="1900714"/>
            <a:chOff x="6248400" y="3531870"/>
            <a:chExt cx="5111623" cy="1900714"/>
          </a:xfrm>
        </p:grpSpPr>
        <p:sp>
          <p:nvSpPr>
            <p:cNvPr id="42" name="Rectangle 42"/>
            <p:cNvSpPr/>
            <p:nvPr/>
          </p:nvSpPr>
          <p:spPr>
            <a:xfrm>
              <a:off x="6381750" y="3674745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248400" y="353187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36056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43262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4400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48400" y="491299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024" y="4986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642" y="356330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785" y="3831431"/>
              <a:ext cx="46982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线程执行到 synchronized 时申请锁；锁空闲就拿走，被占就进入阻塞态排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43576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462486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拿到锁的线程执行区域里的代码，其他想要同一把锁的线程都进不来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642" y="494442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785" y="52125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正常结束或抛出异常离开区域时自动释放锁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248400" y="5600700"/>
            <a:ext cx="5410200" cy="729615"/>
            <a:chOff x="6248400" y="5600700"/>
            <a:chExt cx="5410200" cy="729615"/>
          </a:xfrm>
        </p:grpSpPr>
        <p:sp>
          <p:nvSpPr>
            <p:cNvPr id="56" name="Rectangle 56"/>
            <p:cNvSpPr/>
            <p:nvPr/>
          </p:nvSpPr>
          <p:spPr>
            <a:xfrm>
              <a:off x="6248400" y="560070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453188" y="5865495"/>
              <a:ext cx="200026" cy="200025"/>
              <a:chOff x="6453188" y="586549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8654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92926" y="59099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27642" y="60210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755892" y="574738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同一个线程可以重复进入自己已持有的锁（可重入），同步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方法调用另一个同步方法不会自己把自己锁住。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7171" cy="909257"/>
            <a:chOff x="520446" y="342900"/>
            <a:chExt cx="64471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71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修复 shareInt：两个线程必须用同一把锁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327910"/>
            <a:chOff x="533400" y="1524000"/>
            <a:chExt cx="5410200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008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：原课件第 39 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14071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lock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线程1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shareInt = shareInt + 1;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线程2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shareInt = shareInt + 1;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042410"/>
            <a:ext cx="5410200" cy="2316480"/>
            <a:chOff x="533400" y="4042410"/>
            <a:chExt cx="5410200" cy="2316480"/>
          </a:xfrm>
        </p:grpSpPr>
        <p:sp>
          <p:nvSpPr>
            <p:cNvPr id="11" name="Rectangle 11"/>
            <p:cNvSpPr/>
            <p:nvPr/>
          </p:nvSpPr>
          <p:spPr>
            <a:xfrm>
              <a:off x="533400" y="4042410"/>
              <a:ext cx="5410200" cy="2316480"/>
            </a:xfrm>
            <a:prstGeom prst="roundRect">
              <a:avLst>
                <a:gd name="adj" fmla="val 5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75760"/>
              <a:ext cx="47625" cy="20497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3430" y="4276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为什么对了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46310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「读、加、写」三步都在同一把锁里完成，另一个线程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要等这三步全做完才能进来，不会再交错。实测结果恒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3000000。</a:t>
              </a:r>
            </a:p>
          </p:txBody>
        </p:sp>
      </p:grpSp>
      <p:grpSp>
        <p:nvGrpSpPr>
          <p:cNvPr id="19" name="c2-code-1"/>
          <p:cNvGrpSpPr/>
          <p:nvPr/>
        </p:nvGrpSpPr>
        <p:grpSpPr>
          <a:xfrm>
            <a:off x="6248400" y="1524000"/>
            <a:ext cx="5410200" cy="1516380"/>
            <a:chOff x="6248400" y="1524000"/>
            <a:chExt cx="5410200" cy="1516380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：各锁各的对象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6035" y="1937861"/>
              <a:ext cx="392303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lockA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Object(), lockB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线程1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(lockA) { shareInt = shareInt + 1; 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线程2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(lockB) { shareInt = shareInt + 2; }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248400" y="3230880"/>
            <a:ext cx="5410200" cy="1621155"/>
            <a:chOff x="6248400" y="3230880"/>
            <a:chExt cx="5410200" cy="1621155"/>
          </a:xfrm>
        </p:grpSpPr>
        <p:sp>
          <p:nvSpPr>
            <p:cNvPr id="20" name="Rectangle 20"/>
            <p:cNvSpPr/>
            <p:nvPr/>
          </p:nvSpPr>
          <p:spPr>
            <a:xfrm>
              <a:off x="6248400" y="323088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336423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34404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6258" y="3476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7078" y="3475672"/>
              <a:ext cx="2784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2001459，期望 3000000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3836670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两把锁互不排斥，等于没加锁。常见的同类错误还有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synchronized (new Object())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，每次都锁一个新对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</a:t>
              </a:r>
            </a:p>
          </p:txBody>
        </p:sp>
      </p:grpSp>
      <p:grpSp>
        <p:nvGrpSpPr>
          <p:cNvPr id="32" name="c2-card-3"/>
          <p:cNvGrpSpPr/>
          <p:nvPr/>
        </p:nvGrpSpPr>
        <p:grpSpPr>
          <a:xfrm>
            <a:off x="6248400" y="5042535"/>
            <a:ext cx="5410200" cy="1316355"/>
            <a:chOff x="6248400" y="5042535"/>
            <a:chExt cx="5410200" cy="1316355"/>
          </a:xfrm>
        </p:grpSpPr>
        <p:sp>
          <p:nvSpPr>
            <p:cNvPr id="27" name="Rectangle 27"/>
            <p:cNvSpPr/>
            <p:nvPr/>
          </p:nvSpPr>
          <p:spPr>
            <a:xfrm>
              <a:off x="6248400" y="504253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517588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52520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73456" y="52878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原课件笔误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8430" y="5629275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39 页语句末尾用的是中文分号「；」，照抄编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译不过，这里已改成英文分号。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43995" cy="909257"/>
            <a:chOff x="520446" y="342900"/>
            <a:chExt cx="63439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439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协作机制：wait 方法簇与 notify 方法簇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842635" cy="1799272"/>
            <a:chOff x="533400" y="1524000"/>
            <a:chExt cx="5842635" cy="17992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799272"/>
            </a:xfrm>
            <a:prstGeom prst="roundRect">
              <a:avLst>
                <a:gd name="adj" fmla="val 74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3257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250" y="1750695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49 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5772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多线程程序如何协作完成任务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3793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在共享内存中设置标记（比如 count、taken）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2291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提供了一种通知机制：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2691289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wait 方法簇：在一个引用对象上等待接收通知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8190" y="2955131"/>
              <a:ext cx="473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notify 方法簇：通知等待的线程事件已经发生，选择一个等待线程唤醒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498532"/>
            <a:ext cx="5842635" cy="2634615"/>
            <a:chOff x="533400" y="3498532"/>
            <a:chExt cx="5842635" cy="2634615"/>
          </a:xfrm>
        </p:grpSpPr>
        <p:sp>
          <p:nvSpPr>
            <p:cNvPr id="19" name="Rectangle 19"/>
            <p:cNvSpPr/>
            <p:nvPr/>
          </p:nvSpPr>
          <p:spPr>
            <a:xfrm>
              <a:off x="533400" y="3498532"/>
              <a:ext cx="584263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03742" y="3622834"/>
              <a:ext cx="1031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Object 的方法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4103" y="3622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412" y="4028599"/>
              <a:ext cx="1285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wait()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04210" y="402859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释放该对象的锁，等待通知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3053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310062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434364"/>
              <a:ext cx="2243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wait(long timeout)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04210" y="4434364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最多等 timeout 毫秒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110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840129"/>
              <a:ext cx="211729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wait(long timeout,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nanos)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04210" y="4940141"/>
              <a:ext cx="215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 nanos 纳秒（0～999999）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3168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321618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5445919"/>
              <a:ext cx="1428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notify()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04210" y="544591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唤醒在此对象上等待的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722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5851684"/>
              <a:ext cx="161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notifyAll()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04210" y="585168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唤醒在此对象上等待的所有线程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498532"/>
              <a:ext cx="5842635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099435" y="3498532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6680835" y="1524000"/>
            <a:ext cx="4977765" cy="2603182"/>
            <a:chOff x="6680835" y="1524000"/>
            <a:chExt cx="4977765" cy="2603182"/>
          </a:xfrm>
        </p:grpSpPr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2603182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1657350"/>
              <a:ext cx="47625" cy="23364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1134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278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5032" y="1756410"/>
              <a:ext cx="2533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50 页 Object 类清单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4482" y="2090738"/>
              <a:ext cx="43771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注释写「notify() 唤醒当前线程」不对：当前线程正在运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行，谈不上唤醒。应为唤醒在此对象监控器上等待的一个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4482" y="2907030"/>
              <a:ext cx="42313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该页标题「3.4 Java 标准类库」是从第 3 章搬来的，这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里只摘与线程有关的方法。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4482" y="3467100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清单里的 finalize() 自 JDK 9 起废弃，JDK 18 起标记为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待删除，不要再用。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4302442"/>
            <a:ext cx="4977765" cy="1830705"/>
            <a:chOff x="6680835" y="4302442"/>
            <a:chExt cx="4977765" cy="1830705"/>
          </a:xfrm>
        </p:grpSpPr>
        <p:sp>
          <p:nvSpPr>
            <p:cNvPr id="50" name="Rectangle 50"/>
            <p:cNvSpPr/>
            <p:nvPr/>
          </p:nvSpPr>
          <p:spPr>
            <a:xfrm>
              <a:off x="6680835" y="4302442"/>
              <a:ext cx="4977765" cy="1830705"/>
            </a:xfrm>
            <a:prstGeom prst="roundRect">
              <a:avLst>
                <a:gd name="adj" fmla="val 7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0360" y="4435792"/>
              <a:ext cx="47625" cy="15640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11340" y="44948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02780" y="45291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95032" y="453485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必须先拿到这个对象的锁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04482" y="4869180"/>
              <a:ext cx="41970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wait/notify 只能在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synchronized (obj)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里对 obj 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用。没拿锁就调用，抛 IllegalMonitorStateException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（实测）。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89712" cy="909257"/>
            <a:chOff x="520446" y="342900"/>
            <a:chExt cx="51897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897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wait() 之后线程经历的五步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228356" cy="3031236"/>
            <a:chOff x="533400" y="1533525"/>
            <a:chExt cx="5228356" cy="30312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1669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进入等待态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3655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获得锁后才可调用 wait()，调用后线程进入等待态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释放锁，暂停运行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把监控器的锁交出去，别的线程才能进同步区域改条件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条件满足后恢复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481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别的线程改好条件并 notify / notifyAll，或者超时、被 interrupt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29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重新申请锁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70998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申请监控器的锁，拿不到就进入阻塞态排队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4955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30065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拿到锁后，从 wait() 的下一句接着运行</a:t>
              </a:r>
            </a:p>
          </p:txBody>
        </p:sp>
      </p:grpSp>
      <p:grpSp>
        <p:nvGrpSpPr>
          <p:cNvPr id="32" name="c1-code-2"/>
          <p:cNvGrpSpPr/>
          <p:nvPr/>
        </p:nvGrpSpPr>
        <p:grpSpPr>
          <a:xfrm>
            <a:off x="533400" y="4741545"/>
            <a:ext cx="5626418" cy="1516380"/>
            <a:chOff x="533400" y="4741545"/>
            <a:chExt cx="5626418" cy="1516380"/>
          </a:xfrm>
        </p:grpSpPr>
        <p:sp>
          <p:nvSpPr>
            <p:cNvPr id="29" name="Rectangle 29"/>
            <p:cNvSpPr/>
            <p:nvPr/>
          </p:nvSpPr>
          <p:spPr>
            <a:xfrm>
              <a:off x="533400" y="4741545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797" y="489346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由此得到的固定写法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035" y="5155406"/>
              <a:ext cx="402971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(obj)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(!条件) obj.wait();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醒来再查一遍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条件满足，干活并修改共享状态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obj.notifyAll();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告诉等待者状态变了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7" name="c2-compare-1"/>
          <p:cNvGrpSpPr/>
          <p:nvPr/>
        </p:nvGrpSpPr>
        <p:grpSpPr>
          <a:xfrm>
            <a:off x="6464618" y="1524000"/>
            <a:ext cx="5193982" cy="2224088"/>
            <a:chOff x="6464618" y="1524000"/>
            <a:chExt cx="5193982" cy="2224088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2386965" cy="2224088"/>
            </a:xfrm>
            <a:prstGeom prst="roundRect">
              <a:avLst>
                <a:gd name="adj" fmla="val 59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95738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99314" y="1751171"/>
              <a:ext cx="666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714172" y="214979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70764" y="2090261"/>
              <a:ext cx="16553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的实例方法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14172" y="246983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70764" y="241030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必须持有该对象的锁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4172" y="2789873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0764" y="273034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等待期间释放锁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4172" y="310991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0764" y="3050381"/>
              <a:ext cx="17006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 notify、超时或中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断醒来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71635" y="1524000"/>
              <a:ext cx="2386965" cy="2224088"/>
            </a:xfrm>
            <a:prstGeom prst="roundRect">
              <a:avLst>
                <a:gd name="adj" fmla="val 59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281160" y="1657350"/>
              <a:ext cx="47625" cy="19573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06331" y="1751171"/>
              <a:ext cx="7370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sleep()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9521190" y="214979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77781" y="2090261"/>
              <a:ext cx="16649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的静态方法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521190" y="246983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77781" y="241030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在哪里都能调用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521190" y="2789873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77781" y="273034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休眠期间不释放锁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521190" y="310991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77781" y="305038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时间到或被中断才醒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900160" y="247364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70500" y="25707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3932872"/>
            <a:ext cx="5193982" cy="2324100"/>
            <a:chOff x="6464618" y="3932872"/>
            <a:chExt cx="5193982" cy="2324100"/>
          </a:xfrm>
        </p:grpSpPr>
        <p:sp>
          <p:nvSpPr>
            <p:cNvPr id="58" name="Rectangle 58"/>
            <p:cNvSpPr/>
            <p:nvPr/>
          </p:nvSpPr>
          <p:spPr>
            <a:xfrm>
              <a:off x="6464618" y="3932872"/>
              <a:ext cx="5193982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4066222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06552" y="41367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97713" y="41724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99314" y="4510564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一个线程在同步块里 sleep(500)，另一个线程想进同一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把锁：状态为 BLOCKED。换成 wait(500)：main 立刻拿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到了锁。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生产者与消费者：一个仓库，两种等待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graph-1"/>
          <p:cNvGrpSpPr/>
          <p:nvPr/>
        </p:nvGrpSpPr>
        <p:grpSpPr>
          <a:xfrm>
            <a:off x="812482" y="2586990"/>
            <a:ext cx="5393056" cy="2911793"/>
            <a:chOff x="812482" y="2586990"/>
            <a:chExt cx="5393056" cy="2911793"/>
          </a:xfrm>
        </p:grpSpPr>
        <p:sp>
          <p:nvSpPr>
            <p:cNvPr id="7" name="Freeform 7"/>
            <p:cNvSpPr/>
            <p:nvPr/>
          </p:nvSpPr>
          <p:spPr>
            <a:xfrm>
              <a:off x="1921192" y="2910840"/>
              <a:ext cx="753428" cy="9525"/>
            </a:xfrm>
            <a:custGeom>
              <a:avLst/>
              <a:gdLst/>
              <a:ahLst/>
              <a:cxnLst/>
              <a:rect l="l" t="t" r="r" b="b"/>
              <a:pathLst>
                <a:path w="753428" h="9525">
                  <a:moveTo>
                    <a:pt x="0" y="0"/>
                  </a:moveTo>
                  <a:lnTo>
                    <a:pt x="7534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74620" y="28632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248150" y="2910840"/>
              <a:ext cx="753428" cy="9525"/>
            </a:xfrm>
            <a:custGeom>
              <a:avLst/>
              <a:gdLst/>
              <a:ahLst/>
              <a:cxnLst/>
              <a:rect l="l" t="t" r="r" b="b"/>
              <a:pathLst>
                <a:path w="753428" h="9525">
                  <a:moveTo>
                    <a:pt x="0" y="0"/>
                  </a:moveTo>
                  <a:lnTo>
                    <a:pt x="7534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01578" y="28632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21130" y="3263265"/>
              <a:ext cx="244793" cy="1586865"/>
            </a:xfrm>
            <a:custGeom>
              <a:avLst/>
              <a:gdLst/>
              <a:ahLst/>
              <a:cxnLst/>
              <a:rect l="l" t="t" r="r" b="b"/>
              <a:pathLst>
                <a:path w="244793" h="1586865">
                  <a:moveTo>
                    <a:pt x="0" y="0"/>
                  </a:moveTo>
                  <a:lnTo>
                    <a:pt x="244793" y="15868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9250" y="4843462"/>
              <a:ext cx="94298" cy="100965"/>
            </a:xfrm>
            <a:custGeom>
              <a:avLst/>
              <a:gdLst/>
              <a:ahLst/>
              <a:cxnLst/>
              <a:rect l="l" t="t" r="r" b="b"/>
              <a:pathLst>
                <a:path w="94298" h="100965">
                  <a:moveTo>
                    <a:pt x="61912" y="100965"/>
                  </a:moveTo>
                  <a:lnTo>
                    <a:pt x="0" y="14288"/>
                  </a:lnTo>
                  <a:lnTo>
                    <a:pt x="9429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74458" y="3168968"/>
              <a:ext cx="93345" cy="101917"/>
            </a:xfrm>
            <a:custGeom>
              <a:avLst/>
              <a:gdLst/>
              <a:ahLst/>
              <a:cxnLst/>
              <a:rect l="l" t="t" r="r" b="b"/>
              <a:pathLst>
                <a:path w="93345" h="101917">
                  <a:moveTo>
                    <a:pt x="32385" y="0"/>
                  </a:moveTo>
                  <a:lnTo>
                    <a:pt x="93345" y="87630"/>
                  </a:lnTo>
                  <a:lnTo>
                    <a:pt x="0" y="1019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352098" y="3263265"/>
              <a:ext cx="244793" cy="1586865"/>
            </a:xfrm>
            <a:custGeom>
              <a:avLst/>
              <a:gdLst/>
              <a:ahLst/>
              <a:cxnLst/>
              <a:rect l="l" t="t" r="r" b="b"/>
              <a:pathLst>
                <a:path w="244793" h="1586865">
                  <a:moveTo>
                    <a:pt x="244793" y="0"/>
                  </a:moveTo>
                  <a:lnTo>
                    <a:pt x="0" y="15868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5304472" y="4843462"/>
              <a:ext cx="94297" cy="100965"/>
            </a:xfrm>
            <a:custGeom>
              <a:avLst/>
              <a:gdLst/>
              <a:ahLst/>
              <a:cxnLst/>
              <a:rect l="l" t="t" r="r" b="b"/>
              <a:pathLst>
                <a:path w="94297" h="100965">
                  <a:moveTo>
                    <a:pt x="32385" y="100965"/>
                  </a:moveTo>
                  <a:lnTo>
                    <a:pt x="0" y="0"/>
                  </a:lnTo>
                  <a:lnTo>
                    <a:pt x="94297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550218" y="3168968"/>
              <a:ext cx="93345" cy="101917"/>
            </a:xfrm>
            <a:custGeom>
              <a:avLst/>
              <a:gdLst/>
              <a:ahLst/>
              <a:cxnLst/>
              <a:rect l="l" t="t" r="r" b="b"/>
              <a:pathLst>
                <a:path w="93345" h="101917">
                  <a:moveTo>
                    <a:pt x="60960" y="0"/>
                  </a:moveTo>
                  <a:lnTo>
                    <a:pt x="93345" y="101917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2482" y="2651760"/>
              <a:ext cx="1108710" cy="517208"/>
            </a:xfrm>
            <a:prstGeom prst="roundRect">
              <a:avLst>
                <a:gd name="adj" fmla="val 184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69870" y="2586990"/>
              <a:ext cx="1478280" cy="646748"/>
            </a:xfrm>
            <a:prstGeom prst="roundRect">
              <a:avLst>
                <a:gd name="adj" fmla="val 1472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96828" y="2651760"/>
              <a:ext cx="1108710" cy="517208"/>
            </a:xfrm>
            <a:prstGeom prst="roundRect">
              <a:avLst>
                <a:gd name="adj" fmla="val 184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5820" y="4944428"/>
              <a:ext cx="1755458" cy="554355"/>
            </a:xfrm>
            <a:prstGeom prst="roundRect">
              <a:avLst>
                <a:gd name="adj" fmla="val 17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6742" y="4944428"/>
              <a:ext cx="1755458" cy="554355"/>
            </a:xfrm>
            <a:prstGeom prst="roundRect">
              <a:avLst>
                <a:gd name="adj" fmla="val 17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18426" y="2740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3085" y="2930842"/>
              <a:ext cx="727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46684" y="2740342"/>
              <a:ext cx="1324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仓库 Storehouse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79826" y="29308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容量有限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02770" y="2740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87430" y="2930842"/>
              <a:ext cx="727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7916" y="5052060"/>
              <a:ext cx="1312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仓库满：put 等待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0209" y="52425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消费者取走一件后通知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1240" y="5052060"/>
              <a:ext cx="1405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仓库空：take 等待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0179" y="52425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生产者放入一件后通知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11680" y="2817495"/>
              <a:ext cx="6677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26774" y="2852261"/>
              <a:ext cx="6365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put(产品)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29125" y="2817495"/>
              <a:ext cx="48672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50331" y="2852261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take()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789420" y="1524000"/>
            <a:ext cx="4869180" cy="1290638"/>
            <a:chOff x="6789420" y="1524000"/>
            <a:chExt cx="4869180" cy="1290638"/>
          </a:xfrm>
        </p:grpSpPr>
        <p:sp>
          <p:nvSpPr>
            <p:cNvPr id="37" name="Rectangle 37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566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3059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453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等谁通知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4766" y="2085022"/>
              <a:ext cx="827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 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3484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仓库满了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13239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消费者取走一件之后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4766" y="2515552"/>
              <a:ext cx="920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 take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63484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仓库空了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13239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生产者放入一件之后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89420" y="1524000"/>
              <a:ext cx="486918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53375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03130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789420" y="2999422"/>
            <a:ext cx="4869180" cy="2205038"/>
            <a:chOff x="6789420" y="2999422"/>
            <a:chExt cx="4869180" cy="2205038"/>
          </a:xfrm>
        </p:grpSpPr>
        <p:sp>
          <p:nvSpPr>
            <p:cNvPr id="53" name="Rectangle 53"/>
            <p:cNvSpPr/>
            <p:nvPr/>
          </p:nvSpPr>
          <p:spPr>
            <a:xfrm>
              <a:off x="6789420" y="2999422"/>
              <a:ext cx="486918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98945" y="3132772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031355" y="320325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13664" y="32389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16608" y="324373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用数组做环形缓冲区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38975" y="365569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95566" y="3595211"/>
              <a:ext cx="1696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items[]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：存放产品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038975" y="397573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95566" y="3915251"/>
              <a:ext cx="40090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putptr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takeptr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：下一次放、取的位置，到末尾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 0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038975" y="456723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5566" y="4506754"/>
              <a:ext cx="40180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count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：当前件数，0 表示空，等于 items.length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表示满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789420" y="5390198"/>
            <a:ext cx="4869180" cy="756285"/>
            <a:chOff x="6789420" y="5390198"/>
            <a:chExt cx="4869180" cy="756285"/>
          </a:xfrm>
        </p:grpSpPr>
        <p:sp>
          <p:nvSpPr>
            <p:cNvPr id="65" name="Rectangle 65"/>
            <p:cNvSpPr/>
            <p:nvPr/>
          </p:nvSpPr>
          <p:spPr>
            <a:xfrm>
              <a:off x="6789420" y="5390198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994208" y="5668330"/>
              <a:ext cx="200023" cy="200023"/>
              <a:chOff x="6994208" y="566833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994208" y="56683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127558" y="5735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296531" y="5537359"/>
              <a:ext cx="399097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判断空满、修改 count、发通知，这几步必须在同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一把锁里完成，否则又回到读写不一致。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26001" cy="909257"/>
            <a:chOff x="520446" y="342900"/>
            <a:chExt cx="92260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260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9.6　原课件的缓冲区：用了 lock 和 emptyLock 两把锁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2830830"/>
            <a:chOff x="533400" y="1524000"/>
            <a:chExt cx="5410200" cy="2830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30830"/>
            </a:xfrm>
            <a:prstGeom prst="roundRect">
              <a:avLst>
                <a:gd name="adj" fmla="val 33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974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put（原课件第 53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66010"/>
              <a:ext cx="537210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575"/>
              <a:ext cx="3313430" cy="2327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lock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emptyLock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Object();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put(Object x)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items.length)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lock.wait();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等待take线程取走数据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items[putptr] = x;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(++putptr == items.length)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putptr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++count;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(emptyLock)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emptyLock.notify();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通知take线程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table-2"/>
          <p:cNvGrpSpPr/>
          <p:nvPr/>
        </p:nvGrpSpPr>
        <p:grpSpPr>
          <a:xfrm>
            <a:off x="528447" y="4524375"/>
            <a:ext cx="5415153" cy="1863756"/>
            <a:chOff x="528447" y="4524375"/>
            <a:chExt cx="5415153" cy="1863756"/>
          </a:xfrm>
        </p:grpSpPr>
        <p:sp>
          <p:nvSpPr>
            <p:cNvPr id="12" name="Rectangle 12"/>
            <p:cNvSpPr/>
            <p:nvPr/>
          </p:nvSpPr>
          <p:spPr>
            <a:xfrm>
              <a:off x="533400" y="4524375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13053" y="46458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锁对象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6605" y="46458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作者想让它负责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555" y="5145881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53615" y="5045869"/>
              <a:ext cx="34109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 items、putptr、takeptr、count；缓冲区满时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 在它上面等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5519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552450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0555" y="5745956"/>
              <a:ext cx="8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emptyLock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53615" y="5645944"/>
              <a:ext cx="3389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缓冲区空时 take 在它上面等，put 放入后在它上面通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24375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151698" y="452437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447" y="6197441"/>
              <a:ext cx="4110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两种等待分开挂在两个对象上，思路和第四部分的两个 Condition 相同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2830830"/>
            <a:chOff x="6248400" y="1524000"/>
            <a:chExt cx="5410200" cy="283083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830830"/>
            </a:xfrm>
            <a:prstGeom prst="roundRect">
              <a:avLst>
                <a:gd name="adj" fmla="val 33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675924"/>
              <a:ext cx="14736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take（原课件第 54 页）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67450" y="2057400"/>
              <a:ext cx="537210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67450" y="2521268"/>
              <a:ext cx="537210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988" y="1935575"/>
              <a:ext cx="3297047" cy="2327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take()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0)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(emptyLock) {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如果为空，等待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emptyLock.wait();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 x = items[takeptr];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(++takeptr == items.length)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takeptr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--count;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lock.notify();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通知put线程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248400" y="4524375"/>
            <a:ext cx="5410200" cy="1825942"/>
            <a:chOff x="6248400" y="4524375"/>
            <a:chExt cx="5410200" cy="1825942"/>
          </a:xfrm>
        </p:grpSpPr>
        <p:sp>
          <p:nvSpPr>
            <p:cNvPr id="31" name="Rectangle 31"/>
            <p:cNvSpPr/>
            <p:nvPr/>
          </p:nvSpPr>
          <p:spPr>
            <a:xfrm>
              <a:off x="6248400" y="4524375"/>
              <a:ext cx="5410200" cy="1825942"/>
            </a:xfrm>
            <a:prstGeom prst="roundRect">
              <a:avLst>
                <a:gd name="adj" fmla="val 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41129" y="5333166"/>
              <a:ext cx="224134" cy="192560"/>
              <a:chOff x="6441129" y="5333166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53200" y="54035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41129" y="53331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53200" y="54813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55892" y="5218748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先别往下翻，想一想：缓冲区为空时消费者先来调用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take()，接着生产者调用 put()，会发生什么？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1664" cy="909257"/>
            <a:chOff x="520446" y="342900"/>
            <a:chExt cx="8621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1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9.6 分析：消费者拿着 lock 睡着，生产者永远进不来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051825" cy="2268379"/>
            <a:chOff x="533400" y="1533525"/>
            <a:chExt cx="5051825" cy="226837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1609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消费者进入 take()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2836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 lock；count == 0，再拿 emptyLock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1729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emptyLock.wait()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2853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只释放 emptyLock，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lock 仍在消费者手里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0818"/>
              <a:ext cx="1504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生产者调用 put()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99894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卡在 synchronized (lock)，进入阻塞态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13748"/>
              <a:ext cx="1198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没人能 notify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81876"/>
              <a:ext cx="4638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能唤醒消费者的只有 put 里的 emptyLock.notify()，而 put 进不来</a:t>
              </a:r>
            </a:p>
          </p:txBody>
        </p:sp>
      </p:grpSp>
      <p:grpSp>
        <p:nvGrpSpPr>
          <p:cNvPr id="28" name="c1-code-2"/>
          <p:cNvGrpSpPr/>
          <p:nvPr/>
        </p:nvGrpSpPr>
        <p:grpSpPr>
          <a:xfrm>
            <a:off x="533400" y="3965258"/>
            <a:ext cx="5842635" cy="858202"/>
            <a:chOff x="533400" y="3965258"/>
            <a:chExt cx="5842635" cy="858202"/>
          </a:xfrm>
        </p:grpSpPr>
        <p:sp>
          <p:nvSpPr>
            <p:cNvPr id="25" name="Rectangle 25"/>
            <p:cNvSpPr/>
            <p:nvPr/>
          </p:nvSpPr>
          <p:spPr>
            <a:xfrm>
              <a:off x="533400" y="3965258"/>
              <a:ext cx="584263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4117181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实测（缓冲区为空，消费者先到）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797" y="4378166"/>
              <a:ext cx="2916047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 秒后 consumer: WAITING，producer: BLOCKED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count = 0</a:t>
              </a:r>
            </a:p>
          </p:txBody>
        </p:sp>
      </p:grpSp>
      <p:grpSp>
        <p:nvGrpSpPr>
          <p:cNvPr id="50" name="c1-table-3"/>
          <p:cNvGrpSpPr/>
          <p:nvPr/>
        </p:nvGrpSpPr>
        <p:grpSpPr>
          <a:xfrm>
            <a:off x="533400" y="4993005"/>
            <a:ext cx="5842635" cy="1200150"/>
            <a:chOff x="533400" y="4993005"/>
            <a:chExt cx="5842635" cy="1200150"/>
          </a:xfrm>
        </p:grpSpPr>
        <p:sp>
          <p:nvSpPr>
            <p:cNvPr id="29" name="Rectangle 29"/>
            <p:cNvSpPr/>
            <p:nvPr/>
          </p:nvSpPr>
          <p:spPr>
            <a:xfrm>
              <a:off x="533400" y="4993005"/>
              <a:ext cx="584263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2691" y="51144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37791" y="51144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占着什么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07549" y="51144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在等什么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93766" y="51144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555" y="55144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594485" y="5402580"/>
              <a:ext cx="150018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82115" y="5514499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01352" y="5514499"/>
              <a:ext cx="1644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emptyLock 上的 notify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21630" y="5514499"/>
              <a:ext cx="576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7883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579310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59145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82115" y="59145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113722" y="5802630"/>
              <a:ext cx="220122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01352" y="5914549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 被释放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21630" y="5914549"/>
              <a:ext cx="656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93005"/>
              <a:ext cx="584263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580198" y="499300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099435" y="499300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19712" y="499300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1"/>
          <p:cNvGrpSpPr/>
          <p:nvPr/>
        </p:nvGrpSpPr>
        <p:grpSpPr>
          <a:xfrm>
            <a:off x="6680835" y="1524000"/>
            <a:ext cx="4977765" cy="2274570"/>
            <a:chOff x="6680835" y="1524000"/>
            <a:chExt cx="4977765" cy="2274570"/>
          </a:xfrm>
        </p:grpSpPr>
        <p:sp>
          <p:nvSpPr>
            <p:cNvPr id="51" name="Rectangle 51"/>
            <p:cNvSpPr/>
            <p:nvPr/>
          </p:nvSpPr>
          <p:spPr>
            <a:xfrm>
              <a:off x="6680835" y="1524000"/>
              <a:ext cx="497776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0360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562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8297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72172" y="1745932"/>
              <a:ext cx="2728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53、54 页的代码会卡死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8767" y="2071688"/>
              <a:ext cx="43428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 只释放被调用的那个对象的锁。take() 在持有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 时对 emptyLock 调用 wait()，外层的 lock 不会释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放，生产者就再也拿不到 lock。这种情形叫嵌套监控器锁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死（nested monitor lockout）。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98767" y="3143250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改法：只用一把锁，空和满两种等待都在这把锁上 wait，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见下一页。要分开两种等待，用第四部分的 Condition。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680835" y="3968115"/>
            <a:ext cx="4977765" cy="729615"/>
            <a:chOff x="6680835" y="3968115"/>
            <a:chExt cx="4977765" cy="729615"/>
          </a:xfrm>
        </p:grpSpPr>
        <p:sp>
          <p:nvSpPr>
            <p:cNvPr id="59" name="Rectangle 59"/>
            <p:cNvSpPr/>
            <p:nvPr/>
          </p:nvSpPr>
          <p:spPr>
            <a:xfrm>
              <a:off x="6680835" y="396811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885623" y="4232910"/>
              <a:ext cx="200026" cy="200025"/>
              <a:chOff x="6885623" y="423291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885623" y="42329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25361" y="42773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60077" y="43884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188327" y="4113848"/>
              <a:ext cx="40942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判断规则：持有锁 A 时去 B.wait()，要先确认别人不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需要锁 A 就能叫醒你。</a:t>
              </a:r>
            </a:p>
          </p:txBody>
        </p:sp>
      </p:grpSp>
      <p:grpSp>
        <p:nvGrpSpPr>
          <p:cNvPr id="71" name="c2-card-3"/>
          <p:cNvGrpSpPr/>
          <p:nvPr/>
        </p:nvGrpSpPr>
        <p:grpSpPr>
          <a:xfrm>
            <a:off x="6680835" y="4867275"/>
            <a:ext cx="4977765" cy="1443038"/>
            <a:chOff x="6680835" y="4867275"/>
            <a:chExt cx="4977765" cy="1443038"/>
          </a:xfrm>
        </p:grpSpPr>
        <p:sp>
          <p:nvSpPr>
            <p:cNvPr id="66" name="Rectangle 66"/>
            <p:cNvSpPr/>
            <p:nvPr/>
          </p:nvSpPr>
          <p:spPr>
            <a:xfrm>
              <a:off x="6680835" y="4867275"/>
              <a:ext cx="497776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0360" y="500062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05625" y="505396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75894" y="508682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为什么不容易发现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98767" y="5398770"/>
              <a:ext cx="43771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只要消费者每次来取时缓冲区里恰好有货，take() 就不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会进入 wait，程序看起来一切正常。只有消费者先到、缓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冲区为空时才会卡死，所以随手测几次常常测不出来。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11989" cy="909257"/>
            <a:chOff x="520446" y="342900"/>
            <a:chExt cx="71119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119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更正版：一把锁，while 判断，notifyAll 通知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059805" cy="4029075"/>
            <a:chOff x="533400" y="1524000"/>
            <a:chExt cx="6059805" cy="4029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29075"/>
            </a:xfrm>
            <a:prstGeom prst="roundRect">
              <a:avLst>
                <a:gd name="adj" fmla="val 2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129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86131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501390"/>
              <a:ext cx="602170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5194"/>
              <a:ext cx="4435221" cy="3533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SyncBuffer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items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Object[4];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putptr, takeptr, count;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put(Object x)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items.length)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wait();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满了：释放锁，等消费者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items[putptr] = x;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(++putptr == items.length) putptr = 0;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++count;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notifyAll();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叫醒等「不空」的消费者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take()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0)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wait();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空了：释放锁，等生产者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 x = items[takeptr];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(++takeptr == items.length) takeptr = 0;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--count;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notifyAll();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叫醒等「不满」的生产者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table-1"/>
          <p:cNvGrpSpPr/>
          <p:nvPr/>
        </p:nvGrpSpPr>
        <p:grpSpPr>
          <a:xfrm>
            <a:off x="6898005" y="1524000"/>
            <a:ext cx="4760595" cy="2023110"/>
            <a:chOff x="6898005" y="1524000"/>
            <a:chExt cx="4760595" cy="2023110"/>
          </a:xfrm>
        </p:grpSpPr>
        <p:sp>
          <p:nvSpPr>
            <p:cNvPr id="14" name="Rectangle 14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9306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7336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98017" y="2154079"/>
              <a:ext cx="1181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 emptyLock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02065" y="2054066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等待时释放的就是唯一的锁，生产者能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98005" y="25307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98005" y="253555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8017" y="2659856"/>
              <a:ext cx="1516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方法加 synchronized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02065" y="2659856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锁就是缓冲区对象自己（this）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9365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8017" y="3165634"/>
              <a:ext cx="1409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 改 notifyAll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2065" y="3065621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生产者和消费者在同一个对象上等待，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 可能叫醒同类，程序可能停住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98005" y="1524000"/>
              <a:ext cx="476059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797290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2-card-2"/>
          <p:cNvGrpSpPr/>
          <p:nvPr/>
        </p:nvGrpSpPr>
        <p:grpSpPr>
          <a:xfrm>
            <a:off x="6898005" y="3722370"/>
            <a:ext cx="4760595" cy="1195388"/>
            <a:chOff x="6898005" y="3722370"/>
            <a:chExt cx="4760595" cy="1195388"/>
          </a:xfrm>
        </p:grpSpPr>
        <p:sp>
          <p:nvSpPr>
            <p:cNvPr id="29" name="Rectangle 29"/>
            <p:cNvSpPr/>
            <p:nvPr/>
          </p:nvSpPr>
          <p:spPr>
            <a:xfrm>
              <a:off x="6898005" y="3722370"/>
              <a:ext cx="4760595" cy="1195388"/>
            </a:xfrm>
            <a:prstGeom prst="roundRect">
              <a:avLst>
                <a:gd name="adj" fmla="val 11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7530" y="3855720"/>
              <a:ext cx="47625" cy="928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21652" y="39366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21652" y="425672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同样让消费者先到。生产者放入 1 到 1000，消费者取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 1000 个，和为 500500，结束时 count = 0。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898005" y="5092065"/>
            <a:ext cx="4760595" cy="729615"/>
            <a:chOff x="6898005" y="5092065"/>
            <a:chExt cx="4760595" cy="729615"/>
          </a:xfrm>
        </p:grpSpPr>
        <p:sp>
          <p:nvSpPr>
            <p:cNvPr id="34" name="Rectangle 34"/>
            <p:cNvSpPr/>
            <p:nvPr/>
          </p:nvSpPr>
          <p:spPr>
            <a:xfrm>
              <a:off x="6898005" y="509206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102793" y="5356860"/>
              <a:ext cx="200026" cy="200026"/>
              <a:chOff x="7102793" y="535686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102793" y="53568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02805" y="54235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91693" y="54568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405497" y="5238750"/>
              <a:ext cx="37427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的作用：被叫醒时条件可能又被别的线程改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掉了，必须回头再检查一次。第 35 页有实测。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线程同步注意事项（一）：锁和通知都不保证顺序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6059805" cy="4084320"/>
            <a:chOff x="533400" y="1524000"/>
            <a:chExt cx="6059805" cy="4084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16167" y="1663065"/>
              <a:ext cx="1385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63 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291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2738914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⑴ 对象的锁被释放时，阻塞线程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synchronized 方法并不保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证一定能立刻成为下一个获得锁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的线程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90950" y="2417445"/>
              <a:ext cx="2577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排队抢锁的顺序由 JVM 决定，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不是先来先得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2946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3299460"/>
              <a:ext cx="6059805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3438525"/>
              <a:ext cx="2682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⑵ 调用 wait() 进入等待态的线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程，经其他线程调用 notify()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之后并不保证一定会脱离等待态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90950" y="3438525"/>
              <a:ext cx="25584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 只叫醒一个，叫醒哪个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不确定；你等的线程可能没被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3157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4459605"/>
              <a:ext cx="2682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⑶ 在同步方法中建议用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notifyAll() 唤醒所有等待态线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程，而将同步线程的控制选择权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交由标记变量控制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0950" y="4592955"/>
              <a:ext cx="25012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全叫醒，各自回去检查标记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（count 等），不满足的继续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059805" cy="4084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79508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8" name="c2-card-1"/>
          <p:cNvGrpSpPr/>
          <p:nvPr/>
        </p:nvGrpSpPr>
        <p:grpSpPr>
          <a:xfrm>
            <a:off x="6898005" y="1524000"/>
            <a:ext cx="4760595" cy="2192655"/>
            <a:chOff x="6898005" y="1524000"/>
            <a:chExt cx="4760595" cy="2192655"/>
          </a:xfrm>
        </p:grpSpPr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2192655"/>
            </a:xfrm>
            <a:prstGeom prst="roundRect">
              <a:avLst>
                <a:gd name="adj" fmla="val 60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07530" y="1657350"/>
              <a:ext cx="47625" cy="1925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5730" y="1768792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⑶ 条的「包括该线程自身」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8035" y="2129790"/>
              <a:ext cx="408241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notifyAll() 唤醒所有等待态线程「包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括该线程自身」。调用 notifyAll() 的线程正在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运行，不在等待队列里，唤醒不到自己。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notifyAll() 唤醒的是此刻在该对象上 wait 的全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部其他线程。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898005" y="3907155"/>
            <a:ext cx="4760595" cy="1701165"/>
            <a:chOff x="6898005" y="3907155"/>
            <a:chExt cx="4760595" cy="1701165"/>
          </a:xfrm>
        </p:grpSpPr>
        <p:sp>
          <p:nvSpPr>
            <p:cNvPr id="29" name="Rectangle 29"/>
            <p:cNvSpPr/>
            <p:nvPr/>
          </p:nvSpPr>
          <p:spPr>
            <a:xfrm>
              <a:off x="6898005" y="3907155"/>
              <a:ext cx="4760595" cy="1701165"/>
            </a:xfrm>
            <a:prstGeom prst="roundRect">
              <a:avLst>
                <a:gd name="adj" fmla="val 783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07555" y="41167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93813" y="41524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合起来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50505" y="415194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标记变量才是依据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9935" y="451294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被叫醒只说明「条件可能变了」，要不要继续往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下做，看标记变量。这正是下一页第 ⑷ 条要用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的原因。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48717" cy="909257"/>
            <a:chOff x="520446" y="342900"/>
            <a:chExt cx="85487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487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线程同步注意事项（二）：用 while，别在同步里 sleep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626418" cy="3817620"/>
            <a:chOff x="533400" y="1524000"/>
            <a:chExt cx="5626418" cy="3817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7575" y="1663065"/>
              <a:ext cx="1385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64 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4342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2236946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⑷ 使用 while(!条件)…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wait()…notify() 结构比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if(!条件)…wait()…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notify() 结构安全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53765" y="25507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醒来后重新检查条件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2946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3299460"/>
              <a:ext cx="5626418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3438525"/>
              <a:ext cx="2471261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⑸ 不要在线程同步的程序中调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sleep()，这样做通常是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53765" y="3571875"/>
              <a:ext cx="24536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 不释放锁，其他线程全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被堵在门外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3157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4459605"/>
              <a:ext cx="2306002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⑹ wait() 会抛出中断异常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InterruptedException，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所以在外部要捕获或声明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3765" y="47263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受检异常，不处理编译不过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4232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8" name="c1-callout-2"/>
          <p:cNvGrpSpPr/>
          <p:nvPr/>
        </p:nvGrpSpPr>
        <p:grpSpPr>
          <a:xfrm>
            <a:off x="533400" y="5532120"/>
            <a:ext cx="5626418" cy="782955"/>
            <a:chOff x="533400" y="5532120"/>
            <a:chExt cx="5626418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53212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823585"/>
              <a:ext cx="200026" cy="200025"/>
              <a:chOff x="738188" y="582358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8235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8680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9791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680710"/>
              <a:ext cx="4577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⑸ 条准确的说法是：不要在持有锁的时候 sleep。需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要「等一会儿」用 wait(timeout)。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4791075"/>
            <a:chOff x="6464618" y="1524000"/>
            <a:chExt cx="5193982" cy="479107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4791075"/>
            </a:xfrm>
            <a:prstGeom prst="roundRect">
              <a:avLst>
                <a:gd name="adj" fmla="val 2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4524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1733550"/>
              <a:ext cx="11744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2743" y="1769269"/>
              <a:ext cx="1034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 65 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3380" y="1768792"/>
              <a:ext cx="2319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为什么是 while 而不是 if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12268" y="2105025"/>
              <a:ext cx="4736782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40665" y="225694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39902" y="2518886"/>
              <a:ext cx="3254502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&lt; 100) { wait();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而不是 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go();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4648" y="3132772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 A 和线程 B 都在等待。另一个线程使 x == 100 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notifyAll()，线程 A 继续执行 go()，而 go()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里调用了 --x，x 又小于 100。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4648" y="4039552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这时切换到线程 B：用 if 的话 B 不再判断，直接执行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go()，在错误的条件下运行；用 while，B 会再检查一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次、继续等待。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9.7　只放一个苹果，却叫醒两个人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2985135"/>
            <a:chOff x="533400" y="1524000"/>
            <a:chExt cx="6059805" cy="2985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85135"/>
            </a:xfrm>
            <a:prstGeom prst="roundRect">
              <a:avLst>
                <a:gd name="adj" fmla="val 31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21268"/>
              <a:ext cx="6021705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449955"/>
              <a:ext cx="6021705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575"/>
              <a:ext cx="4034282" cy="2482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List&lt;String&gt; box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takeWithIf(String who)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(box)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(box.isEmpty()) box.wait();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只检查一次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System.out.println(who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取走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box.remove(0));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takeWithWhile(String who)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(box)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(box.isEmpty()) box.wait();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醒来后再检查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System.out.println(who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取走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box.remove(0));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A、B 两个线程都先进入等待，然后 main 执行：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(box) { box.add(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"苹果"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box.notifyAll(); }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4678680"/>
            <a:ext cx="6059805" cy="1600200"/>
            <a:chOff x="533400" y="4678680"/>
            <a:chExt cx="6059805" cy="1600200"/>
          </a:xfrm>
        </p:grpSpPr>
        <p:sp>
          <p:nvSpPr>
            <p:cNvPr id="13" name="Rectangle 13"/>
            <p:cNvSpPr/>
            <p:nvPr/>
          </p:nvSpPr>
          <p:spPr>
            <a:xfrm>
              <a:off x="533400" y="4678680"/>
              <a:ext cx="605980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0773" y="4800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04514" y="480012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发生了什么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011" y="5200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79232" y="5200174"/>
              <a:ext cx="4456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先后进入同步块，box 为空，都在 box.wait() 处释放锁等待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4740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547878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011" y="5600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79232" y="5600224"/>
              <a:ext cx="3310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放入一个苹果，notifyAll() 把 A、B 都叫醒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8740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8011" y="600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79232" y="6000274"/>
              <a:ext cx="4941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先抢到锁取走苹果；B 随后拿到锁，if 版直接取，while 版回到循环条件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78680"/>
              <a:ext cx="605980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77315" y="46786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2-code-1"/>
          <p:cNvGrpSpPr/>
          <p:nvPr/>
        </p:nvGrpSpPr>
        <p:grpSpPr>
          <a:xfrm>
            <a:off x="6898005" y="1524000"/>
            <a:ext cx="4760595" cy="1033462"/>
            <a:chOff x="6898005" y="1524000"/>
            <a:chExt cx="4760595" cy="1033462"/>
          </a:xfrm>
        </p:grpSpPr>
        <p:sp>
          <p:nvSpPr>
            <p:cNvPr id="28" name="Rectangle 28"/>
            <p:cNvSpPr/>
            <p:nvPr/>
          </p:nvSpPr>
          <p:spPr>
            <a:xfrm>
              <a:off x="6898005" y="1524000"/>
              <a:ext cx="476059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26402" y="1675924"/>
              <a:ext cx="738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if 的输出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26402" y="1935956"/>
              <a:ext cx="2996946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 取走 苹果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B 出错: java.lang.IndexOutOfBoundsException: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Index 0 out of bounds for length 0</a:t>
              </a:r>
            </a:p>
          </p:txBody>
        </p:sp>
      </p:grpSp>
      <p:grpSp>
        <p:nvGrpSpPr>
          <p:cNvPr id="35" name="c2-code-2"/>
          <p:cNvGrpSpPr/>
          <p:nvPr/>
        </p:nvGrpSpPr>
        <p:grpSpPr>
          <a:xfrm>
            <a:off x="6898005" y="2727960"/>
            <a:ext cx="4760595" cy="858202"/>
            <a:chOff x="6898005" y="2727960"/>
            <a:chExt cx="4760595" cy="858202"/>
          </a:xfrm>
        </p:grpSpPr>
        <p:sp>
          <p:nvSpPr>
            <p:cNvPr id="32" name="Rectangle 32"/>
            <p:cNvSpPr/>
            <p:nvPr/>
          </p:nvSpPr>
          <p:spPr>
            <a:xfrm>
              <a:off x="6898005" y="2727960"/>
              <a:ext cx="476059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26402" y="2879884"/>
              <a:ext cx="96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while 的输出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6402" y="3139916"/>
              <a:ext cx="1708785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 取走 苹果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A: TERMINATED，B: WAITING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6898005" y="3755708"/>
            <a:ext cx="4760595" cy="2524125"/>
            <a:chOff x="6898005" y="3755708"/>
            <a:chExt cx="4760595" cy="2524125"/>
          </a:xfrm>
        </p:grpSpPr>
        <p:sp>
          <p:nvSpPr>
            <p:cNvPr id="36" name="Rectangle 36"/>
            <p:cNvSpPr/>
            <p:nvPr/>
          </p:nvSpPr>
          <p:spPr>
            <a:xfrm>
              <a:off x="6898005" y="3755708"/>
              <a:ext cx="4760595" cy="2524125"/>
            </a:xfrm>
            <a:prstGeom prst="roundRect">
              <a:avLst>
                <a:gd name="adj" fmla="val 528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84695" y="394239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3316" y="397525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77837" y="4286250"/>
              <a:ext cx="41885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醒来时苹果已被 A 取走。if 版的 B 不再检查，对空表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remove(0) 抛异常；while 版的 B 发现还是空的，回去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继续等。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77837" y="5100638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JVM 还允许极少见的「虚假唤醒」：没有 notify 也可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能醒来，用 while 同样能挡住。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死锁：每个线程都占着一把锁，等别人手里的那把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160145"/>
            <a:chOff x="533400" y="1524000"/>
            <a:chExt cx="5410200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690" y="1737836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66 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4715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死锁的概念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两个人在门口互相说「After you」（您先请），结果谁也进不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去。线程之间互相等待对方释放锁，全部停住，就是死锁。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2848928"/>
            <a:ext cx="5410200" cy="2093595"/>
            <a:chOff x="533400" y="2848928"/>
            <a:chExt cx="5410200" cy="2093595"/>
          </a:xfrm>
        </p:grpSpPr>
        <p:sp>
          <p:nvSpPr>
            <p:cNvPr id="14" name="Rectangle 14"/>
            <p:cNvSpPr/>
            <p:nvPr/>
          </p:nvSpPr>
          <p:spPr>
            <a:xfrm>
              <a:off x="533400" y="2848928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4435" y="296608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四个条件同时发生时会死锁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23588" y="29660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破坏它的办法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078" y="334803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互斥：一段时间内某资源仅为一个任务所占用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57981" y="334803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一般无法破坏，锁本来就互斥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071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11880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729038"/>
              <a:ext cx="26776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占有并等待：持有一个资源，又等待被其他任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务持有的资源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7981" y="3729038"/>
              <a:ext cx="203092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一次申请齐所有锁，或用 tryLock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拿不到就放手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748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429768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不可抢占：资源不能被任务抢占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57981" y="4297680"/>
              <a:ext cx="1874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超时放弃（tryLock 带超时）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567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56152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67868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循环等待：等待关系首尾相连成环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72828" y="4571048"/>
              <a:ext cx="23612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57981" y="467868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所有线程按固定顺序申请锁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848928"/>
              <a:ext cx="5410200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558540" y="284892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107305"/>
            <a:ext cx="5410200" cy="985838"/>
            <a:chOff x="533400" y="5107305"/>
            <a:chExt cx="5410200" cy="985838"/>
          </a:xfrm>
        </p:grpSpPr>
        <p:sp>
          <p:nvSpPr>
            <p:cNvPr id="34" name="Rectangle 34"/>
            <p:cNvSpPr/>
            <p:nvPr/>
          </p:nvSpPr>
          <p:spPr>
            <a:xfrm>
              <a:off x="533400" y="5107305"/>
              <a:ext cx="5410200" cy="985838"/>
            </a:xfrm>
            <a:prstGeom prst="roundRect">
              <a:avLst>
                <a:gd name="adj" fmla="val 1159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500688"/>
              <a:ext cx="200026" cy="200026"/>
              <a:chOff x="738188" y="55006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50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567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6007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5276374"/>
              <a:ext cx="451586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67 页说「破坏任意一个条件，即可解开死锁」。准确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说是可以预防死锁：四个条件是必要条件，事先让其中一个不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成立，死锁就不会发生。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248400" y="1524000"/>
            <a:ext cx="5410200" cy="1976438"/>
            <a:chOff x="6248400" y="1524000"/>
            <a:chExt cx="5410200" cy="1976438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976438"/>
            </a:xfrm>
            <a:prstGeom prst="roundRect">
              <a:avLst>
                <a:gd name="adj" fmla="val 67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29375" y="1704975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3590" y="1737836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66 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91616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避免死锁的三条设计原则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29375" y="204978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812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9123" y="206168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逻辑隔离：每个逻辑上独立的同步区域都使用各自的锁对象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29375" y="233553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12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99123" y="234648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尽快释放：使用完毕后尽快释放锁对象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29375" y="262032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81282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99123" y="2631281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按顺序申请：对需要使用多个锁对象的区域，所有申请都按固定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24041" y="315563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原课件「锁对向」为「锁对象」之误。</a:t>
              </a:r>
            </a:p>
          </p:txBody>
        </p:sp>
      </p:grpSp>
      <p:grpSp>
        <p:nvGrpSpPr>
          <p:cNvPr id="59" name="c2-code-2"/>
          <p:cNvGrpSpPr/>
          <p:nvPr/>
        </p:nvGrpSpPr>
        <p:grpSpPr>
          <a:xfrm>
            <a:off x="6248400" y="3665220"/>
            <a:ext cx="5410200" cy="1561148"/>
            <a:chOff x="6248400" y="3665220"/>
            <a:chExt cx="5410200" cy="1561148"/>
          </a:xfrm>
        </p:grpSpPr>
        <p:sp>
          <p:nvSpPr>
            <p:cNvPr id="56" name="Rectangle 56"/>
            <p:cNvSpPr/>
            <p:nvPr/>
          </p:nvSpPr>
          <p:spPr>
            <a:xfrm>
              <a:off x="6248400" y="366522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76797" y="381714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两个线程、两把锁，申请顺序相反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76797" y="4078129"/>
              <a:ext cx="3090291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线程1                 // 线程2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(a) {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(b) {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                      ...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            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                       }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248400" y="5391150"/>
            <a:ext cx="5410200" cy="702945"/>
            <a:chOff x="6248400" y="5391150"/>
            <a:chExt cx="5410200" cy="702945"/>
          </a:xfrm>
        </p:grpSpPr>
        <p:sp>
          <p:nvSpPr>
            <p:cNvPr id="60" name="Rectangle 60"/>
            <p:cNvSpPr/>
            <p:nvPr/>
          </p:nvSpPr>
          <p:spPr>
            <a:xfrm>
              <a:off x="6248400" y="539115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41129" y="5638918"/>
              <a:ext cx="224134" cy="192560"/>
              <a:chOff x="6441129" y="5638918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553200" y="57092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41129" y="56389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53200" y="57870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6273" y="5536406"/>
              <a:ext cx="45158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线程1 拿到 a 等 b，线程2 拿到 b 等 a，形成循环等待。改成两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个线程都先 a 后 b 就不会死锁。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9.8　哲学家就餐：筷子和哲学家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2521268"/>
            <a:chOff x="533400" y="1524000"/>
            <a:chExt cx="4760595" cy="25212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21268"/>
            </a:xfrm>
            <a:prstGeom prst="roundRect">
              <a:avLst>
                <a:gd name="adj" fmla="val 37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240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Chopstick（原课件第 69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2472436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Chopstick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taken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take()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(taken)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wait();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taken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drop()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taken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notifyAll();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214812"/>
            <a:ext cx="4760595" cy="2061210"/>
            <a:chOff x="533400" y="4214812"/>
            <a:chExt cx="4760595" cy="2061210"/>
          </a:xfrm>
        </p:grpSpPr>
        <p:sp>
          <p:nvSpPr>
            <p:cNvPr id="11" name="Rectangle 11"/>
            <p:cNvSpPr/>
            <p:nvPr/>
          </p:nvSpPr>
          <p:spPr>
            <a:xfrm>
              <a:off x="533400" y="4214812"/>
              <a:ext cx="4760595" cy="2061210"/>
            </a:xfrm>
            <a:prstGeom prst="roundRect">
              <a:avLst>
                <a:gd name="adj" fmla="val 64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48162"/>
              <a:ext cx="47625" cy="179451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401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4434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3784" y="44367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五个哲学家围坐一桌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476250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相邻两人之间放一根筷子，共五根。哲学家要么思考，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要么吃饭；吃饭必须同时拿到左右两根筷子。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5598795" y="1524000"/>
            <a:ext cx="6059805" cy="3604260"/>
            <a:chOff x="5598795" y="1524000"/>
            <a:chExt cx="6059805" cy="3604260"/>
          </a:xfrm>
        </p:grpSpPr>
        <p:sp>
          <p:nvSpPr>
            <p:cNvPr id="18" name="Rectangle 18"/>
            <p:cNvSpPr/>
            <p:nvPr/>
          </p:nvSpPr>
          <p:spPr>
            <a:xfrm>
              <a:off x="5598795" y="1524000"/>
              <a:ext cx="6059805" cy="3604260"/>
            </a:xfrm>
            <a:prstGeom prst="roundRect">
              <a:avLst>
                <a:gd name="adj" fmla="val 264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27192" y="1675924"/>
              <a:ext cx="26840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Philosopher.run()（原课件第 70、71 页）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17845" y="3140392"/>
              <a:ext cx="6021705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617845" y="3449955"/>
              <a:ext cx="6021705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27382" y="1935575"/>
              <a:ext cx="3073146" cy="3099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Philosopher(Chopstick left, Chopstick right,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ident,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ponder) { ... }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(!Thread.interrupted())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thinking"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pause();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grabbing right"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right.take();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grabbing left"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left.take();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eating"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pause();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right.drop();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left.drop();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(InterruptedException e)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exiting via interrupt"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5598795" y="5297805"/>
            <a:ext cx="6059805" cy="978218"/>
            <a:chOff x="5598795" y="5297805"/>
            <a:chExt cx="6059805" cy="978218"/>
          </a:xfrm>
        </p:grpSpPr>
        <p:sp>
          <p:nvSpPr>
            <p:cNvPr id="24" name="Rectangle 24"/>
            <p:cNvSpPr/>
            <p:nvPr/>
          </p:nvSpPr>
          <p:spPr>
            <a:xfrm>
              <a:off x="5598795" y="5297805"/>
              <a:ext cx="605980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803583" y="5687378"/>
              <a:ext cx="200026" cy="200026"/>
              <a:chOff x="5803583" y="5687378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803583" y="56873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903595" y="57540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892483" y="57873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106287" y="5444490"/>
              <a:ext cx="505434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代码出自《Java 编程思想》第 21 章，print 来自该书的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net.mindview.util.Print，自己运行时换成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System.out.println。pause() 随机休眠 0～ponder×250 毫秒。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86124" cy="909257"/>
            <a:chOff x="520446" y="342900"/>
            <a:chExt cx="59861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线程之间的协作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861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9.8 两种摆法：死锁版与固定顺序版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033462"/>
            <a:chOff x="533400" y="1524000"/>
            <a:chExt cx="5842635" cy="1033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6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死锁版（原课件第 72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7482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size;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exec.execute(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Philosopher(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sticks[i], sticks[(i + 1) % size], i, ponder));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747962"/>
            <a:ext cx="5842635" cy="1737360"/>
            <a:chOff x="533400" y="2747962"/>
            <a:chExt cx="5842635" cy="1737360"/>
          </a:xfrm>
        </p:grpSpPr>
        <p:sp>
          <p:nvSpPr>
            <p:cNvPr id="11" name="Rectangle 11"/>
            <p:cNvSpPr/>
            <p:nvPr/>
          </p:nvSpPr>
          <p:spPr>
            <a:xfrm>
              <a:off x="533400" y="2747962"/>
              <a:ext cx="584263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899886"/>
              <a:ext cx="18285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固定顺序版（原课件第 73 页）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52450" y="4002405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417861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160871"/>
              <a:ext cx="3432556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size;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(size - 1))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exec.execute(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Philosopher(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sticks[i], sticks[i + 1], i, ponder));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exec.execute(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Philosopher(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sticks[0], sticks[i], i, ponder));</a:t>
              </a:r>
            </a:p>
          </p:txBody>
        </p:sp>
      </p:grpSp>
      <p:grpSp>
        <p:nvGrpSpPr>
          <p:cNvPr id="33" name="c1-table-3"/>
          <p:cNvGrpSpPr/>
          <p:nvPr/>
        </p:nvGrpSpPr>
        <p:grpSpPr>
          <a:xfrm>
            <a:off x="527685" y="4675822"/>
            <a:ext cx="5848350" cy="1641635"/>
            <a:chOff x="527685" y="4675822"/>
            <a:chExt cx="5848350" cy="1641635"/>
          </a:xfrm>
        </p:grpSpPr>
        <p:sp>
          <p:nvSpPr>
            <p:cNvPr id="17" name="Rectangle 17"/>
            <p:cNvSpPr/>
            <p:nvPr/>
          </p:nvSpPr>
          <p:spPr>
            <a:xfrm>
              <a:off x="533400" y="4675822"/>
              <a:ext cx="584263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605" y="4810601"/>
              <a:ext cx="2313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人、ponder = 0，各跑 5 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3188" y="4810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吃饭次数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0944" y="4810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52601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12020" y="526018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1258" y="5260181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4.5 秒无进展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5683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557307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57088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固定顺序版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12020" y="5708809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4958 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31258" y="57088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一直在吃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75822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099435" y="46758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8672" y="46758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6097429"/>
              <a:ext cx="8466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7582852" y="1524000"/>
            <a:ext cx="3174682" cy="2696052"/>
            <a:chOff x="7582852" y="1524000"/>
            <a:chExt cx="3174682" cy="2696052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8962" r="0" b="8961"/>
            <a:stretch>
              <a:fillRect/>
            </a:stretch>
          </p:blipFill>
          <p:spPr>
            <a:xfrm>
              <a:off x="7582852" y="1524000"/>
              <a:ext cx="3174682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656259" y="400002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死锁版：每人都拿起右手的筷子，等左手那根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680835" y="4385310"/>
            <a:ext cx="4977765" cy="1937385"/>
            <a:chOff x="6680835" y="4385310"/>
            <a:chExt cx="4977765" cy="1937385"/>
          </a:xfrm>
        </p:grpSpPr>
        <p:sp>
          <p:nvSpPr>
            <p:cNvPr id="37" name="Rectangle 37"/>
            <p:cNvSpPr/>
            <p:nvPr/>
          </p:nvSpPr>
          <p:spPr>
            <a:xfrm>
              <a:off x="6680835" y="4385310"/>
              <a:ext cx="4977765" cy="1937385"/>
            </a:xfrm>
            <a:prstGeom prst="roundRect">
              <a:avLst>
                <a:gd name="adj" fmla="val 688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0385" y="459486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51040" y="463057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为什么修正版不死锁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2765" y="497205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每个人先拿 right。死锁版里哲学家 i 先拿 i+1 号，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最后一位先拿 0 号，五人可能各拿一根成环。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2765" y="559308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修正版最后一位的 right 是 4 号，所有人都「先拿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编号大的」，环被打破。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406377" cy="2643187"/>
            <a:chOff x="667512" y="1835468"/>
            <a:chExt cx="5406377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扩展锁机制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96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java.util.concurrent.locks 里的 Lock 与 Condition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066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 对应 synchronized，Condition 对应 wait/notify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20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一把锁可以挂多个条件，put 和 take 各等各的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84818" cy="909257"/>
            <a:chOff x="520446" y="342900"/>
            <a:chExt cx="60848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扩展锁机制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848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与 wait/notify 的不足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6276022" cy="2661285"/>
            <a:chOff x="533400" y="1524000"/>
            <a:chExt cx="6276022" cy="2661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3923" y="1641157"/>
              <a:ext cx="1676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57 页列出的缺陷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614" y="1641157"/>
              <a:ext cx="1930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Lock / Condition 的对应做法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11645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锁队列中获取到锁的顺序是不确定的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65613" y="2023110"/>
              <a:ext cx="279768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ReentrantLock(true)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公平锁，按等待先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后分配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688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73642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5908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同时苏醒算法不是公平的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65613" y="259080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公平锁下唤醒后重新拿锁也按先后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9718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查询不到当前的锁的状态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65613" y="2971800"/>
              <a:ext cx="28090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isLocked()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getHoldCount()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tryLock()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18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44709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锁的申请和释放有严格的顺序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65613" y="3353752"/>
              <a:ext cx="282435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lock() 与 unlock() 是普通方法调用，可以在不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同的代码块里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995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921443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每个锁只能有一个通知事件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80460" y="3813810"/>
              <a:ext cx="311848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65613" y="3921443"/>
              <a:ext cx="2305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lock.newCondition()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可建多个条件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276022" cy="2661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66172" y="1524000"/>
              <a:ext cx="9525" cy="2661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ode-2"/>
          <p:cNvGrpSpPr/>
          <p:nvPr/>
        </p:nvGrpSpPr>
        <p:grpSpPr>
          <a:xfrm>
            <a:off x="533400" y="4350068"/>
            <a:ext cx="6276022" cy="1384935"/>
            <a:chOff x="533400" y="4350068"/>
            <a:chExt cx="6276022" cy="1384935"/>
          </a:xfrm>
        </p:grpSpPr>
        <p:sp>
          <p:nvSpPr>
            <p:cNvPr id="30" name="Rectangle 30"/>
            <p:cNvSpPr/>
            <p:nvPr/>
          </p:nvSpPr>
          <p:spPr>
            <a:xfrm>
              <a:off x="533400" y="4350068"/>
              <a:ext cx="627602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797" y="4501991"/>
              <a:ext cx="252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tryLock：拿不到锁就去做别的，不会死等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97" y="4762976"/>
              <a:ext cx="386194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(lock.tryLock(1, TimeUnit.SECONDS))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最多等 1 秒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使用共享资源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lock.unlock();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没拿到：放弃或稍后重试（实测等满 1 秒返回 false）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2416492"/>
            <a:chOff x="7114222" y="1524000"/>
            <a:chExt cx="4544378" cy="2416492"/>
          </a:xfrm>
        </p:grpSpPr>
        <p:sp>
          <p:nvSpPr>
            <p:cNvPr id="34" name="Rectangle 34"/>
            <p:cNvSpPr/>
            <p:nvPr/>
          </p:nvSpPr>
          <p:spPr>
            <a:xfrm>
              <a:off x="7114222" y="1524000"/>
              <a:ext cx="4544378" cy="2416492"/>
            </a:xfrm>
            <a:prstGeom prst="roundRect">
              <a:avLst>
                <a:gd name="adj" fmla="val 5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23748" y="1657350"/>
              <a:ext cx="47625" cy="214979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333298" y="1704975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07513" y="1737836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58 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4586" y="1744504"/>
              <a:ext cx="1436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 &amp; Condition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42822" y="211359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8270" y="2061686"/>
              <a:ext cx="34348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 对应 synchronized：接口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java.util.concurrent.locks.Lock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，常用实现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ReentrantLock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2822" y="288417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98270" y="2832259"/>
              <a:ext cx="376809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Condition 上可以调用类似 wait/notify 的方法：接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口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java.util.concurrent.locks.Condition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，实现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AbstractQueuedSynchronizer.ConditionObject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7114222" y="4105275"/>
            <a:ext cx="4544378" cy="1386840"/>
            <a:chOff x="7114222" y="4105275"/>
            <a:chExt cx="4544378" cy="1386840"/>
          </a:xfrm>
        </p:grpSpPr>
        <p:sp>
          <p:nvSpPr>
            <p:cNvPr id="44" name="Rectangle 44"/>
            <p:cNvSpPr/>
            <p:nvPr/>
          </p:nvSpPr>
          <p:spPr>
            <a:xfrm>
              <a:off x="7114222" y="4105275"/>
              <a:ext cx="454437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3748" y="423862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3298" y="42862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25017" y="43191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26820" y="4626769"/>
              <a:ext cx="3548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同一线程对 ReentrantLock 连加两次锁：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getHoldCount() = 2，isLocked() = true；两次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unlock 之后 tryLock() 返回 true。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7114222" y="5657850"/>
            <a:ext cx="4544378" cy="702945"/>
            <a:chOff x="7114222" y="5657850"/>
            <a:chExt cx="4544378" cy="702945"/>
          </a:xfrm>
        </p:grpSpPr>
        <p:sp>
          <p:nvSpPr>
            <p:cNvPr id="50" name="Rectangle 50"/>
            <p:cNvSpPr/>
            <p:nvPr/>
          </p:nvSpPr>
          <p:spPr>
            <a:xfrm>
              <a:off x="7114222" y="5657850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06952" y="5904666"/>
              <a:ext cx="224134" cy="192560"/>
              <a:chOff x="7306952" y="590466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419023" y="59750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306952" y="59046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419023" y="60528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22096" y="5802154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Lock 不会自动释放，忘了 unlock 就一直锁着。下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一页的写法要背下来。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73839" cy="909257"/>
            <a:chOff x="520446" y="342900"/>
            <a:chExt cx="106738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扩展锁机制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738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ReentrantLock 的标准写法：lock 在 try 前，unlock 在 finally 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776538"/>
            <a:chOff x="533400" y="1524000"/>
            <a:chExt cx="5410200" cy="2776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96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59 页（已补分号）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677793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SimpleLock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ReentrantLock lock =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ReentrantLock();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doSth()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lock.lock();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②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statement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③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lock.unlock();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④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4475798"/>
            <a:ext cx="5410200" cy="1823085"/>
            <a:chOff x="533400" y="4475798"/>
            <a:chExt cx="5410200" cy="1823085"/>
          </a:xfrm>
        </p:grpSpPr>
        <p:sp>
          <p:nvSpPr>
            <p:cNvPr id="11" name="Rectangle 11"/>
            <p:cNvSpPr/>
            <p:nvPr/>
          </p:nvSpPr>
          <p:spPr>
            <a:xfrm>
              <a:off x="533400" y="4475798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2223" y="46000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9121" y="4600099"/>
              <a:ext cx="1016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synchronized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30654" y="4600099"/>
              <a:ext cx="1153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ReentrantLock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5005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24038" y="500586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离开代码块自动释放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70948" y="5005864"/>
              <a:ext cx="1285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必须手动 unlock()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282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5287328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55116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等锁时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4038" y="551164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不能中断、不能超时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70948" y="5411629"/>
              <a:ext cx="14978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lockInterruptibly()、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tryLock(时间) 可放弃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8883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60174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24038" y="60174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70948" y="6017419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构造时传 true 得到公平锁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475798"/>
              <a:ext cx="5410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719262" y="4475798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666172" y="4475798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table-1"/>
          <p:cNvGrpSpPr/>
          <p:nvPr/>
        </p:nvGrpSpPr>
        <p:grpSpPr>
          <a:xfrm>
            <a:off x="6248400" y="1524000"/>
            <a:ext cx="5410200" cy="2228850"/>
            <a:chOff x="6248400" y="1524000"/>
            <a:chExt cx="5410200" cy="222885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710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761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8244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05650" y="2054066"/>
              <a:ext cx="3155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锁是 final 字段，所有线程用的是同一个锁对象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33553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8244" y="2559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05650" y="2459831"/>
              <a:ext cx="41790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lock() 放在 try 外面：加锁失败抛异常时不会进入 finally 去释放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一把没拿到的锁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8244" y="30656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05650" y="3065621"/>
              <a:ext cx="3200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保证 statement 抛异常时也会走到释放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342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3470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8244" y="3471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5650" y="3471386"/>
              <a:ext cx="4308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unlock() 次数要和 lock() 相同；可重入锁每 lock 一次计数加 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0087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248400" y="3928110"/>
            <a:ext cx="5410200" cy="1209675"/>
            <a:chOff x="6248400" y="3928110"/>
            <a:chExt cx="5410200" cy="1209675"/>
          </a:xfrm>
        </p:grpSpPr>
        <p:sp>
          <p:nvSpPr>
            <p:cNvPr id="50" name="Rectangle 50"/>
            <p:cNvSpPr/>
            <p:nvPr/>
          </p:nvSpPr>
          <p:spPr>
            <a:xfrm>
              <a:off x="6248400" y="392811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406146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8905" y="4120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0345" y="4154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2047" y="447675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原课件第 59 页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lock.unlock()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后面漏了分号，①～④ 四个标号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也没有说明，右表按代码位置补上。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248400" y="5312092"/>
            <a:ext cx="5410200" cy="985838"/>
            <a:chOff x="6248400" y="5312092"/>
            <a:chExt cx="5410200" cy="985838"/>
          </a:xfrm>
        </p:grpSpPr>
        <p:sp>
          <p:nvSpPr>
            <p:cNvPr id="56" name="Rectangle 56"/>
            <p:cNvSpPr/>
            <p:nvPr/>
          </p:nvSpPr>
          <p:spPr>
            <a:xfrm>
              <a:off x="6248400" y="5312092"/>
              <a:ext cx="5410200" cy="985838"/>
            </a:xfrm>
            <a:prstGeom prst="roundRect">
              <a:avLst>
                <a:gd name="adj" fmla="val 1159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441129" y="5701783"/>
              <a:ext cx="224134" cy="192560"/>
              <a:chOff x="6441129" y="570178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553200" y="57721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41129" y="57017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5849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755892" y="5587365"/>
              <a:ext cx="44542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反例：把 lock() 写进 try 里，或把 unlock() 写在 try 末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尾而不放 finally，都可能留下一把永远不释放的锁。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281" cy="909257"/>
            <a:chOff x="520446" y="342900"/>
            <a:chExt cx="59932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扩展锁机制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2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9.9　用 Condition 重写有界缓冲区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3709035"/>
            <a:chOff x="533400" y="1524000"/>
            <a:chExt cx="5626418" cy="37090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709035"/>
            </a:xfrm>
            <a:prstGeom prst="roundRect">
              <a:avLst>
                <a:gd name="adj" fmla="val 25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48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60、61 页（已更正）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21330"/>
              <a:ext cx="5588318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194"/>
              <a:ext cx="3636137" cy="3213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BoundedBuffer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Lock lock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ReentrantLock();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Condition notFull  = lock.newCondition();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Condition notEmpty = lock.newCondition();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Object[] items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Object[100];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putptr, takeptr, count;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put(Object x)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lock.lock();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items.length)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notFull.await();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items[putptr] = x;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(++putptr == items.length) putptr = 0;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++count;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notEmpty.signal();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lock.unlock();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5407342"/>
            <a:ext cx="5626418" cy="923925"/>
            <a:chOff x="533400" y="5407342"/>
            <a:chExt cx="5626418" cy="923925"/>
          </a:xfrm>
        </p:grpSpPr>
        <p:sp>
          <p:nvSpPr>
            <p:cNvPr id="12" name="Rectangle 12"/>
            <p:cNvSpPr/>
            <p:nvPr/>
          </p:nvSpPr>
          <p:spPr>
            <a:xfrm>
              <a:off x="533400" y="5407342"/>
              <a:ext cx="5626418" cy="923925"/>
            </a:xfrm>
            <a:prstGeom prst="roundRect">
              <a:avLst>
                <a:gd name="adj" fmla="val 123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769293"/>
              <a:ext cx="200026" cy="200025"/>
              <a:chOff x="738188" y="5769293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7692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8137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9248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5651183"/>
              <a:ext cx="46514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await() 的行为和 wait() 一样：释放锁、等 signal、醒来后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重新拿锁再返回，所以同样要放在 while 里。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464618" y="1524000"/>
            <a:ext cx="5193982" cy="2908935"/>
            <a:chOff x="6464618" y="1524000"/>
            <a:chExt cx="5193982" cy="2908935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2908935"/>
            </a:xfrm>
            <a:prstGeom prst="roundRect">
              <a:avLst>
                <a:gd name="adj" fmla="val 32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3015" y="1675924"/>
              <a:ext cx="2001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take（原课件第 62 页，已更正）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83668" y="1901190"/>
              <a:ext cx="5155882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93205" y="1935194"/>
              <a:ext cx="3390265" cy="2413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take()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InterruptedException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lock.lock();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0)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notEmpty.await();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Object x = items[takeptr];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(++takeptr == items.length) takeptr = 0;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--count;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notFull.signal();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lock.unlock();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464618" y="4608195"/>
            <a:ext cx="5193982" cy="1724025"/>
            <a:chOff x="6464618" y="4608195"/>
            <a:chExt cx="5193982" cy="1724025"/>
          </a:xfrm>
        </p:grpSpPr>
        <p:sp>
          <p:nvSpPr>
            <p:cNvPr id="24" name="Rectangle 24"/>
            <p:cNvSpPr/>
            <p:nvPr/>
          </p:nvSpPr>
          <p:spPr>
            <a:xfrm>
              <a:off x="6464618" y="4608195"/>
              <a:ext cx="5193982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4741545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5122" y="4800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6562" y="4834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8264" y="5156835"/>
              <a:ext cx="445427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原课件的 put()、take() 没有声明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throws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InterruptedException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 await() 会抛这个受检异常。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照抄编译报「未报告的异常错误 InterruptedException」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（JDK 21 实测）。类名后也漏了左花括号。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73102" cy="909257"/>
            <a:chOff x="520446" y="342900"/>
            <a:chExt cx="8973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 · 扩展锁机制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73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Condition：生产者等 notFull，消费者等 notEmpty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4977765" cy="2919412"/>
            <a:chOff x="533400" y="1524000"/>
            <a:chExt cx="4977765" cy="2919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6985" y="1659731"/>
              <a:ext cx="1560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synchronized 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58095" y="1659731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Lock 写法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2129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(obj) { … }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0106" y="2108359"/>
              <a:ext cx="2012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lock.lock(); try { … }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{ lock.unlock(); }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953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obj.wait()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0106" y="2783681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cond.await()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obj.notify()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30106" y="3232309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cond.signal()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80936"/>
              <a:ext cx="1330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obj.notifyAll()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0106" y="3680936"/>
              <a:ext cx="13628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cond.signalAll()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002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13051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一个对象只有一个等待队列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31808" y="4004310"/>
              <a:ext cx="246983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30106" y="4130516"/>
              <a:ext cx="2215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一把锁可以有多个 Condition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4977765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017520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633912"/>
            <a:ext cx="4977765" cy="1604010"/>
            <a:chOff x="533400" y="4633912"/>
            <a:chExt cx="4977765" cy="1604010"/>
          </a:xfrm>
        </p:grpSpPr>
        <p:sp>
          <p:nvSpPr>
            <p:cNvPr id="30" name="Rectangle 30"/>
            <p:cNvSpPr/>
            <p:nvPr/>
          </p:nvSpPr>
          <p:spPr>
            <a:xfrm>
              <a:off x="533400" y="4633912"/>
              <a:ext cx="4977765" cy="1604010"/>
            </a:xfrm>
            <a:prstGeom prst="roundRect">
              <a:avLst>
                <a:gd name="adj" fmla="val 83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767262"/>
              <a:ext cx="47625" cy="13373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3430" y="4868228"/>
              <a:ext cx="2521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为什么这里可以用 signal()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222558"/>
              <a:ext cx="4196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生产者只在 notFull 上等，消费者只在 notEmpty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上等。put 之后 signal notEmpty，叫醒的一定是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消费者，不会像 notify 那样叫醒同类。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5815965" y="1524000"/>
            <a:ext cx="5842635" cy="3139440"/>
            <a:chOff x="5815965" y="1524000"/>
            <a:chExt cx="5842635" cy="3139440"/>
          </a:xfrm>
        </p:grpSpPr>
        <p:sp>
          <p:nvSpPr>
            <p:cNvPr id="35" name="Rectangle 35"/>
            <p:cNvSpPr/>
            <p:nvPr/>
          </p:nvSpPr>
          <p:spPr>
            <a:xfrm>
              <a:off x="5815965" y="1524000"/>
              <a:ext cx="5842635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44362" y="1675924"/>
              <a:ext cx="34446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实测：容量 3，生产者先放 6 个，300 毫秒后 main 开始取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43600" y="1937861"/>
              <a:ext cx="2273046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put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put 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put 3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生产者此时: WAITING，count = 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put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take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take 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take 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put 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take 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put 6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take 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take 6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5815965" y="4853940"/>
            <a:ext cx="5842635" cy="1383982"/>
            <a:chOff x="5815965" y="4853940"/>
            <a:chExt cx="5842635" cy="1383982"/>
          </a:xfrm>
        </p:grpSpPr>
        <p:sp>
          <p:nvSpPr>
            <p:cNvPr id="39" name="Rectangle 39"/>
            <p:cNvSpPr/>
            <p:nvPr/>
          </p:nvSpPr>
          <p:spPr>
            <a:xfrm>
              <a:off x="5815965" y="4853940"/>
              <a:ext cx="5842635" cy="1383982"/>
            </a:xfrm>
            <a:prstGeom prst="roundRect">
              <a:avLst>
                <a:gd name="adj" fmla="val 82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020753" y="5446395"/>
              <a:ext cx="200026" cy="200026"/>
              <a:chOff x="6020753" y="544639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020753" y="54463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20765" y="55130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109653" y="55464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322695" y="5165408"/>
              <a:ext cx="4682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缓冲区满时生产者停在 notFull.await()，状态为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WAITING；main 取走 1 之后 signal 叫醒它，才出现 put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4。put 与 take 的交错顺序每次运行可能不同。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8872"/>
            <a:chOff x="533400" y="1524000"/>
            <a:chExt cx="3505200" cy="2408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097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t.run() 和 t.start() 有什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么不同？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93598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是普通方法调用，在当前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线程里执行完才返回；start() 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新开线程去执行 run()，调用方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立刻继续。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18610"/>
            <a:ext cx="3505200" cy="2137410"/>
            <a:chOff x="533400" y="4118610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695349"/>
              <a:ext cx="28976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线程被 notify() 叫醒后马上接着运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286851"/>
              <a:ext cx="28728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不会。它先进入阻塞态重新抢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锁，拿到锁后才从 wait() 的下一句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3760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Thread 对象调用两次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start() 会怎样？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8277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IllegalThreadStateException，线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程只能启动一次。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285708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两个线程分别用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synchronized(lockA)、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synchronized(lockB) 保护同一个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变量，安全吗？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55831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不安全。两把锁互不排斥，实测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照样丢更新。必须用同一把锁。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247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 和 sleep() 在锁上有什么区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8818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 必须持有该对象的锁，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等待时释放锁；sleep() 在哪里都能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调用，休眠时不释放锁。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死锁的四个必要条件是什么？最常用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的预防办法破坏哪一个？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互斥、占有并等待、不可抢占、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循环等待。最常用的是所有线程按固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定顺序申请锁，破坏循环等待。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自测（二）：读程序判断结果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768792"/>
            <a:chOff x="533400" y="1524000"/>
            <a:chExt cx="3505200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8777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9.3 把 new Thread(r) 改成 new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MyThread()（10 个对象），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 下面打印什么？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889885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次 1，每个对象各有一个 x。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68052"/>
            <a:ext cx="3505200" cy="2797492"/>
            <a:chOff x="533400" y="3468052"/>
            <a:chExt cx="3505200" cy="2797492"/>
          </a:xfrm>
        </p:grpSpPr>
        <p:sp>
          <p:nvSpPr>
            <p:cNvPr id="13" name="Rectangle 13"/>
            <p:cNvSpPr/>
            <p:nvPr/>
          </p:nvSpPr>
          <p:spPr>
            <a:xfrm>
              <a:off x="533400" y="3468052"/>
              <a:ext cx="3505200" cy="2797492"/>
            </a:xfrm>
            <a:prstGeom prst="roundRect">
              <a:avLst>
                <a:gd name="adj" fmla="val 47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017645"/>
              <a:ext cx="299651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9.6 的 take() 在持有 lock 时调用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emptyLock.wait()，缓冲区空时会怎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833937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消费者只释放 emptyLock，仍占着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lock；生产者进不了 put，两边永远等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下去。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540318"/>
            <a:chOff x="4343400" y="1524000"/>
            <a:chExt cx="3505200" cy="254031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872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两个线程共用一个 Runnable，各执行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 次 x++，结束后 x 一定是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200000 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889885"/>
              <a:ext cx="28940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不一定，常常小于 200000。x++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是读、加、写三步，给自增加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或改用 AtomicInteger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才可靠。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239578"/>
            <a:ext cx="3505200" cy="2025968"/>
            <a:chOff x="4343400" y="4239578"/>
            <a:chExt cx="3505200" cy="2025968"/>
          </a:xfrm>
        </p:grpSpPr>
        <p:sp>
          <p:nvSpPr>
            <p:cNvPr id="25" name="Rectangle 25"/>
            <p:cNvSpPr/>
            <p:nvPr/>
          </p:nvSpPr>
          <p:spPr>
            <a:xfrm>
              <a:off x="4343400" y="4239578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789170"/>
              <a:ext cx="27813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lock.lock() 之后的代码抛了异常，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unlock() 写在 try 块末尾而不是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里，会怎样？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605462"/>
              <a:ext cx="28340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unlock() 执行不到，锁一直不释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放，其他线程再也拿不到这把锁。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25968"/>
            <a:chOff x="8153400" y="1524000"/>
            <a:chExt cx="3505200" cy="202596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4894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(count == 0) wait(); 换成 while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有什么不同？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8855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在醒来后重新检查条件。多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个消费者被 notifyAll 同时叫醒时，if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版会有人在空缓冲区上取数据。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725228"/>
            <a:ext cx="3505200" cy="2540318"/>
            <a:chOff x="8153400" y="3725228"/>
            <a:chExt cx="3505200" cy="2540318"/>
          </a:xfrm>
        </p:grpSpPr>
        <p:sp>
          <p:nvSpPr>
            <p:cNvPr id="37" name="Rectangle 37"/>
            <p:cNvSpPr/>
            <p:nvPr/>
          </p:nvSpPr>
          <p:spPr>
            <a:xfrm>
              <a:off x="815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274820"/>
              <a:ext cx="292665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主线程结束时，还在死循环的 Daemon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线程会让进程继续运行吗？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4833937"/>
              <a:ext cx="29455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不会。非 Daemon 线程都结束后进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程就退出，Daemon 线程随之终止。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第9章 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542" y="1545907"/>
            <a:ext cx="5187696" cy="2535746"/>
            <a:chOff x="526542" y="1545907"/>
            <a:chExt cx="5187696" cy="253574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四部分各自的落点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070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00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309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基础知识：进程分资源，线程被调度；同一进程的线程共享堆，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各有自己的栈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41649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9078" y="2455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197" y="2428875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线程创建：继承 Thread 或实现 Runnable，调用 start() 才开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新线程，只能启动一次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982277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078" y="30216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197" y="2994660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线程协作：共享变量的读写要放进同一把锁；等条件用 while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wait，改条件后 notifyAll；多把锁按固定顺序申请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54806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9078" y="35874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197" y="3560445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扩展锁机制：ReentrantLock 在 finally 里 unlock，一把锁可以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挂多个 Condition，await/signal 对应 wait/notify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198620"/>
            <a:ext cx="5410200" cy="2152650"/>
            <a:chOff x="533400" y="4198620"/>
            <a:chExt cx="5410200" cy="2152650"/>
          </a:xfrm>
        </p:grpSpPr>
        <p:sp>
          <p:nvSpPr>
            <p:cNvPr id="21" name="Rectangle 21"/>
            <p:cNvSpPr/>
            <p:nvPr/>
          </p:nvSpPr>
          <p:spPr>
            <a:xfrm>
              <a:off x="533400" y="4198620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33197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43853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759" y="44181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73340" y="442055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先找共享变量，再找锁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332" y="4746308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读一段多线程代码时，先圈出所有线程都会读写的变量，再看每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处读写被哪把锁保护、是不是同一把。等待的地方看是否用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while、是否持有别的锁。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2400300"/>
            <a:chOff x="6248400" y="1524000"/>
            <a:chExt cx="5410200" cy="24003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9856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790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5555" y="2045494"/>
              <a:ext cx="1302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run() 与 start()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9635" y="2045494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普通调用 / 开新线程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5555" y="2445544"/>
              <a:ext cx="1341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 与 sleep()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22005" y="2333625"/>
              <a:ext cx="322707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09635" y="2445544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释放锁 / 不释放锁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5555" y="2845594"/>
              <a:ext cx="1758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notify() 与 notifyAll()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09635" y="2845594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叫醒一个 / 叫醒全部，都要重新抢锁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5555" y="3245644"/>
              <a:ext cx="1533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 与 WAITING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9635" y="324564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等锁 / 等通知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5555" y="3645694"/>
              <a:ext cx="1616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与 Lock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09635" y="3645694"/>
              <a:ext cx="2453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自动释放 / 必须在 finally 里 unlock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0771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248400" y="4093845"/>
            <a:ext cx="5410200" cy="2257425"/>
            <a:chOff x="6248400" y="4093845"/>
            <a:chExt cx="5410200" cy="2257425"/>
          </a:xfrm>
        </p:grpSpPr>
        <p:sp>
          <p:nvSpPr>
            <p:cNvPr id="51" name="Rectangle 51"/>
            <p:cNvSpPr/>
            <p:nvPr/>
          </p:nvSpPr>
          <p:spPr>
            <a:xfrm>
              <a:off x="6248400" y="4093845"/>
              <a:ext cx="5410200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227195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3190" y="428053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0609" y="431339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本讲更正汇总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6332" y="4625340"/>
              <a:ext cx="48143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53、54 页双锁缓冲区会卡死，已改为单锁版；第 60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 62 页补上 throws InterruptedException；第 41 页生命周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期图改为被 notify 后先进阻塞态；另有 yield、int、分号等笔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66332" y="5696902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版本：Thread.stop() 在 JDK 20 起抛异常；JDK 21 加入虚拟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第9章 并发控制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9">
  <a:themeElements>
    <a:clrScheme name="java_ch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2026-09-23T09:45:25Z</dcterms:created>
  <dcterms:modified xsi:type="dcterms:W3CDTF">2026-09-23T09:45:25Z</dcterms:modified>
  <cp:category/>
  <cp:contentStatus/>
</cp:coreProperties>
</file>