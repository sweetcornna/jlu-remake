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965729329db344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562599de8379c6b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4f68b42a69fd8e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077968" cy="3437763"/>
            <a:chOff x="666750" y="1619250"/>
            <a:chExt cx="507796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67409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概述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068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Java 的来历、特征到第一个程序的编译运行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历史、版本与语言特征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4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与 C/C++ 的区别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62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字节码、JVM 与运行机制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安装与开发环境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自学复习版｜据吉林大学《Java程序设计》第1章课件整理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363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528" y="407194"/>
              <a:ext cx="115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课程与学习方法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034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这门课学什么，为什么学 Java，怎样学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1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Java 概述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964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发展历史、平台版本、11 个语言特征、与 C/C++ 比较、API 文档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4706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程序结构与运行机制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762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第一个程序、源文件结构、javac 与 java、字节码与 JVM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开发环境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14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的安装与环境变量、Eclipse 等开发工具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编程参考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参考书与在线文档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Java 白皮书中的 11 个语言特征，解释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“一次编译，到处运行”的原理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JDK、JRE、JVM，以及 Java SE、EE、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javac、java 命令编译并运行一个 Java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Java 程序运行的五个阶段和源文件的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组成规则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2918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列举 Java 与 C/C++ 的主要区别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06622" cy="909257"/>
            <a:chOff x="520446" y="342900"/>
            <a:chExt cx="4306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363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528" y="407194"/>
              <a:ext cx="115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课程地图：11 章内容与教材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28066" y="1524000"/>
            <a:ext cx="6065139" cy="4743069"/>
            <a:chOff x="528066" y="1524000"/>
            <a:chExt cx="6065139" cy="47430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9048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668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791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讲授学时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0124" y="205406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6912" y="2054066"/>
              <a:ext cx="243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语言基础（本章：Java 概述）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3928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0124" y="245983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6912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结构化程序设计基础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3928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0124" y="286559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76425" y="2750820"/>
              <a:ext cx="34956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66912" y="2865596"/>
              <a:ext cx="996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类与对象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928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0124" y="327136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876425" y="3156585"/>
              <a:ext cx="34956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66912" y="3271361"/>
              <a:ext cx="14491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类的继承与多态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3928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0124" y="367712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第5章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66912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图形化用户界面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3928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24" y="408289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669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39285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359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0124" y="448865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第7章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66912" y="44886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对象的容纳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39285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65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7012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0124" y="489442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第8章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66912" y="4894421"/>
              <a:ext cx="377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39285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1711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0124" y="530018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第9章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66912" y="53001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并发控制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39285" y="53001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5768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58165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5980" y="5705951"/>
              <a:ext cx="748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第10–11章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66912" y="57059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高级程序设计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39285" y="57059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6059805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862138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75910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066" y="6061710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总计 56 学时：讲授 32 学时，实验 24 学时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6898005" y="1524000"/>
            <a:ext cx="4760595" cy="1272540"/>
            <a:chOff x="6898005" y="1524000"/>
            <a:chExt cx="4760595" cy="1272540"/>
          </a:xfrm>
        </p:grpSpPr>
        <p:sp>
          <p:nvSpPr>
            <p:cNvPr id="62" name="Rectangle 62"/>
            <p:cNvSpPr/>
            <p:nvPr/>
          </p:nvSpPr>
          <p:spPr>
            <a:xfrm>
              <a:off x="6898005" y="1524000"/>
              <a:ext cx="476059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07530" y="165735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12202" y="1756410"/>
              <a:ext cx="1529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《Java程序设计》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37082" y="21469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93102" y="209073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机械工业出版社，2016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37082" y="2448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93102" y="2392680"/>
              <a:ext cx="2241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ISBN 978-7-111-54190-5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898005" y="2970848"/>
            <a:ext cx="4760595" cy="1233488"/>
            <a:chOff x="6898005" y="2970848"/>
            <a:chExt cx="4760595" cy="1233488"/>
          </a:xfrm>
        </p:grpSpPr>
        <p:sp>
          <p:nvSpPr>
            <p:cNvPr id="72" name="Rectangle 72"/>
            <p:cNvSpPr/>
            <p:nvPr/>
          </p:nvSpPr>
          <p:spPr>
            <a:xfrm>
              <a:off x="6898005" y="2970848"/>
              <a:ext cx="4760595" cy="1233488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907530" y="3104198"/>
              <a:ext cx="47625" cy="9667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28510" y="316325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15950" y="319754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参考书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45552" y="3203258"/>
              <a:ext cx="2900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Bruce Eckel《Thinking in Java》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37082" y="359378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93102" y="3537585"/>
              <a:ext cx="205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中译本《Java编程思想》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22795" y="3836194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更多参考书和在线资源见 1.4 节。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898005" y="4379595"/>
            <a:ext cx="4760595" cy="1845945"/>
            <a:chOff x="6898005" y="4379595"/>
            <a:chExt cx="4760595" cy="1845945"/>
          </a:xfrm>
        </p:grpSpPr>
        <p:sp>
          <p:nvSpPr>
            <p:cNvPr id="81" name="Rectangle 81"/>
            <p:cNvSpPr/>
            <p:nvPr/>
          </p:nvSpPr>
          <p:spPr>
            <a:xfrm>
              <a:off x="6898005" y="4379595"/>
              <a:ext cx="4760595" cy="1845945"/>
            </a:xfrm>
            <a:prstGeom prst="roundRect">
              <a:avLst>
                <a:gd name="adj" fmla="val 61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102793" y="5202557"/>
              <a:ext cx="200023" cy="200023"/>
              <a:chOff x="7102793" y="5202557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102793" y="52025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36143" y="5269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7405497" y="5084445"/>
              <a:ext cx="38541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第3、4 章（类与对象、继承与多态）学时最多，是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面向对象编程的主体。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2111" cy="909257"/>
            <a:chOff x="520446" y="342900"/>
            <a:chExt cx="74621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363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528" y="407194"/>
              <a:ext cx="115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21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为什么学 Java：长期排在语言榜前列，应用面广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7685" y="1524000"/>
            <a:ext cx="4983480" cy="4535328"/>
            <a:chOff x="527685" y="1524000"/>
            <a:chExt cx="4983480" cy="4535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2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072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065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6582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9490" y="2108359"/>
              <a:ext cx="586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87290" y="2108359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15.16%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582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19490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87290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10.97%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582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19490" y="3005614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87290" y="3005614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10.53%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6582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21192" y="3328988"/>
              <a:ext cx="192976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19490" y="3454241"/>
              <a:ext cx="397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70008" y="3328988"/>
              <a:ext cx="16316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82063" y="3454241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8.88%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65825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19490" y="390382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C#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82063" y="3903821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7.53%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6582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19490" y="4352449"/>
              <a:ext cx="92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JavaScript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82063" y="4352449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3.17%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65825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19490" y="4801076"/>
              <a:ext cx="349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82063" y="4801076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1.82%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101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11492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65825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19490" y="5249704"/>
              <a:ext cx="207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82063" y="524970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1.73%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497776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90690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85572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685" y="5639276"/>
              <a:ext cx="4698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TIOBE 指数 2024 年 2 月（原课件截图）。指数按搜索引擎热度统计，只反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映流行程度，不代表语言好坏。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5815965" y="1524000"/>
            <a:ext cx="5842635" cy="2322195"/>
            <a:chOff x="5815965" y="1524000"/>
            <a:chExt cx="5842635" cy="2322195"/>
          </a:xfrm>
        </p:grpSpPr>
        <p:sp>
          <p:nvSpPr>
            <p:cNvPr id="53" name="Rectangle 53"/>
            <p:cNvSpPr/>
            <p:nvPr/>
          </p:nvSpPr>
          <p:spPr>
            <a:xfrm>
              <a:off x="5815965" y="1524000"/>
              <a:ext cx="5842635" cy="2322195"/>
            </a:xfrm>
            <a:prstGeom prst="roundRect">
              <a:avLst>
                <a:gd name="adj" fmla="val 5742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25515" y="1733550"/>
              <a:ext cx="115157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92869" y="1769269"/>
              <a:ext cx="1015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用在哪里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3123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89345" y="2110740"/>
              <a:ext cx="3484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企业后端与 Web 服务，如 Spring 生态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3123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89345" y="2446020"/>
              <a:ext cx="1616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Android 应用开发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31230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89345" y="278130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大数据组件：Hadoop、Kafka、Flink、Elasticsearch 等都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运行在 JVM 上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31230" y="346519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89345" y="3402330"/>
              <a:ext cx="4928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开发工具本身：IntelliJ IDEA、Eclipse 都是 Java 写的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815965" y="4036695"/>
            <a:ext cx="5842635" cy="1978342"/>
            <a:chOff x="5815965" y="4036695"/>
            <a:chExt cx="5842635" cy="1978342"/>
          </a:xfrm>
        </p:grpSpPr>
        <p:sp>
          <p:nvSpPr>
            <p:cNvPr id="65" name="Rectangle 65"/>
            <p:cNvSpPr/>
            <p:nvPr/>
          </p:nvSpPr>
          <p:spPr>
            <a:xfrm>
              <a:off x="5815965" y="4036695"/>
              <a:ext cx="5842635" cy="1978342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825490" y="4170045"/>
              <a:ext cx="47625" cy="17116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63615" y="42462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53823" y="4281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55995" y="4623435"/>
              <a:ext cx="51206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原课件引用“Java 工程师需求占全部软件人才需求的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60%~70%”“Java 运行在 7.08 亿手机、10 亿智能卡上”等数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字，出自 2000 年代的宣传资料，已不能反映现状，本讲义不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再采用。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7789" cy="909257"/>
            <a:chOff x="520446" y="342900"/>
            <a:chExt cx="78777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363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528" y="407194"/>
              <a:ext cx="115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77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怎样学好 Java：先打牢 Java SE，再走向应用方向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666750" y="1722120"/>
            <a:ext cx="5359717" cy="2886075"/>
            <a:chOff x="666750" y="1722120"/>
            <a:chExt cx="5359717" cy="2886075"/>
          </a:xfrm>
        </p:grpSpPr>
        <p:sp>
          <p:nvSpPr>
            <p:cNvPr id="7" name="Freeform 7"/>
            <p:cNvSpPr/>
            <p:nvPr/>
          </p:nvSpPr>
          <p:spPr>
            <a:xfrm>
              <a:off x="3347085" y="2146935"/>
              <a:ext cx="9525" cy="290512"/>
            </a:xfrm>
            <a:custGeom>
              <a:avLst/>
              <a:gdLst/>
              <a:ahLst/>
              <a:cxnLst/>
              <a:rect l="l" t="t" r="r" b="b"/>
              <a:pathLst>
                <a:path w="9525" h="290512">
                  <a:moveTo>
                    <a:pt x="0" y="0"/>
                  </a:moveTo>
                  <a:lnTo>
                    <a:pt x="0" y="2905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94698" y="2437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47085" y="2967038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3168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71612" y="3876675"/>
              <a:ext cx="1875472" cy="201930"/>
            </a:xfrm>
            <a:custGeom>
              <a:avLst/>
              <a:gdLst/>
              <a:ahLst/>
              <a:cxnLst/>
              <a:rect l="l" t="t" r="r" b="b"/>
              <a:pathLst>
                <a:path w="1875472" h="201930">
                  <a:moveTo>
                    <a:pt x="1875472" y="0"/>
                  </a:moveTo>
                  <a:lnTo>
                    <a:pt x="1875472" y="153353"/>
                  </a:lnTo>
                  <a:lnTo>
                    <a:pt x="0" y="153353"/>
                  </a:ln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19225" y="4078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3876675"/>
              <a:ext cx="1875472" cy="201930"/>
            </a:xfrm>
            <a:custGeom>
              <a:avLst/>
              <a:gdLst/>
              <a:ahLst/>
              <a:cxnLst/>
              <a:rect l="l" t="t" r="r" b="b"/>
              <a:pathLst>
                <a:path w="1875472" h="201930">
                  <a:moveTo>
                    <a:pt x="0" y="0"/>
                  </a:moveTo>
                  <a:lnTo>
                    <a:pt x="0" y="153353"/>
                  </a:lnTo>
                  <a:lnTo>
                    <a:pt x="1875472" y="153353"/>
                  </a:lnTo>
                  <a:lnTo>
                    <a:pt x="1875472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70170" y="4078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42222" y="172212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42222" y="2542222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42222" y="3273742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6750" y="2542222"/>
              <a:ext cx="1608772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7695" y="2542222"/>
              <a:ext cx="1608772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418338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7695" y="4183380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42222" y="4183380"/>
              <a:ext cx="1608772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09418" y="1850708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C（面向过程）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3024" y="2670810"/>
              <a:ext cx="66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语言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68549" y="3388995"/>
              <a:ext cx="9570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Java（面向对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12" y="2670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数据结构与算法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4145" y="2670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4870" y="4311968"/>
              <a:ext cx="1293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 移动开发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6437" y="4311968"/>
              <a:ext cx="1012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企业应用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75585" y="431196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软件工程与架构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704469" y="5011102"/>
            <a:ext cx="5285232" cy="470916"/>
            <a:chOff x="704469" y="5011102"/>
            <a:chExt cx="5285232" cy="470916"/>
          </a:xfrm>
        </p:grpSpPr>
        <p:sp>
          <p:nvSpPr>
            <p:cNvPr id="32" name="TextBox 32"/>
            <p:cNvSpPr txBox="1"/>
            <p:nvPr/>
          </p:nvSpPr>
          <p:spPr>
            <a:xfrm>
              <a:off x="704469" y="5011102"/>
              <a:ext cx="52852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原课件中的课程体系图：Java 承接 C/C++，向下连着 Android、Web 等项目方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</a:t>
              </a:r>
            </a:p>
          </p:txBody>
        </p:sp>
      </p:grpSp>
      <p:grpSp>
        <p:nvGrpSpPr>
          <p:cNvPr id="50" name="c2-bullets-1"/>
          <p:cNvGrpSpPr/>
          <p:nvPr/>
        </p:nvGrpSpPr>
        <p:grpSpPr>
          <a:xfrm>
            <a:off x="6464618" y="1547336"/>
            <a:ext cx="3993900" cy="2583752"/>
            <a:chOff x="6464618" y="1547336"/>
            <a:chExt cx="3993900" cy="2583752"/>
          </a:xfrm>
        </p:grpSpPr>
        <p:sp>
          <p:nvSpPr>
            <p:cNvPr id="34" name="Freeform 34"/>
            <p:cNvSpPr/>
            <p:nvPr/>
          </p:nvSpPr>
          <p:spPr>
            <a:xfrm>
              <a:off x="6464618" y="1577340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8838" y="154733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明确学习目标和大的方向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464618" y="190690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8838" y="187690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初学不必看太多书，先系统学好基础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464618" y="22364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08838" y="2206466"/>
              <a:ext cx="3749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与学过的 C/C++ 对比，找出不同之处和特点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464618" y="2565082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8838" y="253507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学一些设计模式，把握项目的整体结构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289464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08838" y="286464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理解语法规则，不要死记硬背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64618" y="322421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8838" y="319420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遇到问题不急躁，先自己尝试解决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464618" y="355282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8838" y="35228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多实践、多思考、多请教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64618" y="388239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8838" y="385238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多查阅资料，多读别人的源代码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260532"/>
            <a:ext cx="5193982" cy="1018222"/>
            <a:chOff x="6464618" y="4260532"/>
            <a:chExt cx="5193982" cy="1018222"/>
          </a:xfrm>
        </p:grpSpPr>
        <p:sp>
          <p:nvSpPr>
            <p:cNvPr id="51" name="Rectangle 51"/>
            <p:cNvSpPr/>
            <p:nvPr/>
          </p:nvSpPr>
          <p:spPr>
            <a:xfrm>
              <a:off x="6464618" y="426053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4670108"/>
              <a:ext cx="200026" cy="200026"/>
              <a:chOff x="6669405" y="467010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46701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4736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58305" y="47701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4407694"/>
              <a:ext cx="421640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原图还画了：IDE 用 Eclipse、NetBeans 等；数据库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从小型的 MySQL 到大型的 Oracle；最外层是任务和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项目驱动教学、实践课程、课外培养计划。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5753576"/>
              <a:ext cx="1004138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有没有 C 语言基础影响不大，关键在多写代码。技术更新很快（原课件举了 ChatGPT 的例子），会查文档、会自学比记住某个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版本的细节更有用。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65927" cy="3351847"/>
            <a:chOff x="667512" y="1835468"/>
            <a:chExt cx="436592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3023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Java 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56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从哪来、有哪些版本、凭什么能跨平台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1.1.1–1.1.3 语言、历史与版本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1.1.4 十一个语言特征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53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1.1.5–1.1.6 Applet、与 C/C++ 比较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67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1.1.7 类库与 API 文档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08187" cy="909257"/>
            <a:chOff x="520446" y="342900"/>
            <a:chExt cx="9508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08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程序设计语言的演进：机器语言 → 汇编 → 高级语言 → 面向对象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20353" cy="293370"/>
            <a:chOff x="525780" y="1548765"/>
            <a:chExt cx="892035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20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人要让计算机做事，也要先解决“语言”问题。程序设计语言是为了向计算机准确描述问题而设计的。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54530"/>
            <a:ext cx="11125200" cy="2577465"/>
            <a:chOff x="533400" y="1954530"/>
            <a:chExt cx="11125200" cy="257746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1593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1685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91306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例子与年代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机器语言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30412" y="2515552"/>
              <a:ext cx="444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二进制指令，CPU 直接执行；难写难读，换一种 CPU 就要重写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9272" y="2515552"/>
              <a:ext cx="2031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1940 年代的早期电子计算机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30412" y="2946082"/>
              <a:ext cx="5029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用助记符代替二进制指令，经汇编程序翻译成机器码；仍依赖具体 CPU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49272" y="2946082"/>
              <a:ext cx="150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MOV、ADD 等助记符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4832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30412" y="3483292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接近自然语言和数学表达，经编译或解释后执行；结构化语言强调顺序、分支、循环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49272" y="3376612"/>
              <a:ext cx="2351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1954 年起的 FORTRAN；1970 年的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Pascal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88810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897630"/>
              <a:ext cx="187261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1262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面向对象语言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30412" y="412623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用类和对象组织程序，更贴近人对现实事物的思考方式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49272" y="4019550"/>
              <a:ext cx="2763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1980 年代起：Smalltalk、C++；1995 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Java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54530"/>
              <a:ext cx="11125200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20302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39162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717732"/>
            <a:ext cx="11125200" cy="955358"/>
            <a:chOff x="533400" y="4717732"/>
            <a:chExt cx="11125200" cy="955358"/>
          </a:xfrm>
        </p:grpSpPr>
        <p:sp>
          <p:nvSpPr>
            <p:cNvPr id="35" name="Rectangle 35"/>
            <p:cNvSpPr/>
            <p:nvPr/>
          </p:nvSpPr>
          <p:spPr>
            <a:xfrm>
              <a:off x="533400" y="4717732"/>
              <a:ext cx="11125200" cy="955358"/>
            </a:xfrm>
            <a:prstGeom prst="roundRect">
              <a:avLst>
                <a:gd name="adj" fmla="val 119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094923"/>
              <a:ext cx="200026" cy="200025"/>
              <a:chOff x="738188" y="5094923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0949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51393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52504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4963954"/>
              <a:ext cx="97889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同为结构化语言，Pascal 语法结构相对简单、更讲究结构化，代码可读性较好；C 的语法更灵活，允许写出较复杂的代码逻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辑。原课件还用一张词云列出 Fortran、Cobol、Algol、Basic、Lisp、Prolog、Simula、Smalltalk、Ada 等许多语言。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2" name="Rectangle 4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04084"/>
              <a:ext cx="91204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是面向对象的程序设计语言。本课程后面的类、继承、多态、接口，都是在学“怎样用对象组织程序”。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9771" cy="909257"/>
            <a:chOff x="520446" y="342900"/>
            <a:chExt cx="77897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97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1.1.1 Java：Sun 公司 1995 年推出的跨平台语言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2005965"/>
            <a:chOff x="533400" y="1524000"/>
            <a:chExt cx="6059805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956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语言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73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是 Sun Microsystems 公司于 1995 年推出的高级编程语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言，语法与 C++ 相似，和 Internet 一起发展起来。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最大特点：同一个程序可以在不同的平台环境上运行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55213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口号：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Write once, run anywhere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（一次编写，到处运行）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20465"/>
            <a:ext cx="6059805" cy="1947862"/>
            <a:chOff x="533400" y="3720465"/>
            <a:chExt cx="6059805" cy="1947862"/>
          </a:xfrm>
        </p:grpSpPr>
        <p:sp>
          <p:nvSpPr>
            <p:cNvPr id="18" name="Rectangle 18"/>
            <p:cNvSpPr/>
            <p:nvPr/>
          </p:nvSpPr>
          <p:spPr>
            <a:xfrm>
              <a:off x="533400" y="3720465"/>
              <a:ext cx="6059805" cy="1947862"/>
            </a:xfrm>
            <a:prstGeom prst="roundRect">
              <a:avLst>
                <a:gd name="adj" fmla="val 6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53815"/>
              <a:ext cx="47625" cy="1681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93001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655" y="39657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原课件引用的评价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37007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30720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被称为“二十世纪十大科技成果之一”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70535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642485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Bill Gates 评价：“Java 是长时间以来最为卓越的程序设计语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573" y="526018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这两条是中文教材中流传的说法，原课件没有给出出处，了解即可。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890385" y="1548765"/>
            <a:ext cx="4768215" cy="3023235"/>
            <a:chOff x="6890385" y="1548765"/>
            <a:chExt cx="4768215" cy="3023235"/>
          </a:xfrm>
        </p:grpSpPr>
        <p:sp>
          <p:nvSpPr>
            <p:cNvPr id="28" name="TextBox 28"/>
            <p:cNvSpPr txBox="1"/>
            <p:nvPr/>
          </p:nvSpPr>
          <p:spPr>
            <a:xfrm>
              <a:off x="6890385" y="1548765"/>
              <a:ext cx="840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Sun 公司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8183" y="1548765"/>
              <a:ext cx="29775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的发明者，2010 年被 Oracle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（甲骨文）收购，此后 Java 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和 OpenJDK 社区维护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24326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385" y="2552700"/>
              <a:ext cx="68532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James</a:t>
              </a:r>
              <a:br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Gosling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8183" y="2552700"/>
              <a:ext cx="27965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被称为“Java 之父”，领导设计了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的前身 Oak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31546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0385" y="3274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名字来历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8183" y="3274695"/>
              <a:ext cx="3101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印度尼西亚的爪哇岛（Java）盛产咖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啡，Java 的标志是一杯热咖啡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38766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0385" y="3996690"/>
              <a:ext cx="956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 平台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8183" y="399669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除了语言本身，还包括虚拟机、类库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和大量工具，是一整套技术体系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8097" cy="909257"/>
            <a:chOff x="520446" y="342900"/>
            <a:chExt cx="80880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80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1.1.2 从 Oak 到 Java：一个家电项目转向了互联网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6007735" cy="2901792"/>
            <a:chOff x="533400" y="1533525"/>
            <a:chExt cx="6007735" cy="290179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822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53460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608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2898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402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157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989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2578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1990–1992 Green 项目与 Oak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559435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 成立 Green 小组（James Gosling 等人），为智能消费电子产品开发软件。家电芯片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种类多、资源少，当时流行的 C++ 过于庞大，小组去掉它不实用、不安全的成分，改良出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Oak 语言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566988"/>
              <a:ext cx="1924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1993–1994 转向万维网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834164"/>
              <a:ext cx="55659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争取电视机顶盒控制器项目失利，Green 小组解散。受 Mosaic 浏览器启发，团队把 Oak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用于网页，开发出 WebRunner，为网页增加“动态内容”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360420"/>
              <a:ext cx="121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 正式发布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628549"/>
              <a:ext cx="5579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Oak 商标已被注册，改名 Java。5 月 23 日 Sun 正式发布 Java 和 HotJava 浏览器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948112"/>
              <a:ext cx="1243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 JDK 1.0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215289"/>
              <a:ext cx="2701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第一个正式版本的 Java 开发工具包发布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4604385"/>
            <a:ext cx="6276022" cy="1623060"/>
            <a:chOff x="533400" y="4604385"/>
            <a:chExt cx="6276022" cy="1623060"/>
          </a:xfrm>
        </p:grpSpPr>
        <p:sp>
          <p:nvSpPr>
            <p:cNvPr id="25" name="Rectangle 25"/>
            <p:cNvSpPr/>
            <p:nvPr/>
          </p:nvSpPr>
          <p:spPr>
            <a:xfrm>
              <a:off x="533400" y="4604385"/>
              <a:ext cx="627602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7473" y="4728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94253" y="47286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6791" y="47286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后来怎样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412" y="5134451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Green 项目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4538" y="513445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为智能家电成立的研发小组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37748" y="513445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 年解散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4111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41591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5540216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Oak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14538" y="5540216"/>
              <a:ext cx="1726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小组改良 C++ 得到的语言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7748" y="5540216"/>
              <a:ext cx="1222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 年改名 Java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8169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5945981"/>
              <a:ext cx="836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WebRunner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14538" y="59459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小组写的万维网浏览器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7748" y="5945981"/>
              <a:ext cx="1476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 年改名 HotJava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04385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909762" y="460438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32972" y="460438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2032635"/>
            <a:chOff x="7114222" y="1524000"/>
            <a:chExt cx="4544378" cy="2032635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3748" y="1657350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44728" y="1716405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98371" y="1750695"/>
              <a:ext cx="1511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 Oak 适合互联网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09320" y="207264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为家电设计时就要求：简单、可移植、在各种芯片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上都能运行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09320" y="263271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互联网上的计算机同样五花八门，网页里的程序也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要跨平台、要安全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39012" y="3188494"/>
              <a:ext cx="3557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Sun 当时让用户免费使用 Java，以此快速占领市场。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114222" y="3731895"/>
            <a:ext cx="4544378" cy="2495550"/>
            <a:chOff x="7114222" y="3731895"/>
            <a:chExt cx="4544378" cy="2495550"/>
          </a:xfrm>
        </p:grpSpPr>
        <p:sp>
          <p:nvSpPr>
            <p:cNvPr id="55" name="Rectangle 55"/>
            <p:cNvSpPr/>
            <p:nvPr/>
          </p:nvSpPr>
          <p:spPr>
            <a:xfrm>
              <a:off x="7114222" y="3731895"/>
              <a:ext cx="4544378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23748" y="3865245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44728" y="39243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36168" y="39585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37870" y="4280535"/>
              <a:ext cx="36913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原课件写“1995，Java 正式发布（HotJava 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身）”。HotJava 的前身是 WebRunner 浏览器，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与 HotJava 在 1995 年同时发布。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4683" cy="909257"/>
            <a:chOff x="520446" y="342900"/>
            <a:chExt cx="67746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46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版本演进：从 JDK 1.0 到每半年一个新版本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33400" y="1524000"/>
            <a:ext cx="6708458" cy="4800600"/>
            <a:chOff x="533400" y="1524000"/>
            <a:chExt cx="6708458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17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238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7273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1.0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40280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13748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第一个正式版本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70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J2SE 1.2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40280" y="24455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1998.12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3748" y="2445544"/>
              <a:ext cx="2836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改称 Java 2 平台，加入 Swing、集合框架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70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J2SE 5.0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40280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3748" y="2845594"/>
              <a:ext cx="2717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泛型、增强 for、自动装箱、枚举、注解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735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40280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13748" y="324564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名称中去掉“2”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735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40280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13748" y="3645694"/>
              <a:ext cx="3293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完成收购 Sun（2010）后的第一个大版本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3933825"/>
              <a:ext cx="15906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4045744"/>
              <a:ext cx="1313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8（LTS）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40280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13748" y="4045744"/>
              <a:ext cx="1996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Lambda 表达式、Stream API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4445794"/>
              <a:ext cx="1060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9、10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40280" y="4445794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2017、2018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13748" y="4445794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模块系统；从 10 开始每 6 个月发布一版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196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244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733925"/>
              <a:ext cx="15906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4845844"/>
              <a:ext cx="1402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11（LTS）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40280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13748" y="48458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新节奏下的第一个长期支持版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1196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5133975"/>
              <a:ext cx="15906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555" y="5245894"/>
              <a:ext cx="1402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17（LTS）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240280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313748" y="52458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密封类等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519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55245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2925" y="5534025"/>
              <a:ext cx="15906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0555" y="5645944"/>
              <a:ext cx="1402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21（LTS）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40280" y="56459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13748" y="56459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虚拟线程等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9197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2925" y="5934075"/>
              <a:ext cx="159067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555" y="6045994"/>
              <a:ext cx="1402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25（LTS）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240280" y="60459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13748" y="6045994"/>
              <a:ext cx="188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之后的下一个长期支持版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524000"/>
              <a:ext cx="6708458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13836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21183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rd-1"/>
          <p:cNvGrpSpPr/>
          <p:nvPr/>
        </p:nvGrpSpPr>
        <p:grpSpPr>
          <a:xfrm>
            <a:off x="7546658" y="1524000"/>
            <a:ext cx="4111942" cy="2000250"/>
            <a:chOff x="7546658" y="1524000"/>
            <a:chExt cx="4111942" cy="2000250"/>
          </a:xfrm>
        </p:grpSpPr>
        <p:sp>
          <p:nvSpPr>
            <p:cNvPr id="68" name="Rectangle 68"/>
            <p:cNvSpPr/>
            <p:nvPr/>
          </p:nvSpPr>
          <p:spPr>
            <a:xfrm>
              <a:off x="7546658" y="1524000"/>
              <a:ext cx="4111942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56182" y="165735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7144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6411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780020" y="211074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36039" y="2054542"/>
              <a:ext cx="31855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原课件写“1999，Java 1.2（Java 2）”。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1.2 实际在 1998 年 12 月发布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780020" y="26689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36039" y="2612708"/>
              <a:ext cx="33484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Java 19、Java 20 都写在 2023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年。Java 19 发布于 2022 年 9 月，Java 20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发布于 2023 年 3 月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7546658" y="3693795"/>
            <a:ext cx="4111942" cy="2630805"/>
            <a:chOff x="7546658" y="3693795"/>
            <a:chExt cx="4111942" cy="2630805"/>
          </a:xfrm>
        </p:grpSpPr>
        <p:sp>
          <p:nvSpPr>
            <p:cNvPr id="77" name="Rectangle 77"/>
            <p:cNvSpPr/>
            <p:nvPr/>
          </p:nvSpPr>
          <p:spPr>
            <a:xfrm>
              <a:off x="7546658" y="3693795"/>
              <a:ext cx="4111942" cy="2630805"/>
            </a:xfrm>
            <a:prstGeom prst="roundRect">
              <a:avLst>
                <a:gd name="adj" fmla="val 506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33348" y="3880485"/>
              <a:ext cx="838200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806897" y="3913346"/>
              <a:ext cx="691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LTS 是什么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726489" y="4225290"/>
              <a:ext cx="34427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LTS（Long-Term Support，长期支持）版本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会持续多年提供更新。学习和生产环境一般选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LTS，目前常见的是 8、11、17、21、25。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0022" cy="909257"/>
            <a:chOff x="520446" y="342900"/>
            <a:chExt cx="58200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0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装哪个 JDK：OpenJDK 与各家发行版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000250"/>
            <a:chOff x="533400" y="1524000"/>
            <a:chExt cx="5410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54587" y="1645444"/>
              <a:ext cx="1744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生产环境使用的 JDK 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7558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589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86889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62%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5011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6889" y="24455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589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86889" y="28455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其余各版本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4187" y="324564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均不超过 5%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157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table-2"/>
          <p:cNvGrpSpPr/>
          <p:nvPr/>
        </p:nvGrpSpPr>
        <p:grpSpPr>
          <a:xfrm>
            <a:off x="528447" y="3693795"/>
            <a:ext cx="5415153" cy="2664809"/>
            <a:chOff x="528447" y="3693795"/>
            <a:chExt cx="5415153" cy="2664809"/>
          </a:xfrm>
        </p:grpSpPr>
        <p:sp>
          <p:nvSpPr>
            <p:cNvPr id="26" name="Rectangle 26"/>
            <p:cNvSpPr/>
            <p:nvPr/>
          </p:nvSpPr>
          <p:spPr>
            <a:xfrm>
              <a:off x="533400" y="3693795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67383" y="381523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生产环境使用的发行版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75581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0555" y="4215289"/>
              <a:ext cx="2802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AdoptOpenJDK（现 Eclipse Temurin）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6889" y="42152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891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49389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4615339"/>
              <a:ext cx="1240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OpenJDK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6889" y="461533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8891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015389"/>
              <a:ext cx="855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JDK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6889" y="50153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2892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29399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5415439"/>
              <a:ext cx="68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Azul Zulu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86889" y="541543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689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815489"/>
              <a:ext cx="1320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Corretto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28352" y="5815489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693795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315778" y="369379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447" y="6167914"/>
              <a:ext cx="5156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数据来自原课件引用的 Snyk《JVM 生态报告 2021》，可多选，所以比例之和超过 100%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524000"/>
            <a:ext cx="5410200" cy="2060258"/>
            <a:chOff x="6248400" y="1524000"/>
            <a:chExt cx="5410200" cy="2060258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8784" y="1745932"/>
              <a:ext cx="2128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OpenJDK 与 Oracle JDK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81762" y="21278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7782" y="2071688"/>
              <a:ext cx="438612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OpenJDK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：Java SE 的开源参考实现，许可证为 GPLv2 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Classpath 例外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81762" y="268509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7782" y="2628900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JDK、Eclipse Temurin、Amazon Corretto、Azul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Zulu 等发行版都由 OpenJDK 源码构建，功能基本一致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1762" y="324231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7782" y="318611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区别主要在许可协议、更新周期和商业支持</a:t>
              </a:r>
            </a:p>
          </p:txBody>
        </p:sp>
      </p:grpSp>
      <p:grpSp>
        <p:nvGrpSpPr>
          <p:cNvPr id="69" name="c2-kv-2"/>
          <p:cNvGrpSpPr/>
          <p:nvPr/>
        </p:nvGrpSpPr>
        <p:grpSpPr>
          <a:xfrm>
            <a:off x="6241542" y="3776662"/>
            <a:ext cx="5417058" cy="1555623"/>
            <a:chOff x="6241542" y="3776662"/>
            <a:chExt cx="5417058" cy="1555623"/>
          </a:xfrm>
        </p:grpSpPr>
        <p:sp>
          <p:nvSpPr>
            <p:cNvPr id="61" name="TextBox 61"/>
            <p:cNvSpPr txBox="1"/>
            <p:nvPr/>
          </p:nvSpPr>
          <p:spPr>
            <a:xfrm>
              <a:off x="6241542" y="3776662"/>
              <a:ext cx="103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Oracle JDK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80820" y="3776662"/>
              <a:ext cx="322840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NFTC 许可：下个 LTS 发布后一年内可免费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用于生产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316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1542" y="4422458"/>
              <a:ext cx="869252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Temurin、</a:t>
              </a:r>
              <a:br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Corretto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80820" y="442245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免费构建，学习和生产都能直接用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9625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1542" y="5068252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Azul Zulu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80820" y="506825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免费社区版之外另有付费商业版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248400" y="5449252"/>
            <a:ext cx="5410200" cy="870585"/>
            <a:chOff x="6248400" y="5449252"/>
            <a:chExt cx="5410200" cy="870585"/>
          </a:xfrm>
        </p:grpSpPr>
        <p:sp>
          <p:nvSpPr>
            <p:cNvPr id="70" name="Rectangle 70"/>
            <p:cNvSpPr/>
            <p:nvPr/>
          </p:nvSpPr>
          <p:spPr>
            <a:xfrm>
              <a:off x="6248400" y="5449252"/>
              <a:ext cx="5410200" cy="870585"/>
            </a:xfrm>
            <a:prstGeom prst="roundRect">
              <a:avLst>
                <a:gd name="adj" fmla="val 131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453188" y="5784533"/>
              <a:ext cx="200026" cy="200025"/>
              <a:chOff x="6453188" y="5784533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453188" y="57845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492926" y="58289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27642" y="59401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755892" y="5666423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自学时任选一个发行版的 LTS 版本即可。本讲义的示例以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JDK 17 为准。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1904" cy="909257"/>
            <a:chOff x="520446" y="342900"/>
            <a:chExt cx="82919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19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1.1.3 三个平台版本：Java SE、Java EE、Java ME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6492240" cy="2423160"/>
            <a:chOff x="533400" y="1524000"/>
            <a:chExt cx="6492240" cy="2423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12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734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5534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39290"/>
              <a:ext cx="1409700" cy="786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412" y="2254091"/>
              <a:ext cx="109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标准版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2162" y="225409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桌面应用；另外两个版本的基础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645" y="2054066"/>
              <a:ext cx="230149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语言基础、JDBC 数据库操作、I/O、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网络通信、多线程；实现为 JDK 和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308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735580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959894"/>
              <a:ext cx="109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EE 企业版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2162" y="285988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服务器端企业级分布式应用，如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电子商务网站、ERP 系统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8645" y="2859881"/>
              <a:ext cx="23939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Java SE 之上增加 EJB、Servlet、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JSP、XML 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366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565684"/>
              <a:ext cx="1131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ME 微型版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62162" y="346567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手机、掌上电脑、汽车导航等消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费类电子设备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8645" y="3465671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精简的语言子集，高度优化的运行环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492240" cy="2423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57388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93870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122420"/>
            <a:ext cx="6492240" cy="488632"/>
            <a:chOff x="533400" y="4122420"/>
            <a:chExt cx="6492240" cy="488632"/>
          </a:xfrm>
        </p:grpSpPr>
        <p:sp>
          <p:nvSpPr>
            <p:cNvPr id="28" name="Rectangle 28"/>
            <p:cNvSpPr/>
            <p:nvPr/>
          </p:nvSpPr>
          <p:spPr>
            <a:xfrm>
              <a:off x="533400" y="4122420"/>
              <a:ext cx="6492240" cy="488632"/>
            </a:xfrm>
            <a:prstGeom prst="roundRect">
              <a:avLst>
                <a:gd name="adj" fmla="val 233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266250"/>
              <a:ext cx="200023" cy="200023"/>
              <a:chOff x="738188" y="426625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2662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332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271962"/>
              <a:ext cx="207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本课程以 Java SE 为主。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786312"/>
            <a:ext cx="6492240" cy="1557338"/>
            <a:chOff x="533400" y="4786312"/>
            <a:chExt cx="6492240" cy="1557338"/>
          </a:xfrm>
        </p:grpSpPr>
        <p:sp>
          <p:nvSpPr>
            <p:cNvPr id="34" name="Rectangle 34"/>
            <p:cNvSpPr/>
            <p:nvPr/>
          </p:nvSpPr>
          <p:spPr>
            <a:xfrm>
              <a:off x="533400" y="4786312"/>
              <a:ext cx="649224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919662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97871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50130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2478" y="53911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497" y="5334952"/>
              <a:ext cx="3779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Jakarta EE 9 起包名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改成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jakarta.*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2478" y="569404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8497" y="5637848"/>
              <a:ext cx="5266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旧教程里的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 javax.servlet…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Tomcat 10 以后找不到类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72478" y="599598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8497" y="5939790"/>
              <a:ext cx="3613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SE 里的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javax.swing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javax.sql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不变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330440" y="1524000"/>
            <a:ext cx="4328160" cy="2346008"/>
            <a:chOff x="7330440" y="1524000"/>
            <a:chExt cx="4328160" cy="2346008"/>
          </a:xfrm>
        </p:grpSpPr>
        <p:sp>
          <p:nvSpPr>
            <p:cNvPr id="45" name="Rectangle 45"/>
            <p:cNvSpPr/>
            <p:nvPr/>
          </p:nvSpPr>
          <p:spPr>
            <a:xfrm>
              <a:off x="7330440" y="1524000"/>
              <a:ext cx="432816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9965" y="165735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6094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5238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44637" y="1756410"/>
              <a:ext cx="1750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ME 与 Android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69517" y="214693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25537" y="2090738"/>
              <a:ext cx="35798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都可以用 Java 语言开发，但使用的框架和类库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69517" y="270605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25537" y="2649855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 是操作系统；Java ME 是运行在设备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上的应用平台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569517" y="326612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25537" y="3209925"/>
              <a:ext cx="34684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 应用的代码会编译成 DEX 字节码，在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ART 虚拟机上运行，不是标准 JVM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330440" y="4045268"/>
            <a:ext cx="4328160" cy="2298382"/>
            <a:chOff x="7330440" y="4045268"/>
            <a:chExt cx="4328160" cy="2298382"/>
          </a:xfrm>
        </p:grpSpPr>
        <p:sp>
          <p:nvSpPr>
            <p:cNvPr id="57" name="Rectangle 57"/>
            <p:cNvSpPr/>
            <p:nvPr/>
          </p:nvSpPr>
          <p:spPr>
            <a:xfrm>
              <a:off x="7330440" y="4045268"/>
              <a:ext cx="4328160" cy="2298382"/>
            </a:xfrm>
            <a:prstGeom prst="roundRect">
              <a:avLst>
                <a:gd name="adj" fmla="val 58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4178618"/>
              <a:ext cx="47625" cy="20316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60945" y="42376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52385" y="42719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69517" y="46501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25537" y="4593908"/>
              <a:ext cx="35284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2017 年 Oracle 把 Java EE 移交 Eclipse 基金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会，之后改名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Jakarta EE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69517" y="521017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25537" y="5153978"/>
              <a:ext cx="314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智能手机普及后，Java ME 已很少使用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0065" cy="909257"/>
            <a:chOff x="520446" y="342900"/>
            <a:chExt cx="8440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0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EE 应用模型：客户端、Web 层、业务层、数据层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27710" y="1573530"/>
            <a:ext cx="10735628" cy="1894523"/>
            <a:chOff x="727710" y="1573530"/>
            <a:chExt cx="10735628" cy="1894523"/>
          </a:xfrm>
        </p:grpSpPr>
        <p:sp>
          <p:nvSpPr>
            <p:cNvPr id="7" name="Freeform 7"/>
            <p:cNvSpPr/>
            <p:nvPr/>
          </p:nvSpPr>
          <p:spPr>
            <a:xfrm>
              <a:off x="3120390" y="1773555"/>
              <a:ext cx="283845" cy="498158"/>
            </a:xfrm>
            <a:custGeom>
              <a:avLst/>
              <a:gdLst/>
              <a:ahLst/>
              <a:cxnLst/>
              <a:rect l="l" t="t" r="r" b="b"/>
              <a:pathLst>
                <a:path w="283845" h="498158">
                  <a:moveTo>
                    <a:pt x="0" y="0"/>
                  </a:moveTo>
                  <a:lnTo>
                    <a:pt x="209550" y="0"/>
                  </a:lnTo>
                  <a:lnTo>
                    <a:pt x="179070" y="0"/>
                  </a:lnTo>
                  <a:lnTo>
                    <a:pt x="179070" y="498158"/>
                  </a:lnTo>
                  <a:lnTo>
                    <a:pt x="283845" y="4981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2219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20390" y="22717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04235" y="2219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0390" y="2271712"/>
              <a:ext cx="283845" cy="498158"/>
            </a:xfrm>
            <a:custGeom>
              <a:avLst/>
              <a:gdLst/>
              <a:ahLst/>
              <a:cxnLst/>
              <a:rect l="l" t="t" r="r" b="b"/>
              <a:pathLst>
                <a:path w="283845" h="498158">
                  <a:moveTo>
                    <a:pt x="0" y="498158"/>
                  </a:moveTo>
                  <a:lnTo>
                    <a:pt x="209550" y="498158"/>
                  </a:lnTo>
                  <a:lnTo>
                    <a:pt x="179070" y="498158"/>
                  </a:lnTo>
                  <a:lnTo>
                    <a:pt x="179070" y="0"/>
                  </a:ln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04235" y="2219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901690" y="22717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85535" y="2219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82990" y="22717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966835" y="2219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7710" y="1573530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7710" y="2072640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7710" y="2570798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09010" y="2072640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90310" y="2072640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71610" y="2072640"/>
              <a:ext cx="2391728" cy="399098"/>
            </a:xfrm>
            <a:prstGeom prst="roundRect">
              <a:avLst>
                <a:gd name="adj" fmla="val 2386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7710" y="3068955"/>
              <a:ext cx="2391728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09010" y="3068955"/>
              <a:ext cx="2391728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90310" y="3068955"/>
              <a:ext cx="2391728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71610" y="3068955"/>
              <a:ext cx="2391728" cy="399098"/>
            </a:xfrm>
            <a:prstGeom prst="roundRect">
              <a:avLst>
                <a:gd name="adj" fmla="val 1909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128" y="1694974"/>
              <a:ext cx="1611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浏览器：HTML、Applet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51941" y="2193131"/>
              <a:ext cx="13442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桌面 Java 应用程序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9850" y="269128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其他设备上的客户端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2540" y="2193131"/>
              <a:ext cx="1905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服务器：JSP、Servlet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3347" y="2193131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EJB 容器：EJB 组件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32976" y="21931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企业信息系统：数据库等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012" y="31894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客户端表示层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71925" y="31894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服务器端表示层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2450" y="31894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服务器端业务逻辑层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34525" y="31894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企业信息系统层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33400" y="3692842"/>
            <a:ext cx="11125200" cy="1623060"/>
            <a:chOff x="533400" y="3692842"/>
            <a:chExt cx="11125200" cy="1623060"/>
          </a:xfrm>
        </p:grpSpPr>
        <p:sp>
          <p:nvSpPr>
            <p:cNvPr id="38" name="Rectangle 38"/>
            <p:cNvSpPr/>
            <p:nvPr/>
          </p:nvSpPr>
          <p:spPr>
            <a:xfrm>
              <a:off x="533400" y="3692842"/>
              <a:ext cx="11125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64121" y="3817144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SSH 中的框架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76395" y="38171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原课件备注中的作用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88692" y="38171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对应图中哪一层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3412" y="422290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35568" y="4222909"/>
              <a:ext cx="3403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MVC（Model-View-Controller）模式的 Web 框架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5648" y="4222909"/>
              <a:ext cx="340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服务器端表示层，即 JSP、Servlet 所在的 Web 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4996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50437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4628674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Spring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35568" y="46286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轻量级框架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5648" y="4628674"/>
              <a:ext cx="3234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服务器端业务逻辑层，承担原来 EJB 容器的角色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905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3412" y="5034439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Hibernate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35568" y="503443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操纵数据库，实现对象持久化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85648" y="503443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访问企业信息系统层中的数据库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692842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530792" y="369284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80872" y="369284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更正：原课件称 Java EE“核心为 EJB”、当前主流架构是 SSH（Struts + Spring + Hibernate）。这是 2010 年前后的情况；现在新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项目多用 Spring Boot 加 MyBatis 或 JPA（Hibernate），Struts 已很少使用。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0985" cy="909257"/>
            <a:chOff x="520446" y="342900"/>
            <a:chExt cx="62509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0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1.1.4 Sun 白皮书列出的 11 个语言特征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035669" cy="597598"/>
            <a:chOff x="525399" y="1550194"/>
            <a:chExt cx="9035669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035669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白皮书原文：Java: A simple, object-oriented, distributed, interpreted, robust, secure,</a:t>
              </a:r>
              <a:br/>
              <a:r>
                <a:rPr lang="en-US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architecture-neutral, portable, high-performance, multi-threaded, and dynamic language.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2257425"/>
            <a:ext cx="5410200" cy="3368041"/>
            <a:chOff x="533400" y="2257425"/>
            <a:chExt cx="5410200" cy="3368041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613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2769" y="23931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一句话理解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95513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简单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64283" y="2841784"/>
              <a:ext cx="3418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语法像 C++，去掉指针运算、多重继承、运算符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77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38232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517106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面向对象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3517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支持封装、继承、多态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261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965734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分布式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4283" y="3965734"/>
              <a:ext cx="28733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类库直接支持 TCP/IP、URL 网络编程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2748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27958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415314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健壮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4283" y="44153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编译期和运行期检查、异常处理、垃圾回收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234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86394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安全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64283" y="486394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没有指针运算，字节码校验，沙箱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720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17683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312569"/>
              <a:ext cx="1399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体系结构中立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4283" y="5312569"/>
              <a:ext cx="2263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字节码与 CPU、操作系统无关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257425"/>
              <a:ext cx="5410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51698" y="2257425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table-1"/>
          <p:cNvGrpSpPr/>
          <p:nvPr/>
        </p:nvGrpSpPr>
        <p:grpSpPr>
          <a:xfrm>
            <a:off x="6248400" y="2257425"/>
            <a:ext cx="5410200" cy="2692718"/>
            <a:chOff x="6248400" y="2257425"/>
            <a:chExt cx="5410200" cy="2692718"/>
          </a:xfrm>
        </p:grpSpPr>
        <p:sp>
          <p:nvSpPr>
            <p:cNvPr id="35" name="Rectangle 35"/>
            <p:cNvSpPr/>
            <p:nvPr/>
          </p:nvSpPr>
          <p:spPr>
            <a:xfrm>
              <a:off x="6248400" y="2257425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8113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7769" y="23931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一句话理解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2841784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 可移植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9283" y="284178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基本类型大小固定，类库屏蔽平台差异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1508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15468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3290411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 解释执行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9283" y="3290411"/>
              <a:ext cx="2182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编译成字节码，由 JVM 执行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5994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3739039"/>
              <a:ext cx="882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(9) 高性能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9283" y="3739039"/>
              <a:ext cx="261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热点代码由 JIT 编译成本地机器码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40481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405288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6223" y="4188619"/>
              <a:ext cx="982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(10) 多线程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9283" y="418861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语言和类库直接支持线程与同步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4967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6223" y="4637246"/>
              <a:ext cx="809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(11) 动态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9283" y="463724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运行时按需加载类，类库可独立升级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257425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66698" y="225742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9069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(6)(7)(8) 三条讲的是同一件事的不同侧面：源程序编译成字节码，字节码交给各平台的 JVM 执行。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94159" cy="909257"/>
            <a:chOff x="520446" y="342900"/>
            <a:chExt cx="43941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94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简单性 与 (2) 面向对象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21180"/>
            <a:chOff x="533400" y="1524000"/>
            <a:chExt cx="5410200" cy="1821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21180"/>
            </a:xfrm>
            <a:prstGeom prst="roundRect">
              <a:avLst>
                <a:gd name="adj" fmla="val 7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4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8296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844" y="1750695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(1) 简单性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756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语法大部分效仿 C++，但用起来更简单。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372201"/>
              <a:ext cx="43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有人把 Java 叫作“C++--”：去掉了容易混淆、容易出错的部分。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9557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9377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去掉指针，取消类的多重继承和运算符重载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751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4132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自动分配和回收内存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520440"/>
            <a:ext cx="5410200" cy="978218"/>
            <a:chOff x="533400" y="3520440"/>
            <a:chExt cx="5410200" cy="978218"/>
          </a:xfrm>
        </p:grpSpPr>
        <p:sp>
          <p:nvSpPr>
            <p:cNvPr id="18" name="Rectangle 18"/>
            <p:cNvSpPr/>
            <p:nvPr/>
          </p:nvSpPr>
          <p:spPr>
            <a:xfrm>
              <a:off x="533400" y="352044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3909060"/>
              <a:ext cx="200026" cy="200025"/>
              <a:chOff x="738188" y="390906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39090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39535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0646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3666172"/>
              <a:ext cx="440283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准确地说，Java 有“引用”，只是不能做指针运算，也不能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直接操作内存地址。用空引用调用方法会抛出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NullPointerException。</a:t>
              </a:r>
            </a:p>
          </p:txBody>
        </p:sp>
      </p:grpSp>
      <p:grpSp>
        <p:nvGrpSpPr>
          <p:cNvPr id="39" name="c1-table-3"/>
          <p:cNvGrpSpPr/>
          <p:nvPr/>
        </p:nvGrpSpPr>
        <p:grpSpPr>
          <a:xfrm>
            <a:off x="533400" y="4672965"/>
            <a:ext cx="5410200" cy="1623060"/>
            <a:chOff x="533400" y="4672965"/>
            <a:chExt cx="5410200" cy="1623060"/>
          </a:xfrm>
        </p:grpSpPr>
        <p:sp>
          <p:nvSpPr>
            <p:cNvPr id="25" name="Rectangle 25"/>
            <p:cNvSpPr/>
            <p:nvPr/>
          </p:nvSpPr>
          <p:spPr>
            <a:xfrm>
              <a:off x="533400" y="4672965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41566" y="479726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C++ 里有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8292" y="4797266"/>
              <a:ext cx="1015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改成什么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412" y="52030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指针变量与指针运算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88907" y="52030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引用，不能取地址和加减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79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48449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56087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类的多重继承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88907" y="56087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单继承加实现多个接口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8854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60145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运算符重载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88907" y="6014561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只有字符串的 + 由语言内置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7296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84132" y="467296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1"/>
          <p:cNvGrpSpPr/>
          <p:nvPr/>
        </p:nvGrpSpPr>
        <p:grpSpPr>
          <a:xfrm>
            <a:off x="6248400" y="1524000"/>
            <a:ext cx="5410200" cy="1860232"/>
            <a:chOff x="6248400" y="1524000"/>
            <a:chExt cx="5410200" cy="1860232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8905" y="1716405"/>
              <a:ext cx="101631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3843" y="1750695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(2) 面向对象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2047" y="2072640"/>
              <a:ext cx="3382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从一开始就按面向对象方法学设计。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87478" y="24317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49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封装：对象有模块化性质和信息隐藏能力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273462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267843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继承：类可以继承父类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7478" y="303657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3497" y="298037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多态：通过抽象类与接口实现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3558540"/>
            <a:ext cx="5410200" cy="2737485"/>
            <a:chOff x="6248400" y="3558540"/>
            <a:chExt cx="5410200" cy="2737485"/>
          </a:xfrm>
        </p:grpSpPr>
        <p:sp>
          <p:nvSpPr>
            <p:cNvPr id="52" name="Rectangle 52"/>
            <p:cNvSpPr/>
            <p:nvPr/>
          </p:nvSpPr>
          <p:spPr>
            <a:xfrm>
              <a:off x="6248400" y="3558540"/>
              <a:ext cx="5410200" cy="2737485"/>
            </a:xfrm>
            <a:prstGeom prst="roundRect">
              <a:avLst>
                <a:gd name="adj" fmla="val 48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691890"/>
              <a:ext cx="47625" cy="24707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8905" y="3750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0345" y="3785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4108132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原课件称 Java 是“纯粹的面向对象语言”。Java 的 8 种基本类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型（int、double、boolean 等）不是对象，所以通常不把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算作纯面向对象语言。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78905" y="4902518"/>
              <a:ext cx="498729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07302" y="505444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06921" y="5315902"/>
              <a:ext cx="289769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5;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基本类型，不是对象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Integer m = 5;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包装类对象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50878" cy="909257"/>
            <a:chOff x="520446" y="342900"/>
            <a:chExt cx="40508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508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分布式 与 (4) 健壮性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322195"/>
            <a:chOff x="533400" y="1524000"/>
            <a:chExt cx="5410200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686" y="1769269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(3) 分布式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分布式计算指多台计算机通过网络协同工作。Java 是面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向网络的语言：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308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java.net 类库可以处理 TCP/IP 协议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332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 URL 地址就能访问网络上的资源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0233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网络编程和读写文件一样用输入输出流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4036695"/>
            <a:ext cx="5410200" cy="1313498"/>
            <a:chOff x="533400" y="4036695"/>
            <a:chExt cx="5410200" cy="1313498"/>
          </a:xfrm>
        </p:grpSpPr>
        <p:sp>
          <p:nvSpPr>
            <p:cNvPr id="19" name="Rectangle 19"/>
            <p:cNvSpPr/>
            <p:nvPr/>
          </p:nvSpPr>
          <p:spPr>
            <a:xfrm>
              <a:off x="533400" y="403669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418861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读网页和读文件写法相同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035" y="4451509"/>
              <a:ext cx="415772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URL url = URI.create(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"https://openjdk.org/"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).toURL();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(InputStream in = url.openStream())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System.out.println(in.read());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读出第一个字节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2607945"/>
            <a:chOff x="6248400" y="1524000"/>
            <a:chExt cx="5410200" cy="260794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163830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2032" y="1769269"/>
              <a:ext cx="1526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(4) 健壮性（鲁棒性）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2110740"/>
              <a:ext cx="4161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在编译和运行时都检查可能出现的问题。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24460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编译时：捕获类型声明中的常见错误；提示可能出现却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没有处理的异常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30670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运行时：检查数组下标越界等错误，出错时抛出异常，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不会悄悄改坏内存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7509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68808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自动垃圾回收，避免手工管理内存时出错</a:t>
              </a:r>
            </a:p>
          </p:txBody>
        </p:sp>
      </p:grpSp>
      <p:grpSp>
        <p:nvGrpSpPr>
          <p:cNvPr id="38" name="c2-code-2"/>
          <p:cNvGrpSpPr/>
          <p:nvPr/>
        </p:nvGrpSpPr>
        <p:grpSpPr>
          <a:xfrm>
            <a:off x="6248400" y="4322445"/>
            <a:ext cx="5410200" cy="907732"/>
            <a:chOff x="6248400" y="4322445"/>
            <a:chExt cx="5410200" cy="907732"/>
          </a:xfrm>
        </p:grpSpPr>
        <p:sp>
          <p:nvSpPr>
            <p:cNvPr id="35" name="Rectangle 35"/>
            <p:cNvSpPr/>
            <p:nvPr/>
          </p:nvSpPr>
          <p:spPr>
            <a:xfrm>
              <a:off x="6248400" y="4322445"/>
              <a:ext cx="541020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447436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越界访问会被拦下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737259"/>
              <a:ext cx="3894582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[3];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合法下标 0、1、2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a[3] = 1;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抛出 ArrayIndexOutOfBoundsException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安全性：多道关卡保护运行程序的机器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715328" y="1814512"/>
            <a:ext cx="4830126" cy="4258628"/>
            <a:chOff x="715328" y="1814512"/>
            <a:chExt cx="4830126" cy="4258628"/>
          </a:xfrm>
        </p:grpSpPr>
        <p:sp>
          <p:nvSpPr>
            <p:cNvPr id="7" name="Freeform 7"/>
            <p:cNvSpPr/>
            <p:nvPr/>
          </p:nvSpPr>
          <p:spPr>
            <a:xfrm>
              <a:off x="1831658" y="2443162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9270" y="3014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31658" y="3557588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0"/>
                  </a:moveTo>
                  <a:lnTo>
                    <a:pt x="0" y="584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9270" y="41424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48940" y="4548188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0" y="0"/>
                  </a:moveTo>
                  <a:lnTo>
                    <a:pt x="25812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07068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31658" y="4849178"/>
              <a:ext cx="9525" cy="489585"/>
            </a:xfrm>
            <a:custGeom>
              <a:avLst/>
              <a:gdLst/>
              <a:ahLst/>
              <a:cxnLst/>
              <a:rect l="l" t="t" r="r" b="b"/>
              <a:pathLst>
                <a:path w="9525" h="489585">
                  <a:moveTo>
                    <a:pt x="0" y="0"/>
                  </a:moveTo>
                  <a:lnTo>
                    <a:pt x="0" y="4895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79270" y="53387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15328" y="1814512"/>
              <a:ext cx="2233613" cy="628650"/>
            </a:xfrm>
            <a:custGeom>
              <a:avLst/>
              <a:gdLst/>
              <a:ahLst/>
              <a:cxnLst/>
              <a:rect l="l" t="t" r="r" b="b"/>
              <a:pathLst>
                <a:path w="2233613" h="628650">
                  <a:moveTo>
                    <a:pt x="133350" y="0"/>
                  </a:moveTo>
                  <a:lnTo>
                    <a:pt x="2233613" y="0"/>
                  </a:lnTo>
                  <a:lnTo>
                    <a:pt x="2100263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5328" y="3119438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15328" y="4247198"/>
              <a:ext cx="2233613" cy="601980"/>
            </a:xfrm>
            <a:custGeom>
              <a:avLst/>
              <a:gdLst/>
              <a:ahLst/>
              <a:cxnLst/>
              <a:rect l="l" t="t" r="r" b="b"/>
              <a:pathLst>
                <a:path w="2233613" h="601980">
                  <a:moveTo>
                    <a:pt x="1116330" y="0"/>
                  </a:moveTo>
                  <a:lnTo>
                    <a:pt x="2233613" y="300990"/>
                  </a:lnTo>
                  <a:lnTo>
                    <a:pt x="111633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11842" y="4329112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5328" y="5443538"/>
              <a:ext cx="2233612" cy="629602"/>
            </a:xfrm>
            <a:prstGeom prst="roundRect">
              <a:avLst>
                <a:gd name="adj" fmla="val 4992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9549" y="1930241"/>
              <a:ext cx="17442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下载或读入的 .class 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5926" y="324945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类加载器装入内存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926" y="44591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字节码校验通过？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78021" y="44591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拒绝加载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5848" y="5559266"/>
              <a:ext cx="173162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JVM 管理的内存中执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15615" y="433197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53906" y="43586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860232" y="505396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83474" y="50806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032182" y="1524000"/>
            <a:ext cx="5626418" cy="2893695"/>
            <a:chOff x="6032182" y="1524000"/>
            <a:chExt cx="5626418" cy="2893695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41708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79832" y="173355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7468" y="1769269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(5) 安全性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2212" y="2110740"/>
              <a:ext cx="4969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提供多种安全机制，保护系统免受恶意程序破坏。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85548" y="25088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43662" y="2446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不支持指针运算，对内存的访问都要通过对象的引用和成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员变量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85548" y="31299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43662" y="30670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装入的字节码先经过校验，格式或类型不合法就拒绝执行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85548" y="34651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43662" y="340233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沙箱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：把程序的代码和数据限制在规定的内存空间里执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行，不允许访问该空间以外的内存；Applet 还不能访问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本地文件系统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032182" y="4608195"/>
            <a:ext cx="5626418" cy="1602105"/>
            <a:chOff x="6032182" y="4608195"/>
            <a:chExt cx="5626418" cy="1602105"/>
          </a:xfrm>
        </p:grpSpPr>
        <p:sp>
          <p:nvSpPr>
            <p:cNvPr id="42" name="Rectangle 42"/>
            <p:cNvSpPr/>
            <p:nvPr/>
          </p:nvSpPr>
          <p:spPr>
            <a:xfrm>
              <a:off x="6032182" y="4608195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41708" y="47415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79832" y="48177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0041" y="48534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2212" y="5194935"/>
              <a:ext cx="4863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沙箱机制主要是为网页中的 Applet 设计的。随着 Applet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淘汰，实现沙箱的 SecurityManager 在 JDK 17 中被标记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为弃用。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体系结构中立：编译一次，到处运行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00817" cy="597598"/>
            <a:chOff x="525399" y="1550194"/>
            <a:chExt cx="10600817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00817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编译器生成与体系结构无关的字节码。只要装有 Java 虚拟机（Java Virtual Machine，JVM），同一个 .class 文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件不用重新编译就能在不同平台上运行。</a:t>
              </a:r>
            </a:p>
          </p:txBody>
        </p:sp>
      </p:grpSp>
      <p:grpSp>
        <p:nvGrpSpPr>
          <p:cNvPr id="31" name="c1-flow-1"/>
          <p:cNvGrpSpPr/>
          <p:nvPr/>
        </p:nvGrpSpPr>
        <p:grpSpPr>
          <a:xfrm>
            <a:off x="666750" y="2509838"/>
            <a:ext cx="5792153" cy="2800350"/>
            <a:chOff x="666750" y="2509838"/>
            <a:chExt cx="5792153" cy="2800350"/>
          </a:xfrm>
        </p:grpSpPr>
        <p:sp>
          <p:nvSpPr>
            <p:cNvPr id="9" name="Freeform 9"/>
            <p:cNvSpPr/>
            <p:nvPr/>
          </p:nvSpPr>
          <p:spPr>
            <a:xfrm>
              <a:off x="1914525" y="39576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76450" y="3905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29952" y="39576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91878" y="3905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944428" y="2824162"/>
              <a:ext cx="209550" cy="1133475"/>
            </a:xfrm>
            <a:custGeom>
              <a:avLst/>
              <a:gdLst/>
              <a:ahLst/>
              <a:cxnLst/>
              <a:rect l="l" t="t" r="r" b="b"/>
              <a:pathLst>
                <a:path w="209550" h="1133475">
                  <a:moveTo>
                    <a:pt x="0" y="1133475"/>
                  </a:moveTo>
                  <a:lnTo>
                    <a:pt x="209550" y="1133475"/>
                  </a:lnTo>
                  <a:lnTo>
                    <a:pt x="57150" y="1133475"/>
                  </a:lnTo>
                  <a:lnTo>
                    <a:pt x="57150" y="0"/>
                  </a:ln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06352" y="2771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944428" y="39576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06352" y="3905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44428" y="3957638"/>
              <a:ext cx="209550" cy="1133475"/>
            </a:xfrm>
            <a:custGeom>
              <a:avLst/>
              <a:gdLst/>
              <a:ahLst/>
              <a:cxnLst/>
              <a:rect l="l" t="t" r="r" b="b"/>
              <a:pathLst>
                <a:path w="209550" h="1133475">
                  <a:moveTo>
                    <a:pt x="0" y="0"/>
                  </a:moveTo>
                  <a:lnTo>
                    <a:pt x="209550" y="0"/>
                  </a:lnTo>
                  <a:lnTo>
                    <a:pt x="57150" y="0"/>
                  </a:lnTo>
                  <a:lnTo>
                    <a:pt x="57150" y="1133475"/>
                  </a:lnTo>
                  <a:lnTo>
                    <a:pt x="161925" y="11334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06352" y="5038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66750" y="3738562"/>
              <a:ext cx="1247775" cy="438150"/>
            </a:xfrm>
            <a:custGeom>
              <a:avLst/>
              <a:gdLst/>
              <a:ahLst/>
              <a:cxnLst/>
              <a:rect l="l" t="t" r="r" b="b"/>
              <a:pathLst>
                <a:path w="1247775" h="438150">
                  <a:moveTo>
                    <a:pt x="133350" y="0"/>
                  </a:moveTo>
                  <a:lnTo>
                    <a:pt x="1247775" y="0"/>
                  </a:lnTo>
                  <a:lnTo>
                    <a:pt x="111442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81225" y="3738562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96652" y="3738562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11128" y="2509838"/>
              <a:ext cx="124777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211128" y="3738562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11128" y="4872038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2342" y="3868579"/>
              <a:ext cx="836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Hello.java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196" y="386857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54847" y="3868579"/>
              <a:ext cx="931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Hello.class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03418" y="262556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16570" y="3868579"/>
              <a:ext cx="836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JVM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5753" y="5002054"/>
              <a:ext cx="958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macOS JVM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898005" y="2257425"/>
            <a:ext cx="4760595" cy="3425667"/>
            <a:chOff x="6898005" y="2257425"/>
            <a:chExt cx="4760595" cy="3425667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6436" r="0" b="6436"/>
            <a:stretch>
              <a:fillRect/>
            </a:stretch>
          </p:blipFill>
          <p:spPr>
            <a:xfrm>
              <a:off x="6898005" y="2257425"/>
              <a:ext cx="4760595" cy="3110865"/>
            </a:xfrm>
            <a:prstGeom prst="roundRect">
              <a:avLst>
                <a:gd name="adj" fmla="val 4286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343529" y="5463064"/>
              <a:ext cx="3869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字节码像标准集装箱，各平台的 JVM 像轮船、卡车、火车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9835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与平台有关的部分交给了 JVM：Windows、Linux、macOS 各有自己的 JVM，但它们执行的是同一份字节码。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4800" cy="909257"/>
            <a:chOff x="520446" y="342900"/>
            <a:chExt cx="72448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4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 可移植性：程序和 Java 系统本身都能移植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814512"/>
            <a:chOff x="533400" y="1524000"/>
            <a:chExt cx="5626418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1631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843" y="1750695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(7) 可移植性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与平台无关，程序移植到网络上的其他机器时不必重新编译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类库中实现了与不同平台的接口，类库本身也可移植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78430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编译器用 Java 编写；运行时系统用标准 C（ANSI C）编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写，Java 系统本身也可移植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066" y="3513772"/>
            <a:ext cx="5631752" cy="1902715"/>
            <a:chOff x="528066" y="3513772"/>
            <a:chExt cx="5631752" cy="1902715"/>
          </a:xfrm>
        </p:grpSpPr>
        <p:sp>
          <p:nvSpPr>
            <p:cNvPr id="18" name="Rectangle 18"/>
            <p:cNvSpPr/>
            <p:nvPr/>
          </p:nvSpPr>
          <p:spPr>
            <a:xfrm>
              <a:off x="533400" y="3513772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481" y="36380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31812" y="3638074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语言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21184" y="363807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436" y="4043839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6105" y="4043839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或 32 位，随编译器和平台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43473" y="4043839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32 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205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325302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2900" y="444960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9135" y="4449604"/>
              <a:ext cx="266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或 64 位（Windows 与 Linux 不同）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43473" y="444960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64 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263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3111" y="485536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14211" y="485536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19110" y="4855369"/>
              <a:ext cx="1568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16 位（Unicode）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13772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267778" y="351377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42435" y="351377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52111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基本类型的大小在所有平台上一致，这是可移植的前提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5550218"/>
            <a:ext cx="5626418" cy="729615"/>
            <a:chOff x="533400" y="5550218"/>
            <a:chExt cx="5626418" cy="729615"/>
          </a:xfrm>
        </p:grpSpPr>
        <p:sp>
          <p:nvSpPr>
            <p:cNvPr id="39" name="Rectangle 39"/>
            <p:cNvSpPr/>
            <p:nvPr/>
          </p:nvSpPr>
          <p:spPr>
            <a:xfrm>
              <a:off x="533400" y="555021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815013"/>
              <a:ext cx="200026" cy="200026"/>
              <a:chOff x="738188" y="5815013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8150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8816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9150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695950"/>
              <a:ext cx="45228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更正：“运行时系统由 ANSI C 实现”是 1995 年白皮书时的说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法，现在的 HotSpot 虚拟机主要用 C++ 编写。</a:t>
              </a:r>
            </a:p>
          </p:txBody>
        </p:sp>
      </p:grpSp>
      <p:grpSp>
        <p:nvGrpSpPr>
          <p:cNvPr id="70" name="c2-flow-1"/>
          <p:cNvGrpSpPr/>
          <p:nvPr/>
        </p:nvGrpSpPr>
        <p:grpSpPr>
          <a:xfrm>
            <a:off x="6597968" y="1816418"/>
            <a:ext cx="4927282" cy="3349942"/>
            <a:chOff x="6597968" y="1816418"/>
            <a:chExt cx="4927282" cy="3349942"/>
          </a:xfrm>
        </p:grpSpPr>
        <p:sp>
          <p:nvSpPr>
            <p:cNvPr id="46" name="Freeform 46"/>
            <p:cNvSpPr/>
            <p:nvPr/>
          </p:nvSpPr>
          <p:spPr>
            <a:xfrm>
              <a:off x="7330440" y="2215515"/>
              <a:ext cx="1731645" cy="480060"/>
            </a:xfrm>
            <a:custGeom>
              <a:avLst/>
              <a:gdLst/>
              <a:ahLst/>
              <a:cxnLst/>
              <a:rect l="l" t="t" r="r" b="b"/>
              <a:pathLst>
                <a:path w="1731645" h="480060">
                  <a:moveTo>
                    <a:pt x="1731645" y="0"/>
                  </a:moveTo>
                  <a:lnTo>
                    <a:pt x="1731645" y="292418"/>
                  </a:lnTo>
                  <a:lnTo>
                    <a:pt x="0" y="292418"/>
                  </a:lnTo>
                  <a:lnTo>
                    <a:pt x="0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278052" y="2695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062085" y="2215515"/>
              <a:ext cx="1730692" cy="480060"/>
            </a:xfrm>
            <a:custGeom>
              <a:avLst/>
              <a:gdLst/>
              <a:ahLst/>
              <a:cxnLst/>
              <a:rect l="l" t="t" r="r" b="b"/>
              <a:pathLst>
                <a:path w="1730692" h="480060">
                  <a:moveTo>
                    <a:pt x="0" y="0"/>
                  </a:moveTo>
                  <a:lnTo>
                    <a:pt x="0" y="292418"/>
                  </a:lnTo>
                  <a:lnTo>
                    <a:pt x="1730692" y="292418"/>
                  </a:lnTo>
                  <a:lnTo>
                    <a:pt x="1730692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740390" y="2695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330440" y="3198495"/>
              <a:ext cx="1731645" cy="480060"/>
            </a:xfrm>
            <a:custGeom>
              <a:avLst/>
              <a:gdLst/>
              <a:ahLst/>
              <a:cxnLst/>
              <a:rect l="l" t="t" r="r" b="b"/>
              <a:pathLst>
                <a:path w="1731645" h="480060">
                  <a:moveTo>
                    <a:pt x="0" y="0"/>
                  </a:moveTo>
                  <a:lnTo>
                    <a:pt x="0" y="292417"/>
                  </a:lnTo>
                  <a:lnTo>
                    <a:pt x="1731645" y="292417"/>
                  </a:lnTo>
                  <a:lnTo>
                    <a:pt x="1731645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009698" y="36785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062085" y="3198495"/>
              <a:ext cx="1730692" cy="480060"/>
            </a:xfrm>
            <a:custGeom>
              <a:avLst/>
              <a:gdLst/>
              <a:ahLst/>
              <a:cxnLst/>
              <a:rect l="l" t="t" r="r" b="b"/>
              <a:pathLst>
                <a:path w="1730692" h="480060">
                  <a:moveTo>
                    <a:pt x="1730692" y="0"/>
                  </a:moveTo>
                  <a:lnTo>
                    <a:pt x="1730692" y="292417"/>
                  </a:lnTo>
                  <a:lnTo>
                    <a:pt x="0" y="292417"/>
                  </a:lnTo>
                  <a:lnTo>
                    <a:pt x="0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009698" y="36785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330440" y="4182428"/>
              <a:ext cx="1731645" cy="480060"/>
            </a:xfrm>
            <a:custGeom>
              <a:avLst/>
              <a:gdLst/>
              <a:ahLst/>
              <a:cxnLst/>
              <a:rect l="l" t="t" r="r" b="b"/>
              <a:pathLst>
                <a:path w="1731645" h="480060">
                  <a:moveTo>
                    <a:pt x="1731645" y="0"/>
                  </a:moveTo>
                  <a:lnTo>
                    <a:pt x="1731645" y="292417"/>
                  </a:lnTo>
                  <a:lnTo>
                    <a:pt x="0" y="292417"/>
                  </a:lnTo>
                  <a:lnTo>
                    <a:pt x="0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278052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2085" y="4182428"/>
              <a:ext cx="1730692" cy="480060"/>
            </a:xfrm>
            <a:custGeom>
              <a:avLst/>
              <a:gdLst/>
              <a:ahLst/>
              <a:cxnLst/>
              <a:rect l="l" t="t" r="r" b="b"/>
              <a:pathLst>
                <a:path w="1730692" h="480060">
                  <a:moveTo>
                    <a:pt x="0" y="0"/>
                  </a:moveTo>
                  <a:lnTo>
                    <a:pt x="0" y="292417"/>
                  </a:lnTo>
                  <a:lnTo>
                    <a:pt x="1730692" y="292417"/>
                  </a:lnTo>
                  <a:lnTo>
                    <a:pt x="1730692" y="480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740390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329612" y="1816418"/>
              <a:ext cx="1463993" cy="399098"/>
            </a:xfrm>
            <a:custGeom>
              <a:avLst/>
              <a:gdLst/>
              <a:ahLst/>
              <a:cxnLst/>
              <a:rect l="l" t="t" r="r" b="b"/>
              <a:pathLst>
                <a:path w="1463993" h="399098">
                  <a:moveTo>
                    <a:pt x="133350" y="0"/>
                  </a:moveTo>
                  <a:lnTo>
                    <a:pt x="1463993" y="0"/>
                  </a:lnTo>
                  <a:lnTo>
                    <a:pt x="1330643" y="399098"/>
                  </a:lnTo>
                  <a:lnTo>
                    <a:pt x="0" y="399098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97968" y="2800350"/>
              <a:ext cx="146494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60305" y="2800350"/>
              <a:ext cx="146494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29612" y="3783330"/>
              <a:ext cx="1464945" cy="399098"/>
            </a:xfrm>
            <a:prstGeom prst="roundRect">
              <a:avLst>
                <a:gd name="adj" fmla="val 23866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597968" y="4767262"/>
              <a:ext cx="146494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060305" y="4767262"/>
              <a:ext cx="146494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830208" y="19369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86977" y="2920841"/>
              <a:ext cx="1086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编译器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17955" y="2920841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SPARC 编译器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04047" y="39038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同一份字节码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86977" y="4887754"/>
              <a:ext cx="1086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解释器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17955" y="4887754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SPARC 解释器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464618" y="5633085"/>
            <a:ext cx="5193982" cy="729615"/>
            <a:chOff x="6464618" y="5633085"/>
            <a:chExt cx="5193982" cy="729615"/>
          </a:xfrm>
        </p:grpSpPr>
        <p:sp>
          <p:nvSpPr>
            <p:cNvPr id="71" name="Rectangle 71"/>
            <p:cNvSpPr/>
            <p:nvPr/>
          </p:nvSpPr>
          <p:spPr>
            <a:xfrm>
              <a:off x="6464618" y="563308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69405" y="5897880"/>
              <a:ext cx="200026" cy="200025"/>
              <a:chOff x="6669405" y="589788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69405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09144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43859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72110" y="577977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在哪种机器上编译，得到的字节码都一样；在哪种机器上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执行，结果也一样。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2102" cy="909257"/>
            <a:chOff x="520446" y="342900"/>
            <a:chExt cx="7902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2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 解释执行 与 (9) 高性能：解释器加 JIT 编译器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085398" cy="2223135"/>
            <a:chOff x="533400" y="1524000"/>
            <a:chExt cx="5085398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736" y="1769269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(8) 解释执行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272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程序先编译成 JVM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字节码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（bytecode），字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节码不依赖机器硬件，装有 Java 解释器（JVM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组成部分）的机器都能执行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175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字节码携带了许多编译时的信息，使连接过程更简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37635"/>
            <a:ext cx="5085398" cy="1937385"/>
            <a:chOff x="533400" y="3937635"/>
            <a:chExt cx="5085398" cy="1937385"/>
          </a:xfrm>
        </p:grpSpPr>
        <p:sp>
          <p:nvSpPr>
            <p:cNvPr id="16" name="Rectangle 16"/>
            <p:cNvSpPr/>
            <p:nvPr/>
          </p:nvSpPr>
          <p:spPr>
            <a:xfrm>
              <a:off x="533400" y="3937635"/>
              <a:ext cx="508539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07098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147185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8686" y="4182904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(9) 高性能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5872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524375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早期执行效率比不上 C/C++ 这类编译后直接执行的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20827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145405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字节码很容易转换成特定 CPU 的机器码；随着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升级和硬件提升，性能已大为改观</a:t>
              </a:r>
            </a:p>
          </p:txBody>
        </p:sp>
      </p:grpSp>
      <p:grpSp>
        <p:nvGrpSpPr>
          <p:cNvPr id="45" name="c2-flow-1"/>
          <p:cNvGrpSpPr/>
          <p:nvPr/>
        </p:nvGrpSpPr>
        <p:grpSpPr>
          <a:xfrm>
            <a:off x="6325552" y="1685925"/>
            <a:ext cx="5141596" cy="2722245"/>
            <a:chOff x="6325552" y="1685925"/>
            <a:chExt cx="5141596" cy="2722245"/>
          </a:xfrm>
        </p:grpSpPr>
        <p:sp>
          <p:nvSpPr>
            <p:cNvPr id="25" name="Freeform 25"/>
            <p:cNvSpPr/>
            <p:nvPr/>
          </p:nvSpPr>
          <p:spPr>
            <a:xfrm>
              <a:off x="8791575" y="2124075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739188" y="2261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791575" y="2967038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739188" y="3104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91575" y="3647122"/>
              <a:ext cx="9525" cy="218123"/>
            </a:xfrm>
            <a:custGeom>
              <a:avLst/>
              <a:gdLst/>
              <a:ahLst/>
              <a:cxnLst/>
              <a:rect l="l" t="t" r="r" b="b"/>
              <a:pathLst>
                <a:path w="9525" h="218123">
                  <a:moveTo>
                    <a:pt x="0" y="0"/>
                  </a:moveTo>
                  <a:lnTo>
                    <a:pt x="0" y="2181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739188" y="38652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1257598" y="1905000"/>
              <a:ext cx="209550" cy="761047"/>
            </a:xfrm>
            <a:custGeom>
              <a:avLst/>
              <a:gdLst/>
              <a:ahLst/>
              <a:cxnLst/>
              <a:rect l="l" t="t" r="r" b="b"/>
              <a:pathLst>
                <a:path w="209550" h="761047">
                  <a:moveTo>
                    <a:pt x="0" y="761047"/>
                  </a:moveTo>
                  <a:lnTo>
                    <a:pt x="209550" y="761047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257598" y="1852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325552" y="1685925"/>
              <a:ext cx="4932045" cy="438150"/>
            </a:xfrm>
            <a:custGeom>
              <a:avLst/>
              <a:gdLst/>
              <a:ahLst/>
              <a:cxnLst/>
              <a:rect l="l" t="t" r="r" b="b"/>
              <a:pathLst>
                <a:path w="4932045" h="438150">
                  <a:moveTo>
                    <a:pt x="133350" y="0"/>
                  </a:moveTo>
                  <a:lnTo>
                    <a:pt x="4932045" y="0"/>
                  </a:lnTo>
                  <a:lnTo>
                    <a:pt x="479869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325552" y="2366010"/>
              <a:ext cx="4932045" cy="601028"/>
            </a:xfrm>
            <a:custGeom>
              <a:avLst/>
              <a:gdLst/>
              <a:ahLst/>
              <a:cxnLst/>
              <a:rect l="l" t="t" r="r" b="b"/>
              <a:pathLst>
                <a:path w="4932045" h="601028">
                  <a:moveTo>
                    <a:pt x="2466022" y="0"/>
                  </a:moveTo>
                  <a:lnTo>
                    <a:pt x="4932045" y="300037"/>
                  </a:lnTo>
                  <a:lnTo>
                    <a:pt x="2466022" y="601028"/>
                  </a:lnTo>
                  <a:lnTo>
                    <a:pt x="0" y="300037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5552" y="3208972"/>
              <a:ext cx="4932045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25552" y="3970020"/>
              <a:ext cx="4932045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23530" y="18159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解释器逐条执行字节码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8157" y="25769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是热点代码？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41086" y="3338989"/>
              <a:ext cx="1700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JIT 编译成本地机器码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09687" y="41000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之后直接执行机器码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820150" y="29956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43391" y="30222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209972" y="21936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63313" y="22202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923598" y="4760595"/>
            <a:ext cx="5735002" cy="1602105"/>
            <a:chOff x="5923598" y="4760595"/>
            <a:chExt cx="5735002" cy="1602105"/>
          </a:xfrm>
        </p:grpSpPr>
        <p:sp>
          <p:nvSpPr>
            <p:cNvPr id="46" name="Rectangle 46"/>
            <p:cNvSpPr/>
            <p:nvPr/>
          </p:nvSpPr>
          <p:spPr>
            <a:xfrm>
              <a:off x="5923598" y="4760595"/>
              <a:ext cx="573500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933122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71248" y="49701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62408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63628" y="5347335"/>
              <a:ext cx="5082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原课件说“Java 解释器直接对字节码进行解释执行”。现在的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HotSpot 采用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混合模式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，热点代码由 JIT 编译成本地机器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码；java -version 输出的 mixed mode 指的就是它。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47367" cy="909257"/>
            <a:chOff x="520446" y="342900"/>
            <a:chExt cx="44473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473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(10) 多线程 与 (11) 动态性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4863942"/>
            <a:chOff x="533400" y="1524000"/>
            <a:chExt cx="4760595" cy="486394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9024" t="0" r="9024" b="0"/>
            <a:stretch>
              <a:fillRect/>
            </a:stretch>
          </p:blipFill>
          <p:spPr>
            <a:xfrm>
              <a:off x="533400" y="1524000"/>
              <a:ext cx="4760595" cy="4356735"/>
            </a:xfrm>
            <a:prstGeom prst="roundRect">
              <a:avLst>
                <a:gd name="adj" fmla="val 3060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32142" y="5975509"/>
              <a:ext cx="4563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五个人同时做一张桌子：一人做桌面，四人各做一条腿。每个人就像一个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5598795" y="1524000"/>
            <a:ext cx="6059805" cy="2457450"/>
            <a:chOff x="5598795" y="1524000"/>
            <a:chExt cx="6059805" cy="2457450"/>
          </a:xfrm>
        </p:grpSpPr>
        <p:sp>
          <p:nvSpPr>
            <p:cNvPr id="10" name="Rectangle 10"/>
            <p:cNvSpPr/>
            <p:nvPr/>
          </p:nvSpPr>
          <p:spPr>
            <a:xfrm>
              <a:off x="5598795" y="1524000"/>
              <a:ext cx="605980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08320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40730" y="1727835"/>
              <a:ext cx="100965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15787" y="1763554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(10) 多线程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848350" y="216122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941" y="210073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让程序中的多个任务并行执行，同步机制保证对共享数据的正确操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848350" y="27527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4941" y="269224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不同线程完成不同的行为，不需要全局的事件循环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848350" y="307276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4941" y="3012281"/>
              <a:ext cx="51812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多线程支持集成在 Java 语言和类库中（Thread 类、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synchronized 关键字）；很多语言要调用操作系统的特定过程才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能使用多线程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5598795" y="4167188"/>
            <a:ext cx="6059805" cy="2185988"/>
            <a:chOff x="5598795" y="4167188"/>
            <a:chExt cx="6059805" cy="2185988"/>
          </a:xfrm>
        </p:grpSpPr>
        <p:sp>
          <p:nvSpPr>
            <p:cNvPr id="21" name="Rectangle 21"/>
            <p:cNvSpPr/>
            <p:nvPr/>
          </p:nvSpPr>
          <p:spPr>
            <a:xfrm>
              <a:off x="5598795" y="4167188"/>
              <a:ext cx="605980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608320" y="4300538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40730" y="4371022"/>
              <a:ext cx="100965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5787" y="4406741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(11) 动态性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48350" y="480441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4941" y="4743926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适应不断变化的环境：类库中可以加入新的方法和实例变量，不影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响已有用户程序的执行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48350" y="539591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04941" y="533542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类在运行时才按需加载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48350" y="571595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04941" y="565546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一个类只能继承一个父类，但可以实现多个接口，比严格的类继承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更灵活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56241" cy="909257"/>
            <a:chOff x="520446" y="342900"/>
            <a:chExt cx="74562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56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1.1.5 两类 Java 程序：Application 与 Applet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2790825"/>
            <a:chOff x="533400" y="1524000"/>
            <a:chExt cx="6276022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82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77281" y="1655445"/>
              <a:ext cx="1345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Application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0472" y="1655445"/>
              <a:ext cx="964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Applet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8412" y="2085022"/>
              <a:ext cx="21153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标准的 Java 程序，与传统高级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语言程序类似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41114" y="2085022"/>
              <a:ext cx="21381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 HTML 网页的小程序（-let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表示“小”）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8412" y="283559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独立运行的完整应用程序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41114" y="2728912"/>
              <a:ext cx="1962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由兼容 Java 的浏览器控制运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行，需要安装插件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65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4794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8412" y="3479482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有固定入口 main() 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41114" y="3372802"/>
              <a:ext cx="2061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main()，有一个从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java.applet.Applet 派生的类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79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88429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0157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68412" y="401574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本课程主要写这一类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41114" y="40157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已淘汰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5830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3100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500562"/>
            <a:ext cx="6276022" cy="1545908"/>
            <a:chOff x="533400" y="4500562"/>
            <a:chExt cx="6276022" cy="1545908"/>
          </a:xfrm>
        </p:grpSpPr>
        <p:sp>
          <p:nvSpPr>
            <p:cNvPr id="32" name="Rectangle 32"/>
            <p:cNvSpPr/>
            <p:nvPr/>
          </p:nvSpPr>
          <p:spPr>
            <a:xfrm>
              <a:off x="533400" y="4500562"/>
              <a:ext cx="627602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63391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5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8096" y="5077301"/>
              <a:ext cx="54246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Applet“已逐渐被 Flash、HTML5 等最新技术取代”。Flash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本身也已在 2020 年底停止支持。Applet API 在 JDK 9 被标记弃用，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17 标记为将被删除，主流浏览器早已不再支持 Java 插件。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7114222" y="1524000"/>
            <a:ext cx="4544378" cy="2125028"/>
            <a:chOff x="7114222" y="1524000"/>
            <a:chExt cx="4544378" cy="2125028"/>
          </a:xfrm>
        </p:grpSpPr>
        <p:sp>
          <p:nvSpPr>
            <p:cNvPr id="38" name="Rectangle 38"/>
            <p:cNvSpPr/>
            <p:nvPr/>
          </p:nvSpPr>
          <p:spPr>
            <a:xfrm>
              <a:off x="7114222" y="1524000"/>
              <a:ext cx="4544378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42620" y="1675924"/>
              <a:ext cx="1665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Applet 的样子（仅作了解）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41858" y="1937861"/>
              <a:ext cx="321894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java.applet.Applet;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java.awt.Graphics;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HelloApplet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paint(Graphics g)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g.drawString(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20, 20);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7114222" y="3834765"/>
            <a:ext cx="4544378" cy="1018222"/>
            <a:chOff x="7114222" y="3834765"/>
            <a:chExt cx="4544378" cy="1018222"/>
          </a:xfrm>
        </p:grpSpPr>
        <p:sp>
          <p:nvSpPr>
            <p:cNvPr id="42" name="Rectangle 42"/>
            <p:cNvSpPr/>
            <p:nvPr/>
          </p:nvSpPr>
          <p:spPr>
            <a:xfrm>
              <a:off x="7114222" y="3834765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19010" y="4243388"/>
              <a:ext cx="200026" cy="200025"/>
              <a:chOff x="7319010" y="42433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19010" y="42433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358749" y="4287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393464" y="43989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621334" y="3981926"/>
              <a:ext cx="363029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 main 方法，由浏览器创建对象并调用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paint 等方法。新版 JDK 编译这段代码会给出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弃用警告。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61443" cy="909257"/>
            <a:chOff x="520446" y="342900"/>
            <a:chExt cx="54614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614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1.1.6 Java 与 C/C++ 的 9 点区别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11125200" cy="4057650"/>
            <a:chOff x="533400" y="1524000"/>
            <a:chExt cx="11125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260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24878" y="1648301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C/C++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9794" y="164830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全局变量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5568" y="205406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可以在函数和类之外定义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85648" y="2054066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不允许；用类中的静态（static）变量实现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goto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5568" y="2459831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goto 语句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5648" y="2459831"/>
              <a:ext cx="3222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goto 语句（goto 是保留字，但不能使用）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指针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5568" y="28655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有指针变量和指针运算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5648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没有指针型变量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内存管理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5568" y="3271361"/>
              <a:ext cx="2499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malloc/free、new/delete 手工管理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5648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自动化，由垃圾回收器回收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数据类型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5568" y="36771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类型长度随平台变化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5648" y="3677126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统一规格（如 int 固定 32 位），保证平台无关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类型转换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35568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可以任意强制转换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5648" y="408289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只允许相容类型之间转换，运行时还要检查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 头文件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35568" y="4488656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#include 包含头文件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5648" y="44886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没有头文件，用 import 引入类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894421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 结构体和联合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35568" y="4894421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struct、union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85648" y="489442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没有，用类表示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300186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(9) 预处理和宏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35568" y="5300186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#define、#ifdef 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5648" y="5300186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没有预处理；常量用 static final 定义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11125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30792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80872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7634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语言特色：类不支持多重继承，有 abstract / final 类、接口、自动内存回收、多线程。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79090" cy="909257"/>
            <a:chOff x="520446" y="342900"/>
            <a:chExt cx="6179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79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例：同一段逻辑，C 和 Java 的写法对照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88920"/>
            <a:chOff x="533400" y="1524000"/>
            <a:chExt cx="5410200" cy="2788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88920"/>
            </a:xfrm>
            <a:prstGeom prst="roundRect">
              <a:avLst>
                <a:gd name="adj" fmla="val 34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语言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378" y="1937528"/>
              <a:ext cx="3140659" cy="2302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&lt;stdlib.h&gt;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#define MAX 100              /* 宏定义 */</a:t>
              </a:r>
              <a:br/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= 0;            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全局变量 */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 = malloc(MAX *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a[0] = ++count;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10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"%d\n"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a[0]);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free(a);              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手工释放 */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483418"/>
            <a:ext cx="5410200" cy="884872"/>
            <a:chOff x="533400" y="4483418"/>
            <a:chExt cx="5410200" cy="884872"/>
          </a:xfrm>
        </p:grpSpPr>
        <p:sp>
          <p:nvSpPr>
            <p:cNvPr id="11" name="Rectangle 11"/>
            <p:cNvSpPr/>
            <p:nvPr/>
          </p:nvSpPr>
          <p:spPr>
            <a:xfrm>
              <a:off x="533400" y="4483418"/>
              <a:ext cx="5410200" cy="884872"/>
            </a:xfrm>
            <a:prstGeom prst="roundRect">
              <a:avLst>
                <a:gd name="adj" fmla="val 10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635341"/>
              <a:ext cx="1817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C：(8) 结构体、(6) 任意强转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378" y="4895993"/>
              <a:ext cx="3275279" cy="397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 {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 };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结构体 */</a:t>
              </a:r>
              <a:br/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 = (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*) &amp;count;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编译器不拦 */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248400" y="1524000"/>
            <a:ext cx="5410200" cy="2407920"/>
            <a:chOff x="6248400" y="1524000"/>
            <a:chExt cx="5410200" cy="2407920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2407920"/>
            </a:xfrm>
            <a:prstGeom prst="roundRect">
              <a:avLst>
                <a:gd name="adj" fmla="val 395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378" y="1937528"/>
              <a:ext cx="4244543" cy="1921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Demo {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 = 100;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常量代替宏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= 0;      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静态变量代替全局变量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 =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[MAX];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没有指针，a 是数组引用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a[0] = ++count;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System.out.println(a[0]);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不用 free：a 不再被引用后由垃圾回收器回收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ode-2"/>
          <p:cNvGrpSpPr/>
          <p:nvPr/>
        </p:nvGrpSpPr>
        <p:grpSpPr>
          <a:xfrm>
            <a:off x="6248400" y="4102418"/>
            <a:ext cx="5410200" cy="1265872"/>
            <a:chOff x="6248400" y="4102418"/>
            <a:chExt cx="5410200" cy="1265872"/>
          </a:xfrm>
        </p:grpSpPr>
        <p:sp>
          <p:nvSpPr>
            <p:cNvPr id="19" name="Rectangle 19"/>
            <p:cNvSpPr/>
            <p:nvPr/>
          </p:nvSpPr>
          <p:spPr>
            <a:xfrm>
              <a:off x="6248400" y="4102418"/>
              <a:ext cx="5410200" cy="1265872"/>
            </a:xfrm>
            <a:prstGeom prst="roundRect">
              <a:avLst>
                <a:gd name="adj" fmla="val 75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4254341"/>
              <a:ext cx="2310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Java：(8) 用类代替、(6) 转换受检查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378" y="4515945"/>
              <a:ext cx="4385894" cy="778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 { </a:t>
              </a:r>
              <a:r>
                <a:rPr lang="en-US" sz="10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 }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 的 struct 改用类表示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o = </a:t>
              </a:r>
              <a:r>
                <a:rPr lang="en-US" sz="10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"abc"</a:t>
              </a: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Integer n = (Integer) o; 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运行时抛出 ClassCastException</a:t>
              </a:r>
              <a:br/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(Integer) "abc" 直接编译报错：不兼容的类型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779770"/>
              <a:ext cx="95291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两个程序都输出 1。对照看：#define → static final，全局变量 → static 变量，malloc/free → new 加垃圾回收，#include →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import。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3405" cy="909257"/>
            <a:chOff x="520446" y="342900"/>
            <a:chExt cx="6973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3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1.1.7 类库与 API 文档：Java 的“编程词典”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26820"/>
            <a:chOff x="533400" y="1524000"/>
            <a:chExt cx="5626418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7820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343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实现各种基本功能和常用功能的标准类库。API 文档逐个说明类的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继承结构、成员变量、构造方法和成员方法。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2926080"/>
            <a:ext cx="5626418" cy="2434590"/>
            <a:chOff x="533400" y="2926080"/>
            <a:chExt cx="5626418" cy="2434590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20826" y="3050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57575" y="30503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类和接口的数量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3456146"/>
              <a:ext cx="67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1242" y="3456146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多个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328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376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861911"/>
              <a:ext cx="67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1.1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1242" y="3861911"/>
              <a:ext cx="652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500 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38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4267676"/>
              <a:ext cx="67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1.2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1242" y="4267676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1500 个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443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4914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673441"/>
              <a:ext cx="67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1.4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1242" y="4673441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2700 个（135 个包）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50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5079206"/>
              <a:ext cx="5011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21242" y="5079206"/>
              <a:ext cx="279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3700 多个（200 多个包，三万多个方法）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926080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16468" y="292608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steps-1"/>
          <p:cNvGrpSpPr/>
          <p:nvPr/>
        </p:nvGrpSpPr>
        <p:grpSpPr>
          <a:xfrm>
            <a:off x="6464618" y="1533525"/>
            <a:ext cx="4279518" cy="2487453"/>
            <a:chOff x="6464618" y="1533525"/>
            <a:chExt cx="4279518" cy="2487453"/>
          </a:xfrm>
        </p:grpSpPr>
        <p:sp>
          <p:nvSpPr>
            <p:cNvPr id="36" name="Rectangle 36"/>
            <p:cNvSpPr/>
            <p:nvPr/>
          </p:nvSpPr>
          <p:spPr>
            <a:xfrm>
              <a:off x="6597968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32946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6860" y="156495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打开对应版本的官方文档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8002" y="1833086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docs.oracle.com/en/java/javase/17/docs/api/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6860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8002" y="2419826"/>
              <a:ext cx="3838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按模块和包查找，或用右上角搜索，如 java.lang.String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6860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看类的说明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8002" y="300656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继承关系、实现的接口、用法说明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6860" y="33261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查成员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8002" y="3593306"/>
              <a:ext cx="38661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字段、构造方法、方法摘要（Field / Constructor / Method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Summary），点进去看参数、返回值和异常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190048"/>
            <a:ext cx="5193982" cy="2025968"/>
            <a:chOff x="6464618" y="4190048"/>
            <a:chExt cx="5193982" cy="2025968"/>
          </a:xfrm>
        </p:grpSpPr>
        <p:sp>
          <p:nvSpPr>
            <p:cNvPr id="54" name="Rectangle 54"/>
            <p:cNvSpPr/>
            <p:nvPr/>
          </p:nvSpPr>
          <p:spPr>
            <a:xfrm>
              <a:off x="6464618" y="4190048"/>
              <a:ext cx="5193982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4323398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5122" y="43824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6562" y="44167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03695" y="47948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59714" y="4738687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Java 1.2 有 16 个包、近 500 个类。近 500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 Java 1.1 的规模，1.2 加入 Swing 和集合框架后超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1500 个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03695" y="56121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59714" y="5555933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原课件推荐的“JDK 6 API 中文文档”太旧，查不到新特性，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应看所用 JDK 版本的官方文档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2187" cy="909257"/>
            <a:chOff x="520446" y="342900"/>
            <a:chExt cx="5002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2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近几个 LTS 版本的代表性新特性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492240" cy="3034665"/>
            <a:chOff x="533400" y="1524000"/>
            <a:chExt cx="6492240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07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05364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代表性新特性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2130" y="2054066"/>
              <a:ext cx="4325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Lambda 表达式、Stream API、新的日期时间 API（java.time）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559844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2130" y="2459831"/>
              <a:ext cx="4890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 HTTP 客户端 API；lambda 参数可以用 var 声明；可以直接运行单个源文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365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3165634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2130" y="3065621"/>
              <a:ext cx="49115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密封类（sealed）；强封装 JDK 内部 API；macOS 新渲染管线；垃圾收集器持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续优化。JDK 16 定稿的记录类（record）、instanceof 模式匹配也包含在内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23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7110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771424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2130" y="3671411"/>
              <a:ext cx="4776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虚拟线程（正式功能）；switch 模式匹配和记录模式；分代 ZGC；有序集合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（Sequenced Collections）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481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4277201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02130" y="4277201"/>
              <a:ext cx="4800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紧凑源文件与实例 main 方法；模块导入声明；作用域值 Scoped Values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492240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733925"/>
            <a:ext cx="6492240" cy="1511618"/>
            <a:chOff x="533400" y="4733925"/>
            <a:chExt cx="6492240" cy="1511618"/>
          </a:xfrm>
        </p:grpSpPr>
        <p:sp>
          <p:nvSpPr>
            <p:cNvPr id="29" name="Rectangle 29"/>
            <p:cNvSpPr/>
            <p:nvPr/>
          </p:nvSpPr>
          <p:spPr>
            <a:xfrm>
              <a:off x="533400" y="4733925"/>
              <a:ext cx="649224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6727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92633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343" y="496062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两个常用开关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533876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5282565"/>
              <a:ext cx="542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预览特性编译和运行都要加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--enable-preview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，转正之后就不用加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564165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5585460"/>
              <a:ext cx="55772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API 是哪版加的看文档里的 Since；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javac --release 8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能验证是否兼容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旧版本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7330440" y="1524000"/>
            <a:ext cx="4328160" cy="4721542"/>
            <a:chOff x="7330440" y="1524000"/>
            <a:chExt cx="4328160" cy="4721542"/>
          </a:xfrm>
        </p:grpSpPr>
        <p:sp>
          <p:nvSpPr>
            <p:cNvPr id="38" name="Rectangle 38"/>
            <p:cNvSpPr/>
            <p:nvPr/>
          </p:nvSpPr>
          <p:spPr>
            <a:xfrm>
              <a:off x="7330440" y="1524000"/>
              <a:ext cx="4328160" cy="4721542"/>
            </a:xfrm>
            <a:prstGeom prst="roundRect">
              <a:avLst>
                <a:gd name="adj" fmla="val 3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9965" y="1657350"/>
              <a:ext cx="47625" cy="44548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6094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5238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569517" y="21288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25537" y="2072640"/>
              <a:ext cx="35970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JDK 11 引入了 var 关键字。局部变量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类型推断 var 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JDK 10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引入的，JDK 11 只是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允许在 lambda 参数中使用 var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569517" y="294608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25537" y="2889885"/>
              <a:ext cx="35713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JDK 21 的虚拟线程写成“预览功能”。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虚拟线程在 JDK 19、20 是预览，JDK 21 已是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正式功能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569517" y="376332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25537" y="3707130"/>
              <a:ext cx="34598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原课件列出 JDK 21 的“泛型改进”。JDK 21 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没有这样一项独立的新特性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6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226" y="407194"/>
              <a:ext cx="2351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1.1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新特性长什么样：先认识，后面章节再细学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748088"/>
            <a:chOff x="533400" y="1524000"/>
            <a:chExt cx="6276022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54888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10：var 局部变量类型推断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ArrayList&lt;String&gt;();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list.add(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8：Lambda 表达式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list.forEach(s -&gt; System.out.println(s));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16：instanceof 模式匹配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obj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(obj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System.out.println(s.length());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16：记录类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record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 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17：密封接口，只允许 Circle、Square 实现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sealed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permits Circle, Square { 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JDK 21：虚拟线程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Thread.startVirtualThread(() -&gt;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7106602" y="1548765"/>
            <a:ext cx="4551998" cy="3903345"/>
            <a:chOff x="7106602" y="1548765"/>
            <a:chExt cx="4551998" cy="3903345"/>
          </a:xfrm>
        </p:grpSpPr>
        <p:sp>
          <p:nvSpPr>
            <p:cNvPr id="11" name="TextBox 11"/>
            <p:cNvSpPr txBox="1"/>
            <p:nvPr/>
          </p:nvSpPr>
          <p:spPr>
            <a:xfrm>
              <a:off x="7106602" y="154876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var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7685" y="154876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编译器根据右边的表达式推断变量类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型，变量仍然是静态类型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114222" y="21507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06602" y="227076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Lambda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7685" y="227076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把一段代码当作参数传给方法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14222" y="25908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06602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7685" y="271081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判断类型的同时完成类型转换，并绑定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到变量 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14222" y="33127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06602" y="343281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record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7685" y="3432810"/>
              <a:ext cx="2720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自动生成构造方法、访问方法、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equals、hashCode 和 toString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14222" y="40347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06602" y="415480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sealed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7685" y="415480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规定哪些类可以继承某个类或实现某个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14222" y="475678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06602" y="48768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虚拟线程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7685" y="4876800"/>
              <a:ext cx="31489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JVM 调度的轻量级线程，可以大量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9054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程序结构与运行机制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写出第一个程序，看清它从源代码到运行结果经过了哪些步骤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18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1.2.1 一个简单的 Java 程序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源文件的组成规则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1.2.2 运行的五个阶段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57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运行时系统、JVM、JRE 与 JDK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7306" cy="909257"/>
            <a:chOff x="520446" y="342900"/>
            <a:chExt cx="76373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73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1.1 在屏幕上显示 this is a simple program!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2088832"/>
            <a:chOff x="533400" y="1524000"/>
            <a:chExt cx="6276022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08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9554" y="1935956"/>
              <a:ext cx="78359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2307" y="1935956"/>
              <a:ext cx="3843274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Example 1 of Chapter 1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This is a simple instance of java application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a simple program!"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782378"/>
            <a:ext cx="6276022" cy="1033462"/>
            <a:chOff x="533400" y="3782378"/>
            <a:chExt cx="6276022" cy="1033462"/>
          </a:xfrm>
        </p:grpSpPr>
        <p:sp>
          <p:nvSpPr>
            <p:cNvPr id="13" name="Rectangle 13"/>
            <p:cNvSpPr/>
            <p:nvPr/>
          </p:nvSpPr>
          <p:spPr>
            <a:xfrm>
              <a:off x="533400" y="3782378"/>
              <a:ext cx="6276022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93430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命令行编译和运行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797" y="4195286"/>
              <a:ext cx="172123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C:\&gt; javac SimpleApp.java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C:\&gt; java SimpleApp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this is a simple program!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986338"/>
            <a:ext cx="6276022" cy="1228725"/>
            <a:chOff x="533400" y="4986338"/>
            <a:chExt cx="6276022" cy="1228725"/>
          </a:xfrm>
        </p:grpSpPr>
        <p:sp>
          <p:nvSpPr>
            <p:cNvPr id="17" name="Rectangle 17"/>
            <p:cNvSpPr/>
            <p:nvPr/>
          </p:nvSpPr>
          <p:spPr>
            <a:xfrm>
              <a:off x="533400" y="4986338"/>
              <a:ext cx="6276022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5119688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517302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660" y="52058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改一处试试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8190" y="550449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868" y="55438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8987" y="5516880"/>
              <a:ext cx="5072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 main 前的 static：运行时报 Main method is not static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8190" y="5805488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3868" y="58438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987" y="5816918"/>
              <a:ext cx="5517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类名改成 simpleApp 而文件名不动：编译器要求文件名与公共类同名</a:t>
              </a:r>
            </a:p>
          </p:txBody>
        </p:sp>
      </p:grpSp>
      <p:grpSp>
        <p:nvGrpSpPr>
          <p:cNvPr id="45" name="c2-kv-1"/>
          <p:cNvGrpSpPr/>
          <p:nvPr/>
        </p:nvGrpSpPr>
        <p:grpSpPr>
          <a:xfrm>
            <a:off x="7107364" y="1545907"/>
            <a:ext cx="4551236" cy="2226184"/>
            <a:chOff x="7107364" y="1545907"/>
            <a:chExt cx="4551236" cy="2226184"/>
          </a:xfrm>
        </p:grpSpPr>
        <p:sp>
          <p:nvSpPr>
            <p:cNvPr id="28" name="TextBox 28"/>
            <p:cNvSpPr txBox="1"/>
            <p:nvPr/>
          </p:nvSpPr>
          <p:spPr>
            <a:xfrm>
              <a:off x="7107364" y="1545907"/>
              <a:ext cx="806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1–2 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160" y="1545907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注释行，// 之后到行尾都是注释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14222" y="183261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07364" y="193833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34160" y="1938338"/>
              <a:ext cx="2505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定义主类（应用类）SimpleApp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114222" y="222504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07364" y="233076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5 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4160" y="233076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主方法 main，是程序的入口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4222" y="26174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7364" y="272319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7 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4160" y="27231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在屏幕上输出一行字符串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4222" y="30099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07364" y="3115627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8 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34160" y="31156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结束主方法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14222" y="340233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07364" y="350805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 9 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4160" y="35080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结束主类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7114222" y="3889058"/>
            <a:ext cx="4544378" cy="2326005"/>
            <a:chOff x="7114222" y="3889058"/>
            <a:chExt cx="4544378" cy="2326005"/>
          </a:xfrm>
        </p:grpSpPr>
        <p:sp>
          <p:nvSpPr>
            <p:cNvPr id="46" name="Rectangle 46"/>
            <p:cNvSpPr/>
            <p:nvPr/>
          </p:nvSpPr>
          <p:spPr>
            <a:xfrm>
              <a:off x="7114222" y="3889058"/>
              <a:ext cx="4544378" cy="2326005"/>
            </a:xfrm>
            <a:prstGeom prst="roundRect">
              <a:avLst>
                <a:gd name="adj" fmla="val 57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4022408"/>
              <a:ext cx="47625" cy="20593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012" y="40757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30732" y="41086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32154" y="4420552"/>
              <a:ext cx="38370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原课件例题标题和运行结果写成“this s a simple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program!”，漏了 is。程序实际输出的是 this is a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 program!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4567" cy="909257"/>
            <a:chOff x="520446" y="342900"/>
            <a:chExt cx="63145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45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 main 方法和 System.out.println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5780" y="1548765"/>
            <a:ext cx="5958840" cy="3779520"/>
            <a:chOff x="525780" y="1548765"/>
            <a:chExt cx="5958840" cy="37795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3538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public class</a:t>
              </a:r>
              <a:br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SimpleApp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67952" y="1548765"/>
              <a:ext cx="2301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公共类；类名必须与文件名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SimpleApp.java 一致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public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7952" y="2270760"/>
              <a:ext cx="3253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必须能被 JVM 从类的外部调用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7952" y="2710815"/>
              <a:ext cx="3502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不用创建对象，JVM 通过类名直接调用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42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void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7952" y="3150870"/>
              <a:ext cx="1317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不返回值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709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590925"/>
              <a:ext cx="1433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String args[]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67952" y="359092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命令行参数组成的字符串数组，更常见的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写法是 String[] args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929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312920"/>
              <a:ext cx="123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System.out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67952" y="4312920"/>
              <a:ext cx="3568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 是 System 类中 PrintStream 类型的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静态对象，代表标准输出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149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503491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println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67952" y="503491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输出内容后换行；print 输出后不换行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6789420" y="1524000"/>
            <a:ext cx="4869180" cy="1719262"/>
            <a:chOff x="6789420" y="1524000"/>
            <a:chExt cx="4869180" cy="1719262"/>
          </a:xfrm>
        </p:grpSpPr>
        <p:sp>
          <p:nvSpPr>
            <p:cNvPr id="28" name="Rectangle 28"/>
            <p:cNvSpPr/>
            <p:nvPr/>
          </p:nvSpPr>
          <p:spPr>
            <a:xfrm>
              <a:off x="6789420" y="1524000"/>
              <a:ext cx="486918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17817" y="1675924"/>
              <a:ext cx="1101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功能相同的 C 程序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17055" y="1937861"/>
              <a:ext cx="329717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a simple program!\n"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789420" y="3433762"/>
            <a:ext cx="4869180" cy="1887855"/>
            <a:chOff x="6789420" y="3433762"/>
            <a:chExt cx="4869180" cy="1887855"/>
          </a:xfrm>
        </p:grpSpPr>
        <p:sp>
          <p:nvSpPr>
            <p:cNvPr id="32" name="Rectangle 32"/>
            <p:cNvSpPr/>
            <p:nvPr/>
          </p:nvSpPr>
          <p:spPr>
            <a:xfrm>
              <a:off x="6789420" y="3433762"/>
              <a:ext cx="486918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3567112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7070" y="36433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27278" y="36790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9450" y="4020502"/>
              <a:ext cx="4215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C 程序写作 main() { printf(...); }，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这是早期 K&amp;R 风格。按 C99 以后的标准，要用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#include &lt;stdio.h&gt; 声明 printf，并写明 int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789420" y="5512118"/>
            <a:ext cx="4869180" cy="782955"/>
            <a:chOff x="6789420" y="5512118"/>
            <a:chExt cx="4869180" cy="782955"/>
          </a:xfrm>
        </p:grpSpPr>
        <p:sp>
          <p:nvSpPr>
            <p:cNvPr id="38" name="Rectangle 38"/>
            <p:cNvSpPr/>
            <p:nvPr/>
          </p:nvSpPr>
          <p:spPr>
            <a:xfrm>
              <a:off x="6789420" y="5512118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994208" y="5803583"/>
              <a:ext cx="200026" cy="200025"/>
              <a:chOff x="6994208" y="580358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94208" y="58035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33946" y="58480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68662" y="59591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96150" y="5660708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的 main 是全局函数；Java 没有全局函数，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main 必须写在某个类里。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0182" cy="909257"/>
            <a:chOff x="520446" y="342900"/>
            <a:chExt cx="71901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01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源文件的组成：package → import → 类和接口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125028"/>
            <a:chOff x="533400" y="1524000"/>
            <a:chExt cx="5626418" cy="2125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182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Definition.java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02971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com.example.demo;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至多 1 句，必须在最前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java.util.Scanner;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或多句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java.util.List;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Definition { }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至多 1 个公共类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Helper { }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或多个类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 }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或多个接口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839528"/>
            <a:ext cx="5626418" cy="1057275"/>
            <a:chOff x="533400" y="3839528"/>
            <a:chExt cx="5626418" cy="1057275"/>
          </a:xfrm>
        </p:grpSpPr>
        <p:sp>
          <p:nvSpPr>
            <p:cNvPr id="11" name="Rectangle 11"/>
            <p:cNvSpPr/>
            <p:nvPr/>
          </p:nvSpPr>
          <p:spPr>
            <a:xfrm>
              <a:off x="533400" y="3839528"/>
              <a:ext cx="5626418" cy="1057275"/>
            </a:xfrm>
            <a:prstGeom prst="roundRect">
              <a:avLst>
                <a:gd name="adj" fmla="val 1081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268153"/>
              <a:ext cx="200026" cy="200025"/>
              <a:chOff x="738188" y="426815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268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312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423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125278"/>
              <a:ext cx="4711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编译后每个类和接口各生成一个 .class 文件，本例得到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Definition.class、Helper.class、Shape.class。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464618" y="1524000"/>
            <a:ext cx="5193982" cy="3372802"/>
            <a:chOff x="6464618" y="1524000"/>
            <a:chExt cx="5193982" cy="3372802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64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17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568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位置要求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72441" y="2221706"/>
              <a:ext cx="1108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 语句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51485" y="2221706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608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源文件的第一条语句（前面只能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有注释和空行）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2441" y="2897029"/>
              <a:ext cx="999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import 语句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52404" y="289702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或多个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66086" y="2783681"/>
              <a:ext cx="23619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 package 之后、所有类型定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义之前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2441" y="3572351"/>
              <a:ext cx="1026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class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1485" y="3572351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66086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源文件名必须与它的类名完全一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致，区分大小写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39947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399954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441" y="4134326"/>
              <a:ext cx="864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定义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52404" y="413432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或多个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6086" y="4134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顺序不限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44434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2441" y="4583906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52404" y="45839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或多个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66086" y="45839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顺序不限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18145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95350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728335"/>
              <a:ext cx="9987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易错：文件 Hello.java 里写 public class HelloWorld，编译报错“类 HelloWorld 是公共的，应在名为 HelloWorld.java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的文件中声明”。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0912" cy="909257"/>
            <a:chOff x="520446" y="342900"/>
            <a:chExt cx="74709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09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编译与运行：javac 生成字节码，java 启动 JVM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416169" cy="2347246"/>
            <a:chOff x="533400" y="1533525"/>
            <a:chExt cx="5416169" cy="234724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222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用文本编辑器或 IDE 写好 SimpleApp.java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4954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cmd，进入源文件所在目录，执行 javac SimpleApp.java，生成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字节码文件 SimpleApp.class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5003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java SimpleApp（只写类名，不带 .class），JVM 装入这个类，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main 方法开始执行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4060508"/>
            <a:ext cx="5626418" cy="1719262"/>
            <a:chOff x="533400" y="4060508"/>
            <a:chExt cx="5626418" cy="1719262"/>
          </a:xfrm>
        </p:grpSpPr>
        <p:sp>
          <p:nvSpPr>
            <p:cNvPr id="21" name="Rectangle 21"/>
            <p:cNvSpPr/>
            <p:nvPr/>
          </p:nvSpPr>
          <p:spPr>
            <a:xfrm>
              <a:off x="533400" y="4060508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4212431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474369"/>
              <a:ext cx="228015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D:\code&gt; javac SimpleApp.java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D:\code&gt; dir /b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SimpleApp.class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SimpleApp.java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D:\code&gt; java SimpleApp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this is a simple program!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464618" y="1524000"/>
            <a:ext cx="5193982" cy="3377565"/>
            <a:chOff x="6464618" y="1524000"/>
            <a:chExt cx="5193982" cy="337756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0794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常见错误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777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2441" y="2108359"/>
              <a:ext cx="197911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'javac' 不是内部或外部命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61310" y="2108359"/>
              <a:ext cx="23619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 环境变量里没有 JDK 的 bin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2441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找不到或无法加载主类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SimpleApp.class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61310" y="2783681"/>
              <a:ext cx="2329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写成了 java SimpleApp.class，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应只写类名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2441" y="357235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找不到或无法加载主类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1310" y="3459004"/>
              <a:ext cx="162229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当前目录下没有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SimpleApp.class，或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CLASSPATH 中漏了“.”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42214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4226242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2441" y="4474369"/>
              <a:ext cx="2004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simpleapp 运行失败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61310" y="4361021"/>
              <a:ext cx="2207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区分大小写，类名要写成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848725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2"/>
          <p:cNvGrpSpPr/>
          <p:nvPr/>
        </p:nvGrpSpPr>
        <p:grpSpPr>
          <a:xfrm>
            <a:off x="6464618" y="5092065"/>
            <a:ext cx="5193982" cy="1059180"/>
            <a:chOff x="6464618" y="5092065"/>
            <a:chExt cx="5193982" cy="1059180"/>
          </a:xfrm>
        </p:grpSpPr>
        <p:sp>
          <p:nvSpPr>
            <p:cNvPr id="44" name="Rectangle 44"/>
            <p:cNvSpPr/>
            <p:nvPr/>
          </p:nvSpPr>
          <p:spPr>
            <a:xfrm>
              <a:off x="6464618" y="509206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521643"/>
              <a:ext cx="200026" cy="200025"/>
              <a:chOff x="6669405" y="552164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5216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09144" y="55660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43859" y="56772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348" y="5240655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JDK 11 起可以直接执行 java SimpleApp.java，在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内存中编译并运行单个源文件，不生成 .class 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件，适合写小练习。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44216" cy="909257"/>
            <a:chOff x="520446" y="342900"/>
            <a:chExt cx="51442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442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1.2.2 Java 程序运行的五个阶段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flow-1"/>
          <p:cNvGrpSpPr/>
          <p:nvPr/>
        </p:nvGrpSpPr>
        <p:grpSpPr>
          <a:xfrm>
            <a:off x="689610" y="1952625"/>
            <a:ext cx="10813732" cy="3027045"/>
            <a:chOff x="689610" y="1952625"/>
            <a:chExt cx="10813732" cy="3027045"/>
          </a:xfrm>
        </p:grpSpPr>
        <p:sp>
          <p:nvSpPr>
            <p:cNvPr id="7" name="Freeform 7"/>
            <p:cNvSpPr/>
            <p:nvPr/>
          </p:nvSpPr>
          <p:spPr>
            <a:xfrm>
              <a:off x="2602230" y="217170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119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17170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119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17170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119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17170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119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45920" y="2390775"/>
              <a:ext cx="9525" cy="761047"/>
            </a:xfrm>
            <a:custGeom>
              <a:avLst/>
              <a:gdLst/>
              <a:ahLst/>
              <a:cxnLst/>
              <a:rect l="l" t="t" r="r" b="b"/>
              <a:pathLst>
                <a:path w="9525" h="761047">
                  <a:moveTo>
                    <a:pt x="0" y="0"/>
                  </a:moveTo>
                  <a:lnTo>
                    <a:pt x="0" y="7610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70960" y="2390775"/>
              <a:ext cx="9525" cy="651510"/>
            </a:xfrm>
            <a:custGeom>
              <a:avLst/>
              <a:gdLst/>
              <a:ahLst/>
              <a:cxnLst/>
              <a:rect l="l" t="t" r="r" b="b"/>
              <a:pathLst>
                <a:path w="9525" h="651510">
                  <a:moveTo>
                    <a:pt x="0" y="0"/>
                  </a:moveTo>
                  <a:lnTo>
                    <a:pt x="0" y="6515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096000" y="2390775"/>
              <a:ext cx="9525" cy="761047"/>
            </a:xfrm>
            <a:custGeom>
              <a:avLst/>
              <a:gdLst/>
              <a:ahLst/>
              <a:cxnLst/>
              <a:rect l="l" t="t" r="r" b="b"/>
              <a:pathLst>
                <a:path w="9525" h="761047">
                  <a:moveTo>
                    <a:pt x="0" y="0"/>
                  </a:moveTo>
                  <a:lnTo>
                    <a:pt x="0" y="7610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21040" y="2390775"/>
              <a:ext cx="9525" cy="761047"/>
            </a:xfrm>
            <a:custGeom>
              <a:avLst/>
              <a:gdLst/>
              <a:ahLst/>
              <a:cxnLst/>
              <a:rect l="l" t="t" r="r" b="b"/>
              <a:pathLst>
                <a:path w="9525" h="761047">
                  <a:moveTo>
                    <a:pt x="0" y="0"/>
                  </a:moveTo>
                  <a:lnTo>
                    <a:pt x="0" y="7610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546080" y="2390775"/>
              <a:ext cx="9525" cy="651510"/>
            </a:xfrm>
            <a:custGeom>
              <a:avLst/>
              <a:gdLst/>
              <a:ahLst/>
              <a:cxnLst/>
              <a:rect l="l" t="t" r="r" b="b"/>
              <a:pathLst>
                <a:path w="9525" h="651510">
                  <a:moveTo>
                    <a:pt x="0" y="0"/>
                  </a:moveTo>
                  <a:lnTo>
                    <a:pt x="0" y="6515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9610" y="195262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14650" y="195262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39690" y="195262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64730" y="195262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589770" y="1952625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610" y="315182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14650" y="3042285"/>
              <a:ext cx="191357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139690" y="315182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64730" y="315182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89770" y="3042285"/>
              <a:ext cx="191357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4868" y="4541520"/>
              <a:ext cx="382714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51158" y="4541520"/>
              <a:ext cx="574071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90234" y="20826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编辑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5274" y="20826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编译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40314" y="20826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加载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65354" y="20826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90394" y="20826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⑤ 执行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795" y="3267551"/>
              <a:ext cx="14922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程序员编写 .java 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49219" y="3158014"/>
              <a:ext cx="144348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把源文件编译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.class 字节码文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10835" y="3267551"/>
              <a:ext cx="13703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类加载器把 .class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文件读入内存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83043" y="326755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字节码校验器检查字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节码是否合法、安全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08083" y="3158014"/>
              <a:ext cx="147599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解释器逐条执行，热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点代码由 JIT 编译执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18483" y="4671536"/>
              <a:ext cx="2679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开发阶段：用 JDK 中的 javac 编译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1483" y="4671536"/>
              <a:ext cx="3259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运行阶段：由 JVM 完成（java 命令启动）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5" name="Rectangle 4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前两个阶段在写程序的机器上完成，得到 .class 文件；后三个阶段在运行程序的机器上由 JVM 完成，这台机器只要有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JRE 就够了。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180" cy="909257"/>
            <a:chOff x="520446" y="342900"/>
            <a:chExt cx="65641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运行时系统：JDK、JRE、JVM 一层套一层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584835" y="1608772"/>
            <a:ext cx="5524500" cy="4305300"/>
            <a:chOff x="584835" y="1608772"/>
            <a:chExt cx="5524500" cy="4305300"/>
          </a:xfrm>
        </p:grpSpPr>
        <p:sp>
          <p:nvSpPr>
            <p:cNvPr id="7" name="Rectangle 7"/>
            <p:cNvSpPr/>
            <p:nvPr/>
          </p:nvSpPr>
          <p:spPr>
            <a:xfrm>
              <a:off x="584835" y="1608772"/>
              <a:ext cx="5524500" cy="4305300"/>
            </a:xfrm>
            <a:prstGeom prst="roundRect">
              <a:avLst>
                <a:gd name="adj" fmla="val 885"/>
              </a:avLst>
            </a:prstGeom>
            <a:solidFill>
              <a:srgbClr val="F7E8E9"/>
            </a:solidFill>
            <a:ln w="17145">
              <a:solidFill>
                <a:srgbClr val="A1343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41998" y="2037398"/>
              <a:ext cx="5210175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3445" y="2480310"/>
              <a:ext cx="2419350" cy="1981200"/>
            </a:xfrm>
            <a:prstGeom prst="roundRect">
              <a:avLst>
                <a:gd name="adj" fmla="val 4808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90900" y="2480310"/>
              <a:ext cx="2409825" cy="1981200"/>
            </a:xfrm>
            <a:prstGeom prst="roundRect">
              <a:avLst>
                <a:gd name="adj" fmla="val 480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1998" y="4842510"/>
              <a:ext cx="5210175" cy="9525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32664" y="3391376"/>
              <a:ext cx="940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JVM 虚拟机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44708" y="3391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核心类库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143" y="1717834"/>
              <a:ext cx="3397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JDK（Java Development Kit）开发工具包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779" y="2155508"/>
              <a:ext cx="3430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JRE（Java Runtime Environment）运行环境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1012" y="3804285"/>
              <a:ext cx="172421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类加载、字节码校验、解释 /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JIT、垃圾回收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90354" y="3804285"/>
              <a:ext cx="20109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java.lang、java.util、java.io、</a:t>
              </a:r>
              <a:br/>
              <a:r>
                <a:rPr lang="zh-CN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java.net 等包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37843" y="5263991"/>
              <a:ext cx="3818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开发工具：javac、javadoc、jar、jdb、javap、jshell 等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6456998" y="1548765"/>
            <a:ext cx="5201602" cy="1455420"/>
            <a:chOff x="6456998" y="1548765"/>
            <a:chExt cx="5201602" cy="1455420"/>
          </a:xfrm>
        </p:grpSpPr>
        <p:sp>
          <p:nvSpPr>
            <p:cNvPr id="20" name="TextBox 20"/>
            <p:cNvSpPr txBox="1"/>
            <p:nvPr/>
          </p:nvSpPr>
          <p:spPr>
            <a:xfrm>
              <a:off x="6456998" y="154876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JVM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041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执行字节码的虚拟机器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6998" y="198882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0410" y="1988820"/>
              <a:ext cx="39109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+ 核心类库：只运行 Java 程序时需要。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从 JDK 11 起不再单独提供 JRE 安装包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5908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6998" y="271081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JDK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0410" y="2710815"/>
              <a:ext cx="424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JRE + 开发工具：编写、编译、调试程序时需要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464618" y="3135630"/>
            <a:ext cx="5193982" cy="2863215"/>
            <a:chOff x="6464618" y="3135630"/>
            <a:chExt cx="5193982" cy="2863215"/>
          </a:xfrm>
        </p:grpSpPr>
        <p:sp>
          <p:nvSpPr>
            <p:cNvPr id="29" name="Rectangle 29"/>
            <p:cNvSpPr/>
            <p:nvPr/>
          </p:nvSpPr>
          <p:spPr>
            <a:xfrm>
              <a:off x="6464618" y="3135630"/>
              <a:ext cx="5193982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326898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33451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4576" y="3380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课件定义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98092" y="3380422"/>
              <a:ext cx="1562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运行时系统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374142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Java 字节码的系统。它装载程序运行时需要的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类，安排程序运行中对内存的使用，并控制字节码的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47110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464820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Application：由 Java 解释器（java 命令）运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53320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526923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Applet：由兼容 Java 的 Web 浏览器运行（已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淘汰）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5477" cy="909257"/>
            <a:chOff x="520446" y="342900"/>
            <a:chExt cx="64854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54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虚拟机：能执行字节码的“一台机器”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flow-1"/>
          <p:cNvGrpSpPr/>
          <p:nvPr/>
        </p:nvGrpSpPr>
        <p:grpSpPr>
          <a:xfrm>
            <a:off x="666750" y="1591628"/>
            <a:ext cx="4711065" cy="3470909"/>
            <a:chOff x="666750" y="1591628"/>
            <a:chExt cx="4711065" cy="3470909"/>
          </a:xfrm>
        </p:grpSpPr>
        <p:sp>
          <p:nvSpPr>
            <p:cNvPr id="7" name="Rectangle 7"/>
            <p:cNvSpPr/>
            <p:nvPr/>
          </p:nvSpPr>
          <p:spPr>
            <a:xfrm>
              <a:off x="666750" y="1591628"/>
              <a:ext cx="139255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326005" y="1681162"/>
              <a:ext cx="1392555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85260" y="1591628"/>
              <a:ext cx="139255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5810" y="2420302"/>
              <a:ext cx="285369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985260" y="2420302"/>
              <a:ext cx="139255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82015" y="3159442"/>
              <a:ext cx="4280535" cy="424815"/>
            </a:xfrm>
            <a:prstGeom prst="roundRect">
              <a:avLst>
                <a:gd name="adj" fmla="val 22422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82015" y="3898582"/>
              <a:ext cx="4280535" cy="42481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82015" y="4637722"/>
              <a:ext cx="4280535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3071" y="1706880"/>
              <a:ext cx="8199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2827" y="1809750"/>
              <a:ext cx="918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Applet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97312" y="1706880"/>
              <a:ext cx="5684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Servlet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（JSP）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74800" y="2548890"/>
              <a:ext cx="1035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API 类库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6189" y="2548890"/>
              <a:ext cx="850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服务器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47150" y="3288030"/>
              <a:ext cx="1350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 Bytecodes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6180" y="4027170"/>
              <a:ext cx="1312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虚拟机 JVM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93098" y="4766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硬件平台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669226" y="5424488"/>
            <a:ext cx="4706112" cy="470916"/>
            <a:chOff x="669226" y="5424488"/>
            <a:chExt cx="4706112" cy="470916"/>
          </a:xfrm>
        </p:grpSpPr>
        <p:sp>
          <p:nvSpPr>
            <p:cNvPr id="24" name="TextBox 24"/>
            <p:cNvSpPr txBox="1"/>
            <p:nvPr/>
          </p:nvSpPr>
          <p:spPr>
            <a:xfrm>
              <a:off x="669226" y="5424488"/>
              <a:ext cx="47061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程序执行架构：上层程序通过 API 和字节码运行在 JVM 上，JVM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屏蔽了下面的硬件差异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815965" y="1524000"/>
            <a:ext cx="5842635" cy="2457450"/>
            <a:chOff x="5815965" y="1524000"/>
            <a:chExt cx="5842635" cy="2457450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5490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57900" y="1727835"/>
              <a:ext cx="1301115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18397" y="1763554"/>
              <a:ext cx="1178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(2) Java 虚拟机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50661" y="2100739"/>
              <a:ext cx="51361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是 Sun 公司与合作伙伴一起制定的一项技术规范，规定了一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个能运行 Java 字节码的操作平台。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65520" y="275272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2111" y="269224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定义了指令集、寄存器组、栈结构、垃圾收集器、存储区五部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分逻辑部件，并规定了它们的规格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65520" y="334422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22111" y="3283744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可以用软件实现，也可以用硬件（Java 芯片）实现；目前通用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Java 系统都是软件实现</a:t>
              </a:r>
            </a:p>
          </p:txBody>
        </p:sp>
      </p:grpSp>
      <p:grpSp>
        <p:nvGrpSpPr>
          <p:cNvPr id="44" name="c2-kv-2"/>
          <p:cNvGrpSpPr/>
          <p:nvPr/>
        </p:nvGrpSpPr>
        <p:grpSpPr>
          <a:xfrm>
            <a:off x="5808726" y="4190524"/>
            <a:ext cx="5849874" cy="1122617"/>
            <a:chOff x="5808726" y="4190524"/>
            <a:chExt cx="5849874" cy="1122617"/>
          </a:xfrm>
        </p:grpSpPr>
        <p:sp>
          <p:nvSpPr>
            <p:cNvPr id="36" name="TextBox 36"/>
            <p:cNvSpPr txBox="1"/>
            <p:nvPr/>
          </p:nvSpPr>
          <p:spPr>
            <a:xfrm>
              <a:off x="5808726" y="4190524"/>
              <a:ext cx="7997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HotSpot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15518" y="4190524"/>
              <a:ext cx="3730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JDK 和 OpenJDK 默认使用的虚拟机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44967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8726" y="4612481"/>
              <a:ext cx="7328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OpenJ9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15518" y="4612481"/>
              <a:ext cx="3162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 IBM J9，现由 Eclipse 基金会维护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49177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08726" y="5034439"/>
              <a:ext cx="411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Zing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15518" y="5034439"/>
              <a:ext cx="44648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Azul 公司的商业虚拟机，现名 Azul Platform Prime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5815965" y="5441632"/>
            <a:ext cx="5842635" cy="756285"/>
            <a:chOff x="5815965" y="5441632"/>
            <a:chExt cx="5842635" cy="756285"/>
          </a:xfrm>
        </p:grpSpPr>
        <p:sp>
          <p:nvSpPr>
            <p:cNvPr id="45" name="Rectangle 45"/>
            <p:cNvSpPr/>
            <p:nvPr/>
          </p:nvSpPr>
          <p:spPr>
            <a:xfrm>
              <a:off x="5815965" y="544163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5719763"/>
              <a:ext cx="200026" cy="200025"/>
              <a:chOff x="6020753" y="571976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57197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60491" y="57642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95207" y="58753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3076" y="5589746"/>
              <a:ext cx="478447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现行 JVM 规范按运行时数据区描述内存：程序计数器、虚拟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机栈、本地方法栈、堆、方法区。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79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195" y="407194"/>
              <a:ext cx="29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1.2 程序结构与运行机制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解释、编译、编译加虚拟机：几种语言的执行过程比较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flow-1"/>
          <p:cNvGrpSpPr/>
          <p:nvPr/>
        </p:nvGrpSpPr>
        <p:grpSpPr>
          <a:xfrm>
            <a:off x="727710" y="1790700"/>
            <a:ext cx="10736580" cy="3447097"/>
            <a:chOff x="727710" y="1790700"/>
            <a:chExt cx="10736580" cy="3447097"/>
          </a:xfrm>
        </p:grpSpPr>
        <p:sp>
          <p:nvSpPr>
            <p:cNvPr id="7" name="Freeform 7"/>
            <p:cNvSpPr/>
            <p:nvPr/>
          </p:nvSpPr>
          <p:spPr>
            <a:xfrm>
              <a:off x="1924050" y="2228850"/>
              <a:ext cx="9525" cy="2369820"/>
            </a:xfrm>
            <a:custGeom>
              <a:avLst/>
              <a:gdLst/>
              <a:ahLst/>
              <a:cxnLst/>
              <a:rect l="l" t="t" r="r" b="b"/>
              <a:pathLst>
                <a:path w="9525" h="2369820">
                  <a:moveTo>
                    <a:pt x="0" y="0"/>
                  </a:moveTo>
                  <a:lnTo>
                    <a:pt x="0" y="2369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71662" y="4598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705350" y="2228850"/>
              <a:ext cx="9525" cy="427672"/>
            </a:xfrm>
            <a:custGeom>
              <a:avLst/>
              <a:gdLst/>
              <a:ahLst/>
              <a:cxnLst/>
              <a:rect l="l" t="t" r="r" b="b"/>
              <a:pathLst>
                <a:path w="9525" h="427672">
                  <a:moveTo>
                    <a:pt x="0" y="0"/>
                  </a:moveTo>
                  <a:lnTo>
                    <a:pt x="0" y="4276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52962" y="2656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3199448"/>
              <a:ext cx="9525" cy="1399223"/>
            </a:xfrm>
            <a:custGeom>
              <a:avLst/>
              <a:gdLst/>
              <a:ahLst/>
              <a:cxnLst/>
              <a:rect l="l" t="t" r="r" b="b"/>
              <a:pathLst>
                <a:path w="9525" h="1399223">
                  <a:moveTo>
                    <a:pt x="0" y="0"/>
                  </a:moveTo>
                  <a:lnTo>
                    <a:pt x="0" y="13992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2962" y="4598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486650" y="2228850"/>
              <a:ext cx="9525" cy="427672"/>
            </a:xfrm>
            <a:custGeom>
              <a:avLst/>
              <a:gdLst/>
              <a:ahLst/>
              <a:cxnLst/>
              <a:rect l="l" t="t" r="r" b="b"/>
              <a:pathLst>
                <a:path w="9525" h="427672">
                  <a:moveTo>
                    <a:pt x="0" y="0"/>
                  </a:moveTo>
                  <a:lnTo>
                    <a:pt x="0" y="4276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434262" y="2656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86650" y="3199448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34262" y="36280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4170998"/>
              <a:ext cx="9525" cy="332423"/>
            </a:xfrm>
            <a:custGeom>
              <a:avLst/>
              <a:gdLst/>
              <a:ahLst/>
              <a:cxnLst/>
              <a:rect l="l" t="t" r="r" b="b"/>
              <a:pathLst>
                <a:path w="9525" h="332423">
                  <a:moveTo>
                    <a:pt x="0" y="0"/>
                  </a:moveTo>
                  <a:lnTo>
                    <a:pt x="0" y="3324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434262" y="45034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267950" y="2228850"/>
              <a:ext cx="9525" cy="427672"/>
            </a:xfrm>
            <a:custGeom>
              <a:avLst/>
              <a:gdLst/>
              <a:ahLst/>
              <a:cxnLst/>
              <a:rect l="l" t="t" r="r" b="b"/>
              <a:pathLst>
                <a:path w="9525" h="427672">
                  <a:moveTo>
                    <a:pt x="0" y="0"/>
                  </a:moveTo>
                  <a:lnTo>
                    <a:pt x="0" y="4276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15562" y="2656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67950" y="3199448"/>
              <a:ext cx="9525" cy="1399223"/>
            </a:xfrm>
            <a:custGeom>
              <a:avLst/>
              <a:gdLst/>
              <a:ahLst/>
              <a:cxnLst/>
              <a:rect l="l" t="t" r="r" b="b"/>
              <a:pathLst>
                <a:path w="9525" h="1399223">
                  <a:moveTo>
                    <a:pt x="0" y="0"/>
                  </a:moveTo>
                  <a:lnTo>
                    <a:pt x="0" y="13992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215562" y="4598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27710" y="1790700"/>
              <a:ext cx="2392680" cy="438150"/>
            </a:xfrm>
            <a:custGeom>
              <a:avLst/>
              <a:gdLst/>
              <a:ahLst/>
              <a:cxnLst/>
              <a:rect l="l" t="t" r="r" b="b"/>
              <a:pathLst>
                <a:path w="2392680" h="438150">
                  <a:moveTo>
                    <a:pt x="133350" y="0"/>
                  </a:moveTo>
                  <a:lnTo>
                    <a:pt x="2392680" y="0"/>
                  </a:lnTo>
                  <a:lnTo>
                    <a:pt x="225933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7710" y="470344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509010" y="1790700"/>
              <a:ext cx="2392680" cy="438150"/>
            </a:xfrm>
            <a:custGeom>
              <a:avLst/>
              <a:gdLst/>
              <a:ahLst/>
              <a:cxnLst/>
              <a:rect l="l" t="t" r="r" b="b"/>
              <a:pathLst>
                <a:path w="2392680" h="438150">
                  <a:moveTo>
                    <a:pt x="133350" y="0"/>
                  </a:moveTo>
                  <a:lnTo>
                    <a:pt x="2392680" y="0"/>
                  </a:lnTo>
                  <a:lnTo>
                    <a:pt x="225933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09010" y="2761298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09010" y="470344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290310" y="1790700"/>
              <a:ext cx="2392680" cy="438150"/>
            </a:xfrm>
            <a:custGeom>
              <a:avLst/>
              <a:gdLst/>
              <a:ahLst/>
              <a:cxnLst/>
              <a:rect l="l" t="t" r="r" b="b"/>
              <a:pathLst>
                <a:path w="2392680" h="438150">
                  <a:moveTo>
                    <a:pt x="133350" y="0"/>
                  </a:moveTo>
                  <a:lnTo>
                    <a:pt x="2392680" y="0"/>
                  </a:lnTo>
                  <a:lnTo>
                    <a:pt x="225933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90310" y="2761298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90310" y="3732848"/>
              <a:ext cx="2391728" cy="43815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90310" y="4608195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71610" y="1790700"/>
              <a:ext cx="2392680" cy="438150"/>
            </a:xfrm>
            <a:custGeom>
              <a:avLst/>
              <a:gdLst/>
              <a:ahLst/>
              <a:cxnLst/>
              <a:rect l="l" t="t" r="r" b="b"/>
              <a:pathLst>
                <a:path w="2392680" h="438150">
                  <a:moveTo>
                    <a:pt x="133350" y="0"/>
                  </a:moveTo>
                  <a:lnTo>
                    <a:pt x="2392680" y="0"/>
                  </a:lnTo>
                  <a:lnTo>
                    <a:pt x="225933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7E8E9"/>
            </a:solidFill>
            <a:ln w="13335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71610" y="2761298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071610" y="4703445"/>
              <a:ext cx="239172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53274" y="1920716"/>
              <a:ext cx="1741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Basic 源程序（.bas）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1005" y="4833461"/>
              <a:ext cx="1966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机器语言（如 Windows）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95938" y="1920716"/>
              <a:ext cx="1218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源程序（.c）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54246" y="2891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汇编语言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51805" y="4833461"/>
              <a:ext cx="1707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机器语言（如 Linux）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5557" y="1920716"/>
              <a:ext cx="1742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源程序（.java）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86611" y="2891314"/>
              <a:ext cx="1400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字节码（.class）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6194" y="3862864"/>
              <a:ext cx="940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虚拟机 JVM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0477" y="4723924"/>
              <a:ext cx="17523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机器语言（Windows、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Solaris、Linux、Mac）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6857" y="1920716"/>
              <a:ext cx="1742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源程序（.java）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67911" y="2891314"/>
              <a:ext cx="1400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字节码（.class）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62577" y="4833461"/>
              <a:ext cx="20107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CPU 直接执行字节码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952625" y="337375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975866" y="34004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解释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733925" y="24031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57166" y="2429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33925" y="385953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757166" y="3886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汇编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515225" y="24031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38466" y="2429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515225" y="3373755"/>
              <a:ext cx="70199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38466" y="3400425"/>
              <a:ext cx="674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解释 / JIT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296525" y="24031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19766" y="2429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296525" y="385953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319766" y="3886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硬件执行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728335"/>
              <a:ext cx="10016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解释型逐句翻译执行；编译型直接生成某一平台的机器码，换平台要重新编译；Java 先编译成与平台无关的字节码，再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由各平台的 JVM 执行。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688150" cy="3351847"/>
            <a:chOff x="667512" y="1835468"/>
            <a:chExt cx="668815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6881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开发环境 与 1.4 编程参考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494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装好 JDK、配好环境变量，再选一个顺手的 IDE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02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 Java 开发工具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39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1.3.1 JDK：工具、安装与环境变量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31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1.3.2 Eclipse：建第一个项目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参考书与在线资源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2909" cy="909257"/>
            <a:chOff x="520446" y="342900"/>
            <a:chExt cx="59929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29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常见开发工具：命令行 JDK 与各种 IDE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7685" y="1524000"/>
            <a:ext cx="11130915" cy="4561999"/>
            <a:chOff x="527685" y="1524000"/>
            <a:chExt cx="11130915" cy="45619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005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0709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出品方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5148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说明与现状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82152"/>
              <a:ext cx="28736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33966" y="2108359"/>
              <a:ext cx="2727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Sun（现 Oracle）、OpenJDK 社区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26708" y="2108359"/>
              <a:ext cx="2789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命令行工具包，各种 IDE 都要用到它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2430780"/>
              <a:ext cx="287369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670334"/>
              <a:ext cx="623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33966" y="2556986"/>
              <a:ext cx="2426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发起，现由 Eclipse 基金会维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6708" y="267033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开源免费，插件丰富，仍在广泛使用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107055"/>
              <a:ext cx="28736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232309"/>
              <a:ext cx="1064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IntelliJ IDEA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33966" y="3232309"/>
              <a:ext cx="833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JetBrains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708" y="3232309"/>
              <a:ext cx="4034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目前最流行的 Java IDE；学生可以申请免费教育许可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680936"/>
              <a:ext cx="82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NetBeans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33966" y="3680936"/>
              <a:ext cx="26644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 开源，现为 Apache NetBeans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6708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开源免费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130516"/>
              <a:ext cx="728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JBuilder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33966" y="4130516"/>
              <a:ext cx="638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Borland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6708" y="4130516"/>
              <a:ext cx="2562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早期流行的商业 IDE，已停止发展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4579144"/>
              <a:ext cx="82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JCreator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3966" y="4579144"/>
              <a:ext cx="1299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Xinox Software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6708" y="4579144"/>
              <a:ext cx="3661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C++ 编写的轻量 IDE，速度快，现在很少使用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887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5027771"/>
              <a:ext cx="1695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 Age for Java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33966" y="5027771"/>
              <a:ext cx="304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6708" y="5027771"/>
              <a:ext cx="359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已被基于 Eclipse 的 WebSphere 开发工具取代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336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3416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5476399"/>
              <a:ext cx="886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 J++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33966" y="5476399"/>
              <a:ext cx="862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Microsoft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26708" y="54763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已停止发布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11125200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42138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14122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5865971"/>
              <a:ext cx="9594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原课件列出 JDK、JBuilder、JCreator、Eclipse、IntelliJ IDEA、Visual Age for Java、NetBeans、Visual J++ 八种，现状一栏为本讲义补充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19675" cy="909257"/>
            <a:chOff x="520446" y="342900"/>
            <a:chExt cx="50196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196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1.3.1 JDK 里有哪些命令行工具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6924675" cy="4085272"/>
            <a:chOff x="533400" y="1524000"/>
            <a:chExt cx="6924675" cy="40852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25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785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1314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3214" y="2085022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编译器：把 .java 编译成 .class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08842" y="2085022"/>
              <a:ext cx="12367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javac Hello.java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3214" y="2515552"/>
              <a:ext cx="2869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JVM 运行程序（课件称“解释器”）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08842" y="2515552"/>
              <a:ext cx="743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 Hello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3214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命令行调试器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08842" y="2946082"/>
              <a:ext cx="654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jdb Hello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482340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3214" y="3375660"/>
              <a:ext cx="27020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反汇编器：查看 .class 中的成员和字节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08842" y="3482340"/>
              <a:ext cx="1059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javap -c Hello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8334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019550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javadoc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93214" y="4019550"/>
              <a:ext cx="29382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文档生成器：由源代码注释生成 API 文档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08842" y="4019550"/>
              <a:ext cx="1956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javadoc -d doc Hello.java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138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1863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449128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93214" y="4449128"/>
              <a:ext cx="290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类文件打包器：把多个 .class 打成 .jar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08842" y="4449128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jar cf app.jar *.class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4345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4879658"/>
              <a:ext cx="444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jshell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93214" y="4879658"/>
              <a:ext cx="2887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交互式执行 Java 代码片段（JDK 9 起）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08842" y="4879658"/>
              <a:ext cx="424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jshell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7398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78742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5310188"/>
              <a:ext cx="1080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appletviewer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93214" y="5310188"/>
              <a:ext cx="1043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Applet 预览器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08842" y="5310188"/>
              <a:ext cx="1097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JDK 11 已删除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924675" cy="4084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983105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098732" y="1524000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7762875" y="1524000"/>
            <a:ext cx="3895725" cy="1293495"/>
            <a:chOff x="7762875" y="1524000"/>
            <a:chExt cx="3895725" cy="1293495"/>
          </a:xfrm>
        </p:grpSpPr>
        <p:sp>
          <p:nvSpPr>
            <p:cNvPr id="50" name="Rectangle 50"/>
            <p:cNvSpPr/>
            <p:nvPr/>
          </p:nvSpPr>
          <p:spPr>
            <a:xfrm>
              <a:off x="7762875" y="1524000"/>
              <a:ext cx="389572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72400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0481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597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06218" y="1767364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7571" y="2119789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Sun（现 Oracle）公司提供的 Java 开发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工具包，可以从官网免费下载。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7762875" y="3002280"/>
            <a:ext cx="3895725" cy="2606040"/>
            <a:chOff x="7762875" y="3002280"/>
            <a:chExt cx="3895725" cy="2606040"/>
          </a:xfrm>
        </p:grpSpPr>
        <p:sp>
          <p:nvSpPr>
            <p:cNvPr id="57" name="Rectangle 57"/>
            <p:cNvSpPr/>
            <p:nvPr/>
          </p:nvSpPr>
          <p:spPr>
            <a:xfrm>
              <a:off x="7762875" y="3002280"/>
              <a:ext cx="3895725" cy="2606040"/>
            </a:xfrm>
            <a:prstGeom prst="roundRect">
              <a:avLst>
                <a:gd name="adj" fmla="val 51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72400" y="3135630"/>
              <a:ext cx="47625" cy="23393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04810" y="3206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95971" y="3241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97571" y="3579971"/>
              <a:ext cx="33237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Applet 预视器 appletviewer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列为 JDK 工具。它在 JDK 9 被标记弃用，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11 起已从 JDK 中删除。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91465" cy="909257"/>
            <a:chOff x="520446" y="342900"/>
            <a:chExt cx="5591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91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下载并安装 JDK（以 JDK 17 为例）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24000"/>
            <a:ext cx="11125200" cy="1672590"/>
            <a:chOff x="533400" y="1524000"/>
            <a:chExt cx="11125200" cy="1672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17582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6750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883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130" y="20631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0273" y="2376011"/>
              <a:ext cx="30365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Oracle 官网的 Java 下载页，或在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adoptium.net 下载 Eclipse Temurin；选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x64 安装包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127182" y="227457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36732" y="1524000"/>
              <a:ext cx="3517582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470082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0216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2462" y="20631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63606" y="2376011"/>
              <a:ext cx="29796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双击 jdk-17_windows-x64_bin.exe，按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向导完成。默认目录形如 C:\Program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Files\Java\jdk-17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931468" y="227457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41018" y="1524000"/>
              <a:ext cx="3517582" cy="1672590"/>
            </a:xfrm>
            <a:prstGeom prst="roundRect">
              <a:avLst>
                <a:gd name="adj" fmla="val 68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274368" y="1657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64501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66748" y="20631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7891" y="2376011"/>
              <a:ext cx="29796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新开一个 cmd 窗口，执行 java -version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javac -version，能看到版本号就说明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安装成功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3387090"/>
            <a:ext cx="11125200" cy="1313498"/>
            <a:chOff x="533400" y="3387090"/>
            <a:chExt cx="11125200" cy="1313498"/>
          </a:xfrm>
        </p:grpSpPr>
        <p:sp>
          <p:nvSpPr>
            <p:cNvPr id="25" name="Rectangle 25"/>
            <p:cNvSpPr/>
            <p:nvPr/>
          </p:nvSpPr>
          <p:spPr>
            <a:xfrm>
              <a:off x="533400" y="3387090"/>
              <a:ext cx="11125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353901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原课件截图中的输出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035" y="3801904"/>
              <a:ext cx="619175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C:\Users\Administrator&gt; java -version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java version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"17.0.6"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2023-01-17 LTS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Java(TM) SE Runtime Environment (build 17.0.6+9-LTS-190)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 HotSpot(TM) 64-Bit Server VM (build 17.0.6+9-LTS-190, mixed mode, sharing)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891088"/>
            <a:ext cx="11125200" cy="1471612"/>
            <a:chOff x="533400" y="4891088"/>
            <a:chExt cx="11125200" cy="1471612"/>
          </a:xfrm>
        </p:grpSpPr>
        <p:sp>
          <p:nvSpPr>
            <p:cNvPr id="29" name="Rectangle 29"/>
            <p:cNvSpPr/>
            <p:nvPr/>
          </p:nvSpPr>
          <p:spPr>
            <a:xfrm>
              <a:off x="533400" y="4891088"/>
              <a:ext cx="11125200" cy="1471612"/>
            </a:xfrm>
            <a:prstGeom prst="roundRect">
              <a:avLst>
                <a:gd name="adj" fmla="val 77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527358"/>
              <a:ext cx="200026" cy="200026"/>
              <a:chOff x="738188" y="552735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273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594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6273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384482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更正：原课件在 JDK 17 安装步骤里给出的目录 jdk1.8.0_162 和 jre1.8.0_162 是 JDK 8 的目录名。JDK 17 安装后目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录名形如 jdk-17，也不会再单独生成 jre 目录。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0223" cy="909257"/>
            <a:chOff x="520446" y="342900"/>
            <a:chExt cx="6760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0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配置环境变量：让命令行找到 javac 和 java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346319" cy="3058002"/>
            <a:chOff x="533400" y="1533525"/>
            <a:chExt cx="5346319" cy="30580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538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314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90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7193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45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打开环境变量窗口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49329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此电脑右键 → 属性 → 高级系统设置 → 环境变量（原课件路径：控制面板 → 系统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和安全 → 系统）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355532"/>
              <a:ext cx="1516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 JAVA_HOME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622709"/>
              <a:ext cx="3998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值为 JDK 的安装目录，如 C:\Program Files\Java\jdk-17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938462"/>
              <a:ext cx="861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 Path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205639"/>
              <a:ext cx="4462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添加一项 %JAVA_HOME%\bin，系统就能找到 javac、java 等工具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521392"/>
              <a:ext cx="1799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CLASSPATH 一般不设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788569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如果设置，值里必须包含表示当前目录的“.”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1043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71499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关闭旧的 cmd，重新打开后执行 javac -version</a:t>
              </a:r>
            </a:p>
          </p:txBody>
        </p:sp>
      </p:grpSp>
      <p:grpSp>
        <p:nvGrpSpPr>
          <p:cNvPr id="32" name="c1-code-2"/>
          <p:cNvGrpSpPr/>
          <p:nvPr/>
        </p:nvGrpSpPr>
        <p:grpSpPr>
          <a:xfrm>
            <a:off x="533400" y="4755832"/>
            <a:ext cx="5842635" cy="1561148"/>
            <a:chOff x="533400" y="4755832"/>
            <a:chExt cx="5842635" cy="1561148"/>
          </a:xfrm>
        </p:grpSpPr>
        <p:sp>
          <p:nvSpPr>
            <p:cNvPr id="29" name="Rectangle 29"/>
            <p:cNvSpPr/>
            <p:nvPr/>
          </p:nvSpPr>
          <p:spPr>
            <a:xfrm>
              <a:off x="533400" y="4755832"/>
              <a:ext cx="584263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797" y="4907756"/>
              <a:ext cx="2581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装了多个 JDK 时，看清真正执行的是哪一个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97" y="5167789"/>
              <a:ext cx="4048633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C:\&gt;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echo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%JAVA_HOME%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C:\Program Files\Java\jdk-17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C:\&gt; where java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C:\Program Files\Common Files\Oracle\Java\javapath\java.exe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C:\Program Files\Java\jdk-17\bin\java.exe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:: where 列出多行时，排在最前面的那个才会被执行</a:t>
              </a:r>
            </a:p>
          </p:txBody>
        </p:sp>
      </p:grpSp>
      <p:grpSp>
        <p:nvGrpSpPr>
          <p:cNvPr id="41" name="c2-kv-1"/>
          <p:cNvGrpSpPr/>
          <p:nvPr/>
        </p:nvGrpSpPr>
        <p:grpSpPr>
          <a:xfrm>
            <a:off x="6673977" y="1545907"/>
            <a:ext cx="4984623" cy="1556576"/>
            <a:chOff x="6673977" y="1545907"/>
            <a:chExt cx="4984623" cy="1556576"/>
          </a:xfrm>
        </p:grpSpPr>
        <p:sp>
          <p:nvSpPr>
            <p:cNvPr id="33" name="TextBox 33"/>
            <p:cNvSpPr txBox="1"/>
            <p:nvPr/>
          </p:nvSpPr>
          <p:spPr>
            <a:xfrm>
              <a:off x="6673977" y="1545907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Path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25562" y="1545907"/>
              <a:ext cx="341699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系统查找可执行程序（javac.exe、java.exe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等）的目录列表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20859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3977" y="2192655"/>
              <a:ext cx="1011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CLASSPATH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25562" y="2192655"/>
              <a:ext cx="3552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查找用户 .class 文件和 .jar 包的路径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24784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73977" y="2585085"/>
              <a:ext cx="1092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JAVA_HOME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25562" y="2585085"/>
              <a:ext cx="339128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安装目录，Maven、Tomcat 等工具靠它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 JDK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680835" y="3219450"/>
            <a:ext cx="4977765" cy="3097530"/>
            <a:chOff x="6680835" y="3219450"/>
            <a:chExt cx="4977765" cy="3097530"/>
          </a:xfrm>
        </p:grpSpPr>
        <p:sp>
          <p:nvSpPr>
            <p:cNvPr id="42" name="Rectangle 42"/>
            <p:cNvSpPr/>
            <p:nvPr/>
          </p:nvSpPr>
          <p:spPr>
            <a:xfrm>
              <a:off x="6680835" y="3219450"/>
              <a:ext cx="4977765" cy="3097530"/>
            </a:xfrm>
            <a:prstGeom prst="roundRect">
              <a:avLst>
                <a:gd name="adj" fmla="val 43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3352800"/>
              <a:ext cx="47625" cy="28308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5625" y="340614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68744" y="343900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为什么有时不配也能用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14198" y="380619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0217" y="3749992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JDK 安装程序会把 C:\Program Files\Common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Files\Oracle\Java\javapath 加进 Path（原课件截图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14198" y="462153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0217" y="4565332"/>
              <a:ext cx="3987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没有设置 CLASSPATH 时，默认从当前目录查找类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9910" y="4861084"/>
              <a:ext cx="4627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设了 CLASSPATH 却漏掉“.”，反而会出现“找不到或无法加载主类”。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1661" cy="909257"/>
            <a:chOff x="520446" y="342900"/>
            <a:chExt cx="6431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1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1.3.2 Eclipse：开源、靠插件扩展的 IDE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586038"/>
            <a:chOff x="533400" y="1524000"/>
            <a:chExt cx="4760595" cy="2586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86038"/>
            </a:xfrm>
            <a:prstGeom prst="roundRect">
              <a:avLst>
                <a:gd name="adj" fmla="val 5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933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7818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050" y="1750695"/>
              <a:ext cx="511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Eclipse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8627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IBM 牵头，围绕它形成了 150 多家软件公司参与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Eclipse 联盟，包括 Borland、Rational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Software、Red Hat、Sybase 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94608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88988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开放源码，任何人都可以免费获取，并在此基础上开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发插件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50615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449955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附带标准插件集，其中包括 Java 开发工具；最初主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要用于 Java 开发，装上插件也可以开发其他语言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285298"/>
            <a:ext cx="4760595" cy="1869758"/>
            <a:chOff x="533400" y="4285298"/>
            <a:chExt cx="4760595" cy="1869758"/>
          </a:xfrm>
        </p:grpSpPr>
        <p:sp>
          <p:nvSpPr>
            <p:cNvPr id="18" name="Rectangle 18"/>
            <p:cNvSpPr/>
            <p:nvPr/>
          </p:nvSpPr>
          <p:spPr>
            <a:xfrm>
              <a:off x="533400" y="4285298"/>
              <a:ext cx="4760595" cy="1869758"/>
            </a:xfrm>
            <a:prstGeom prst="roundRect">
              <a:avLst>
                <a:gd name="adj" fmla="val 7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418648"/>
              <a:ext cx="47625" cy="16030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44777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5345" y="45119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833937"/>
              <a:ext cx="417995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原课件让下载 eclipse-java-juno-win32.zip 并选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32-bit。Juno 是 2012 年的版本，Eclipse 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 年底的 4.10 起不再提供 32 位版本，现在应下载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x86_64 版。</a:t>
              </a:r>
            </a:p>
          </p:txBody>
        </p:sp>
      </p:grpSp>
      <p:grpSp>
        <p:nvGrpSpPr>
          <p:cNvPr id="57" name="c2-steps-1"/>
          <p:cNvGrpSpPr/>
          <p:nvPr/>
        </p:nvGrpSpPr>
        <p:grpSpPr>
          <a:xfrm>
            <a:off x="5598795" y="1533525"/>
            <a:ext cx="6067277" cy="4627722"/>
            <a:chOff x="5598795" y="1533525"/>
            <a:chExt cx="6067277" cy="4627722"/>
          </a:xfrm>
        </p:grpSpPr>
        <p:sp>
          <p:nvSpPr>
            <p:cNvPr id="24" name="Rectangle 24"/>
            <p:cNvSpPr/>
            <p:nvPr/>
          </p:nvSpPr>
          <p:spPr>
            <a:xfrm>
              <a:off x="5732145" y="1676400"/>
              <a:ext cx="19050" cy="41081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598795" y="388143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2419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598795" y="44681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92419" y="4541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598795" y="505491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51287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598795" y="564165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57154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03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180" y="1833086"/>
              <a:ext cx="4314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eclipse.org/downloads，选 Eclipse IDE for Java Developers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037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解压并运行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2180" y="241982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解压后双击 eclipse.exe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037" y="273939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选择工作空间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180" y="3006566"/>
              <a:ext cx="3490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 workspace 目录后单击 Launch（旧版为 OK）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037" y="33261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新建项目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2180" y="3593306"/>
              <a:ext cx="28212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→ New → Java Project，项目名 Test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1037" y="39128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2180" y="4180999"/>
              <a:ext cx="45635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src 上右键 New → Class，类名 HelloWorld，勾选生成 main 方法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11037" y="44996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2180" y="4767739"/>
              <a:ext cx="5653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main 中写输出语句，右键 Run As → Java Application，在 Console 视图查看结果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1037" y="50873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看清目录结构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2180" y="5354479"/>
              <a:ext cx="4052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src 放 .java，bin 放编译出的 .class；保存时自动增量编译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1037" y="56740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记几个快捷键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2180" y="5941219"/>
              <a:ext cx="4073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Ctrl+Space 补全，Ctrl+Shift+O 补 import，F11 调试运行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91429" cy="909257"/>
            <a:chOff x="520446" y="342900"/>
            <a:chExt cx="5191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91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编程参考：参考书与在线资源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032635"/>
            <a:chOff x="533400" y="1524000"/>
            <a:chExt cx="5410200" cy="2032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32635"/>
            </a:xfrm>
            <a:prstGeom prst="roundRect">
              <a:avLst>
                <a:gd name="adj" fmla="val 656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2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34378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0397" y="2072640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Bruce Eckel《Thinking in Java》第 4 版；中译本《Java编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程思想》，陈昊鹏 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34378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0397" y="263271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Ken Arnold、James Gosling、David Holmes《The Java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Programming Language》第 3 版，有中译本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0090" y="3188494"/>
              <a:ext cx="4058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原课件还建议到网上读一读《小议学习 Java 的浮躁心态》。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731895"/>
            <a:ext cx="5410200" cy="2566035"/>
            <a:chOff x="533400" y="3731895"/>
            <a:chExt cx="5410200" cy="2566035"/>
          </a:xfrm>
        </p:grpSpPr>
        <p:sp>
          <p:nvSpPr>
            <p:cNvPr id="16" name="Rectangle 16"/>
            <p:cNvSpPr/>
            <p:nvPr/>
          </p:nvSpPr>
          <p:spPr>
            <a:xfrm>
              <a:off x="533400" y="3731895"/>
              <a:ext cx="5410200" cy="2566035"/>
            </a:xfrm>
            <a:prstGeom prst="roundRect">
              <a:avLst>
                <a:gd name="adj" fmla="val 5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65245"/>
              <a:ext cx="47625" cy="22993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924300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340" y="395859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原课件列出的网站与杂志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3367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280535"/>
              <a:ext cx="45657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 中国技术社区、中国 Java 技术开发网、中国 Java 俱乐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部、Java 中文站、Java 开源大全、百度空间上的 API 文档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515397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5097780"/>
              <a:ext cx="4296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杂志《Java World》《Java Developer's Journal》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8190" y="5396389"/>
              <a:ext cx="4381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这些是十几年前的资源，Sun 中国技术社区和百度空间已经关闭。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071688"/>
            <a:chOff x="6248400" y="1524000"/>
            <a:chExt cx="5410200" cy="207168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8905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2342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现在推荐的官方资源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3497" y="2072640"/>
              <a:ext cx="4479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dev.java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：Oracle 的官方 Java 学习网站，有入门教程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7478" y="243173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3497" y="2375535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docs.oracle.com/en/java/javase/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：各版本的 API 文档和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语言规范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299180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2935605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openjdk.org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：JDK 源码和 JEP（JDK 增强提案），想了解某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个新特性的来龙去脉时查这里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248400" y="3770948"/>
            <a:ext cx="5410200" cy="1623060"/>
            <a:chOff x="6248400" y="3770948"/>
            <a:chExt cx="5410200" cy="1623060"/>
          </a:xfrm>
        </p:grpSpPr>
        <p:sp>
          <p:nvSpPr>
            <p:cNvPr id="37" name="Rectangle 37"/>
            <p:cNvSpPr/>
            <p:nvPr/>
          </p:nvSpPr>
          <p:spPr>
            <a:xfrm>
              <a:off x="6248400" y="3770948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2081" y="38952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想知道的事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57956" y="38952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去哪查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8412" y="430101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类有哪些方法、哪版加的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1078" y="4301014"/>
              <a:ext cx="1613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文档类页面的 Since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5777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5824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4706779"/>
              <a:ext cx="1627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语法和 JVM 行为的规定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21078" y="4706779"/>
              <a:ext cx="224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《Java 语言规范》《JVM 规范》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983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5112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命令参数怎么写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21078" y="511254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--help 或工具文档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770948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516302" y="37709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3"/>
          <p:cNvGrpSpPr/>
          <p:nvPr/>
        </p:nvGrpSpPr>
        <p:grpSpPr>
          <a:xfrm>
            <a:off x="6248400" y="5569268"/>
            <a:ext cx="5410200" cy="729615"/>
            <a:chOff x="6248400" y="5569268"/>
            <a:chExt cx="5410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6248400" y="556926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833112"/>
              <a:ext cx="200023" cy="200023"/>
              <a:chOff x="6453188" y="583311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8331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6538" y="5899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892" y="5715000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查资料优先看与自己 JDK 版本一致的官方文档；博客文章要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留意写作时间和对应的版本。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73230" cy="909257"/>
            <a:chOff x="520446" y="342900"/>
            <a:chExt cx="38732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732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课后思考（原课件 7 题）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17314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简述 Java 的由来。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420779"/>
              <a:ext cx="298107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 年 Sun 的 Green 项目为家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电设计 Oak 语言，后转向互联网；因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商标问题改名 Java，1995 年发布，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 年推出 JDK 1.0。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408872"/>
            <a:chOff x="533400" y="3847148"/>
            <a:chExt cx="3505200" cy="2408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30550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列举 Java 与 C/C++ 的 4 点区别。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743926"/>
              <a:ext cx="293598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例如：无类外全局变量、无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goto、无指针、自动垃圾回收、无头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文件、无结构体和联合、无预处理和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宏（任选 4 点）。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865948"/>
            <a:chOff x="4343400" y="1524000"/>
            <a:chExt cx="3505200" cy="186594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30084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白皮书列出了哪些语言特征？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42077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简单、面向对象、分布式、解释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型、健壮、安全、体系结构中立、可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移植、高性能、多线程、动态。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575685"/>
            <a:ext cx="3505200" cy="2680335"/>
            <a:chOff x="4343400" y="3575685"/>
            <a:chExt cx="3505200" cy="26803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575685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152424"/>
              <a:ext cx="25284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简述 Java 的运行机制。常见的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实现有哪些？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4743926"/>
              <a:ext cx="29269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把源程序编译成字节码，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加载、验证后解释执行，热点代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码由 JIT 编译执行。实现有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HotSpot、OpenJ9、Zing 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729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和 OpenJDK 是什么关系？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420779"/>
              <a:ext cx="284581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OpenJDK 是 Java SE 的开源参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考实现；Oracle JDK、Temurin、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Corretto 等都由它构建，差别主要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在许可和支持。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8584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Windows 上配置 Java 开发环境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要做哪几步？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8188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安装 JDK；设 JAVA_HOME 为安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装目录；在 Path 中加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%JAVA_HOME%\bin；重开 cmd 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-version 验证。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604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846" y="407194"/>
              <a:ext cx="3402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 · 1.3 开发环境 与 1.4 编程参考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自测：动手时最容易出错的地方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9247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 Hello.java 中写了 public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HelloWorld，能编译通过吗？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不能。公共类名必须与文件名一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致；把文件改名为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HelloWorld.java，或去掉 public。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137410"/>
            <a:chOff x="533400" y="3847148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运行的五个阶段依次是什么？哪几个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JVM 完成？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015389"/>
              <a:ext cx="27195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编辑、编译、加载、验证、执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行；后三个由 JVM 完成。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865948"/>
            <a:chOff x="4343400" y="1524000"/>
            <a:chExt cx="3505200" cy="186594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55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编译通过后执行 java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SimpleApp.class，结果如何？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9359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报“找不到或无法加载主类”。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命令后面只写类名 SimpleApp。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575685"/>
            <a:ext cx="3505200" cy="2408872"/>
            <a:chOff x="4343400" y="3575685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575685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152424"/>
              <a:ext cx="27840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一个源文件中最多有几个 package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语句、几个 public 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4743926"/>
              <a:ext cx="29540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各至多 1 个；package 语句必须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是第一条语句。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8890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只想运行别人编译好的 Java 程序，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至少要装 JDK、JRE 还是 JVM？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9179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JRE。它包含 JVM 和核心类库；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单独的 JVM 缺少类库，无法运行程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序。要编译程序才需要 JDK。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137410"/>
            <a:chOff x="8153400" y="3847148"/>
            <a:chExt cx="3505200" cy="213741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6893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为什么说同一个 .class 文件能在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和 Linux 上运行？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字节码与平台无关，两个系统上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各有自己的 JVM，由 JVM 把字节码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转成本机的机器码执行。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363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5528" y="407194"/>
              <a:ext cx="115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第1章 Java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4048126"/>
            <a:chOff x="533400" y="1524000"/>
            <a:chExt cx="6059805" cy="404812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521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112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5690" y="2108359"/>
              <a:ext cx="3873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 公司 1995 年发布，前身是 Oak；现由 Oracle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OpenJDK 社区维护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平台版本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95690" y="2783681"/>
              <a:ext cx="4133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 标准版（本课程）、EE 企业版（现为 Jakarta EE）、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 微型版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跨平台原理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95690" y="3459004"/>
              <a:ext cx="3152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源程序 → javac → 字节码 → 各平台的 JVM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7285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907631"/>
              <a:ext cx="91760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/ JRE /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5690" y="4020979"/>
              <a:ext cx="3639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= JRE + 开发工具；JRE = JVM + 核心类库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43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6972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源文件规则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5690" y="4583906"/>
              <a:ext cx="4166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 至多 1 句且在最前；public 类至多 1 个且与文件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1187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12349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2592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运行五阶段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95690" y="525922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编辑、编译、加载、验证、执行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059805" cy="40481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83105" y="1524000"/>
              <a:ext cx="9525" cy="4048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6898005" y="1524000"/>
            <a:ext cx="4760595" cy="4048125"/>
            <a:chOff x="6898005" y="1524000"/>
            <a:chExt cx="4760595" cy="4048125"/>
          </a:xfrm>
        </p:grpSpPr>
        <p:sp>
          <p:nvSpPr>
            <p:cNvPr id="33" name="Rectangle 33"/>
            <p:cNvSpPr/>
            <p:nvPr/>
          </p:nvSpPr>
          <p:spPr>
            <a:xfrm>
              <a:off x="6898005" y="1524000"/>
              <a:ext cx="4760595" cy="4048125"/>
            </a:xfrm>
            <a:prstGeom prst="roundRect">
              <a:avLst>
                <a:gd name="adj" fmla="val 3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165735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45655" y="173355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93509" y="17692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本讲义对原课件的主要更正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09485" y="211074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版本年份：JDK 1.2 在 1998 年，Java 19 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151370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09485" y="273177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 由 JDK 10 引入；JDK 21 虚拟线程已是正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式功能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51370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09485" y="3352800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1.1 输出应为 this is a simple program!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51370" y="375094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9485" y="3688080"/>
              <a:ext cx="2888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HotSpot 是解释 + JIT 混合执行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51370" y="40862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9485" y="4023360"/>
              <a:ext cx="383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Applet、appletviewer、32 位 Eclipse、SSH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架构均已过时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51370" y="470725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9485" y="4644390"/>
              <a:ext cx="3284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17 安装目录不是 jdk1.8.0_162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10151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动手检验：不用 IDE，只用记事本和 cmd，把例 1.1 编译运行一遍，再故意改错文件名和类名，看看各报什么错。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58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第1章 Java 概述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1">
  <a:themeElements>
    <a:clrScheme name="java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2026-09-23T01:04:22Z</dcterms:created>
  <dcterms:modified xsi:type="dcterms:W3CDTF">2026-09-23T01:04:22Z</dcterms:modified>
  <cp:category/>
  <cp:contentStatus/>
</cp:coreProperties>
</file>