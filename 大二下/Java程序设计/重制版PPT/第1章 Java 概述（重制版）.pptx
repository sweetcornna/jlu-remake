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java_ch1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java_ch1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965729329db3442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5562599de8379c6b.png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04f68b42a69fd8e.png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077968" cy="3437763"/>
            <a:chOff x="666750" y="1619250"/>
            <a:chExt cx="507796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81188" cy="3429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740" y="1718310"/>
              <a:ext cx="16482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Java程序设计 · 第1章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67409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概述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0680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Java 的来历、特征到第一个程序的编译运行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历史、版本与语言特征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447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与 C/C++ 的区别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622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字节码、JVM 与运行机制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60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JDK 安装与开发环境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382814" cy="205359"/>
            <a:chOff x="680466" y="6192202"/>
            <a:chExt cx="438281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3828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自学复习版｜据吉林大学《Java程序设计》第1章课件整理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363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528" y="407194"/>
              <a:ext cx="1151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课程与学习方法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0345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这门课学什么，为什么学 Java，怎样学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135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Java 概述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964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发展历史、平台版本、11 个语言特征、与 C/C++ 比较、API 文档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24706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 程序结构与运行机制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3762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第一个程序、源文件结构、javac 与 java、字节码与 JVM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600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开发环境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144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JDK 的安装与环境变量、Eclipse 等开发工具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600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 编程参考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参考书与在线文档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630930"/>
            <a:chOff x="7114222" y="1524000"/>
            <a:chExt cx="4544378" cy="3630930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630930"/>
            </a:xfrm>
            <a:prstGeom prst="roundRect">
              <a:avLst>
                <a:gd name="adj" fmla="val 367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36423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729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Java 白皮书中的 11 个语言特征，解释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“一次编译，到处运行”的原理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720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 JDK、JRE、JVM，以及 Java SE、EE、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549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javac、java 命令编译并运行一个 Java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Java 程序运行的五个阶段和源文件的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组成规则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29188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列举 Java 与 C/C++ 的主要区别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06622" cy="909257"/>
            <a:chOff x="520446" y="342900"/>
            <a:chExt cx="43066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363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528" y="407194"/>
              <a:ext cx="1151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066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课程地图：11 章内容与教材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table-1"/>
          <p:cNvGrpSpPr/>
          <p:nvPr/>
        </p:nvGrpSpPr>
        <p:grpSpPr>
          <a:xfrm>
            <a:off x="528447" y="1524000"/>
            <a:ext cx="6064758" cy="4664106"/>
            <a:chOff x="528447" y="1524000"/>
            <a:chExt cx="6064758" cy="46641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19048" y="16454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章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6682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67919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讲授学时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00124" y="204549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第1章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64055" y="2045494"/>
              <a:ext cx="24344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语言基础（本章：Java 概述）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3928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00124" y="244554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第2章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64055" y="24455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结构化程序设计基础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93928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00124" y="284559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第3章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876425" y="2733675"/>
              <a:ext cx="3495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964055" y="2845594"/>
              <a:ext cx="9967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类与对象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3928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194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1242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00124" y="324564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第4章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876425" y="3133725"/>
              <a:ext cx="3495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964055" y="3245644"/>
              <a:ext cx="14491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类的继承与多态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39285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5194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00124" y="364569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第5章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64055" y="36456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图形化用户界面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39285" y="36456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9195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39243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000124" y="404574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第6章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964055" y="40457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异常处理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939285" y="40457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3195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00124" y="444579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第7章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964055" y="444579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对象的容纳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939285" y="44457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47196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47244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00124" y="484584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第8章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964055" y="4845844"/>
              <a:ext cx="3772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IO 流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39285" y="48458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1196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00124" y="5245894"/>
              <a:ext cx="4000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第9章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964055" y="52458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并发控制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939285" y="52458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55197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3400" y="55245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5980" y="5645944"/>
              <a:ext cx="748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第10–11章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964055" y="56459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高级程序设计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39285" y="56459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1524000"/>
              <a:ext cx="6059805" cy="44005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862138" y="1524000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375910" y="1524000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8447" y="5997416"/>
              <a:ext cx="25297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总计 56 学时：讲授 32 学时，实验 24 学时</a:t>
              </a:r>
            </a:p>
          </p:txBody>
        </p:sp>
      </p:grpSp>
      <p:grpSp>
        <p:nvGrpSpPr>
          <p:cNvPr id="71" name="c2-card-1"/>
          <p:cNvGrpSpPr/>
          <p:nvPr/>
        </p:nvGrpSpPr>
        <p:grpSpPr>
          <a:xfrm>
            <a:off x="6898005" y="1524000"/>
            <a:ext cx="4760595" cy="1245870"/>
            <a:chOff x="6898005" y="1524000"/>
            <a:chExt cx="4760595" cy="1245870"/>
          </a:xfrm>
        </p:grpSpPr>
        <p:sp>
          <p:nvSpPr>
            <p:cNvPr id="62" name="Rectangle 62"/>
            <p:cNvSpPr/>
            <p:nvPr/>
          </p:nvSpPr>
          <p:spPr>
            <a:xfrm>
              <a:off x="6898005" y="1524000"/>
              <a:ext cx="4760595" cy="1245870"/>
            </a:xfrm>
            <a:prstGeom prst="roundRect">
              <a:avLst>
                <a:gd name="adj" fmla="val 107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907530" y="1657350"/>
              <a:ext cx="47625" cy="97917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122795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214514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教材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88389" y="1745932"/>
              <a:ext cx="15298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《Java程序设计》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131367" y="212788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287387" y="2071688"/>
              <a:ext cx="18674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机械工业出版社，2016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7131367" y="242792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287387" y="2371725"/>
              <a:ext cx="22411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ISBN 978-7-111-54190-5</a:t>
              </a:r>
            </a:p>
          </p:txBody>
        </p:sp>
      </p:grpSp>
      <p:grpSp>
        <p:nvGrpSpPr>
          <p:cNvPr id="80" name="c2-card-2"/>
          <p:cNvGrpSpPr/>
          <p:nvPr/>
        </p:nvGrpSpPr>
        <p:grpSpPr>
          <a:xfrm>
            <a:off x="6898005" y="2939415"/>
            <a:ext cx="4760595" cy="1206818"/>
            <a:chOff x="6898005" y="2939415"/>
            <a:chExt cx="4760595" cy="1206818"/>
          </a:xfrm>
        </p:grpSpPr>
        <p:sp>
          <p:nvSpPr>
            <p:cNvPr id="72" name="Rectangle 72"/>
            <p:cNvSpPr/>
            <p:nvPr/>
          </p:nvSpPr>
          <p:spPr>
            <a:xfrm>
              <a:off x="6898005" y="2939415"/>
              <a:ext cx="4760595" cy="1206818"/>
            </a:xfrm>
            <a:prstGeom prst="roundRect">
              <a:avLst>
                <a:gd name="adj" fmla="val 11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907530" y="3072765"/>
              <a:ext cx="47625" cy="94011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7122795" y="3126105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211416" y="315896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参考书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813167" y="3161348"/>
              <a:ext cx="2900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Bruce Eckel《Thinking in Java》</a:t>
              </a:r>
            </a:p>
          </p:txBody>
        </p:sp>
        <p:sp>
          <p:nvSpPr>
            <p:cNvPr id="77" name="Ellipse 77"/>
            <p:cNvSpPr/>
            <p:nvPr/>
          </p:nvSpPr>
          <p:spPr>
            <a:xfrm>
              <a:off x="7131367" y="354330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287387" y="3487102"/>
              <a:ext cx="20548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中译本《Java编程思想》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7117080" y="3783806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更多参考书和在线资源见 1.4 节。</a:t>
              </a:r>
            </a:p>
          </p:txBody>
        </p:sp>
      </p:grpSp>
      <p:grpSp>
        <p:nvGrpSpPr>
          <p:cNvPr id="86" name="c2-callout-3"/>
          <p:cNvGrpSpPr/>
          <p:nvPr/>
        </p:nvGrpSpPr>
        <p:grpSpPr>
          <a:xfrm>
            <a:off x="6898005" y="4315778"/>
            <a:ext cx="4760595" cy="1834515"/>
            <a:chOff x="6898005" y="4315778"/>
            <a:chExt cx="4760595" cy="1834515"/>
          </a:xfrm>
        </p:grpSpPr>
        <p:sp>
          <p:nvSpPr>
            <p:cNvPr id="81" name="Rectangle 81"/>
            <p:cNvSpPr/>
            <p:nvPr/>
          </p:nvSpPr>
          <p:spPr>
            <a:xfrm>
              <a:off x="6898005" y="4315778"/>
              <a:ext cx="4760595" cy="1834515"/>
            </a:xfrm>
            <a:prstGeom prst="roundRect">
              <a:avLst>
                <a:gd name="adj" fmla="val 6231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84" name="Group 84"/>
            <p:cNvGrpSpPr/>
            <p:nvPr/>
          </p:nvGrpSpPr>
          <p:grpSpPr>
            <a:xfrm>
              <a:off x="7102793" y="5133025"/>
              <a:ext cx="200023" cy="200023"/>
              <a:chOff x="7102793" y="5133025"/>
              <a:chExt cx="200023" cy="200023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102793" y="513302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236143" y="51996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5" name="TextBox 85"/>
            <p:cNvSpPr txBox="1"/>
            <p:nvPr/>
          </p:nvSpPr>
          <p:spPr>
            <a:xfrm>
              <a:off x="7405497" y="5014912"/>
              <a:ext cx="38541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第3、4 章（类与对象、继承与多态）学时最多，是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面向对象编程的主体。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62111" cy="909257"/>
            <a:chOff x="520446" y="342900"/>
            <a:chExt cx="74621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363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528" y="407194"/>
              <a:ext cx="1151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621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为什么学 Java：长期排在语言榜前列，应用面广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2" name="c1-table-1"/>
          <p:cNvGrpSpPr/>
          <p:nvPr/>
        </p:nvGrpSpPr>
        <p:grpSpPr>
          <a:xfrm>
            <a:off x="527685" y="1524000"/>
            <a:ext cx="4983480" cy="4535328"/>
            <a:chOff x="527685" y="1524000"/>
            <a:chExt cx="4983480" cy="45353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32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排名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0728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065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65825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19490" y="2108359"/>
              <a:ext cx="586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87290" y="2108359"/>
              <a:ext cx="616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15.16%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165825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19490" y="2556986"/>
              <a:ext cx="113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87290" y="2556986"/>
              <a:ext cx="616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10.97%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6607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65825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19490" y="3005614"/>
              <a:ext cx="313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87290" y="3005614"/>
              <a:ext cx="616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10.53%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3147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19462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65825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921192" y="3328988"/>
              <a:ext cx="192976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019490" y="3454241"/>
              <a:ext cx="3974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870008" y="3328988"/>
              <a:ext cx="163163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882063" y="3454241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8.88%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7633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65825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19490" y="3903821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C#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882063" y="3903821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7.53%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21195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216718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165825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019490" y="4352449"/>
              <a:ext cx="9278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JavaScript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882063" y="4352449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3.17%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6605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165825" y="480107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019490" y="4801076"/>
              <a:ext cx="3497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SQL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82063" y="4801076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1.82%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511016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33400" y="511492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165825" y="524970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019490" y="5249704"/>
              <a:ext cx="2078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882063" y="5249704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1.73%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1524000"/>
              <a:ext cx="4977765" cy="40395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906905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3855720" y="1524000"/>
              <a:ext cx="9525" cy="40395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27685" y="5639276"/>
              <a:ext cx="469823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TIOBE 指数 2024 年 2 月（原课件截图）。指数按搜索引擎热度统计，只反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映流行程度，不代表语言好坏。</a:t>
              </a:r>
            </a:p>
          </p:txBody>
        </p:sp>
      </p:grpSp>
      <p:grpSp>
        <p:nvGrpSpPr>
          <p:cNvPr id="64" name="c2-card-1"/>
          <p:cNvGrpSpPr/>
          <p:nvPr/>
        </p:nvGrpSpPr>
        <p:grpSpPr>
          <a:xfrm>
            <a:off x="5815965" y="1524000"/>
            <a:ext cx="5842635" cy="2322195"/>
            <a:chOff x="5815965" y="1524000"/>
            <a:chExt cx="5842635" cy="2322195"/>
          </a:xfrm>
        </p:grpSpPr>
        <p:sp>
          <p:nvSpPr>
            <p:cNvPr id="53" name="Rectangle 53"/>
            <p:cNvSpPr/>
            <p:nvPr/>
          </p:nvSpPr>
          <p:spPr>
            <a:xfrm>
              <a:off x="5815965" y="1524000"/>
              <a:ext cx="5842635" cy="2322195"/>
            </a:xfrm>
            <a:prstGeom prst="roundRect">
              <a:avLst>
                <a:gd name="adj" fmla="val 5742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025515" y="1733550"/>
              <a:ext cx="1151572" cy="25717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092869" y="1769269"/>
              <a:ext cx="1015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用在哪里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031230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89345" y="2110740"/>
              <a:ext cx="34845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企业后端与 Web 服务，如 Spring 生态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031230" y="25088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189345" y="2446020"/>
              <a:ext cx="1616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Android 应用开发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031230" y="28441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189345" y="2781300"/>
              <a:ext cx="5015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大数据组件：Hadoop、Kafka、Flink、Elasticsearch 等都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运行在 JVM 上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031230" y="346519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189345" y="3402330"/>
              <a:ext cx="49280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开发工具本身：IntelliJ IDEA、Eclipse 都是 Java 写的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5815965" y="4036695"/>
            <a:ext cx="5842635" cy="1978342"/>
            <a:chOff x="5815965" y="4036695"/>
            <a:chExt cx="5842635" cy="1978342"/>
          </a:xfrm>
        </p:grpSpPr>
        <p:sp>
          <p:nvSpPr>
            <p:cNvPr id="65" name="Rectangle 65"/>
            <p:cNvSpPr/>
            <p:nvPr/>
          </p:nvSpPr>
          <p:spPr>
            <a:xfrm>
              <a:off x="5815965" y="4036695"/>
              <a:ext cx="5842635" cy="1978342"/>
            </a:xfrm>
            <a:prstGeom prst="roundRect">
              <a:avLst>
                <a:gd name="adj" fmla="val 67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5825490" y="4170045"/>
              <a:ext cx="47625" cy="17116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063615" y="42462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153823" y="4281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055995" y="4623435"/>
              <a:ext cx="51206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原课件引用“Java 工程师需求占全部软件人才需求的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60%~70%”“Java 运行在 7.08 亿手机、10 亿智能卡上”等数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字，出自 2000 年代的宣传资料，已不能反映现状，本讲义不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再采用。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77789" cy="909257"/>
            <a:chOff x="520446" y="342900"/>
            <a:chExt cx="787778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363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528" y="407194"/>
              <a:ext cx="1151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7778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怎样学好 Java：先打牢 Java SE，再走向应用方向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flow-1"/>
          <p:cNvGrpSpPr/>
          <p:nvPr/>
        </p:nvGrpSpPr>
        <p:grpSpPr>
          <a:xfrm>
            <a:off x="666750" y="1707832"/>
            <a:ext cx="5359717" cy="2950845"/>
            <a:chOff x="666750" y="1707832"/>
            <a:chExt cx="5359717" cy="2950845"/>
          </a:xfrm>
        </p:grpSpPr>
        <p:sp>
          <p:nvSpPr>
            <p:cNvPr id="7" name="Freeform 7"/>
            <p:cNvSpPr/>
            <p:nvPr/>
          </p:nvSpPr>
          <p:spPr>
            <a:xfrm>
              <a:off x="3347085" y="2145982"/>
              <a:ext cx="9525" cy="262890"/>
            </a:xfrm>
            <a:custGeom>
              <a:avLst/>
              <a:gdLst/>
              <a:ahLst/>
              <a:cxnLst/>
              <a:rect l="l" t="t" r="r" b="b"/>
              <a:pathLst>
                <a:path w="9525" h="262890">
                  <a:moveTo>
                    <a:pt x="0" y="0"/>
                  </a:moveTo>
                  <a:lnTo>
                    <a:pt x="0" y="2628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294698" y="24088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347085" y="2951798"/>
              <a:ext cx="9525" cy="166688"/>
            </a:xfrm>
            <a:custGeom>
              <a:avLst/>
              <a:gdLst/>
              <a:ahLst/>
              <a:cxnLst/>
              <a:rect l="l" t="t" r="r" b="b"/>
              <a:pathLst>
                <a:path w="9525" h="166688">
                  <a:moveTo>
                    <a:pt x="0" y="0"/>
                  </a:moveTo>
                  <a:lnTo>
                    <a:pt x="0" y="1666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94698" y="31184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71612" y="3852862"/>
              <a:ext cx="1875472" cy="87630"/>
            </a:xfrm>
            <a:custGeom>
              <a:avLst/>
              <a:gdLst/>
              <a:ahLst/>
              <a:cxnLst/>
              <a:rect l="l" t="t" r="r" b="b"/>
              <a:pathLst>
                <a:path w="1875472" h="87630">
                  <a:moveTo>
                    <a:pt x="1875472" y="0"/>
                  </a:moveTo>
                  <a:lnTo>
                    <a:pt x="1875472" y="87630"/>
                  </a:lnTo>
                  <a:lnTo>
                    <a:pt x="0" y="87630"/>
                  </a:lnTo>
                  <a:lnTo>
                    <a:pt x="0" y="714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419225" y="39243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347085" y="3852862"/>
              <a:ext cx="1875472" cy="166688"/>
            </a:xfrm>
            <a:custGeom>
              <a:avLst/>
              <a:gdLst/>
              <a:ahLst/>
              <a:cxnLst/>
              <a:rect l="l" t="t" r="r" b="b"/>
              <a:pathLst>
                <a:path w="1875472" h="166688">
                  <a:moveTo>
                    <a:pt x="0" y="0"/>
                  </a:moveTo>
                  <a:lnTo>
                    <a:pt x="0" y="136208"/>
                  </a:lnTo>
                  <a:lnTo>
                    <a:pt x="1875472" y="136208"/>
                  </a:lnTo>
                  <a:lnTo>
                    <a:pt x="1875472" y="1666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170170" y="40195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2542222" y="1707832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2542222" y="2513648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542222" y="3223260"/>
              <a:ext cx="1608772" cy="629602"/>
            </a:xfrm>
            <a:prstGeom prst="roundRect">
              <a:avLst>
                <a:gd name="adj" fmla="val 1512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66750" y="2513648"/>
              <a:ext cx="16087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17695" y="2513648"/>
              <a:ext cx="16087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66750" y="4029075"/>
              <a:ext cx="16087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17695" y="412432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542222" y="4124325"/>
              <a:ext cx="160877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773599" y="1837849"/>
              <a:ext cx="11469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C（面向过程）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990779" y="2643664"/>
              <a:ext cx="7126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C++ 语言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36672" y="3339941"/>
              <a:ext cx="102082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Java（面向对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2038" y="264366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数据结构与算法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57610" y="264366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4304" y="4145756"/>
              <a:ext cx="113461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Android 移动开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82721" y="4254341"/>
              <a:ext cx="10796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 企业应用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737510" y="425434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软件工程与架构</a:t>
              </a:r>
            </a:p>
          </p:txBody>
        </p:sp>
      </p:grpSp>
      <p:grpSp>
        <p:nvGrpSpPr>
          <p:cNvPr id="33" name="c1-text-2"/>
          <p:cNvGrpSpPr/>
          <p:nvPr/>
        </p:nvGrpSpPr>
        <p:grpSpPr>
          <a:xfrm>
            <a:off x="690880" y="4958239"/>
            <a:ext cx="5312410" cy="500824"/>
            <a:chOff x="690880" y="4958239"/>
            <a:chExt cx="5312410" cy="500824"/>
          </a:xfrm>
        </p:grpSpPr>
        <p:sp>
          <p:nvSpPr>
            <p:cNvPr id="32" name="TextBox 32"/>
            <p:cNvSpPr txBox="1"/>
            <p:nvPr/>
          </p:nvSpPr>
          <p:spPr>
            <a:xfrm>
              <a:off x="690880" y="4958239"/>
              <a:ext cx="531241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原课件中的课程体系图：Java 承接 C/C++，向下连着 Android、Web 等项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目方向</a:t>
              </a:r>
            </a:p>
          </p:txBody>
        </p:sp>
      </p:grpSp>
      <p:grpSp>
        <p:nvGrpSpPr>
          <p:cNvPr id="50" name="c2-bullets-1"/>
          <p:cNvGrpSpPr/>
          <p:nvPr/>
        </p:nvGrpSpPr>
        <p:grpSpPr>
          <a:xfrm>
            <a:off x="6464618" y="1548765"/>
            <a:ext cx="4211383" cy="2707005"/>
            <a:chOff x="6464618" y="1548765"/>
            <a:chExt cx="4211383" cy="2707005"/>
          </a:xfrm>
        </p:grpSpPr>
        <p:sp>
          <p:nvSpPr>
            <p:cNvPr id="34" name="Freeform 34"/>
            <p:cNvSpPr/>
            <p:nvPr/>
          </p:nvSpPr>
          <p:spPr>
            <a:xfrm>
              <a:off x="6464618" y="1580198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715125" y="15487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明确学习目标和大的方向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464618" y="192500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15125" y="18935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初学不必看太多书，先系统学好基础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464618" y="2269808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15125" y="2238375"/>
              <a:ext cx="39608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与学过的 C/C++ 对比，找出不同之处和特点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464618" y="261461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5125" y="258318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学一些设计模式，把握项目的整体结构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464618" y="295941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5125" y="29279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理解语法规则，不要死记硬背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464618" y="330422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5125" y="327279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遇到问题不急躁，先自己尝试解决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464618" y="3649028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15125" y="361759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多实践、多思考、多请教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6464618" y="399383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15125" y="396240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多查阅资料，多读别人的源代码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51" name="Rectangle 51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728335"/>
              <a:ext cx="10035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有没有 C 语言基础影响不大，关键在多写代码。技术更新很快（原课件举了 ChatGPT 的例子），会查文档、会自学比记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住某个版本的细节更有用。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365927" cy="3351847"/>
            <a:chOff x="667512" y="1835468"/>
            <a:chExt cx="436592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30232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Java 概述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3560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从哪来、有哪些版本、凭什么能跨平台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9129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1.1.1–1.1.3 语言、历史与版本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446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1.1.4 十一个语言特征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4537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1.1.5–1.1.6 Applet、与 C/C++ 比较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6749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1.1.7 类库与 API 文档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508187" cy="909257"/>
            <a:chOff x="520446" y="342900"/>
            <a:chExt cx="95081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5081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程序设计语言的演进：机器语言 → 汇编 → 高级语言 → 面向对象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396054" cy="308039"/>
            <a:chOff x="525399" y="1550194"/>
            <a:chExt cx="939605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39605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人要让计算机做事，也要先解决“语言”问题。程序设计语言是为了向计算机准确描述问题而设计的。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1967865"/>
            <a:ext cx="11125200" cy="2697480"/>
            <a:chOff x="533400" y="1967865"/>
            <a:chExt cx="11125200" cy="269748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11125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0044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30570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664002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例子与年代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5512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机器语言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532888" y="2551271"/>
              <a:ext cx="47408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二进制指令，CPU 直接执行；难写难读，换一种 CPU 就要重写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51748" y="2551271"/>
              <a:ext cx="21668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1940 年代的早期电子计算机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0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8651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30008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汇编语言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32888" y="3000851"/>
              <a:ext cx="53650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用助记符代替二进制指令，经汇编程序翻译成机器码；仍依赖具体 CPU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651748" y="3000851"/>
              <a:ext cx="16027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MOV、ADD 等助记符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0898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1223" y="356282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高级语言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32888" y="3449479"/>
              <a:ext cx="5377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接近自然语言和数学表达，经编译或解释后执行；结构化语言强调顺序、分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支、循环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651748" y="3449479"/>
              <a:ext cx="25082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1954 年起的 FORTRAN；1970 年的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Pascal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9843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989070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3998595"/>
              <a:ext cx="1872615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23814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面向对象语言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532888" y="423814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用类和对象组织程序，更贴近人对现实事物的思考方式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651748" y="4124801"/>
              <a:ext cx="237820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1980 年代起：Smalltalk、C++；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 年的 Java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1967865"/>
              <a:ext cx="11125200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420302" y="196786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539162" y="196786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9634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是面向对象的程序设计语言。本课程后面的类、继承、多态、接口，都是在学“怎样用对象组织程序”。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89771" cy="909257"/>
            <a:chOff x="520446" y="342900"/>
            <a:chExt cx="77897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897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1.1.1 Java：Sun 公司 1995 年推出的跨平台语言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6059805" cy="2005965"/>
            <a:chOff x="533400" y="1524000"/>
            <a:chExt cx="6059805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9566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语言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5273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是 Sun Microsystems 公司于 1995 年推出的高级编程语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言，语法与 C++ 相似，和 Internet 一起发展起来。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最大特点：同一个程序可以在不同的平台环境上运行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86100"/>
              <a:ext cx="5521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口号：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Write once, run anywhere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（一次编写，到处运行）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720465"/>
            <a:ext cx="6059805" cy="1947862"/>
            <a:chOff x="533400" y="3720465"/>
            <a:chExt cx="6059805" cy="1947862"/>
          </a:xfrm>
        </p:grpSpPr>
        <p:sp>
          <p:nvSpPr>
            <p:cNvPr id="18" name="Rectangle 18"/>
            <p:cNvSpPr/>
            <p:nvPr/>
          </p:nvSpPr>
          <p:spPr>
            <a:xfrm>
              <a:off x="533400" y="3720465"/>
              <a:ext cx="6059805" cy="1947862"/>
            </a:xfrm>
            <a:prstGeom prst="roundRect">
              <a:avLst>
                <a:gd name="adj" fmla="val 68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853815"/>
              <a:ext cx="47625" cy="1681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393001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5655" y="396573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原课件引用的评价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437007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4307205"/>
              <a:ext cx="3266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被称为“二十世纪十大科技成果之一”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470535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4642485"/>
              <a:ext cx="5130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Bill Gates 评价：“Java 是长时间以来最为卓越的程序设计语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言”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74573" y="5260181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这两条是中文教材中流传的说法，原课件没有给出出处，了解即可。</a:t>
              </a:r>
            </a:p>
          </p:txBody>
        </p:sp>
      </p:grpSp>
      <p:grpSp>
        <p:nvGrpSpPr>
          <p:cNvPr id="39" name="c2-kv-1"/>
          <p:cNvGrpSpPr/>
          <p:nvPr/>
        </p:nvGrpSpPr>
        <p:grpSpPr>
          <a:xfrm>
            <a:off x="6890385" y="1548765"/>
            <a:ext cx="4768215" cy="3023235"/>
            <a:chOff x="6890385" y="1548765"/>
            <a:chExt cx="4768215" cy="3023235"/>
          </a:xfrm>
        </p:grpSpPr>
        <p:sp>
          <p:nvSpPr>
            <p:cNvPr id="28" name="TextBox 28"/>
            <p:cNvSpPr txBox="1"/>
            <p:nvPr/>
          </p:nvSpPr>
          <p:spPr>
            <a:xfrm>
              <a:off x="6890385" y="1548765"/>
              <a:ext cx="8403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Sun 公司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18183" y="1548765"/>
              <a:ext cx="297751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的发明者，2010 年被 Oracle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（甲骨文）收购，此后 Java 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和 OpenJDK 社区维护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898005" y="243268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90385" y="2552700"/>
              <a:ext cx="685324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James</a:t>
              </a:r>
              <a:br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Gosling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18183" y="2552700"/>
              <a:ext cx="27965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被称为“Java 之父”，领导设计了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的前身 Oak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898005" y="315468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0385" y="327469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名字来历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18183" y="3274695"/>
              <a:ext cx="31013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印度尼西亚的爪哇岛（Java）盛产咖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啡，Java 的标志是一杯热咖啡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898005" y="387667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90385" y="3996690"/>
              <a:ext cx="95666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 平台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18183" y="399669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除了语言本身，还包括虚拟机、类库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和大量工具，是一整套技术体系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088097" cy="909257"/>
            <a:chOff x="520446" y="342900"/>
            <a:chExt cx="80880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0880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1.1.2 从 Oak 到 Java：一个家电项目转向了互联网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6007735" cy="2889409"/>
            <a:chOff x="533400" y="1533525"/>
            <a:chExt cx="6007735" cy="288940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3707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530792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6046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2136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9518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90429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9781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1564957"/>
              <a:ext cx="25787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1990–1992 Green 项目与 Oak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1833086"/>
              <a:ext cx="5594350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 成立 Green 小组（James Gosling 等人），为智能消费电子产品开发软件。家电芯片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种类多、资源少，当时流行的 C++ 过于庞大，小组去掉它不实用、不安全的成分，改良出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Oak 语言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562225"/>
              <a:ext cx="1924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1993–1994 转向万维网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2830354"/>
              <a:ext cx="55659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争取电视机顶盒控制器项目失利，Green 小组解散。受 Mosaic 浏览器启发，团队把 Oak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用于网页，开发出 WebRunner，为网页增加“动态内容”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3352800"/>
              <a:ext cx="1217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 正式发布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3619976"/>
              <a:ext cx="55795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Oak 商标已被注册，改名 Java。5 月 23 日 Sun 正式发布 Java 和 HotJava 浏览器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3935730"/>
              <a:ext cx="1243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 JDK 1.0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4202906"/>
              <a:ext cx="27011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第一个正式版本的 Java 开发工具包发布</a:t>
              </a:r>
            </a:p>
          </p:txBody>
        </p:sp>
      </p:grpSp>
      <p:grpSp>
        <p:nvGrpSpPr>
          <p:cNvPr id="44" name="c1-table-2"/>
          <p:cNvGrpSpPr/>
          <p:nvPr/>
        </p:nvGrpSpPr>
        <p:grpSpPr>
          <a:xfrm>
            <a:off x="533400" y="4587240"/>
            <a:ext cx="6276022" cy="1600200"/>
            <a:chOff x="533400" y="4587240"/>
            <a:chExt cx="6276022" cy="1600200"/>
          </a:xfrm>
        </p:grpSpPr>
        <p:sp>
          <p:nvSpPr>
            <p:cNvPr id="25" name="Rectangle 25"/>
            <p:cNvSpPr/>
            <p:nvPr/>
          </p:nvSpPr>
          <p:spPr>
            <a:xfrm>
              <a:off x="533400" y="4587240"/>
              <a:ext cx="6276022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67473" y="47086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94253" y="47086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66791" y="47086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后来怎样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0555" y="5108734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Green 项目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11680" y="510873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为智能家电成立的研发小组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34890" y="510873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1993 年解散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38257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5387340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5508784"/>
              <a:ext cx="309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Oak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11680" y="5508784"/>
              <a:ext cx="1726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小组改良 C++ 得到的语言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34890" y="5508784"/>
              <a:ext cx="122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 年改名 Java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78262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555" y="5908834"/>
              <a:ext cx="8369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WebRunner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011680" y="590883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小组写的万维网浏览器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834890" y="5908834"/>
              <a:ext cx="14765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1995 年改名 HotJava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587240"/>
              <a:ext cx="6276022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909762" y="458724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732972" y="458724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rd-1"/>
          <p:cNvGrpSpPr/>
          <p:nvPr/>
        </p:nvGrpSpPr>
        <p:grpSpPr>
          <a:xfrm>
            <a:off x="7114222" y="1524000"/>
            <a:ext cx="4544378" cy="2004060"/>
            <a:chOff x="7114222" y="1524000"/>
            <a:chExt cx="4544378" cy="2004060"/>
          </a:xfrm>
        </p:grpSpPr>
        <p:sp>
          <p:nvSpPr>
            <p:cNvPr id="45" name="Rectangle 45"/>
            <p:cNvSpPr/>
            <p:nvPr/>
          </p:nvSpPr>
          <p:spPr>
            <a:xfrm>
              <a:off x="7114222" y="1524000"/>
              <a:ext cx="4544378" cy="2004060"/>
            </a:xfrm>
            <a:prstGeom prst="roundRect">
              <a:avLst>
                <a:gd name="adj" fmla="val 66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23748" y="1657350"/>
              <a:ext cx="47625" cy="173736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339012" y="1710690"/>
              <a:ext cx="152495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96408" y="1743551"/>
              <a:ext cx="14111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 Oak 适合互联网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347585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503604" y="2054542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为家电设计时就要求：简单、可移植、在各种芯片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上都能运行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347585" y="266890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503604" y="2612708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互联网上的计算机同样五花八门，网页里的程序也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要跨平台、要安全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333298" y="3165634"/>
              <a:ext cx="35579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Sun 当时让用户免费使用 Java，以此快速占领市场。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7114222" y="3698558"/>
            <a:ext cx="4544378" cy="2488882"/>
            <a:chOff x="7114222" y="3698558"/>
            <a:chExt cx="4544378" cy="2488882"/>
          </a:xfrm>
        </p:grpSpPr>
        <p:sp>
          <p:nvSpPr>
            <p:cNvPr id="55" name="Rectangle 55"/>
            <p:cNvSpPr/>
            <p:nvPr/>
          </p:nvSpPr>
          <p:spPr>
            <a:xfrm>
              <a:off x="7114222" y="3698558"/>
              <a:ext cx="4544378" cy="2488882"/>
            </a:xfrm>
            <a:prstGeom prst="roundRect">
              <a:avLst>
                <a:gd name="adj" fmla="val 53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123748" y="3831908"/>
              <a:ext cx="47625" cy="22221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339012" y="38852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430732" y="39181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32154" y="4229100"/>
              <a:ext cx="369131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原课件写“1995，Java 正式发布（HotJava 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身）”。HotJava 的前身是 WebRunner 浏览器，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与 HotJava 在 1995 年同时发布。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74683" cy="909257"/>
            <a:chOff x="520446" y="342900"/>
            <a:chExt cx="67746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746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版本演进：从 JDK 1.0 到每半年一个新版本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7" name="c1-table-1"/>
          <p:cNvGrpSpPr/>
          <p:nvPr/>
        </p:nvGrpSpPr>
        <p:grpSpPr>
          <a:xfrm>
            <a:off x="533400" y="1524000"/>
            <a:ext cx="6708458" cy="4800600"/>
            <a:chOff x="533400" y="1524000"/>
            <a:chExt cx="6708458" cy="4800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8177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2384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发布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7273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613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1.0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40280" y="20454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313748" y="20454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第一个正式版本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705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J2SE 1.2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40280" y="244554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1998.12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313748" y="2445544"/>
              <a:ext cx="28362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改称 Java 2 平台，加入 Swing、集合框架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45594"/>
              <a:ext cx="705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J2SE 5.0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240280" y="28455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313748" y="2845594"/>
              <a:ext cx="2717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泛型、增强 for、自动装箱、枚举、注解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194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242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245644"/>
              <a:ext cx="7358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6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40280" y="32456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13748" y="3245644"/>
              <a:ext cx="10140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名称中去掉“2”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194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3645694"/>
              <a:ext cx="7358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40280" y="36456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13748" y="3645694"/>
              <a:ext cx="32938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完成收购 Sun（2010）后的第一个大版本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195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243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3933825"/>
              <a:ext cx="1590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4045744"/>
              <a:ext cx="1313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8（LTS）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40280" y="40457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313748" y="4045744"/>
              <a:ext cx="1996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Lambda 表达式、Stream API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3195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0555" y="4445794"/>
              <a:ext cx="10607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9、10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240280" y="4445794"/>
              <a:ext cx="825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2017、2018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313748" y="4445794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模块系统；从 10 开始每 6 个月发布一版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7196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47244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42925" y="4733925"/>
              <a:ext cx="1590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0555" y="4845844"/>
              <a:ext cx="1402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11（LTS）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240280" y="48458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313748" y="4845844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新节奏下的第一个长期支持版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51196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42925" y="5133975"/>
              <a:ext cx="1590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0555" y="5245894"/>
              <a:ext cx="1402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17（LTS）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240280" y="52458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313748" y="52458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密封类等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551973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33400" y="5524500"/>
              <a:ext cx="670845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42925" y="5534025"/>
              <a:ext cx="1590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0555" y="5645944"/>
              <a:ext cx="1402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21（LTS）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240280" y="564594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313748" y="56459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虚拟线程等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3400" y="59197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42925" y="5934075"/>
              <a:ext cx="159067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30555" y="6045994"/>
              <a:ext cx="14029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25（LTS）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2240280" y="60459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3313748" y="6045994"/>
              <a:ext cx="18810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 之后的下一个长期支持版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3400" y="1524000"/>
              <a:ext cx="6708458" cy="48006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2138362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321183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c2-card-1"/>
          <p:cNvGrpSpPr/>
          <p:nvPr/>
        </p:nvGrpSpPr>
        <p:grpSpPr>
          <a:xfrm>
            <a:off x="7546658" y="1524000"/>
            <a:ext cx="4111942" cy="2000250"/>
            <a:chOff x="7546658" y="1524000"/>
            <a:chExt cx="4111942" cy="2000250"/>
          </a:xfrm>
        </p:grpSpPr>
        <p:sp>
          <p:nvSpPr>
            <p:cNvPr id="68" name="Rectangle 68"/>
            <p:cNvSpPr/>
            <p:nvPr/>
          </p:nvSpPr>
          <p:spPr>
            <a:xfrm>
              <a:off x="7546658" y="1524000"/>
              <a:ext cx="4111942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7556182" y="1657350"/>
              <a:ext cx="47625" cy="17335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771448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864119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7780020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36039" y="2054542"/>
              <a:ext cx="31855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原课件写“1999，Java 1.2（Java 2）”。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1.2 实际在 1998 年 12 月发布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7780020" y="266890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936039" y="2612708"/>
              <a:ext cx="334841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Java 19、Java 20 都写在 2023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年。Java 19 发布于 2022 年 9 月，Java 20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发布于 2023 年 3 月</a:t>
              </a:r>
            </a:p>
          </p:txBody>
        </p:sp>
      </p:grpSp>
      <p:grpSp>
        <p:nvGrpSpPr>
          <p:cNvPr id="81" name="c2-card-2"/>
          <p:cNvGrpSpPr/>
          <p:nvPr/>
        </p:nvGrpSpPr>
        <p:grpSpPr>
          <a:xfrm>
            <a:off x="7546658" y="3693795"/>
            <a:ext cx="4111942" cy="2630805"/>
            <a:chOff x="7546658" y="3693795"/>
            <a:chExt cx="4111942" cy="2630805"/>
          </a:xfrm>
        </p:grpSpPr>
        <p:sp>
          <p:nvSpPr>
            <p:cNvPr id="77" name="Rectangle 77"/>
            <p:cNvSpPr/>
            <p:nvPr/>
          </p:nvSpPr>
          <p:spPr>
            <a:xfrm>
              <a:off x="7546658" y="3693795"/>
              <a:ext cx="4111942" cy="2630805"/>
            </a:xfrm>
            <a:prstGeom prst="roundRect">
              <a:avLst>
                <a:gd name="adj" fmla="val 5069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7733348" y="3880485"/>
              <a:ext cx="838200" cy="23812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806897" y="3913346"/>
              <a:ext cx="6911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LTS 是什么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726489" y="4225290"/>
              <a:ext cx="34427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LTS（Long-Term Support，长期支持）版本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会持续多年提供更新。学习和生产环境一般选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LTS，目前常见的是 8、11、17、21、25。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20022" cy="909257"/>
            <a:chOff x="520446" y="342900"/>
            <a:chExt cx="58200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200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装哪个 JDK：OpenJDK 与各家发行版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5410200" cy="2000250"/>
            <a:chOff x="533400" y="1524000"/>
            <a:chExt cx="5410200" cy="2000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54587" y="1645444"/>
              <a:ext cx="17447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生产环境使用的 JDK 版本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7558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5894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986889" y="204549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62%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193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241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445544"/>
              <a:ext cx="5011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8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86889" y="24455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60%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193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2845594"/>
              <a:ext cx="5894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6889" y="284559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12%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1242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2456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其余各版本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04187" y="3245644"/>
              <a:ext cx="8557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均不超过 5%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315778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1-table-2"/>
          <p:cNvGrpSpPr/>
          <p:nvPr/>
        </p:nvGrpSpPr>
        <p:grpSpPr>
          <a:xfrm>
            <a:off x="528447" y="3693795"/>
            <a:ext cx="5415153" cy="2664809"/>
            <a:chOff x="528447" y="3693795"/>
            <a:chExt cx="5415153" cy="2664809"/>
          </a:xfrm>
        </p:grpSpPr>
        <p:sp>
          <p:nvSpPr>
            <p:cNvPr id="26" name="Rectangle 26"/>
            <p:cNvSpPr/>
            <p:nvPr/>
          </p:nvSpPr>
          <p:spPr>
            <a:xfrm>
              <a:off x="533400" y="3693795"/>
              <a:ext cx="541020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667383" y="381523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生产环境使用的发行版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75581" y="381523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0555" y="4215289"/>
              <a:ext cx="28025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AdoptOpenJDK（现 Eclipse Temurin）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986889" y="421528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44%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4891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49389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0555" y="4615339"/>
              <a:ext cx="12408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OpenJDK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86889" y="461533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8891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5015389"/>
              <a:ext cx="8553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JDK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986889" y="501538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23%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52892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529399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0555" y="5415439"/>
              <a:ext cx="6857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Azul Zulu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986889" y="541543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16%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56892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0555" y="5815489"/>
              <a:ext cx="13200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Amazon Corretto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028352" y="5815489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9%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3693795"/>
              <a:ext cx="541020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4315778" y="3693795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8447" y="6167914"/>
              <a:ext cx="51560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数据来自原课件引用的 Snyk《JVM 生态报告 2021》，可多选，所以比例之和超过 100%</a:t>
              </a:r>
            </a:p>
          </p:txBody>
        </p:sp>
      </p:grpSp>
      <p:grpSp>
        <p:nvGrpSpPr>
          <p:cNvPr id="60" name="c2-card-1"/>
          <p:cNvGrpSpPr/>
          <p:nvPr/>
        </p:nvGrpSpPr>
        <p:grpSpPr>
          <a:xfrm>
            <a:off x="6248400" y="1524000"/>
            <a:ext cx="5410200" cy="2060258"/>
            <a:chOff x="6248400" y="1524000"/>
            <a:chExt cx="5410200" cy="2060258"/>
          </a:xfrm>
        </p:grpSpPr>
        <p:sp>
          <p:nvSpPr>
            <p:cNvPr id="49" name="Rectangle 49"/>
            <p:cNvSpPr/>
            <p:nvPr/>
          </p:nvSpPr>
          <p:spPr>
            <a:xfrm>
              <a:off x="6248400" y="1524000"/>
              <a:ext cx="5410200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1657350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38784" y="1745932"/>
              <a:ext cx="21283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OpenJDK 与 Oracle JDK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481762" y="212788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37782" y="2071688"/>
              <a:ext cx="438612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OpenJDK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：Java SE 的开源参考实现，许可证为 GPLv2 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Classpath 例外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481762" y="268509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637782" y="2628900"/>
              <a:ext cx="44371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JDK、Eclipse Temurin、Amazon Corretto、Azul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Zulu 等发行版都由 OpenJDK 源码构建，功能基本一致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481762" y="324231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637782" y="318611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区别主要在许可协议、更新周期和商业支持</a:t>
              </a:r>
            </a:p>
          </p:txBody>
        </p:sp>
      </p:grpSp>
      <p:grpSp>
        <p:nvGrpSpPr>
          <p:cNvPr id="69" name="c2-kv-2"/>
          <p:cNvGrpSpPr/>
          <p:nvPr/>
        </p:nvGrpSpPr>
        <p:grpSpPr>
          <a:xfrm>
            <a:off x="6241542" y="3776662"/>
            <a:ext cx="5417058" cy="1555623"/>
            <a:chOff x="6241542" y="3776662"/>
            <a:chExt cx="5417058" cy="1555623"/>
          </a:xfrm>
        </p:grpSpPr>
        <p:sp>
          <p:nvSpPr>
            <p:cNvPr id="61" name="TextBox 61"/>
            <p:cNvSpPr txBox="1"/>
            <p:nvPr/>
          </p:nvSpPr>
          <p:spPr>
            <a:xfrm>
              <a:off x="6241542" y="3776662"/>
              <a:ext cx="10309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Oracle JDK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080820" y="3776662"/>
              <a:ext cx="339985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NFTC 许可：下个 LTS 发布后一年内可免费用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于生产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248400" y="4316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241542" y="4422458"/>
              <a:ext cx="869252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Temurin、</a:t>
              </a:r>
              <a:br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Corretto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080820" y="442245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免费构建，学习和生产都能直接用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49625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241542" y="5068252"/>
              <a:ext cx="8265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Azul Zulu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80820" y="506825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免费社区版之外另有付费商业版</a:t>
              </a:r>
            </a:p>
          </p:txBody>
        </p:sp>
      </p:grpSp>
      <p:grpSp>
        <p:nvGrpSpPr>
          <p:cNvPr id="76" name="c2-callout-3"/>
          <p:cNvGrpSpPr/>
          <p:nvPr/>
        </p:nvGrpSpPr>
        <p:grpSpPr>
          <a:xfrm>
            <a:off x="6248400" y="5449252"/>
            <a:ext cx="5410200" cy="870585"/>
            <a:chOff x="6248400" y="5449252"/>
            <a:chExt cx="5410200" cy="870585"/>
          </a:xfrm>
        </p:grpSpPr>
        <p:sp>
          <p:nvSpPr>
            <p:cNvPr id="70" name="Rectangle 70"/>
            <p:cNvSpPr/>
            <p:nvPr/>
          </p:nvSpPr>
          <p:spPr>
            <a:xfrm>
              <a:off x="6248400" y="5449252"/>
              <a:ext cx="5410200" cy="870585"/>
            </a:xfrm>
            <a:prstGeom prst="roundRect">
              <a:avLst>
                <a:gd name="adj" fmla="val 131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453188" y="5784533"/>
              <a:ext cx="200026" cy="200025"/>
              <a:chOff x="6453188" y="5784533"/>
              <a:chExt cx="200026" cy="200025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453188" y="57845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492926" y="58289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527642" y="59401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6755892" y="5666423"/>
              <a:ext cx="434282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自学时任选一个发行版的 LTS 版本即可。本讲义的示例以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JDK 17 为准。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91904" cy="909257"/>
            <a:chOff x="520446" y="342900"/>
            <a:chExt cx="82919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919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1.1.3 三个平台版本：Java SE、Java EE、Java ME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33400" y="1524000"/>
            <a:ext cx="6492240" cy="2400300"/>
            <a:chOff x="533400" y="1524000"/>
            <a:chExt cx="6492240" cy="2400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128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7342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5534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主要内容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42925" y="1933575"/>
              <a:ext cx="1409700" cy="7810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0555" y="2245519"/>
              <a:ext cx="10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SE 标准版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59305" y="2245519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桌面应用；另外两个版本的基础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395788" y="2045494"/>
              <a:ext cx="2301494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语言基础、JDBC 数据库操作、I/O、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网络通信、多线程；实现为 JDK 和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JRE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7193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724150"/>
              <a:ext cx="649224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2945606"/>
              <a:ext cx="10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EE 企业版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59305" y="2845594"/>
              <a:ext cx="2002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服务器端企业级分布式应用，如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电子商务网站、ERP 系统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95788" y="2845594"/>
              <a:ext cx="23939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Java SE 之上增加 EJB、Servlet、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JSP、XML 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545681"/>
              <a:ext cx="11312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ME 微型版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59305" y="3445669"/>
              <a:ext cx="20027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手机、掌上电脑、汽车导航等消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费类电子设备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395788" y="3445669"/>
              <a:ext cx="2287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精简的语言子集，高度优化的运行环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境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524000"/>
              <a:ext cx="649224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957388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93870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4093845"/>
            <a:ext cx="6492240" cy="481012"/>
            <a:chOff x="533400" y="4093845"/>
            <a:chExt cx="6492240" cy="481012"/>
          </a:xfrm>
        </p:grpSpPr>
        <p:sp>
          <p:nvSpPr>
            <p:cNvPr id="28" name="Rectangle 28"/>
            <p:cNvSpPr/>
            <p:nvPr/>
          </p:nvSpPr>
          <p:spPr>
            <a:xfrm>
              <a:off x="533400" y="4093845"/>
              <a:ext cx="6492240" cy="481012"/>
            </a:xfrm>
            <a:prstGeom prst="roundRect">
              <a:avLst>
                <a:gd name="adj" fmla="val 23762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234817"/>
              <a:ext cx="200023" cy="200023"/>
              <a:chOff x="738188" y="4234817"/>
              <a:chExt cx="200023" cy="20002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42348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71538" y="43014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892" y="4240530"/>
              <a:ext cx="207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本课程以 Java SE 为主。</a:t>
              </a:r>
            </a:p>
          </p:txBody>
        </p:sp>
      </p:grpSp>
      <p:grpSp>
        <p:nvGrpSpPr>
          <p:cNvPr id="44" name="c1-card-3"/>
          <p:cNvGrpSpPr/>
          <p:nvPr/>
        </p:nvGrpSpPr>
        <p:grpSpPr>
          <a:xfrm>
            <a:off x="533400" y="4745355"/>
            <a:ext cx="6492240" cy="1528762"/>
            <a:chOff x="533400" y="4745355"/>
            <a:chExt cx="6492240" cy="1528762"/>
          </a:xfrm>
        </p:grpSpPr>
        <p:sp>
          <p:nvSpPr>
            <p:cNvPr id="34" name="Rectangle 34"/>
            <p:cNvSpPr/>
            <p:nvPr/>
          </p:nvSpPr>
          <p:spPr>
            <a:xfrm>
              <a:off x="533400" y="4745355"/>
              <a:ext cx="6492240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878705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190" y="493204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0862" y="496490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66762" y="533209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22782" y="5275898"/>
              <a:ext cx="37794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Jakarta EE 9 起包名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javax.*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改成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jakarta.*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66762" y="563213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2782" y="5575935"/>
              <a:ext cx="52662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旧教程里的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import javax.servlet…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在 Tomcat 10 以后找不到类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66762" y="593217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782" y="5875973"/>
              <a:ext cx="36139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Java SE 里的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javax.swing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javax.sql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不变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330440" y="1524000"/>
            <a:ext cx="4328160" cy="2317432"/>
            <a:chOff x="7330440" y="1524000"/>
            <a:chExt cx="4328160" cy="2317432"/>
          </a:xfrm>
        </p:grpSpPr>
        <p:sp>
          <p:nvSpPr>
            <p:cNvPr id="45" name="Rectangle 45"/>
            <p:cNvSpPr/>
            <p:nvPr/>
          </p:nvSpPr>
          <p:spPr>
            <a:xfrm>
              <a:off x="7330440" y="1524000"/>
              <a:ext cx="4328160" cy="2317432"/>
            </a:xfrm>
            <a:prstGeom prst="roundRect">
              <a:avLst>
                <a:gd name="adj" fmla="val 57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339965" y="1657350"/>
              <a:ext cx="47625" cy="20507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55523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64790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20824" y="1745932"/>
              <a:ext cx="17502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ME 与 Android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563802" y="212788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719822" y="2071688"/>
              <a:ext cx="35798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都可以用 Java 语言开发，但使用的框架和类库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563802" y="268509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719822" y="2628900"/>
              <a:ext cx="34427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Android 是操作系统；Java ME 是运行在设备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上的应用平台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563802" y="324231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719822" y="3186112"/>
              <a:ext cx="34684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Android 应用的代码会编译成 DEX 字节码，在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ART 虚拟机上运行，不是标准 JVM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7330440" y="4010978"/>
            <a:ext cx="4328160" cy="2263140"/>
            <a:chOff x="7330440" y="4010978"/>
            <a:chExt cx="4328160" cy="2263140"/>
          </a:xfrm>
        </p:grpSpPr>
        <p:sp>
          <p:nvSpPr>
            <p:cNvPr id="57" name="Rectangle 57"/>
            <p:cNvSpPr/>
            <p:nvPr/>
          </p:nvSpPr>
          <p:spPr>
            <a:xfrm>
              <a:off x="7330440" y="4010978"/>
              <a:ext cx="4328160" cy="2263140"/>
            </a:xfrm>
            <a:prstGeom prst="roundRect">
              <a:avLst>
                <a:gd name="adj" fmla="val 58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39965" y="4144328"/>
              <a:ext cx="47625" cy="19964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555230" y="419766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47902" y="42305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现状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563802" y="459867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719822" y="4542472"/>
              <a:ext cx="35284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2017 年 Oracle 把 Java EE 移交 Eclipse 基金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会，之后改名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Jakarta EE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563802" y="515588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719822" y="5099685"/>
              <a:ext cx="31425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智能手机普及后，Java ME 已很少使用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40065" cy="909257"/>
            <a:chOff x="520446" y="342900"/>
            <a:chExt cx="84400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400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EE 应用模型：客户端、Web 层、业务层、数据层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727710" y="1694498"/>
            <a:ext cx="10735628" cy="3447097"/>
            <a:chOff x="727710" y="1694498"/>
            <a:chExt cx="10735628" cy="3447097"/>
          </a:xfrm>
        </p:grpSpPr>
        <p:sp>
          <p:nvSpPr>
            <p:cNvPr id="7" name="Freeform 7"/>
            <p:cNvSpPr/>
            <p:nvPr/>
          </p:nvSpPr>
          <p:spPr>
            <a:xfrm>
              <a:off x="3120390" y="2009775"/>
              <a:ext cx="283845" cy="970597"/>
            </a:xfrm>
            <a:custGeom>
              <a:avLst/>
              <a:gdLst/>
              <a:ahLst/>
              <a:cxnLst/>
              <a:rect l="l" t="t" r="r" b="b"/>
              <a:pathLst>
                <a:path w="283845" h="970597">
                  <a:moveTo>
                    <a:pt x="0" y="0"/>
                  </a:moveTo>
                  <a:lnTo>
                    <a:pt x="209550" y="0"/>
                  </a:lnTo>
                  <a:lnTo>
                    <a:pt x="179070" y="0"/>
                  </a:lnTo>
                  <a:lnTo>
                    <a:pt x="179070" y="970597"/>
                  </a:lnTo>
                  <a:lnTo>
                    <a:pt x="283845" y="9705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404235" y="29279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120390" y="2980372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404235" y="29279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120390" y="2980372"/>
              <a:ext cx="283845" cy="971550"/>
            </a:xfrm>
            <a:custGeom>
              <a:avLst/>
              <a:gdLst/>
              <a:ahLst/>
              <a:cxnLst/>
              <a:rect l="l" t="t" r="r" b="b"/>
              <a:pathLst>
                <a:path w="283845" h="971550">
                  <a:moveTo>
                    <a:pt x="0" y="971550"/>
                  </a:moveTo>
                  <a:lnTo>
                    <a:pt x="209550" y="971550"/>
                  </a:lnTo>
                  <a:lnTo>
                    <a:pt x="179070" y="971550"/>
                  </a:lnTo>
                  <a:lnTo>
                    <a:pt x="179070" y="0"/>
                  </a:ln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404235" y="29279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5901690" y="2980372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185535" y="29279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8682990" y="2980372"/>
              <a:ext cx="283845" cy="9525"/>
            </a:xfrm>
            <a:custGeom>
              <a:avLst/>
              <a:gdLst/>
              <a:ahLst/>
              <a:cxnLst/>
              <a:rect l="l" t="t" r="r" b="b"/>
              <a:pathLst>
                <a:path w="283845" h="9525">
                  <a:moveTo>
                    <a:pt x="0" y="0"/>
                  </a:moveTo>
                  <a:lnTo>
                    <a:pt x="2838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8966835" y="29279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27710" y="1694498"/>
              <a:ext cx="2391728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27710" y="2761298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27710" y="3732848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509010" y="2666048"/>
              <a:ext cx="2391728" cy="629602"/>
            </a:xfrm>
            <a:prstGeom prst="roundRect">
              <a:avLst>
                <a:gd name="adj" fmla="val 1512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90310" y="2666048"/>
              <a:ext cx="2391728" cy="629602"/>
            </a:xfrm>
            <a:prstGeom prst="roundRect">
              <a:avLst>
                <a:gd name="adj" fmla="val 1512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9071610" y="2761298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27710" y="4703445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509010" y="4703445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90310" y="4703445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9071610" y="4703445"/>
              <a:ext cx="239172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129157" y="1811179"/>
              <a:ext cx="158978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浏览器：HTML 页面、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Applet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55979" y="2891314"/>
              <a:ext cx="1536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桌面 Java 应用程序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42162" y="386286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其他设备上的客户端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983609" y="2782729"/>
              <a:ext cx="1443482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 服务器：JSP、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Servlet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12941" y="2782729"/>
              <a:ext cx="194741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EJB 容器：EJB 组件（业务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313748" y="28913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企业信息系统：数据库等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00632" y="483346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客户端表示层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95775" y="483346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服务器端表示层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704762" y="483346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服务器端业务逻辑层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658375" y="483346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企业信息系统层</a:t>
              </a:r>
            </a:p>
          </p:txBody>
        </p:sp>
      </p:grpSp>
      <p:grpSp>
        <p:nvGrpSpPr>
          <p:cNvPr id="44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38" name="Rectangle 38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130" y="5728335"/>
              <a:ext cx="99307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更正：原课件称 Java EE“核心为 EJB”、当前主流架构是 SSH（Struts + Spring + Hibernate）。这是 2010 年前后的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情况；现在新项目多用 Spring Boot 加 MyBatis 或 JPA（Hibernate），Struts 已很少使用。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50985" cy="909257"/>
            <a:chOff x="520446" y="342900"/>
            <a:chExt cx="62509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509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1.1.4 Sun 白皮书列出的 11 个语言特征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035669" cy="597598"/>
            <a:chOff x="525399" y="1550194"/>
            <a:chExt cx="9035669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035669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白皮书原文：Java: A simple, object-oriented, distributed, interpreted, robust, secure,</a:t>
              </a:r>
              <a:br/>
              <a:r>
                <a:rPr lang="en-US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architecture-neutral, portable, high-performance, multi-threaded, and dynamic language.</a:t>
              </a:r>
            </a:p>
          </p:txBody>
        </p:sp>
      </p:grpSp>
      <p:grpSp>
        <p:nvGrpSpPr>
          <p:cNvPr id="34" name="c1-table-1"/>
          <p:cNvGrpSpPr/>
          <p:nvPr/>
        </p:nvGrpSpPr>
        <p:grpSpPr>
          <a:xfrm>
            <a:off x="533400" y="2257425"/>
            <a:ext cx="5410200" cy="3368041"/>
            <a:chOff x="533400" y="2257425"/>
            <a:chExt cx="5410200" cy="3368041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5410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66139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612769" y="23931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一句话理解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955131"/>
              <a:ext cx="710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简单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264283" y="2841784"/>
              <a:ext cx="34185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语法像 C++，去掉指针运算、多重继承、运算符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3775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338232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517106"/>
              <a:ext cx="10550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面向对象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264283" y="35171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支持封装、继承、多态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8261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965734"/>
              <a:ext cx="8827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分布式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64283" y="3965734"/>
              <a:ext cx="28733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类库直接支持 TCP/IP、URL 网络编程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2748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427958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415314"/>
              <a:ext cx="710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(4) 健壮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64283" y="441531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编译期和运行期检查、异常处理、垃圾回收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7234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863941"/>
              <a:ext cx="7103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(5) 安全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64283" y="486394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没有指针运算，字节码校验，沙箱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17207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517683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" y="5312569"/>
              <a:ext cx="13996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(6) 体系结构中立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64283" y="5312569"/>
              <a:ext cx="22634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字节码与 CPU、操作系统无关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2257425"/>
              <a:ext cx="5410200" cy="3368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151698" y="2257425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2-table-1"/>
          <p:cNvGrpSpPr/>
          <p:nvPr/>
        </p:nvGrpSpPr>
        <p:grpSpPr>
          <a:xfrm>
            <a:off x="6248400" y="2257425"/>
            <a:ext cx="5410200" cy="2692718"/>
            <a:chOff x="6248400" y="2257425"/>
            <a:chExt cx="5410200" cy="2692718"/>
          </a:xfrm>
        </p:grpSpPr>
        <p:sp>
          <p:nvSpPr>
            <p:cNvPr id="35" name="Rectangle 35"/>
            <p:cNvSpPr/>
            <p:nvPr/>
          </p:nvSpPr>
          <p:spPr>
            <a:xfrm>
              <a:off x="6248400" y="2257425"/>
              <a:ext cx="5410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81139" y="23931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327769" y="23931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一句话理解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6223" y="2841784"/>
              <a:ext cx="8827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(7) 可移植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79283" y="284178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基本类型大小固定，类库屏蔽平台差异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315087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48400" y="315468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6223" y="3290411"/>
              <a:ext cx="10550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(8) 解释执行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79283" y="3290411"/>
              <a:ext cx="21821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编译成字节码，由 JVM 执行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35994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56223" y="3739039"/>
              <a:ext cx="8827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(9) 高性能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979283" y="3739039"/>
              <a:ext cx="26171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热点代码由 JIT 编译成本地机器码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40481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405288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56223" y="4188619"/>
              <a:ext cx="9822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(10) 多线程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79283" y="418861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语言和类库直接支持线程与同步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44967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56223" y="4637246"/>
              <a:ext cx="809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(11) 动态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79283" y="463724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运行时按需加载类，类库可独立升级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2257425"/>
              <a:ext cx="5410200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866698" y="2257425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7" name="Rectangle 5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130" y="5991225"/>
              <a:ext cx="90695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(6)(7)(8) 三条讲的是同一件事的不同侧面：源程序编译成字节码，字节码交给各平台的 JVM 执行。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94159" cy="909257"/>
            <a:chOff x="520446" y="342900"/>
            <a:chExt cx="43941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941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简单性 与 (2) 面向对象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790700"/>
            <a:chOff x="533400" y="1524000"/>
            <a:chExt cx="5410200" cy="17907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90700"/>
            </a:xfrm>
            <a:prstGeom prst="roundRect">
              <a:avLst>
                <a:gd name="adj" fmla="val 7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2400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38200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385" y="1743551"/>
              <a:ext cx="6758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(1) 简单性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7567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语法大部分效仿 C++，但用起来更简单。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475" y="2351246"/>
              <a:ext cx="43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有人把 Java 叫作“C++--”：去掉了容易混淆、容易出错的部分。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7271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1651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去掉指针，取消类的多重继承和运算符重载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7275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165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自动分配和回收内存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484245"/>
            <a:ext cx="5410200" cy="978218"/>
            <a:chOff x="533400" y="3484245"/>
            <a:chExt cx="5410200" cy="978218"/>
          </a:xfrm>
        </p:grpSpPr>
        <p:sp>
          <p:nvSpPr>
            <p:cNvPr id="18" name="Rectangle 18"/>
            <p:cNvSpPr/>
            <p:nvPr/>
          </p:nvSpPr>
          <p:spPr>
            <a:xfrm>
              <a:off x="533400" y="3484245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3872865"/>
              <a:ext cx="200026" cy="200025"/>
              <a:chOff x="738188" y="3872865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387286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391731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402844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3629977"/>
              <a:ext cx="440283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准确地说，Java 有“引用”，只是不能做指针运算，也不能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直接操作内存地址。用空引用调用方法会抛出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NullPointerException。</a:t>
              </a:r>
            </a:p>
          </p:txBody>
        </p:sp>
      </p:grpSp>
      <p:grpSp>
        <p:nvGrpSpPr>
          <p:cNvPr id="39" name="c1-table-3"/>
          <p:cNvGrpSpPr/>
          <p:nvPr/>
        </p:nvGrpSpPr>
        <p:grpSpPr>
          <a:xfrm>
            <a:off x="533400" y="4632008"/>
            <a:ext cx="5410200" cy="1600200"/>
            <a:chOff x="533400" y="4632008"/>
            <a:chExt cx="5410200" cy="1600200"/>
          </a:xfrm>
        </p:grpSpPr>
        <p:sp>
          <p:nvSpPr>
            <p:cNvPr id="25" name="Rectangle 25"/>
            <p:cNvSpPr/>
            <p:nvPr/>
          </p:nvSpPr>
          <p:spPr>
            <a:xfrm>
              <a:off x="533400" y="4632008"/>
              <a:ext cx="541020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241566" y="4753451"/>
              <a:ext cx="639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C++ 里有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58292" y="4753451"/>
              <a:ext cx="1015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改成什么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0555" y="515350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指针变量与指针运算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686050" y="515350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引用，不能取地址和加减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4273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543210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555355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类的多重继承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86050" y="555355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单继承加实现多个接口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58273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595360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运算符重载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686050" y="5953601"/>
              <a:ext cx="1843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只有字符串的 + 由语言内置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632008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584132" y="463200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2-card-1"/>
          <p:cNvGrpSpPr/>
          <p:nvPr/>
        </p:nvGrpSpPr>
        <p:grpSpPr>
          <a:xfrm>
            <a:off x="6248400" y="1524000"/>
            <a:ext cx="5410200" cy="1828800"/>
            <a:chOff x="6248400" y="1524000"/>
            <a:chExt cx="5410200" cy="1828800"/>
          </a:xfrm>
        </p:grpSpPr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1657350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73190" y="1710690"/>
              <a:ext cx="96202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50333" y="1743551"/>
              <a:ext cx="807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(2) 面向对象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66332" y="2054542"/>
              <a:ext cx="33822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从一开始就按面向对象方法学设计。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481762" y="241173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37782" y="235553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封装：对象有模块化性质和信息隐藏能力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481762" y="271176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37782" y="265557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继承：类可以继承父类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481762" y="301180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37782" y="295560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多态：通过抽象类与接口实现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248400" y="3523298"/>
            <a:ext cx="5410200" cy="2708910"/>
            <a:chOff x="6248400" y="3523298"/>
            <a:chExt cx="5410200" cy="2708910"/>
          </a:xfrm>
        </p:grpSpPr>
        <p:sp>
          <p:nvSpPr>
            <p:cNvPr id="52" name="Rectangle 52"/>
            <p:cNvSpPr/>
            <p:nvPr/>
          </p:nvSpPr>
          <p:spPr>
            <a:xfrm>
              <a:off x="6248400" y="3523298"/>
              <a:ext cx="5410200" cy="2708910"/>
            </a:xfrm>
            <a:prstGeom prst="roundRect">
              <a:avLst>
                <a:gd name="adj" fmla="val 49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257925" y="3656648"/>
              <a:ext cx="47625" cy="24422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73190" y="37099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65862" y="37428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66332" y="4053840"/>
              <a:ext cx="473716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原课件称 Java 是“纯粹的面向对象语言”。Java 的 8 种基本类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型（int、double、boolean 等）不是对象，所以通常不把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算作纯面向对象语言。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73190" y="4846320"/>
              <a:ext cx="4998720" cy="858202"/>
            </a:xfrm>
            <a:prstGeom prst="roundRect">
              <a:avLst>
                <a:gd name="adj" fmla="val 110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01587" y="499824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01587" y="5259229"/>
              <a:ext cx="2704465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 = 5;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基本类型，不是对象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Integer m = 5;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包装类对象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50878" cy="909257"/>
            <a:chOff x="520446" y="342900"/>
            <a:chExt cx="40508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508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分布式 与 (4) 健壮性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5410200" cy="2322195"/>
            <a:chOff x="533400" y="1524000"/>
            <a:chExt cx="5410200" cy="23221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322195"/>
            </a:xfrm>
            <a:prstGeom prst="roundRect">
              <a:avLst>
                <a:gd name="adj" fmla="val 57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5549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7735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686" y="1769269"/>
              <a:ext cx="772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(3) 分布式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682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分布式计算指多台计算机通过网络协同工作。Java 是面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向网络的语言：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33080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java.net 类库可以处理 TCP/IP 协议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33223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 URL 地址就能访问网络上的资源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46519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40233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网络编程和读写文件一样用输入输出流</a:t>
              </a:r>
            </a:p>
          </p:txBody>
        </p:sp>
      </p:grpSp>
      <p:grpSp>
        <p:nvGrpSpPr>
          <p:cNvPr id="22" name="c1-code-2"/>
          <p:cNvGrpSpPr/>
          <p:nvPr/>
        </p:nvGrpSpPr>
        <p:grpSpPr>
          <a:xfrm>
            <a:off x="533400" y="4036695"/>
            <a:ext cx="5410200" cy="1313498"/>
            <a:chOff x="533400" y="4036695"/>
            <a:chExt cx="5410200" cy="1313498"/>
          </a:xfrm>
        </p:grpSpPr>
        <p:sp>
          <p:nvSpPr>
            <p:cNvPr id="19" name="Rectangle 19"/>
            <p:cNvSpPr/>
            <p:nvPr/>
          </p:nvSpPr>
          <p:spPr>
            <a:xfrm>
              <a:off x="533400" y="4036695"/>
              <a:ext cx="5410200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61797" y="418861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读网页和读文件写法相同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035" y="4451509"/>
              <a:ext cx="4157726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URL url = URI.create(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"https://openjdk.org/"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).toURL();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try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(InputStream in = url.openStream())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System.out.println(in.read());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读出第一个字节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248400" y="1524000"/>
            <a:ext cx="5410200" cy="2607945"/>
            <a:chOff x="6248400" y="1524000"/>
            <a:chExt cx="5410200" cy="2607945"/>
          </a:xfrm>
        </p:grpSpPr>
        <p:sp>
          <p:nvSpPr>
            <p:cNvPr id="23" name="Rectangle 23"/>
            <p:cNvSpPr/>
            <p:nvPr/>
          </p:nvSpPr>
          <p:spPr>
            <a:xfrm>
              <a:off x="6248400" y="1524000"/>
              <a:ext cx="5410200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57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6050" y="1733550"/>
              <a:ext cx="1638300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52032" y="1769269"/>
              <a:ext cx="1526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(4) 健壮性（鲁棒性）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430" y="2110740"/>
              <a:ext cx="41619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在编译和运行时都检查可能出现的问题。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501765" y="250888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59880" y="244602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编译时：捕获类型声明中的常见错误；提示可能出现却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没有处理的异常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501765" y="312991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9880" y="306705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运行时：检查数组下标越界等错误，出错时抛出异常，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不会悄悄改坏内存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501765" y="375094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59880" y="368808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自动垃圾回收，避免手工管理内存时出错</a:t>
              </a:r>
            </a:p>
          </p:txBody>
        </p:sp>
      </p:grpSp>
      <p:grpSp>
        <p:nvGrpSpPr>
          <p:cNvPr id="38" name="c2-code-2"/>
          <p:cNvGrpSpPr/>
          <p:nvPr/>
        </p:nvGrpSpPr>
        <p:grpSpPr>
          <a:xfrm>
            <a:off x="6248400" y="4322445"/>
            <a:ext cx="5410200" cy="907732"/>
            <a:chOff x="6248400" y="4322445"/>
            <a:chExt cx="5410200" cy="907732"/>
          </a:xfrm>
        </p:grpSpPr>
        <p:sp>
          <p:nvSpPr>
            <p:cNvPr id="35" name="Rectangle 35"/>
            <p:cNvSpPr/>
            <p:nvPr/>
          </p:nvSpPr>
          <p:spPr>
            <a:xfrm>
              <a:off x="6248400" y="4322445"/>
              <a:ext cx="5410200" cy="907732"/>
            </a:xfrm>
            <a:prstGeom prst="roundRect">
              <a:avLst>
                <a:gd name="adj" fmla="val 104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76797" y="447436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越界访问会被拦下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76035" y="4737259"/>
              <a:ext cx="3894582" cy="4229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a =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[3];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合法下标 0、1、2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a[3] = 1;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抛出 ArrayIndexOutOfBoundsException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64553" cy="909257"/>
            <a:chOff x="520446" y="342900"/>
            <a:chExt cx="65645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645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(5) 安全性：多道关卡保护运行程序的机器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flow-1"/>
          <p:cNvGrpSpPr/>
          <p:nvPr/>
        </p:nvGrpSpPr>
        <p:grpSpPr>
          <a:xfrm>
            <a:off x="715328" y="1814512"/>
            <a:ext cx="4830126" cy="4258628"/>
            <a:chOff x="715328" y="1814512"/>
            <a:chExt cx="4830126" cy="4258628"/>
          </a:xfrm>
        </p:grpSpPr>
        <p:sp>
          <p:nvSpPr>
            <p:cNvPr id="7" name="Freeform 7"/>
            <p:cNvSpPr/>
            <p:nvPr/>
          </p:nvSpPr>
          <p:spPr>
            <a:xfrm>
              <a:off x="1831658" y="2443162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779270" y="3014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831658" y="3557588"/>
              <a:ext cx="9525" cy="584835"/>
            </a:xfrm>
            <a:custGeom>
              <a:avLst/>
              <a:gdLst/>
              <a:ahLst/>
              <a:cxnLst/>
              <a:rect l="l" t="t" r="r" b="b"/>
              <a:pathLst>
                <a:path w="9525" h="584835">
                  <a:moveTo>
                    <a:pt x="0" y="0"/>
                  </a:moveTo>
                  <a:lnTo>
                    <a:pt x="0" y="584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779270" y="41424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948940" y="4548188"/>
              <a:ext cx="258127" cy="9525"/>
            </a:xfrm>
            <a:custGeom>
              <a:avLst/>
              <a:gdLst/>
              <a:ahLst/>
              <a:cxnLst/>
              <a:rect l="l" t="t" r="r" b="b"/>
              <a:pathLst>
                <a:path w="258127" h="9525">
                  <a:moveTo>
                    <a:pt x="0" y="0"/>
                  </a:moveTo>
                  <a:lnTo>
                    <a:pt x="258127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207068" y="44958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831658" y="4849178"/>
              <a:ext cx="9525" cy="489585"/>
            </a:xfrm>
            <a:custGeom>
              <a:avLst/>
              <a:gdLst/>
              <a:ahLst/>
              <a:cxnLst/>
              <a:rect l="l" t="t" r="r" b="b"/>
              <a:pathLst>
                <a:path w="9525" h="489585">
                  <a:moveTo>
                    <a:pt x="0" y="0"/>
                  </a:moveTo>
                  <a:lnTo>
                    <a:pt x="0" y="4895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779270" y="53387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715328" y="1814512"/>
              <a:ext cx="2233613" cy="628650"/>
            </a:xfrm>
            <a:custGeom>
              <a:avLst/>
              <a:gdLst/>
              <a:ahLst/>
              <a:cxnLst/>
              <a:rect l="l" t="t" r="r" b="b"/>
              <a:pathLst>
                <a:path w="2233613" h="628650">
                  <a:moveTo>
                    <a:pt x="133350" y="0"/>
                  </a:moveTo>
                  <a:lnTo>
                    <a:pt x="2233613" y="0"/>
                  </a:lnTo>
                  <a:lnTo>
                    <a:pt x="2100263" y="628650"/>
                  </a:lnTo>
                  <a:lnTo>
                    <a:pt x="0" y="6286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5328" y="3119438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15328" y="4247198"/>
              <a:ext cx="2233613" cy="601980"/>
            </a:xfrm>
            <a:custGeom>
              <a:avLst/>
              <a:gdLst/>
              <a:ahLst/>
              <a:cxnLst/>
              <a:rect l="l" t="t" r="r" b="b"/>
              <a:pathLst>
                <a:path w="2233613" h="601980">
                  <a:moveTo>
                    <a:pt x="1116330" y="0"/>
                  </a:moveTo>
                  <a:lnTo>
                    <a:pt x="2233613" y="300990"/>
                  </a:lnTo>
                  <a:lnTo>
                    <a:pt x="111633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311842" y="4329112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15328" y="5443538"/>
              <a:ext cx="2233612" cy="629602"/>
            </a:xfrm>
            <a:prstGeom prst="roundRect">
              <a:avLst>
                <a:gd name="adj" fmla="val 49924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9549" y="1930241"/>
              <a:ext cx="174421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下载或读入的 .class 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35926" y="324945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类加载器装入内存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5926" y="445912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字节码校验通过？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78021" y="44591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拒绝加载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65848" y="5559266"/>
              <a:ext cx="173162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JVM 管理的内存中执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015615" y="433197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053906" y="435864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860232" y="505396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883474" y="508063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032182" y="1524000"/>
            <a:ext cx="5626418" cy="2893695"/>
            <a:chOff x="6032182" y="1524000"/>
            <a:chExt cx="5626418" cy="2893695"/>
          </a:xfrm>
        </p:grpSpPr>
        <p:sp>
          <p:nvSpPr>
            <p:cNvPr id="30" name="Rectangle 30"/>
            <p:cNvSpPr/>
            <p:nvPr/>
          </p:nvSpPr>
          <p:spPr>
            <a:xfrm>
              <a:off x="6032182" y="1524000"/>
              <a:ext cx="5626418" cy="2893695"/>
            </a:xfrm>
            <a:prstGeom prst="roundRect">
              <a:avLst>
                <a:gd name="adj" fmla="val 46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041708" y="1657350"/>
              <a:ext cx="47625" cy="262699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79832" y="1733550"/>
              <a:ext cx="927735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57468" y="1769269"/>
              <a:ext cx="772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(5) 安全性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72212" y="2110740"/>
              <a:ext cx="4969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提供多种安全机制，保护系统免受恶意程序破坏。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85548" y="250888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43662" y="24460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不支持指针运算，对内存的访问都要通过对象的引用和成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员变量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85548" y="312991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43662" y="3067050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装入的字节码先经过校验，格式或类型不合法就拒绝执行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285548" y="346519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43662" y="3402330"/>
              <a:ext cx="4653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沙箱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：把程序的代码和数据限制在规定的内存空间里执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行，不允许访问该空间以外的内存；Applet 还不能访问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本地文件系统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6032182" y="4608195"/>
            <a:ext cx="5626418" cy="1602105"/>
            <a:chOff x="6032182" y="4608195"/>
            <a:chExt cx="5626418" cy="1602105"/>
          </a:xfrm>
        </p:grpSpPr>
        <p:sp>
          <p:nvSpPr>
            <p:cNvPr id="42" name="Rectangle 42"/>
            <p:cNvSpPr/>
            <p:nvPr/>
          </p:nvSpPr>
          <p:spPr>
            <a:xfrm>
              <a:off x="6032182" y="4608195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41708" y="474154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79832" y="48177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70041" y="48534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现状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72212" y="5194935"/>
              <a:ext cx="48634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沙箱机制主要是为网页中的 Applet 设计的。随着 Applet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淘汰，实现沙箱的 SecurityManager 在 JDK 17 中被标记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为弃用。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21272" cy="909257"/>
            <a:chOff x="520446" y="342900"/>
            <a:chExt cx="62212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212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(6) 体系结构中立：编译一次，到处运行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00817" cy="597598"/>
            <a:chOff x="525399" y="1550194"/>
            <a:chExt cx="10600817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00817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编译器生成与体系结构无关的字节码。只要装有 Java 虚拟机（Java Virtual Machine，JVM），同一个 .class 文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件不用重新编译就能在不同平台上运行。</a:t>
              </a:r>
            </a:p>
          </p:txBody>
        </p:sp>
      </p:grpSp>
      <p:grpSp>
        <p:nvGrpSpPr>
          <p:cNvPr id="31" name="c1-flow-1"/>
          <p:cNvGrpSpPr/>
          <p:nvPr/>
        </p:nvGrpSpPr>
        <p:grpSpPr>
          <a:xfrm>
            <a:off x="666750" y="2509838"/>
            <a:ext cx="5792153" cy="2800350"/>
            <a:chOff x="666750" y="2509838"/>
            <a:chExt cx="5792153" cy="2800350"/>
          </a:xfrm>
        </p:grpSpPr>
        <p:sp>
          <p:nvSpPr>
            <p:cNvPr id="9" name="Freeform 9"/>
            <p:cNvSpPr/>
            <p:nvPr/>
          </p:nvSpPr>
          <p:spPr>
            <a:xfrm>
              <a:off x="1914525" y="395763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76450" y="39052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429952" y="395763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591878" y="39052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944428" y="2824162"/>
              <a:ext cx="209550" cy="1133475"/>
            </a:xfrm>
            <a:custGeom>
              <a:avLst/>
              <a:gdLst/>
              <a:ahLst/>
              <a:cxnLst/>
              <a:rect l="l" t="t" r="r" b="b"/>
              <a:pathLst>
                <a:path w="209550" h="1133475">
                  <a:moveTo>
                    <a:pt x="0" y="1133475"/>
                  </a:moveTo>
                  <a:lnTo>
                    <a:pt x="209550" y="1133475"/>
                  </a:lnTo>
                  <a:lnTo>
                    <a:pt x="57150" y="1133475"/>
                  </a:lnTo>
                  <a:lnTo>
                    <a:pt x="57150" y="0"/>
                  </a:ln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106352" y="27717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944428" y="395763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106352" y="39052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944428" y="3957638"/>
              <a:ext cx="209550" cy="1133475"/>
            </a:xfrm>
            <a:custGeom>
              <a:avLst/>
              <a:gdLst/>
              <a:ahLst/>
              <a:cxnLst/>
              <a:rect l="l" t="t" r="r" b="b"/>
              <a:pathLst>
                <a:path w="209550" h="1133475">
                  <a:moveTo>
                    <a:pt x="0" y="0"/>
                  </a:moveTo>
                  <a:lnTo>
                    <a:pt x="209550" y="0"/>
                  </a:lnTo>
                  <a:lnTo>
                    <a:pt x="57150" y="0"/>
                  </a:lnTo>
                  <a:lnTo>
                    <a:pt x="57150" y="1133475"/>
                  </a:lnTo>
                  <a:lnTo>
                    <a:pt x="161925" y="11334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5106352" y="50387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66750" y="3738562"/>
              <a:ext cx="1247775" cy="438150"/>
            </a:xfrm>
            <a:custGeom>
              <a:avLst/>
              <a:gdLst/>
              <a:ahLst/>
              <a:cxnLst/>
              <a:rect l="l" t="t" r="r" b="b"/>
              <a:pathLst>
                <a:path w="1247775" h="438150">
                  <a:moveTo>
                    <a:pt x="133350" y="0"/>
                  </a:moveTo>
                  <a:lnTo>
                    <a:pt x="1247775" y="0"/>
                  </a:lnTo>
                  <a:lnTo>
                    <a:pt x="111442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181225" y="3738562"/>
              <a:ext cx="124777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696652" y="3738562"/>
              <a:ext cx="1247775" cy="438150"/>
            </a:xfrm>
            <a:prstGeom prst="roundRect">
              <a:avLst>
                <a:gd name="adj" fmla="val 2173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211128" y="2509838"/>
              <a:ext cx="1247775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211128" y="3738562"/>
              <a:ext cx="124777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211128" y="4872038"/>
              <a:ext cx="124777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2342" y="3868579"/>
              <a:ext cx="836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Hello.java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84196" y="3868579"/>
              <a:ext cx="4437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854847" y="3868579"/>
              <a:ext cx="931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Hello.class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03418" y="2625566"/>
              <a:ext cx="6631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16570" y="3868579"/>
              <a:ext cx="8368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Linux JVM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55753" y="5002054"/>
              <a:ext cx="9585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macOS JVM</a:t>
              </a:r>
            </a:p>
          </p:txBody>
        </p:sp>
      </p:grpSp>
      <p:grpSp>
        <p:nvGrpSpPr>
          <p:cNvPr id="34" name="c2-image-1"/>
          <p:cNvGrpSpPr/>
          <p:nvPr/>
        </p:nvGrpSpPr>
        <p:grpSpPr>
          <a:xfrm>
            <a:off x="6898005" y="2257425"/>
            <a:ext cx="4760595" cy="3425667"/>
            <a:chOff x="6898005" y="2257425"/>
            <a:chExt cx="4760595" cy="3425667"/>
          </a:xfrm>
        </p:grpSpPr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rcRect l="0" t="6436" r="0" b="6436"/>
            <a:stretch>
              <a:fillRect/>
            </a:stretch>
          </p:blipFill>
          <p:spPr>
            <a:xfrm>
              <a:off x="6898005" y="2257425"/>
              <a:ext cx="4760595" cy="3110865"/>
            </a:xfrm>
            <a:prstGeom prst="roundRect">
              <a:avLst>
                <a:gd name="adj" fmla="val 4286"/>
              </a:avLst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7343529" y="5463064"/>
              <a:ext cx="3869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字节码像标准集装箱，各平台的 JVM 像轮船、卡车、火车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5" name="Rectangle 3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98355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与平台有关的部分交给了 JVM：Windows、Linux、macOS 各有自己的 JVM，但它们执行的是同一份字节码。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44800" cy="909257"/>
            <a:chOff x="520446" y="342900"/>
            <a:chExt cx="724480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4480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(7) 可移植性：程序和 Java 系统本身都能移植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1785938"/>
            <a:chOff x="533400" y="1524000"/>
            <a:chExt cx="5626418" cy="1785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962025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333" y="1743551"/>
              <a:ext cx="8077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(7) 可移植性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与平台无关，程序移植到网络上的其他机器时不必重新编译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41173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355532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类库中实现了与不同平台的接口，类库本身也可移植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71176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655570"/>
              <a:ext cx="46342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编译器用 Java 编写；运行时系统用标准 C（ANSI C）编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写，Java 系统本身也可移植</a:t>
              </a:r>
            </a:p>
          </p:txBody>
        </p:sp>
      </p:grpSp>
      <p:grpSp>
        <p:nvGrpSpPr>
          <p:cNvPr id="38" name="c1-table-2"/>
          <p:cNvGrpSpPr/>
          <p:nvPr/>
        </p:nvGrpSpPr>
        <p:grpSpPr>
          <a:xfrm>
            <a:off x="528447" y="3480435"/>
            <a:ext cx="5631371" cy="1863756"/>
            <a:chOff x="528447" y="3480435"/>
            <a:chExt cx="5631371" cy="1863756"/>
          </a:xfrm>
        </p:grpSpPr>
        <p:sp>
          <p:nvSpPr>
            <p:cNvPr id="18" name="Rectangle 18"/>
            <p:cNvSpPr/>
            <p:nvPr/>
          </p:nvSpPr>
          <p:spPr>
            <a:xfrm>
              <a:off x="533400" y="3480435"/>
              <a:ext cx="5626418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46481" y="36018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31812" y="3601879"/>
              <a:ext cx="455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 语言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021184" y="3601879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6436" y="4001929"/>
              <a:ext cx="233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66105" y="4001929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或 32 位，随编译器和平台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843473" y="4001929"/>
              <a:ext cx="720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32 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757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4280535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42900" y="4401979"/>
              <a:ext cx="3201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29135" y="4401979"/>
              <a:ext cx="26605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或 64 位（Windows 与 Linux 不同）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43473" y="4401979"/>
              <a:ext cx="720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64 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6758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23111" y="480202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char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14211" y="4802029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19110" y="4802029"/>
              <a:ext cx="15687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 16 位（Unicode）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480435"/>
              <a:ext cx="56264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1267778" y="34804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242435" y="348043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447" y="5153501"/>
              <a:ext cx="31761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基本类型的大小在所有平台上一致，这是可移植的前提</a:t>
              </a:r>
            </a:p>
          </p:txBody>
        </p:sp>
      </p:grpSp>
      <p:grpSp>
        <p:nvGrpSpPr>
          <p:cNvPr id="45" name="c1-callout-3"/>
          <p:cNvGrpSpPr/>
          <p:nvPr/>
        </p:nvGrpSpPr>
        <p:grpSpPr>
          <a:xfrm>
            <a:off x="533400" y="5475922"/>
            <a:ext cx="5626418" cy="729615"/>
            <a:chOff x="533400" y="5475922"/>
            <a:chExt cx="5626418" cy="729615"/>
          </a:xfrm>
        </p:grpSpPr>
        <p:sp>
          <p:nvSpPr>
            <p:cNvPr id="39" name="Rectangle 39"/>
            <p:cNvSpPr/>
            <p:nvPr/>
          </p:nvSpPr>
          <p:spPr>
            <a:xfrm>
              <a:off x="533400" y="5475922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740718"/>
              <a:ext cx="200026" cy="200026"/>
              <a:chOff x="738188" y="5740718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7407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58073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7088" y="58407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892" y="5621655"/>
              <a:ext cx="452285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更正：“运行时系统由 ANSI C 实现”是 1995 年白皮书时的说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法，现在的 HotSpot 虚拟机主要用 C++ 编写。</a:t>
              </a:r>
            </a:p>
          </p:txBody>
        </p:sp>
      </p:grpSp>
      <p:grpSp>
        <p:nvGrpSpPr>
          <p:cNvPr id="70" name="c2-flow-1"/>
          <p:cNvGrpSpPr/>
          <p:nvPr/>
        </p:nvGrpSpPr>
        <p:grpSpPr>
          <a:xfrm>
            <a:off x="6597968" y="1824038"/>
            <a:ext cx="4927282" cy="3339464"/>
            <a:chOff x="6597968" y="1824038"/>
            <a:chExt cx="4927282" cy="3339464"/>
          </a:xfrm>
        </p:grpSpPr>
        <p:sp>
          <p:nvSpPr>
            <p:cNvPr id="46" name="Freeform 46"/>
            <p:cNvSpPr/>
            <p:nvPr/>
          </p:nvSpPr>
          <p:spPr>
            <a:xfrm>
              <a:off x="7330440" y="2208848"/>
              <a:ext cx="1731645" cy="495300"/>
            </a:xfrm>
            <a:custGeom>
              <a:avLst/>
              <a:gdLst/>
              <a:ahLst/>
              <a:cxnLst/>
              <a:rect l="l" t="t" r="r" b="b"/>
              <a:pathLst>
                <a:path w="1731645" h="495300">
                  <a:moveTo>
                    <a:pt x="1731645" y="0"/>
                  </a:moveTo>
                  <a:lnTo>
                    <a:pt x="1731645" y="300037"/>
                  </a:lnTo>
                  <a:lnTo>
                    <a:pt x="0" y="300037"/>
                  </a:lnTo>
                  <a:lnTo>
                    <a:pt x="0" y="4953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278052" y="27041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9062085" y="2208848"/>
              <a:ext cx="1730692" cy="495300"/>
            </a:xfrm>
            <a:custGeom>
              <a:avLst/>
              <a:gdLst/>
              <a:ahLst/>
              <a:cxnLst/>
              <a:rect l="l" t="t" r="r" b="b"/>
              <a:pathLst>
                <a:path w="1730692" h="495300">
                  <a:moveTo>
                    <a:pt x="0" y="0"/>
                  </a:moveTo>
                  <a:lnTo>
                    <a:pt x="0" y="300037"/>
                  </a:lnTo>
                  <a:lnTo>
                    <a:pt x="1730692" y="300037"/>
                  </a:lnTo>
                  <a:lnTo>
                    <a:pt x="1730692" y="4953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0740390" y="27041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7330440" y="3193732"/>
              <a:ext cx="1731645" cy="494347"/>
            </a:xfrm>
            <a:custGeom>
              <a:avLst/>
              <a:gdLst/>
              <a:ahLst/>
              <a:cxnLst/>
              <a:rect l="l" t="t" r="r" b="b"/>
              <a:pathLst>
                <a:path w="1731645" h="494347">
                  <a:moveTo>
                    <a:pt x="0" y="0"/>
                  </a:moveTo>
                  <a:lnTo>
                    <a:pt x="0" y="300038"/>
                  </a:lnTo>
                  <a:lnTo>
                    <a:pt x="1731645" y="300038"/>
                  </a:lnTo>
                  <a:lnTo>
                    <a:pt x="1731645" y="4943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009698" y="3688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9062085" y="3193732"/>
              <a:ext cx="1730692" cy="494347"/>
            </a:xfrm>
            <a:custGeom>
              <a:avLst/>
              <a:gdLst/>
              <a:ahLst/>
              <a:cxnLst/>
              <a:rect l="l" t="t" r="r" b="b"/>
              <a:pathLst>
                <a:path w="1730692" h="494347">
                  <a:moveTo>
                    <a:pt x="1730692" y="0"/>
                  </a:moveTo>
                  <a:lnTo>
                    <a:pt x="1730692" y="300038"/>
                  </a:lnTo>
                  <a:lnTo>
                    <a:pt x="0" y="300038"/>
                  </a:lnTo>
                  <a:lnTo>
                    <a:pt x="0" y="49434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9009698" y="36880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4" name="Freeform 54"/>
            <p:cNvSpPr/>
            <p:nvPr/>
          </p:nvSpPr>
          <p:spPr>
            <a:xfrm>
              <a:off x="7330440" y="4178618"/>
              <a:ext cx="1731645" cy="494348"/>
            </a:xfrm>
            <a:custGeom>
              <a:avLst/>
              <a:gdLst/>
              <a:ahLst/>
              <a:cxnLst/>
              <a:rect l="l" t="t" r="r" b="b"/>
              <a:pathLst>
                <a:path w="1731645" h="494348">
                  <a:moveTo>
                    <a:pt x="1731645" y="0"/>
                  </a:moveTo>
                  <a:lnTo>
                    <a:pt x="1731645" y="300038"/>
                  </a:lnTo>
                  <a:lnTo>
                    <a:pt x="0" y="300038"/>
                  </a:lnTo>
                  <a:lnTo>
                    <a:pt x="0" y="49434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7278052" y="46729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9062085" y="4178618"/>
              <a:ext cx="1730692" cy="494348"/>
            </a:xfrm>
            <a:custGeom>
              <a:avLst/>
              <a:gdLst/>
              <a:ahLst/>
              <a:cxnLst/>
              <a:rect l="l" t="t" r="r" b="b"/>
              <a:pathLst>
                <a:path w="1730692" h="494348">
                  <a:moveTo>
                    <a:pt x="0" y="0"/>
                  </a:moveTo>
                  <a:lnTo>
                    <a:pt x="0" y="300038"/>
                  </a:lnTo>
                  <a:lnTo>
                    <a:pt x="1730692" y="300038"/>
                  </a:lnTo>
                  <a:lnTo>
                    <a:pt x="1730692" y="49434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10740390" y="46729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8" name="Freeform 58"/>
            <p:cNvSpPr/>
            <p:nvPr/>
          </p:nvSpPr>
          <p:spPr>
            <a:xfrm>
              <a:off x="8329612" y="1824038"/>
              <a:ext cx="1463993" cy="384810"/>
            </a:xfrm>
            <a:custGeom>
              <a:avLst/>
              <a:gdLst/>
              <a:ahLst/>
              <a:cxnLst/>
              <a:rect l="l" t="t" r="r" b="b"/>
              <a:pathLst>
                <a:path w="1463993" h="384810">
                  <a:moveTo>
                    <a:pt x="133350" y="0"/>
                  </a:moveTo>
                  <a:lnTo>
                    <a:pt x="1463993" y="0"/>
                  </a:lnTo>
                  <a:lnTo>
                    <a:pt x="1330643" y="384810"/>
                  </a:lnTo>
                  <a:lnTo>
                    <a:pt x="0" y="38481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597968" y="2808922"/>
              <a:ext cx="146494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060305" y="2808922"/>
              <a:ext cx="146494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329612" y="3792855"/>
              <a:ext cx="1464945" cy="385762"/>
            </a:xfrm>
            <a:prstGeom prst="roundRect">
              <a:avLst>
                <a:gd name="adj" fmla="val 24691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6597968" y="4777740"/>
              <a:ext cx="146494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060305" y="4777740"/>
              <a:ext cx="146494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830208" y="193786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86977" y="2922746"/>
              <a:ext cx="10869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编译器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317955" y="2922746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SPARC 编译器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604047" y="39076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同一份字节码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786977" y="4892516"/>
              <a:ext cx="10869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解释器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317955" y="4892516"/>
              <a:ext cx="949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SPARC 解释器</a:t>
              </a:r>
            </a:p>
          </p:txBody>
        </p:sp>
      </p:grpSp>
      <p:grpSp>
        <p:nvGrpSpPr>
          <p:cNvPr id="77" name="c2-callout-2"/>
          <p:cNvGrpSpPr/>
          <p:nvPr/>
        </p:nvGrpSpPr>
        <p:grpSpPr>
          <a:xfrm>
            <a:off x="6464618" y="5633085"/>
            <a:ext cx="5193982" cy="729615"/>
            <a:chOff x="6464618" y="5633085"/>
            <a:chExt cx="5193982" cy="729615"/>
          </a:xfrm>
        </p:grpSpPr>
        <p:sp>
          <p:nvSpPr>
            <p:cNvPr id="71" name="Rectangle 71"/>
            <p:cNvSpPr/>
            <p:nvPr/>
          </p:nvSpPr>
          <p:spPr>
            <a:xfrm>
              <a:off x="6464618" y="563308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6669405" y="5897880"/>
              <a:ext cx="200026" cy="200025"/>
              <a:chOff x="6669405" y="5897880"/>
              <a:chExt cx="200026" cy="20002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6669405" y="58978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709144" y="59423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6743859" y="60534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6972110" y="5779770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在哪种机器上编译，得到的字节码都一样；在哪种机器上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执行，结果也一样。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02102" cy="909257"/>
            <a:chOff x="520446" y="342900"/>
            <a:chExt cx="79021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021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(8) 解释执行 与 (9) 高性能：解释器加 JIT 编译器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085398" cy="2223135"/>
            <a:chOff x="533400" y="1524000"/>
            <a:chExt cx="5085398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69658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736" y="1769269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(8) 解释执行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2729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Java 程序先编译成 JVM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字节码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（bytecode），字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节码不依赖机器硬件，装有 Java 解释器（JVM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组成部分）的机器都能执行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308038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301752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字节码携带了许多编译时的信息，使连接过程更简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937635"/>
            <a:ext cx="5085398" cy="1937385"/>
            <a:chOff x="533400" y="3937635"/>
            <a:chExt cx="5085398" cy="1937385"/>
          </a:xfrm>
        </p:grpSpPr>
        <p:sp>
          <p:nvSpPr>
            <p:cNvPr id="16" name="Rectangle 16"/>
            <p:cNvSpPr/>
            <p:nvPr/>
          </p:nvSpPr>
          <p:spPr>
            <a:xfrm>
              <a:off x="533400" y="3937635"/>
              <a:ext cx="5085398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407098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4147185"/>
              <a:ext cx="927735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8686" y="4182904"/>
              <a:ext cx="772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(9) 高性能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58724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24375"/>
              <a:ext cx="4272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早期执行效率比不上 C/C++ 这类编译后直接执行的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208270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145405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字节码很容易转换成特定 CPU 的机器码；随着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升级和硬件提升，性能已大为改观</a:t>
              </a:r>
            </a:p>
          </p:txBody>
        </p:sp>
      </p:grpSp>
      <p:grpSp>
        <p:nvGrpSpPr>
          <p:cNvPr id="45" name="c2-flow-1"/>
          <p:cNvGrpSpPr/>
          <p:nvPr/>
        </p:nvGrpSpPr>
        <p:grpSpPr>
          <a:xfrm>
            <a:off x="6325552" y="1685925"/>
            <a:ext cx="5141596" cy="2722245"/>
            <a:chOff x="6325552" y="1685925"/>
            <a:chExt cx="5141596" cy="2722245"/>
          </a:xfrm>
        </p:grpSpPr>
        <p:sp>
          <p:nvSpPr>
            <p:cNvPr id="25" name="Freeform 25"/>
            <p:cNvSpPr/>
            <p:nvPr/>
          </p:nvSpPr>
          <p:spPr>
            <a:xfrm>
              <a:off x="8791575" y="2124075"/>
              <a:ext cx="9525" cy="137160"/>
            </a:xfrm>
            <a:custGeom>
              <a:avLst/>
              <a:gdLst/>
              <a:ahLst/>
              <a:cxnLst/>
              <a:rect l="l" t="t" r="r" b="b"/>
              <a:pathLst>
                <a:path w="9525" h="137160">
                  <a:moveTo>
                    <a:pt x="0" y="0"/>
                  </a:moveTo>
                  <a:lnTo>
                    <a:pt x="0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739188" y="22612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8791575" y="2967038"/>
              <a:ext cx="9525" cy="137160"/>
            </a:xfrm>
            <a:custGeom>
              <a:avLst/>
              <a:gdLst/>
              <a:ahLst/>
              <a:cxnLst/>
              <a:rect l="l" t="t" r="r" b="b"/>
              <a:pathLst>
                <a:path w="9525" h="137160">
                  <a:moveTo>
                    <a:pt x="0" y="0"/>
                  </a:moveTo>
                  <a:lnTo>
                    <a:pt x="0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739188" y="310419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791575" y="3647122"/>
              <a:ext cx="9525" cy="218123"/>
            </a:xfrm>
            <a:custGeom>
              <a:avLst/>
              <a:gdLst/>
              <a:ahLst/>
              <a:cxnLst/>
              <a:rect l="l" t="t" r="r" b="b"/>
              <a:pathLst>
                <a:path w="9525" h="218123">
                  <a:moveTo>
                    <a:pt x="0" y="0"/>
                  </a:moveTo>
                  <a:lnTo>
                    <a:pt x="0" y="21812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739188" y="38652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11257598" y="1905000"/>
              <a:ext cx="209550" cy="761047"/>
            </a:xfrm>
            <a:custGeom>
              <a:avLst/>
              <a:gdLst/>
              <a:ahLst/>
              <a:cxnLst/>
              <a:rect l="l" t="t" r="r" b="b"/>
              <a:pathLst>
                <a:path w="209550" h="761047">
                  <a:moveTo>
                    <a:pt x="0" y="761047"/>
                  </a:moveTo>
                  <a:lnTo>
                    <a:pt x="209550" y="761047"/>
                  </a:lnTo>
                  <a:lnTo>
                    <a:pt x="20955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1257598" y="18526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6325552" y="1685925"/>
              <a:ext cx="4932045" cy="438150"/>
            </a:xfrm>
            <a:custGeom>
              <a:avLst/>
              <a:gdLst/>
              <a:ahLst/>
              <a:cxnLst/>
              <a:rect l="l" t="t" r="r" b="b"/>
              <a:pathLst>
                <a:path w="4932045" h="438150">
                  <a:moveTo>
                    <a:pt x="133350" y="0"/>
                  </a:moveTo>
                  <a:lnTo>
                    <a:pt x="4932045" y="0"/>
                  </a:lnTo>
                  <a:lnTo>
                    <a:pt x="479869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325552" y="2366010"/>
              <a:ext cx="4932045" cy="601028"/>
            </a:xfrm>
            <a:custGeom>
              <a:avLst/>
              <a:gdLst/>
              <a:ahLst/>
              <a:cxnLst/>
              <a:rect l="l" t="t" r="r" b="b"/>
              <a:pathLst>
                <a:path w="4932045" h="601028">
                  <a:moveTo>
                    <a:pt x="2466022" y="0"/>
                  </a:moveTo>
                  <a:lnTo>
                    <a:pt x="4932045" y="300037"/>
                  </a:lnTo>
                  <a:lnTo>
                    <a:pt x="2466022" y="601028"/>
                  </a:lnTo>
                  <a:lnTo>
                    <a:pt x="0" y="300037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325552" y="3208972"/>
              <a:ext cx="4932045" cy="438150"/>
            </a:xfrm>
            <a:prstGeom prst="roundRect">
              <a:avLst>
                <a:gd name="adj" fmla="val 2173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325552" y="3970020"/>
              <a:ext cx="4932045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23530" y="181594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解释器逐条执行字节码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68157" y="257698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是热点代码？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41086" y="3338989"/>
              <a:ext cx="17009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JIT 编译成本地机器码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09687" y="410003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之后直接执行机器码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820150" y="299561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843391" y="302228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1209972" y="219360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1263313" y="222027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5923598" y="4760595"/>
            <a:ext cx="5735002" cy="1602105"/>
            <a:chOff x="5923598" y="4760595"/>
            <a:chExt cx="5735002" cy="1602105"/>
          </a:xfrm>
        </p:grpSpPr>
        <p:sp>
          <p:nvSpPr>
            <p:cNvPr id="46" name="Rectangle 46"/>
            <p:cNvSpPr/>
            <p:nvPr/>
          </p:nvSpPr>
          <p:spPr>
            <a:xfrm>
              <a:off x="5923598" y="4760595"/>
              <a:ext cx="5735002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5933122" y="489394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171248" y="49701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262408" y="50058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163628" y="5347335"/>
              <a:ext cx="50825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原课件说“Java 解释器直接对字节码进行解释执行”。现在的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HotSpot 采用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混合模式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，热点代码由 JIT 编译成本地机器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码；java -version 输出的 mixed mode 指的就是它。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47367" cy="909257"/>
            <a:chOff x="520446" y="342900"/>
            <a:chExt cx="44473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473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(10) 多线程 与 (11) 动态性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05396" y="1524000"/>
            <a:ext cx="4816602" cy="4861179"/>
            <a:chOff x="505396" y="1524000"/>
            <a:chExt cx="4816602" cy="4861179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10872" t="0" r="10871" b="0"/>
            <a:stretch>
              <a:fillRect/>
            </a:stretch>
          </p:blipFill>
          <p:spPr>
            <a:xfrm>
              <a:off x="533400" y="1524000"/>
              <a:ext cx="4760595" cy="4562475"/>
            </a:xfrm>
            <a:prstGeom prst="roundRect">
              <a:avLst>
                <a:gd name="adj" fmla="val 2922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505396" y="6179820"/>
              <a:ext cx="48166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五个人同时做一张桌子：一人做桌面，四人各做一条腿。每个人就像一个线程</a:t>
              </a:r>
            </a:p>
          </p:txBody>
        </p:sp>
      </p:grpSp>
      <p:grpSp>
        <p:nvGrpSpPr>
          <p:cNvPr id="20" name="c2-card-1"/>
          <p:cNvGrpSpPr/>
          <p:nvPr/>
        </p:nvGrpSpPr>
        <p:grpSpPr>
          <a:xfrm>
            <a:off x="5598795" y="1524000"/>
            <a:ext cx="6059805" cy="2429828"/>
            <a:chOff x="5598795" y="1524000"/>
            <a:chExt cx="6059805" cy="2429828"/>
          </a:xfrm>
        </p:grpSpPr>
        <p:sp>
          <p:nvSpPr>
            <p:cNvPr id="10" name="Rectangle 10"/>
            <p:cNvSpPr/>
            <p:nvPr/>
          </p:nvSpPr>
          <p:spPr>
            <a:xfrm>
              <a:off x="5598795" y="1524000"/>
              <a:ext cx="6059805" cy="2429828"/>
            </a:xfrm>
            <a:prstGeom prst="roundRect">
              <a:avLst>
                <a:gd name="adj" fmla="val 54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608320" y="1657350"/>
              <a:ext cx="47625" cy="216312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835015" y="1722120"/>
              <a:ext cx="960120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912191" y="1756410"/>
              <a:ext cx="8057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(10) 多线程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842635" y="2143125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99226" y="2082641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让程序中的多个任务并行执行，同步机制保证对共享数据的正确操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842635" y="2731770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99226" y="267223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不同线程完成不同的行为，不需要全局的事件循环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842635" y="3049905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99226" y="2989421"/>
              <a:ext cx="518121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多线程支持集成在 Java 语言和类库中（Thread 类、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synchronized 关键字）；很多语言要调用操作系统的特定过程才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能使用多线程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5598795" y="4133850"/>
            <a:ext cx="6059805" cy="2158365"/>
            <a:chOff x="5598795" y="4133850"/>
            <a:chExt cx="6059805" cy="2158365"/>
          </a:xfrm>
        </p:grpSpPr>
        <p:sp>
          <p:nvSpPr>
            <p:cNvPr id="21" name="Rectangle 21"/>
            <p:cNvSpPr/>
            <p:nvPr/>
          </p:nvSpPr>
          <p:spPr>
            <a:xfrm>
              <a:off x="5598795" y="4133850"/>
              <a:ext cx="6059805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608320" y="4267200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835015" y="4331970"/>
              <a:ext cx="960120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12191" y="4366260"/>
              <a:ext cx="8057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(11) 动态性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842635" y="4752975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99226" y="4692491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适应不断变化的环境：类库中可以加入新的方法和实例变量，不影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响已有用户程序的执行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842635" y="5341620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999226" y="5282089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类在运行时才按需加载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842635" y="5659755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99226" y="5599271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一个类只能继承一个父类，但可以实现多个接口，比严格的类继承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更灵活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56241" cy="909257"/>
            <a:chOff x="520446" y="342900"/>
            <a:chExt cx="745624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5624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1.1.5 两类 Java 程序：Application 与 Applet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276022" cy="2762250"/>
            <a:chOff x="533400" y="1524000"/>
            <a:chExt cx="6276022" cy="2762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2481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9820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77281" y="1652588"/>
              <a:ext cx="13452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Application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40472" y="1652588"/>
              <a:ext cx="964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Applet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18313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65554" y="2076450"/>
              <a:ext cx="21153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标准的 Java 程序，与传统高级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语言程序类似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38256" y="2076450"/>
              <a:ext cx="21381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嵌入 HTML 网页的小程序（-let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表示“小”）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8127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86038"/>
              <a:ext cx="6276022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8213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运行方式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65554" y="2821305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独立运行的完整应用程序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38256" y="2714625"/>
              <a:ext cx="19629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由兼容 Java 的浏览器控制运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行，需要安装插件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21945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34594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65554" y="3459480"/>
              <a:ext cx="17649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有固定入口 main() 方法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38256" y="3352800"/>
              <a:ext cx="20619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main()，有一个从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java.applet.Applet 派生的类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85667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861435"/>
              <a:ext cx="627602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9900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现状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65554" y="399002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本课程主要写这一类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38256" y="39900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已淘汰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276022" cy="2762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658302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231005" y="152400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rd-2"/>
          <p:cNvGrpSpPr/>
          <p:nvPr/>
        </p:nvGrpSpPr>
        <p:grpSpPr>
          <a:xfrm>
            <a:off x="533400" y="4466272"/>
            <a:ext cx="6276022" cy="1522095"/>
            <a:chOff x="533400" y="4466272"/>
            <a:chExt cx="6276022" cy="1522095"/>
          </a:xfrm>
        </p:grpSpPr>
        <p:sp>
          <p:nvSpPr>
            <p:cNvPr id="32" name="Rectangle 32"/>
            <p:cNvSpPr/>
            <p:nvPr/>
          </p:nvSpPr>
          <p:spPr>
            <a:xfrm>
              <a:off x="533400" y="4466272"/>
              <a:ext cx="6276022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4599622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9620" y="466439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61060" y="46986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381" y="5024914"/>
              <a:ext cx="54246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 Applet“已逐渐被 Flash、HTML5 等最新技术取代”。Flash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本身也已在 2020 年底停止支持。Applet API 在 JDK 9 被标记弃用，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17 标记为将被删除，主流浏览器早已不再支持 Java 插件。</a:t>
              </a:r>
            </a:p>
          </p:txBody>
        </p:sp>
      </p:grpSp>
      <p:grpSp>
        <p:nvGrpSpPr>
          <p:cNvPr id="41" name="c2-code-1"/>
          <p:cNvGrpSpPr/>
          <p:nvPr/>
        </p:nvGrpSpPr>
        <p:grpSpPr>
          <a:xfrm>
            <a:off x="7114222" y="1524000"/>
            <a:ext cx="4544378" cy="2019300"/>
            <a:chOff x="7114222" y="1524000"/>
            <a:chExt cx="4544378" cy="2019300"/>
          </a:xfrm>
        </p:grpSpPr>
        <p:sp>
          <p:nvSpPr>
            <p:cNvPr id="38" name="Rectangle 38"/>
            <p:cNvSpPr/>
            <p:nvPr/>
          </p:nvSpPr>
          <p:spPr>
            <a:xfrm>
              <a:off x="7114222" y="1524000"/>
              <a:ext cx="4544378" cy="2019300"/>
            </a:xfrm>
            <a:prstGeom prst="roundRect">
              <a:avLst>
                <a:gd name="adj" fmla="val 47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242620" y="1675924"/>
              <a:ext cx="16656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Applet 的样子（仅作了解）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42238" y="1937385"/>
              <a:ext cx="3017711" cy="15321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java.applet.Applet;</a:t>
              </a:r>
              <a:br/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java.awt.Graphics;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HelloApplet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paint(Graphics g)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g.drawString(</a:t>
              </a:r>
              <a:r>
                <a:rPr lang="en-US" sz="105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"Hello"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20, 20);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7114222" y="3723322"/>
            <a:ext cx="4544378" cy="1018222"/>
            <a:chOff x="7114222" y="3723322"/>
            <a:chExt cx="4544378" cy="1018222"/>
          </a:xfrm>
        </p:grpSpPr>
        <p:sp>
          <p:nvSpPr>
            <p:cNvPr id="42" name="Rectangle 42"/>
            <p:cNvSpPr/>
            <p:nvPr/>
          </p:nvSpPr>
          <p:spPr>
            <a:xfrm>
              <a:off x="7114222" y="3723322"/>
              <a:ext cx="4544378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7319010" y="4132898"/>
              <a:ext cx="200026" cy="200025"/>
              <a:chOff x="7319010" y="4132898"/>
              <a:chExt cx="200026" cy="20002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319010" y="41328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58749" y="41773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393464" y="42884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621334" y="3870484"/>
              <a:ext cx="3630295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没有 main 方法，由浏览器创建对象并调用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paint 等方法。新版 JDK 编译这段代码会给出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弃用警告。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61443" cy="909257"/>
            <a:chOff x="520446" y="342900"/>
            <a:chExt cx="546144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6144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1.1.6 Java 与 C/C++ 的 9 点区别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3" name="c1-table-1"/>
          <p:cNvGrpSpPr/>
          <p:nvPr/>
        </p:nvGrpSpPr>
        <p:grpSpPr>
          <a:xfrm>
            <a:off x="533400" y="1524000"/>
            <a:ext cx="11125200" cy="4000500"/>
            <a:chOff x="533400" y="1524000"/>
            <a:chExt cx="11125200" cy="4000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02601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524878" y="1645444"/>
              <a:ext cx="4714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C/C++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39794" y="1645444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全局变量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32710" y="20454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可以在函数和类之外定义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82790" y="2045494"/>
              <a:ext cx="2883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不允许；用类中的静态（static）变量实现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668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goto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32710" y="2445544"/>
              <a:ext cx="8859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goto 语句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82790" y="2445544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goto 语句（goto 是保留字，但不能使用）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4559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(3) 指针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32710" y="284559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有指针变量和指针运算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82790" y="28455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没有指针型变量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194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242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245644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(4) 内存管理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32710" y="3245644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malloc/free、new/delete 手工管理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82790" y="324564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自动化，由垃圾回收器回收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194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3645694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(5) 数据类型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32710" y="364569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类型长度随平台变化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82790" y="3645694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统一规格（如 int 固定 32 位），保证平台无关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195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243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55" y="4045744"/>
              <a:ext cx="923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(6) 类型转换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632710" y="404574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可以任意强制转换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82790" y="404574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只允许相容类型之间转换，运行时还要检查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3195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555" y="4445794"/>
              <a:ext cx="772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(7) 头文件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632710" y="4445794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#include 包含头文件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82790" y="4445794"/>
              <a:ext cx="2099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没有头文件，用 import 引入类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7196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47244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0555" y="4845844"/>
              <a:ext cx="12247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(8) 结构体和联合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632710" y="4845844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struct、union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82790" y="484584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没有，用类表示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1196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0555" y="5245894"/>
              <a:ext cx="10740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(9) 预处理和宏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632710" y="5245894"/>
              <a:ext cx="1556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#define、#ifdef 等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082790" y="5245894"/>
              <a:ext cx="260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没有预处理；常量用 static final 定义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11125200" cy="4000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2530792" y="1524000"/>
              <a:ext cx="9525" cy="4000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980872" y="1524000"/>
              <a:ext cx="9525" cy="4000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4" name="Rectangle 5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892" y="6028373"/>
              <a:ext cx="76349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语言特色：类不支持多重继承，有 abstract / final 类、接口、自动内存回收、多线程。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79090" cy="909257"/>
            <a:chOff x="520446" y="342900"/>
            <a:chExt cx="6179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79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例：同一段逻辑，C 和 Java 的写法对照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096578"/>
            <a:chOff x="533400" y="1524000"/>
            <a:chExt cx="5410200" cy="30965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096578"/>
            </a:xfrm>
            <a:prstGeom prst="roundRect">
              <a:avLst>
                <a:gd name="adj" fmla="val 30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981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 语言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0654" y="1939290"/>
              <a:ext cx="3555492" cy="261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#include &lt;stdio.h&gt;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#include &lt;stdlib.h&gt;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#define MAX 100              /* 宏定义 */</a:t>
              </a:r>
              <a:br/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 = 0;      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全局变量 */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*a = malloc(MAX *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sizeof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));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a[0] = ++count;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printf(</a:t>
              </a:r>
              <a:r>
                <a:rPr lang="en-US" sz="120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"%d\n"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, a[0]);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free(a);        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手工释放 */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0;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6248400" y="1524000"/>
            <a:ext cx="5410200" cy="2664142"/>
            <a:chOff x="6248400" y="1524000"/>
            <a:chExt cx="5410200" cy="2664142"/>
          </a:xfrm>
        </p:grpSpPr>
        <p:sp>
          <p:nvSpPr>
            <p:cNvPr id="11" name="Rectangle 11"/>
            <p:cNvSpPr/>
            <p:nvPr/>
          </p:nvSpPr>
          <p:spPr>
            <a:xfrm>
              <a:off x="6248400" y="1524000"/>
              <a:ext cx="5410200" cy="2664142"/>
            </a:xfrm>
            <a:prstGeom prst="roundRect">
              <a:avLst>
                <a:gd name="adj" fmla="val 357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76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75654" y="1939290"/>
              <a:ext cx="4805172" cy="21806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02"/>
                </a:lnSpc>
              </a:pP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Demo {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 = 100;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常量代替宏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count = 0;      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静态变量代替全局变量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main(String[] args) {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a =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20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[MAX];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没有指针，a 是数组引用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a[0] = ++count;</a:t>
              </a:r>
              <a:br/>
              <a:r>
                <a:rPr lang="en-US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System.out.println(a[0]);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  </a:t>
              </a:r>
              <a:r>
                <a:rPr lang="zh-CN" sz="12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不用 free：a 不再被引用后由垃圾回收器回收</a:t>
              </a:r>
              <a:br/>
              <a:r>
                <a:rPr lang="zh-CN" sz="12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871210"/>
              <a:ext cx="200026" cy="200025"/>
              <a:chOff x="738188" y="5871210"/>
              <a:chExt cx="200026" cy="200025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7926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12642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5728335"/>
              <a:ext cx="96831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两个程序都输出 1。对照看：#define → static final，全局变量 → static 变量，malloc/free → new 加垃圾回收，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#include → import。</a:t>
              </a:r>
            </a:p>
          </p:txBody>
        </p:sp>
      </p:grpSp>
      <p:grpSp>
        <p:nvGrpSpPr>
          <p:cNvPr id="2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2" name="TextBox 2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73405" cy="909257"/>
            <a:chOff x="520446" y="342900"/>
            <a:chExt cx="69734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734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1.1.7 类库与 API 文档：Java 的“编程词典”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202055"/>
            <a:chOff x="533400" y="1524000"/>
            <a:chExt cx="5626418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7820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API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9343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实现各种基本功能和常用功能的标准类库。API 文档逐个说明类的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继承结构、成员变量、构造方法和成员方法。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2896552"/>
            <a:ext cx="5626418" cy="2400300"/>
            <a:chOff x="533400" y="2896552"/>
            <a:chExt cx="5626418" cy="2400300"/>
          </a:xfrm>
        </p:grpSpPr>
        <p:sp>
          <p:nvSpPr>
            <p:cNvPr id="14" name="Rectangle 14"/>
            <p:cNvSpPr/>
            <p:nvPr/>
          </p:nvSpPr>
          <p:spPr>
            <a:xfrm>
              <a:off x="533400" y="2896552"/>
              <a:ext cx="5626418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20826" y="30179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57575" y="30179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类和接口的数量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0555" y="3418046"/>
              <a:ext cx="67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1.0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18385" y="3418046"/>
              <a:ext cx="6069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 多个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6918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69665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818096"/>
              <a:ext cx="67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1.1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18385" y="3818096"/>
              <a:ext cx="652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500 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919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4218146"/>
              <a:ext cx="67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1.2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18385" y="4218146"/>
              <a:ext cx="7351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1500 个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4919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49675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0555" y="4618196"/>
              <a:ext cx="6777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1.4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318385" y="4618196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 2700 个（135 个包）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8920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5018246"/>
              <a:ext cx="5011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318385" y="5018246"/>
              <a:ext cx="2793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3700 多个（200 多个包，三万多个方法）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2896552"/>
              <a:ext cx="5626418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216468" y="289655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steps-1"/>
          <p:cNvGrpSpPr/>
          <p:nvPr/>
        </p:nvGrpSpPr>
        <p:grpSpPr>
          <a:xfrm>
            <a:off x="6464618" y="1533525"/>
            <a:ext cx="4279518" cy="2476023"/>
            <a:chOff x="6464618" y="1533525"/>
            <a:chExt cx="4279518" cy="2476023"/>
          </a:xfrm>
        </p:grpSpPr>
        <p:sp>
          <p:nvSpPr>
            <p:cNvPr id="36" name="Rectangle 36"/>
            <p:cNvSpPr/>
            <p:nvPr/>
          </p:nvSpPr>
          <p:spPr>
            <a:xfrm>
              <a:off x="6597968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6464618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5824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64618" y="211645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58241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64618" y="269938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58241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64618" y="328231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58241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76860" y="1564957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打开对应版本的官方文档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78002" y="1833086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 docs.oracle.com/en/java/javase/17/docs/api/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76860" y="21478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找到类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78002" y="2416016"/>
              <a:ext cx="38386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按模块和包查找，或用右上角搜索，如 java.lang.String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876860" y="27308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看类的说明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8002" y="299894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继承关系、实现的接口、用法说明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76860" y="331374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查成员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878002" y="3581876"/>
              <a:ext cx="386613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字段、构造方法、方法摘要（Field / Constructor / Method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Summary），点进去看参数、返回值和异常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6464618" y="4172902"/>
            <a:ext cx="5193982" cy="2000250"/>
            <a:chOff x="6464618" y="4172902"/>
            <a:chExt cx="5193982" cy="2000250"/>
          </a:xfrm>
        </p:grpSpPr>
        <p:sp>
          <p:nvSpPr>
            <p:cNvPr id="54" name="Rectangle 54"/>
            <p:cNvSpPr/>
            <p:nvPr/>
          </p:nvSpPr>
          <p:spPr>
            <a:xfrm>
              <a:off x="6464618" y="4172902"/>
              <a:ext cx="5193982" cy="200025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74142" y="4306252"/>
              <a:ext cx="47625" cy="17335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689408" y="435959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782079" y="439245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697980" y="475964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853999" y="4703445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 Java 1.2 有 16 个包、近 500 个类。近 500 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 Java 1.1 的规模，1.2 加入 Swing 和集合框架后超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 1500 个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697980" y="557403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853999" y="5517833"/>
              <a:ext cx="44028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原课件推荐的“JDK 6 API 中文文档”太旧，查不到新特性，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应看所用 JDK 版本的官方文档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02187" cy="909257"/>
            <a:chOff x="520446" y="342900"/>
            <a:chExt cx="50021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021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近几个 LTS 版本的代表性新特性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table-1"/>
          <p:cNvGrpSpPr/>
          <p:nvPr/>
        </p:nvGrpSpPr>
        <p:grpSpPr>
          <a:xfrm>
            <a:off x="533400" y="1524000"/>
            <a:ext cx="6492240" cy="3000375"/>
            <a:chOff x="533400" y="1524000"/>
            <a:chExt cx="6492240" cy="30003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079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版本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05364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代表性新特性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429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8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99272" y="2045494"/>
              <a:ext cx="43255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Lambda 表达式、Stream API、新的日期时间 API（java.time）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193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24100"/>
              <a:ext cx="649224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545556"/>
              <a:ext cx="52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99272" y="2445544"/>
              <a:ext cx="48902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 HTTP 客户端 API；lambda 参数可以用 var 声明；可以直接运行单个源文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1941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3145631"/>
              <a:ext cx="52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17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99272" y="3045619"/>
              <a:ext cx="491159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密封类（sealed）；强封装 JDK 内部 API；macOS 新渲染管线；垃圾收集器持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续优化。JDK 16 定稿的记录类（record）、instanceof 模式匹配也包含在内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194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524250"/>
              <a:ext cx="649224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745706"/>
              <a:ext cx="52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21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99272" y="3645694"/>
              <a:ext cx="47764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虚拟线程（正式功能）；switch 模式匹配和记录模式；分代 ZGC；有序集合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（Sequenced Collections）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1195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4245769"/>
              <a:ext cx="52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25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799272" y="4245769"/>
              <a:ext cx="4800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紧凑源文件与实例 main 方法；模块导入声明；作用域值 Scoped Values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1524000"/>
              <a:ext cx="6492240" cy="30003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697355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rd-2"/>
          <p:cNvGrpSpPr/>
          <p:nvPr/>
        </p:nvGrpSpPr>
        <p:grpSpPr>
          <a:xfrm>
            <a:off x="533400" y="4693920"/>
            <a:ext cx="6492240" cy="1485900"/>
            <a:chOff x="533400" y="4693920"/>
            <a:chExt cx="6492240" cy="1485900"/>
          </a:xfrm>
        </p:grpSpPr>
        <p:sp>
          <p:nvSpPr>
            <p:cNvPr id="29" name="Rectangle 29"/>
            <p:cNvSpPr/>
            <p:nvPr/>
          </p:nvSpPr>
          <p:spPr>
            <a:xfrm>
              <a:off x="533400" y="4693920"/>
              <a:ext cx="6492240" cy="1485900"/>
            </a:xfrm>
            <a:prstGeom prst="roundRect">
              <a:avLst>
                <a:gd name="adj" fmla="val 89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827270"/>
              <a:ext cx="47625" cy="12192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58190" y="488061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5609" y="491347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两个常用开关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66762" y="528161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22782" y="5225415"/>
              <a:ext cx="5429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预览特性编译和运行都要加 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--enable-preview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，转正之后就不用加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66762" y="558165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22782" y="5525452"/>
              <a:ext cx="557726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 API 是哪版加的看文档里的 Since；</a:t>
              </a: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javac --release 8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能验证是否兼容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旧版本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7330440" y="1524000"/>
            <a:ext cx="4328160" cy="4655820"/>
            <a:chOff x="7330440" y="1524000"/>
            <a:chExt cx="4328160" cy="4655820"/>
          </a:xfrm>
        </p:grpSpPr>
        <p:sp>
          <p:nvSpPr>
            <p:cNvPr id="38" name="Rectangle 38"/>
            <p:cNvSpPr/>
            <p:nvPr/>
          </p:nvSpPr>
          <p:spPr>
            <a:xfrm>
              <a:off x="7330440" y="1524000"/>
              <a:ext cx="4328160" cy="4655820"/>
            </a:xfrm>
            <a:prstGeom prst="roundRect">
              <a:avLst>
                <a:gd name="adj" fmla="val 30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339965" y="1657350"/>
              <a:ext cx="47625" cy="4389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55523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4790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7563802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719822" y="2054542"/>
              <a:ext cx="359702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原课件说 JDK 11 引入了 var 关键字。局部变量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类型推断 var 是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JDK 10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引入的，JDK 11 只是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允许在 lambda 参数中使用 var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563802" y="292608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719822" y="2869882"/>
              <a:ext cx="357130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JDK 21 的虚拟线程写成“预览功能”。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虚拟线程在 JDK 19、20 是预览，JDK 21 已是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正式功能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7563802" y="374046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719822" y="3684270"/>
              <a:ext cx="34598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原课件列出 JDK 21 的“泛型改进”。JDK 21 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没有这样一项独立的新特性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5649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6226" y="407194"/>
              <a:ext cx="2351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1.1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新特性长什么样：先认识，后面章节再细学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3748088"/>
            <a:chOff x="533400" y="1524000"/>
            <a:chExt cx="6276022" cy="37480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3748088"/>
            </a:xfrm>
            <a:prstGeom prst="roundRect">
              <a:avLst>
                <a:gd name="adj" fmla="val 254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548886" cy="32632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10：var 局部变量类型推断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var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 =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ArrayList&lt;String&gt;();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list.add(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"Java"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8：Lambda 表达式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list.forEach(s -&gt; System.out.println(s));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16：instanceof 模式匹配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Object obj =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"hello"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(obj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instanceof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s)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System.out.println(s.length());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16：记录类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record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Point(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x,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y) { }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17：密封接口，只允许 Circle、Square 实现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sealed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permits Circle, Square { }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JDK 21：虚拟线程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Thread.startVirtualThread(() -&gt; System.out.println(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"hi"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));</a:t>
              </a:r>
            </a:p>
          </p:txBody>
        </p:sp>
      </p:grpSp>
      <p:grpSp>
        <p:nvGrpSpPr>
          <p:cNvPr id="28" name="c2-kv-1"/>
          <p:cNvGrpSpPr/>
          <p:nvPr/>
        </p:nvGrpSpPr>
        <p:grpSpPr>
          <a:xfrm>
            <a:off x="7106602" y="1548765"/>
            <a:ext cx="4551998" cy="3903345"/>
            <a:chOff x="7106602" y="1548765"/>
            <a:chExt cx="4551998" cy="3903345"/>
          </a:xfrm>
        </p:grpSpPr>
        <p:sp>
          <p:nvSpPr>
            <p:cNvPr id="11" name="TextBox 11"/>
            <p:cNvSpPr txBox="1"/>
            <p:nvPr/>
          </p:nvSpPr>
          <p:spPr>
            <a:xfrm>
              <a:off x="7106602" y="1548765"/>
              <a:ext cx="3650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var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147685" y="154876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编译器根据右边的表达式推断变量类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型，变量仍然是静态类型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114222" y="215074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106602" y="2270760"/>
              <a:ext cx="7643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Lambda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7685" y="227076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把一段代码当作参数传给方法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114222" y="25908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06602" y="2710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模式匹配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7685" y="271081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判断类型的同时完成类型转换，并绑定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到变量 s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114222" y="331279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106602" y="3432810"/>
              <a:ext cx="7149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record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7685" y="3432810"/>
              <a:ext cx="27203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自动生成构造方法、访问方法、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equals、hashCode 和 toString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114222" y="403479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06602" y="4154805"/>
              <a:ext cx="661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sealed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47685" y="415480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规定哪些类可以继承某个类或实现某个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114222" y="475678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106602" y="4876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虚拟线程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47685" y="4876800"/>
              <a:ext cx="33394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JVM 调度的轻量级线程，可以大量创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023991" cy="3351847"/>
            <a:chOff x="667512" y="1835468"/>
            <a:chExt cx="6023991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9054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 程序结构与运行机制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写出第一个程序，看清它从源代码到运行结果经过了哪些步骤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180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1.2.1 一个简单的 Java 程序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源文件的组成规则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446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1.2.2 运行的五个阶段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8575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运行时系统、JVM、JRE 与 JDK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37306" cy="909257"/>
            <a:chOff x="520446" y="342900"/>
            <a:chExt cx="76373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373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1.1 在屏幕上显示 this is a simple program!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276022" cy="2088832"/>
            <a:chOff x="533400" y="1524000"/>
            <a:chExt cx="6276022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089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SimpleApp.java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602230"/>
              <a:ext cx="6237922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9554" y="1935956"/>
              <a:ext cx="78359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2307" y="1935956"/>
              <a:ext cx="3843274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Example 1 of Chapter 1</a:t>
              </a:r>
              <a:br/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This is a simple instance of java application</a:t>
              </a:r>
              <a:br/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SimpleApp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static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main(String args[])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System.out.println(</a:t>
              </a:r>
              <a:r>
                <a:rPr lang="en-US" sz="98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"this is a simple program!"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3782378"/>
            <a:ext cx="6276022" cy="1033462"/>
            <a:chOff x="533400" y="3782378"/>
            <a:chExt cx="6276022" cy="1033462"/>
          </a:xfrm>
        </p:grpSpPr>
        <p:sp>
          <p:nvSpPr>
            <p:cNvPr id="13" name="Rectangle 13"/>
            <p:cNvSpPr/>
            <p:nvPr/>
          </p:nvSpPr>
          <p:spPr>
            <a:xfrm>
              <a:off x="533400" y="3782378"/>
              <a:ext cx="6276022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93430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命令行编译和运行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1797" y="4195286"/>
              <a:ext cx="1721231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C:\&gt; javac SimpleApp.java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C:\&gt; java SimpleApp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this is a simple program!</a:t>
              </a:r>
            </a:p>
          </p:txBody>
        </p:sp>
      </p:grpSp>
      <p:grpSp>
        <p:nvGrpSpPr>
          <p:cNvPr id="27" name="c1-card-3"/>
          <p:cNvGrpSpPr/>
          <p:nvPr/>
        </p:nvGrpSpPr>
        <p:grpSpPr>
          <a:xfrm>
            <a:off x="533400" y="4986338"/>
            <a:ext cx="6276022" cy="1228725"/>
            <a:chOff x="533400" y="4986338"/>
            <a:chExt cx="6276022" cy="1228725"/>
          </a:xfrm>
        </p:grpSpPr>
        <p:sp>
          <p:nvSpPr>
            <p:cNvPr id="17" name="Rectangle 17"/>
            <p:cNvSpPr/>
            <p:nvPr/>
          </p:nvSpPr>
          <p:spPr>
            <a:xfrm>
              <a:off x="533400" y="4986338"/>
              <a:ext cx="6276022" cy="1228725"/>
            </a:xfrm>
            <a:prstGeom prst="roundRect">
              <a:avLst>
                <a:gd name="adj" fmla="val 108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5119688"/>
              <a:ext cx="47625" cy="9620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8190" y="5173028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9660" y="520588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改一处试试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58190" y="5504498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3868" y="55438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8987" y="5516880"/>
              <a:ext cx="50722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 main 前的 static：运行时报 Main method is not static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58190" y="5805488"/>
              <a:ext cx="192405" cy="19240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13868" y="58438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8987" y="5816918"/>
              <a:ext cx="55172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类名改成 simpleApp 而文件名不动：编译器要求文件名与公共类同名</a:t>
              </a:r>
            </a:p>
          </p:txBody>
        </p:sp>
      </p:grpSp>
      <p:grpSp>
        <p:nvGrpSpPr>
          <p:cNvPr id="45" name="c2-kv-1"/>
          <p:cNvGrpSpPr/>
          <p:nvPr/>
        </p:nvGrpSpPr>
        <p:grpSpPr>
          <a:xfrm>
            <a:off x="7107364" y="1545907"/>
            <a:ext cx="4551236" cy="2226184"/>
            <a:chOff x="7107364" y="1545907"/>
            <a:chExt cx="4551236" cy="2226184"/>
          </a:xfrm>
        </p:grpSpPr>
        <p:sp>
          <p:nvSpPr>
            <p:cNvPr id="28" name="TextBox 28"/>
            <p:cNvSpPr txBox="1"/>
            <p:nvPr/>
          </p:nvSpPr>
          <p:spPr>
            <a:xfrm>
              <a:off x="7107364" y="1545907"/>
              <a:ext cx="806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1–2 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34160" y="1545907"/>
              <a:ext cx="26307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注释行，// 之后到行尾都是注释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114222" y="183261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107364" y="1938338"/>
              <a:ext cx="596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3 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34160" y="1938338"/>
              <a:ext cx="25050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定义主类（应用类）SimpleApp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114222" y="222504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107364" y="2330768"/>
              <a:ext cx="596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5 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34160" y="2330768"/>
              <a:ext cx="22763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主方法 main，是程序的入口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114222" y="261747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107364" y="2723198"/>
              <a:ext cx="596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7 行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34160" y="272319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在屏幕上输出一行字符串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114222" y="30099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107364" y="3115627"/>
              <a:ext cx="596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8 行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34160" y="311562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结束主方法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114222" y="340233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107364" y="3508058"/>
              <a:ext cx="5966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 9 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134160" y="350805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结束主类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7114222" y="3889058"/>
            <a:ext cx="4544378" cy="2326005"/>
            <a:chOff x="7114222" y="3889058"/>
            <a:chExt cx="4544378" cy="2326005"/>
          </a:xfrm>
        </p:grpSpPr>
        <p:sp>
          <p:nvSpPr>
            <p:cNvPr id="46" name="Rectangle 46"/>
            <p:cNvSpPr/>
            <p:nvPr/>
          </p:nvSpPr>
          <p:spPr>
            <a:xfrm>
              <a:off x="7114222" y="3889058"/>
              <a:ext cx="4544378" cy="2326005"/>
            </a:xfrm>
            <a:prstGeom prst="roundRect">
              <a:avLst>
                <a:gd name="adj" fmla="val 57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3748" y="4022408"/>
              <a:ext cx="47625" cy="20593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39012" y="407574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30732" y="410860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332154" y="4420552"/>
              <a:ext cx="38370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原课件例题标题和运行结果写成“this s a simple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program!”，漏了 is。程序实际输出的是 this is a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 program!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14567" cy="909257"/>
            <a:chOff x="520446" y="342900"/>
            <a:chExt cx="63145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145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读懂 main 方法和 System.out.println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kv-1"/>
          <p:cNvGrpSpPr/>
          <p:nvPr/>
        </p:nvGrpSpPr>
        <p:grpSpPr>
          <a:xfrm>
            <a:off x="525780" y="1548765"/>
            <a:ext cx="5958840" cy="3779520"/>
            <a:chOff x="525780" y="1548765"/>
            <a:chExt cx="5958840" cy="37795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13538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public class</a:t>
              </a:r>
              <a:br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SimpleApp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667952" y="1548765"/>
              <a:ext cx="2301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公共类；类名必须与文件名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SimpleApp.java 一致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608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public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667952" y="2270760"/>
              <a:ext cx="3253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必须能被 JVM 从类的外部调用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661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static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67952" y="2710815"/>
              <a:ext cx="35029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不用创建对象，JVM 通过类名直接调用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303085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5780" y="3150870"/>
              <a:ext cx="428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void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67952" y="3150870"/>
              <a:ext cx="13176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 不返回值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47091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5780" y="3590925"/>
              <a:ext cx="14331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String args[]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667952" y="3590925"/>
              <a:ext cx="3634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命令行参数组成的字符串数组，更常见的写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法是 String[] args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419290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5780" y="4312920"/>
              <a:ext cx="1231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System.out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67952" y="4312920"/>
              <a:ext cx="35680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out 是 System 类中 PrintStream 类型的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静态对象，代表标准输出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91490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5780" y="5034915"/>
              <a:ext cx="725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println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67952" y="5034915"/>
              <a:ext cx="3407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输出内容后换行；print 输出后不换行</a:t>
              </a:r>
            </a:p>
          </p:txBody>
        </p:sp>
      </p:grpSp>
      <p:grpSp>
        <p:nvGrpSpPr>
          <p:cNvPr id="31" name="c2-code-1"/>
          <p:cNvGrpSpPr/>
          <p:nvPr/>
        </p:nvGrpSpPr>
        <p:grpSpPr>
          <a:xfrm>
            <a:off x="6789420" y="1524000"/>
            <a:ext cx="4869180" cy="1719262"/>
            <a:chOff x="6789420" y="1524000"/>
            <a:chExt cx="4869180" cy="1719262"/>
          </a:xfrm>
        </p:grpSpPr>
        <p:sp>
          <p:nvSpPr>
            <p:cNvPr id="28" name="Rectangle 28"/>
            <p:cNvSpPr/>
            <p:nvPr/>
          </p:nvSpPr>
          <p:spPr>
            <a:xfrm>
              <a:off x="6789420" y="1524000"/>
              <a:ext cx="4869180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17817" y="1675924"/>
              <a:ext cx="11017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功能相同的 C 程序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17055" y="1937861"/>
              <a:ext cx="329717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#include &lt;stdio.h&gt;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main(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printf(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"this is a simple program!\n"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0;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7" name="c2-card-2"/>
          <p:cNvGrpSpPr/>
          <p:nvPr/>
        </p:nvGrpSpPr>
        <p:grpSpPr>
          <a:xfrm>
            <a:off x="6789420" y="3433762"/>
            <a:ext cx="4869180" cy="1887855"/>
            <a:chOff x="6789420" y="3433762"/>
            <a:chExt cx="4869180" cy="1887855"/>
          </a:xfrm>
        </p:grpSpPr>
        <p:sp>
          <p:nvSpPr>
            <p:cNvPr id="32" name="Rectangle 32"/>
            <p:cNvSpPr/>
            <p:nvPr/>
          </p:nvSpPr>
          <p:spPr>
            <a:xfrm>
              <a:off x="6789420" y="3433762"/>
              <a:ext cx="4869180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798945" y="3567112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037070" y="364331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27278" y="36790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29450" y="4020502"/>
              <a:ext cx="42157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 C 程序写作 main() { printf(...); }，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这是早期 K&amp;R 风格。按 C99 以后的标准，要用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#include &lt;stdio.h&gt; 声明 printf，并写明 int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main。</a:t>
              </a:r>
            </a:p>
          </p:txBody>
        </p:sp>
      </p:grpSp>
      <p:grpSp>
        <p:nvGrpSpPr>
          <p:cNvPr id="44" name="c2-callout-3"/>
          <p:cNvGrpSpPr/>
          <p:nvPr/>
        </p:nvGrpSpPr>
        <p:grpSpPr>
          <a:xfrm>
            <a:off x="6789420" y="5512118"/>
            <a:ext cx="4869180" cy="782955"/>
            <a:chOff x="6789420" y="5512118"/>
            <a:chExt cx="4869180" cy="782955"/>
          </a:xfrm>
        </p:grpSpPr>
        <p:sp>
          <p:nvSpPr>
            <p:cNvPr id="38" name="Rectangle 38"/>
            <p:cNvSpPr/>
            <p:nvPr/>
          </p:nvSpPr>
          <p:spPr>
            <a:xfrm>
              <a:off x="6789420" y="5512118"/>
              <a:ext cx="486918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994208" y="5803583"/>
              <a:ext cx="200026" cy="200025"/>
              <a:chOff x="6994208" y="5803583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994208" y="58035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033946" y="58480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68662" y="59591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7296150" y="5660708"/>
              <a:ext cx="3844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 的 main 是全局函数；Java 没有全局函数，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main 必须写在某个类里。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90182" cy="909257"/>
            <a:chOff x="520446" y="342900"/>
            <a:chExt cx="71901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901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源文件的组成：package → import → 类和接口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2125028"/>
            <a:chOff x="533400" y="1524000"/>
            <a:chExt cx="5626418" cy="21250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182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Definition.java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029710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package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com.example.demo;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至多 1 句，必须在最前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java.util.Scanner;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0 或多句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java.util.List;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Definition { }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至多 1 个公共类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Helper { }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0 或多个类</a:t>
              </a:r>
              <a:br/>
              <a:r>
                <a:rPr lang="en-US" sz="112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 }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0 或多个接口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3839528"/>
            <a:ext cx="5626418" cy="1057275"/>
            <a:chOff x="533400" y="3839528"/>
            <a:chExt cx="5626418" cy="1057275"/>
          </a:xfrm>
        </p:grpSpPr>
        <p:sp>
          <p:nvSpPr>
            <p:cNvPr id="11" name="Rectangle 11"/>
            <p:cNvSpPr/>
            <p:nvPr/>
          </p:nvSpPr>
          <p:spPr>
            <a:xfrm>
              <a:off x="533400" y="3839528"/>
              <a:ext cx="5626418" cy="1057275"/>
            </a:xfrm>
            <a:prstGeom prst="roundRect">
              <a:avLst>
                <a:gd name="adj" fmla="val 1081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4268153"/>
              <a:ext cx="200026" cy="200025"/>
              <a:chOff x="738188" y="4268153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26815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431260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442372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4125278"/>
              <a:ext cx="47110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编译后每个类和接口各生成一个 .class 文件，本例得到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Definition.class、Helper.class、Shape.class。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6464618" y="1524000"/>
            <a:ext cx="5193982" cy="3372802"/>
            <a:chOff x="6464618" y="1524000"/>
            <a:chExt cx="5193982" cy="3372802"/>
          </a:xfrm>
        </p:grpSpPr>
        <p:sp>
          <p:nvSpPr>
            <p:cNvPr id="18" name="Rectangle 18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649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117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95685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位置要求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72441" y="2221706"/>
              <a:ext cx="1108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package 语句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51485" y="2221706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066086" y="2108359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源文件的第一条语句（前面只能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有注释和空行）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64618" y="26431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64618" y="264795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72441" y="2897029"/>
              <a:ext cx="9998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import 语句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52404" y="2897029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或多个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066086" y="2783681"/>
              <a:ext cx="236194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放在 package 之后、所有类型定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义之前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64618" y="33194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72441" y="3572351"/>
              <a:ext cx="10261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public class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51485" y="3572351"/>
              <a:ext cx="4782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 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66086" y="3459004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源文件名必须与它的类名完全一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致，区分大小写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399478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64618" y="399954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72441" y="4134326"/>
              <a:ext cx="864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 定义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52404" y="413432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或多个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66086" y="413432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顺序不限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64618" y="444341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72441" y="4583906"/>
              <a:ext cx="1262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interface 定义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152404" y="458390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或多个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66086" y="45839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顺序不限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64618" y="1524000"/>
              <a:ext cx="5193982" cy="337280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8018145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953500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7" name="Rectangle 47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728335"/>
              <a:ext cx="99879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易错：文件 Hello.java 里写 public class HelloWorld，编译报错“类 HelloWorld 是公共的，应在名为 HelloWorld.java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的文件中声明”。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70912" cy="909257"/>
            <a:chOff x="520446" y="342900"/>
            <a:chExt cx="74709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709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编译与运行：javac 生成字节码，java 启动 JVM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5416169" cy="2347246"/>
            <a:chOff x="533400" y="1533525"/>
            <a:chExt cx="5416169" cy="234724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32228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用文本编辑器或 IDE 写好 SimpleApp.java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49547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 cmd，进入源文件所在目录，执行 javac SimpleApp.java，生成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字节码文件 SimpleApp.class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10419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解释执行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397091"/>
              <a:ext cx="50035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 java SimpleApp（只写类名，不带 .class），JVM 装入这个类，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main 方法开始执行</a:t>
              </a:r>
            </a:p>
          </p:txBody>
        </p:sp>
      </p:grpSp>
      <p:grpSp>
        <p:nvGrpSpPr>
          <p:cNvPr id="24" name="c1-code-2"/>
          <p:cNvGrpSpPr/>
          <p:nvPr/>
        </p:nvGrpSpPr>
        <p:grpSpPr>
          <a:xfrm>
            <a:off x="533400" y="4060508"/>
            <a:ext cx="5626418" cy="1719262"/>
            <a:chOff x="533400" y="4060508"/>
            <a:chExt cx="5626418" cy="1719262"/>
          </a:xfrm>
        </p:grpSpPr>
        <p:sp>
          <p:nvSpPr>
            <p:cNvPr id="21" name="Rectangle 21"/>
            <p:cNvSpPr/>
            <p:nvPr/>
          </p:nvSpPr>
          <p:spPr>
            <a:xfrm>
              <a:off x="533400" y="4060508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1797" y="4212431"/>
              <a:ext cx="3251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Shell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1035" y="4474369"/>
              <a:ext cx="2280158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D:\code&gt; javac SimpleApp.java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D:\code&gt; dir /b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SimpleApp.class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SimpleApp.java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D:\code&gt; java SimpleApp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this is a simple program!</a:t>
              </a:r>
            </a:p>
          </p:txBody>
        </p:sp>
      </p:grpSp>
      <p:grpSp>
        <p:nvGrpSpPr>
          <p:cNvPr id="43" name="c2-table-1"/>
          <p:cNvGrpSpPr/>
          <p:nvPr/>
        </p:nvGrpSpPr>
        <p:grpSpPr>
          <a:xfrm>
            <a:off x="6464618" y="1524000"/>
            <a:ext cx="5193982" cy="3377565"/>
            <a:chOff x="6464618" y="1524000"/>
            <a:chExt cx="5193982" cy="3377565"/>
          </a:xfrm>
        </p:grpSpPr>
        <p:sp>
          <p:nvSpPr>
            <p:cNvPr id="25" name="Rectangle 25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30794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常见错误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07772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72441" y="2108359"/>
              <a:ext cx="1979117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'javac' 不是内部或外部命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961310" y="2108359"/>
              <a:ext cx="236194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Path 环境变量里没有 JDK 的 bin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目录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64618" y="26431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64618" y="264795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72441" y="278368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找不到或无法加载主类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SimpleApp.class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61310" y="2783681"/>
              <a:ext cx="2329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写成了 java SimpleApp.class，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应只写类名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33194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72441" y="3572351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找不到或无法加载主类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961310" y="3459004"/>
              <a:ext cx="1622298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当前目录下没有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SimpleApp.class，或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CLASSPATH 中漏了“.”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42214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64618" y="4226242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72441" y="4474369"/>
              <a:ext cx="2004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simpleapp 运行失败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961310" y="4361021"/>
              <a:ext cx="2207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区分大小写，类名要写成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1524000"/>
              <a:ext cx="5193982" cy="3377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848725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c2-callout-2"/>
          <p:cNvGrpSpPr/>
          <p:nvPr/>
        </p:nvGrpSpPr>
        <p:grpSpPr>
          <a:xfrm>
            <a:off x="6464618" y="5092065"/>
            <a:ext cx="5193982" cy="1059180"/>
            <a:chOff x="6464618" y="5092065"/>
            <a:chExt cx="5193982" cy="1059180"/>
          </a:xfrm>
        </p:grpSpPr>
        <p:sp>
          <p:nvSpPr>
            <p:cNvPr id="44" name="Rectangle 44"/>
            <p:cNvSpPr/>
            <p:nvPr/>
          </p:nvSpPr>
          <p:spPr>
            <a:xfrm>
              <a:off x="6464618" y="5092065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669405" y="5521643"/>
              <a:ext cx="200026" cy="200025"/>
              <a:chOff x="6669405" y="5521643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552164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09144" y="556609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743859" y="567721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971348" y="5240655"/>
              <a:ext cx="42157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JDK 11 起可以直接执行 java SimpleApp.java，在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内存中编译并运行单个源文件，不生成 .class 文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件，适合写小练习。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44216" cy="909257"/>
            <a:chOff x="520446" y="342900"/>
            <a:chExt cx="51442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442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1.2.2 Java 程序运行的五个阶段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flow-1"/>
          <p:cNvGrpSpPr/>
          <p:nvPr/>
        </p:nvGrpSpPr>
        <p:grpSpPr>
          <a:xfrm>
            <a:off x="689610" y="1907858"/>
            <a:ext cx="10813732" cy="2851784"/>
            <a:chOff x="689610" y="1907858"/>
            <a:chExt cx="10813732" cy="2851784"/>
          </a:xfrm>
        </p:grpSpPr>
        <p:sp>
          <p:nvSpPr>
            <p:cNvPr id="7" name="Freeform 7"/>
            <p:cNvSpPr/>
            <p:nvPr/>
          </p:nvSpPr>
          <p:spPr>
            <a:xfrm>
              <a:off x="2602230" y="2126932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809875" y="2074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827270" y="2126932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034915" y="2074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7052310" y="2126932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7259955" y="2074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277350" y="2126932"/>
              <a:ext cx="207645" cy="9525"/>
            </a:xfrm>
            <a:custGeom>
              <a:avLst/>
              <a:gdLst/>
              <a:ahLst/>
              <a:cxnLst/>
              <a:rect l="l" t="t" r="r" b="b"/>
              <a:pathLst>
                <a:path w="207645" h="9525">
                  <a:moveTo>
                    <a:pt x="0" y="0"/>
                  </a:moveTo>
                  <a:lnTo>
                    <a:pt x="20764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9484995" y="2074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645920" y="2346008"/>
              <a:ext cx="9525" cy="673417"/>
            </a:xfrm>
            <a:custGeom>
              <a:avLst/>
              <a:gdLst/>
              <a:ahLst/>
              <a:cxnLst/>
              <a:rect l="l" t="t" r="r" b="b"/>
              <a:pathLst>
                <a:path w="9525" h="673417">
                  <a:moveTo>
                    <a:pt x="0" y="0"/>
                  </a:moveTo>
                  <a:lnTo>
                    <a:pt x="0" y="6734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870960" y="2346008"/>
              <a:ext cx="9525" cy="563880"/>
            </a:xfrm>
            <a:custGeom>
              <a:avLst/>
              <a:gdLst/>
              <a:ahLst/>
              <a:cxnLst/>
              <a:rect l="l" t="t" r="r" b="b"/>
              <a:pathLst>
                <a:path w="9525" h="563880">
                  <a:moveTo>
                    <a:pt x="0" y="0"/>
                  </a:moveTo>
                  <a:lnTo>
                    <a:pt x="0" y="5638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6096000" y="2346008"/>
              <a:ext cx="9525" cy="673417"/>
            </a:xfrm>
            <a:custGeom>
              <a:avLst/>
              <a:gdLst/>
              <a:ahLst/>
              <a:cxnLst/>
              <a:rect l="l" t="t" r="r" b="b"/>
              <a:pathLst>
                <a:path w="9525" h="673417">
                  <a:moveTo>
                    <a:pt x="0" y="0"/>
                  </a:moveTo>
                  <a:lnTo>
                    <a:pt x="0" y="6734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8321040" y="2346008"/>
              <a:ext cx="9525" cy="673417"/>
            </a:xfrm>
            <a:custGeom>
              <a:avLst/>
              <a:gdLst/>
              <a:ahLst/>
              <a:cxnLst/>
              <a:rect l="l" t="t" r="r" b="b"/>
              <a:pathLst>
                <a:path w="9525" h="673417">
                  <a:moveTo>
                    <a:pt x="0" y="0"/>
                  </a:moveTo>
                  <a:lnTo>
                    <a:pt x="0" y="6734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546080" y="2346008"/>
              <a:ext cx="9525" cy="563880"/>
            </a:xfrm>
            <a:custGeom>
              <a:avLst/>
              <a:gdLst/>
              <a:ahLst/>
              <a:cxnLst/>
              <a:rect l="l" t="t" r="r" b="b"/>
              <a:pathLst>
                <a:path w="9525" h="563880">
                  <a:moveTo>
                    <a:pt x="0" y="0"/>
                  </a:moveTo>
                  <a:lnTo>
                    <a:pt x="0" y="5638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89610" y="190785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914650" y="190785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139690" y="190785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364730" y="190785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589770" y="1907858"/>
              <a:ext cx="1913572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89610" y="3019425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914650" y="2909888"/>
              <a:ext cx="1913572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139690" y="3019425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64730" y="3019425"/>
              <a:ext cx="19135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89770" y="2909888"/>
              <a:ext cx="1913572" cy="847725"/>
            </a:xfrm>
            <a:prstGeom prst="roundRect">
              <a:avLst>
                <a:gd name="adj" fmla="val 11236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44868" y="4321492"/>
              <a:ext cx="382714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451158" y="4321492"/>
              <a:ext cx="5740718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390234" y="20378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① 编辑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615274" y="20378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② 编译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840314" y="20378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③ 加载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65354" y="20378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验证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90394" y="203787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⑤ 执行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9795" y="3135154"/>
              <a:ext cx="149225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程序员编写 .java 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49219" y="3026569"/>
              <a:ext cx="1443482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 把源文件编译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 .class 字节码文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10835" y="3135154"/>
              <a:ext cx="1370330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类加载器把 .class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文件读入内存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83043" y="3135154"/>
              <a:ext cx="147599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字节码校验器检查字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节码是否合法、安全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08083" y="3026569"/>
              <a:ext cx="1475994" cy="6875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解释器逐条执行，热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点代码由 JIT 编译执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418483" y="4451509"/>
              <a:ext cx="26799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开发阶段：用 JDK 中的 javac 编译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91483" y="4451509"/>
              <a:ext cx="32591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运行阶段：由 JVM 完成（java 命令启动）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5" name="Rectangle 45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728335"/>
              <a:ext cx="9940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前两个阶段在写程序的机器上完成，得到 .class 文件；后三个阶段在运行程序的机器上由 JVM 完成，这台机器只要有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JRE 就够了。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64180" cy="909257"/>
            <a:chOff x="520446" y="342900"/>
            <a:chExt cx="65641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641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运行时系统：JDK、JRE、JVM 一层套一层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graph-1"/>
          <p:cNvGrpSpPr/>
          <p:nvPr/>
        </p:nvGrpSpPr>
        <p:grpSpPr>
          <a:xfrm>
            <a:off x="584835" y="1562100"/>
            <a:ext cx="5524500" cy="4305300"/>
            <a:chOff x="584835" y="1562100"/>
            <a:chExt cx="5524500" cy="4305300"/>
          </a:xfrm>
        </p:grpSpPr>
        <p:sp>
          <p:nvSpPr>
            <p:cNvPr id="7" name="Rectangle 7"/>
            <p:cNvSpPr/>
            <p:nvPr/>
          </p:nvSpPr>
          <p:spPr>
            <a:xfrm>
              <a:off x="584835" y="1562100"/>
              <a:ext cx="5524500" cy="4305300"/>
            </a:xfrm>
            <a:prstGeom prst="roundRect">
              <a:avLst>
                <a:gd name="adj" fmla="val 885"/>
              </a:avLst>
            </a:prstGeom>
            <a:solidFill>
              <a:srgbClr val="F7E8E9"/>
            </a:solidFill>
            <a:ln w="17145">
              <a:solidFill>
                <a:srgbClr val="A1343C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41998" y="1999298"/>
              <a:ext cx="5210175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17145">
              <a:solidFill>
                <a:srgbClr val="A1343C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893445" y="2439352"/>
              <a:ext cx="2419350" cy="1981200"/>
            </a:xfrm>
            <a:prstGeom prst="roundRect">
              <a:avLst>
                <a:gd name="adj" fmla="val 4808"/>
              </a:avLst>
            </a:prstGeom>
            <a:solidFill>
              <a:srgbClr val="A1343C"/>
            </a:solidFill>
            <a:ln w="17145">
              <a:solidFill>
                <a:srgbClr val="A1343C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3390900" y="2439352"/>
              <a:ext cx="2409825" cy="1981200"/>
            </a:xfrm>
            <a:prstGeom prst="roundRect">
              <a:avLst>
                <a:gd name="adj" fmla="val 4808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741998" y="4763452"/>
              <a:ext cx="5210175" cy="952500"/>
            </a:xfrm>
            <a:prstGeom prst="roundRect">
              <a:avLst>
                <a:gd name="adj" fmla="val 10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632664" y="3350419"/>
              <a:ext cx="940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JVM 虚拟机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44708" y="33504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核心类库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3143" y="1710214"/>
              <a:ext cx="33974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JDK（Java Development Kit）开发工具包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98779" y="2139315"/>
              <a:ext cx="34308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JRE（Java Runtime Environment）运行环境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41012" y="3754755"/>
              <a:ext cx="1724216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类加载、字节码校验、解释 /</a:t>
              </a:r>
              <a:br/>
              <a:r>
                <a:rPr lang="zh-CN" sz="10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JIT、垃圾回收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590354" y="3754755"/>
              <a:ext cx="2010918" cy="3853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18"/>
                </a:lnSpc>
              </a:pPr>
              <a:r>
                <a:rPr lang="zh-CN" sz="10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java.lang、java.util、java.io、</a:t>
              </a:r>
              <a:br/>
              <a:r>
                <a:rPr lang="zh-CN" sz="10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java.net 等包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37843" y="5183981"/>
              <a:ext cx="3818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开发工具：javac、javadoc、jar、jdb、javap、jshell 等</a:t>
              </a:r>
            </a:p>
          </p:txBody>
        </p:sp>
      </p:grpSp>
      <p:grpSp>
        <p:nvGrpSpPr>
          <p:cNvPr id="28" name="c2-kv-1"/>
          <p:cNvGrpSpPr/>
          <p:nvPr/>
        </p:nvGrpSpPr>
        <p:grpSpPr>
          <a:xfrm>
            <a:off x="6456998" y="1548765"/>
            <a:ext cx="5201602" cy="1455420"/>
            <a:chOff x="6456998" y="1548765"/>
            <a:chExt cx="5201602" cy="1455420"/>
          </a:xfrm>
        </p:grpSpPr>
        <p:sp>
          <p:nvSpPr>
            <p:cNvPr id="20" name="TextBox 20"/>
            <p:cNvSpPr txBox="1"/>
            <p:nvPr/>
          </p:nvSpPr>
          <p:spPr>
            <a:xfrm>
              <a:off x="6456998" y="154876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JVM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90410" y="154876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执行字节码的虚拟机器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464618" y="18688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56998" y="1988820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JRE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90410" y="1988820"/>
              <a:ext cx="39109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+ 核心类库：只运行 Java 程序时需要。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从 JDK 11 起不再单独提供 JRE 安装包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464618" y="25908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56998" y="271081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JDK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90410" y="2710815"/>
              <a:ext cx="4247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JRE + 开发工具：编写、编译、调试程序时需要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464618" y="3135630"/>
            <a:ext cx="5193982" cy="2863215"/>
            <a:chOff x="6464618" y="3135630"/>
            <a:chExt cx="5193982" cy="2863215"/>
          </a:xfrm>
        </p:grpSpPr>
        <p:sp>
          <p:nvSpPr>
            <p:cNvPr id="29" name="Rectangle 29"/>
            <p:cNvSpPr/>
            <p:nvPr/>
          </p:nvSpPr>
          <p:spPr>
            <a:xfrm>
              <a:off x="6464618" y="3135630"/>
              <a:ext cx="5193982" cy="2863215"/>
            </a:xfrm>
            <a:prstGeom prst="roundRect">
              <a:avLst>
                <a:gd name="adj" fmla="val 4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74142" y="3268980"/>
              <a:ext cx="47625" cy="2596515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712268" y="334518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794576" y="33808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课件定义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98092" y="3380422"/>
              <a:ext cx="15624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运行时系统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04648" y="374142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 Java 字节码的系统。它装载程序运行时需要的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类，安排程序运行中对内存的使用，并控制字节码的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执行过程。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17983" y="471106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76098" y="4648200"/>
              <a:ext cx="4368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Application：由 Java 解释器（java 命令）运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717983" y="533209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76098" y="526923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Applet：由兼容 Java 的 Web 浏览器运行（已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淘汰）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85477" cy="909257"/>
            <a:chOff x="520446" y="342900"/>
            <a:chExt cx="648547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8547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虚拟机：能执行字节码的“一台机器”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flow-1"/>
          <p:cNvGrpSpPr/>
          <p:nvPr/>
        </p:nvGrpSpPr>
        <p:grpSpPr>
          <a:xfrm>
            <a:off x="666750" y="1580198"/>
            <a:ext cx="4711065" cy="3372802"/>
            <a:chOff x="666750" y="1580198"/>
            <a:chExt cx="4711065" cy="3372802"/>
          </a:xfrm>
        </p:grpSpPr>
        <p:sp>
          <p:nvSpPr>
            <p:cNvPr id="7" name="Rectangle 7"/>
            <p:cNvSpPr/>
            <p:nvPr/>
          </p:nvSpPr>
          <p:spPr>
            <a:xfrm>
              <a:off x="666750" y="1580198"/>
              <a:ext cx="1392555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2326005" y="1676400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3985260" y="1580198"/>
              <a:ext cx="1392555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765810" y="2392680"/>
              <a:ext cx="2853690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985260" y="2392680"/>
              <a:ext cx="139255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82015" y="3108960"/>
              <a:ext cx="4280535" cy="411480"/>
            </a:xfrm>
            <a:prstGeom prst="roundRect">
              <a:avLst>
                <a:gd name="adj" fmla="val 23148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882015" y="3825240"/>
              <a:ext cx="4280535" cy="41148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882015" y="4541520"/>
              <a:ext cx="4280535" cy="411480"/>
            </a:xfrm>
            <a:prstGeom prst="roundRect">
              <a:avLst>
                <a:gd name="adj" fmla="val 23148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3071" y="1695450"/>
              <a:ext cx="81991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Application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62827" y="1798320"/>
              <a:ext cx="9189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Applet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97312" y="1695450"/>
              <a:ext cx="56845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Servlet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（JSP）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674800" y="2514600"/>
              <a:ext cx="10357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API 类库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56189" y="2514600"/>
              <a:ext cx="8506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 服务器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47150" y="3230880"/>
              <a:ext cx="1350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 Bytecodes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66180" y="3947160"/>
              <a:ext cx="1312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虚拟机 JVM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693098" y="46634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硬件平台</a:t>
              </a:r>
            </a:p>
          </p:txBody>
        </p:sp>
      </p:grpSp>
      <p:grpSp>
        <p:nvGrpSpPr>
          <p:cNvPr id="25" name="c1-text-2"/>
          <p:cNvGrpSpPr/>
          <p:nvPr/>
        </p:nvGrpSpPr>
        <p:grpSpPr>
          <a:xfrm>
            <a:off x="669226" y="5305425"/>
            <a:ext cx="4706112" cy="470916"/>
            <a:chOff x="669226" y="5305425"/>
            <a:chExt cx="4706112" cy="470916"/>
          </a:xfrm>
        </p:grpSpPr>
        <p:sp>
          <p:nvSpPr>
            <p:cNvPr id="24" name="TextBox 24"/>
            <p:cNvSpPr txBox="1"/>
            <p:nvPr/>
          </p:nvSpPr>
          <p:spPr>
            <a:xfrm>
              <a:off x="669226" y="5305425"/>
              <a:ext cx="470611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6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 程序执行架构：上层程序通过 API 和字节码运行在 JVM 上，JVM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屏蔽了下面的硬件差异</a:t>
              </a:r>
            </a:p>
          </p:txBody>
        </p:sp>
      </p:grpSp>
      <p:grpSp>
        <p:nvGrpSpPr>
          <p:cNvPr id="35" name="c2-card-1"/>
          <p:cNvGrpSpPr/>
          <p:nvPr/>
        </p:nvGrpSpPr>
        <p:grpSpPr>
          <a:xfrm>
            <a:off x="5815965" y="1524000"/>
            <a:ext cx="5842635" cy="2429828"/>
            <a:chOff x="5815965" y="1524000"/>
            <a:chExt cx="5842635" cy="2429828"/>
          </a:xfrm>
        </p:grpSpPr>
        <p:sp>
          <p:nvSpPr>
            <p:cNvPr id="26" name="Rectangle 26"/>
            <p:cNvSpPr/>
            <p:nvPr/>
          </p:nvSpPr>
          <p:spPr>
            <a:xfrm>
              <a:off x="5815965" y="1524000"/>
              <a:ext cx="5842635" cy="2429828"/>
            </a:xfrm>
            <a:prstGeom prst="roundRect">
              <a:avLst>
                <a:gd name="adj" fmla="val 54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825490" y="1657350"/>
              <a:ext cx="47625" cy="2163128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52185" y="1722120"/>
              <a:ext cx="1232535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116188" y="1756410"/>
              <a:ext cx="11045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(2) Java 虚拟机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44946" y="2082641"/>
              <a:ext cx="513613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是 Sun 公司与合作伙伴一起制定的一项技术规范，规定了一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个能运行 Java 字节码的操作平台。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059805" y="2731770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16396" y="267223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定义了指令集、寄存器组、栈结构、垃圾收集器、存储区五部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分逻辑部件，并规定了它们的规格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059805" y="3321368"/>
              <a:ext cx="60960" cy="6096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16396" y="3260884"/>
              <a:ext cx="497382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可以用软件实现，也可以用硬件（Java 芯片）实现；目前通用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Java 系统都是软件实现</a:t>
              </a:r>
            </a:p>
          </p:txBody>
        </p:sp>
      </p:grpSp>
      <p:grpSp>
        <p:nvGrpSpPr>
          <p:cNvPr id="44" name="c2-kv-2"/>
          <p:cNvGrpSpPr/>
          <p:nvPr/>
        </p:nvGrpSpPr>
        <p:grpSpPr>
          <a:xfrm>
            <a:off x="5808726" y="4157186"/>
            <a:ext cx="5849874" cy="1111187"/>
            <a:chOff x="5808726" y="4157186"/>
            <a:chExt cx="5849874" cy="1111187"/>
          </a:xfrm>
        </p:grpSpPr>
        <p:sp>
          <p:nvSpPr>
            <p:cNvPr id="36" name="TextBox 36"/>
            <p:cNvSpPr txBox="1"/>
            <p:nvPr/>
          </p:nvSpPr>
          <p:spPr>
            <a:xfrm>
              <a:off x="5808726" y="4157186"/>
              <a:ext cx="7997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HotSpot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15518" y="4157186"/>
              <a:ext cx="37304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JDK 和 OpenJDK 默认使用的虚拟机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446055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8726" y="4573429"/>
              <a:ext cx="7328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OpenJ9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15518" y="4573429"/>
              <a:ext cx="3162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 IBM J9，现由 Eclipse 基金会维护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48768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808726" y="4989671"/>
              <a:ext cx="4114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Zing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815518" y="4989671"/>
              <a:ext cx="44648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Azul 公司的商业虚拟机，现名 Azul Platform Prime</a:t>
              </a:r>
            </a:p>
          </p:txBody>
        </p:sp>
      </p:grpSp>
      <p:grpSp>
        <p:nvGrpSpPr>
          <p:cNvPr id="51" name="c2-callout-3"/>
          <p:cNvGrpSpPr/>
          <p:nvPr/>
        </p:nvGrpSpPr>
        <p:grpSpPr>
          <a:xfrm>
            <a:off x="5815965" y="5392102"/>
            <a:ext cx="5842635" cy="756285"/>
            <a:chOff x="5815965" y="5392102"/>
            <a:chExt cx="5842635" cy="756285"/>
          </a:xfrm>
        </p:grpSpPr>
        <p:sp>
          <p:nvSpPr>
            <p:cNvPr id="45" name="Rectangle 45"/>
            <p:cNvSpPr/>
            <p:nvPr/>
          </p:nvSpPr>
          <p:spPr>
            <a:xfrm>
              <a:off x="5815965" y="5392102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6020753" y="5670233"/>
              <a:ext cx="200026" cy="200025"/>
              <a:chOff x="6020753" y="5670233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020753" y="56702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060491" y="57146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095207" y="58258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6323076" y="5540216"/>
              <a:ext cx="4784471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现行 JVM 规范按运行时数据区描述内存：程序计数器、虚拟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机栈、本地方法栈、堆、方法区。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079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3195" y="407194"/>
              <a:ext cx="29988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1.2 程序结构与运行机制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解释、编译、编译加虚拟机：几种语言的执行过程比较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flow-1"/>
          <p:cNvGrpSpPr/>
          <p:nvPr/>
        </p:nvGrpSpPr>
        <p:grpSpPr>
          <a:xfrm>
            <a:off x="727710" y="1744980"/>
            <a:ext cx="10736580" cy="3177540"/>
            <a:chOff x="727710" y="1744980"/>
            <a:chExt cx="10736580" cy="3177540"/>
          </a:xfrm>
        </p:grpSpPr>
        <p:sp>
          <p:nvSpPr>
            <p:cNvPr id="7" name="Freeform 7"/>
            <p:cNvSpPr/>
            <p:nvPr/>
          </p:nvSpPr>
          <p:spPr>
            <a:xfrm>
              <a:off x="1924050" y="2183130"/>
              <a:ext cx="9525" cy="2101215"/>
            </a:xfrm>
            <a:custGeom>
              <a:avLst/>
              <a:gdLst/>
              <a:ahLst/>
              <a:cxnLst/>
              <a:rect l="l" t="t" r="r" b="b"/>
              <a:pathLst>
                <a:path w="9525" h="2101215">
                  <a:moveTo>
                    <a:pt x="0" y="0"/>
                  </a:moveTo>
                  <a:lnTo>
                    <a:pt x="0" y="2101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871662" y="42843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705350" y="2183130"/>
              <a:ext cx="9525" cy="339090"/>
            </a:xfrm>
            <a:custGeom>
              <a:avLst/>
              <a:gdLst/>
              <a:ahLst/>
              <a:cxnLst/>
              <a:rect l="l" t="t" r="r" b="b"/>
              <a:pathLst>
                <a:path w="9525" h="339090">
                  <a:moveTo>
                    <a:pt x="0" y="0"/>
                  </a:moveTo>
                  <a:lnTo>
                    <a:pt x="0" y="3390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652962" y="25222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705350" y="3065145"/>
              <a:ext cx="9525" cy="1219200"/>
            </a:xfrm>
            <a:custGeom>
              <a:avLst/>
              <a:gdLst/>
              <a:ahLst/>
              <a:cxnLst/>
              <a:rect l="l" t="t" r="r" b="b"/>
              <a:pathLst>
                <a:path w="9525" h="1219200">
                  <a:moveTo>
                    <a:pt x="0" y="0"/>
                  </a:moveTo>
                  <a:lnTo>
                    <a:pt x="0" y="12192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52962" y="42843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7486650" y="2183130"/>
              <a:ext cx="9525" cy="339090"/>
            </a:xfrm>
            <a:custGeom>
              <a:avLst/>
              <a:gdLst/>
              <a:ahLst/>
              <a:cxnLst/>
              <a:rect l="l" t="t" r="r" b="b"/>
              <a:pathLst>
                <a:path w="9525" h="339090">
                  <a:moveTo>
                    <a:pt x="0" y="0"/>
                  </a:moveTo>
                  <a:lnTo>
                    <a:pt x="0" y="3390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7434262" y="25222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7486650" y="3065145"/>
              <a:ext cx="9525" cy="337185"/>
            </a:xfrm>
            <a:custGeom>
              <a:avLst/>
              <a:gdLst/>
              <a:ahLst/>
              <a:cxnLst/>
              <a:rect l="l" t="t" r="r" b="b"/>
              <a:pathLst>
                <a:path w="9525" h="337185">
                  <a:moveTo>
                    <a:pt x="0" y="0"/>
                  </a:moveTo>
                  <a:lnTo>
                    <a:pt x="0" y="33718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7434262" y="34023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7486650" y="3945255"/>
              <a:ext cx="9525" cy="242888"/>
            </a:xfrm>
            <a:custGeom>
              <a:avLst/>
              <a:gdLst/>
              <a:ahLst/>
              <a:cxnLst/>
              <a:rect l="l" t="t" r="r" b="b"/>
              <a:pathLst>
                <a:path w="9525" h="242888">
                  <a:moveTo>
                    <a:pt x="0" y="0"/>
                  </a:moveTo>
                  <a:lnTo>
                    <a:pt x="0" y="2428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434262" y="41881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0267950" y="2183130"/>
              <a:ext cx="9525" cy="339090"/>
            </a:xfrm>
            <a:custGeom>
              <a:avLst/>
              <a:gdLst/>
              <a:ahLst/>
              <a:cxnLst/>
              <a:rect l="l" t="t" r="r" b="b"/>
              <a:pathLst>
                <a:path w="9525" h="339090">
                  <a:moveTo>
                    <a:pt x="0" y="0"/>
                  </a:moveTo>
                  <a:lnTo>
                    <a:pt x="0" y="3390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215562" y="25222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0267950" y="3065145"/>
              <a:ext cx="9525" cy="1219200"/>
            </a:xfrm>
            <a:custGeom>
              <a:avLst/>
              <a:gdLst/>
              <a:ahLst/>
              <a:cxnLst/>
              <a:rect l="l" t="t" r="r" b="b"/>
              <a:pathLst>
                <a:path w="9525" h="1219200">
                  <a:moveTo>
                    <a:pt x="0" y="0"/>
                  </a:moveTo>
                  <a:lnTo>
                    <a:pt x="0" y="12192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0215562" y="42843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27710" y="1744980"/>
              <a:ext cx="2392680" cy="438150"/>
            </a:xfrm>
            <a:custGeom>
              <a:avLst/>
              <a:gdLst/>
              <a:ahLst/>
              <a:cxnLst/>
              <a:rect l="l" t="t" r="r" b="b"/>
              <a:pathLst>
                <a:path w="2392680" h="438150">
                  <a:moveTo>
                    <a:pt x="133350" y="0"/>
                  </a:moveTo>
                  <a:lnTo>
                    <a:pt x="2392680" y="0"/>
                  </a:lnTo>
                  <a:lnTo>
                    <a:pt x="225933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27710" y="438912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509010" y="1744980"/>
              <a:ext cx="2392680" cy="438150"/>
            </a:xfrm>
            <a:custGeom>
              <a:avLst/>
              <a:gdLst/>
              <a:ahLst/>
              <a:cxnLst/>
              <a:rect l="l" t="t" r="r" b="b"/>
              <a:pathLst>
                <a:path w="2392680" h="438150">
                  <a:moveTo>
                    <a:pt x="133350" y="0"/>
                  </a:moveTo>
                  <a:lnTo>
                    <a:pt x="2392680" y="0"/>
                  </a:lnTo>
                  <a:lnTo>
                    <a:pt x="225933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509010" y="2626995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A1343C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509010" y="438912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290310" y="1744980"/>
              <a:ext cx="2392680" cy="438150"/>
            </a:xfrm>
            <a:custGeom>
              <a:avLst/>
              <a:gdLst/>
              <a:ahLst/>
              <a:cxnLst/>
              <a:rect l="l" t="t" r="r" b="b"/>
              <a:pathLst>
                <a:path w="2392680" h="438150">
                  <a:moveTo>
                    <a:pt x="133350" y="0"/>
                  </a:moveTo>
                  <a:lnTo>
                    <a:pt x="2392680" y="0"/>
                  </a:lnTo>
                  <a:lnTo>
                    <a:pt x="225933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90310" y="2626995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90310" y="3507105"/>
              <a:ext cx="2391728" cy="43815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90310" y="4292918"/>
              <a:ext cx="2391728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71610" y="1744980"/>
              <a:ext cx="2392680" cy="438150"/>
            </a:xfrm>
            <a:custGeom>
              <a:avLst/>
              <a:gdLst/>
              <a:ahLst/>
              <a:cxnLst/>
              <a:rect l="l" t="t" r="r" b="b"/>
              <a:pathLst>
                <a:path w="2392680" h="438150">
                  <a:moveTo>
                    <a:pt x="133350" y="0"/>
                  </a:moveTo>
                  <a:lnTo>
                    <a:pt x="2392680" y="0"/>
                  </a:lnTo>
                  <a:lnTo>
                    <a:pt x="2259330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F7E8E9"/>
            </a:solidFill>
            <a:ln w="13335">
              <a:solidFill>
                <a:srgbClr val="A1343C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9071610" y="2626995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7E8E9"/>
            </a:solidFill>
            <a:ln w="19050">
              <a:solidFill>
                <a:srgbClr val="A1343C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9071610" y="4389120"/>
              <a:ext cx="2391728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053274" y="1874996"/>
              <a:ext cx="17415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Basic 源程序（.bas）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41005" y="4519136"/>
              <a:ext cx="1966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机器语言（如 Windows）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95938" y="1874996"/>
              <a:ext cx="12188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源程序（.c）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54246" y="275701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汇编语言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851805" y="4519136"/>
              <a:ext cx="1707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机器语言（如 Linux）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15557" y="1874996"/>
              <a:ext cx="17421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源程序（.java）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86611" y="2757011"/>
              <a:ext cx="1400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字节码（.class）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94" y="3638074"/>
              <a:ext cx="940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虚拟机 JVM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10477" y="4409599"/>
              <a:ext cx="1752346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机器语言（Windows、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Solaris、Linux、Mac）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96857" y="1874996"/>
              <a:ext cx="174218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源程序（.java）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567911" y="2757011"/>
              <a:ext cx="1400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字节码（.class）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62577" y="4519136"/>
              <a:ext cx="20107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CPU 直接执行字节码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952625" y="319373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975866" y="32204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解释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733925" y="231267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757166" y="23393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733925" y="363474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757166" y="3661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汇编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515225" y="231267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38466" y="23393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515225" y="3193732"/>
              <a:ext cx="70199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38466" y="3220402"/>
              <a:ext cx="6742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解释 / JIT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296525" y="2312670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319766" y="23393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10296525" y="3634740"/>
              <a:ext cx="6286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319766" y="3661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硬件执行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2" name="Rectangle 6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728335"/>
              <a:ext cx="100164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解释型逐句翻译执行；编译型直接生成某一平台的机器码，换平台要重新编译；Java 先编译成与平台无关的字节码，再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由各平台的 JVM 执行。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A1343C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F7E8E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688150" cy="3351847"/>
            <a:chOff x="667512" y="1835468"/>
            <a:chExt cx="668815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6881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开发环境 与 1.4 编程参考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4949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装好 JDK、配好环境变量，再选一个顺手的 IDE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021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常见的 Java 开发工具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2392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1.3.1 JDK：工具、安装与环境变量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731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1.3.2 Eclipse：建第一个项目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244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 参考书与在线资源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92909" cy="909257"/>
            <a:chOff x="520446" y="342900"/>
            <a:chExt cx="59929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929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常见开发工具：命令行 JDK 与各种 IDE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3" name="c1-table-1"/>
          <p:cNvGrpSpPr/>
          <p:nvPr/>
        </p:nvGrpSpPr>
        <p:grpSpPr>
          <a:xfrm>
            <a:off x="527685" y="1524000"/>
            <a:ext cx="11130915" cy="4561999"/>
            <a:chOff x="527685" y="1524000"/>
            <a:chExt cx="11130915" cy="456199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8005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60709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出品方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551482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说明与现状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42925" y="1982152"/>
              <a:ext cx="287369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1223" y="2108359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33966" y="2108359"/>
              <a:ext cx="2727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Sun（现 Oracle）、OpenJDK 社区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426708" y="2108359"/>
              <a:ext cx="27894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命令行工具包，各种 IDE 都要用到它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42125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2430780"/>
              <a:ext cx="2873692" cy="65627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2670334"/>
              <a:ext cx="6239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Eclipse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33966" y="2556986"/>
              <a:ext cx="24269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IBM 发起，现由 Eclipse 基金会维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26708" y="267033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开源免费，插件丰富，仍在广泛使用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3107055"/>
              <a:ext cx="2873692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232309"/>
              <a:ext cx="10641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IntelliJ IDEA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33966" y="3232309"/>
              <a:ext cx="8330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JetBrains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26708" y="3232309"/>
              <a:ext cx="40340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目前最流行的 Java IDE；学生可以申请免费教育许可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3680936"/>
              <a:ext cx="8203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NetBeans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33966" y="3680936"/>
              <a:ext cx="26644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 开源，现为 Apache NetBeans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26708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开源免费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130516"/>
              <a:ext cx="7285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JBuilder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533966" y="4130516"/>
              <a:ext cx="6382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Borland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6708" y="4130516"/>
              <a:ext cx="25625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早期流行的商业 IDE，已停止发展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41223" y="4579144"/>
              <a:ext cx="8203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JCreator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33966" y="4579144"/>
              <a:ext cx="12991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Xinox Software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26708" y="4579144"/>
              <a:ext cx="3661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C++ 编写的轻量 IDE，速度快，现在很少使用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8872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1223" y="5027771"/>
              <a:ext cx="16951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Visual Age for Java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33966" y="5027771"/>
              <a:ext cx="3042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IBM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26708" y="5027771"/>
              <a:ext cx="3597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已被基于 Eclipse 的 WebSphere 开发工具取代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53368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53416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1223" y="5476399"/>
              <a:ext cx="8862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Visual J++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533966" y="5476399"/>
              <a:ext cx="8626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Microsoft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26708" y="547639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已停止发布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524000"/>
              <a:ext cx="11125200" cy="42662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3421380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314122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27685" y="5865971"/>
              <a:ext cx="95941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原课件列出 JDK、JBuilder、JCreator、Eclipse、IntelliJ IDEA、Visual Age for Java、NetBeans、Visual J++ 八种，现状一栏为本讲义补充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19675" cy="909257"/>
            <a:chOff x="520446" y="342900"/>
            <a:chExt cx="50196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196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1.3.1 JDK 里有哪些命令行工具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6924675" cy="4033837"/>
            <a:chOff x="533400" y="1524000"/>
            <a:chExt cx="6924675" cy="403383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924675" cy="424815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251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命令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37851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11314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示例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5889" y="2076450"/>
              <a:ext cx="4362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90356" y="2076450"/>
              <a:ext cx="23465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编译器：把 .java 编译成 .class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05984" y="2076450"/>
              <a:ext cx="12367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javac Hello.java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6791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72678"/>
              <a:ext cx="692467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5889" y="2501265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90356" y="2501265"/>
              <a:ext cx="28696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 JVM 运行程序（课件称“解释器”）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05984" y="2501265"/>
              <a:ext cx="7437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 Hello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9273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5889" y="2926080"/>
              <a:ext cx="2496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90356" y="292608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命令行调试器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05984" y="2926080"/>
              <a:ext cx="6548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jdb Hello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1659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221355"/>
              <a:ext cx="692467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456622"/>
              <a:ext cx="4362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javap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90356" y="3349942"/>
              <a:ext cx="27020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反汇编器：查看 .class 中的成员和字节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205984" y="3456622"/>
              <a:ext cx="10595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javap -c Hello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854768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3988118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javadoc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90356" y="3988118"/>
              <a:ext cx="29382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文档生成器：由源代码注释生成 API 文档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205984" y="3988118"/>
              <a:ext cx="1956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javadoc -d doc Hello.java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279582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284345"/>
              <a:ext cx="692467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5889" y="4411980"/>
              <a:ext cx="2496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90356" y="4411980"/>
              <a:ext cx="29038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类文件打包器：把多个 .class 打成 .jar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05984" y="4411980"/>
              <a:ext cx="1724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jar cf app.jar *.class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703445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5889" y="4836795"/>
              <a:ext cx="4447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jshell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090356" y="4836795"/>
              <a:ext cx="28873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交互式执行 Java 代码片段（JDK 9 起）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205984" y="4836795"/>
              <a:ext cx="4241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jshell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128260"/>
              <a:ext cx="692467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133022"/>
              <a:ext cx="692467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889" y="5261610"/>
              <a:ext cx="10808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appletviewer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90356" y="5261610"/>
              <a:ext cx="10431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Applet 预览器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205984" y="5261610"/>
              <a:ext cx="10972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JDK 11 已删除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6924675" cy="40328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983105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098732" y="1524000"/>
              <a:ext cx="9525" cy="40328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2-card-1"/>
          <p:cNvGrpSpPr/>
          <p:nvPr/>
        </p:nvGrpSpPr>
        <p:grpSpPr>
          <a:xfrm>
            <a:off x="7762875" y="1524000"/>
            <a:ext cx="3895725" cy="1268730"/>
            <a:chOff x="7762875" y="1524000"/>
            <a:chExt cx="3895725" cy="1268730"/>
          </a:xfrm>
        </p:grpSpPr>
        <p:sp>
          <p:nvSpPr>
            <p:cNvPr id="50" name="Rectangle 50"/>
            <p:cNvSpPr/>
            <p:nvPr/>
          </p:nvSpPr>
          <p:spPr>
            <a:xfrm>
              <a:off x="7762875" y="1524000"/>
              <a:ext cx="3895725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772400" y="1657350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999095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090535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82406" y="1756886"/>
              <a:ext cx="3644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991856" y="2100739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Sun（现 Oracle）公司提供的 Java 开发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工具包，可以从官网免费下载。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7762875" y="2972752"/>
            <a:ext cx="3895725" cy="2584132"/>
            <a:chOff x="7762875" y="2972752"/>
            <a:chExt cx="3895725" cy="2584132"/>
          </a:xfrm>
        </p:grpSpPr>
        <p:sp>
          <p:nvSpPr>
            <p:cNvPr id="57" name="Rectangle 57"/>
            <p:cNvSpPr/>
            <p:nvPr/>
          </p:nvSpPr>
          <p:spPr>
            <a:xfrm>
              <a:off x="7762875" y="2972752"/>
              <a:ext cx="3895725" cy="2584132"/>
            </a:xfrm>
            <a:prstGeom prst="roundRect">
              <a:avLst>
                <a:gd name="adj" fmla="val 51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772400" y="3106102"/>
              <a:ext cx="47625" cy="23174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99095" y="317087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090535" y="32051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991856" y="3532346"/>
              <a:ext cx="332371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Applet 预视器 appletviewer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列为 JDK 工具。它在 JDK 9 被标记弃用，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11 起已从 JDK 中删除。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91465" cy="909257"/>
            <a:chOff x="520446" y="342900"/>
            <a:chExt cx="559146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9146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下载并安装 JDK（以 JDK 17 为例）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24000"/>
            <a:ext cx="11125200" cy="1672590"/>
            <a:chOff x="533400" y="1524000"/>
            <a:chExt cx="11125200" cy="16725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17582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666750" y="1657350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56883" y="17278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59130" y="20631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0273" y="2376011"/>
              <a:ext cx="303657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Oracle 官网的 Java 下载页，或在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adoptium.net 下载 Eclipse Temurin；选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x64 安装包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4127182" y="227457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36732" y="1524000"/>
              <a:ext cx="3517582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4470082" y="1657350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60216" y="17278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62462" y="20631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63606" y="2376011"/>
              <a:ext cx="297967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双击 jdk-17_windows-x64_bin.exe，按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向导完成。默认目录形如 C:\Program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Files\Java\jdk-17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7931468" y="2274570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141018" y="1524000"/>
              <a:ext cx="3517582" cy="1672590"/>
            </a:xfrm>
            <a:prstGeom prst="roundRect">
              <a:avLst>
                <a:gd name="adj" fmla="val 683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274368" y="1657350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364501" y="172783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66748" y="20631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67891" y="2376011"/>
              <a:ext cx="297967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新开一个 cmd 窗口，执行 java -version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 javac -version，能看到版本号就说明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安装成功</a:t>
              </a:r>
            </a:p>
          </p:txBody>
        </p:sp>
      </p:grpSp>
      <p:grpSp>
        <p:nvGrpSpPr>
          <p:cNvPr id="28" name="c1-code-2"/>
          <p:cNvGrpSpPr/>
          <p:nvPr/>
        </p:nvGrpSpPr>
        <p:grpSpPr>
          <a:xfrm>
            <a:off x="533400" y="3387090"/>
            <a:ext cx="11125200" cy="1313498"/>
            <a:chOff x="533400" y="3387090"/>
            <a:chExt cx="11125200" cy="1313498"/>
          </a:xfrm>
        </p:grpSpPr>
        <p:sp>
          <p:nvSpPr>
            <p:cNvPr id="25" name="Rectangle 25"/>
            <p:cNvSpPr/>
            <p:nvPr/>
          </p:nvSpPr>
          <p:spPr>
            <a:xfrm>
              <a:off x="533400" y="3387090"/>
              <a:ext cx="11125200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1797" y="353901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原课件截图中的输出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1035" y="3801904"/>
              <a:ext cx="6191758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C:\Users\Administrator&gt; java -version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java version </a:t>
              </a:r>
              <a:r>
                <a:rPr lang="zh-CN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"17.0.6"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2023-01-17 LTS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Java(TM) SE Runtime Environment (build 17.0.6+9-LTS-190)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Java HotSpot(TM) 64-Bit Server VM (build 17.0.6+9-LTS-190, mixed mode, sharing)</a:t>
              </a:r>
            </a:p>
          </p:txBody>
        </p:sp>
      </p:grpSp>
      <p:grpSp>
        <p:nvGrpSpPr>
          <p:cNvPr id="35" name="c1-callout-3"/>
          <p:cNvGrpSpPr/>
          <p:nvPr/>
        </p:nvGrpSpPr>
        <p:grpSpPr>
          <a:xfrm>
            <a:off x="533400" y="4891088"/>
            <a:ext cx="11125200" cy="782955"/>
            <a:chOff x="533400" y="4891088"/>
            <a:chExt cx="11125200" cy="782955"/>
          </a:xfrm>
        </p:grpSpPr>
        <p:sp>
          <p:nvSpPr>
            <p:cNvPr id="29" name="Rectangle 29"/>
            <p:cNvSpPr/>
            <p:nvPr/>
          </p:nvSpPr>
          <p:spPr>
            <a:xfrm>
              <a:off x="533400" y="4891088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182553"/>
              <a:ext cx="200026" cy="200026"/>
              <a:chOff x="738188" y="5182553"/>
              <a:chExt cx="200026" cy="20002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1825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2492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27088" y="52825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5039678"/>
              <a:ext cx="992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更正：原课件在 JDK 17 安装步骤里给出的目录 jdk1.8.0_162 和 jre1.8.0_162 是 JDK 8 的目录名。JDK 17 安装后目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录名形如 jdk-17，也不会再单独生成 jre 目录。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60223" cy="909257"/>
            <a:chOff x="520446" y="342900"/>
            <a:chExt cx="67602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602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配置环境变量：让命令行找到 javac 和 java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5346319" cy="3058002"/>
            <a:chOff x="533400" y="1533525"/>
            <a:chExt cx="5346319" cy="3058002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538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2314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3969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90607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798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900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71938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1457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1564957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打开环境变量窗口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1833086"/>
              <a:ext cx="493293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此电脑右键 → 属性 → 高级系统设置 → 环境变量（原课件路径：控制面板 → 系统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和安全 → 系统）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642" y="2355532"/>
              <a:ext cx="1516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 JAVA_HOME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785" y="2622709"/>
              <a:ext cx="39988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值为 JDK 的安装目录，如 C:\Program Files\Java\jdk-17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642" y="2938462"/>
              <a:ext cx="861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 Path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785" y="3205639"/>
              <a:ext cx="4462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添加一项 %JAVA_HOME%\bin，系统就能找到 javac、java 等工具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5642" y="3521392"/>
              <a:ext cx="1799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CLASSPATH 一般不设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785" y="3788569"/>
              <a:ext cx="29741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如果设置，值里必须包含表示当前目录的“.”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5642" y="410432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785" y="4371499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关闭旧的 cmd，重新打开后执行 javac -version</a:t>
              </a:r>
            </a:p>
          </p:txBody>
        </p:sp>
      </p:grpSp>
      <p:grpSp>
        <p:nvGrpSpPr>
          <p:cNvPr id="32" name="c1-code-2"/>
          <p:cNvGrpSpPr/>
          <p:nvPr/>
        </p:nvGrpSpPr>
        <p:grpSpPr>
          <a:xfrm>
            <a:off x="533400" y="4755832"/>
            <a:ext cx="5842635" cy="1561148"/>
            <a:chOff x="533400" y="4755832"/>
            <a:chExt cx="5842635" cy="1561148"/>
          </a:xfrm>
        </p:grpSpPr>
        <p:sp>
          <p:nvSpPr>
            <p:cNvPr id="29" name="Rectangle 29"/>
            <p:cNvSpPr/>
            <p:nvPr/>
          </p:nvSpPr>
          <p:spPr>
            <a:xfrm>
              <a:off x="533400" y="4755832"/>
              <a:ext cx="5842635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1797" y="4907756"/>
              <a:ext cx="25819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装了多个 JDK 时，看清真正执行的是哪一个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1797" y="5167789"/>
              <a:ext cx="4048633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C:\&gt; </a:t>
              </a:r>
              <a:r>
                <a:rPr lang="en-US" sz="980" b="1" dirty="0">
                  <a:solidFill>
                    <a:srgbClr val="A1343C"/>
                  </a:solidFill>
                  <a:latin typeface="Consolas"/>
                  <a:ea typeface="Consolas"/>
                  <a:cs typeface="Consolas"/>
                </a:rPr>
                <a:t>echo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%JAVA_HOME%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C:\Program Files\Java\jdk-17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C:\&gt; where java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C:\Program Files\Common Files\Oracle\Java\javapath\java.exe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C:\Program Files\Java\jdk-17\bin\java.exe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:: where 列出多行时，排在最前面的那个才会被执行</a:t>
              </a:r>
            </a:p>
          </p:txBody>
        </p:sp>
      </p:grpSp>
      <p:grpSp>
        <p:nvGrpSpPr>
          <p:cNvPr id="41" name="c2-kv-1"/>
          <p:cNvGrpSpPr/>
          <p:nvPr/>
        </p:nvGrpSpPr>
        <p:grpSpPr>
          <a:xfrm>
            <a:off x="6673977" y="1545907"/>
            <a:ext cx="4984623" cy="1556576"/>
            <a:chOff x="6673977" y="1545907"/>
            <a:chExt cx="4984623" cy="1556576"/>
          </a:xfrm>
        </p:grpSpPr>
        <p:sp>
          <p:nvSpPr>
            <p:cNvPr id="33" name="TextBox 33"/>
            <p:cNvSpPr txBox="1"/>
            <p:nvPr/>
          </p:nvSpPr>
          <p:spPr>
            <a:xfrm>
              <a:off x="6673977" y="1545907"/>
              <a:ext cx="4394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Path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25562" y="1545907"/>
              <a:ext cx="341699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系统查找可执行程序（javac.exe、java.exe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等）的目录列表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680835" y="208597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73977" y="2192655"/>
              <a:ext cx="1011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CLASSPATH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925562" y="2192655"/>
              <a:ext cx="35524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查找用户 .class 文件和 .jar 包的路径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680835" y="247840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73977" y="2585085"/>
              <a:ext cx="1092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JAVA_HOME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25562" y="2585085"/>
              <a:ext cx="356273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安装目录，Maven、Tomcat 等工具靠它找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JDK</a:t>
              </a:r>
            </a:p>
          </p:txBody>
        </p:sp>
      </p:grpSp>
      <p:grpSp>
        <p:nvGrpSpPr>
          <p:cNvPr id="51" name="c2-card-2"/>
          <p:cNvGrpSpPr/>
          <p:nvPr/>
        </p:nvGrpSpPr>
        <p:grpSpPr>
          <a:xfrm>
            <a:off x="6680835" y="3219450"/>
            <a:ext cx="4977765" cy="3097530"/>
            <a:chOff x="6680835" y="3219450"/>
            <a:chExt cx="4977765" cy="3097530"/>
          </a:xfrm>
        </p:grpSpPr>
        <p:sp>
          <p:nvSpPr>
            <p:cNvPr id="42" name="Rectangle 42"/>
            <p:cNvSpPr/>
            <p:nvPr/>
          </p:nvSpPr>
          <p:spPr>
            <a:xfrm>
              <a:off x="6680835" y="3219450"/>
              <a:ext cx="4977765" cy="3097530"/>
            </a:xfrm>
            <a:prstGeom prst="roundRect">
              <a:avLst>
                <a:gd name="adj" fmla="val 43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90360" y="3352800"/>
              <a:ext cx="47625" cy="283083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905625" y="3406140"/>
              <a:ext cx="1454468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968744" y="3439001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为什么有时不配也能用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914198" y="380619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070217" y="3749992"/>
              <a:ext cx="417995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Oracle JDK 安装程序会把 C:\Program Files\Common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Files\Oracle\Java\javapath 加进 Path（原课件截图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可见）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914198" y="462153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070217" y="4565332"/>
              <a:ext cx="39872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没有设置 CLASSPATH 时，默认从当前目录查找类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99910" y="4861084"/>
              <a:ext cx="46272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设了 CLASSPATH 却漏掉“.”，反而会出现“找不到或无法加载主类”。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431661" cy="909257"/>
            <a:chOff x="520446" y="342900"/>
            <a:chExt cx="64316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4316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1.3.2 Eclipse：开源、靠插件扩展的 IDE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557462"/>
            <a:chOff x="533400" y="1524000"/>
            <a:chExt cx="4760595" cy="2557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557462"/>
            </a:xfrm>
            <a:prstGeom prst="roundRect">
              <a:avLst>
                <a:gd name="adj" fmla="val 52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0762"/>
            </a:xfrm>
            <a:prstGeom prst="roundRect">
              <a:avLst>
                <a:gd name="adj" fmla="val 50000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647700" cy="238125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3183" y="1743551"/>
              <a:ext cx="4777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Eclipse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386276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IBM 牵头，围绕它形成了 150 多家软件公司参与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Eclipse 联盟，包括 Borland、Rational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Software、Red Hat、Sybase 等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92608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869882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开放源码，任何人都可以免费获取，并在此基础上开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发插件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48329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427095"/>
              <a:ext cx="39227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附带标准插件集，其中包括 Java 开发工具；最初主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要用于 Java 开发，装上插件也可以开发其他语言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4251960"/>
            <a:ext cx="4760595" cy="1875472"/>
            <a:chOff x="533400" y="4251960"/>
            <a:chExt cx="4760595" cy="1875472"/>
          </a:xfrm>
        </p:grpSpPr>
        <p:sp>
          <p:nvSpPr>
            <p:cNvPr id="18" name="Rectangle 18"/>
            <p:cNvSpPr/>
            <p:nvPr/>
          </p:nvSpPr>
          <p:spPr>
            <a:xfrm>
              <a:off x="533400" y="4251960"/>
              <a:ext cx="4760595" cy="1875472"/>
            </a:xfrm>
            <a:prstGeom prst="roundRect">
              <a:avLst>
                <a:gd name="adj" fmla="val 71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385310"/>
              <a:ext cx="47625" cy="160877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58190" y="443865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0862" y="447151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332" y="4782502"/>
              <a:ext cx="417995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原课件让下载 eclipse-java-juno-win32.zip 并选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32-bit。Juno 是 2012 年的版本，Eclipse 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2018 年底的 4.10 起不再提供 32 位版本，现在应下载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x86_64 版。</a:t>
              </a:r>
            </a:p>
          </p:txBody>
        </p:sp>
      </p:grpSp>
      <p:grpSp>
        <p:nvGrpSpPr>
          <p:cNvPr id="57" name="c2-steps-1"/>
          <p:cNvGrpSpPr/>
          <p:nvPr/>
        </p:nvGrpSpPr>
        <p:grpSpPr>
          <a:xfrm>
            <a:off x="5598795" y="1533525"/>
            <a:ext cx="6067277" cy="4600099"/>
            <a:chOff x="5598795" y="1533525"/>
            <a:chExt cx="6067277" cy="4600099"/>
          </a:xfrm>
        </p:grpSpPr>
        <p:sp>
          <p:nvSpPr>
            <p:cNvPr id="24" name="Rectangle 24"/>
            <p:cNvSpPr/>
            <p:nvPr/>
          </p:nvSpPr>
          <p:spPr>
            <a:xfrm>
              <a:off x="5732145" y="1676400"/>
              <a:ext cx="19050" cy="40805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598795" y="211645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692419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598795" y="269938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692419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5598795" y="328231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692419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598795" y="386524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692419" y="39390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5598795" y="444817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692419" y="45219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598795" y="503110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692419" y="51049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598795" y="5614035"/>
              <a:ext cx="285750" cy="28575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692419" y="56878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11037" y="156495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下载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12180" y="1833086"/>
              <a:ext cx="4314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eclipse.org/downloads，选 Eclipse IDE for Java Developers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11037" y="214788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解压并运行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12180" y="2416016"/>
              <a:ext cx="1647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解压后双击 eclipse.exe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11037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选择工作空间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12180" y="2998946"/>
              <a:ext cx="34904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指定 workspace 目录后单击 Launch（旧版为 OK）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11037" y="331374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新建项目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12180" y="3581876"/>
              <a:ext cx="28212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File → New → Java Project，项目名 Test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011037" y="389667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新建类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012180" y="4164806"/>
              <a:ext cx="45635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src 上右键 New → Class，类名 HelloWorld，勾选生成 main 方法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011037" y="447960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12180" y="4747736"/>
              <a:ext cx="5653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main 中写输出语句，右键 Run As → Java Application，在 Console 视图查看结果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11037" y="506253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看清目录结构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12180" y="5330666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src 放 .java，bin 放编译出的 .class；保存时自动增量编译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011037" y="56454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记几个快捷键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12180" y="5913596"/>
              <a:ext cx="40736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Ctrl+Space 补全，Ctrl+Shift+O 补 import，F11 调试运行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91429" cy="909257"/>
            <a:chOff x="520446" y="342900"/>
            <a:chExt cx="51914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914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 编程参考：参考书与在线资源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004060"/>
            <a:chOff x="533400" y="1524000"/>
            <a:chExt cx="5410200" cy="20040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04060"/>
            </a:xfrm>
            <a:prstGeom prst="roundRect">
              <a:avLst>
                <a:gd name="adj" fmla="val 6654"/>
              </a:avLst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7F283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8711" y="17435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参考书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8662" y="211074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84682" y="2054542"/>
              <a:ext cx="454856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Bruce Eckel《Thinking in Java》第 4 版；中译本《Java编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程思想》，陈昊鹏 译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8662" y="266890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84682" y="2612708"/>
              <a:ext cx="426567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Ken Arnold、James Gosling、David Holmes《The Java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Programming Language》第 3 版，有中译本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4375" y="3165634"/>
              <a:ext cx="40581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原课件还建议到网上读一读《小议学习 Java 的浮躁心态》。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698558"/>
            <a:ext cx="5410200" cy="2538412"/>
            <a:chOff x="533400" y="3698558"/>
            <a:chExt cx="5410200" cy="2538412"/>
          </a:xfrm>
        </p:grpSpPr>
        <p:sp>
          <p:nvSpPr>
            <p:cNvPr id="16" name="Rectangle 16"/>
            <p:cNvSpPr/>
            <p:nvPr/>
          </p:nvSpPr>
          <p:spPr>
            <a:xfrm>
              <a:off x="533400" y="3698558"/>
              <a:ext cx="5410200" cy="2538412"/>
            </a:xfrm>
            <a:prstGeom prst="roundRect">
              <a:avLst>
                <a:gd name="adj" fmla="val 5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831908"/>
              <a:ext cx="47625" cy="22717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8190" y="3885248"/>
              <a:ext cx="157829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7258" y="3918109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原课件列出的网站与杂志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6762" y="4285298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2782" y="4229100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 中国技术社区、中国 Java 技术开发网、中国 Java 俱乐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部、Java 中文站、Java 开源大全、百度空间上的 API 文档下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载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66762" y="5099685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2782" y="5043488"/>
              <a:ext cx="4296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杂志《Java World》《Java Developer's Journal》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2475" y="5340191"/>
              <a:ext cx="4381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这些是十几年前的资源，Sun 中国技术社区和百度空间已经关闭。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2043112"/>
            <a:chOff x="6248400" y="1524000"/>
            <a:chExt cx="5410200" cy="2043112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2043112"/>
            </a:xfrm>
            <a:prstGeom prst="roundRect">
              <a:avLst>
                <a:gd name="adj" fmla="val 65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7764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3190" y="1710690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39408" y="174355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现在推荐的官方资源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481762" y="211074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37782" y="2054542"/>
              <a:ext cx="4479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dev.java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：Oracle 的官方 Java 学习网站，有入门教程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81762" y="2411730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37782" y="2355532"/>
              <a:ext cx="45571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docs.oracle.com/en/java/javase/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：各版本的 API 文档和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语言规范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481762" y="2968942"/>
              <a:ext cx="59055" cy="59055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37782" y="2912745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7F2830"/>
                  </a:solidFill>
                  <a:latin typeface="+mn-lt"/>
                  <a:ea typeface="+mn-ea"/>
                  <a:cs typeface="+mn-cs"/>
                </a:rPr>
                <a:t>openjdk.org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：JDK 源码和 JEP（JDK 增强提案），想了解某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个新特性的来龙去脉时查这里</a:t>
              </a:r>
            </a:p>
          </p:txBody>
        </p:sp>
      </p:grpSp>
      <p:grpSp>
        <p:nvGrpSpPr>
          <p:cNvPr id="51" name="c2-table-2"/>
          <p:cNvGrpSpPr/>
          <p:nvPr/>
        </p:nvGrpSpPr>
        <p:grpSpPr>
          <a:xfrm>
            <a:off x="6248400" y="3737610"/>
            <a:ext cx="5410200" cy="1600200"/>
            <a:chOff x="6248400" y="3737610"/>
            <a:chExt cx="5410200" cy="1600200"/>
          </a:xfrm>
        </p:grpSpPr>
        <p:sp>
          <p:nvSpPr>
            <p:cNvPr id="37" name="Rectangle 37"/>
            <p:cNvSpPr/>
            <p:nvPr/>
          </p:nvSpPr>
          <p:spPr>
            <a:xfrm>
              <a:off x="6248400" y="3737610"/>
              <a:ext cx="5410200" cy="400050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02081" y="385905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想知道的事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857956" y="385905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去哪查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345555" y="425910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类有哪些方法、哪版加的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618220" y="4259104"/>
              <a:ext cx="1613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API 文档类页面的 Since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45329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248400" y="453771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5555" y="4659154"/>
              <a:ext cx="1627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语法和 JVM 行为的规定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18220" y="4659154"/>
              <a:ext cx="224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《Java 语言规范》《JVM 规范》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49329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5555" y="505920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命令参数怎么写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618220" y="5059204"/>
              <a:ext cx="1692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 --help 或工具文档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737610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8516302" y="373761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llout-3"/>
          <p:cNvGrpSpPr/>
          <p:nvPr/>
        </p:nvGrpSpPr>
        <p:grpSpPr>
          <a:xfrm>
            <a:off x="6248400" y="5507355"/>
            <a:ext cx="5410200" cy="729615"/>
            <a:chOff x="6248400" y="5507355"/>
            <a:chExt cx="5410200" cy="729615"/>
          </a:xfrm>
        </p:grpSpPr>
        <p:sp>
          <p:nvSpPr>
            <p:cNvPr id="52" name="Rectangle 52"/>
            <p:cNvSpPr/>
            <p:nvPr/>
          </p:nvSpPr>
          <p:spPr>
            <a:xfrm>
              <a:off x="6248400" y="550735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6453188" y="5772152"/>
              <a:ext cx="200023" cy="200023"/>
              <a:chOff x="6453188" y="5772152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6453188" y="577215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6586538" y="58388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6755892" y="5653088"/>
              <a:ext cx="45142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查资料优先看与自己 JDK 版本一致的官方文档；博客文章要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留意写作时间和对应的版本。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73230" cy="909257"/>
            <a:chOff x="520446" y="342900"/>
            <a:chExt cx="38732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732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课后思考（原课件 7 题）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11692"/>
            <a:chOff x="533400" y="1524000"/>
            <a:chExt cx="3505200" cy="2111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17314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简述 Java 的由来。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400776"/>
              <a:ext cx="2981071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1990 年 Sun 的 Green 项目为家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电设计 Oak 语言，后转向互联网；因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商标问题改名 Java，1995 年发布，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1996 年推出 JDK 1.0。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15715"/>
            <a:ext cx="3505200" cy="2383155"/>
            <a:chOff x="533400" y="3815715"/>
            <a:chExt cx="3505200" cy="2383155"/>
          </a:xfrm>
        </p:grpSpPr>
        <p:sp>
          <p:nvSpPr>
            <p:cNvPr id="13" name="Rectangle 13"/>
            <p:cNvSpPr/>
            <p:nvPr/>
          </p:nvSpPr>
          <p:spPr>
            <a:xfrm>
              <a:off x="53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374356"/>
              <a:ext cx="30550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列举 Java 与 C/C++ 的 4 点区别。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92491"/>
              <a:ext cx="2935986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例如：无类外全局变量、无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goto、无指针、自动垃圾回收、无头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文件、无结构体和联合、无预处理和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宏（任选 4 点）。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840230"/>
            <a:chOff x="4343400" y="1524000"/>
            <a:chExt cx="3505200" cy="184023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4281" y="2082641"/>
              <a:ext cx="30084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白皮书列出了哪些语言特征？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4281" y="2400776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简单、面向对象、分布式、解释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型、健壮、安全、体系结构中立、可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移植、高性能、多线程、动态。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544252"/>
            <a:ext cx="3505200" cy="2654618"/>
            <a:chOff x="4343400" y="3544252"/>
            <a:chExt cx="3505200" cy="2654618"/>
          </a:xfrm>
        </p:grpSpPr>
        <p:sp>
          <p:nvSpPr>
            <p:cNvPr id="25" name="Rectangle 25"/>
            <p:cNvSpPr/>
            <p:nvPr/>
          </p:nvSpPr>
          <p:spPr>
            <a:xfrm>
              <a:off x="4343400" y="3544252"/>
              <a:ext cx="3505200" cy="2654618"/>
            </a:xfrm>
            <a:prstGeom prst="roundRect">
              <a:avLst>
                <a:gd name="adj" fmla="val 502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1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0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4281" y="4102894"/>
              <a:ext cx="293553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简述 Java 的运行机制。常见的 JVM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实现有哪些？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4281" y="4692491"/>
              <a:ext cx="2926969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 把源程序编译成字节码，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 加载、验证后解释执行，热点代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码由 JIT 编译执行。实现有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HotSpot、OpenJ9、Zing 等。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11692"/>
            <a:chOff x="8153400" y="1524000"/>
            <a:chExt cx="3505200" cy="21116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4281" y="2082641"/>
              <a:ext cx="2729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和 OpenJDK 是什么关系？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4281" y="2400776"/>
              <a:ext cx="2845816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OpenJDK 是 Java SE 的开源参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考实现；Oracle JDK、Temurin、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Corretto 等都由它构建，差别主要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在许可和支持。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15715"/>
            <a:ext cx="3505200" cy="2383155"/>
            <a:chOff x="8153400" y="3815715"/>
            <a:chExt cx="3505200" cy="2383155"/>
          </a:xfrm>
        </p:grpSpPr>
        <p:sp>
          <p:nvSpPr>
            <p:cNvPr id="37" name="Rectangle 37"/>
            <p:cNvSpPr/>
            <p:nvPr/>
          </p:nvSpPr>
          <p:spPr>
            <a:xfrm>
              <a:off x="8153400" y="3815715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4281" y="4374356"/>
              <a:ext cx="285844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Windows 上配置 Java 开发环境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要做哪几步？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4281" y="4963954"/>
              <a:ext cx="2881884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安装 JDK；设 JAVA_HOME 为安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装目录；在 Path 中加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%JAVA_HOME%\bin；重开 cmd 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javac -version 验证。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60432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1846" y="407194"/>
              <a:ext cx="3402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 · 1.3 开发环境 与 1.4 编程参考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自测：动手时最容易出错的地方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111692"/>
            <a:chOff x="533400" y="1524000"/>
            <a:chExt cx="3505200" cy="21116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292471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 Hello.java 中写了 public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 HelloWorld，能编译通过吗？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不能。公共类名必须与文件名一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致；把文件改名为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HelloWorld.java，或去掉 public。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815715"/>
            <a:ext cx="3505200" cy="2111692"/>
            <a:chOff x="533400" y="3815715"/>
            <a:chExt cx="3505200" cy="2111692"/>
          </a:xfrm>
        </p:grpSpPr>
        <p:sp>
          <p:nvSpPr>
            <p:cNvPr id="13" name="Rectangle 13"/>
            <p:cNvSpPr/>
            <p:nvPr/>
          </p:nvSpPr>
          <p:spPr>
            <a:xfrm>
              <a:off x="533400" y="3815715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374356"/>
              <a:ext cx="289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运行的五个阶段依次是什么？哪几个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 JVM 完成？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963954"/>
              <a:ext cx="27195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编辑、编译、加载、验证、执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行；后三个由 JVM 完成。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1840230"/>
            <a:chOff x="4343400" y="1524000"/>
            <a:chExt cx="3505200" cy="184023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4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3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4281" y="2082641"/>
              <a:ext cx="25545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编译通过后执行 java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SimpleApp.class，结果如何？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34281" y="2672239"/>
              <a:ext cx="293598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报“找不到或无法加载主类”。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命令后面只写类名 SimpleApp。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544252"/>
            <a:ext cx="3505200" cy="2383155"/>
            <a:chOff x="4343400" y="3544252"/>
            <a:chExt cx="3505200" cy="2383155"/>
          </a:xfrm>
        </p:grpSpPr>
        <p:sp>
          <p:nvSpPr>
            <p:cNvPr id="25" name="Rectangle 25"/>
            <p:cNvSpPr/>
            <p:nvPr/>
          </p:nvSpPr>
          <p:spPr>
            <a:xfrm>
              <a:off x="4343400" y="3544252"/>
              <a:ext cx="3505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41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30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34281" y="4102894"/>
              <a:ext cx="278405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一个源文件中最多有几个 package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语句、几个 public 类？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34281" y="4692491"/>
              <a:ext cx="295402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各至多 1 个；package 语句必须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是第一条语句。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111692"/>
            <a:chOff x="8153400" y="1524000"/>
            <a:chExt cx="3505200" cy="2111692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5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4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44281" y="2082641"/>
              <a:ext cx="28890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只想运行别人编译好的 Java 程序，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至少要装 JDK、JRE 还是 JVM？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44281" y="2672239"/>
              <a:ext cx="2917952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JRE。它包含 JVM 和核心类库；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单独的 JVM 缺少类库，无法运行程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序。要编译程序才需要 JDK。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815715"/>
            <a:ext cx="3505200" cy="2111692"/>
            <a:chOff x="8153400" y="3815715"/>
            <a:chExt cx="3505200" cy="2111692"/>
          </a:xfrm>
        </p:grpSpPr>
        <p:sp>
          <p:nvSpPr>
            <p:cNvPr id="37" name="Rectangle 37"/>
            <p:cNvSpPr/>
            <p:nvPr/>
          </p:nvSpPr>
          <p:spPr>
            <a:xfrm>
              <a:off x="8153400" y="3815715"/>
              <a:ext cx="3505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51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40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44281" y="4374356"/>
              <a:ext cx="26893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为什么说同一个 .class 文件能在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和 Linux 上运行？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44281" y="4963954"/>
              <a:ext cx="28999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字节码与平台无关，两个系统上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各有自己的 JVM，由 JVM 把字节码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转成本机的机器码执行。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36358" cy="266700"/>
            </a:xfrm>
            <a:prstGeom prst="roundRect">
              <a:avLst>
                <a:gd name="adj" fmla="val 50000"/>
              </a:avLst>
            </a:prstGeom>
            <a:solidFill>
              <a:srgbClr val="F7E8E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5528" y="407194"/>
              <a:ext cx="1151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A1343C"/>
                  </a:solidFill>
                  <a:latin typeface="+mn-lt"/>
                  <a:ea typeface="+mn-ea"/>
                  <a:cs typeface="+mn-cs"/>
                </a:rPr>
                <a:t>第1章 Java 概述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A1343C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6059805" cy="4048126"/>
            <a:chOff x="533400" y="1524000"/>
            <a:chExt cx="6059805" cy="404812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9521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知识点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1126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95690" y="2108359"/>
              <a:ext cx="3873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Sun 公司 1995 年发布，前身是 Oak；现由 Oracle 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OpenJDK 社区维护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647950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8970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平台版本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95690" y="2783681"/>
              <a:ext cx="41338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 标准版（本课程）、EE 企业版（现为 Jakarta EE）、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 微型版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45900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跨平台原理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95690" y="3459004"/>
              <a:ext cx="31528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源程序 → javac → 字节码 → 各平台的 JVM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680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772852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907631"/>
              <a:ext cx="91760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/ JRE /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JVM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95690" y="4020979"/>
              <a:ext cx="36393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= JRE + 开发工具；JRE = JVM + 核心类库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4434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69725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源文件规则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95690" y="4583906"/>
              <a:ext cx="41663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package 至多 1 句且在最前；public 类至多 1 个且与文件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同名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1187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512349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52592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运行五阶段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95690" y="525922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编辑、编译、加载、验证、执行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6059805" cy="40481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83105" y="1524000"/>
              <a:ext cx="9525" cy="40481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1"/>
          <p:cNvGrpSpPr/>
          <p:nvPr/>
        </p:nvGrpSpPr>
        <p:grpSpPr>
          <a:xfrm>
            <a:off x="6898005" y="1524000"/>
            <a:ext cx="4760595" cy="4048125"/>
            <a:chOff x="6898005" y="1524000"/>
            <a:chExt cx="4760595" cy="4048125"/>
          </a:xfrm>
        </p:grpSpPr>
        <p:sp>
          <p:nvSpPr>
            <p:cNvPr id="33" name="Rectangle 33"/>
            <p:cNvSpPr/>
            <p:nvPr/>
          </p:nvSpPr>
          <p:spPr>
            <a:xfrm>
              <a:off x="6898005" y="1524000"/>
              <a:ext cx="4760595" cy="4048125"/>
            </a:xfrm>
            <a:prstGeom prst="roundRect">
              <a:avLst>
                <a:gd name="adj" fmla="val 32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907530" y="1657350"/>
              <a:ext cx="47625" cy="37814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145655" y="1733550"/>
              <a:ext cx="191643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193509" y="1769269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本讲义对原课件的主要更正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151370" y="217360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09485" y="2110740"/>
              <a:ext cx="3749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版本年份：JDK 1.2 在 1998 年，Java 19 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2022 年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151370" y="279463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309485" y="2731770"/>
              <a:ext cx="3815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var 由 JDK 10 引入；JDK 21 虚拟线程已是正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式功能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151370" y="341566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309485" y="3352800"/>
              <a:ext cx="39427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1.1 输出应为 this is a simple program!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151370" y="375094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309485" y="3688080"/>
              <a:ext cx="28883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HotSpot 是解释 + JIT 混合执行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151370" y="408622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309485" y="4023360"/>
              <a:ext cx="3834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Applet、appletviewer、32 位 Eclipse、SSH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架构均已过时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151370" y="4707255"/>
              <a:ext cx="64770" cy="64770"/>
            </a:xfrm>
            <a:prstGeom prst="ellipse">
              <a:avLst/>
            </a:prstGeom>
            <a:solidFill>
              <a:srgbClr val="A1343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09485" y="4644390"/>
              <a:ext cx="328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JDK 17 安装目录不是 jdk1.8.0_162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0" name="Rectangle 5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A1343C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991225"/>
              <a:ext cx="101513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动手检验：不用 IDE，只用记事本和 cmd，把例 1.1 编译运行一遍，再故意改错文件名和类名，看看各报什么错。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958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Java程序设计 · 第1章 Java 概述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java_ch1">
  <a:themeElements>
    <a:clrScheme name="java_ch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java_ch1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java_ch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2026-09-19T03:48:57Z</dcterms:created>
  <dcterms:modified xsi:type="dcterms:W3CDTF">2026-09-19T03:48:57Z</dcterms:modified>
  <cp:category/>
  <cp:contentStatus/>
</cp:coreProperties>
</file>