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java_ch8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java_ch8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cc6f89a6a6c2ba1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9e6fe4b87d582b7.png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a25df1dbd9eddfe.png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9365" t="0" r="9365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147566" cy="3437763"/>
            <a:chOff x="666750" y="1619250"/>
            <a:chExt cx="4147566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81188" cy="3429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2740" y="1718310"/>
              <a:ext cx="16482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Java程序设计 · 第8章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126214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IO流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程序怎样从文件、键盘、内存读写数据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544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File 类与四个文件流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字节流与字符流两大家族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数据、缓冲、对象三种包装流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20718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标准 I/O 与随机访问文件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382814" cy="205359"/>
            <a:chOff x="680466" y="6192202"/>
            <a:chExt cx="438281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382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自学复习版｜据吉林大学《Java程序设计》第8章课件整理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7726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3710" y="407194"/>
              <a:ext cx="7766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448336" cy="4158900"/>
            <a:chOff x="521970" y="1515428"/>
            <a:chExt cx="6448336" cy="4158900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20503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8.1 文件的读取 I/O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54180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File 类；FileReader/FileWriter 按字符读写，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FileInputStream/FileOutputStream 按字节读写；文本文件与二进制文件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41649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52126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557462"/>
              <a:ext cx="15821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8.2 流与相关类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875121"/>
              <a:ext cx="55156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流的三种分法；InputStream/OutputStream 家族与数据流、缓冲流、对象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流；Reader/Writer 家族与转换流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342328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52806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564255"/>
              <a:ext cx="16800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8.3 标准 I/O 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881914"/>
              <a:ext cx="5841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System.in/out/err，回显与重定向两个例子，用 Scanner 读键盘和字符串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419481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430053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4336732"/>
              <a:ext cx="18042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8.4 随机访问文件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653439"/>
              <a:ext cx="59033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RandomAccessFile 的 seek 与文件指针，计算文件长度；ZIP 与 GZIP 压缩流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96728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507206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510825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流的分类总览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5424964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节点流与处理流两张表，缓冲流、打印流、数据流、对象流各一个例子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4657725"/>
            <a:chOff x="7114222" y="1524000"/>
            <a:chExt cx="4544378" cy="465772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4657725"/>
            </a:xfrm>
            <a:prstGeom prst="roundRect">
              <a:avLst>
                <a:gd name="adj" fmla="val 29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439102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给一个读写需求，能选出用字节流还是字符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流、要不要套缓冲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能写出逐字节复制文件、按行读文本的完整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代码，并正确关闭流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347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能画出 DataOutputStream 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BufferedOutputStream 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FileOutputStream 的包装链，说出每层的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60819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4545330"/>
              <a:ext cx="35966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能算出 DataOutputStream、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RandomAccessFile 写入后的文件字节数和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文件指针位置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551497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5452110"/>
              <a:ext cx="3768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说得出对象序列化的条件（Serializable、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transient）和读回时的顺序与强制转换要求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100828" cy="2997517"/>
            <a:chOff x="667512" y="1835468"/>
            <a:chExt cx="510082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47358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8.1 文件的读取 I/O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5330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先认识 File 类，再用四个文件流读写文件内容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460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 只描述路径，不读写内容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字符流读写文本，字节流原样搬运任意数据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文本文件与二进制文件的区别在于存的是编码还是数值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28576" cy="909257"/>
            <a:chOff x="520446" y="342900"/>
            <a:chExt cx="69285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3554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40" y="407194"/>
              <a:ext cx="23391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8.1 文件的读取 I/O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285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难在哪：源头多、方式多、处处可能出错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bullets-1"/>
          <p:cNvGrpSpPr/>
          <p:nvPr/>
        </p:nvGrpSpPr>
        <p:grpSpPr>
          <a:xfrm>
            <a:off x="526542" y="1545907"/>
            <a:ext cx="5013960" cy="1884522"/>
            <a:chOff x="526542" y="1545907"/>
            <a:chExt cx="5013960" cy="1884522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原课件总结的三个难点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3400" y="1853565"/>
              <a:ext cx="192405" cy="19240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89078" y="18929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4197" y="1865947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要和不同的源和目的端打交道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21055" y="2193608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5840" y="2130266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文件、控制台（键盘和显示器）、网络连接、内存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393632"/>
              <a:ext cx="192405" cy="19240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9078" y="243297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197" y="240601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要用不同的方式通信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21055" y="2733675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05840" y="2670334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顺序或随机存取；带缓冲或不带；按二进制、按字符、按行、按字节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2934652"/>
              <a:ext cx="192405" cy="19240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89078" y="297303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4197" y="2946082"/>
              <a:ext cx="2617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大多数 I/O 操作都要做异常处理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21055" y="3273742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05840" y="3210401"/>
              <a:ext cx="35008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文件不存在、磁盘满、网络断开都会抛 IOException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3561398"/>
            <a:ext cx="4977765" cy="1786890"/>
            <a:chOff x="533400" y="3561398"/>
            <a:chExt cx="4977765" cy="1786890"/>
          </a:xfrm>
        </p:grpSpPr>
        <p:sp>
          <p:nvSpPr>
            <p:cNvPr id="24" name="Rectangle 24"/>
            <p:cNvSpPr/>
            <p:nvPr/>
          </p:nvSpPr>
          <p:spPr>
            <a:xfrm>
              <a:off x="533400" y="3561398"/>
              <a:ext cx="4977765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3694748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63905" y="375380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55345" y="378809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47597" y="3793808"/>
              <a:ext cx="12268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流（stream）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7047" y="4128135"/>
              <a:ext cx="43599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流是 Java 程序输入/输出的方式，程序通过流来完成输入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/输出工作。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7047" y="4687252"/>
              <a:ext cx="43685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提供了各种各样的流类来实现 I/O，把数据处理的细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节封装在类里。</a:t>
              </a:r>
            </a:p>
          </p:txBody>
        </p:sp>
      </p:grpSp>
      <p:grpSp>
        <p:nvGrpSpPr>
          <p:cNvPr id="61" name="c2-graph-1"/>
          <p:cNvGrpSpPr/>
          <p:nvPr/>
        </p:nvGrpSpPr>
        <p:grpSpPr>
          <a:xfrm>
            <a:off x="6039802" y="1868805"/>
            <a:ext cx="5394008" cy="3424714"/>
            <a:chOff x="6039802" y="1868805"/>
            <a:chExt cx="5394008" cy="3424714"/>
          </a:xfrm>
        </p:grpSpPr>
        <p:sp>
          <p:nvSpPr>
            <p:cNvPr id="32" name="Freeform 32"/>
            <p:cNvSpPr/>
            <p:nvPr/>
          </p:nvSpPr>
          <p:spPr>
            <a:xfrm>
              <a:off x="6824662" y="2249805"/>
              <a:ext cx="1311593" cy="813435"/>
            </a:xfrm>
            <a:custGeom>
              <a:avLst/>
              <a:gdLst/>
              <a:ahLst/>
              <a:cxnLst/>
              <a:rect l="l" t="t" r="r" b="b"/>
              <a:pathLst>
                <a:path w="1311593" h="813435">
                  <a:moveTo>
                    <a:pt x="0" y="0"/>
                  </a:moveTo>
                  <a:lnTo>
                    <a:pt x="1311593" y="8134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110538" y="3023235"/>
              <a:ext cx="106680" cy="90488"/>
            </a:xfrm>
            <a:custGeom>
              <a:avLst/>
              <a:gdLst/>
              <a:ahLst/>
              <a:cxnLst/>
              <a:rect l="l" t="t" r="r" b="b"/>
              <a:pathLst>
                <a:path w="106680" h="90488">
                  <a:moveTo>
                    <a:pt x="106680" y="90488"/>
                  </a:moveTo>
                  <a:lnTo>
                    <a:pt x="0" y="80962"/>
                  </a:lnTo>
                  <a:lnTo>
                    <a:pt x="5048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6993255" y="3135630"/>
              <a:ext cx="1129665" cy="194310"/>
            </a:xfrm>
            <a:custGeom>
              <a:avLst/>
              <a:gdLst/>
              <a:ahLst/>
              <a:cxnLst/>
              <a:rect l="l" t="t" r="r" b="b"/>
              <a:pathLst>
                <a:path w="1129665" h="194310">
                  <a:moveTo>
                    <a:pt x="0" y="0"/>
                  </a:moveTo>
                  <a:lnTo>
                    <a:pt x="1129665" y="1943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115300" y="3283268"/>
              <a:ext cx="101918" cy="94298"/>
            </a:xfrm>
            <a:custGeom>
              <a:avLst/>
              <a:gdLst/>
              <a:ahLst/>
              <a:cxnLst/>
              <a:rect l="l" t="t" r="r" b="b"/>
              <a:pathLst>
                <a:path w="101918" h="94298">
                  <a:moveTo>
                    <a:pt x="101918" y="62865"/>
                  </a:moveTo>
                  <a:lnTo>
                    <a:pt x="0" y="94298"/>
                  </a:lnTo>
                  <a:lnTo>
                    <a:pt x="1619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6993255" y="3604260"/>
              <a:ext cx="1131570" cy="312420"/>
            </a:xfrm>
            <a:custGeom>
              <a:avLst/>
              <a:gdLst/>
              <a:ahLst/>
              <a:cxnLst/>
              <a:rect l="l" t="t" r="r" b="b"/>
              <a:pathLst>
                <a:path w="1131570" h="312420">
                  <a:moveTo>
                    <a:pt x="0" y="312420"/>
                  </a:moveTo>
                  <a:lnTo>
                    <a:pt x="113157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112442" y="3558540"/>
              <a:ext cx="104775" cy="92392"/>
            </a:xfrm>
            <a:custGeom>
              <a:avLst/>
              <a:gdLst/>
              <a:ahLst/>
              <a:cxnLst/>
              <a:rect l="l" t="t" r="r" b="b"/>
              <a:pathLst>
                <a:path w="104775" h="92392">
                  <a:moveTo>
                    <a:pt x="104775" y="20955"/>
                  </a:moveTo>
                  <a:lnTo>
                    <a:pt x="25717" y="92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9257348" y="2597468"/>
              <a:ext cx="1219200" cy="587692"/>
            </a:xfrm>
            <a:custGeom>
              <a:avLst/>
              <a:gdLst/>
              <a:ahLst/>
              <a:cxnLst/>
              <a:rect l="l" t="t" r="r" b="b"/>
              <a:pathLst>
                <a:path w="1219200" h="587692">
                  <a:moveTo>
                    <a:pt x="0" y="587692"/>
                  </a:moveTo>
                  <a:lnTo>
                    <a:pt x="121920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10455592" y="2554605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953"/>
                  </a:moveTo>
                  <a:lnTo>
                    <a:pt x="40957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9257348" y="3435668"/>
              <a:ext cx="1127760" cy="9525"/>
            </a:xfrm>
            <a:custGeom>
              <a:avLst/>
              <a:gdLst/>
              <a:ahLst/>
              <a:cxnLst/>
              <a:rect l="l" t="t" r="r" b="b"/>
              <a:pathLst>
                <a:path w="1127760" h="9525">
                  <a:moveTo>
                    <a:pt x="0" y="0"/>
                  </a:moveTo>
                  <a:lnTo>
                    <a:pt x="112776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0385108" y="33880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9257348" y="3687128"/>
              <a:ext cx="1219200" cy="587692"/>
            </a:xfrm>
            <a:custGeom>
              <a:avLst/>
              <a:gdLst/>
              <a:ahLst/>
              <a:cxnLst/>
              <a:rect l="l" t="t" r="r" b="b"/>
              <a:pathLst>
                <a:path w="1219200" h="587692">
                  <a:moveTo>
                    <a:pt x="0" y="0"/>
                  </a:moveTo>
                  <a:lnTo>
                    <a:pt x="1219200" y="58769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0455592" y="4231958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83820"/>
                  </a:moveTo>
                  <a:lnTo>
                    <a:pt x="0" y="85725"/>
                  </a:lnTo>
                  <a:lnTo>
                    <a:pt x="4095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39802" y="1868805"/>
              <a:ext cx="953452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39802" y="2863215"/>
              <a:ext cx="953452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039802" y="3856672"/>
              <a:ext cx="953452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217218" y="3046095"/>
              <a:ext cx="1040130" cy="780098"/>
            </a:xfrm>
            <a:prstGeom prst="roundRect">
              <a:avLst>
                <a:gd name="adj" fmla="val 1221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480358" y="2174558"/>
              <a:ext cx="953452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480358" y="3245168"/>
              <a:ext cx="953452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480358" y="4315778"/>
              <a:ext cx="953452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70320" y="199358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370320" y="298799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370320" y="39824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键盘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566378" y="3287078"/>
              <a:ext cx="341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590598" y="345376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810875" y="23002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740200" y="337089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显示器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669524" y="444150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内存数组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341300" y="492013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输入流：数据流进程序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613138" y="507349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输出流：数据流出程序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2" name="Rectangle 6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892" y="6023610"/>
              <a:ext cx="95613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 把各种数据源都抽象成流：程序只管从输入流读、往输出流写，另一端是文件、网络还是键盘由具体的流类负责。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3554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40" y="407194"/>
              <a:ext cx="23391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8.1 文件的读取 I/O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文件里存的是什么：从位到对象的层次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table-1"/>
          <p:cNvGrpSpPr/>
          <p:nvPr/>
        </p:nvGrpSpPr>
        <p:grpSpPr>
          <a:xfrm>
            <a:off x="533400" y="1524000"/>
            <a:ext cx="6059805" cy="3200400"/>
            <a:chOff x="533400" y="1524000"/>
            <a:chExt cx="6059805" cy="32004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4366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4006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01667" y="16454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用哪类流读写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045494"/>
              <a:ext cx="4364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 Bit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64055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23360" y="20454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不单独读写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445544"/>
              <a:ext cx="714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字节 Byte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64055" y="2445544"/>
              <a:ext cx="13174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01001010（0x4A）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935730" y="2333625"/>
              <a:ext cx="2646998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023360" y="2445544"/>
              <a:ext cx="21658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InputStream / OutputStream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7193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0555" y="2845594"/>
              <a:ext cx="11493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 Character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64055" y="2845594"/>
              <a:ext cx="800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J、u、d、y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023360" y="2845594"/>
              <a:ext cx="1183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Reader / Writer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1194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12420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0555" y="32456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行（记录）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964055" y="3245644"/>
              <a:ext cx="8129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Judy Green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23360" y="3245644"/>
              <a:ext cx="2062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BufferedReader.readLine()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5194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0555" y="37457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基本类型数据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64055" y="3745706"/>
              <a:ext cx="12930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double、boolean 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23360" y="3645694"/>
              <a:ext cx="132003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DataInputStream /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DataOutputStream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1195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124325"/>
              <a:ext cx="6059805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0555" y="43457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964055" y="4345781"/>
              <a:ext cx="17045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 Serializable 的对象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023360" y="4245769"/>
              <a:ext cx="14693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ObjectInputStream /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ObjectOutputStream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6059805" cy="3200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862138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3921442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1-card-2"/>
          <p:cNvGrpSpPr/>
          <p:nvPr/>
        </p:nvGrpSpPr>
        <p:grpSpPr>
          <a:xfrm>
            <a:off x="533400" y="4893945"/>
            <a:ext cx="6059805" cy="1202055"/>
            <a:chOff x="533400" y="4893945"/>
            <a:chExt cx="6059805" cy="1202055"/>
          </a:xfrm>
        </p:grpSpPr>
        <p:sp>
          <p:nvSpPr>
            <p:cNvPr id="42" name="Rectangle 42"/>
            <p:cNvSpPr/>
            <p:nvPr/>
          </p:nvSpPr>
          <p:spPr>
            <a:xfrm>
              <a:off x="533400" y="4893945"/>
              <a:ext cx="6059805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542925" y="5027295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58190" y="50806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50862" y="51134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323784" y="5115878"/>
              <a:ext cx="1868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7 页的层次图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1332" y="5441633"/>
              <a:ext cx="53629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01001010 是字母 J 的 ASCII 码 0x4A。8 个位组成 1 个字节，字节按编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码组成字符，字符组成一行（一条记录），很多行组成文件。</a:t>
              </a:r>
            </a:p>
          </p:txBody>
        </p:sp>
      </p:grpSp>
      <p:grpSp>
        <p:nvGrpSpPr>
          <p:cNvPr id="68" name="c2-cells-1"/>
          <p:cNvGrpSpPr/>
          <p:nvPr/>
        </p:nvGrpSpPr>
        <p:grpSpPr>
          <a:xfrm>
            <a:off x="6892290" y="1569720"/>
            <a:ext cx="4766310" cy="618173"/>
            <a:chOff x="6892290" y="1569720"/>
            <a:chExt cx="4766310" cy="618173"/>
          </a:xfrm>
        </p:grpSpPr>
        <p:sp>
          <p:nvSpPr>
            <p:cNvPr id="49" name="TextBox 49"/>
            <p:cNvSpPr txBox="1"/>
            <p:nvPr/>
          </p:nvSpPr>
          <p:spPr>
            <a:xfrm>
              <a:off x="6892290" y="19340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文件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315200" y="1819275"/>
              <a:ext cx="54292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537411" y="1934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858125" y="1819275"/>
              <a:ext cx="54292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080336" y="1934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401050" y="1819275"/>
              <a:ext cx="54292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623261" y="1934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943975" y="1819275"/>
              <a:ext cx="54292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166186" y="1934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486900" y="1819275"/>
              <a:ext cx="54292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709111" y="1934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0029825" y="1819275"/>
              <a:ext cx="54292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252036" y="1934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0572750" y="1819275"/>
              <a:ext cx="54292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707889" y="193405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n-1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1115675" y="1819275"/>
              <a:ext cx="542925" cy="3686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1294350" y="193405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140059" y="156972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读到末尾</a:t>
              </a:r>
            </a:p>
          </p:txBody>
        </p:sp>
        <p:sp>
          <p:nvSpPr>
            <p:cNvPr id="67" name="Freeform 67"/>
            <p:cNvSpPr/>
            <p:nvPr/>
          </p:nvSpPr>
          <p:spPr>
            <a:xfrm>
              <a:off x="11349038" y="1724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76" name="c2-card-2"/>
          <p:cNvGrpSpPr/>
          <p:nvPr/>
        </p:nvGrpSpPr>
        <p:grpSpPr>
          <a:xfrm>
            <a:off x="6898005" y="2358390"/>
            <a:ext cx="4760595" cy="3738562"/>
            <a:chOff x="6898005" y="2358390"/>
            <a:chExt cx="4760595" cy="3738562"/>
          </a:xfrm>
        </p:grpSpPr>
        <p:sp>
          <p:nvSpPr>
            <p:cNvPr id="69" name="Rectangle 69"/>
            <p:cNvSpPr/>
            <p:nvPr/>
          </p:nvSpPr>
          <p:spPr>
            <a:xfrm>
              <a:off x="6898005" y="2358390"/>
              <a:ext cx="4760595" cy="3738562"/>
            </a:xfrm>
            <a:prstGeom prst="roundRect">
              <a:avLst>
                <a:gd name="adj" fmla="val 3567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7084695" y="2545080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154012" y="2577941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读循环的结束条件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397050" y="2579370"/>
              <a:ext cx="1868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一个文件就是 n 个字节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077837" y="2906077"/>
              <a:ext cx="37484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文件是编号 0 到 n-1 的 n 个字节排成的序列。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077837" y="3206115"/>
              <a:ext cx="388848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逐个读取时，读完最后一个字节再读，read() 返回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-1。本章所有读循环都写成 </a:t>
              </a:r>
              <a:r>
                <a:rPr lang="en-US" sz="135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while ((c =</a:t>
              </a:r>
              <a:br/>
              <a:r>
                <a:rPr lang="en-US" sz="135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in.read()) != -1)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077837" y="4020502"/>
              <a:ext cx="417137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同样的字节也可以按 double、boolean 这些基本类型解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释，或者按序列化格式还原成对象，左表后两行就是这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两种读法。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06214" cy="909257"/>
            <a:chOff x="520446" y="342900"/>
            <a:chExt cx="5906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3554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40" y="407194"/>
              <a:ext cx="23391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8.1 文件的读取 I/O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06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 类：只描述路径，不负责读写内容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1670685"/>
            <a:chOff x="533400" y="1524000"/>
            <a:chExt cx="5626418" cy="16706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670685"/>
            </a:xfrm>
            <a:prstGeom prst="roundRect">
              <a:avLst>
                <a:gd name="adj" fmla="val 7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0398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2093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java.io.File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文件和目录路径名的抽象表示形式，用来获取文件或目录的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信息：是否存在、大小、修改时间，也能新建和删除。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75082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读写文件内容不归它管，要用后面的文件流。</a:t>
              </a:r>
            </a:p>
          </p:txBody>
        </p:sp>
      </p:grpSp>
      <p:grpSp>
        <p:nvGrpSpPr>
          <p:cNvPr id="18" name="c1-code-2"/>
          <p:cNvGrpSpPr/>
          <p:nvPr/>
        </p:nvGrpSpPr>
        <p:grpSpPr>
          <a:xfrm>
            <a:off x="533400" y="3385185"/>
            <a:ext cx="5626418" cy="1384935"/>
            <a:chOff x="533400" y="3385185"/>
            <a:chExt cx="5626418" cy="1384935"/>
          </a:xfrm>
        </p:grpSpPr>
        <p:sp>
          <p:nvSpPr>
            <p:cNvPr id="15" name="Rectangle 15"/>
            <p:cNvSpPr/>
            <p:nvPr/>
          </p:nvSpPr>
          <p:spPr>
            <a:xfrm>
              <a:off x="533400" y="3385185"/>
              <a:ext cx="5626418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797" y="3537109"/>
              <a:ext cx="12143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File 类的两个构造器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797" y="3798094"/>
              <a:ext cx="2748026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File(String pathname)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以 pathname 为路径创建 File 对象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相对路径相对于当前工作目录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File(String parent, String child)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以 parent 为父路径、child 为子路径创建</a:t>
              </a:r>
            </a:p>
          </p:txBody>
        </p:sp>
      </p:grpSp>
      <p:grpSp>
        <p:nvGrpSpPr>
          <p:cNvPr id="25" name="c1-callout-3"/>
          <p:cNvGrpSpPr/>
          <p:nvPr/>
        </p:nvGrpSpPr>
        <p:grpSpPr>
          <a:xfrm>
            <a:off x="533400" y="4960620"/>
            <a:ext cx="5626418" cy="1059180"/>
            <a:chOff x="533400" y="4960620"/>
            <a:chExt cx="5626418" cy="1059180"/>
          </a:xfrm>
        </p:grpSpPr>
        <p:sp>
          <p:nvSpPr>
            <p:cNvPr id="19" name="Rectangle 19"/>
            <p:cNvSpPr/>
            <p:nvPr/>
          </p:nvSpPr>
          <p:spPr>
            <a:xfrm>
              <a:off x="533400" y="4960620"/>
              <a:ext cx="5626418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5390198"/>
              <a:ext cx="200026" cy="200025"/>
              <a:chOff x="738188" y="5390198"/>
              <a:chExt cx="200026" cy="2000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3901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77926" y="54346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12642" y="55457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5109210"/>
              <a:ext cx="46443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一个 File 对象既可以代表文件，也可以代表目录，还可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以代表一个尚不存在的路径；用 isFile()、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isDirectory()、exists() 区分。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464618" y="1524000"/>
            <a:ext cx="5193982" cy="1621155"/>
            <a:chOff x="6464618" y="1524000"/>
            <a:chExt cx="5193982" cy="1621155"/>
          </a:xfrm>
        </p:grpSpPr>
        <p:sp>
          <p:nvSpPr>
            <p:cNvPr id="26" name="Rectangle 26"/>
            <p:cNvSpPr/>
            <p:nvPr/>
          </p:nvSpPr>
          <p:spPr>
            <a:xfrm>
              <a:off x="6464618" y="1524000"/>
              <a:ext cx="5193982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74142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71226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0342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13295" y="1768792"/>
              <a:ext cx="33074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File(...) 不会在磁盘上建文件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04648" y="2129790"/>
              <a:ext cx="44538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 File 对象只是在内存里记下一个路径。磁盘上有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没有这个文件，用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exists()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判断；真要创建，调用</a:t>
              </a:r>
              <a:br/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createNewFile()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或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mkdirs()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8" name="c2-kv-2"/>
          <p:cNvGrpSpPr/>
          <p:nvPr/>
        </p:nvGrpSpPr>
        <p:grpSpPr>
          <a:xfrm>
            <a:off x="6456998" y="3360420"/>
            <a:ext cx="5201602" cy="2143125"/>
            <a:chOff x="6456998" y="3360420"/>
            <a:chExt cx="5201602" cy="2143125"/>
          </a:xfrm>
        </p:grpSpPr>
        <p:sp>
          <p:nvSpPr>
            <p:cNvPr id="33" name="TextBox 33"/>
            <p:cNvSpPr txBox="1"/>
            <p:nvPr/>
          </p:nvSpPr>
          <p:spPr>
            <a:xfrm>
              <a:off x="6456998" y="336042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当前工作目录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95273" y="3360420"/>
              <a:ext cx="3549015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命令行运行时是执行 java 命令的目录；在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IDE 里一般是工程根目录，所以原课件写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./src/TestFileReader.java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64618" y="424434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56998" y="43643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路径分隔符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95273" y="4364355"/>
              <a:ext cx="3539490" cy="11391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 用反斜杠，字符串里要写成两个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反斜杠；统一写 / 在 Windows 上也能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用，File.separator 给出当前系统的分隔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62933" cy="909257"/>
            <a:chOff x="520446" y="342900"/>
            <a:chExt cx="5562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3554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40" y="407194"/>
              <a:ext cx="23391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8.1 文件的读取 I/O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62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 的常用方法：查询、创建、删除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8" name="c1-table-1"/>
          <p:cNvGrpSpPr/>
          <p:nvPr/>
        </p:nvGrpSpPr>
        <p:grpSpPr>
          <a:xfrm>
            <a:off x="533400" y="1524000"/>
            <a:ext cx="5410200" cy="4663440"/>
            <a:chOff x="533400" y="1524000"/>
            <a:chExt cx="5410200" cy="46634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6753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6297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返回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7840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18537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canRead() / canWrite()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13710" y="2054066"/>
              <a:ext cx="554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boolean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25240" y="2054066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能否读 / 能否写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459831"/>
              <a:ext cx="668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exists()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13710" y="2459831"/>
              <a:ext cx="554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boolean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25240" y="24598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文件或目录是否存在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865596"/>
              <a:ext cx="18361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isDirectory() / isFile()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13710" y="2865596"/>
              <a:ext cx="554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boolean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25240" y="2865596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是目录 / 是普通文件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4706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3271361"/>
              <a:ext cx="8085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isHidden()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13710" y="3271361"/>
              <a:ext cx="554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boolean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25240" y="32713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是否隐藏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480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3677126"/>
              <a:ext cx="11487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lastModified()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13710" y="3677126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long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25240" y="367712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最后修改时间（毫秒数）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9538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95859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3412" y="4082891"/>
              <a:ext cx="668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length()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13710" y="4082891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825240" y="4082891"/>
              <a:ext cx="19488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文件字节数；不存在时返回 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3595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3412" y="4588669"/>
              <a:ext cx="18068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getName() / getPath()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013710" y="4588669"/>
              <a:ext cx="4756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825240" y="4488656"/>
              <a:ext cx="188188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最后一级名字 / 构造时给的路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径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9653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97014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3412" y="5094446"/>
              <a:ext cx="14629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getAbsolutePath()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013710" y="5094446"/>
              <a:ext cx="4756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825240" y="509444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绝对路径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53711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3412" y="5500211"/>
              <a:ext cx="1249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getParentFile()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013710" y="5500211"/>
              <a:ext cx="2713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825240" y="5500211"/>
              <a:ext cx="12218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父目录对应的 File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57769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578167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3412" y="5905976"/>
              <a:ext cx="14424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list() / listFiles()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013710" y="59059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825240" y="5905976"/>
              <a:ext cx="20008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列出目录里的名字 / File 对象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1524000"/>
              <a:ext cx="5410200" cy="46634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2908935" y="1524000"/>
              <a:ext cx="9525" cy="46634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3720465" y="1524000"/>
              <a:ext cx="9525" cy="46634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8" name="c2-table-1"/>
          <p:cNvGrpSpPr/>
          <p:nvPr/>
        </p:nvGrpSpPr>
        <p:grpSpPr>
          <a:xfrm>
            <a:off x="6248400" y="1524000"/>
            <a:ext cx="5410200" cy="2228850"/>
            <a:chOff x="6248400" y="1524000"/>
            <a:chExt cx="5410200" cy="2228850"/>
          </a:xfrm>
        </p:grpSpPr>
        <p:sp>
          <p:nvSpPr>
            <p:cNvPr id="59" name="Rectangle 59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1202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71712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348412" y="2154079"/>
              <a:ext cx="1280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createNewFile()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187690" y="2054066"/>
              <a:ext cx="32118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文件不存在时新建空文件并返回 true，已存在返回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false；声明抛 IOException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248400" y="25307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248400" y="253555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348412" y="2659856"/>
              <a:ext cx="668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delete()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187690" y="2659856"/>
              <a:ext cx="28459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删除文件或空目录，目录非空时返回 false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248400" y="29365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348412" y="3065621"/>
              <a:ext cx="6130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mkdir()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187690" y="306562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只建一级目录，父目录不存在就失败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248400" y="33423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248400" y="334708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257925" y="3356610"/>
              <a:ext cx="182022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348412" y="3471386"/>
              <a:ext cx="7000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mkdirs()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187690" y="347138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连同不存在的父目录一起建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248400" y="1524000"/>
              <a:ext cx="5410200" cy="22288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8082915" y="1524000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2" name="c2-code-2"/>
          <p:cNvGrpSpPr/>
          <p:nvPr/>
        </p:nvGrpSpPr>
        <p:grpSpPr>
          <a:xfrm>
            <a:off x="6248400" y="3928110"/>
            <a:ext cx="5410200" cy="1788795"/>
            <a:chOff x="6248400" y="3928110"/>
            <a:chExt cx="5410200" cy="1788795"/>
          </a:xfrm>
        </p:grpSpPr>
        <p:sp>
          <p:nvSpPr>
            <p:cNvPr id="79" name="Rectangle 79"/>
            <p:cNvSpPr/>
            <p:nvPr/>
          </p:nvSpPr>
          <p:spPr>
            <a:xfrm>
              <a:off x="6248400" y="3928110"/>
              <a:ext cx="5410200" cy="1788795"/>
            </a:xfrm>
            <a:prstGeom prst="roundRect">
              <a:avLst>
                <a:gd name="adj" fmla="val 53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376797" y="4080034"/>
              <a:ext cx="20394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实测（JDK 21），注释里是返回值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376988" y="4339304"/>
              <a:ext cx="3149981" cy="1293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File d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"a/b"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a 还不存在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d.mkdir();                        </a:t>
              </a:r>
              <a:r>
                <a:rPr lang="en-US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false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d.mkdirs();                       </a:t>
              </a:r>
              <a:r>
                <a:rPr lang="en-US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true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File f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File(d,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"x.txt"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f.createNewFile();                </a:t>
              </a:r>
              <a:r>
                <a:rPr lang="en-US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true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f.createNewFile(); 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false，已存在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d.delete();        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false，目录非空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f.delete(); d.delete();           </a:t>
              </a:r>
              <a:r>
                <a:rPr lang="en-US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true true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3554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40" y="407194"/>
              <a:ext cx="23391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8.1 文件的读取 I/O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例：先建目录再建文件，第二次运行才有输出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5951220" cy="3747135"/>
            <a:chOff x="533400" y="1524000"/>
            <a:chExt cx="5951220" cy="37471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3747135"/>
            </a:xfrm>
            <a:prstGeom prst="roundRect">
              <a:avLst>
                <a:gd name="adj" fmla="val 254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8245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Test.java（原课件第 10 页）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605212"/>
              <a:ext cx="5913120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947160"/>
              <a:ext cx="5913120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949" y="1936337"/>
              <a:ext cx="4474413" cy="32537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java.io.*;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 filename = 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"myfile.txt"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 directory = 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"mydir1"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"/"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"mydir2"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File f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File(directory, filename);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(f.exists())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"File Name: 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f.getAbsolutePath());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"File Length: 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f.length());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f.getParentFile().mkdirs();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f.createNewFile();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(IOException e)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e.printStackTrace();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2" name="c2-steps-1"/>
          <p:cNvGrpSpPr/>
          <p:nvPr/>
        </p:nvGrpSpPr>
        <p:grpSpPr>
          <a:xfrm>
            <a:off x="6789420" y="1533525"/>
            <a:ext cx="4585716" cy="1390078"/>
            <a:chOff x="6789420" y="1533525"/>
            <a:chExt cx="4585716" cy="1390078"/>
          </a:xfrm>
        </p:grpSpPr>
        <p:sp>
          <p:nvSpPr>
            <p:cNvPr id="13" name="Rectangle 13"/>
            <p:cNvSpPr/>
            <p:nvPr/>
          </p:nvSpPr>
          <p:spPr>
            <a:xfrm>
              <a:off x="6922770" y="1676400"/>
              <a:ext cx="19050" cy="8420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6789420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88304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789420" y="237553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83044" y="24493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01281" y="156638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第一次运行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02424" y="1846898"/>
              <a:ext cx="41727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exists() 为 false，走 else：mkdirs() 建出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mydir1/mydir2，createNewFile() 建空文件。什么也不打印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01281" y="240839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第二次运行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02424" y="2688907"/>
              <a:ext cx="25726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文件已存在，打印绝对路径和长度 0</a:t>
              </a:r>
            </a:p>
          </p:txBody>
        </p:sp>
      </p:grpSp>
      <p:grpSp>
        <p:nvGrpSpPr>
          <p:cNvPr id="26" name="c2-code-2"/>
          <p:cNvGrpSpPr/>
          <p:nvPr/>
        </p:nvGrpSpPr>
        <p:grpSpPr>
          <a:xfrm>
            <a:off x="6789420" y="3099435"/>
            <a:ext cx="4869180" cy="847725"/>
            <a:chOff x="6789420" y="3099435"/>
            <a:chExt cx="4869180" cy="847725"/>
          </a:xfrm>
        </p:grpSpPr>
        <p:sp>
          <p:nvSpPr>
            <p:cNvPr id="23" name="Rectangle 23"/>
            <p:cNvSpPr/>
            <p:nvPr/>
          </p:nvSpPr>
          <p:spPr>
            <a:xfrm>
              <a:off x="6789420" y="3099435"/>
              <a:ext cx="4869180" cy="847725"/>
            </a:xfrm>
            <a:prstGeom prst="roundRect">
              <a:avLst>
                <a:gd name="adj" fmla="val 1123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17817" y="325135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第二次运行的输出（原课件环境）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17969" y="3511772"/>
              <a:ext cx="3555187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File Name: D:\workspace\test2\mydir1\mydir2\myfile.txt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File Length: 0</a:t>
              </a:r>
            </a:p>
          </p:txBody>
        </p:sp>
      </p:grpSp>
      <p:grpSp>
        <p:nvGrpSpPr>
          <p:cNvPr id="34" name="c2-card-3"/>
          <p:cNvGrpSpPr/>
          <p:nvPr/>
        </p:nvGrpSpPr>
        <p:grpSpPr>
          <a:xfrm>
            <a:off x="6789420" y="4132898"/>
            <a:ext cx="4869180" cy="1884998"/>
            <a:chOff x="6789420" y="4132898"/>
            <a:chExt cx="4869180" cy="1884998"/>
          </a:xfrm>
        </p:grpSpPr>
        <p:sp>
          <p:nvSpPr>
            <p:cNvPr id="27" name="Rectangle 27"/>
            <p:cNvSpPr/>
            <p:nvPr/>
          </p:nvSpPr>
          <p:spPr>
            <a:xfrm>
              <a:off x="6789420" y="4132898"/>
              <a:ext cx="4869180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798945" y="4266248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031355" y="433673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121563" y="43724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32764" y="4377214"/>
              <a:ext cx="13115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10 页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24116" y="4728686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输出框紧跟在程序下面，没说明那是第二次运行的结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果；第一次运行没有任何输出（JDK 21 实测）。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24116" y="5320189"/>
              <a:ext cx="415328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原文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“mydir1"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左边是中文引号，编译不过，已改成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英文引号。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20546" cy="909257"/>
            <a:chOff x="520446" y="342900"/>
            <a:chExt cx="64205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3554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40" y="407194"/>
              <a:ext cx="23391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8.1 文件的读取 I/O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205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读文本文件：FileReader 一次读一个字符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ode-1"/>
          <p:cNvGrpSpPr/>
          <p:nvPr/>
        </p:nvGrpSpPr>
        <p:grpSpPr>
          <a:xfrm>
            <a:off x="533400" y="1524000"/>
            <a:ext cx="5951220" cy="3228975"/>
            <a:chOff x="533400" y="1524000"/>
            <a:chExt cx="5951220" cy="32289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3228975"/>
            </a:xfrm>
            <a:prstGeom prst="roundRect">
              <a:avLst>
                <a:gd name="adj" fmla="val 295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5252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TestFileReader.java（原课件第 12 页）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21330"/>
              <a:ext cx="5913120" cy="1600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181350"/>
              <a:ext cx="5913120" cy="1600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3661410"/>
              <a:ext cx="5913120" cy="1600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988" y="1935194"/>
              <a:ext cx="3759073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java.io.*;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TestFileReader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//加入中文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FileReader fr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 = 0;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fr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FileReader(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"./src/TestFileReader.java"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((c = fr.read()) != -1)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System.out.print((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c);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fr.close();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(FileNotFoundException e)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(IOException e)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928235"/>
            <a:ext cx="5951220" cy="1226820"/>
            <a:chOff x="533400" y="4928235"/>
            <a:chExt cx="5951220" cy="1226820"/>
          </a:xfrm>
        </p:grpSpPr>
        <p:sp>
          <p:nvSpPr>
            <p:cNvPr id="14" name="Rectangle 14"/>
            <p:cNvSpPr/>
            <p:nvPr/>
          </p:nvSpPr>
          <p:spPr>
            <a:xfrm>
              <a:off x="533400" y="4928235"/>
              <a:ext cx="5951220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5061585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3905" y="512064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5345" y="515493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47597" y="51596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运行结果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5494020"/>
              <a:ext cx="52172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程序把自己的源文件原样打印到屏幕上（JDK 21 实测，中文注释正常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显示）。原课件里的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 ln = 0;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没有用到，已删去。</a:t>
              </a:r>
            </a:p>
          </p:txBody>
        </p:sp>
      </p:grpSp>
      <p:grpSp>
        <p:nvGrpSpPr>
          <p:cNvPr id="38" name="c2-steps-1"/>
          <p:cNvGrpSpPr/>
          <p:nvPr/>
        </p:nvGrpSpPr>
        <p:grpSpPr>
          <a:xfrm>
            <a:off x="6789420" y="1533525"/>
            <a:ext cx="4797273" cy="2279809"/>
            <a:chOff x="6789420" y="1533525"/>
            <a:chExt cx="4797273" cy="2279809"/>
          </a:xfrm>
        </p:grpSpPr>
        <p:sp>
          <p:nvSpPr>
            <p:cNvPr id="21" name="Rectangle 21"/>
            <p:cNvSpPr/>
            <p:nvPr/>
          </p:nvSpPr>
          <p:spPr>
            <a:xfrm>
              <a:off x="6922770" y="1676400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6789420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8304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789420" y="212026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8304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789420" y="270700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83044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789420" y="329469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83044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01662" y="156495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打开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02805" y="1833086"/>
              <a:ext cx="43140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FileReader(路径)；文件不存在抛 FileNotFoundException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01662" y="215265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逐个读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02805" y="2419826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read() 返回读到的字符，类型是 int（0～65535），读完返回 -1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01662" y="273939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转回字符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02805" y="3006566"/>
              <a:ext cx="23107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(char) c 把 int 转成 char 再打印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01662" y="332613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关闭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02805" y="3593306"/>
              <a:ext cx="15040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close() 释放文件句柄</a:t>
              </a:r>
            </a:p>
          </p:txBody>
        </p:sp>
      </p:grpSp>
      <p:grpSp>
        <p:nvGrpSpPr>
          <p:cNvPr id="46" name="c2-card-2"/>
          <p:cNvGrpSpPr/>
          <p:nvPr/>
        </p:nvGrpSpPr>
        <p:grpSpPr>
          <a:xfrm>
            <a:off x="6789420" y="3982402"/>
            <a:ext cx="4869180" cy="2171700"/>
            <a:chOff x="6789420" y="3982402"/>
            <a:chExt cx="4869180" cy="2171700"/>
          </a:xfrm>
        </p:grpSpPr>
        <p:sp>
          <p:nvSpPr>
            <p:cNvPr id="39" name="Rectangle 39"/>
            <p:cNvSpPr/>
            <p:nvPr/>
          </p:nvSpPr>
          <p:spPr>
            <a:xfrm>
              <a:off x="6789420" y="3982402"/>
              <a:ext cx="4869180" cy="2171700"/>
            </a:xfrm>
            <a:prstGeom prst="roundRect">
              <a:avLst>
                <a:gd name="adj" fmla="val 61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798945" y="4115752"/>
              <a:ext cx="47625" cy="19050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019925" y="4174808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99364" y="420909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原例的问题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03667" y="4214812"/>
              <a:ext cx="15616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 catch 是空的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13067" y="4549140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路径写错时程序静悄悄结束，屏幕上什么都没有，很难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查。自己写代码时 catch 里至少打印异常。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13067" y="5108258"/>
              <a:ext cx="41799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fr.close() 写在 try 块末尾：read 中途出错就会跳过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它，文件一直开着。下一页给出改进写法。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76921" cy="909257"/>
            <a:chOff x="520446" y="342900"/>
            <a:chExt cx="91769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3554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40" y="407194"/>
              <a:ext cx="23391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8.1 文件的读取 I/O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769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更稳的写法：try-with-resources 并指明字符集（补充）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059805" cy="2453640"/>
            <a:chOff x="533400" y="1524000"/>
            <a:chExt cx="6059805" cy="24536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453640"/>
            </a:xfrm>
            <a:prstGeom prst="roundRect">
              <a:avLst>
                <a:gd name="adj" fmla="val 38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9927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ReadText.java（JDK 21 实测）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501265"/>
              <a:ext cx="6021705" cy="14954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988" y="1935004"/>
              <a:ext cx="4992624" cy="19564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java.io.*;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java.nio.charset.StandardCharsets;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ReadText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(FileReader fr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FileReader(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"ReadText.java"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StandardCharsets.UTF_8))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c, n = 0;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((c = fr.read()) != -1) n++;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"read 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 +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chars"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(IOException e)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zh-CN" sz="8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"读文件出错："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e.getMessage());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5" name="c1-code-2"/>
          <p:cNvGrpSpPr/>
          <p:nvPr/>
        </p:nvGrpSpPr>
        <p:grpSpPr>
          <a:xfrm>
            <a:off x="533400" y="4142422"/>
            <a:ext cx="6059805" cy="809625"/>
            <a:chOff x="533400" y="4142422"/>
            <a:chExt cx="6059805" cy="809625"/>
          </a:xfrm>
        </p:grpSpPr>
        <p:sp>
          <p:nvSpPr>
            <p:cNvPr id="12" name="Rectangle 12"/>
            <p:cNvSpPr/>
            <p:nvPr/>
          </p:nvSpPr>
          <p:spPr>
            <a:xfrm>
              <a:off x="533400" y="4142422"/>
              <a:ext cx="6059805" cy="809625"/>
            </a:xfrm>
            <a:prstGeom prst="roundRect">
              <a:avLst>
                <a:gd name="adj" fmla="val 1176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4294346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输出；文件名写错时的输出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1988" y="4552474"/>
              <a:ext cx="2524506" cy="3114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read 457 chars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读文件出错：nofile.txt (系统找不到指定的文件。)</a:t>
              </a:r>
            </a:p>
          </p:txBody>
        </p:sp>
      </p:grpSp>
      <p:grpSp>
        <p:nvGrpSpPr>
          <p:cNvPr id="22" name="c1-callout-3"/>
          <p:cNvGrpSpPr/>
          <p:nvPr/>
        </p:nvGrpSpPr>
        <p:grpSpPr>
          <a:xfrm>
            <a:off x="533400" y="5115878"/>
            <a:ext cx="6059805" cy="702945"/>
            <a:chOff x="533400" y="5115878"/>
            <a:chExt cx="6059805" cy="702945"/>
          </a:xfrm>
        </p:grpSpPr>
        <p:sp>
          <p:nvSpPr>
            <p:cNvPr id="16" name="Rectangle 16"/>
            <p:cNvSpPr/>
            <p:nvPr/>
          </p:nvSpPr>
          <p:spPr>
            <a:xfrm>
              <a:off x="533400" y="5115878"/>
              <a:ext cx="6059805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5367338"/>
              <a:ext cx="200026" cy="200025"/>
              <a:chOff x="738188" y="5367338"/>
              <a:chExt cx="200026" cy="20002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53673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77926" y="54117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12642" y="55229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1273" y="5261134"/>
              <a:ext cx="50198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try-with-resources 是 Java 7 加入的语法。括号里可以打开多个资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源，用分号隔开，关闭顺序与打开顺序相反。</a:t>
              </a:r>
            </a:p>
          </p:txBody>
        </p:sp>
      </p:grpSp>
      <p:grpSp>
        <p:nvGrpSpPr>
          <p:cNvPr id="39" name="c2-compare-1"/>
          <p:cNvGrpSpPr/>
          <p:nvPr/>
        </p:nvGrpSpPr>
        <p:grpSpPr>
          <a:xfrm>
            <a:off x="6898005" y="1524000"/>
            <a:ext cx="4760595" cy="2140268"/>
            <a:chOff x="6898005" y="1524000"/>
            <a:chExt cx="4760595" cy="2140268"/>
          </a:xfrm>
        </p:grpSpPr>
        <p:sp>
          <p:nvSpPr>
            <p:cNvPr id="23" name="Rectangle 23"/>
            <p:cNvSpPr/>
            <p:nvPr/>
          </p:nvSpPr>
          <p:spPr>
            <a:xfrm>
              <a:off x="6898005" y="1524000"/>
              <a:ext cx="2170748" cy="2140268"/>
            </a:xfrm>
            <a:prstGeom prst="roundRect">
              <a:avLst>
                <a:gd name="adj" fmla="val 62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907530" y="1657350"/>
              <a:ext cx="47625" cy="187356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10603" y="172640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原写法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126605" y="207930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82053" y="2027396"/>
              <a:ext cx="139471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close() 写在 try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里，read 中途抛异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常就跳过 close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126605" y="2850832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82053" y="2797969"/>
              <a:ext cx="14759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不指定字符集，按平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台默认编码解码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487852" y="1524000"/>
              <a:ext cx="2170748" cy="2140268"/>
            </a:xfrm>
            <a:prstGeom prst="roundRect">
              <a:avLst>
                <a:gd name="adj" fmla="val 62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9497378" y="1657350"/>
              <a:ext cx="47625" cy="187356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700450" y="17264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改进写法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9716452" y="207930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871900" y="2027396"/>
              <a:ext cx="139471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try 后的括号里打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开，块结束时自动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close，出异常也会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9716452" y="3093720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871900" y="3040856"/>
              <a:ext cx="1516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显式写 UTF-8，换机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器、换 JDK 结果不变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9116378" y="243173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199611" y="2538412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898005" y="3829050"/>
            <a:ext cx="4760595" cy="1989772"/>
            <a:chOff x="6898005" y="3829050"/>
            <a:chExt cx="4760595" cy="1989772"/>
          </a:xfrm>
        </p:grpSpPr>
        <p:sp>
          <p:nvSpPr>
            <p:cNvPr id="40" name="Rectangle 40"/>
            <p:cNvSpPr/>
            <p:nvPr/>
          </p:nvSpPr>
          <p:spPr>
            <a:xfrm>
              <a:off x="6898005" y="3829050"/>
              <a:ext cx="4760595" cy="1989772"/>
            </a:xfrm>
            <a:prstGeom prst="roundRect">
              <a:avLst>
                <a:gd name="adj" fmla="val 67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907530" y="3962400"/>
              <a:ext cx="47625" cy="172307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117080" y="401002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08799" y="404288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版本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83056" y="404955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默认字符集变过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110603" y="4365784"/>
              <a:ext cx="408508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18 起默认字符集统一为 UTF-8（JEP 400）；JDK 17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及以前用操作系统编码，中文 Windows 上是 GBK，读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UTF-8 文件的中文会乱码。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10603" y="5136356"/>
              <a:ext cx="41175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 Charset 参数的 FileReader 构造器从 Java 11 开始提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供。文件 469 字节、457 个字符：6 个汉字各占 3 字节。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62383" cy="909257"/>
            <a:chOff x="520446" y="342900"/>
            <a:chExt cx="55623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3554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40" y="407194"/>
              <a:ext cx="23391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8.1 文件的读取 I/O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623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写文本文件：FileWriter 写入 A～Z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ode-1"/>
          <p:cNvGrpSpPr/>
          <p:nvPr/>
        </p:nvGrpSpPr>
        <p:grpSpPr>
          <a:xfrm>
            <a:off x="533400" y="1524000"/>
            <a:ext cx="5842635" cy="3317558"/>
            <a:chOff x="533400" y="1524000"/>
            <a:chExt cx="5842635" cy="33175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317558"/>
            </a:xfrm>
            <a:prstGeom prst="roundRect">
              <a:avLst>
                <a:gd name="adj" fmla="val 287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5182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TestFileWriter.java（原课件第 13 页）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892742"/>
              <a:ext cx="5804535" cy="16573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057525"/>
              <a:ext cx="5804535" cy="16573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3223260"/>
              <a:ext cx="5804535" cy="16573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988" y="1935766"/>
              <a:ext cx="3286887" cy="28308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java.io.*;</a:t>
              </a:r>
              <a:br/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TestFileWriter {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FileWriter fw =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fw =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FileWriter(</a:t>
              </a:r>
              <a:r>
                <a:rPr lang="en-US" sz="9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"./unicode.dat"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 = </a:t>
              </a:r>
              <a:r>
                <a:rPr lang="en-US" sz="9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'A'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c &lt;= </a:t>
              </a:r>
              <a:r>
                <a:rPr lang="en-US" sz="9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'Z'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c++) {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fw.write(c);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fw.close();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(IOException e1) {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e1.printStackTrace();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en-US" sz="9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"File write error"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System.exit(-1);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5021580"/>
            <a:ext cx="5842635" cy="1268730"/>
            <a:chOff x="533400" y="5021580"/>
            <a:chExt cx="5842635" cy="1268730"/>
          </a:xfrm>
        </p:grpSpPr>
        <p:sp>
          <p:nvSpPr>
            <p:cNvPr id="14" name="Rectangle 14"/>
            <p:cNvSpPr/>
            <p:nvPr/>
          </p:nvSpPr>
          <p:spPr>
            <a:xfrm>
              <a:off x="533400" y="5021580"/>
              <a:ext cx="5842635" cy="1268730"/>
            </a:xfrm>
            <a:prstGeom prst="roundRect">
              <a:avLst>
                <a:gd name="adj" fmla="val 10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5154930"/>
              <a:ext cx="47625" cy="10020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9620" y="52197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1060" y="52539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52931" y="5255419"/>
              <a:ext cx="13115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13 页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381" y="5598319"/>
              <a:ext cx="510006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原文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c=‘A’;c&lt;=‘Z’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用的是中文单引号，编译不过，已改成英文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'A'、'Z'。</a:t>
              </a:r>
            </a:p>
          </p:txBody>
        </p:sp>
      </p:grpSp>
      <p:grpSp>
        <p:nvGrpSpPr>
          <p:cNvPr id="51" name="c2-cells-1"/>
          <p:cNvGrpSpPr/>
          <p:nvPr/>
        </p:nvGrpSpPr>
        <p:grpSpPr>
          <a:xfrm>
            <a:off x="6674739" y="1524000"/>
            <a:ext cx="4983861" cy="949643"/>
            <a:chOff x="6674739" y="1524000"/>
            <a:chExt cx="4983861" cy="949643"/>
          </a:xfrm>
        </p:grpSpPr>
        <p:sp>
          <p:nvSpPr>
            <p:cNvPr id="21" name="TextBox 21"/>
            <p:cNvSpPr txBox="1"/>
            <p:nvPr/>
          </p:nvSpPr>
          <p:spPr>
            <a:xfrm>
              <a:off x="6674739" y="164592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字节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118985" y="1524000"/>
              <a:ext cx="648652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344400" y="164592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767638" y="1524000"/>
              <a:ext cx="64865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93052" y="164592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416290" y="1524000"/>
              <a:ext cx="64865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40752" y="164592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064942" y="1524000"/>
              <a:ext cx="64865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89405" y="164592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713595" y="1524000"/>
              <a:ext cx="64865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984703" y="16459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0361295" y="1524000"/>
              <a:ext cx="64865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586710" y="164592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1009948" y="1524000"/>
              <a:ext cx="648652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230082" y="164592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5A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74739" y="220122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字符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118985" y="2079308"/>
              <a:ext cx="64865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88405" y="220122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767638" y="2079308"/>
              <a:ext cx="64865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037058" y="220122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416290" y="2079308"/>
              <a:ext cx="64865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684758" y="220122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064942" y="2079308"/>
              <a:ext cx="64865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333410" y="220122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713595" y="2079308"/>
              <a:ext cx="64865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984703" y="220122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361295" y="2079308"/>
              <a:ext cx="64865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630715" y="220122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1009948" y="2079308"/>
              <a:ext cx="64865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1279368" y="220122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6680835" y="2653665"/>
            <a:ext cx="4977765" cy="1540192"/>
            <a:chOff x="6680835" y="2653665"/>
            <a:chExt cx="4977765" cy="1540192"/>
          </a:xfrm>
        </p:grpSpPr>
        <p:sp>
          <p:nvSpPr>
            <p:cNvPr id="52" name="Rectangle 52"/>
            <p:cNvSpPr/>
            <p:nvPr/>
          </p:nvSpPr>
          <p:spPr>
            <a:xfrm>
              <a:off x="6680835" y="2653665"/>
              <a:ext cx="4977765" cy="1540192"/>
            </a:xfrm>
            <a:prstGeom prst="roundRect">
              <a:avLst>
                <a:gd name="adj" fmla="val 8658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878955" y="285178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70395" y="28860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实测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62266" y="2886551"/>
              <a:ext cx="23447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unicode.dat 是 26 个字节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71716" y="3230404"/>
              <a:ext cx="427050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文件名叫 unicode，里面其实是 0x41～0x5A 这 26 个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字节。FileWriter 按默认字符集（JDK 18 起为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UTF-8）把字符编码成字节，英文字母各占 1 字节。</a:t>
              </a:r>
            </a:p>
          </p:txBody>
        </p:sp>
      </p:grpSp>
      <p:grpSp>
        <p:nvGrpSpPr>
          <p:cNvPr id="64" name="c2-card-3"/>
          <p:cNvGrpSpPr/>
          <p:nvPr/>
        </p:nvGrpSpPr>
        <p:grpSpPr>
          <a:xfrm>
            <a:off x="6680835" y="4373880"/>
            <a:ext cx="4977765" cy="1916430"/>
            <a:chOff x="6680835" y="4373880"/>
            <a:chExt cx="4977765" cy="1916430"/>
          </a:xfrm>
        </p:grpSpPr>
        <p:sp>
          <p:nvSpPr>
            <p:cNvPr id="58" name="Rectangle 58"/>
            <p:cNvSpPr/>
            <p:nvPr/>
          </p:nvSpPr>
          <p:spPr>
            <a:xfrm>
              <a:off x="6680835" y="4373880"/>
              <a:ext cx="4977765" cy="1916430"/>
            </a:xfrm>
            <a:prstGeom prst="roundRect">
              <a:avLst>
                <a:gd name="adj" fmla="val 69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690360" y="4507230"/>
              <a:ext cx="47625" cy="164973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917055" y="45720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008495" y="46062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500366" y="4606766"/>
              <a:ext cx="25483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 close 数据可能还在缓冲区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909816" y="4950619"/>
              <a:ext cx="4297553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实测：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fw.write("ABC")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之后文件长度仍是 0，</a:t>
              </a:r>
              <a:br/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flush()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之后变成 3。close() 会先 flush 再关闭，所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以最后一定要 close。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59248" cy="909257"/>
            <a:chOff x="520446" y="342900"/>
            <a:chExt cx="73592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3554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40" y="407194"/>
              <a:ext cx="23391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8.1 文件的读取 I/O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592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文本文件与二进制文件：同一个 199 的两种存法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ells-1"/>
          <p:cNvGrpSpPr/>
          <p:nvPr/>
        </p:nvGrpSpPr>
        <p:grpSpPr>
          <a:xfrm>
            <a:off x="527304" y="1524000"/>
            <a:ext cx="3544634" cy="949643"/>
            <a:chOff x="527304" y="1524000"/>
            <a:chExt cx="3544634" cy="949643"/>
          </a:xfrm>
        </p:grpSpPr>
        <p:sp>
          <p:nvSpPr>
            <p:cNvPr id="7" name="TextBox 7"/>
            <p:cNvSpPr txBox="1"/>
            <p:nvPr/>
          </p:nvSpPr>
          <p:spPr>
            <a:xfrm>
              <a:off x="527304" y="1645920"/>
              <a:ext cx="6758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字符 I/O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275398" y="1524000"/>
              <a:ext cx="932498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41782" y="164592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207895" y="1524000"/>
              <a:ext cx="932498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574280" y="164592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139440" y="1524000"/>
              <a:ext cx="932498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06777" y="164592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7304" y="2201228"/>
              <a:ext cx="6758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字节 I/O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275398" y="2079308"/>
              <a:ext cx="93249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636502" y="220122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C7</a:t>
              </a:r>
            </a:p>
          </p:txBody>
        </p:sp>
      </p:grpSp>
      <p:grpSp>
        <p:nvGrpSpPr>
          <p:cNvPr id="38" name="c1-table-2"/>
          <p:cNvGrpSpPr/>
          <p:nvPr/>
        </p:nvGrpSpPr>
        <p:grpSpPr>
          <a:xfrm>
            <a:off x="533400" y="2653665"/>
            <a:ext cx="5842635" cy="1913572"/>
            <a:chOff x="533400" y="2653665"/>
            <a:chExt cx="5842635" cy="1913572"/>
          </a:xfrm>
        </p:grpSpPr>
        <p:sp>
          <p:nvSpPr>
            <p:cNvPr id="18" name="Rectangle 18"/>
            <p:cNvSpPr/>
            <p:nvPr/>
          </p:nvSpPr>
          <p:spPr>
            <a:xfrm>
              <a:off x="533400" y="2653665"/>
              <a:ext cx="5842635" cy="42481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359218" y="27813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11399" y="27813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写进去的是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52354" y="27813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文件内容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60898" y="278130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字节数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5889" y="3206115"/>
              <a:ext cx="1268349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w.write("199")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（FileWriter）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22804" y="3206115"/>
              <a:ext cx="9113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 '1' '9'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'9'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24884" y="3312795"/>
              <a:ext cx="6422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31 39 39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544122" y="33127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71094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715702"/>
              <a:ext cx="5842635" cy="85153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5889" y="3844290"/>
              <a:ext cx="1556766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o.write(199)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（FileOutputStream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22804" y="3950970"/>
              <a:ext cx="926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一个字节，值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931920" y="3725228"/>
              <a:ext cx="1500188" cy="83248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024884" y="4057650"/>
              <a:ext cx="12338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C7（11000111）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44122" y="40576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2653665"/>
              <a:ext cx="5842635" cy="191357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515552" y="2653665"/>
              <a:ext cx="9525" cy="19135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917632" y="2653665"/>
              <a:ext cx="9525" cy="19135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36870" y="2653665"/>
              <a:ext cx="9525" cy="19135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1-card-3"/>
          <p:cNvGrpSpPr/>
          <p:nvPr/>
        </p:nvGrpSpPr>
        <p:grpSpPr>
          <a:xfrm>
            <a:off x="533400" y="4747260"/>
            <a:ext cx="5842635" cy="1540192"/>
            <a:chOff x="533400" y="4747260"/>
            <a:chExt cx="5842635" cy="1540192"/>
          </a:xfrm>
        </p:grpSpPr>
        <p:sp>
          <p:nvSpPr>
            <p:cNvPr id="39" name="Rectangle 39"/>
            <p:cNvSpPr/>
            <p:nvPr/>
          </p:nvSpPr>
          <p:spPr>
            <a:xfrm>
              <a:off x="533400" y="4747260"/>
              <a:ext cx="5842635" cy="1540192"/>
            </a:xfrm>
            <a:prstGeom prst="roundRect">
              <a:avLst>
                <a:gd name="adj" fmla="val 86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42925" y="4880610"/>
              <a:ext cx="47625" cy="127349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9620" y="494538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57059" y="49796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读回来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86281" y="4980146"/>
              <a:ext cx="20340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read() 为什么返回 int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2381" y="5323999"/>
              <a:ext cx="507301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FileInputStream 读 bin.dat 得到 199；如果转成 byte 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-57。read() 把字节当作 0～255 的 int 返回，才能和表示结束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-1 区分开。</a:t>
              </a:r>
            </a:p>
          </p:txBody>
        </p:sp>
      </p:grpSp>
      <p:grpSp>
        <p:nvGrpSpPr>
          <p:cNvPr id="66" name="c2-compare-1"/>
          <p:cNvGrpSpPr/>
          <p:nvPr/>
        </p:nvGrpSpPr>
        <p:grpSpPr>
          <a:xfrm>
            <a:off x="6680835" y="1524000"/>
            <a:ext cx="4977765" cy="1884998"/>
            <a:chOff x="6680835" y="1524000"/>
            <a:chExt cx="4977765" cy="1884998"/>
          </a:xfrm>
        </p:grpSpPr>
        <p:sp>
          <p:nvSpPr>
            <p:cNvPr id="46" name="Rectangle 46"/>
            <p:cNvSpPr/>
            <p:nvPr/>
          </p:nvSpPr>
          <p:spPr>
            <a:xfrm>
              <a:off x="6680835" y="1524000"/>
              <a:ext cx="2279332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690360" y="1657350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09816" y="174545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文本文件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924675" y="2141220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081266" y="2081689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存的是字符的编码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924675" y="2459355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81266" y="239887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记事本能直接看懂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924675" y="2776538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081266" y="2717006"/>
              <a:ext cx="149326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 I/O 写入时编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码、读出时解码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379268" y="1524000"/>
              <a:ext cx="2279332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9388792" y="1657350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608248" y="174545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二进制文件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9623108" y="2141220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779698" y="208168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存的是数值本身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9623108" y="2459355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779698" y="239887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记事本打开是乱码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9623108" y="2776538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779698" y="2717006"/>
              <a:ext cx="131292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字节 I/O 原样搬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运，不做转换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9007792" y="230505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084264" y="240553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73" name="c2-card-2"/>
          <p:cNvGrpSpPr/>
          <p:nvPr/>
        </p:nvGrpSpPr>
        <p:grpSpPr>
          <a:xfrm>
            <a:off x="6680835" y="3589020"/>
            <a:ext cx="4977765" cy="2698432"/>
            <a:chOff x="6680835" y="3589020"/>
            <a:chExt cx="4977765" cy="2698432"/>
          </a:xfrm>
        </p:grpSpPr>
        <p:sp>
          <p:nvSpPr>
            <p:cNvPr id="67" name="Rectangle 67"/>
            <p:cNvSpPr/>
            <p:nvPr/>
          </p:nvSpPr>
          <p:spPr>
            <a:xfrm>
              <a:off x="6680835" y="3589020"/>
              <a:ext cx="4977765" cy="2698432"/>
            </a:xfrm>
            <a:prstGeom prst="roundRect">
              <a:avLst>
                <a:gd name="adj" fmla="val 49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690360" y="3722370"/>
              <a:ext cx="47625" cy="24317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917055" y="3787140"/>
              <a:ext cx="1114425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989400" y="3821430"/>
              <a:ext cx="9697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15 页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138541" y="3822859"/>
              <a:ext cx="30295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.java 与 .class 放在记事本里对比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909816" y="4165759"/>
              <a:ext cx="426148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TestFileReader.java 是文本，记事本里一行行都能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读；TestFileReader.class 是编译出的字节码，除了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几个类名、方法名，满屏乱码。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04765" cy="909257"/>
            <a:chOff x="520446" y="342900"/>
            <a:chExt cx="74047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3554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40" y="407194"/>
              <a:ext cx="23391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8.1 文件的读取 I/O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047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字节方式读：FileInputStream 一次读一个字节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4669155"/>
            <a:chOff x="533400" y="1524000"/>
            <a:chExt cx="6059805" cy="4669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669155"/>
            </a:xfrm>
            <a:prstGeom prst="roundRect">
              <a:avLst>
                <a:gd name="adj" fmla="val 20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78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TestFileInputStream.java（原课件第 17～18 页）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194"/>
              <a:ext cx="3820541" cy="41738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java.io.*;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TestFileInputStream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 = 0;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FileInputStream in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in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FileInputStream(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"./TestFileReader.java"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(FileNotFoundException e)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"Can't find file"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System.exit(-1);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long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num = 0;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((b = in.read()) != -1)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System.out.print((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b);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num++;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in.close();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"read 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num +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Byte"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(IOException e1)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"File read error"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System.exit(-1);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2-code-1"/>
          <p:cNvGrpSpPr/>
          <p:nvPr/>
        </p:nvGrpSpPr>
        <p:grpSpPr>
          <a:xfrm>
            <a:off x="6898005" y="1524000"/>
            <a:ext cx="4760595" cy="1468755"/>
            <a:chOff x="6898005" y="1524000"/>
            <a:chExt cx="4760595" cy="1468755"/>
          </a:xfrm>
        </p:grpSpPr>
        <p:sp>
          <p:nvSpPr>
            <p:cNvPr id="11" name="Rectangle 11"/>
            <p:cNvSpPr/>
            <p:nvPr/>
          </p:nvSpPr>
          <p:spPr>
            <a:xfrm>
              <a:off x="6898005" y="1524000"/>
              <a:ext cx="4760595" cy="1468755"/>
            </a:xfrm>
            <a:prstGeom prst="roundRect">
              <a:avLst>
                <a:gd name="adj" fmla="val 648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026402" y="1675924"/>
              <a:ext cx="16875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输出（节选，JDK 21 实测）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26592" y="1935194"/>
              <a:ext cx="2714117" cy="9734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import java.io.*;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public class TestFileReader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public static void main(String[] args)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//å å¥ä¸­æ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……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read 463 Byte</a:t>
              </a:r>
            </a:p>
          </p:txBody>
        </p:sp>
      </p:grpSp>
      <p:grpSp>
        <p:nvGrpSpPr>
          <p:cNvPr id="29" name="c2-cells-2"/>
          <p:cNvGrpSpPr/>
          <p:nvPr/>
        </p:nvGrpSpPr>
        <p:grpSpPr>
          <a:xfrm>
            <a:off x="6892290" y="3168015"/>
            <a:ext cx="3047048" cy="918210"/>
            <a:chOff x="6892290" y="3168015"/>
            <a:chExt cx="3047048" cy="918210"/>
          </a:xfrm>
        </p:grpSpPr>
        <p:sp>
          <p:nvSpPr>
            <p:cNvPr id="15" name="TextBox 15"/>
            <p:cNvSpPr txBox="1"/>
            <p:nvPr/>
          </p:nvSpPr>
          <p:spPr>
            <a:xfrm>
              <a:off x="6892290" y="328850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173278" y="3168015"/>
              <a:ext cx="92202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36572" y="328850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E4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95298" y="3168015"/>
              <a:ext cx="92202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58592" y="328850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B8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017318" y="3168015"/>
              <a:ext cx="92202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80612" y="328850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92290" y="382571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文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173278" y="3705225"/>
              <a:ext cx="92202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36572" y="382571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E6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095298" y="3705225"/>
              <a:ext cx="92202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63520" y="38257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96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017318" y="3705225"/>
              <a:ext cx="92202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385540" y="38257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87</a:t>
              </a:r>
            </a:p>
          </p:txBody>
        </p:sp>
      </p:grpSp>
      <p:grpSp>
        <p:nvGrpSpPr>
          <p:cNvPr id="37" name="c2-card-3"/>
          <p:cNvGrpSpPr/>
          <p:nvPr/>
        </p:nvGrpSpPr>
        <p:grpSpPr>
          <a:xfrm>
            <a:off x="6898005" y="4261485"/>
            <a:ext cx="4760595" cy="2044065"/>
            <a:chOff x="6898005" y="4261485"/>
            <a:chExt cx="4760595" cy="2044065"/>
          </a:xfrm>
        </p:grpSpPr>
        <p:sp>
          <p:nvSpPr>
            <p:cNvPr id="30" name="Rectangle 30"/>
            <p:cNvSpPr/>
            <p:nvPr/>
          </p:nvSpPr>
          <p:spPr>
            <a:xfrm>
              <a:off x="6898005" y="4261485"/>
              <a:ext cx="4760595" cy="2044065"/>
            </a:xfrm>
            <a:prstGeom prst="roundRect">
              <a:avLst>
                <a:gd name="adj" fmla="val 65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907530" y="4394835"/>
              <a:ext cx="47625" cy="17773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8510" y="445389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203948" y="448818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中文为什么乱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45602" y="449389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一个汉字被拆成三个字符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21652" y="4828222"/>
              <a:ext cx="414566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UTF-8 里一个汉字占 3 字节。按字节读后每个字节被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(char) 单独转成一个字符，E4 变成 ä，B8 变成 ¸。英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文和符号只占 1 字节，所以照常显示。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121652" y="5644515"/>
              <a:ext cx="40427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 后面的数就是文件字节数，随文件内容变：原课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件第 18 页是 768，第 19 页截图是 436。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3554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40" y="407194"/>
              <a:ext cx="23391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8.1 文件的读取 I/O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字节方式复制：读一个字节，写一个字节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4097655"/>
            <a:chOff x="533400" y="1524000"/>
            <a:chExt cx="6059805" cy="40976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97655"/>
            </a:xfrm>
            <a:prstGeom prst="roundRect">
              <a:avLst>
                <a:gd name="adj" fmla="val 23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3269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TestFileOutputStream.java（原课件第 21～22 页）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3331591" cy="36014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java.io.*;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TestFileOutputStream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 = 0;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FileInputStream in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FileOutputStream out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in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FileInputStream(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"./HelloWorld.java"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out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FileOutputStream(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"./HW.java"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((b = in.read()) != -1)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out.write(b);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in.close();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out.close();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(FileNotFoundException e2)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"Can't find file"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System.exit(-1);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(IOException e1)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"File copy error"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System.exit(-1);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"File copy finished"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2-card-1"/>
          <p:cNvGrpSpPr/>
          <p:nvPr/>
        </p:nvGrpSpPr>
        <p:grpSpPr>
          <a:xfrm>
            <a:off x="6898005" y="1524000"/>
            <a:ext cx="4760595" cy="1930718"/>
            <a:chOff x="6898005" y="1524000"/>
            <a:chExt cx="4760595" cy="1930718"/>
          </a:xfrm>
        </p:grpSpPr>
        <p:sp>
          <p:nvSpPr>
            <p:cNvPr id="11" name="Rectangle 11"/>
            <p:cNvSpPr/>
            <p:nvPr/>
          </p:nvSpPr>
          <p:spPr>
            <a:xfrm>
              <a:off x="6898005" y="1524000"/>
              <a:ext cx="4760595" cy="1930718"/>
            </a:xfrm>
            <a:prstGeom prst="roundRect">
              <a:avLst>
                <a:gd name="adj" fmla="val 6907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078980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170699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44956" y="1744504"/>
              <a:ext cx="19372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 File copy finished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72503" y="2061686"/>
              <a:ext cx="409321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HW.java 与 HelloWorld.java 逐字节相同（124 字节）。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源文件里有中文也不会乱，因为字节流原样搬运，不做编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码转换。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72503" y="2832259"/>
              <a:ext cx="41094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catch 的顺序：FileNotFoundException 是 IOException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的子类，必须写在前面。</a:t>
              </a:r>
            </a:p>
          </p:txBody>
        </p:sp>
      </p:grpSp>
      <p:grpSp>
        <p:nvGrpSpPr>
          <p:cNvPr id="21" name="c2-code-2"/>
          <p:cNvGrpSpPr/>
          <p:nvPr/>
        </p:nvGrpSpPr>
        <p:grpSpPr>
          <a:xfrm>
            <a:off x="6898005" y="3619500"/>
            <a:ext cx="4760595" cy="1257300"/>
            <a:chOff x="6898005" y="3619500"/>
            <a:chExt cx="4760595" cy="1257300"/>
          </a:xfrm>
        </p:grpSpPr>
        <p:sp>
          <p:nvSpPr>
            <p:cNvPr id="18" name="Rectangle 18"/>
            <p:cNvSpPr/>
            <p:nvPr/>
          </p:nvSpPr>
          <p:spPr>
            <a:xfrm>
              <a:off x="6898005" y="3619500"/>
              <a:ext cx="4760595" cy="1257300"/>
            </a:xfrm>
            <a:prstGeom prst="roundRect">
              <a:avLst>
                <a:gd name="adj" fmla="val 7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26402" y="37714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改进：一次搬一整块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26592" y="4030504"/>
              <a:ext cx="1956943" cy="760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byte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 buf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byte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[8192];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n;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((n = in.read(buf)) != -1)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out.write(buf, 0, n);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8" name="c2-card-3"/>
          <p:cNvGrpSpPr/>
          <p:nvPr/>
        </p:nvGrpSpPr>
        <p:grpSpPr>
          <a:xfrm>
            <a:off x="6898005" y="5042535"/>
            <a:ext cx="4760595" cy="1160145"/>
            <a:chOff x="6898005" y="5042535"/>
            <a:chExt cx="4760595" cy="1160145"/>
          </a:xfrm>
        </p:grpSpPr>
        <p:sp>
          <p:nvSpPr>
            <p:cNvPr id="22" name="Rectangle 22"/>
            <p:cNvSpPr/>
            <p:nvPr/>
          </p:nvSpPr>
          <p:spPr>
            <a:xfrm>
              <a:off x="6898005" y="5042535"/>
              <a:ext cx="4760595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907530" y="5175885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117080" y="5223510"/>
              <a:ext cx="100107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92495" y="5256371"/>
              <a:ext cx="8492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为什么写 0, 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25980" y="526303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最后一块往往读不满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10603" y="5579269"/>
              <a:ext cx="40769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read(buf) 返回这次实际读到的字节数。写 write(buf)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会把上一轮残留在数组尾部的旧数据也写出去。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9" name="TextBox 29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3554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40" y="407194"/>
              <a:ext cx="23391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8.1 文件的读取 I/O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四个文件流：按数据单位选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11125200" cy="1660208"/>
            <a:chOff x="533400" y="1524000"/>
            <a:chExt cx="11125200" cy="16602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686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14146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11881" y="1658779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59806" y="1658779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98105" y="16587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数据单位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38055" y="165877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适合的文件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7604" y="212836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字符文件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94941" y="2128361"/>
              <a:ext cx="9811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FileReader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42866" y="2128361"/>
              <a:ext cx="9714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FileWriter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89838" y="2128361"/>
              <a:ext cx="17158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字符（16 位 char）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92946" y="2128361"/>
              <a:ext cx="22892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文本：.txt、.java、.csv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4574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462212"/>
              <a:ext cx="11125200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04" y="272367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字节文件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94941" y="2723674"/>
              <a:ext cx="15030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FileInputStream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42866" y="2723674"/>
              <a:ext cx="16952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FileOutputStream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89838" y="2723674"/>
              <a:ext cx="11327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字节（8 位）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998268" y="2471738"/>
              <a:ext cx="2650808" cy="70294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92946" y="2596991"/>
              <a:ext cx="2187575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任意文件：图片、.class、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压缩包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11125200" cy="16602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085975" y="1524000"/>
              <a:ext cx="9525" cy="1660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33900" y="1524000"/>
              <a:ext cx="9525" cy="1660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980872" y="1524000"/>
              <a:ext cx="9525" cy="1660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983980" y="1524000"/>
              <a:ext cx="9525" cy="1660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1-compare-2"/>
          <p:cNvGrpSpPr/>
          <p:nvPr/>
        </p:nvGrpSpPr>
        <p:grpSpPr>
          <a:xfrm>
            <a:off x="533400" y="3369945"/>
            <a:ext cx="11125200" cy="1632585"/>
            <a:chOff x="533400" y="3369945"/>
            <a:chExt cx="11125200" cy="1632585"/>
          </a:xfrm>
        </p:grpSpPr>
        <p:sp>
          <p:nvSpPr>
            <p:cNvPr id="32" name="Rectangle 32"/>
            <p:cNvSpPr/>
            <p:nvPr/>
          </p:nvSpPr>
          <p:spPr>
            <a:xfrm>
              <a:off x="533400" y="3369945"/>
              <a:ext cx="5353050" cy="1632585"/>
            </a:xfrm>
            <a:prstGeom prst="roundRect">
              <a:avLst>
                <a:gd name="adj" fmla="val 81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3503295"/>
              <a:ext cx="47625" cy="13658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8096" y="359711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共同点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82955" y="3995738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9546" y="3935254"/>
              <a:ext cx="38916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都在 java.io 包，构造时传文件名或 File 对象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82955" y="4315778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39546" y="4255294"/>
              <a:ext cx="28720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方法都声明 throws IOException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82955" y="4635818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39546" y="4575334"/>
              <a:ext cx="15246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用完都要 close()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305550" y="3369945"/>
              <a:ext cx="5353050" cy="1632585"/>
            </a:xfrm>
            <a:prstGeom prst="roundRect">
              <a:avLst>
                <a:gd name="adj" fmla="val 8168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02146" y="35971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选择规则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517005" y="399573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73596" y="3935254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要按字符理解内容（数字数、按行处理）用字符流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517005" y="431577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73596" y="4255294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只搬运数据或处理二进制数据用字节流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517005" y="463581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73596" y="4575334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拿不准时用字节流，它不会改动任何字节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5934075" y="402431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004415" y="412051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8" name="c1-callout-3"/>
          <p:cNvGrpSpPr/>
          <p:nvPr/>
        </p:nvGrpSpPr>
        <p:grpSpPr>
          <a:xfrm>
            <a:off x="533400" y="5187315"/>
            <a:ext cx="11125200" cy="1175385"/>
            <a:chOff x="533400" y="5187315"/>
            <a:chExt cx="11125200" cy="1175385"/>
          </a:xfrm>
        </p:grpSpPr>
        <p:sp>
          <p:nvSpPr>
            <p:cNvPr id="52" name="Rectangle 52"/>
            <p:cNvSpPr/>
            <p:nvPr/>
          </p:nvSpPr>
          <p:spPr>
            <a:xfrm>
              <a:off x="533400" y="5187315"/>
              <a:ext cx="11125200" cy="1175385"/>
            </a:xfrm>
            <a:prstGeom prst="roundRect">
              <a:avLst>
                <a:gd name="adj" fmla="val 972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26129" y="5671303"/>
              <a:ext cx="224134" cy="192560"/>
              <a:chOff x="726129" y="5671303"/>
              <a:chExt cx="224134" cy="19256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838200" y="57416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26129" y="56713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38200" y="58194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511" y="5544026"/>
              <a:ext cx="970775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反例（JDK 21 实测）：用 FileReader/FileWriter 复制一个含 0～255 全部字节值的 256 字节文件，得到 512 字节：大于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0x7F 的字节不能按 UTF-8 解码，被换成替换字符，再编码成 3 字节。图片、压缩包这样复制就坏了。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320972" cy="2997517"/>
            <a:chOff x="667512" y="1835468"/>
            <a:chExt cx="632097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5202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8.2 流与相关类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四个抽象基类，一套包装机制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60817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InputStream、OutputStream、Reader、Writer 是所有流的祖先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5669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过滤流套在别的流外面，增加读写基本类型、缓冲、对象的能力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读回的顺序和类型必须与写入时一致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16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128" y="407194"/>
              <a:ext cx="2021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8.2 流与相关类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流：一串有方向的数据，按三个角度分类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293495"/>
            <a:chOff x="533400" y="1524000"/>
            <a:chExt cx="5626418" cy="12934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2904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流（stream）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一个想象中的无限长的数据序列。数据从源头依次流向目的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地，程序只能按顺序一个接一个地读或写。</a:t>
              </a:r>
            </a:p>
          </p:txBody>
        </p:sp>
      </p:grpSp>
      <p:grpSp>
        <p:nvGrpSpPr>
          <p:cNvPr id="30" name="c1-bullets-2"/>
          <p:cNvGrpSpPr/>
          <p:nvPr/>
        </p:nvGrpSpPr>
        <p:grpSpPr>
          <a:xfrm>
            <a:off x="526161" y="3026569"/>
            <a:ext cx="4863655" cy="1999202"/>
            <a:chOff x="526161" y="3026569"/>
            <a:chExt cx="4863655" cy="1999202"/>
          </a:xfrm>
        </p:grpSpPr>
        <p:sp>
          <p:nvSpPr>
            <p:cNvPr id="14" name="TextBox 14"/>
            <p:cNvSpPr txBox="1"/>
            <p:nvPr/>
          </p:nvSpPr>
          <p:spPr>
            <a:xfrm>
              <a:off x="526161" y="302656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三种分法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3352800"/>
              <a:ext cx="201930" cy="20193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91745" y="339218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4293" y="336470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按数据流向：输入流、输出流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31532" y="3711892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15936" y="3644265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以程序为参照：数据流进程序叫输入，流出程序叫输出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3926205"/>
              <a:ext cx="201930" cy="20193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1745" y="396559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4293" y="393811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按处理数据的单位：字节流、字符流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31532" y="4286250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15936" y="4217670"/>
              <a:ext cx="34611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字节流一次 8 位，字符流一次一个 16 位的 char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4499610"/>
              <a:ext cx="201930" cy="20193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1745" y="453899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4293" y="451151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按功能：节点流、处理流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31532" y="4859655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15936" y="4791075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节点流直接连数据源，处理流套在别的流上（第五部分详讲）</a:t>
              </a:r>
            </a:p>
          </p:txBody>
        </p:sp>
      </p:grpSp>
      <p:grpSp>
        <p:nvGrpSpPr>
          <p:cNvPr id="37" name="c1-callout-3"/>
          <p:cNvGrpSpPr/>
          <p:nvPr/>
        </p:nvGrpSpPr>
        <p:grpSpPr>
          <a:xfrm>
            <a:off x="533400" y="5163502"/>
            <a:ext cx="5626418" cy="1050608"/>
            <a:chOff x="533400" y="5163502"/>
            <a:chExt cx="5626418" cy="1050608"/>
          </a:xfrm>
        </p:grpSpPr>
        <p:sp>
          <p:nvSpPr>
            <p:cNvPr id="31" name="Rectangle 31"/>
            <p:cNvSpPr/>
            <p:nvPr/>
          </p:nvSpPr>
          <p:spPr>
            <a:xfrm>
              <a:off x="533400" y="5163502"/>
              <a:ext cx="5626418" cy="1050608"/>
            </a:xfrm>
            <a:prstGeom prst="roundRect">
              <a:avLst>
                <a:gd name="adj" fmla="val 1087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589270"/>
              <a:ext cx="200026" cy="200026"/>
              <a:chOff x="738188" y="5589270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58927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8200" y="56559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27088" y="568928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511" y="5326856"/>
              <a:ext cx="470331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例：程序读 data.txt 用的是输入流（文件到程序），把统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计结果打印到屏幕用的是输出流（程序到显示器）。同一个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文件，读它用输入流，写它用输出流。</a:t>
              </a:r>
            </a:p>
          </p:txBody>
        </p:sp>
      </p:grpSp>
      <p:grpSp>
        <p:nvGrpSpPr>
          <p:cNvPr id="54" name="c2-table-1"/>
          <p:cNvGrpSpPr/>
          <p:nvPr/>
        </p:nvGrpSpPr>
        <p:grpSpPr>
          <a:xfrm>
            <a:off x="6464618" y="1524000"/>
            <a:ext cx="5193982" cy="1406842"/>
            <a:chOff x="6464618" y="1524000"/>
            <a:chExt cx="5193982" cy="1406842"/>
          </a:xfrm>
        </p:grpSpPr>
        <p:sp>
          <p:nvSpPr>
            <p:cNvPr id="38" name="Rectangle 38"/>
            <p:cNvSpPr/>
            <p:nvPr/>
          </p:nvSpPr>
          <p:spPr>
            <a:xfrm>
              <a:off x="6464618" y="1524000"/>
              <a:ext cx="5193982" cy="4686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04250" y="165877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字节流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377830" y="165877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字符流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68821" y="212836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输入流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720965" y="2002155"/>
              <a:ext cx="1954530" cy="4495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815644" y="2128361"/>
              <a:ext cx="11732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InputStream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789224" y="2128361"/>
              <a:ext cx="6512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Reader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4618" y="245745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64618" y="2462212"/>
              <a:ext cx="5193982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68821" y="259699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15644" y="2596991"/>
              <a:ext cx="13652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OutputStream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694545" y="2471738"/>
              <a:ext cx="1954530" cy="4495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789224" y="2596991"/>
              <a:ext cx="6416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Writer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1524000"/>
              <a:ext cx="5193982" cy="14068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706678" y="1524000"/>
              <a:ext cx="9525" cy="14068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680258" y="1524000"/>
              <a:ext cx="9525" cy="14068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card-2"/>
          <p:cNvGrpSpPr/>
          <p:nvPr/>
        </p:nvGrpSpPr>
        <p:grpSpPr>
          <a:xfrm>
            <a:off x="6464618" y="3116580"/>
            <a:ext cx="5193982" cy="2156460"/>
            <a:chOff x="6464618" y="3116580"/>
            <a:chExt cx="5193982" cy="2156460"/>
          </a:xfrm>
        </p:grpSpPr>
        <p:sp>
          <p:nvSpPr>
            <p:cNvPr id="55" name="Rectangle 55"/>
            <p:cNvSpPr/>
            <p:nvPr/>
          </p:nvSpPr>
          <p:spPr>
            <a:xfrm>
              <a:off x="6464618" y="3116580"/>
              <a:ext cx="5193982" cy="2156460"/>
            </a:xfrm>
            <a:prstGeom prst="roundRect">
              <a:avLst>
                <a:gd name="adj" fmla="val 6184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668452" y="332041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46811" y="335613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记住这张表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696581" y="335994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四个抽象基类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61214" y="3711416"/>
              <a:ext cx="448691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这四个都是抽象类，不能直接 new。java.io 里其余的流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类都是它们的子类。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61214" y="4302919"/>
              <a:ext cx="445084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看类名后缀就知道归属：以 InputStream 结尾的是字节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输入流，以 Reader 结尾的是字符输入流，Writer、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OutputStream 同理。</a:t>
              </a:r>
            </a:p>
          </p:txBody>
        </p:sp>
      </p:grpSp>
      <p:grpSp>
        <p:nvGrpSpPr>
          <p:cNvPr id="68" name="c2-callout-3"/>
          <p:cNvGrpSpPr/>
          <p:nvPr/>
        </p:nvGrpSpPr>
        <p:grpSpPr>
          <a:xfrm>
            <a:off x="6464618" y="5457825"/>
            <a:ext cx="5193982" cy="756285"/>
            <a:chOff x="6464618" y="5457825"/>
            <a:chExt cx="5193982" cy="756285"/>
          </a:xfrm>
        </p:grpSpPr>
        <p:sp>
          <p:nvSpPr>
            <p:cNvPr id="62" name="Rectangle 62"/>
            <p:cNvSpPr/>
            <p:nvPr/>
          </p:nvSpPr>
          <p:spPr>
            <a:xfrm>
              <a:off x="6464618" y="5457825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669405" y="5735955"/>
              <a:ext cx="200026" cy="200025"/>
              <a:chOff x="6669405" y="5735955"/>
              <a:chExt cx="200026" cy="20002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669405" y="573595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709144" y="578040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743859" y="589153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6971729" y="5604986"/>
              <a:ext cx="427050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例外只有两个名字特殊的桥：InputStreamReader 是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Reader，OutputStreamWriter 是 Writer。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16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128" y="407194"/>
              <a:ext cx="2021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8.2 流与相关类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包装：在节点流外面套上过滤流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flow-1"/>
          <p:cNvGrpSpPr/>
          <p:nvPr/>
        </p:nvGrpSpPr>
        <p:grpSpPr>
          <a:xfrm>
            <a:off x="666750" y="1877378"/>
            <a:ext cx="5793106" cy="1531619"/>
            <a:chOff x="666750" y="1877378"/>
            <a:chExt cx="5793106" cy="1531619"/>
          </a:xfrm>
        </p:grpSpPr>
        <p:sp>
          <p:nvSpPr>
            <p:cNvPr id="7" name="Freeform 7"/>
            <p:cNvSpPr/>
            <p:nvPr/>
          </p:nvSpPr>
          <p:spPr>
            <a:xfrm>
              <a:off x="1914525" y="208407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076450" y="20307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3340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429952" y="208407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591878" y="20307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3340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944428" y="208407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106352" y="20307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3340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914525" y="320230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076450" y="31508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1435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429952" y="320230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591878" y="31508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1435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944428" y="320230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106352" y="31508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1435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666750" y="1877378"/>
              <a:ext cx="1247775" cy="412433"/>
            </a:xfrm>
            <a:custGeom>
              <a:avLst/>
              <a:gdLst/>
              <a:ahLst/>
              <a:cxnLst/>
              <a:rect l="l" t="t" r="r" b="b"/>
              <a:pathLst>
                <a:path w="1247775" h="412433">
                  <a:moveTo>
                    <a:pt x="133350" y="0"/>
                  </a:moveTo>
                  <a:lnTo>
                    <a:pt x="1247775" y="0"/>
                  </a:lnTo>
                  <a:lnTo>
                    <a:pt x="1114425" y="412433"/>
                  </a:lnTo>
                  <a:lnTo>
                    <a:pt x="0" y="412433"/>
                  </a:lnTo>
                  <a:close/>
                </a:path>
              </a:pathLst>
            </a:custGeom>
            <a:solidFill>
              <a:srgbClr val="F7E8E9"/>
            </a:solidFill>
            <a:ln w="13335">
              <a:solidFill>
                <a:srgbClr val="A1343C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181225" y="1877378"/>
              <a:ext cx="1247775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696652" y="1877378"/>
              <a:ext cx="1247775" cy="411480"/>
            </a:xfrm>
            <a:prstGeom prst="roundRect">
              <a:avLst>
                <a:gd name="adj" fmla="val 23148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211128" y="1877378"/>
              <a:ext cx="1247775" cy="41148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66750" y="2996565"/>
              <a:ext cx="1247775" cy="41148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181225" y="2996565"/>
              <a:ext cx="1247775" cy="411480"/>
            </a:xfrm>
            <a:prstGeom prst="roundRect">
              <a:avLst>
                <a:gd name="adj" fmla="val 23148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696652" y="2996565"/>
              <a:ext cx="1247775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211128" y="2996565"/>
              <a:ext cx="1248728" cy="412432"/>
            </a:xfrm>
            <a:custGeom>
              <a:avLst/>
              <a:gdLst/>
              <a:ahLst/>
              <a:cxnLst/>
              <a:rect l="l" t="t" r="r" b="b"/>
              <a:pathLst>
                <a:path w="1248728" h="412432">
                  <a:moveTo>
                    <a:pt x="133350" y="0"/>
                  </a:moveTo>
                  <a:lnTo>
                    <a:pt x="1248728" y="0"/>
                  </a:lnTo>
                  <a:lnTo>
                    <a:pt x="1115378" y="412432"/>
                  </a:lnTo>
                  <a:lnTo>
                    <a:pt x="0" y="412432"/>
                  </a:lnTo>
                  <a:close/>
                </a:path>
              </a:pathLst>
            </a:custGeom>
            <a:solidFill>
              <a:srgbClr val="F7E8E9"/>
            </a:solidFill>
            <a:ln w="13335">
              <a:solidFill>
                <a:srgbClr val="A1343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22998" y="20002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57653" y="200025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72128" y="200025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过滤流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586603" y="200025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读逻辑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2226" y="311943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写逻辑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57653" y="311943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过滤流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72128" y="311943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667375" y="311943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</a:t>
              </a:r>
            </a:p>
          </p:txBody>
        </p:sp>
      </p:grpSp>
      <p:grpSp>
        <p:nvGrpSpPr>
          <p:cNvPr id="43" name="c1-card-2"/>
          <p:cNvGrpSpPr/>
          <p:nvPr/>
        </p:nvGrpSpPr>
        <p:grpSpPr>
          <a:xfrm>
            <a:off x="533400" y="3942398"/>
            <a:ext cx="6059805" cy="2401252"/>
            <a:chOff x="533400" y="3942398"/>
            <a:chExt cx="6059805" cy="2401252"/>
          </a:xfrm>
        </p:grpSpPr>
        <p:sp>
          <p:nvSpPr>
            <p:cNvPr id="36" name="Rectangle 36"/>
            <p:cNvSpPr/>
            <p:nvPr/>
          </p:nvSpPr>
          <p:spPr>
            <a:xfrm>
              <a:off x="533400" y="3942398"/>
              <a:ext cx="6059805" cy="2401252"/>
            </a:xfrm>
            <a:prstGeom prst="roundRect">
              <a:avLst>
                <a:gd name="adj" fmla="val 55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2925" y="4075748"/>
              <a:ext cx="47625" cy="2134552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69620" y="4140518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7059" y="417480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两种流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486281" y="417623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节点流与过滤流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381" y="4519136"/>
              <a:ext cx="524433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节点流直接连着设备（文件、内存、管道），负责最基本的读写字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节或字符，如 FileInputStream、FileReader。上行的节点流是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InputStream 或 Reader 的子类，下行是 OutputStream 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Writer 的子类。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381" y="5651659"/>
              <a:ext cx="52443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过滤流不直接连设备，构造时传入另一个流，在它的基础上增加功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能，比如读写 int、加缓冲。过滤流外面还能再套过滤流。</a:t>
              </a:r>
            </a:p>
          </p:txBody>
        </p:sp>
      </p:grpSp>
      <p:grpSp>
        <p:nvGrpSpPr>
          <p:cNvPr id="46" name="c2-image-1"/>
          <p:cNvGrpSpPr/>
          <p:nvPr/>
        </p:nvGrpSpPr>
        <p:grpSpPr>
          <a:xfrm>
            <a:off x="7025640" y="1524000"/>
            <a:ext cx="4504372" cy="3677221"/>
            <a:chOff x="7025640" y="1524000"/>
            <a:chExt cx="4504372" cy="3677221"/>
          </a:xfrm>
        </p:grpSpPr>
        <p:pic>
          <p:nvPicPr>
            <p:cNvPr id="44" name="Image 44"/>
            <p:cNvPicPr>
              <a:picLocks noChangeAspect="1"/>
            </p:cNvPicPr>
            <p:nvPr/>
          </p:nvPicPr>
          <p:blipFill>
            <a:blip r:embed="rId2"/>
            <a:srcRect l="5558" t="0" r="5559" b="0"/>
            <a:stretch>
              <a:fillRect/>
            </a:stretch>
          </p:blipFill>
          <p:spPr>
            <a:xfrm>
              <a:off x="7025640" y="1524000"/>
              <a:ext cx="4504372" cy="3378518"/>
            </a:xfrm>
            <a:prstGeom prst="roundRect">
              <a:avLst>
                <a:gd name="adj" fmla="val 3946"/>
              </a:avLst>
            </a:prstGeom>
          </p:spPr>
        </p:pic>
        <p:sp>
          <p:nvSpPr>
            <p:cNvPr id="45" name="TextBox 45"/>
            <p:cNvSpPr txBox="1"/>
            <p:nvPr/>
          </p:nvSpPr>
          <p:spPr>
            <a:xfrm>
              <a:off x="7576756" y="4995862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水龙头接软管，再拧上滤芯和喷头，水依次流过每一节</a:t>
              </a:r>
            </a:p>
          </p:txBody>
        </p:sp>
      </p:grpSp>
      <p:grpSp>
        <p:nvGrpSpPr>
          <p:cNvPr id="50" name="c2-code-2"/>
          <p:cNvGrpSpPr/>
          <p:nvPr/>
        </p:nvGrpSpPr>
        <p:grpSpPr>
          <a:xfrm>
            <a:off x="6898005" y="5358765"/>
            <a:ext cx="4760595" cy="1003935"/>
            <a:chOff x="6898005" y="5358765"/>
            <a:chExt cx="4760595" cy="1003935"/>
          </a:xfrm>
        </p:grpSpPr>
        <p:sp>
          <p:nvSpPr>
            <p:cNvPr id="47" name="Rectangle 47"/>
            <p:cNvSpPr/>
            <p:nvPr/>
          </p:nvSpPr>
          <p:spPr>
            <a:xfrm>
              <a:off x="6898005" y="5358765"/>
              <a:ext cx="4760595" cy="1003935"/>
            </a:xfrm>
            <a:prstGeom prst="roundRect">
              <a:avLst>
                <a:gd name="adj" fmla="val 948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26402" y="551068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写成代码就是构造器套构造器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26592" y="5770531"/>
              <a:ext cx="2515743" cy="510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DataInputStream(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BufferedInputStream(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FileInputStream(</a:t>
              </a:r>
              <a:r>
                <a:rPr lang="en-US" sz="9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"a.dat"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)));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18118" cy="909257"/>
            <a:chOff x="520446" y="342900"/>
            <a:chExt cx="85181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16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128" y="407194"/>
              <a:ext cx="2021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8.2 流与相关类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181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字节流家族：InputStream 与 OutputStream 的子类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ree-1"/>
          <p:cNvGrpSpPr/>
          <p:nvPr/>
        </p:nvGrpSpPr>
        <p:grpSpPr>
          <a:xfrm>
            <a:off x="533400" y="1569720"/>
            <a:ext cx="5410200" cy="3908108"/>
            <a:chOff x="533400" y="1569720"/>
            <a:chExt cx="5410200" cy="3908108"/>
          </a:xfrm>
        </p:grpSpPr>
        <p:sp>
          <p:nvSpPr>
            <p:cNvPr id="7" name="Freeform 7"/>
            <p:cNvSpPr/>
            <p:nvPr/>
          </p:nvSpPr>
          <p:spPr>
            <a:xfrm>
              <a:off x="3838575" y="2524125"/>
              <a:ext cx="419100" cy="600075"/>
            </a:xfrm>
            <a:custGeom>
              <a:avLst/>
              <a:gdLst/>
              <a:ahLst/>
              <a:cxnLst/>
              <a:rect l="l" t="t" r="r" b="b"/>
              <a:pathLst>
                <a:path w="419100" h="600075">
                  <a:moveTo>
                    <a:pt x="0" y="600075"/>
                  </a:moveTo>
                  <a:lnTo>
                    <a:pt x="209550" y="60007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838575" y="2924175"/>
              <a:ext cx="419100" cy="200025"/>
            </a:xfrm>
            <a:custGeom>
              <a:avLst/>
              <a:gdLst/>
              <a:ahLst/>
              <a:cxnLst/>
              <a:rect l="l" t="t" r="r" b="b"/>
              <a:pathLst>
                <a:path w="419100" h="200025">
                  <a:moveTo>
                    <a:pt x="0" y="200025"/>
                  </a:moveTo>
                  <a:lnTo>
                    <a:pt x="209550" y="20002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838575" y="3124200"/>
              <a:ext cx="419100" cy="200025"/>
            </a:xfrm>
            <a:custGeom>
              <a:avLst/>
              <a:gdLst/>
              <a:ahLst/>
              <a:cxnLst/>
              <a:rect l="l" t="t" r="r" b="b"/>
              <a:pathLst>
                <a:path w="419100" h="200025">
                  <a:moveTo>
                    <a:pt x="0" y="0"/>
                  </a:moveTo>
                  <a:lnTo>
                    <a:pt x="209550" y="0"/>
                  </a:lnTo>
                  <a:lnTo>
                    <a:pt x="209550" y="200025"/>
                  </a:lnTo>
                  <a:lnTo>
                    <a:pt x="419100" y="20002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838575" y="3124200"/>
              <a:ext cx="419100" cy="600075"/>
            </a:xfrm>
            <a:custGeom>
              <a:avLst/>
              <a:gdLst/>
              <a:ahLst/>
              <a:cxnLst/>
              <a:rect l="l" t="t" r="r" b="b"/>
              <a:pathLst>
                <a:path w="419100" h="600075">
                  <a:moveTo>
                    <a:pt x="0" y="0"/>
                  </a:moveTo>
                  <a:lnTo>
                    <a:pt x="209550" y="0"/>
                  </a:lnTo>
                  <a:lnTo>
                    <a:pt x="209550" y="600075"/>
                  </a:lnTo>
                  <a:lnTo>
                    <a:pt x="419100" y="60007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630680" y="1724025"/>
              <a:ext cx="419100" cy="1800225"/>
            </a:xfrm>
            <a:custGeom>
              <a:avLst/>
              <a:gdLst/>
              <a:ahLst/>
              <a:cxnLst/>
              <a:rect l="l" t="t" r="r" b="b"/>
              <a:pathLst>
                <a:path w="419100" h="1800225">
                  <a:moveTo>
                    <a:pt x="0" y="1800225"/>
                  </a:moveTo>
                  <a:lnTo>
                    <a:pt x="209550" y="180022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630680" y="2124075"/>
              <a:ext cx="419100" cy="1400175"/>
            </a:xfrm>
            <a:custGeom>
              <a:avLst/>
              <a:gdLst/>
              <a:ahLst/>
              <a:cxnLst/>
              <a:rect l="l" t="t" r="r" b="b"/>
              <a:pathLst>
                <a:path w="419100" h="1400175">
                  <a:moveTo>
                    <a:pt x="0" y="1400175"/>
                  </a:moveTo>
                  <a:lnTo>
                    <a:pt x="209550" y="140017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630680" y="3124200"/>
              <a:ext cx="419100" cy="400050"/>
            </a:xfrm>
            <a:custGeom>
              <a:avLst/>
              <a:gdLst/>
              <a:ahLst/>
              <a:cxnLst/>
              <a:rect l="l" t="t" r="r" b="b"/>
              <a:pathLst>
                <a:path w="419100" h="400050">
                  <a:moveTo>
                    <a:pt x="0" y="400050"/>
                  </a:moveTo>
                  <a:lnTo>
                    <a:pt x="209550" y="40005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630680" y="3524250"/>
              <a:ext cx="419100" cy="600075"/>
            </a:xfrm>
            <a:custGeom>
              <a:avLst/>
              <a:gdLst/>
              <a:ahLst/>
              <a:cxnLst/>
              <a:rect l="l" t="t" r="r" b="b"/>
              <a:pathLst>
                <a:path w="419100" h="600075">
                  <a:moveTo>
                    <a:pt x="0" y="0"/>
                  </a:moveTo>
                  <a:lnTo>
                    <a:pt x="209550" y="0"/>
                  </a:lnTo>
                  <a:lnTo>
                    <a:pt x="209550" y="600075"/>
                  </a:lnTo>
                  <a:lnTo>
                    <a:pt x="419100" y="60007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630680" y="3524250"/>
              <a:ext cx="419100" cy="1000125"/>
            </a:xfrm>
            <a:custGeom>
              <a:avLst/>
              <a:gdLst/>
              <a:ahLst/>
              <a:cxnLst/>
              <a:rect l="l" t="t" r="r" b="b"/>
              <a:pathLst>
                <a:path w="419100" h="1000125">
                  <a:moveTo>
                    <a:pt x="0" y="0"/>
                  </a:moveTo>
                  <a:lnTo>
                    <a:pt x="209550" y="0"/>
                  </a:lnTo>
                  <a:lnTo>
                    <a:pt x="209550" y="1000125"/>
                  </a:lnTo>
                  <a:lnTo>
                    <a:pt x="419100" y="100012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630680" y="3524250"/>
              <a:ext cx="419100" cy="1400175"/>
            </a:xfrm>
            <a:custGeom>
              <a:avLst/>
              <a:gdLst/>
              <a:ahLst/>
              <a:cxnLst/>
              <a:rect l="l" t="t" r="r" b="b"/>
              <a:pathLst>
                <a:path w="419100" h="1400175">
                  <a:moveTo>
                    <a:pt x="0" y="0"/>
                  </a:moveTo>
                  <a:lnTo>
                    <a:pt x="209550" y="0"/>
                  </a:lnTo>
                  <a:lnTo>
                    <a:pt x="209550" y="1400175"/>
                  </a:lnTo>
                  <a:lnTo>
                    <a:pt x="419100" y="140017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630680" y="3524250"/>
              <a:ext cx="419100" cy="1800225"/>
            </a:xfrm>
            <a:custGeom>
              <a:avLst/>
              <a:gdLst/>
              <a:ahLst/>
              <a:cxnLst/>
              <a:rect l="l" t="t" r="r" b="b"/>
              <a:pathLst>
                <a:path w="419100" h="1800225">
                  <a:moveTo>
                    <a:pt x="0" y="0"/>
                  </a:moveTo>
                  <a:lnTo>
                    <a:pt x="209550" y="0"/>
                  </a:lnTo>
                  <a:lnTo>
                    <a:pt x="209550" y="1800225"/>
                  </a:lnTo>
                  <a:lnTo>
                    <a:pt x="419100" y="180022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049780" y="1569720"/>
              <a:ext cx="1788795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049780" y="1969770"/>
              <a:ext cx="1788795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257675" y="2369820"/>
              <a:ext cx="1685925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257675" y="2769870"/>
              <a:ext cx="1685925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257675" y="3169920"/>
              <a:ext cx="1685925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257675" y="3569970"/>
              <a:ext cx="1685925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049780" y="2969895"/>
              <a:ext cx="1788795" cy="307658"/>
            </a:xfrm>
            <a:prstGeom prst="roundRect">
              <a:avLst>
                <a:gd name="adj" fmla="val 3096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2049780" y="3970020"/>
              <a:ext cx="1788795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049780" y="4370070"/>
              <a:ext cx="1788795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049780" y="4770120"/>
              <a:ext cx="1788795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049780" y="5170170"/>
              <a:ext cx="1788795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369945"/>
              <a:ext cx="1097280" cy="307658"/>
            </a:xfrm>
            <a:prstGeom prst="roundRect">
              <a:avLst>
                <a:gd name="adj" fmla="val 3096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140268" y="1661160"/>
              <a:ext cx="95300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FileInputStream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140268" y="2061210"/>
              <a:ext cx="10502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PipedInputStream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48162" y="2461260"/>
              <a:ext cx="10142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DataInputStream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48162" y="2861310"/>
              <a:ext cx="12808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BufferedInputStream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48162" y="3261360"/>
              <a:ext cx="12808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PushbackInputStream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348162" y="3661410"/>
              <a:ext cx="1411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LineNumberInputStream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140268" y="3061335"/>
              <a:ext cx="11402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FilterInputStream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140268" y="4061460"/>
              <a:ext cx="13512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ByteArrayInputStream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140268" y="4461510"/>
              <a:ext cx="12808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SequenceInputStream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140268" y="4861560"/>
              <a:ext cx="15205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StringBufferInputStream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140268" y="5261610"/>
              <a:ext cx="1141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ObjectInputStream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3888" y="3461385"/>
              <a:ext cx="78067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InputStream</a:t>
              </a:r>
            </a:p>
          </p:txBody>
        </p:sp>
      </p:grpSp>
      <p:grpSp>
        <p:nvGrpSpPr>
          <p:cNvPr id="69" name="c2-tree-1"/>
          <p:cNvGrpSpPr/>
          <p:nvPr/>
        </p:nvGrpSpPr>
        <p:grpSpPr>
          <a:xfrm>
            <a:off x="6248400" y="1540192"/>
            <a:ext cx="5410200" cy="2348866"/>
            <a:chOff x="6248400" y="1540192"/>
            <a:chExt cx="5410200" cy="2348866"/>
          </a:xfrm>
        </p:grpSpPr>
        <p:sp>
          <p:nvSpPr>
            <p:cNvPr id="43" name="Freeform 43"/>
            <p:cNvSpPr/>
            <p:nvPr/>
          </p:nvSpPr>
          <p:spPr>
            <a:xfrm>
              <a:off x="9582150" y="2374582"/>
              <a:ext cx="419100" cy="340042"/>
            </a:xfrm>
            <a:custGeom>
              <a:avLst/>
              <a:gdLst/>
              <a:ahLst/>
              <a:cxnLst/>
              <a:rect l="l" t="t" r="r" b="b"/>
              <a:pathLst>
                <a:path w="419100" h="340042">
                  <a:moveTo>
                    <a:pt x="0" y="340042"/>
                  </a:moveTo>
                  <a:lnTo>
                    <a:pt x="209550" y="34004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582150" y="271462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9582150" y="2714625"/>
              <a:ext cx="419100" cy="340042"/>
            </a:xfrm>
            <a:custGeom>
              <a:avLst/>
              <a:gdLst/>
              <a:ahLst/>
              <a:cxnLst/>
              <a:rect l="l" t="t" r="r" b="b"/>
              <a:pathLst>
                <a:path w="419100" h="340042">
                  <a:moveTo>
                    <a:pt x="0" y="0"/>
                  </a:moveTo>
                  <a:lnTo>
                    <a:pt x="209550" y="0"/>
                  </a:lnTo>
                  <a:lnTo>
                    <a:pt x="209550" y="340042"/>
                  </a:lnTo>
                  <a:lnTo>
                    <a:pt x="419100" y="34004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7442835" y="1694498"/>
              <a:ext cx="419100" cy="1020128"/>
            </a:xfrm>
            <a:custGeom>
              <a:avLst/>
              <a:gdLst/>
              <a:ahLst/>
              <a:cxnLst/>
              <a:rect l="l" t="t" r="r" b="b"/>
              <a:pathLst>
                <a:path w="419100" h="1020128">
                  <a:moveTo>
                    <a:pt x="0" y="1020128"/>
                  </a:moveTo>
                  <a:lnTo>
                    <a:pt x="209550" y="102012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7442835" y="2034540"/>
              <a:ext cx="419100" cy="680085"/>
            </a:xfrm>
            <a:custGeom>
              <a:avLst/>
              <a:gdLst/>
              <a:ahLst/>
              <a:cxnLst/>
              <a:rect l="l" t="t" r="r" b="b"/>
              <a:pathLst>
                <a:path w="419100" h="680085">
                  <a:moveTo>
                    <a:pt x="0" y="680085"/>
                  </a:moveTo>
                  <a:lnTo>
                    <a:pt x="209550" y="68008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7442835" y="271462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7442835" y="2714625"/>
              <a:ext cx="419100" cy="680085"/>
            </a:xfrm>
            <a:custGeom>
              <a:avLst/>
              <a:gdLst/>
              <a:ahLst/>
              <a:cxnLst/>
              <a:rect l="l" t="t" r="r" b="b"/>
              <a:pathLst>
                <a:path w="419100" h="680085">
                  <a:moveTo>
                    <a:pt x="0" y="0"/>
                  </a:moveTo>
                  <a:lnTo>
                    <a:pt x="209550" y="0"/>
                  </a:lnTo>
                  <a:lnTo>
                    <a:pt x="209550" y="680085"/>
                  </a:lnTo>
                  <a:lnTo>
                    <a:pt x="419100" y="68008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7442835" y="2714625"/>
              <a:ext cx="419100" cy="1020128"/>
            </a:xfrm>
            <a:custGeom>
              <a:avLst/>
              <a:gdLst/>
              <a:ahLst/>
              <a:cxnLst/>
              <a:rect l="l" t="t" r="r" b="b"/>
              <a:pathLst>
                <a:path w="419100" h="1020128">
                  <a:moveTo>
                    <a:pt x="0" y="0"/>
                  </a:moveTo>
                  <a:lnTo>
                    <a:pt x="209550" y="0"/>
                  </a:lnTo>
                  <a:lnTo>
                    <a:pt x="209550" y="1020128"/>
                  </a:lnTo>
                  <a:lnTo>
                    <a:pt x="419100" y="102012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861935" y="1540192"/>
              <a:ext cx="1720215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861935" y="1880235"/>
              <a:ext cx="1720215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001250" y="2220278"/>
              <a:ext cx="1657350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001250" y="2560320"/>
              <a:ext cx="1657350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001250" y="2901315"/>
              <a:ext cx="1657350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861935" y="2560320"/>
              <a:ext cx="1720215" cy="307658"/>
            </a:xfrm>
            <a:prstGeom prst="roundRect">
              <a:avLst>
                <a:gd name="adj" fmla="val 3096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861935" y="3241358"/>
              <a:ext cx="1720215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861935" y="3581400"/>
              <a:ext cx="1720215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48400" y="2560320"/>
              <a:ext cx="1194435" cy="307658"/>
            </a:xfrm>
            <a:prstGeom prst="roundRect">
              <a:avLst>
                <a:gd name="adj" fmla="val 3096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952422" y="1631632"/>
              <a:ext cx="107478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FileOutputStream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952422" y="1971675"/>
              <a:ext cx="11720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PipedOutputStream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091738" y="2311718"/>
              <a:ext cx="113600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DataOutputStream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091738" y="2651760"/>
              <a:ext cx="14024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BufferedOutputStream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091738" y="2991802"/>
              <a:ext cx="7439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PrintStream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952422" y="2651760"/>
              <a:ext cx="12680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FilterOutputStream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952422" y="3331845"/>
              <a:ext cx="14729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ByteArrayOutputStream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952422" y="3671888"/>
              <a:ext cx="12631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ObjectOutputStream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338888" y="2651760"/>
              <a:ext cx="9084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OutputStream</a:t>
              </a:r>
            </a:p>
          </p:txBody>
        </p:sp>
      </p:grpSp>
      <p:grpSp>
        <p:nvGrpSpPr>
          <p:cNvPr id="76" name="c2-card-2"/>
          <p:cNvGrpSpPr/>
          <p:nvPr/>
        </p:nvGrpSpPr>
        <p:grpSpPr>
          <a:xfrm>
            <a:off x="6248400" y="4095750"/>
            <a:ext cx="5410200" cy="1906905"/>
            <a:chOff x="6248400" y="4095750"/>
            <a:chExt cx="5410200" cy="1906905"/>
          </a:xfrm>
        </p:grpSpPr>
        <p:sp>
          <p:nvSpPr>
            <p:cNvPr id="70" name="Rectangle 70"/>
            <p:cNvSpPr/>
            <p:nvPr/>
          </p:nvSpPr>
          <p:spPr>
            <a:xfrm>
              <a:off x="6248400" y="4095750"/>
              <a:ext cx="5410200" cy="1906905"/>
            </a:xfrm>
            <a:prstGeom prst="roundRect">
              <a:avLst>
                <a:gd name="adj" fmla="val 6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257925" y="4229100"/>
              <a:ext cx="47625" cy="16402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496050" y="43053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586258" y="43410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097078" y="4340542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浅红底的是本章重点，灰色的已过时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488430" y="4701540"/>
              <a:ext cx="46920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输入输出两棵树基本对称。Data、Buffered 两种是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Filter 的子类；Object 流直接继承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InputStream/OutputStream，用法却和过滤流一样，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也是套在别的流外面。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58432" cy="909257"/>
            <a:chOff x="520446" y="342900"/>
            <a:chExt cx="64584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16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128" y="407194"/>
              <a:ext cx="2021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8.2 流与相关类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584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InputStream 与 OutputStream 的方法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33400" y="1524000"/>
            <a:ext cx="5626418" cy="3200400"/>
            <a:chOff x="533400" y="1524000"/>
            <a:chExt cx="5626418" cy="32004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92152" y="1645444"/>
              <a:ext cx="14713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InputStream 的方法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8409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0555" y="2045494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 read()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18498" y="2045494"/>
              <a:ext cx="28610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读一个字节，返回 0～255；到末尾返回 -1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193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24100"/>
              <a:ext cx="5626418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0555" y="2545556"/>
              <a:ext cx="1895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 read(byte[] buffer)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18498" y="2445544"/>
              <a:ext cx="265709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读一批字节存进 buffer，返回实际读到的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个数；到末尾返回 -1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9194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0555" y="3045619"/>
              <a:ext cx="2042617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 read(byte[] buffer, int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offset, int length)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18498" y="3045619"/>
              <a:ext cx="270687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最多读 length 个，从 buffer[offset] 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始存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194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524250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0555" y="3645694"/>
              <a:ext cx="12937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long skip(long n)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18498" y="3645694"/>
              <a:ext cx="2446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跳过 n 个字节，返回实际跳过的数目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9195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0555" y="4045744"/>
              <a:ext cx="1119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 available()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18498" y="404574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不阻塞时还能读的字节数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3195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324350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0555" y="4445794"/>
              <a:ext cx="937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close()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218498" y="444579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关闭流，释放系统资源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524000"/>
              <a:ext cx="5626418" cy="3200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116580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ard-2"/>
          <p:cNvGrpSpPr/>
          <p:nvPr/>
        </p:nvGrpSpPr>
        <p:grpSpPr>
          <a:xfrm>
            <a:off x="533400" y="4893945"/>
            <a:ext cx="5626418" cy="1459230"/>
            <a:chOff x="533400" y="4893945"/>
            <a:chExt cx="5626418" cy="1459230"/>
          </a:xfrm>
        </p:grpSpPr>
        <p:sp>
          <p:nvSpPr>
            <p:cNvPr id="33" name="Rectangle 33"/>
            <p:cNvSpPr/>
            <p:nvPr/>
          </p:nvSpPr>
          <p:spPr>
            <a:xfrm>
              <a:off x="533400" y="4893945"/>
              <a:ext cx="5626418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2925" y="5027295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58190" y="50806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50862" y="51134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23784" y="5115878"/>
              <a:ext cx="12468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28 页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1332" y="5441633"/>
              <a:ext cx="496862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close() 写作「关闭释放内存资源」，实际释放的是文件句柄这类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操作系统资源，内存归垃圾回收管。available() 原课件没列，第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83 页用到，这里补上。</a:t>
              </a:r>
            </a:p>
          </p:txBody>
        </p:sp>
      </p:grpSp>
      <p:grpSp>
        <p:nvGrpSpPr>
          <p:cNvPr id="61" name="c2-table-1"/>
          <p:cNvGrpSpPr/>
          <p:nvPr/>
        </p:nvGrpSpPr>
        <p:grpSpPr>
          <a:xfrm>
            <a:off x="6464618" y="1524000"/>
            <a:ext cx="5193982" cy="2600325"/>
            <a:chOff x="6464618" y="1524000"/>
            <a:chExt cx="5193982" cy="2600325"/>
          </a:xfrm>
        </p:grpSpPr>
        <p:sp>
          <p:nvSpPr>
            <p:cNvPr id="40" name="Rectangle 40"/>
            <p:cNvSpPr/>
            <p:nvPr/>
          </p:nvSpPr>
          <p:spPr>
            <a:xfrm>
              <a:off x="6464618" y="1524000"/>
              <a:ext cx="5193982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43882" y="1645444"/>
              <a:ext cx="1630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OutputStream 的方法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0003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61772" y="2045494"/>
              <a:ext cx="1325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write(int b)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50642" y="2045494"/>
              <a:ext cx="20167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写一个字节，只取 b 的低 8 位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4618" y="23193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64618" y="23241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61772" y="2445544"/>
              <a:ext cx="16262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write(byte[] b)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950642" y="24455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写出整个数组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64618" y="27193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61772" y="2845594"/>
              <a:ext cx="1788719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write(byte[] b, int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off, int len)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950642" y="2945606"/>
              <a:ext cx="18056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b[off] 起的 len 个字节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64618" y="33194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64618" y="3324225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61772" y="3445669"/>
              <a:ext cx="937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flush()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950642" y="3445669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把缓冲区里的数据立即推给下一层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464618" y="371951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61772" y="3845719"/>
              <a:ext cx="937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close()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950642" y="3845719"/>
              <a:ext cx="1081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 flush 再关闭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64618" y="1524000"/>
              <a:ext cx="5193982" cy="26003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8848725" y="1524000"/>
              <a:ext cx="9525" cy="26003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c2-card-2"/>
          <p:cNvGrpSpPr/>
          <p:nvPr/>
        </p:nvGrpSpPr>
        <p:grpSpPr>
          <a:xfrm>
            <a:off x="6464618" y="4293870"/>
            <a:ext cx="5193982" cy="2059305"/>
            <a:chOff x="6464618" y="4293870"/>
            <a:chExt cx="5193982" cy="2059305"/>
          </a:xfrm>
        </p:grpSpPr>
        <p:sp>
          <p:nvSpPr>
            <p:cNvPr id="62" name="Rectangle 62"/>
            <p:cNvSpPr/>
            <p:nvPr/>
          </p:nvSpPr>
          <p:spPr>
            <a:xfrm>
              <a:off x="6464618" y="4293870"/>
              <a:ext cx="5193982" cy="2059305"/>
            </a:xfrm>
            <a:prstGeom prst="roundRect">
              <a:avLst>
                <a:gd name="adj" fmla="val 6475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651308" y="448056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739928" y="451342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共同点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341680" y="4515802"/>
              <a:ext cx="26390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全部声明 throws IOException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44449" y="4841558"/>
              <a:ext cx="387991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这是受检异常，调用处必须 try-catch 或继续向上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throws，否则编译不过。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44449" y="5399723"/>
              <a:ext cx="44371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read() 读一个字节却返回 int：0～255 表示读到的字节，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-1 表示结束，两者不会混淆。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723049" cy="909257"/>
            <a:chOff x="520446" y="342900"/>
            <a:chExt cx="47230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16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128" y="407194"/>
              <a:ext cx="2021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8.2 流与相关类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7230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InputStream 的子类各管什么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table-1"/>
          <p:cNvGrpSpPr/>
          <p:nvPr/>
        </p:nvGrpSpPr>
        <p:grpSpPr>
          <a:xfrm>
            <a:off x="533400" y="1524000"/>
            <a:ext cx="5410200" cy="2847975"/>
            <a:chOff x="533400" y="1524000"/>
            <a:chExt cx="5410200" cy="28479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0042" y="1641157"/>
              <a:ext cx="1379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InputStream 的子类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2814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16542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ByteArrayInputStream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00744" y="2023110"/>
              <a:ext cx="27907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把内存里的字节数组当作 InputStream 使用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2296478"/>
              <a:ext cx="225361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8078" y="2404110"/>
              <a:ext cx="11664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FileInputStream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00744" y="240411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从文件中读取信息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663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8078" y="2878455"/>
              <a:ext cx="12856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PipedInputStream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00744" y="2785110"/>
              <a:ext cx="282435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读出写入相关 PipedOutputStream 的数据，实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现「管道」，常用于线程间传数据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231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23659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078" y="3353752"/>
              <a:ext cx="156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SequenceInputStream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00744" y="3353752"/>
              <a:ext cx="23666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把两个或多个 InputStream 串成一个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612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3627120"/>
              <a:ext cx="2253615" cy="7353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8078" y="3921443"/>
              <a:ext cx="18616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StringBufferInputStream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00744" y="3734752"/>
              <a:ext cx="2804350" cy="578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String 转成 InputStream。已过时：只取每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个字符的低 8 位，中文会出错，改用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StringReader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5410200" cy="28479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801302" y="1524000"/>
              <a:ext cx="9525" cy="28479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rd-2"/>
          <p:cNvGrpSpPr/>
          <p:nvPr/>
        </p:nvGrpSpPr>
        <p:grpSpPr>
          <a:xfrm>
            <a:off x="533400" y="4536758"/>
            <a:ext cx="5410200" cy="1645920"/>
            <a:chOff x="533400" y="4536758"/>
            <a:chExt cx="5410200" cy="1645920"/>
          </a:xfrm>
        </p:grpSpPr>
        <p:sp>
          <p:nvSpPr>
            <p:cNvPr id="31" name="Rectangle 31"/>
            <p:cNvSpPr/>
            <p:nvPr/>
          </p:nvSpPr>
          <p:spPr>
            <a:xfrm>
              <a:off x="533400" y="4536758"/>
              <a:ext cx="5410200" cy="1645920"/>
            </a:xfrm>
            <a:prstGeom prst="roundRect">
              <a:avLst>
                <a:gd name="adj" fmla="val 81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2925" y="4670108"/>
              <a:ext cx="47625" cy="13792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52475" y="471773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5147" y="475059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对称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18450" y="47582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输出流这边的对应类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5998" y="5074444"/>
              <a:ext cx="3963162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OutputStream 的子类：ByteArrayOutputStream、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FileOutputStream、PipedOutputStream 等；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FilterOutputStream 的子类：DataOutputStream、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BufferedOutputStream、PrintStream。</a:t>
              </a:r>
            </a:p>
          </p:txBody>
        </p:sp>
      </p:grpSp>
      <p:grpSp>
        <p:nvGrpSpPr>
          <p:cNvPr id="57" name="c2-table-1"/>
          <p:cNvGrpSpPr/>
          <p:nvPr/>
        </p:nvGrpSpPr>
        <p:grpSpPr>
          <a:xfrm>
            <a:off x="6248400" y="1524000"/>
            <a:ext cx="5410200" cy="2466975"/>
            <a:chOff x="6248400" y="1524000"/>
            <a:chExt cx="5410200" cy="2466975"/>
          </a:xfrm>
        </p:grpSpPr>
        <p:sp>
          <p:nvSpPr>
            <p:cNvPr id="38" name="Rectangle 38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85322" y="1641157"/>
              <a:ext cx="17988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FilterInputStream 的子类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94314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功能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43079" y="2116455"/>
              <a:ext cx="12414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DataInputStream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15744" y="2023110"/>
              <a:ext cx="278434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DataOutputStream 搭配，以可移植的方式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读基本类型（int、char、long 等）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24688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48400" y="247364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43079" y="2590800"/>
              <a:ext cx="156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BufferedInputStream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615744" y="2590800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带缓冲区，避免每次读取都真正去读设备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28498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43079" y="2971800"/>
              <a:ext cx="156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PushbackInputStream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615744" y="2971800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带回退缓冲区，可以把刚读到的字节退回去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3231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248400" y="3236595"/>
              <a:ext cx="5410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57925" y="3246120"/>
              <a:ext cx="2253615" cy="7353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43079" y="3540443"/>
              <a:ext cx="1728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LineNumberInputStream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15744" y="3353752"/>
              <a:ext cx="2224278" cy="578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跟踪行号 getLineNumber()、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setLineNumber(int)。已过时，改用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LineNumberReader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48400" y="1524000"/>
              <a:ext cx="5410200" cy="24669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516302" y="1524000"/>
              <a:ext cx="9525" cy="24669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2-card-2"/>
          <p:cNvGrpSpPr/>
          <p:nvPr/>
        </p:nvGrpSpPr>
        <p:grpSpPr>
          <a:xfrm>
            <a:off x="6248400" y="4155758"/>
            <a:ext cx="5410200" cy="2027872"/>
            <a:chOff x="6248400" y="4155758"/>
            <a:chExt cx="5410200" cy="2027872"/>
          </a:xfrm>
        </p:grpSpPr>
        <p:sp>
          <p:nvSpPr>
            <p:cNvPr id="58" name="Rectangle 58"/>
            <p:cNvSpPr/>
            <p:nvPr/>
          </p:nvSpPr>
          <p:spPr>
            <a:xfrm>
              <a:off x="6248400" y="4155758"/>
              <a:ext cx="5410200" cy="2027872"/>
            </a:xfrm>
            <a:prstGeom prst="roundRect">
              <a:avLst>
                <a:gd name="adj" fmla="val 65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57925" y="4289108"/>
              <a:ext cx="47625" cy="176117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467475" y="433673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60147" y="436959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033451" y="4376261"/>
              <a:ext cx="1182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31 页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60998" y="4693444"/>
              <a:ext cx="4678426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 PushbackInputStream「可以将读到的最后一个字符回退」。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它是字节流，退回的是字节；默认回退缓冲 1 字节，连退两次报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Push back buffer is full（JDK 21 实测），构造时可以指定更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996638" cy="909257"/>
            <a:chOff x="520446" y="342900"/>
            <a:chExt cx="99966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16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128" y="407194"/>
              <a:ext cx="2021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8.2 流与相关类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9966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FileInputStream 与 FileOutputStream：构造方法与覆盖规则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33400" y="1524000"/>
            <a:ext cx="6059805" cy="2200275"/>
            <a:chOff x="533400" y="1524000"/>
            <a:chExt cx="6059805" cy="22002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91463" y="16454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56039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构造方法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78810" y="164544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文件已存在 / 不存在时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145506"/>
              <a:ext cx="1244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FileInputStream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08885" y="2145506"/>
              <a:ext cx="1929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(File file)、(String name)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812030" y="2045494"/>
              <a:ext cx="154762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照常读 / 抛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FileNotFoundException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193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24125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645569"/>
              <a:ext cx="14033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FileOutputStream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08885" y="2645569"/>
              <a:ext cx="1929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(File file)、(String name)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12030" y="2645569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清空原内容 / 新建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194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3245644"/>
              <a:ext cx="14033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FileOutputStream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421255" y="2933700"/>
              <a:ext cx="2283142" cy="7810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508885" y="3045619"/>
              <a:ext cx="1981454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(File file, boolean append)、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(String name, boolean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append)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12030" y="3145631"/>
              <a:ext cx="149072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append 为 true 时接在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原内容后面 / 新建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6059805" cy="2200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406968" y="1524000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710112" y="1524000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2" name="c1-bullets-2"/>
          <p:cNvGrpSpPr/>
          <p:nvPr/>
        </p:nvGrpSpPr>
        <p:grpSpPr>
          <a:xfrm>
            <a:off x="541972" y="3916680"/>
            <a:ext cx="5936924" cy="829818"/>
            <a:chOff x="541972" y="3916680"/>
            <a:chExt cx="5936924" cy="829818"/>
          </a:xfrm>
        </p:grpSpPr>
        <p:sp>
          <p:nvSpPr>
            <p:cNvPr id="28" name="Ellipse 28"/>
            <p:cNvSpPr/>
            <p:nvPr/>
          </p:nvSpPr>
          <p:spPr>
            <a:xfrm>
              <a:off x="541972" y="3972877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7992" y="3916680"/>
              <a:ext cx="57809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所有读写方法都从 InputStream、OutputStream 继承，没有新增方法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41972" y="4281488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7992" y="4225290"/>
              <a:ext cx="55258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几乎所有 I/O 类的方法都抛 java.io.IOException，必须在方法中声明或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try-catch</a:t>
              </a:r>
            </a:p>
          </p:txBody>
        </p:sp>
      </p:grpSp>
      <p:grpSp>
        <p:nvGrpSpPr>
          <p:cNvPr id="39" name="c1-card-3"/>
          <p:cNvGrpSpPr/>
          <p:nvPr/>
        </p:nvGrpSpPr>
        <p:grpSpPr>
          <a:xfrm>
            <a:off x="533400" y="4863465"/>
            <a:ext cx="6059805" cy="1443038"/>
            <a:chOff x="533400" y="4863465"/>
            <a:chExt cx="6059805" cy="1443038"/>
          </a:xfrm>
        </p:grpSpPr>
        <p:sp>
          <p:nvSpPr>
            <p:cNvPr id="33" name="Rectangle 33"/>
            <p:cNvSpPr/>
            <p:nvPr/>
          </p:nvSpPr>
          <p:spPr>
            <a:xfrm>
              <a:off x="533400" y="4863465"/>
              <a:ext cx="6059805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2925" y="4996815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58190" y="505015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50862" y="50830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23784" y="5084445"/>
              <a:ext cx="12468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34 页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1332" y="5411152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「java.io.File NotFoundException」多了一个空格，类名是</a:t>
              </a:r>
              <a:br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FileNotFoundException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，它是 IOException 的子类。</a:t>
              </a:r>
            </a:p>
          </p:txBody>
        </p:sp>
      </p:grpSp>
      <p:grpSp>
        <p:nvGrpSpPr>
          <p:cNvPr id="43" name="c2-code-1"/>
          <p:cNvGrpSpPr/>
          <p:nvPr/>
        </p:nvGrpSpPr>
        <p:grpSpPr>
          <a:xfrm>
            <a:off x="6898005" y="1524000"/>
            <a:ext cx="4760595" cy="1746885"/>
            <a:chOff x="6898005" y="1524000"/>
            <a:chExt cx="4760595" cy="1746885"/>
          </a:xfrm>
        </p:grpSpPr>
        <p:sp>
          <p:nvSpPr>
            <p:cNvPr id="40" name="Rectangle 40"/>
            <p:cNvSpPr/>
            <p:nvPr/>
          </p:nvSpPr>
          <p:spPr>
            <a:xfrm>
              <a:off x="6898005" y="1524000"/>
              <a:ext cx="4760595" cy="1746885"/>
            </a:xfrm>
            <a:prstGeom prst="roundRect">
              <a:avLst>
                <a:gd name="adj" fmla="val 545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26402" y="1675924"/>
              <a:ext cx="16875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追加与覆盖（JDK 21 实测）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26592" y="1935575"/>
              <a:ext cx="2882011" cy="1247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FileOutputStream(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"log.txt"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写 'A'</a:t>
              </a:r>
              <a:br/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文件内容：A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FileOutputStream(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"log.txt"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写 'B'</a:t>
              </a:r>
              <a:br/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文件内容：AB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FileOutputStream(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"log.txt"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写 'C'</a:t>
              </a:r>
              <a:br/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文件内容：ABC，3 字节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FileOutputStream(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"log.txt"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写 'D'</a:t>
              </a:r>
              <a:br/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文件内容：D，1 字节</a:t>
              </a:r>
            </a:p>
          </p:txBody>
        </p:sp>
      </p:grpSp>
      <p:grpSp>
        <p:nvGrpSpPr>
          <p:cNvPr id="50" name="c2-callout-2"/>
          <p:cNvGrpSpPr/>
          <p:nvPr/>
        </p:nvGrpSpPr>
        <p:grpSpPr>
          <a:xfrm>
            <a:off x="6898005" y="3441382"/>
            <a:ext cx="4760595" cy="978218"/>
            <a:chOff x="6898005" y="3441382"/>
            <a:chExt cx="4760595" cy="978218"/>
          </a:xfrm>
        </p:grpSpPr>
        <p:sp>
          <p:nvSpPr>
            <p:cNvPr id="44" name="Rectangle 44"/>
            <p:cNvSpPr/>
            <p:nvPr/>
          </p:nvSpPr>
          <p:spPr>
            <a:xfrm>
              <a:off x="6898005" y="3441382"/>
              <a:ext cx="4760595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090734" y="3826311"/>
              <a:ext cx="224134" cy="192560"/>
              <a:chOff x="7090734" y="3826311"/>
              <a:chExt cx="224134" cy="19256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202805" y="389667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090734" y="382631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202805" y="397446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7405497" y="3587115"/>
              <a:ext cx="387134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写日志、追加记录一定要传 true。只写文件名，一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打开就把原来的内容清空了，哪怕后面一个字节也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没写。</a:t>
              </a:r>
            </a:p>
          </p:txBody>
        </p:sp>
      </p:grpSp>
      <p:grpSp>
        <p:nvGrpSpPr>
          <p:cNvPr id="57" name="c2-card-3"/>
          <p:cNvGrpSpPr/>
          <p:nvPr/>
        </p:nvGrpSpPr>
        <p:grpSpPr>
          <a:xfrm>
            <a:off x="6898005" y="4589145"/>
            <a:ext cx="4760595" cy="1716405"/>
            <a:chOff x="6898005" y="4589145"/>
            <a:chExt cx="4760595" cy="1716405"/>
          </a:xfrm>
        </p:grpSpPr>
        <p:sp>
          <p:nvSpPr>
            <p:cNvPr id="51" name="Rectangle 51"/>
            <p:cNvSpPr/>
            <p:nvPr/>
          </p:nvSpPr>
          <p:spPr>
            <a:xfrm>
              <a:off x="6898005" y="4589145"/>
              <a:ext cx="4760595" cy="1716405"/>
            </a:xfrm>
            <a:prstGeom prst="roundRect">
              <a:avLst>
                <a:gd name="adj" fmla="val 77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907530" y="4722495"/>
              <a:ext cx="47625" cy="14497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122795" y="47758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214514" y="48086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实测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88389" y="4811078"/>
              <a:ext cx="32451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输出流也会抛 FileNotFoundException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115937" y="5136833"/>
              <a:ext cx="409422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new FileOutputStream("nodir/x.txt")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：目录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nodir 不存在，文件建不出来，同样抛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FileNotFoundException。输出流只会建文件，不会建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目录，先用 File 的 mkdirs()。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728194" cy="909257"/>
            <a:chOff x="520446" y="342900"/>
            <a:chExt cx="37281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16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128" y="407194"/>
              <a:ext cx="2021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8.2 流与相关类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7281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例：写入 1～9 再读回来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5842635" cy="3143250"/>
            <a:chOff x="533400" y="1524000"/>
            <a:chExt cx="5842635" cy="31432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143250"/>
            </a:xfrm>
            <a:prstGeom prst="roundRect">
              <a:avLst>
                <a:gd name="adj" fmla="val 303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5532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TestFileStream.java（原课件第 35 页）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778442"/>
              <a:ext cx="580453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657600"/>
              <a:ext cx="580453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797" y="1935956"/>
              <a:ext cx="4596257" cy="2657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java.io.*;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TestFileStream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FileOutputStream output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FileOutputStream(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"temp.txt"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 10; i++)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output.write(i);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output.close();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FileInputStream input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FileInputStream(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"temp.txt"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value;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((value = input.read()) != -1)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System.out.print(value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input.close();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4857750"/>
            <a:ext cx="5842635" cy="704850"/>
            <a:chOff x="533400" y="4857750"/>
            <a:chExt cx="5842635" cy="704850"/>
          </a:xfrm>
        </p:grpSpPr>
        <p:sp>
          <p:nvSpPr>
            <p:cNvPr id="13" name="Rectangle 13"/>
            <p:cNvSpPr/>
            <p:nvPr/>
          </p:nvSpPr>
          <p:spPr>
            <a:xfrm>
              <a:off x="533400" y="4857750"/>
              <a:ext cx="5842635" cy="704850"/>
            </a:xfrm>
            <a:prstGeom prst="roundRect">
              <a:avLst>
                <a:gd name="adj" fmla="val 135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50096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035" y="5272564"/>
              <a:ext cx="14211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1 2 3 4 5 6 7 8 9</a:t>
              </a:r>
            </a:p>
          </p:txBody>
        </p:sp>
      </p:grpSp>
      <p:grpSp>
        <p:nvGrpSpPr>
          <p:cNvPr id="36" name="c2-cells-1"/>
          <p:cNvGrpSpPr/>
          <p:nvPr/>
        </p:nvGrpSpPr>
        <p:grpSpPr>
          <a:xfrm>
            <a:off x="6674358" y="1524000"/>
            <a:ext cx="4984242" cy="419100"/>
            <a:chOff x="6674358" y="1524000"/>
            <a:chExt cx="4984242" cy="419100"/>
          </a:xfrm>
        </p:grpSpPr>
        <p:sp>
          <p:nvSpPr>
            <p:cNvPr id="17" name="TextBox 17"/>
            <p:cNvSpPr txBox="1"/>
            <p:nvPr/>
          </p:nvSpPr>
          <p:spPr>
            <a:xfrm>
              <a:off x="6674358" y="1654016"/>
              <a:ext cx="8452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temp.txt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599998" y="1524000"/>
              <a:ext cx="45053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18799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050530" y="1524000"/>
              <a:ext cx="45053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70284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502015" y="1524000"/>
              <a:ext cx="45053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620817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952548" y="1524000"/>
              <a:ext cx="45053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72302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404032" y="1524000"/>
              <a:ext cx="45053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522834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854565" y="1524000"/>
              <a:ext cx="45053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974319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306050" y="1524000"/>
              <a:ext cx="45053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424852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0756582" y="1524000"/>
              <a:ext cx="45053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876337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1208068" y="1524000"/>
              <a:ext cx="45053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326869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680835" y="2133600"/>
            <a:ext cx="4977765" cy="1621155"/>
            <a:chOff x="6680835" y="2133600"/>
            <a:chExt cx="4977765" cy="1621155"/>
          </a:xfrm>
        </p:grpSpPr>
        <p:sp>
          <p:nvSpPr>
            <p:cNvPr id="37" name="Rectangle 37"/>
            <p:cNvSpPr/>
            <p:nvPr/>
          </p:nvSpPr>
          <p:spPr>
            <a:xfrm>
              <a:off x="6680835" y="2133600"/>
              <a:ext cx="497776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690360" y="22669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928485" y="23431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19646" y="23788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29512" y="2378392"/>
              <a:ext cx="27665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文件叫 .txt，内容却不是文本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20865" y="2739390"/>
              <a:ext cx="42443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write(i) 写的是数值 1～9 本身，即字节 0x01～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0x09，不是字符 '1'～'9'（0x31～0x39）。记事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本打开只看到几个不可见的控制字符。</a:t>
              </a:r>
            </a:p>
          </p:txBody>
        </p:sp>
      </p:grpSp>
      <p:grpSp>
        <p:nvGrpSpPr>
          <p:cNvPr id="51" name="c2-card-3"/>
          <p:cNvGrpSpPr/>
          <p:nvPr/>
        </p:nvGrpSpPr>
        <p:grpSpPr>
          <a:xfrm>
            <a:off x="6680835" y="3945255"/>
            <a:ext cx="4977765" cy="2242185"/>
            <a:chOff x="6680835" y="3945255"/>
            <a:chExt cx="4977765" cy="2242185"/>
          </a:xfrm>
        </p:grpSpPr>
        <p:sp>
          <p:nvSpPr>
            <p:cNvPr id="44" name="Rectangle 44"/>
            <p:cNvSpPr/>
            <p:nvPr/>
          </p:nvSpPr>
          <p:spPr>
            <a:xfrm>
              <a:off x="6680835" y="3945255"/>
              <a:ext cx="4977765" cy="2242185"/>
            </a:xfrm>
            <a:prstGeom prst="roundRect">
              <a:avLst>
                <a:gd name="adj" fmla="val 59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90360" y="4078605"/>
              <a:ext cx="47625" cy="197548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928485" y="415480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19646" y="41905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实测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29512" y="4190048"/>
              <a:ext cx="2232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write(int) 只写低 8 位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20865" y="4551045"/>
              <a:ext cx="41205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write(300) 写进去的是 44（300 − 256），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write(-1) 写进去的是 255。读回依次得到 44、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255，再读返回 -1。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20865" y="5457825"/>
              <a:ext cx="3434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所以要存 300 这样的 int，得用下一页的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DataOutputStream。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16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128" y="407194"/>
              <a:ext cx="2021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8.2 流与相关类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过滤流：让字节流能读写整数、小数和字符串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1930718"/>
            <a:chOff x="533400" y="1524000"/>
            <a:chExt cx="5626418" cy="19307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930718"/>
            </a:xfrm>
            <a:prstGeom prst="roundRect">
              <a:avLst>
                <a:gd name="adj" fmla="val 69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6401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946" y="173783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为什么需要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91830" y="1744504"/>
              <a:ext cx="36927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FilterInputStream 与 FilterOutputStream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7759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FileInputStream 和 FileOutputStream 只能读写字节。要读写整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数、双精度值或字符串，就用过滤器类来包装输入流。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998" y="2589371"/>
              <a:ext cx="503605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FilterInputStream、FilterOutputStream 是过滤数据的基类；处理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基本数值类型时，用它们的子类 DataInputStream 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DataOutputStream。</a:t>
              </a:r>
            </a:p>
          </p:txBody>
        </p:sp>
      </p:grpSp>
      <p:grpSp>
        <p:nvGrpSpPr>
          <p:cNvPr id="18" name="c1-code-2"/>
          <p:cNvGrpSpPr/>
          <p:nvPr/>
        </p:nvGrpSpPr>
        <p:grpSpPr>
          <a:xfrm>
            <a:off x="533400" y="3619500"/>
            <a:ext cx="5626418" cy="1107758"/>
            <a:chOff x="533400" y="3619500"/>
            <a:chExt cx="5626418" cy="1107758"/>
          </a:xfrm>
        </p:grpSpPr>
        <p:sp>
          <p:nvSpPr>
            <p:cNvPr id="15" name="Rectangle 15"/>
            <p:cNvSpPr/>
            <p:nvPr/>
          </p:nvSpPr>
          <p:spPr>
            <a:xfrm>
              <a:off x="533400" y="3619500"/>
              <a:ext cx="5626418" cy="1107758"/>
            </a:xfrm>
            <a:prstGeom prst="roundRect">
              <a:avLst>
                <a:gd name="adj" fmla="val 859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797" y="3771424"/>
              <a:ext cx="14327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用法（原课件第 42 页）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988" y="4030504"/>
              <a:ext cx="2701544" cy="610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DataInputStream input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DataInputStream(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FileInputStream(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"in.dat"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DataOutputStream output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DataOutputStream(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FileOutputStream(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"out.dat"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</a:p>
          </p:txBody>
        </p:sp>
      </p:grpSp>
      <p:grpSp>
        <p:nvGrpSpPr>
          <p:cNvPr id="25" name="c1-card-3"/>
          <p:cNvGrpSpPr/>
          <p:nvPr/>
        </p:nvGrpSpPr>
        <p:grpSpPr>
          <a:xfrm>
            <a:off x="533400" y="4892992"/>
            <a:ext cx="5626418" cy="1403032"/>
            <a:chOff x="533400" y="4892992"/>
            <a:chExt cx="5626418" cy="1403032"/>
          </a:xfrm>
        </p:grpSpPr>
        <p:sp>
          <p:nvSpPr>
            <p:cNvPr id="19" name="Rectangle 19"/>
            <p:cNvSpPr/>
            <p:nvPr/>
          </p:nvSpPr>
          <p:spPr>
            <a:xfrm>
              <a:off x="533400" y="4892992"/>
              <a:ext cx="5626418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5026342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52475" y="507396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5147" y="510682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18450" y="5113496"/>
              <a:ext cx="1182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42 页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5998" y="5429726"/>
              <a:ext cx="496290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两个示例都写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“in.dat”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：中文引号编译不过；而且对同一个文件先开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输入流再开输出流，输出流一打开就把文件清空了。这里输出改成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out.dat。</a:t>
              </a:r>
            </a:p>
          </p:txBody>
        </p:sp>
      </p:grpSp>
      <p:grpSp>
        <p:nvGrpSpPr>
          <p:cNvPr id="55" name="c2-uml-1"/>
          <p:cNvGrpSpPr/>
          <p:nvPr/>
        </p:nvGrpSpPr>
        <p:grpSpPr>
          <a:xfrm>
            <a:off x="6715125" y="2105978"/>
            <a:ext cx="4370070" cy="3688079"/>
            <a:chOff x="6715125" y="2105978"/>
            <a:chExt cx="4370070" cy="3688079"/>
          </a:xfrm>
        </p:grpSpPr>
        <p:sp>
          <p:nvSpPr>
            <p:cNvPr id="26" name="Freeform 26"/>
            <p:cNvSpPr/>
            <p:nvPr/>
          </p:nvSpPr>
          <p:spPr>
            <a:xfrm>
              <a:off x="7762875" y="2657475"/>
              <a:ext cx="9525" cy="1039178"/>
            </a:xfrm>
            <a:custGeom>
              <a:avLst/>
              <a:gdLst/>
              <a:ahLst/>
              <a:cxnLst/>
              <a:rect l="l" t="t" r="r" b="b"/>
              <a:pathLst>
                <a:path w="9525" h="1039178">
                  <a:moveTo>
                    <a:pt x="0" y="103917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7689532" y="253174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667625" y="4248150"/>
              <a:ext cx="95250" cy="958215"/>
            </a:xfrm>
            <a:custGeom>
              <a:avLst/>
              <a:gdLst/>
              <a:ahLst/>
              <a:cxnLst/>
              <a:rect l="l" t="t" r="r" b="b"/>
              <a:pathLst>
                <a:path w="95250" h="958215">
                  <a:moveTo>
                    <a:pt x="0" y="958215"/>
                  </a:moveTo>
                  <a:lnTo>
                    <a:pt x="0" y="416242"/>
                  </a:lnTo>
                  <a:lnTo>
                    <a:pt x="95250" y="416242"/>
                  </a:lnTo>
                  <a:lnTo>
                    <a:pt x="952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689532" y="412242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858125" y="4722495"/>
              <a:ext cx="2502218" cy="483870"/>
            </a:xfrm>
            <a:custGeom>
              <a:avLst/>
              <a:gdLst/>
              <a:ahLst/>
              <a:cxnLst/>
              <a:rect l="l" t="t" r="r" b="b"/>
              <a:pathLst>
                <a:path w="2502218" h="483870">
                  <a:moveTo>
                    <a:pt x="0" y="483870"/>
                  </a:moveTo>
                  <a:lnTo>
                    <a:pt x="0" y="179070"/>
                  </a:lnTo>
                  <a:lnTo>
                    <a:pt x="2502218" y="179070"/>
                  </a:lnTo>
                  <a:lnTo>
                    <a:pt x="2502218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31" name="Freeform 31"/>
            <p:cNvSpPr/>
            <p:nvPr/>
          </p:nvSpPr>
          <p:spPr>
            <a:xfrm>
              <a:off x="10287000" y="459676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91375" y="2105978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A1343C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198995" y="2113598"/>
              <a:ext cx="1128712" cy="227648"/>
            </a:xfrm>
            <a:prstGeom prst="rect">
              <a:avLst/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191375" y="2336482"/>
              <a:ext cx="1143000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191375" y="2431732"/>
              <a:ext cx="1143000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093268" y="3696652"/>
              <a:ext cx="1340168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A1343C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099935" y="3704272"/>
              <a:ext cx="1325880" cy="227648"/>
            </a:xfrm>
            <a:prstGeom prst="rect">
              <a:avLst/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093268" y="3927158"/>
              <a:ext cx="1340168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093268" y="4022408"/>
              <a:ext cx="1340168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715125" y="5206365"/>
              <a:ext cx="20955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A1343C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722745" y="5213985"/>
              <a:ext cx="2081212" cy="227648"/>
            </a:xfrm>
            <a:prstGeom prst="rect">
              <a:avLst/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715125" y="5436870"/>
              <a:ext cx="2095500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715125" y="5532120"/>
              <a:ext cx="2095500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635490" y="3222308"/>
              <a:ext cx="1449705" cy="13744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A1343C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9642158" y="3229928"/>
              <a:ext cx="1435418" cy="364808"/>
            </a:xfrm>
            <a:prstGeom prst="rect">
              <a:avLst/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635490" y="3589972"/>
              <a:ext cx="1449705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635490" y="3685222"/>
              <a:ext cx="1449705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338073" y="2161699"/>
              <a:ext cx="8496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i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InputStream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42328" y="3752374"/>
              <a:ext cx="1241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FilterInputStream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83544" y="5262086"/>
              <a:ext cx="11586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DataInputStream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86562" y="5601652"/>
              <a:ext cx="20900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+DataInputStream(InputStream in)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035454" y="3275171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025763" y="3415189"/>
              <a:ext cx="6691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DataInput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706928" y="3754755"/>
              <a:ext cx="1306830" cy="8239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readBoolean(): boolean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readInt(): int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readDouble(): double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readUTF(): String</a:t>
              </a:r>
              <a:br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70766" cy="909257"/>
            <a:chOff x="520446" y="342900"/>
            <a:chExt cx="74707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16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128" y="407194"/>
              <a:ext cx="2021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8.2 流与相关类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707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DataInput 与 DataOutput：读写方法成对出现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4" name="c1-table-1"/>
          <p:cNvGrpSpPr/>
          <p:nvPr/>
        </p:nvGrpSpPr>
        <p:grpSpPr>
          <a:xfrm>
            <a:off x="533400" y="1524000"/>
            <a:ext cx="5626418" cy="4000500"/>
            <a:chOff x="533400" y="1524000"/>
            <a:chExt cx="5626418" cy="4000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89147" y="1641157"/>
              <a:ext cx="105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DataOutput 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13534" y="1641157"/>
              <a:ext cx="9034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DataInput 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79530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占字节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023110"/>
              <a:ext cx="16481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writeBoolean(boolean)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91231" y="2023110"/>
              <a:ext cx="9910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readBoolean()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29594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2821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286952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404110"/>
              <a:ext cx="1114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writeByte(int)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91231" y="2404110"/>
              <a:ext cx="7935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readByte()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29594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6631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785110"/>
              <a:ext cx="11957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writeShort(int)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91231" y="2785110"/>
              <a:ext cx="871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readShort()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29594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0451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04990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3167062"/>
              <a:ext cx="1114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writeChar(int)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91231" y="3167062"/>
              <a:ext cx="7935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readChar()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29594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4261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548062"/>
              <a:ext cx="9952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writeInt(int)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91231" y="3548062"/>
              <a:ext cx="68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readInt()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129594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8071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81190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078" y="3930015"/>
              <a:ext cx="11957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writeLong(long)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991231" y="3930015"/>
              <a:ext cx="7935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readLong()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129594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18909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8078" y="4311015"/>
              <a:ext cx="1321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writeFloat(float)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991231" y="4311015"/>
              <a:ext cx="8356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readFloat()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129594" y="4311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57009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574858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8078" y="4692015"/>
              <a:ext cx="14849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writeDouble(double)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991231" y="4692015"/>
              <a:ext cx="9133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readDouble()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129594" y="4692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95204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8078" y="5167312"/>
              <a:ext cx="12926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writeUTF(String)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991231" y="5167312"/>
              <a:ext cx="7273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readUTF()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044440" y="4966335"/>
              <a:ext cx="1105852" cy="5486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129594" y="5073968"/>
              <a:ext cx="77076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+ 编码后字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节数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1524000"/>
              <a:ext cx="5626418" cy="40005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2891790" y="1524000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030152" y="1524000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1-text-2"/>
          <p:cNvGrpSpPr/>
          <p:nvPr/>
        </p:nvGrpSpPr>
        <p:grpSpPr>
          <a:xfrm>
            <a:off x="528066" y="5706428"/>
            <a:ext cx="5411343" cy="412052"/>
            <a:chOff x="528066" y="5706428"/>
            <a:chExt cx="5411343" cy="412052"/>
          </a:xfrm>
        </p:grpSpPr>
        <p:sp>
          <p:nvSpPr>
            <p:cNvPr id="55" name="TextBox 55"/>
            <p:cNvSpPr txBox="1"/>
            <p:nvPr/>
          </p:nvSpPr>
          <p:spPr>
            <a:xfrm>
              <a:off x="528066" y="5706428"/>
              <a:ext cx="5411343" cy="412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28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字节数用 ByteArrayOutputStream 实测：依次写 9 项后 size() 为 35，其中 writeUTF("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中") 占 2 + 3 = 5。</a:t>
              </a:r>
            </a:p>
          </p:txBody>
        </p:sp>
      </p:grpSp>
      <p:grpSp>
        <p:nvGrpSpPr>
          <p:cNvPr id="69" name="c2-card-1"/>
          <p:cNvGrpSpPr/>
          <p:nvPr/>
        </p:nvGrpSpPr>
        <p:grpSpPr>
          <a:xfrm>
            <a:off x="6464618" y="1524000"/>
            <a:ext cx="5193982" cy="1772602"/>
            <a:chOff x="6464618" y="1524000"/>
            <a:chExt cx="5193982" cy="1772602"/>
          </a:xfrm>
        </p:grpSpPr>
        <p:sp>
          <p:nvSpPr>
            <p:cNvPr id="57" name="Rectangle 57"/>
            <p:cNvSpPr/>
            <p:nvPr/>
          </p:nvSpPr>
          <p:spPr>
            <a:xfrm>
              <a:off x="6464618" y="1524000"/>
              <a:ext cx="5193982" cy="1772602"/>
            </a:xfrm>
            <a:prstGeom prst="roundRect">
              <a:avLst>
                <a:gd name="adj" fmla="val 75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474142" y="1657350"/>
              <a:ext cx="47625" cy="150590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683692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76364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50620" y="174450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读的顺序和类型必须与写的一致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77216" y="2061686"/>
              <a:ext cx="43897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文件里只有字节，不记类型。写了一个 int 7（4 字节）：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693218" y="2398395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848666" y="2346484"/>
              <a:ext cx="17505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readInt 读：得到 7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693218" y="2684145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848666" y="2631281"/>
              <a:ext cx="39266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readDouble 读：8 字节不够，抛 EOFException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693218" y="2968942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848666" y="2916079"/>
              <a:ext cx="4593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用两次 readShort 读：得到 0 和 7，不报错，数据悄悄错了</a:t>
              </a:r>
            </a:p>
          </p:txBody>
        </p:sp>
      </p:grpSp>
      <p:grpSp>
        <p:nvGrpSpPr>
          <p:cNvPr id="75" name="c2-card-2"/>
          <p:cNvGrpSpPr/>
          <p:nvPr/>
        </p:nvGrpSpPr>
        <p:grpSpPr>
          <a:xfrm>
            <a:off x="6464618" y="3461385"/>
            <a:ext cx="5193982" cy="1160145"/>
            <a:chOff x="6464618" y="3461385"/>
            <a:chExt cx="5193982" cy="1160145"/>
          </a:xfrm>
        </p:grpSpPr>
        <p:sp>
          <p:nvSpPr>
            <p:cNvPr id="70" name="Rectangle 70"/>
            <p:cNvSpPr/>
            <p:nvPr/>
          </p:nvSpPr>
          <p:spPr>
            <a:xfrm>
              <a:off x="6464618" y="3461385"/>
              <a:ext cx="5193982" cy="1160145"/>
            </a:xfrm>
            <a:prstGeom prst="roundRect">
              <a:avLst>
                <a:gd name="adj" fmla="val 11494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645592" y="364236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738264" y="367522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212520" y="3681889"/>
              <a:ext cx="21372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读到末尾抛 EOFException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639116" y="3998119"/>
              <a:ext cx="41257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readInt 这类方法没有「返回 -1」这条路，数据不够就抛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EOFException（IOException 的子类）。</a:t>
              </a:r>
            </a:p>
          </p:txBody>
        </p:sp>
      </p:grpSp>
      <p:grpSp>
        <p:nvGrpSpPr>
          <p:cNvPr id="82" name="c2-card-3"/>
          <p:cNvGrpSpPr/>
          <p:nvPr/>
        </p:nvGrpSpPr>
        <p:grpSpPr>
          <a:xfrm>
            <a:off x="6464618" y="4786312"/>
            <a:ext cx="5193982" cy="1403032"/>
            <a:chOff x="6464618" y="4786312"/>
            <a:chExt cx="5193982" cy="1403032"/>
          </a:xfrm>
        </p:grpSpPr>
        <p:sp>
          <p:nvSpPr>
            <p:cNvPr id="76" name="Rectangle 76"/>
            <p:cNvSpPr/>
            <p:nvPr/>
          </p:nvSpPr>
          <p:spPr>
            <a:xfrm>
              <a:off x="6464618" y="4786312"/>
              <a:ext cx="5193982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6474142" y="4919662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6683692" y="49672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776364" y="50001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250620" y="5006816"/>
              <a:ext cx="1182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40 页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677216" y="5323999"/>
              <a:ext cx="446709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列出的 readLine() 在 DataInputStream 里从 Java 1.1 起已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过时，它不能正确把字节转成字符。读文本行用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BufferedReader.readLine()。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017755" cy="909257"/>
            <a:chOff x="520446" y="342900"/>
            <a:chExt cx="1001775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16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128" y="407194"/>
              <a:ext cx="2021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8.2 流与相关类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01775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例：DataOutputStream 写三条成绩，DataInputStream 读回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3758565"/>
            <a:chOff x="533400" y="1524000"/>
            <a:chExt cx="6276022" cy="37585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758565"/>
            </a:xfrm>
            <a:prstGeom prst="roundRect">
              <a:avLst>
                <a:gd name="adj" fmla="val 25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6231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TestDataStream.java（原课件第 43 页）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575"/>
              <a:ext cx="4274566" cy="325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java.io.*;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TestDataStream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DataOutputStream output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DataOutputStream(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FileOutputStream(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"temp.dat"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output.writeUTF(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"John"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output.writeDouble(85.5);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output.writeUTF(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"Jim"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output.writeDouble(90.5);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output.writeUTF(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"George"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output.writeDouble(80.7);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output.close();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DataInputStream input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DataInputStream(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FileInputStream(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"temp.dat"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System.out.println(input.readUTF() +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input.readDouble());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System.out.println(input.readUTF() +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input.readDouble());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System.out.println(input.readUTF() +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input.readDouble());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input.close();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2-code-1"/>
          <p:cNvGrpSpPr/>
          <p:nvPr/>
        </p:nvGrpSpPr>
        <p:grpSpPr>
          <a:xfrm>
            <a:off x="7114222" y="1524000"/>
            <a:ext cx="4544378" cy="1033462"/>
            <a:chOff x="7114222" y="1524000"/>
            <a:chExt cx="4544378" cy="1033462"/>
          </a:xfrm>
        </p:grpSpPr>
        <p:sp>
          <p:nvSpPr>
            <p:cNvPr id="11" name="Rectangle 11"/>
            <p:cNvSpPr/>
            <p:nvPr/>
          </p:nvSpPr>
          <p:spPr>
            <a:xfrm>
              <a:off x="7114222" y="1524000"/>
              <a:ext cx="4544378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242620" y="16759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42620" y="1935956"/>
              <a:ext cx="762889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John 85.5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Jim 90.5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George 80.7</a:t>
              </a:r>
            </a:p>
          </p:txBody>
        </p:sp>
      </p:grpSp>
      <p:grpSp>
        <p:nvGrpSpPr>
          <p:cNvPr id="46" name="c2-cells-2"/>
          <p:cNvGrpSpPr/>
          <p:nvPr/>
        </p:nvGrpSpPr>
        <p:grpSpPr>
          <a:xfrm>
            <a:off x="7108508" y="2727960"/>
            <a:ext cx="4550092" cy="1407796"/>
            <a:chOff x="7108508" y="2727960"/>
            <a:chExt cx="4550092" cy="1407796"/>
          </a:xfrm>
        </p:grpSpPr>
        <p:sp>
          <p:nvSpPr>
            <p:cNvPr id="15" name="TextBox 15"/>
            <p:cNvSpPr txBox="1"/>
            <p:nvPr/>
          </p:nvSpPr>
          <p:spPr>
            <a:xfrm>
              <a:off x="7108508" y="28417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长度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576185" y="2727960"/>
              <a:ext cx="51054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738668" y="284178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86725" y="2727960"/>
              <a:ext cx="51054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48255" y="284178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08508" y="3361849"/>
              <a:ext cx="364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John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76185" y="3247072"/>
              <a:ext cx="51054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733739" y="336184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4A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086725" y="3247072"/>
              <a:ext cx="51054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43327" y="336184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6F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596312" y="3247072"/>
              <a:ext cx="51054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58795" y="336184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106852" y="3247072"/>
              <a:ext cx="51054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64407" y="336184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08508" y="388096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85.5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576185" y="3767138"/>
              <a:ext cx="51054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738668" y="388096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086725" y="3767138"/>
              <a:ext cx="51054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48255" y="388096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596312" y="3767138"/>
              <a:ext cx="51054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758795" y="388096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106852" y="3767138"/>
              <a:ext cx="51054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269335" y="388096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617392" y="3767138"/>
              <a:ext cx="51054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779875" y="388096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127932" y="3767138"/>
              <a:ext cx="51054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290415" y="388096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0637520" y="3767138"/>
              <a:ext cx="51054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800003" y="388096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1148060" y="3767138"/>
              <a:ext cx="51054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1310543" y="388096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</a:t>
              </a:r>
            </a:p>
          </p:txBody>
        </p:sp>
      </p:grpSp>
      <p:grpSp>
        <p:nvGrpSpPr>
          <p:cNvPr id="66" name="c2-table-3"/>
          <p:cNvGrpSpPr/>
          <p:nvPr/>
        </p:nvGrpSpPr>
        <p:grpSpPr>
          <a:xfrm>
            <a:off x="7114222" y="4305300"/>
            <a:ext cx="4544378" cy="2000250"/>
            <a:chOff x="7114222" y="4305300"/>
            <a:chExt cx="4544378" cy="2000250"/>
          </a:xfrm>
        </p:grpSpPr>
        <p:sp>
          <p:nvSpPr>
            <p:cNvPr id="47" name="Rectangle 47"/>
            <p:cNvSpPr/>
            <p:nvPr/>
          </p:nvSpPr>
          <p:spPr>
            <a:xfrm>
              <a:off x="7114222" y="4305300"/>
              <a:ext cx="4544378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320761" y="44267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记录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518038" y="44267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字节数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11378" y="4826794"/>
              <a:ext cx="9025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John + 85.5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938385" y="4826794"/>
              <a:ext cx="946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+ 4 + 8 = 14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114222" y="510063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114222" y="5105400"/>
              <a:ext cx="454437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211378" y="5226844"/>
              <a:ext cx="8098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Jim + 90.5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938385" y="5226844"/>
              <a:ext cx="946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+ 3 + 8 = 13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114222" y="550068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211378" y="5626894"/>
              <a:ext cx="1074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George + 80.7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938385" y="5626894"/>
              <a:ext cx="946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+ 6 + 8 = 16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114222" y="590073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114222" y="5905500"/>
              <a:ext cx="454437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211378" y="6026944"/>
              <a:ext cx="10887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temp.dat 合计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850755" y="5915025"/>
              <a:ext cx="1798320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938385" y="6026944"/>
              <a:ext cx="7803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43（实测）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114222" y="4305300"/>
              <a:ext cx="4544378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9836468" y="43053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16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128" y="407194"/>
              <a:ext cx="2021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8.2 流与相关类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缓冲流：攒满一批再真正读写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842635" cy="1803082"/>
            <a:chOff x="533400" y="1524000"/>
            <a:chExt cx="5842635" cy="18030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803082"/>
            </a:xfrm>
            <a:prstGeom prst="roundRect">
              <a:avLst>
                <a:gd name="adj" fmla="val 73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36382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原理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45071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BufferedInputStream 与 BufferedOutputStream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输入流从内存里的缓冲区读数据，缓冲区空了才调用底层流读一大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块；输出流把数据写进缓冲区，满了或调用 flush 才真正写出。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685098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628900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减少对设备的实际读写次数（高速设备与低速设备之间）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298513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2928938"/>
              <a:ext cx="48171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方法都继承自 InputStream、OutputStream，没有新方法</a:t>
              </a:r>
            </a:p>
          </p:txBody>
        </p:sp>
      </p:grpSp>
      <p:grpSp>
        <p:nvGrpSpPr>
          <p:cNvPr id="30" name="c1-table-2"/>
          <p:cNvGrpSpPr/>
          <p:nvPr/>
        </p:nvGrpSpPr>
        <p:grpSpPr>
          <a:xfrm>
            <a:off x="533400" y="3496628"/>
            <a:ext cx="5842635" cy="1200150"/>
            <a:chOff x="533400" y="3496628"/>
            <a:chExt cx="5842635" cy="1200150"/>
          </a:xfrm>
        </p:grpSpPr>
        <p:sp>
          <p:nvSpPr>
            <p:cNvPr id="18" name="Rectangle 18"/>
            <p:cNvSpPr/>
            <p:nvPr/>
          </p:nvSpPr>
          <p:spPr>
            <a:xfrm>
              <a:off x="533400" y="3496628"/>
              <a:ext cx="5842635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99085" y="3618071"/>
              <a:ext cx="15738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逐字节写 200 万个字节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95731" y="3618071"/>
              <a:ext cx="12250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本机 JDK 21 实测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0555" y="4018121"/>
              <a:ext cx="1903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直接用 FileOutputStream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36707" y="4018121"/>
              <a:ext cx="7803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5000 ms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29196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296728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4418171"/>
              <a:ext cx="2633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外面套一层 BufferedOutputStream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049078" y="4306252"/>
              <a:ext cx="231838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136707" y="441817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20 ms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496628"/>
              <a:ext cx="5842635" cy="12001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034790" y="3496628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rd-3"/>
          <p:cNvGrpSpPr/>
          <p:nvPr/>
        </p:nvGrpSpPr>
        <p:grpSpPr>
          <a:xfrm>
            <a:off x="533400" y="4867275"/>
            <a:ext cx="5842635" cy="1459230"/>
            <a:chOff x="533400" y="4867275"/>
            <a:chExt cx="5842635" cy="1459230"/>
          </a:xfrm>
        </p:grpSpPr>
        <p:sp>
          <p:nvSpPr>
            <p:cNvPr id="31" name="Rectangle 31"/>
            <p:cNvSpPr/>
            <p:nvPr/>
          </p:nvSpPr>
          <p:spPr>
            <a:xfrm>
              <a:off x="533400" y="4867275"/>
              <a:ext cx="5842635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2925" y="5000625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58190" y="505396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50862" y="508682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23784" y="5088255"/>
              <a:ext cx="12468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76 页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1332" y="5414962"/>
              <a:ext cx="51572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说没有缓冲的 I/O「对硬盘损害大」。慢的原因是每读写一个字节都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要调用一次操作系统；操作系统自己也有磁盘缓存，并不会每个字节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都去碰硬盘。</a:t>
              </a:r>
            </a:p>
          </p:txBody>
        </p:sp>
      </p:grpSp>
      <p:grpSp>
        <p:nvGrpSpPr>
          <p:cNvPr id="40" name="c2-image-1"/>
          <p:cNvGrpSpPr/>
          <p:nvPr/>
        </p:nvGrpSpPr>
        <p:grpSpPr>
          <a:xfrm>
            <a:off x="6719888" y="1524000"/>
            <a:ext cx="4900612" cy="3958304"/>
            <a:chOff x="6719888" y="1524000"/>
            <a:chExt cx="4900612" cy="3958304"/>
          </a:xfrm>
        </p:grpSpPr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rcRect l="5558" t="0" r="5559" b="0"/>
            <a:stretch>
              <a:fillRect/>
            </a:stretch>
          </p:blipFill>
          <p:spPr>
            <a:xfrm>
              <a:off x="6719888" y="1524000"/>
              <a:ext cx="4900612" cy="3675698"/>
            </a:xfrm>
            <a:prstGeom prst="roundRect">
              <a:avLst>
                <a:gd name="adj" fmla="val 3627"/>
              </a:avLst>
            </a:prstGeom>
          </p:spPr>
        </p:pic>
        <p:sp>
          <p:nvSpPr>
            <p:cNvPr id="39" name="TextBox 39"/>
            <p:cNvSpPr txBox="1"/>
            <p:nvPr/>
          </p:nvSpPr>
          <p:spPr>
            <a:xfrm>
              <a:off x="8109344" y="5291614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拿小杯一趟趟跑，不如攒满一桶再倒</a:t>
              </a:r>
            </a:p>
          </p:txBody>
        </p:sp>
      </p:grpSp>
      <p:grpSp>
        <p:nvGrpSpPr>
          <p:cNvPr id="46" name="c2-callout-2"/>
          <p:cNvGrpSpPr/>
          <p:nvPr/>
        </p:nvGrpSpPr>
        <p:grpSpPr>
          <a:xfrm>
            <a:off x="6680835" y="5633085"/>
            <a:ext cx="4977765" cy="729615"/>
            <a:chOff x="6680835" y="5633085"/>
            <a:chExt cx="4977765" cy="729615"/>
          </a:xfrm>
        </p:grpSpPr>
        <p:sp>
          <p:nvSpPr>
            <p:cNvPr id="41" name="Rectangle 41"/>
            <p:cNvSpPr/>
            <p:nvPr/>
          </p:nvSpPr>
          <p:spPr>
            <a:xfrm>
              <a:off x="6680835" y="5633085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885623" y="5897882"/>
              <a:ext cx="200023" cy="200023"/>
              <a:chOff x="6885623" y="5897882"/>
              <a:chExt cx="200023" cy="2000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885623" y="58978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018973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7188327" y="5779770"/>
              <a:ext cx="399135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应该使用缓冲区 I/O 来加速输入和输出，尤其是逐字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节、逐字符读写的时候。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16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128" y="407194"/>
              <a:ext cx="2021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8.2 流与相关类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缓冲流的构造方法、默认大小和包装链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33400" y="1524000"/>
            <a:ext cx="5842635" cy="3200400"/>
            <a:chOff x="533400" y="1524000"/>
            <a:chExt cx="5842635" cy="32004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153996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构造方法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000879" y="16454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缓冲区大小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0555" y="2045494"/>
              <a:ext cx="2990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BufferedInputStream(InputStream in)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87228" y="2045494"/>
              <a:ext cx="10366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 8192 字节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193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241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0555" y="2445544"/>
              <a:ext cx="37029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BufferedInputStream(InputStream in, int size)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87228" y="2445544"/>
              <a:ext cx="652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size 字节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193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0555" y="2845594"/>
              <a:ext cx="3434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BufferedOutputStream(OutputStream out)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87228" y="2845594"/>
              <a:ext cx="10366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 8192 字节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194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124200"/>
              <a:ext cx="5842635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0555" y="3245644"/>
              <a:ext cx="3468929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BufferedOutputStream(OutputStream out, int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size)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87228" y="3345656"/>
              <a:ext cx="652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size 字节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1951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0555" y="3845719"/>
              <a:ext cx="37388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BufferedReader(Reader in)、(Reader in, int sz)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87228" y="3845719"/>
              <a:ext cx="1187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 8192 个字符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1195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124325"/>
              <a:ext cx="5842635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0555" y="4245769"/>
              <a:ext cx="343194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BufferedWriter(Writer out)、(Writer out, int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sz)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87228" y="4345781"/>
              <a:ext cx="1187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 8192 个字符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524000"/>
              <a:ext cx="5842635" cy="3200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385310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6" name="c1-code-2"/>
          <p:cNvGrpSpPr/>
          <p:nvPr/>
        </p:nvGrpSpPr>
        <p:grpSpPr>
          <a:xfrm>
            <a:off x="533400" y="4893945"/>
            <a:ext cx="5842635" cy="1438275"/>
            <a:chOff x="533400" y="4893945"/>
            <a:chExt cx="5842635" cy="1438275"/>
          </a:xfrm>
        </p:grpSpPr>
        <p:sp>
          <p:nvSpPr>
            <p:cNvPr id="33" name="Rectangle 33"/>
            <p:cNvSpPr/>
            <p:nvPr/>
          </p:nvSpPr>
          <p:spPr>
            <a:xfrm>
              <a:off x="533400" y="4893945"/>
              <a:ext cx="5842635" cy="1438275"/>
            </a:xfrm>
            <a:prstGeom prst="roundRect">
              <a:avLst>
                <a:gd name="adj" fmla="val 662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1797" y="5045869"/>
              <a:ext cx="23188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47 页的写法（JDK 21 实测）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1988" y="5305520"/>
              <a:ext cx="3073146" cy="939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DataOutputStream output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DataOutputStream(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BufferedOutputStream(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FileOutputStream(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"temp.dat"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output.writeInt(2024);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output.writeDouble(3.5);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文件长度仍是 0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output.close();  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flush 后变成 12</a:t>
              </a:r>
            </a:p>
          </p:txBody>
        </p:sp>
      </p:grpSp>
      <p:grpSp>
        <p:nvGrpSpPr>
          <p:cNvPr id="47" name="c2-flow-1"/>
          <p:cNvGrpSpPr/>
          <p:nvPr/>
        </p:nvGrpSpPr>
        <p:grpSpPr>
          <a:xfrm>
            <a:off x="7029450" y="1680210"/>
            <a:ext cx="4280535" cy="1783080"/>
            <a:chOff x="7029450" y="1680210"/>
            <a:chExt cx="4280535" cy="1783080"/>
          </a:xfrm>
        </p:grpSpPr>
        <p:sp>
          <p:nvSpPr>
            <p:cNvPr id="37" name="Freeform 37"/>
            <p:cNvSpPr/>
            <p:nvPr/>
          </p:nvSpPr>
          <p:spPr>
            <a:xfrm>
              <a:off x="9169718" y="2065972"/>
              <a:ext cx="9525" cy="208598"/>
            </a:xfrm>
            <a:custGeom>
              <a:avLst/>
              <a:gdLst/>
              <a:ahLst/>
              <a:cxnLst/>
              <a:rect l="l" t="t" r="r" b="b"/>
              <a:pathLst>
                <a:path w="9525" h="208598">
                  <a:moveTo>
                    <a:pt x="0" y="0"/>
                  </a:moveTo>
                  <a:lnTo>
                    <a:pt x="0" y="20859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117330" y="22745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9169718" y="2764155"/>
              <a:ext cx="9525" cy="208598"/>
            </a:xfrm>
            <a:custGeom>
              <a:avLst/>
              <a:gdLst/>
              <a:ahLst/>
              <a:cxnLst/>
              <a:rect l="l" t="t" r="r" b="b"/>
              <a:pathLst>
                <a:path w="9525" h="208598">
                  <a:moveTo>
                    <a:pt x="0" y="0"/>
                  </a:moveTo>
                  <a:lnTo>
                    <a:pt x="0" y="20859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117330" y="29727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029450" y="1680210"/>
              <a:ext cx="4280535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029450" y="2379345"/>
              <a:ext cx="4280535" cy="385762"/>
            </a:xfrm>
            <a:prstGeom prst="roundRect">
              <a:avLst>
                <a:gd name="adj" fmla="val 24691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029450" y="3077528"/>
              <a:ext cx="4280535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652667" y="1794986"/>
              <a:ext cx="30341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DataOutputStream：int、double 拆成字节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44968" y="2493169"/>
              <a:ext cx="26494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BufferedOutputStream：攒进缓冲区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05614" y="3191351"/>
              <a:ext cx="25282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FileOutputStream：写进 temp.dat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6680835" y="3789045"/>
            <a:ext cx="4977765" cy="2543175"/>
            <a:chOff x="6680835" y="3789045"/>
            <a:chExt cx="4977765" cy="2543175"/>
          </a:xfrm>
        </p:grpSpPr>
        <p:sp>
          <p:nvSpPr>
            <p:cNvPr id="48" name="Rectangle 48"/>
            <p:cNvSpPr/>
            <p:nvPr/>
          </p:nvSpPr>
          <p:spPr>
            <a:xfrm>
              <a:off x="6680835" y="3789045"/>
              <a:ext cx="4977765" cy="2543175"/>
            </a:xfrm>
            <a:prstGeom prst="roundRect">
              <a:avLst>
                <a:gd name="adj" fmla="val 52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690360" y="3922395"/>
              <a:ext cx="47625" cy="22764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905625" y="39757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998297" y="40085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72172" y="4010977"/>
              <a:ext cx="16384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46～47 页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98767" y="4336732"/>
              <a:ext cx="409422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写有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BufferedInputStream(String filename, int</a:t>
              </a:r>
              <a:br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bufferSize)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：没有这个构造方法，第一个参数必须是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流，javac 报「不兼容的类型: String无法转换为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InputStream」。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98767" y="5409248"/>
              <a:ext cx="43342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「缓冲区默认大小 512 字节」：JDK 文档与源码给的默认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值都是 8192 字节，JDK 21 实测也是 8192。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16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128" y="407194"/>
              <a:ext cx="2021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8.2 流与相关类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对象流：连同对象一起写进文件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uml-1"/>
          <p:cNvGrpSpPr/>
          <p:nvPr/>
        </p:nvGrpSpPr>
        <p:grpSpPr>
          <a:xfrm>
            <a:off x="686752" y="1735455"/>
            <a:ext cx="4818698" cy="2635568"/>
            <a:chOff x="686752" y="1735455"/>
            <a:chExt cx="4818698" cy="2635568"/>
          </a:xfrm>
        </p:grpSpPr>
        <p:sp>
          <p:nvSpPr>
            <p:cNvPr id="7" name="Freeform 7"/>
            <p:cNvSpPr/>
            <p:nvPr/>
          </p:nvSpPr>
          <p:spPr>
            <a:xfrm>
              <a:off x="1790700" y="2379345"/>
              <a:ext cx="95250" cy="1371600"/>
            </a:xfrm>
            <a:custGeom>
              <a:avLst/>
              <a:gdLst/>
              <a:ahLst/>
              <a:cxnLst/>
              <a:rect l="l" t="t" r="r" b="b"/>
              <a:pathLst>
                <a:path w="95250" h="1371600">
                  <a:moveTo>
                    <a:pt x="0" y="1371600"/>
                  </a:moveTo>
                  <a:lnTo>
                    <a:pt x="0" y="622935"/>
                  </a:lnTo>
                  <a:lnTo>
                    <a:pt x="95250" y="622935"/>
                  </a:lnTo>
                  <a:lnTo>
                    <a:pt x="952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812608" y="225361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4591050" y="2453640"/>
              <a:ext cx="9525" cy="208597"/>
            </a:xfrm>
            <a:custGeom>
              <a:avLst/>
              <a:gdLst/>
              <a:ahLst/>
              <a:cxnLst/>
              <a:rect l="l" t="t" r="r" b="b"/>
              <a:pathLst>
                <a:path w="9525" h="208597">
                  <a:moveTo>
                    <a:pt x="0" y="208597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517708" y="232791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981200" y="3555682"/>
              <a:ext cx="2609850" cy="195262"/>
            </a:xfrm>
            <a:custGeom>
              <a:avLst/>
              <a:gdLst/>
              <a:ahLst/>
              <a:cxnLst/>
              <a:rect l="l" t="t" r="r" b="b"/>
              <a:pathLst>
                <a:path w="2609850" h="195262">
                  <a:moveTo>
                    <a:pt x="0" y="195262"/>
                  </a:moveTo>
                  <a:lnTo>
                    <a:pt x="0" y="35242"/>
                  </a:lnTo>
                  <a:lnTo>
                    <a:pt x="2609850" y="35242"/>
                  </a:lnTo>
                  <a:lnTo>
                    <a:pt x="26098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4517708" y="342995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085148" y="4060508"/>
              <a:ext cx="465773" cy="9525"/>
            </a:xfrm>
            <a:custGeom>
              <a:avLst/>
              <a:gdLst/>
              <a:ahLst/>
              <a:cxnLst/>
              <a:rect l="l" t="t" r="r" b="b"/>
              <a:pathLst>
                <a:path w="465773" h="9525">
                  <a:moveTo>
                    <a:pt x="0" y="0"/>
                  </a:moveTo>
                  <a:lnTo>
                    <a:pt x="465773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3550920" y="3987165"/>
              <a:ext cx="125730" cy="146685"/>
            </a:xfrm>
            <a:custGeom>
              <a:avLst/>
              <a:gdLst/>
              <a:ahLst/>
              <a:cxnLst/>
              <a:rect l="l" t="t" r="r" b="b"/>
              <a:pathLst>
                <a:path w="125730" h="146685">
                  <a:moveTo>
                    <a:pt x="125730" y="73342"/>
                  </a:moveTo>
                  <a:lnTo>
                    <a:pt x="0" y="1466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314450" y="1809750"/>
              <a:ext cx="1143000" cy="44386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A1343C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322070" y="1816418"/>
              <a:ext cx="1128712" cy="245745"/>
            </a:xfrm>
            <a:prstGeom prst="rect">
              <a:avLst/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314450" y="2058352"/>
              <a:ext cx="1143000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314450" y="2153602"/>
              <a:ext cx="1143000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86752" y="3750945"/>
              <a:ext cx="2399348" cy="62007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A1343C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93420" y="3758565"/>
              <a:ext cx="2385060" cy="245745"/>
            </a:xfrm>
            <a:prstGeom prst="rect">
              <a:avLst/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86752" y="3999548"/>
              <a:ext cx="2399348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86752" y="4094798"/>
              <a:ext cx="2399348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019550" y="1735455"/>
              <a:ext cx="1143000" cy="59245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A1343C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027170" y="1742122"/>
              <a:ext cx="1128712" cy="394335"/>
            </a:xfrm>
            <a:prstGeom prst="rect">
              <a:avLst/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019550" y="2132648"/>
              <a:ext cx="1143000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019550" y="2227898"/>
              <a:ext cx="1143000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851910" y="2662238"/>
              <a:ext cx="1478280" cy="7686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A1343C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859530" y="2668905"/>
              <a:ext cx="1463992" cy="394335"/>
            </a:xfrm>
            <a:prstGeom prst="rect">
              <a:avLst/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851910" y="3059430"/>
              <a:ext cx="1478280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851910" y="3154680"/>
              <a:ext cx="1478280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676650" y="3764280"/>
              <a:ext cx="1828800" cy="59245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A1343C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684270" y="3771900"/>
              <a:ext cx="1814512" cy="394335"/>
            </a:xfrm>
            <a:prstGeom prst="rect">
              <a:avLst/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676650" y="4161472"/>
              <a:ext cx="1828800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676650" y="4256722"/>
              <a:ext cx="1828800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430778" y="1869757"/>
              <a:ext cx="9103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i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InputStream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87323" y="3810952"/>
              <a:ext cx="13972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ObjectInputStream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8000" y="4165759"/>
              <a:ext cx="24136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+ObjectInputStream(InputStream in)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34929" y="1792605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232545" y="1944052"/>
              <a:ext cx="7170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DataInput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34929" y="2719388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154621" y="2870835"/>
              <a:ext cx="8728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ObjectInput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923157" y="3225641"/>
              <a:ext cx="14248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readObject(): Object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34929" y="3821430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710447" y="3972878"/>
              <a:ext cx="17612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ObjectStreamConstants</a:t>
              </a:r>
            </a:p>
          </p:txBody>
        </p:sp>
      </p:grpSp>
      <p:grpSp>
        <p:nvGrpSpPr>
          <p:cNvPr id="52" name="c1-card-2"/>
          <p:cNvGrpSpPr/>
          <p:nvPr/>
        </p:nvGrpSpPr>
        <p:grpSpPr>
          <a:xfrm>
            <a:off x="533400" y="4748212"/>
            <a:ext cx="5410200" cy="1592580"/>
            <a:chOff x="533400" y="4748212"/>
            <a:chExt cx="5410200" cy="1592580"/>
          </a:xfrm>
        </p:grpSpPr>
        <p:sp>
          <p:nvSpPr>
            <p:cNvPr id="46" name="Rectangle 46"/>
            <p:cNvSpPr/>
            <p:nvPr/>
          </p:nvSpPr>
          <p:spPr>
            <a:xfrm>
              <a:off x="533400" y="4748212"/>
              <a:ext cx="5410200" cy="1592580"/>
            </a:xfrm>
            <a:prstGeom prst="roundRect">
              <a:avLst>
                <a:gd name="adj" fmla="val 83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542925" y="4881562"/>
              <a:ext cx="47625" cy="132588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69620" y="494633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61060" y="498062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352931" y="4982051"/>
              <a:ext cx="13115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50 页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2381" y="5324951"/>
              <a:ext cx="417131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「OjbectInputStream」「Public」拼写有误，应为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ObjectInputStream、public。</a:t>
              </a:r>
            </a:p>
          </p:txBody>
        </p:sp>
      </p:grpSp>
      <p:grpSp>
        <p:nvGrpSpPr>
          <p:cNvPr id="59" name="c2-bullets-1"/>
          <p:cNvGrpSpPr/>
          <p:nvPr/>
        </p:nvGrpSpPr>
        <p:grpSpPr>
          <a:xfrm>
            <a:off x="6248400" y="1547336"/>
            <a:ext cx="4956556" cy="1203580"/>
            <a:chOff x="6248400" y="1547336"/>
            <a:chExt cx="4956556" cy="1203580"/>
          </a:xfrm>
        </p:grpSpPr>
        <p:sp>
          <p:nvSpPr>
            <p:cNvPr id="53" name="Freeform 53"/>
            <p:cNvSpPr/>
            <p:nvPr/>
          </p:nvSpPr>
          <p:spPr>
            <a:xfrm>
              <a:off x="6248400" y="1577340"/>
              <a:ext cx="137160" cy="111443"/>
            </a:xfrm>
            <a:custGeom>
              <a:avLst/>
              <a:gdLst/>
              <a:ahLst/>
              <a:cxnLst/>
              <a:rect l="l" t="t" r="r" b="b"/>
              <a:pathLst>
                <a:path w="137160" h="111443">
                  <a:moveTo>
                    <a:pt x="0" y="59055"/>
                  </a:moveTo>
                  <a:lnTo>
                    <a:pt x="52388" y="111443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492621" y="1547336"/>
              <a:ext cx="471233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DataInputStream 能处理的，ObjectInputStream 都能处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理：它实现了 DataInput 的子接口 ObjectInput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6248400" y="2175510"/>
              <a:ext cx="137160" cy="111442"/>
            </a:xfrm>
            <a:custGeom>
              <a:avLst/>
              <a:gdLst/>
              <a:ahLst/>
              <a:cxnLst/>
              <a:rect l="l" t="t" r="r" b="b"/>
              <a:pathLst>
                <a:path w="137160" h="111442">
                  <a:moveTo>
                    <a:pt x="0" y="59055"/>
                  </a:moveTo>
                  <a:lnTo>
                    <a:pt x="52388" y="111442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92621" y="2145506"/>
              <a:ext cx="39200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可以包装任何 InputStream、OutputStream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6248400" y="2502218"/>
              <a:ext cx="137160" cy="111442"/>
            </a:xfrm>
            <a:custGeom>
              <a:avLst/>
              <a:gdLst/>
              <a:ahLst/>
              <a:cxnLst/>
              <a:rect l="l" t="t" r="r" b="b"/>
              <a:pathLst>
                <a:path w="137160" h="111442">
                  <a:moveTo>
                    <a:pt x="0" y="59055"/>
                  </a:moveTo>
                  <a:lnTo>
                    <a:pt x="52388" y="111442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92621" y="2472214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一个对象流里可以混着写基本类型和对象</a:t>
              </a:r>
            </a:p>
          </p:txBody>
        </p:sp>
      </p:grpSp>
      <p:grpSp>
        <p:nvGrpSpPr>
          <p:cNvPr id="63" name="c2-code-2"/>
          <p:cNvGrpSpPr/>
          <p:nvPr/>
        </p:nvGrpSpPr>
        <p:grpSpPr>
          <a:xfrm>
            <a:off x="6248400" y="2875598"/>
            <a:ext cx="5410200" cy="838200"/>
            <a:chOff x="6248400" y="2875598"/>
            <a:chExt cx="5410200" cy="838200"/>
          </a:xfrm>
        </p:grpSpPr>
        <p:sp>
          <p:nvSpPr>
            <p:cNvPr id="60" name="Rectangle 60"/>
            <p:cNvSpPr/>
            <p:nvPr/>
          </p:nvSpPr>
          <p:spPr>
            <a:xfrm>
              <a:off x="6248400" y="2875598"/>
              <a:ext cx="5410200" cy="838200"/>
            </a:xfrm>
            <a:prstGeom prst="roundRect">
              <a:avLst>
                <a:gd name="adj" fmla="val 113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76797" y="3027521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376988" y="3287363"/>
              <a:ext cx="2772791" cy="3448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ObjectInputStream(InputStream in)</a:t>
              </a:r>
              <a:br/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ObjectOutputStream(OutputStream out)</a:t>
              </a:r>
            </a:p>
          </p:txBody>
        </p:sp>
      </p:grpSp>
      <p:grpSp>
        <p:nvGrpSpPr>
          <p:cNvPr id="75" name="c2-card-3"/>
          <p:cNvGrpSpPr/>
          <p:nvPr/>
        </p:nvGrpSpPr>
        <p:grpSpPr>
          <a:xfrm>
            <a:off x="6248400" y="3893820"/>
            <a:ext cx="5410200" cy="2446972"/>
            <a:chOff x="6248400" y="3893820"/>
            <a:chExt cx="5410200" cy="2446972"/>
          </a:xfrm>
        </p:grpSpPr>
        <p:sp>
          <p:nvSpPr>
            <p:cNvPr id="64" name="Rectangle 64"/>
            <p:cNvSpPr/>
            <p:nvPr/>
          </p:nvSpPr>
          <p:spPr>
            <a:xfrm>
              <a:off x="6248400" y="3893820"/>
              <a:ext cx="5410200" cy="2446972"/>
            </a:xfrm>
            <a:prstGeom prst="roundRect">
              <a:avLst>
                <a:gd name="adj" fmla="val 54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257925" y="4027170"/>
              <a:ext cx="47625" cy="218027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484620" y="409194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568059" y="412623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读回规则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34631" y="412670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顺序一致，再强制转换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6492240" y="4530090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648831" y="4470559"/>
              <a:ext cx="449592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ObjectInputStream 读回对象时，必须与写入时的类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型顺序一致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492240" y="5119688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648831" y="5060156"/>
              <a:ext cx="459511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readObject() 返回 Object，要强制转换成原来的类型才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能用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6492240" y="5709285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648831" y="5648801"/>
              <a:ext cx="447789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readObject() 声明抛 ClassNotFoundException，调用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处要处理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16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128" y="407194"/>
              <a:ext cx="2021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8.2 流与相关类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例：写入姓名、成绩和日期对象，再按原顺序读回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410200" cy="2211705"/>
            <a:chOff x="533400" y="1524000"/>
            <a:chExt cx="5410200" cy="22117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11705"/>
            </a:xfrm>
            <a:prstGeom prst="roundRect">
              <a:avLst>
                <a:gd name="adj" fmla="val 43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8620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TestObjectOutputStream.java（第 51 页）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830830"/>
              <a:ext cx="5372100" cy="15430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988" y="1935575"/>
              <a:ext cx="4454779" cy="171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java.io.*;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TestObjectOutputStream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ObjectOutputStream output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ObjectOutputStream(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BufferedOutputStream(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FileOutputStream(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"object.dat"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output.writeUTF(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"John"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output.writeDouble(85.5);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output.writeObject(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java.util.Date());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output.close();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905250"/>
            <a:ext cx="5410200" cy="2364105"/>
            <a:chOff x="533400" y="3905250"/>
            <a:chExt cx="5410200" cy="2364105"/>
          </a:xfrm>
        </p:grpSpPr>
        <p:sp>
          <p:nvSpPr>
            <p:cNvPr id="12" name="Rectangle 12"/>
            <p:cNvSpPr/>
            <p:nvPr/>
          </p:nvSpPr>
          <p:spPr>
            <a:xfrm>
              <a:off x="533400" y="3905250"/>
              <a:ext cx="5410200" cy="2364105"/>
            </a:xfrm>
            <a:prstGeom prst="roundRect">
              <a:avLst>
                <a:gd name="adj" fmla="val 56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42925" y="4038600"/>
              <a:ext cx="47625" cy="20974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58190" y="409194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0862" y="412480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实测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3784" y="412718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顺序读错的后果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1332" y="4452938"/>
              <a:ext cx="36656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只写了 UTF 和 double，却先 readDouble：读出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5.9670396005427E-309 这种垃圾值，不报错。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332" y="5010150"/>
              <a:ext cx="33912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writeUTF 写的数据调用 readObject：抛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OptionalDataException。</a:t>
              </a:r>
            </a:p>
          </p:txBody>
        </p:sp>
      </p:grpSp>
      <p:grpSp>
        <p:nvGrpSpPr>
          <p:cNvPr id="24" name="c2-code-1"/>
          <p:cNvGrpSpPr/>
          <p:nvPr/>
        </p:nvGrpSpPr>
        <p:grpSpPr>
          <a:xfrm>
            <a:off x="6248400" y="1524000"/>
            <a:ext cx="5410200" cy="2521268"/>
            <a:chOff x="6248400" y="1524000"/>
            <a:chExt cx="5410200" cy="2521268"/>
          </a:xfrm>
        </p:grpSpPr>
        <p:sp>
          <p:nvSpPr>
            <p:cNvPr id="20" name="Rectangle 20"/>
            <p:cNvSpPr/>
            <p:nvPr/>
          </p:nvSpPr>
          <p:spPr>
            <a:xfrm>
              <a:off x="6248400" y="1524000"/>
              <a:ext cx="5410200" cy="2521268"/>
            </a:xfrm>
            <a:prstGeom prst="roundRect">
              <a:avLst>
                <a:gd name="adj" fmla="val 37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6797" y="1675924"/>
              <a:ext cx="27230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TestObjectInputStream.java（第 52 页）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67450" y="3140392"/>
              <a:ext cx="5372100" cy="15430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6988" y="1935575"/>
              <a:ext cx="4334637" cy="2019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java.io.*;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TestObjectInputStream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ClassNotFoundException, IOException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ObjectInputStream input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ObjectInputStream(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BufferedInputStream(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FileInputStream(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"object.dat"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 name = input.readUTF();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score = input.readDouble();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java.util.Date date = (java.util.Date) (input.readObject());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System.out.println(name +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score +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date);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input.close();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8" name="c2-code-2"/>
          <p:cNvGrpSpPr/>
          <p:nvPr/>
        </p:nvGrpSpPr>
        <p:grpSpPr>
          <a:xfrm>
            <a:off x="6248400" y="4214812"/>
            <a:ext cx="5410200" cy="681990"/>
            <a:chOff x="6248400" y="4214812"/>
            <a:chExt cx="5410200" cy="681990"/>
          </a:xfrm>
        </p:grpSpPr>
        <p:sp>
          <p:nvSpPr>
            <p:cNvPr id="25" name="Rectangle 25"/>
            <p:cNvSpPr/>
            <p:nvPr/>
          </p:nvSpPr>
          <p:spPr>
            <a:xfrm>
              <a:off x="6248400" y="4214812"/>
              <a:ext cx="5410200" cy="681990"/>
            </a:xfrm>
            <a:prstGeom prst="roundRect">
              <a:avLst>
                <a:gd name="adj" fmla="val 1396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76797" y="4366736"/>
              <a:ext cx="26405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输出（日期是写入时刻，原课件为 2012 年）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76797" y="4627721"/>
              <a:ext cx="28392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John 85.5 Mon Sep 03 10:34:54 CST 2012</a:t>
              </a:r>
            </a:p>
          </p:txBody>
        </p:sp>
      </p:grpSp>
      <p:grpSp>
        <p:nvGrpSpPr>
          <p:cNvPr id="35" name="c2-card-3"/>
          <p:cNvGrpSpPr/>
          <p:nvPr/>
        </p:nvGrpSpPr>
        <p:grpSpPr>
          <a:xfrm>
            <a:off x="6248400" y="5066348"/>
            <a:ext cx="5410200" cy="1202055"/>
            <a:chOff x="6248400" y="5066348"/>
            <a:chExt cx="5410200" cy="1202055"/>
          </a:xfrm>
        </p:grpSpPr>
        <p:sp>
          <p:nvSpPr>
            <p:cNvPr id="29" name="Rectangle 29"/>
            <p:cNvSpPr/>
            <p:nvPr/>
          </p:nvSpPr>
          <p:spPr>
            <a:xfrm>
              <a:off x="6248400" y="5066348"/>
              <a:ext cx="5410200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57925" y="5199698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73190" y="5253038"/>
              <a:ext cx="60864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61458" y="5285899"/>
              <a:ext cx="4330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第 9 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89280" y="528828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强制转换不能省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6332" y="5614035"/>
              <a:ext cx="48057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readObject() 返回 Object，要转回 java.util.Date 才能赋给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date；转错类型运行时抛 ClassCastException。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73293" cy="909257"/>
            <a:chOff x="520446" y="342900"/>
            <a:chExt cx="617329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16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128" y="407194"/>
              <a:ext cx="2021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8.2 流与相关类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7329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Serializable：一个没有方法的标记接口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410200" cy="2493645"/>
            <a:chOff x="533400" y="1524000"/>
            <a:chExt cx="5410200" cy="24936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493645"/>
            </a:xfrm>
            <a:prstGeom prst="roundRect">
              <a:avLst>
                <a:gd name="adj" fmla="val 53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2694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059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可序列化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19631" y="175688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哪些对象能写进对象流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7240" y="2161222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3831" y="210073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并不是每个对象都能写到输出流，能写的对象称为可序列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化的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7240" y="2749868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3831" y="2690336"/>
              <a:ext cx="44363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可序列化对象的类实现了 java.io.Serializable 接口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7240" y="3068002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3831" y="3007519"/>
              <a:ext cx="450494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Serializable 是标记性接口，没有方法（反射实测方法数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0）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7240" y="3656648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3831" y="3597116"/>
              <a:ext cx="46842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实现它就启用了 Java 的序列化机制，由 JVM 自动完成</a:t>
              </a:r>
            </a:p>
          </p:txBody>
        </p:sp>
      </p:grpSp>
      <p:grpSp>
        <p:nvGrpSpPr>
          <p:cNvPr id="39" name="c1-table-2"/>
          <p:cNvGrpSpPr/>
          <p:nvPr/>
        </p:nvGrpSpPr>
        <p:grpSpPr>
          <a:xfrm>
            <a:off x="533400" y="4197668"/>
            <a:ext cx="5410200" cy="2123122"/>
            <a:chOff x="533400" y="4197668"/>
            <a:chExt cx="5410200" cy="2123122"/>
          </a:xfrm>
        </p:grpSpPr>
        <p:sp>
          <p:nvSpPr>
            <p:cNvPr id="21" name="Rectangle 21"/>
            <p:cNvSpPr/>
            <p:nvPr/>
          </p:nvSpPr>
          <p:spPr>
            <a:xfrm>
              <a:off x="533400" y="4197668"/>
              <a:ext cx="5410200" cy="42481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69592" y="432625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10405" y="4326255"/>
              <a:ext cx="15023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实现了 Serializable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5889" y="4751070"/>
              <a:ext cx="26575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java.util.Date、String、Integer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82009" y="475107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50415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5046345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5889" y="5174932"/>
              <a:ext cx="819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ArrayList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82009" y="517493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54663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5889" y="5599748"/>
              <a:ext cx="2355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Swing GUI 组件（如 JButton）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82009" y="559974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8912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5895975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5889" y="6023610"/>
              <a:ext cx="12952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Thread、Object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882009" y="60236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197668"/>
              <a:ext cx="5410200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3774758" y="4197668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2-code-1"/>
          <p:cNvGrpSpPr/>
          <p:nvPr/>
        </p:nvGrpSpPr>
        <p:grpSpPr>
          <a:xfrm>
            <a:off x="6248400" y="1524000"/>
            <a:ext cx="5410200" cy="1664970"/>
            <a:chOff x="6248400" y="1524000"/>
            <a:chExt cx="5410200" cy="1664970"/>
          </a:xfrm>
        </p:grpSpPr>
        <p:sp>
          <p:nvSpPr>
            <p:cNvPr id="40" name="Rectangle 40"/>
            <p:cNvSpPr/>
            <p:nvPr/>
          </p:nvSpPr>
          <p:spPr>
            <a:xfrm>
              <a:off x="6248400" y="1524000"/>
              <a:ext cx="5410200" cy="1664970"/>
            </a:xfrm>
            <a:prstGeom prst="roundRect">
              <a:avLst>
                <a:gd name="adj" fmla="val 572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76797" y="1675924"/>
              <a:ext cx="16875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正例与反例（JDK 21 实测）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67450" y="2727008"/>
              <a:ext cx="5372100" cy="16573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76988" y="1935766"/>
              <a:ext cx="3736721" cy="1173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Point {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 = 1, y = 2; }</a:t>
              </a:r>
              <a:br/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Point2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Serializable {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 = 1, y = 2; }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ObjectOutputStream o = ...;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o.writeObject(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Point2());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正常写出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o.writeObject(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Point()); 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抛异常</a:t>
              </a:r>
              <a:br/>
              <a:r>
                <a:rPr lang="en-US" sz="9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java.io.NotSerializableException: Point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6248400" y="3368992"/>
            <a:ext cx="5410200" cy="2950845"/>
            <a:chOff x="6248400" y="3368992"/>
            <a:chExt cx="5410200" cy="2950845"/>
          </a:xfrm>
        </p:grpSpPr>
        <p:sp>
          <p:nvSpPr>
            <p:cNvPr id="45" name="Rectangle 45"/>
            <p:cNvSpPr/>
            <p:nvPr/>
          </p:nvSpPr>
          <p:spPr>
            <a:xfrm>
              <a:off x="6248400" y="3368992"/>
              <a:ext cx="5410200" cy="2950845"/>
            </a:xfrm>
            <a:prstGeom prst="roundRect">
              <a:avLst>
                <a:gd name="adj" fmla="val 45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7925" y="3502342"/>
              <a:ext cx="47625" cy="268414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84620" y="356711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76060" y="36014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67931" y="3601879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字段也得能序列化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77381" y="3945731"/>
              <a:ext cx="479348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Car 实现了 Serializable，但它有一个 Engine 类型的字段，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而 Engine 没实现：写 Car 时同样抛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NotSerializableException: Engine。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77381" y="4806791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不想写出的字段加 transient，读回时取默认值（见第五部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 Logon 例）。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16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128" y="407194"/>
              <a:ext cx="2021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8.2 流与相关类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例：数组也是对象，可以整个写出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4029075"/>
            <a:chOff x="533400" y="1524000"/>
            <a:chExt cx="6276022" cy="40290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029075"/>
            </a:xfrm>
            <a:prstGeom prst="roundRect">
              <a:avLst>
                <a:gd name="adj" fmla="val 23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3866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TestObjectStreamForArray.java（原课件第 55 页）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194"/>
              <a:ext cx="5357241" cy="3533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java.io.*;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TestObjectStreamForArray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ClassNotFoundException, IOException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numbers = {1, 2, 3, 4, 5};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String[] strings = {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"John"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"Jim"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"Jake"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ObjectOutputStream output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ObjectOutputStream(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FileOutputStream(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"array.dat"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output.writeObject(numbers);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output.writeObject(strings);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output.close();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ObjectInputStream input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ObjectInputStream(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FileInputStream(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"array.dat"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newnumbers = 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[]) (input.readObject());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String[] newstrings = (String[]) (input.readObject());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newnumbers.length; i++)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System.out.print(newnumbers[i] + 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newstrings.length; i++)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System.out.print(newstrings[i] + 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2-code-1"/>
          <p:cNvGrpSpPr/>
          <p:nvPr/>
        </p:nvGrpSpPr>
        <p:grpSpPr>
          <a:xfrm>
            <a:off x="7114222" y="1524000"/>
            <a:ext cx="4544378" cy="882968"/>
            <a:chOff x="7114222" y="1524000"/>
            <a:chExt cx="4544378" cy="882968"/>
          </a:xfrm>
        </p:grpSpPr>
        <p:sp>
          <p:nvSpPr>
            <p:cNvPr id="11" name="Rectangle 11"/>
            <p:cNvSpPr/>
            <p:nvPr/>
          </p:nvSpPr>
          <p:spPr>
            <a:xfrm>
              <a:off x="7114222" y="1524000"/>
              <a:ext cx="4544378" cy="882968"/>
            </a:xfrm>
            <a:prstGeom prst="roundRect">
              <a:avLst>
                <a:gd name="adj" fmla="val 1078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242620" y="16759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42238" y="1937385"/>
              <a:ext cx="964121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1 2 3 4 5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John Jim Jake</a:t>
              </a:r>
            </a:p>
          </p:txBody>
        </p:sp>
      </p:grpSp>
      <p:grpSp>
        <p:nvGrpSpPr>
          <p:cNvPr id="20" name="c2-card-2"/>
          <p:cNvGrpSpPr/>
          <p:nvPr/>
        </p:nvGrpSpPr>
        <p:grpSpPr>
          <a:xfrm>
            <a:off x="7114222" y="2582228"/>
            <a:ext cx="4544378" cy="1226820"/>
            <a:chOff x="7114222" y="2582228"/>
            <a:chExt cx="4544378" cy="1226820"/>
          </a:xfrm>
        </p:grpSpPr>
        <p:sp>
          <p:nvSpPr>
            <p:cNvPr id="15" name="Rectangle 15"/>
            <p:cNvSpPr/>
            <p:nvPr/>
          </p:nvSpPr>
          <p:spPr>
            <a:xfrm>
              <a:off x="7114222" y="2582228"/>
              <a:ext cx="4544378" cy="1226820"/>
            </a:xfrm>
            <a:prstGeom prst="roundRect">
              <a:avLst>
                <a:gd name="adj" fmla="val 1087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306628" y="277463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98068" y="28089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90320" y="2813685"/>
              <a:ext cx="25422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一次 writeObject 写整个数组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99770" y="3148012"/>
              <a:ext cx="38627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元素类型可序列化（int、String）的数组可以整个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写出；读回后强转成 int[]、String[]。</a:t>
              </a:r>
            </a:p>
          </p:txBody>
        </p:sp>
      </p:grpSp>
      <p:grpSp>
        <p:nvGrpSpPr>
          <p:cNvPr id="28" name="c2-card-3"/>
          <p:cNvGrpSpPr/>
          <p:nvPr/>
        </p:nvGrpSpPr>
        <p:grpSpPr>
          <a:xfrm>
            <a:off x="7114222" y="3983355"/>
            <a:ext cx="4544378" cy="2301240"/>
            <a:chOff x="7114222" y="3983355"/>
            <a:chExt cx="4544378" cy="2301240"/>
          </a:xfrm>
        </p:grpSpPr>
        <p:sp>
          <p:nvSpPr>
            <p:cNvPr id="21" name="Rectangle 21"/>
            <p:cNvSpPr/>
            <p:nvPr/>
          </p:nvSpPr>
          <p:spPr>
            <a:xfrm>
              <a:off x="7114222" y="3983355"/>
              <a:ext cx="4544378" cy="2301240"/>
            </a:xfrm>
            <a:prstGeom prst="roundRect">
              <a:avLst>
                <a:gd name="adj" fmla="val 57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123748" y="4116705"/>
              <a:ext cx="47625" cy="20345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344728" y="417576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36168" y="42100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提醒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28420" y="4215765"/>
              <a:ext cx="24876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这里的 append = true 没必要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37870" y="4550092"/>
              <a:ext cx="39570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每运行一次，文件就多一段（实测两次后 214 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节），而读总是从文件开头读，读到的永远是第一次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写入的数组。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37870" y="5367338"/>
              <a:ext cx="389705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每段都带自己的流头，想接着读后一段会抛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StreamCorruptedException: invalid type code: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AC。去掉 true 即可。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9" name="TextBox 29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89375" cy="909257"/>
            <a:chOff x="520446" y="342900"/>
            <a:chExt cx="83893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16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128" y="407194"/>
              <a:ext cx="2021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8.2 流与相关类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893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字符流家族：Reader 与 Writer，以 16 位字符为单位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ree-1"/>
          <p:cNvGrpSpPr/>
          <p:nvPr/>
        </p:nvGrpSpPr>
        <p:grpSpPr>
          <a:xfrm>
            <a:off x="533400" y="1673542"/>
            <a:ext cx="5410200" cy="3341371"/>
            <a:chOff x="533400" y="1673542"/>
            <a:chExt cx="5410200" cy="3341371"/>
          </a:xfrm>
        </p:grpSpPr>
        <p:sp>
          <p:nvSpPr>
            <p:cNvPr id="7" name="Freeform 7"/>
            <p:cNvSpPr/>
            <p:nvPr/>
          </p:nvSpPr>
          <p:spPr>
            <a:xfrm>
              <a:off x="3820478" y="182689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820478" y="304038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820478" y="3647122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633538" y="1826895"/>
              <a:ext cx="419100" cy="1517332"/>
            </a:xfrm>
            <a:custGeom>
              <a:avLst/>
              <a:gdLst/>
              <a:ahLst/>
              <a:cxnLst/>
              <a:rect l="l" t="t" r="r" b="b"/>
              <a:pathLst>
                <a:path w="419100" h="1517332">
                  <a:moveTo>
                    <a:pt x="0" y="1517332"/>
                  </a:moveTo>
                  <a:lnTo>
                    <a:pt x="209550" y="151733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633538" y="2434590"/>
              <a:ext cx="419100" cy="909638"/>
            </a:xfrm>
            <a:custGeom>
              <a:avLst/>
              <a:gdLst/>
              <a:ahLst/>
              <a:cxnLst/>
              <a:rect l="l" t="t" r="r" b="b"/>
              <a:pathLst>
                <a:path w="419100" h="909638">
                  <a:moveTo>
                    <a:pt x="0" y="909638"/>
                  </a:moveTo>
                  <a:lnTo>
                    <a:pt x="209550" y="90963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633538" y="3040380"/>
              <a:ext cx="419100" cy="303848"/>
            </a:xfrm>
            <a:custGeom>
              <a:avLst/>
              <a:gdLst/>
              <a:ahLst/>
              <a:cxnLst/>
              <a:rect l="l" t="t" r="r" b="b"/>
              <a:pathLst>
                <a:path w="419100" h="303848">
                  <a:moveTo>
                    <a:pt x="0" y="303848"/>
                  </a:moveTo>
                  <a:lnTo>
                    <a:pt x="209550" y="30384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633538" y="3344228"/>
              <a:ext cx="419100" cy="302895"/>
            </a:xfrm>
            <a:custGeom>
              <a:avLst/>
              <a:gdLst/>
              <a:ahLst/>
              <a:cxnLst/>
              <a:rect l="l" t="t" r="r" b="b"/>
              <a:pathLst>
                <a:path w="419100" h="302895">
                  <a:moveTo>
                    <a:pt x="0" y="0"/>
                  </a:moveTo>
                  <a:lnTo>
                    <a:pt x="209550" y="0"/>
                  </a:lnTo>
                  <a:lnTo>
                    <a:pt x="209550" y="302895"/>
                  </a:lnTo>
                  <a:lnTo>
                    <a:pt x="419100" y="30289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633538" y="3344228"/>
              <a:ext cx="419100" cy="909638"/>
            </a:xfrm>
            <a:custGeom>
              <a:avLst/>
              <a:gdLst/>
              <a:ahLst/>
              <a:cxnLst/>
              <a:rect l="l" t="t" r="r" b="b"/>
              <a:pathLst>
                <a:path w="419100" h="909638">
                  <a:moveTo>
                    <a:pt x="0" y="0"/>
                  </a:moveTo>
                  <a:lnTo>
                    <a:pt x="209550" y="0"/>
                  </a:lnTo>
                  <a:lnTo>
                    <a:pt x="209550" y="909638"/>
                  </a:lnTo>
                  <a:lnTo>
                    <a:pt x="419100" y="90963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633538" y="3344228"/>
              <a:ext cx="419100" cy="1516380"/>
            </a:xfrm>
            <a:custGeom>
              <a:avLst/>
              <a:gdLst/>
              <a:ahLst/>
              <a:cxnLst/>
              <a:rect l="l" t="t" r="r" b="b"/>
              <a:pathLst>
                <a:path w="419100" h="1516380">
                  <a:moveTo>
                    <a:pt x="0" y="0"/>
                  </a:moveTo>
                  <a:lnTo>
                    <a:pt x="209550" y="0"/>
                  </a:lnTo>
                  <a:lnTo>
                    <a:pt x="209550" y="1516380"/>
                  </a:lnTo>
                  <a:lnTo>
                    <a:pt x="419100" y="151638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239578" y="1673542"/>
              <a:ext cx="1704022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052638" y="1673542"/>
              <a:ext cx="1766888" cy="307658"/>
            </a:xfrm>
            <a:prstGeom prst="roundRect">
              <a:avLst>
                <a:gd name="adj" fmla="val 3096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052638" y="2280285"/>
              <a:ext cx="1766888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239578" y="2887028"/>
              <a:ext cx="1704022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052638" y="2887028"/>
              <a:ext cx="1766888" cy="307658"/>
            </a:xfrm>
            <a:prstGeom prst="roundRect">
              <a:avLst>
                <a:gd name="adj" fmla="val 3096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239578" y="3493770"/>
              <a:ext cx="1704022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052638" y="3493770"/>
              <a:ext cx="1766888" cy="307658"/>
            </a:xfrm>
            <a:prstGeom prst="roundRect">
              <a:avLst>
                <a:gd name="adj" fmla="val 3096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052638" y="4100512"/>
              <a:ext cx="1766888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052638" y="4707255"/>
              <a:ext cx="1766888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189922"/>
              <a:ext cx="1100138" cy="307658"/>
            </a:xfrm>
            <a:prstGeom prst="roundRect">
              <a:avLst>
                <a:gd name="adj" fmla="val 3096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330065" y="1764030"/>
              <a:ext cx="108090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LineNumberReader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43125" y="1764030"/>
              <a:ext cx="9970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BufferedReader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43125" y="2371725"/>
              <a:ext cx="10203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CharArrayReader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30065" y="2977515"/>
              <a:ext cx="6221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FileReader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43125" y="2977515"/>
              <a:ext cx="12044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InputStreamReader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30065" y="3584258"/>
              <a:ext cx="9499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PushbackReader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143125" y="3584258"/>
              <a:ext cx="7928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FilterReader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143125" y="4191000"/>
              <a:ext cx="719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PipedReader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143125" y="4797742"/>
              <a:ext cx="786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StringReader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3888" y="3281362"/>
              <a:ext cx="4332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Reader</a:t>
              </a:r>
            </a:p>
          </p:txBody>
        </p:sp>
      </p:grpSp>
      <p:grpSp>
        <p:nvGrpSpPr>
          <p:cNvPr id="38" name="c1-text-2"/>
          <p:cNvGrpSpPr/>
          <p:nvPr/>
        </p:nvGrpSpPr>
        <p:grpSpPr>
          <a:xfrm>
            <a:off x="527685" y="5358289"/>
            <a:ext cx="4937343" cy="220028"/>
            <a:chOff x="527685" y="5358289"/>
            <a:chExt cx="4937343" cy="220028"/>
          </a:xfrm>
        </p:grpSpPr>
        <p:sp>
          <p:nvSpPr>
            <p:cNvPr id="37" name="TextBox 37"/>
            <p:cNvSpPr txBox="1"/>
            <p:nvPr/>
          </p:nvSpPr>
          <p:spPr>
            <a:xfrm>
              <a:off x="527685" y="5358289"/>
              <a:ext cx="49373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char 是 16 位的 UTF-16 编码单元，所以原课件标注「字符，16 bits」。</a:t>
              </a:r>
            </a:p>
          </p:txBody>
        </p:sp>
      </p:grpSp>
      <p:grpSp>
        <p:nvGrpSpPr>
          <p:cNvPr id="65" name="c2-tree-1"/>
          <p:cNvGrpSpPr/>
          <p:nvPr/>
        </p:nvGrpSpPr>
        <p:grpSpPr>
          <a:xfrm>
            <a:off x="6248400" y="1574482"/>
            <a:ext cx="5409247" cy="2759394"/>
            <a:chOff x="6248400" y="1574482"/>
            <a:chExt cx="5409247" cy="2759394"/>
          </a:xfrm>
        </p:grpSpPr>
        <p:sp>
          <p:nvSpPr>
            <p:cNvPr id="39" name="Freeform 39"/>
            <p:cNvSpPr/>
            <p:nvPr/>
          </p:nvSpPr>
          <p:spPr>
            <a:xfrm>
              <a:off x="9858375" y="254508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453312" y="1727835"/>
              <a:ext cx="419100" cy="1225868"/>
            </a:xfrm>
            <a:custGeom>
              <a:avLst/>
              <a:gdLst/>
              <a:ahLst/>
              <a:cxnLst/>
              <a:rect l="l" t="t" r="r" b="b"/>
              <a:pathLst>
                <a:path w="419100" h="1225868">
                  <a:moveTo>
                    <a:pt x="0" y="1225868"/>
                  </a:moveTo>
                  <a:lnTo>
                    <a:pt x="209550" y="122586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453312" y="2136458"/>
              <a:ext cx="419100" cy="817245"/>
            </a:xfrm>
            <a:custGeom>
              <a:avLst/>
              <a:gdLst/>
              <a:ahLst/>
              <a:cxnLst/>
              <a:rect l="l" t="t" r="r" b="b"/>
              <a:pathLst>
                <a:path w="419100" h="817245">
                  <a:moveTo>
                    <a:pt x="0" y="817245"/>
                  </a:moveTo>
                  <a:lnTo>
                    <a:pt x="209550" y="81724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7453312" y="2545080"/>
              <a:ext cx="419100" cy="408623"/>
            </a:xfrm>
            <a:custGeom>
              <a:avLst/>
              <a:gdLst/>
              <a:ahLst/>
              <a:cxnLst/>
              <a:rect l="l" t="t" r="r" b="b"/>
              <a:pathLst>
                <a:path w="419100" h="408623">
                  <a:moveTo>
                    <a:pt x="0" y="408623"/>
                  </a:moveTo>
                  <a:lnTo>
                    <a:pt x="209550" y="408623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7453312" y="2953702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453312" y="2953702"/>
              <a:ext cx="419100" cy="408622"/>
            </a:xfrm>
            <a:custGeom>
              <a:avLst/>
              <a:gdLst/>
              <a:ahLst/>
              <a:cxnLst/>
              <a:rect l="l" t="t" r="r" b="b"/>
              <a:pathLst>
                <a:path w="419100" h="408622">
                  <a:moveTo>
                    <a:pt x="0" y="0"/>
                  </a:moveTo>
                  <a:lnTo>
                    <a:pt x="209550" y="0"/>
                  </a:lnTo>
                  <a:lnTo>
                    <a:pt x="209550" y="408622"/>
                  </a:lnTo>
                  <a:lnTo>
                    <a:pt x="419100" y="40862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7453312" y="2953702"/>
              <a:ext cx="419100" cy="817245"/>
            </a:xfrm>
            <a:custGeom>
              <a:avLst/>
              <a:gdLst/>
              <a:ahLst/>
              <a:cxnLst/>
              <a:rect l="l" t="t" r="r" b="b"/>
              <a:pathLst>
                <a:path w="419100" h="817245">
                  <a:moveTo>
                    <a:pt x="0" y="0"/>
                  </a:moveTo>
                  <a:lnTo>
                    <a:pt x="209550" y="0"/>
                  </a:lnTo>
                  <a:lnTo>
                    <a:pt x="209550" y="817245"/>
                  </a:lnTo>
                  <a:lnTo>
                    <a:pt x="419100" y="81724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7453312" y="2953702"/>
              <a:ext cx="419100" cy="1225868"/>
            </a:xfrm>
            <a:custGeom>
              <a:avLst/>
              <a:gdLst/>
              <a:ahLst/>
              <a:cxnLst/>
              <a:rect l="l" t="t" r="r" b="b"/>
              <a:pathLst>
                <a:path w="419100" h="1225868">
                  <a:moveTo>
                    <a:pt x="0" y="0"/>
                  </a:moveTo>
                  <a:lnTo>
                    <a:pt x="209550" y="0"/>
                  </a:lnTo>
                  <a:lnTo>
                    <a:pt x="209550" y="1225868"/>
                  </a:lnTo>
                  <a:lnTo>
                    <a:pt x="419100" y="122586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872412" y="1574482"/>
              <a:ext cx="1986915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872412" y="1983105"/>
              <a:ext cx="1986915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277475" y="2391728"/>
              <a:ext cx="1380172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872412" y="2391728"/>
              <a:ext cx="1986915" cy="307658"/>
            </a:xfrm>
            <a:prstGeom prst="roundRect">
              <a:avLst>
                <a:gd name="adj" fmla="val 3096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872412" y="2800350"/>
              <a:ext cx="1986915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872412" y="3208972"/>
              <a:ext cx="1986915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872412" y="3617595"/>
              <a:ext cx="1986915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872412" y="4026218"/>
              <a:ext cx="1986915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48400" y="2800350"/>
              <a:ext cx="1204912" cy="307658"/>
            </a:xfrm>
            <a:prstGeom prst="roundRect">
              <a:avLst>
                <a:gd name="adj" fmla="val 3096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962900" y="1664970"/>
              <a:ext cx="9438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BufferedWriter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962900" y="2073593"/>
              <a:ext cx="10142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CharArrayWriter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367962" y="2483168"/>
              <a:ext cx="6160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FileWriter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62900" y="2483168"/>
              <a:ext cx="13257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OutputStreamWriter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962900" y="2890838"/>
              <a:ext cx="7494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FilterWriter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962900" y="3299460"/>
              <a:ext cx="7133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PipedWriter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962900" y="3708082"/>
              <a:ext cx="7800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StringWriter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962900" y="4116705"/>
              <a:ext cx="7133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PrintWriter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338888" y="2890838"/>
              <a:ext cx="42687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Writer</a:t>
              </a:r>
            </a:p>
          </p:txBody>
        </p:sp>
      </p:grpSp>
      <p:grpSp>
        <p:nvGrpSpPr>
          <p:cNvPr id="72" name="c2-card-2"/>
          <p:cNvGrpSpPr/>
          <p:nvPr/>
        </p:nvGrpSpPr>
        <p:grpSpPr>
          <a:xfrm>
            <a:off x="6248400" y="4559618"/>
            <a:ext cx="5410200" cy="1741170"/>
            <a:chOff x="6248400" y="4559618"/>
            <a:chExt cx="5410200" cy="1741170"/>
          </a:xfrm>
        </p:grpSpPr>
        <p:sp>
          <p:nvSpPr>
            <p:cNvPr id="66" name="Rectangle 66"/>
            <p:cNvSpPr/>
            <p:nvPr/>
          </p:nvSpPr>
          <p:spPr>
            <a:xfrm>
              <a:off x="6248400" y="4559618"/>
              <a:ext cx="5410200" cy="1741170"/>
            </a:xfrm>
            <a:prstGeom prst="roundRect">
              <a:avLst>
                <a:gd name="adj" fmla="val 76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257925" y="4692968"/>
              <a:ext cx="47625" cy="14744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78905" y="475202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570345" y="478631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062597" y="4792028"/>
              <a:ext cx="12468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56 页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472047" y="5125402"/>
              <a:ext cx="467715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Writer 树里写成「OupustStreamReader」，应为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OutputStreamWriter；FileWriter 是它的子类（反射实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测）。FileReader 同样是 InputStreamReader 的子类：文件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字节流加上解码。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61388" cy="909257"/>
            <a:chOff x="520446" y="342900"/>
            <a:chExt cx="716138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16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128" y="407194"/>
              <a:ext cx="2021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8.2 流与相关类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6138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字节流与字符流一一对应（Java 1.0 与 1.1）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6" name="c1-table-1"/>
          <p:cNvGrpSpPr/>
          <p:nvPr/>
        </p:nvGrpSpPr>
        <p:grpSpPr>
          <a:xfrm>
            <a:off x="533400" y="1524000"/>
            <a:ext cx="5410200" cy="4568190"/>
            <a:chOff x="533400" y="1524000"/>
            <a:chExt cx="5410200" cy="45681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05276" y="1641157"/>
              <a:ext cx="16699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来源与去处：Java 1.0 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99824" y="1641157"/>
              <a:ext cx="12910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相应的 Java 1.1 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116455"/>
              <a:ext cx="9103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InputStream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41763" y="2023110"/>
              <a:ext cx="138417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Reader（适配器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InputStreamReader）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688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73642"/>
              <a:ext cx="5410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684145"/>
              <a:ext cx="10593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OutputStream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41763" y="2590800"/>
              <a:ext cx="151085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Writer（适配器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OutputStreamWriter）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365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3158490"/>
              <a:ext cx="11664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FileInputStream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41763" y="3158490"/>
              <a:ext cx="7254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FileReader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4185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42328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540443"/>
              <a:ext cx="13156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FileOutputStream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41763" y="3540443"/>
              <a:ext cx="7182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FileWriter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995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921443"/>
              <a:ext cx="25684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StringBufferInputStream（已过时）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41763" y="3921443"/>
              <a:ext cx="9167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StringReader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1805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18528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8078" y="430339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（无相应的类）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41763" y="4303395"/>
              <a:ext cx="909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StringWriter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5624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8078" y="4684395"/>
              <a:ext cx="16542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ByteArrayInputStream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41763" y="4684395"/>
              <a:ext cx="11900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CharArrayReader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9434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94823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078" y="5065395"/>
              <a:ext cx="18033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ByteArrayOutputStream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441763" y="5065395"/>
              <a:ext cx="1182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CharArrayWriter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53254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8078" y="5447348"/>
              <a:ext cx="12856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PipedInputStream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441763" y="5447348"/>
              <a:ext cx="8389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PipedReader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57064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5711190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8078" y="5828348"/>
              <a:ext cx="14347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PipedOutputStream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441763" y="5828348"/>
              <a:ext cx="8318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PipedWriter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1524000"/>
              <a:ext cx="5410200" cy="45681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3342322" y="1524000"/>
              <a:ext cx="9525" cy="45681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3" name="c2-table-1"/>
          <p:cNvGrpSpPr/>
          <p:nvPr/>
        </p:nvGrpSpPr>
        <p:grpSpPr>
          <a:xfrm>
            <a:off x="6243447" y="1524000"/>
            <a:ext cx="5481063" cy="4450746"/>
            <a:chOff x="6243447" y="1524000"/>
            <a:chExt cx="5481063" cy="4450746"/>
          </a:xfrm>
        </p:grpSpPr>
        <p:sp>
          <p:nvSpPr>
            <p:cNvPr id="47" name="Rectangle 47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53042" y="1641157"/>
              <a:ext cx="13872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过滤器：Java 1.0 类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06239" y="1641157"/>
              <a:ext cx="12910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相应的 Java 1.1 类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43079" y="2023110"/>
              <a:ext cx="13297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FilterInputStream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939594" y="2023110"/>
              <a:ext cx="8810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FilterReader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48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43079" y="2404110"/>
              <a:ext cx="14788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FilterOutputStream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939594" y="2404110"/>
              <a:ext cx="22874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FilterWriter（抽象类，没有子类）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2663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43079" y="2785110"/>
              <a:ext cx="156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BufferedInputStream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939594" y="2785110"/>
              <a:ext cx="24633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BufferedReader（也有 readLine()）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48400" y="3045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248400" y="3049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43079" y="3167062"/>
              <a:ext cx="17170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BufferedOutputStream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939594" y="3167062"/>
              <a:ext cx="11007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BufferedWriter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48400" y="3426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43079" y="3641408"/>
              <a:ext cx="12414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DataInputStream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939594" y="3548062"/>
              <a:ext cx="241763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仍用 DataInputStream；要 readLine()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时用 BufferedReader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248400" y="3993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248400" y="399859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43079" y="4116705"/>
              <a:ext cx="9103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PrintStream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939594" y="4116705"/>
              <a:ext cx="8318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PrintWriter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248400" y="43757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343079" y="4497705"/>
              <a:ext cx="24351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LineNumberInputStream（已过时）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939594" y="4497705"/>
              <a:ext cx="12606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LineNumberReader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248400" y="47567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248400" y="4761548"/>
              <a:ext cx="5410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343079" y="4972050"/>
              <a:ext cx="12368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StreamTokenizer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939594" y="4878705"/>
              <a:ext cx="242430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StreamTokenizer（用接受 Reader 的构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造器）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248400" y="53254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343079" y="5447348"/>
              <a:ext cx="156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PushbackInputStream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939594" y="5447348"/>
              <a:ext cx="11078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PushbackReader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248400" y="1524000"/>
              <a:ext cx="5410200" cy="41871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8840152" y="1524000"/>
              <a:ext cx="9525" cy="41871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243447" y="5784056"/>
              <a:ext cx="54810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更正：原课件第 58 页写作 PushBackInputStream、PushBackReader，类名里的 b 应小写。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93164" cy="909257"/>
            <a:chOff x="520446" y="342900"/>
            <a:chExt cx="73931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16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128" y="407194"/>
              <a:ext cx="2021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8.2 流与相关类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931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Reader 与 Writer 的方法：把 byte 换成 char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410200" cy="2661285"/>
            <a:chOff x="533400" y="1524000"/>
            <a:chExt cx="5410200" cy="26612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98916" y="1641157"/>
              <a:ext cx="9740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Reader 的方法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4436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116455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 read()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33178" y="2023110"/>
              <a:ext cx="235762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读一个字符，返回 0～65535；到末尾返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 -1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688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7364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590800"/>
              <a:ext cx="16135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 read(char[] cbuf)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33178" y="25908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读一批字符，返回个数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498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971800"/>
              <a:ext cx="2341959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 read(char[] cbuf, int offset,</a:t>
              </a:r>
              <a:br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 length)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33178" y="3065145"/>
              <a:ext cx="25337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cbuf[offset] 起存，最多 length 个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4185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42328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540443"/>
              <a:ext cx="12128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long skip(long n)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33178" y="3540443"/>
              <a:ext cx="879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跳过 n 个字符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995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921443"/>
              <a:ext cx="8789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close()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33178" y="392144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关闭流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410200" cy="26612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233738" y="1524000"/>
              <a:ext cx="9525" cy="2661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1-card-2"/>
          <p:cNvGrpSpPr/>
          <p:nvPr/>
        </p:nvGrpSpPr>
        <p:grpSpPr>
          <a:xfrm>
            <a:off x="533400" y="4350068"/>
            <a:ext cx="5410200" cy="1923098"/>
            <a:chOff x="533400" y="4350068"/>
            <a:chExt cx="5410200" cy="1923098"/>
          </a:xfrm>
        </p:grpSpPr>
        <p:sp>
          <p:nvSpPr>
            <p:cNvPr id="29" name="Rectangle 29"/>
            <p:cNvSpPr/>
            <p:nvPr/>
          </p:nvSpPr>
          <p:spPr>
            <a:xfrm>
              <a:off x="533400" y="4350068"/>
              <a:ext cx="5410200" cy="1923098"/>
            </a:xfrm>
            <a:prstGeom prst="roundRect">
              <a:avLst>
                <a:gd name="adj" fmla="val 6934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14375" y="453104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2996" y="456390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对照记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05128" y="457152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方法名和字节流一样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7898" y="4887754"/>
              <a:ext cx="47353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参数里的 byte[] 换成 char[]，单位从字节换成字符；Writer 多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了两个直接写 String 的方法。全部声明 throws IOException。</a:t>
              </a:r>
            </a:p>
          </p:txBody>
        </p:sp>
      </p:grpSp>
      <p:grpSp>
        <p:nvGrpSpPr>
          <p:cNvPr id="64" name="c2-table-1"/>
          <p:cNvGrpSpPr/>
          <p:nvPr/>
        </p:nvGrpSpPr>
        <p:grpSpPr>
          <a:xfrm>
            <a:off x="6248400" y="1524000"/>
            <a:ext cx="5410200" cy="3424238"/>
            <a:chOff x="6248400" y="1524000"/>
            <a:chExt cx="5410200" cy="3424238"/>
          </a:xfrm>
        </p:grpSpPr>
        <p:sp>
          <p:nvSpPr>
            <p:cNvPr id="35" name="Rectangle 35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26246" y="1641157"/>
              <a:ext cx="9665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Writer 的方法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26795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43079" y="2023110"/>
              <a:ext cx="12425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write(int c)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64396" y="2023110"/>
              <a:ext cx="16644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写一个字符（取低 16 位）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48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43079" y="2404110"/>
              <a:ext cx="17694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write(char[] cbuf)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64396" y="24041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写整个字符数组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2663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43079" y="2785110"/>
              <a:ext cx="248897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write(char[] cbuf, int offset,</a:t>
              </a:r>
              <a:br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 length)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64396" y="287845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写数组的一段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3231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48400" y="323659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57925" y="3246120"/>
              <a:ext cx="290226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43079" y="3353752"/>
              <a:ext cx="16558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write(String str)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264396" y="33537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写整个字符串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3612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43079" y="3734752"/>
              <a:ext cx="2376964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write(String str, int offset,</a:t>
              </a:r>
              <a:br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 length)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64396" y="382809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写字符串的一段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48400" y="41805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48400" y="418528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43079" y="4303395"/>
              <a:ext cx="8789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flush()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264396" y="430339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刷新缓冲区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48400" y="45624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43079" y="4684395"/>
              <a:ext cx="8789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close()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264396" y="468439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先刷新再关闭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248400" y="1524000"/>
              <a:ext cx="5410200" cy="34242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9164955" y="1524000"/>
              <a:ext cx="9525" cy="34242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1" name="c2-card-2"/>
          <p:cNvGrpSpPr/>
          <p:nvPr/>
        </p:nvGrpSpPr>
        <p:grpSpPr>
          <a:xfrm>
            <a:off x="6248400" y="5113020"/>
            <a:ext cx="5410200" cy="1160145"/>
            <a:chOff x="6248400" y="5113020"/>
            <a:chExt cx="5410200" cy="1160145"/>
          </a:xfrm>
        </p:grpSpPr>
        <p:sp>
          <p:nvSpPr>
            <p:cNvPr id="65" name="Rectangle 65"/>
            <p:cNvSpPr/>
            <p:nvPr/>
          </p:nvSpPr>
          <p:spPr>
            <a:xfrm>
              <a:off x="6248400" y="5113020"/>
              <a:ext cx="5410200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257925" y="524637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67475" y="529399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560147" y="532685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033451" y="5333524"/>
              <a:ext cx="1182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60 页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60998" y="5650706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write (char[] cbuff int offset, int length)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在 cbuff 后面少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了逗号。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16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128" y="407194"/>
              <a:ext cx="2021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8.2 流与相关类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字节与字符之间的桥：两个转换流（补充）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flow-1"/>
          <p:cNvGrpSpPr/>
          <p:nvPr/>
        </p:nvGrpSpPr>
        <p:grpSpPr>
          <a:xfrm>
            <a:off x="669608" y="2145982"/>
            <a:ext cx="5571172" cy="603885"/>
            <a:chOff x="669608" y="2145982"/>
            <a:chExt cx="5571172" cy="603885"/>
          </a:xfrm>
        </p:grpSpPr>
        <p:sp>
          <p:nvSpPr>
            <p:cNvPr id="7" name="Freeform 7"/>
            <p:cNvSpPr/>
            <p:nvPr/>
          </p:nvSpPr>
          <p:spPr>
            <a:xfrm>
              <a:off x="2345055" y="2447925"/>
              <a:ext cx="167640" cy="9525"/>
            </a:xfrm>
            <a:custGeom>
              <a:avLst/>
              <a:gdLst/>
              <a:ahLst/>
              <a:cxnLst/>
              <a:rect l="l" t="t" r="r" b="b"/>
              <a:pathLst>
                <a:path w="167640" h="9525">
                  <a:moveTo>
                    <a:pt x="0" y="0"/>
                  </a:moveTo>
                  <a:lnTo>
                    <a:pt x="1676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512695" y="23955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291965" y="2447925"/>
              <a:ext cx="168592" cy="9525"/>
            </a:xfrm>
            <a:custGeom>
              <a:avLst/>
              <a:gdLst/>
              <a:ahLst/>
              <a:cxnLst/>
              <a:rect l="l" t="t" r="r" b="b"/>
              <a:pathLst>
                <a:path w="168592" h="9525">
                  <a:moveTo>
                    <a:pt x="0" y="0"/>
                  </a:moveTo>
                  <a:lnTo>
                    <a:pt x="16859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460558" y="23955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669608" y="2145982"/>
              <a:ext cx="1675447" cy="603885"/>
            </a:xfrm>
            <a:custGeom>
              <a:avLst/>
              <a:gdLst/>
              <a:ahLst/>
              <a:cxnLst/>
              <a:rect l="l" t="t" r="r" b="b"/>
              <a:pathLst>
                <a:path w="1675447" h="603885">
                  <a:moveTo>
                    <a:pt x="133350" y="0"/>
                  </a:moveTo>
                  <a:lnTo>
                    <a:pt x="1675447" y="0"/>
                  </a:lnTo>
                  <a:lnTo>
                    <a:pt x="1542097" y="603885"/>
                  </a:lnTo>
                  <a:lnTo>
                    <a:pt x="0" y="603885"/>
                  </a:lnTo>
                  <a:close/>
                </a:path>
              </a:pathLst>
            </a:custGeom>
            <a:solidFill>
              <a:srgbClr val="F7E8E9"/>
            </a:solidFill>
            <a:ln w="13335">
              <a:solidFill>
                <a:srgbClr val="A1343C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617470" y="2145982"/>
              <a:ext cx="1675448" cy="603885"/>
            </a:xfrm>
            <a:prstGeom prst="roundRect">
              <a:avLst>
                <a:gd name="adj" fmla="val 15773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565332" y="2145982"/>
              <a:ext cx="1675448" cy="60388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38809" y="2261235"/>
              <a:ext cx="7360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文件字节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E4 B8 AD 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91422" y="2261235"/>
              <a:ext cx="9265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转换流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按字符集解码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99876" y="2261235"/>
              <a:ext cx="605409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字符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中、文 …</a:t>
              </a:r>
            </a:p>
          </p:txBody>
        </p:sp>
      </p:grpSp>
      <p:grpSp>
        <p:nvGrpSpPr>
          <p:cNvPr id="21" name="c1-code-2"/>
          <p:cNvGrpSpPr/>
          <p:nvPr/>
        </p:nvGrpSpPr>
        <p:grpSpPr>
          <a:xfrm>
            <a:off x="533400" y="3557588"/>
            <a:ext cx="5842635" cy="1701165"/>
            <a:chOff x="533400" y="3557588"/>
            <a:chExt cx="5842635" cy="1701165"/>
          </a:xfrm>
        </p:grpSpPr>
        <p:sp>
          <p:nvSpPr>
            <p:cNvPr id="18" name="Rectangle 18"/>
            <p:cNvSpPr/>
            <p:nvPr/>
          </p:nvSpPr>
          <p:spPr>
            <a:xfrm>
              <a:off x="533400" y="3557588"/>
              <a:ext cx="5842635" cy="1701165"/>
            </a:xfrm>
            <a:prstGeom prst="roundRect">
              <a:avLst>
                <a:gd name="adj" fmla="val 55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1797" y="3709511"/>
              <a:ext cx="19514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显式指定字符集（JDK 21 实测）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1949" y="3968972"/>
              <a:ext cx="4211777" cy="12078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Writer w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OutputStreamWriter(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FileOutputStream(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"zh.txt"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), StandardCharsets.UTF_8);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w.write(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"中文A"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w.close();     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zh.txt 共 7 字节：3 + 3 + 1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Reader r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InputStreamReader(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FileInputStream(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"zh.txt"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), StandardCharsets.UTF_8);</a:t>
              </a:r>
              <a:br/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读出 3 个字符；误用 "GBK" 解码则得到 4 个乱码字符</a:t>
              </a:r>
            </a:p>
          </p:txBody>
        </p:sp>
      </p:grpSp>
      <p:grpSp>
        <p:nvGrpSpPr>
          <p:cNvPr id="37" name="c2-table-1"/>
          <p:cNvGrpSpPr/>
          <p:nvPr/>
        </p:nvGrpSpPr>
        <p:grpSpPr>
          <a:xfrm>
            <a:off x="6680835" y="1524000"/>
            <a:ext cx="4977765" cy="1290638"/>
            <a:chOff x="6680835" y="1524000"/>
            <a:chExt cx="4977765" cy="1290638"/>
          </a:xfrm>
        </p:grpSpPr>
        <p:sp>
          <p:nvSpPr>
            <p:cNvPr id="22" name="Rectangle 22"/>
            <p:cNvSpPr/>
            <p:nvPr/>
          </p:nvSpPr>
          <p:spPr>
            <a:xfrm>
              <a:off x="6680835" y="1524000"/>
              <a:ext cx="4977765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79183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字符集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79002" y="165544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「中」的编码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763440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字节数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86182" y="2085022"/>
              <a:ext cx="5050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UTF-8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79702" y="2085022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E4 B8 AD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69499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680835" y="237934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680835" y="2384108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86182" y="2515552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GBK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79702" y="2515552"/>
              <a:ext cx="438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D6 D0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469499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680835" y="1524000"/>
              <a:ext cx="4977765" cy="1290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169592" y="152400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359390" y="152400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2-card-2"/>
          <p:cNvGrpSpPr/>
          <p:nvPr/>
        </p:nvGrpSpPr>
        <p:grpSpPr>
          <a:xfrm>
            <a:off x="6680835" y="2999422"/>
            <a:ext cx="4977765" cy="2156460"/>
            <a:chOff x="6680835" y="2999422"/>
            <a:chExt cx="4977765" cy="2156460"/>
          </a:xfrm>
        </p:grpSpPr>
        <p:sp>
          <p:nvSpPr>
            <p:cNvPr id="38" name="Rectangle 38"/>
            <p:cNvSpPr/>
            <p:nvPr/>
          </p:nvSpPr>
          <p:spPr>
            <a:xfrm>
              <a:off x="6680835" y="2999422"/>
              <a:ext cx="4977765" cy="2156460"/>
            </a:xfrm>
            <a:prstGeom prst="roundRect">
              <a:avLst>
                <a:gd name="adj" fmla="val 61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690360" y="3132772"/>
              <a:ext cx="47625" cy="188976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922770" y="320325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13931" y="32389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24179" y="324373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两个适配器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15531" y="3595211"/>
              <a:ext cx="427050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InputStreamReader 把字节输入流转成字符输入流，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OutputStreamWriter 把字符输出流接到字节输出流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上。它们是原课件第 57 页表格里标的「适配器」。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15531" y="4458176"/>
              <a:ext cx="432460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System.in、网络连接都只给字节流，要按字符、按行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读就得先经过它们。</a:t>
              </a:r>
            </a:p>
          </p:txBody>
        </p:sp>
      </p:grpSp>
      <p:grpSp>
        <p:nvGrpSpPr>
          <p:cNvPr id="52" name="c2-callout-3"/>
          <p:cNvGrpSpPr/>
          <p:nvPr/>
        </p:nvGrpSpPr>
        <p:grpSpPr>
          <a:xfrm>
            <a:off x="6680835" y="5341620"/>
            <a:ext cx="4977765" cy="1018222"/>
            <a:chOff x="6680835" y="5341620"/>
            <a:chExt cx="4977765" cy="1018222"/>
          </a:xfrm>
        </p:grpSpPr>
        <p:sp>
          <p:nvSpPr>
            <p:cNvPr id="46" name="Rectangle 46"/>
            <p:cNvSpPr/>
            <p:nvPr/>
          </p:nvSpPr>
          <p:spPr>
            <a:xfrm>
              <a:off x="6680835" y="5341620"/>
              <a:ext cx="4977765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885623" y="5751195"/>
              <a:ext cx="200026" cy="200025"/>
              <a:chOff x="6885623" y="5751195"/>
              <a:chExt cx="200026" cy="2000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885623" y="57511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925361" y="57956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960077" y="59067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7187946" y="5488781"/>
              <a:ext cx="4045077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读写中文文件时把字符集写出来最稳：JDK 18 起默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认 UTF-8，更早的 JDK 在中文 Windows 上默认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GBK。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461150" cy="2997517"/>
            <a:chOff x="667512" y="1835468"/>
            <a:chExt cx="546115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6656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8.3 标准 I/O 流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键盘和显示器也是流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45055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System.in 是字节输入流，按行读要先转成字符流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5221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System.setIn、setOut、setErr 能把标准流改接到文件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8793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Scanner 按单词和类型切分输入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85750" cy="909257"/>
            <a:chOff x="520446" y="342900"/>
            <a:chExt cx="868575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9551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809" y="407194"/>
              <a:ext cx="2087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8.3 标准 I/O 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8575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三个标准流：System.in、System.out、System.err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33400" y="1524000"/>
            <a:ext cx="6059805" cy="1910715"/>
            <a:chOff x="533400" y="1524000"/>
            <a:chExt cx="6059805" cy="19107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2481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155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89873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94251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默认连到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6737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5889" y="2183130"/>
              <a:ext cx="8492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System.in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754505" y="1958340"/>
              <a:ext cx="2405062" cy="61912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47469" y="2076450"/>
              <a:ext cx="17495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InputStream（实测为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BufferedInputStream）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71582" y="218313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键盘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80266" y="218313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标准输入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58127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586038"/>
              <a:ext cx="605980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5889" y="2714625"/>
              <a:ext cx="9851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System.out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47469" y="2714625"/>
              <a:ext cx="9914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PrintStream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71582" y="271462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显示器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80266" y="271462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标准输出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0060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5889" y="3139440"/>
              <a:ext cx="9851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System.err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47469" y="3139440"/>
              <a:ext cx="9914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PrintStream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71582" y="313944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显示器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80266" y="313944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标准错误输出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6059805" cy="19107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740218" y="1524000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164330" y="1524000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073015" y="1524000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ard-2"/>
          <p:cNvGrpSpPr/>
          <p:nvPr/>
        </p:nvGrpSpPr>
        <p:grpSpPr>
          <a:xfrm>
            <a:off x="533400" y="3615690"/>
            <a:ext cx="6059805" cy="1540192"/>
            <a:chOff x="533400" y="3615690"/>
            <a:chExt cx="6059805" cy="1540192"/>
          </a:xfrm>
        </p:grpSpPr>
        <p:sp>
          <p:nvSpPr>
            <p:cNvPr id="33" name="Rectangle 33"/>
            <p:cNvSpPr/>
            <p:nvPr/>
          </p:nvSpPr>
          <p:spPr>
            <a:xfrm>
              <a:off x="533400" y="3615690"/>
              <a:ext cx="6059805" cy="1540192"/>
            </a:xfrm>
            <a:prstGeom prst="roundRect">
              <a:avLst>
                <a:gd name="adj" fmla="val 86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2925" y="3749040"/>
              <a:ext cx="47625" cy="127349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9620" y="3813810"/>
              <a:ext cx="888682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49012" y="3848100"/>
              <a:ext cx="7308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out 与 err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65364" y="384857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两个都打到屏幕，为什么要分开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381" y="4192429"/>
              <a:ext cx="52443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命令行里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 Prog &gt; out.txt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只把 System.out 的内容写进文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件，System.err 的出错信息仍然显示在屏幕上，不会混进结果文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件。</a:t>
              </a:r>
            </a:p>
          </p:txBody>
        </p:sp>
      </p:grpSp>
      <p:grpSp>
        <p:nvGrpSpPr>
          <p:cNvPr id="43" name="c1-code-3"/>
          <p:cNvGrpSpPr/>
          <p:nvPr/>
        </p:nvGrpSpPr>
        <p:grpSpPr>
          <a:xfrm>
            <a:off x="533400" y="5335905"/>
            <a:ext cx="6059805" cy="1003935"/>
            <a:chOff x="533400" y="5335905"/>
            <a:chExt cx="6059805" cy="1003935"/>
          </a:xfrm>
        </p:grpSpPr>
        <p:sp>
          <p:nvSpPr>
            <p:cNvPr id="40" name="Rectangle 40"/>
            <p:cNvSpPr/>
            <p:nvPr/>
          </p:nvSpPr>
          <p:spPr>
            <a:xfrm>
              <a:off x="533400" y="5335905"/>
              <a:ext cx="6059805" cy="1003935"/>
            </a:xfrm>
            <a:prstGeom prst="roundRect">
              <a:avLst>
                <a:gd name="adj" fmla="val 948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1797" y="5487829"/>
              <a:ext cx="23794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三个重定向方法（java.lang.System）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1988" y="5747671"/>
              <a:ext cx="2258695" cy="510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setIn(InputStream in)</a:t>
              </a:r>
              <a:br/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setOut(PrintStream out)</a:t>
              </a:r>
              <a:br/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setErr(PrintStream err)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6898005" y="1524000"/>
            <a:ext cx="4760595" cy="2129790"/>
            <a:chOff x="6898005" y="1524000"/>
            <a:chExt cx="4760595" cy="2129790"/>
          </a:xfrm>
        </p:grpSpPr>
        <p:sp>
          <p:nvSpPr>
            <p:cNvPr id="44" name="Rectangle 44"/>
            <p:cNvSpPr/>
            <p:nvPr/>
          </p:nvSpPr>
          <p:spPr>
            <a:xfrm>
              <a:off x="6898005" y="1524000"/>
              <a:ext cx="4760595" cy="2129790"/>
            </a:xfrm>
            <a:prstGeom prst="roundRect">
              <a:avLst>
                <a:gd name="adj" fmla="val 62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907530" y="1657350"/>
              <a:ext cx="47625" cy="186309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134225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225665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17536" y="1756886"/>
              <a:ext cx="18302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System.in 是字节流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26986" y="2100739"/>
              <a:ext cx="399999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System.in 只能 read() 一个个字节，直接读中文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会拆成几个字节。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26986" y="2690336"/>
              <a:ext cx="414426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要按行读字符，先用 InputStreamReader 转成字符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流，再套 BufferedReader 用 readLine()；或者直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接用 Scanner。</a:t>
              </a:r>
            </a:p>
          </p:txBody>
        </p:sp>
      </p:grpSp>
      <p:grpSp>
        <p:nvGrpSpPr>
          <p:cNvPr id="62" name="c2-flow-2"/>
          <p:cNvGrpSpPr/>
          <p:nvPr/>
        </p:nvGrpSpPr>
        <p:grpSpPr>
          <a:xfrm>
            <a:off x="7230428" y="4045268"/>
            <a:ext cx="4094798" cy="2082164"/>
            <a:chOff x="7230428" y="4045268"/>
            <a:chExt cx="4094798" cy="2082164"/>
          </a:xfrm>
        </p:grpSpPr>
        <p:sp>
          <p:nvSpPr>
            <p:cNvPr id="52" name="Freeform 52"/>
            <p:cNvSpPr/>
            <p:nvPr/>
          </p:nvSpPr>
          <p:spPr>
            <a:xfrm>
              <a:off x="9278302" y="4457700"/>
              <a:ext cx="9525" cy="318135"/>
            </a:xfrm>
            <a:custGeom>
              <a:avLst/>
              <a:gdLst/>
              <a:ahLst/>
              <a:cxnLst/>
              <a:rect l="l" t="t" r="r" b="b"/>
              <a:pathLst>
                <a:path w="9525" h="318135">
                  <a:moveTo>
                    <a:pt x="0" y="0"/>
                  </a:moveTo>
                  <a:lnTo>
                    <a:pt x="0" y="31813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9225915" y="477583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9278302" y="5293042"/>
              <a:ext cx="9525" cy="318135"/>
            </a:xfrm>
            <a:custGeom>
              <a:avLst/>
              <a:gdLst/>
              <a:ahLst/>
              <a:cxnLst/>
              <a:rect l="l" t="t" r="r" b="b"/>
              <a:pathLst>
                <a:path w="9525" h="318135">
                  <a:moveTo>
                    <a:pt x="0" y="0"/>
                  </a:moveTo>
                  <a:lnTo>
                    <a:pt x="0" y="31813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9225915" y="56111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7230428" y="4045268"/>
              <a:ext cx="4094798" cy="412433"/>
            </a:xfrm>
            <a:custGeom>
              <a:avLst/>
              <a:gdLst/>
              <a:ahLst/>
              <a:cxnLst/>
              <a:rect l="l" t="t" r="r" b="b"/>
              <a:pathLst>
                <a:path w="4094798" h="412433">
                  <a:moveTo>
                    <a:pt x="133350" y="0"/>
                  </a:moveTo>
                  <a:lnTo>
                    <a:pt x="4094798" y="0"/>
                  </a:lnTo>
                  <a:lnTo>
                    <a:pt x="3961448" y="412433"/>
                  </a:lnTo>
                  <a:lnTo>
                    <a:pt x="0" y="412433"/>
                  </a:lnTo>
                  <a:close/>
                </a:path>
              </a:pathLst>
            </a:custGeom>
            <a:solidFill>
              <a:srgbClr val="F7E8E9"/>
            </a:solidFill>
            <a:ln w="13335">
              <a:solidFill>
                <a:srgbClr val="A1343C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230428" y="4880610"/>
              <a:ext cx="4094798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230428" y="5715952"/>
              <a:ext cx="4094798" cy="411480"/>
            </a:xfrm>
            <a:prstGeom prst="roundRect">
              <a:avLst>
                <a:gd name="adj" fmla="val 23148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631307" y="4167188"/>
              <a:ext cx="12939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System.in：字节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028891" y="5002530"/>
              <a:ext cx="24988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InputStreamReader：字节转字符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870688" y="5837872"/>
              <a:ext cx="28152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BufferedReader：readLine() 按行读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610021" cy="909257"/>
            <a:chOff x="520446" y="342900"/>
            <a:chExt cx="36100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9551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809" y="407194"/>
              <a:ext cx="2087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8.3 标准 I/O 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6100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例：标准 I/O 实现回显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ode-1"/>
          <p:cNvGrpSpPr/>
          <p:nvPr/>
        </p:nvGrpSpPr>
        <p:grpSpPr>
          <a:xfrm>
            <a:off x="533400" y="1524000"/>
            <a:ext cx="6059805" cy="2616518"/>
            <a:chOff x="533400" y="1524000"/>
            <a:chExt cx="6059805" cy="26165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616518"/>
            </a:xfrm>
            <a:prstGeom prst="roundRect">
              <a:avLst>
                <a:gd name="adj" fmla="val 36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8245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Echo.java（原课件第 62 页）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602230"/>
              <a:ext cx="602170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778442"/>
              <a:ext cx="602170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3129915"/>
              <a:ext cx="602170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1935956"/>
              <a:ext cx="4459351" cy="2129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java.io.*;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Echo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BufferedReader stdin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BufferedReader(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InputStreamReader(System.in));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 s;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((s = stdin.readLine()) !=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&amp;&amp; s.length() != 0)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System.out.println(s);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An empty line or Ctrl-Z terminates the program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ode-2"/>
          <p:cNvGrpSpPr/>
          <p:nvPr/>
        </p:nvGrpSpPr>
        <p:grpSpPr>
          <a:xfrm>
            <a:off x="533400" y="4331018"/>
            <a:ext cx="6059805" cy="1110615"/>
            <a:chOff x="533400" y="4331018"/>
            <a:chExt cx="6059805" cy="1110615"/>
          </a:xfrm>
        </p:grpSpPr>
        <p:sp>
          <p:nvSpPr>
            <p:cNvPr id="14" name="Rectangle 14"/>
            <p:cNvSpPr/>
            <p:nvPr/>
          </p:nvSpPr>
          <p:spPr>
            <a:xfrm>
              <a:off x="533400" y="4331018"/>
              <a:ext cx="6059805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797" y="4482941"/>
              <a:ext cx="19514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输入四行，输出（JDK 21 实测）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1035" y="4744879"/>
              <a:ext cx="3432302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输入：hello / Java IO / （空行） / not echoed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输出：hello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Java IO</a:t>
              </a:r>
            </a:p>
          </p:txBody>
        </p:sp>
      </p:grpSp>
      <p:grpSp>
        <p:nvGrpSpPr>
          <p:cNvPr id="31" name="c2-steps-1"/>
          <p:cNvGrpSpPr/>
          <p:nvPr/>
        </p:nvGrpSpPr>
        <p:grpSpPr>
          <a:xfrm>
            <a:off x="6898005" y="1533525"/>
            <a:ext cx="4578985" cy="2347246"/>
            <a:chOff x="6898005" y="1533525"/>
            <a:chExt cx="4578985" cy="2347246"/>
          </a:xfrm>
        </p:grpSpPr>
        <p:sp>
          <p:nvSpPr>
            <p:cNvPr id="18" name="Rectangle 18"/>
            <p:cNvSpPr/>
            <p:nvPr/>
          </p:nvSpPr>
          <p:spPr>
            <a:xfrm>
              <a:off x="7031355" y="167640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898005" y="241935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91629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898005" y="306990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91629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09485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包装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10628" y="1861661"/>
              <a:ext cx="40932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System.in 外套 InputStreamReader 转成字符流，再套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BufferedReader 获得 readLine()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09485" y="245364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10628" y="274653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每读到一行就原样打印一行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09485" y="310419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10628" y="3397091"/>
              <a:ext cx="416636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readLine() 返回 null（输入结束），或读到空行（长度为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0）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898005" y="4060508"/>
            <a:ext cx="4760595" cy="2242185"/>
            <a:chOff x="6898005" y="4060508"/>
            <a:chExt cx="4760595" cy="2242185"/>
          </a:xfrm>
        </p:grpSpPr>
        <p:sp>
          <p:nvSpPr>
            <p:cNvPr id="32" name="Rectangle 32"/>
            <p:cNvSpPr/>
            <p:nvPr/>
          </p:nvSpPr>
          <p:spPr>
            <a:xfrm>
              <a:off x="6898005" y="4060508"/>
              <a:ext cx="4760595" cy="2242185"/>
            </a:xfrm>
            <a:prstGeom prst="roundRect">
              <a:avLst>
                <a:gd name="adj" fmla="val 59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907530" y="4193858"/>
              <a:ext cx="47625" cy="19754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145655" y="427005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35863" y="43057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45730" y="430530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怎样「输入结束」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38035" y="4666298"/>
              <a:ext cx="3949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注释里的 Ctrl-Z 是 Windows 的写法：先按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Ctrl+Z 再回车。Linux、macOS 上按 Ctrl+D。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38035" y="5287328"/>
              <a:ext cx="3958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条件里 null 判断必须写在前面：先写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s.length() 的话，输入结束时 s 为 null，会抛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NullPointerException。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42831" cy="909257"/>
            <a:chOff x="520446" y="342900"/>
            <a:chExt cx="70428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9551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809" y="407194"/>
              <a:ext cx="2087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8.3 标准 I/O 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428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例：把标准 I/O 重定向到文件，实现文件复制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4189095"/>
            <a:chOff x="533400" y="1524000"/>
            <a:chExt cx="6276022" cy="41890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189095"/>
            </a:xfrm>
            <a:prstGeom prst="roundRect">
              <a:avLst>
                <a:gd name="adj" fmla="val 227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002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Redirecting.java（原课件第 63～64 页，已更正）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194"/>
              <a:ext cx="4127881" cy="36937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java.io.*;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Redirecting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PrintStream consoleout = System.out;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InputStream consolein = System.in;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BufferedInputStream in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BufferedInputStream(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FileInputStream(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"Redirecting.java"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PrintStream out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PrintStream(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BufferedOutputStream(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FileOutputStream(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"test.out"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System.setIn(in);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System.setOut(out);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System.setErr(out);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BufferedReader br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BufferedReader(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InputStreamReader(System.in));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 s;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((s = br.readLine()) !=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System.out.println(s);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out.close(); </a:t>
              </a:r>
              <a:r>
                <a:rPr lang="en-US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Remember this!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System.setOut(consoleout);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in.close();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System.setIn(consolein);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8" name="c2-steps-1"/>
          <p:cNvGrpSpPr/>
          <p:nvPr/>
        </p:nvGrpSpPr>
        <p:grpSpPr>
          <a:xfrm>
            <a:off x="7114222" y="1533525"/>
            <a:ext cx="4286632" cy="2695098"/>
            <a:chOff x="7114222" y="1533525"/>
            <a:chExt cx="4286632" cy="2695098"/>
          </a:xfrm>
        </p:grpSpPr>
        <p:sp>
          <p:nvSpPr>
            <p:cNvPr id="11" name="Rectangle 11"/>
            <p:cNvSpPr/>
            <p:nvPr/>
          </p:nvSpPr>
          <p:spPr>
            <a:xfrm>
              <a:off x="7247572" y="1676400"/>
              <a:ext cx="19050" cy="19678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114222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20784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114222" y="212026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07846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114222" y="270700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07846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114222" y="350139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07846" y="3575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26464" y="156495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27608" y="1833086"/>
              <a:ext cx="3716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记下原来的 System.out 和 System.in，最后要换回来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26464" y="21526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27608" y="2419826"/>
              <a:ext cx="32825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setIn、setOut、setErr 把三个标准流接到文件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26464" y="273939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照常读写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27608" y="3006566"/>
              <a:ext cx="387324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readLine、println 的代码不变，内容却从 Redirecting.java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流进了 test.out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26464" y="353282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27608" y="3800951"/>
              <a:ext cx="382346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out.close() 把缓冲区里剩下的数据写出，漏了它 test.out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可能缺尾巴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7114222" y="4396740"/>
            <a:ext cx="4544378" cy="1786890"/>
            <a:chOff x="7114222" y="4396740"/>
            <a:chExt cx="4544378" cy="1786890"/>
          </a:xfrm>
        </p:grpSpPr>
        <p:sp>
          <p:nvSpPr>
            <p:cNvPr id="29" name="Rectangle 29"/>
            <p:cNvSpPr/>
            <p:nvPr/>
          </p:nvSpPr>
          <p:spPr>
            <a:xfrm>
              <a:off x="7114222" y="4396740"/>
              <a:ext cx="4544378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123748" y="4530090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344728" y="458914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436168" y="46234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28420" y="4629150"/>
              <a:ext cx="16384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63～64 页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37870" y="4963478"/>
              <a:ext cx="385419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InputStream consolein = System.in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缺分号；</a:t>
              </a:r>
              <a:br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System.setIn(consloein)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变量名拼错且缺分号。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两处都编译不过，已改。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37870" y="577977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实测 test.out 与源文件逐行相同。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30777" cy="909257"/>
            <a:chOff x="520446" y="342900"/>
            <a:chExt cx="62307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9551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809" y="407194"/>
              <a:ext cx="2087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8.3 标准 I/O 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307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Scanner：按单词、按行、按类型读输入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193982" cy="1858328"/>
            <a:chOff x="533400" y="1524000"/>
            <a:chExt cx="5193982" cy="18583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858328"/>
            </a:xfrm>
            <a:prstGeom prst="roundRect">
              <a:avLst>
                <a:gd name="adj" fmla="val 71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9162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413510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0433" y="1756410"/>
              <a:ext cx="12918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java.util.Scanner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90191" y="1756886"/>
              <a:ext cx="10787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5 加入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用正则表达式把输入切成一个个单词（token），默认分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隔符是空白。正则表达式通常用来检索、替换符合某个模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式（规则）的文本。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381" y="2961799"/>
              <a:ext cx="37701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构造时可以传 System.in、File 或 String。</a:t>
              </a:r>
            </a:p>
          </p:txBody>
        </p:sp>
      </p:grpSp>
      <p:grpSp>
        <p:nvGrpSpPr>
          <p:cNvPr id="36" name="c1-table-2"/>
          <p:cNvGrpSpPr/>
          <p:nvPr/>
        </p:nvGrpSpPr>
        <p:grpSpPr>
          <a:xfrm>
            <a:off x="533400" y="3562350"/>
            <a:ext cx="5193982" cy="2760345"/>
            <a:chOff x="533400" y="3562350"/>
            <a:chExt cx="5193982" cy="2760345"/>
          </a:xfrm>
        </p:grpSpPr>
        <p:sp>
          <p:nvSpPr>
            <p:cNvPr id="15" name="Rectangle 15"/>
            <p:cNvSpPr/>
            <p:nvPr/>
          </p:nvSpPr>
          <p:spPr>
            <a:xfrm>
              <a:off x="533400" y="3562350"/>
              <a:ext cx="5193982" cy="42481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560195" y="369093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57663" y="369093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5889" y="4114800"/>
              <a:ext cx="16148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hasNext() / next()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24759" y="411480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有没有、取下一个单词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40626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4411028"/>
              <a:ext cx="5193982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5889" y="4539615"/>
              <a:ext cx="1252347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hasNextLine() /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nextLine()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24759" y="464629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有没有、取下一整行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504444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889" y="5177790"/>
              <a:ext cx="21022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hasNextInt() / nextInt()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24759" y="517779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下一个是不是整数、取整数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4683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5473065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5889" y="5601652"/>
              <a:ext cx="22206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hasNext(Pattern pattern)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24759" y="560165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下一个单词是否匹配模式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589311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5889" y="6026467"/>
              <a:ext cx="17532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useDelimiter(String)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024759" y="602646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换分隔符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562350"/>
              <a:ext cx="5193982" cy="2760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917508" y="3562350"/>
              <a:ext cx="9525" cy="2760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2-code-1"/>
          <p:cNvGrpSpPr/>
          <p:nvPr/>
        </p:nvGrpSpPr>
        <p:grpSpPr>
          <a:xfrm>
            <a:off x="6032182" y="1524000"/>
            <a:ext cx="5626418" cy="2490788"/>
            <a:chOff x="6032182" y="1524000"/>
            <a:chExt cx="5626418" cy="2490788"/>
          </a:xfrm>
        </p:grpSpPr>
        <p:sp>
          <p:nvSpPr>
            <p:cNvPr id="37" name="Rectangle 37"/>
            <p:cNvSpPr/>
            <p:nvPr/>
          </p:nvSpPr>
          <p:spPr>
            <a:xfrm>
              <a:off x="6032182" y="1524000"/>
              <a:ext cx="5626418" cy="2490788"/>
            </a:xfrm>
            <a:prstGeom prst="roundRect">
              <a:avLst>
                <a:gd name="adj" fmla="val 382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60580" y="1675924"/>
              <a:ext cx="23901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ScannerDemo.java（原课件第 88 页）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51232" y="2892742"/>
              <a:ext cx="5588318" cy="16573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60770" y="1935766"/>
              <a:ext cx="3526409" cy="2002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java.util.Scanner;</a:t>
              </a:r>
              <a:br/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ScannerDemo {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Scanner scan =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Scanner(System.in);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"next方式接收："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(scan.hasNext()) {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String str1 = scan.next();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zh-CN" sz="9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"输入的数据为："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str1);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scan.close();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4" name="c2-table-2"/>
          <p:cNvGrpSpPr/>
          <p:nvPr/>
        </p:nvGrpSpPr>
        <p:grpSpPr>
          <a:xfrm>
            <a:off x="6032182" y="4195762"/>
            <a:ext cx="5626418" cy="1486853"/>
            <a:chOff x="6032182" y="4195762"/>
            <a:chExt cx="5626418" cy="1486853"/>
          </a:xfrm>
        </p:grpSpPr>
        <p:sp>
          <p:nvSpPr>
            <p:cNvPr id="42" name="Rectangle 42"/>
            <p:cNvSpPr/>
            <p:nvPr/>
          </p:nvSpPr>
          <p:spPr>
            <a:xfrm>
              <a:off x="6032182" y="4195762"/>
              <a:ext cx="5626418" cy="42481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29430" y="4323398"/>
              <a:ext cx="19563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键盘输入 java scanner 时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252710" y="43233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134672" y="4748212"/>
              <a:ext cx="22370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7 行用 next()（第 88 页）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85542" y="4748212"/>
              <a:ext cx="14580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输入的数据为：java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032182" y="503967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032182" y="5044440"/>
              <a:ext cx="5626418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134672" y="5173028"/>
              <a:ext cx="2766441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改用 hasNextLine()、nextLine()（第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89 页）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192578" y="5053965"/>
              <a:ext cx="2456498" cy="61912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285542" y="5279708"/>
              <a:ext cx="21284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输入的数据为：java scanner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032182" y="4195762"/>
              <a:ext cx="5626418" cy="1486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9178290" y="4195762"/>
              <a:ext cx="9525" cy="1486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16999" cy="909257"/>
            <a:chOff x="520446" y="342900"/>
            <a:chExt cx="8216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9551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809" y="407194"/>
              <a:ext cx="2087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8.3 标准 I/O 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16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Scanner 读整数，以及 nextInt 后接 nextLine 的坑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2088832"/>
            <a:chOff x="533400" y="1524000"/>
            <a:chExt cx="5626418" cy="20888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2721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读整数（原课件第 90 页，补了 else）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650361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Scanner scan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Scanner(System.in);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"输入整数："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(scan.hasNextInt()) {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判断输入的是否是整数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 = scan.nextInt();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接收整数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"整数数据："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i);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"不是整数："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scan.next());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5" name="c1-table-2"/>
          <p:cNvGrpSpPr/>
          <p:nvPr/>
        </p:nvGrpSpPr>
        <p:grpSpPr>
          <a:xfrm>
            <a:off x="533400" y="3803332"/>
            <a:ext cx="5626418" cy="1795462"/>
            <a:chOff x="533400" y="3803332"/>
            <a:chExt cx="5626418" cy="1795462"/>
          </a:xfrm>
        </p:grpSpPr>
        <p:sp>
          <p:nvSpPr>
            <p:cNvPr id="11" name="Rectangle 11"/>
            <p:cNvSpPr/>
            <p:nvPr/>
          </p:nvSpPr>
          <p:spPr>
            <a:xfrm>
              <a:off x="533400" y="3803332"/>
              <a:ext cx="5626418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98524" y="393811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47372" y="3938111"/>
              <a:ext cx="16872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输出（JDK 21 实测）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223" y="438769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29053" y="4387691"/>
              <a:ext cx="19256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输入整数：整数数据：12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469582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4700588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4836319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12.5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29053" y="4836319"/>
              <a:ext cx="21151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输入整数：不是整数：12.5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514445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5284946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abc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29053" y="5284946"/>
              <a:ext cx="20204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输入整数：不是整数：abc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803332"/>
              <a:ext cx="5626418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216468" y="3803332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27" name="c1-text-3"/>
          <p:cNvGrpSpPr/>
          <p:nvPr/>
        </p:nvGrpSpPr>
        <p:grpSpPr>
          <a:xfrm>
            <a:off x="526923" y="5809774"/>
            <a:ext cx="4708500" cy="249364"/>
            <a:chOff x="526923" y="5809774"/>
            <a:chExt cx="4708500" cy="249364"/>
          </a:xfrm>
        </p:grpSpPr>
        <p:sp>
          <p:nvSpPr>
            <p:cNvPr id="26" name="TextBox 26"/>
            <p:cNvSpPr txBox="1"/>
            <p:nvPr/>
          </p:nvSpPr>
          <p:spPr>
            <a:xfrm>
              <a:off x="526923" y="5809774"/>
              <a:ext cx="47085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原课件没有 else：输入不是整数时程序什么也不打印就结束。</a:t>
              </a:r>
            </a:p>
          </p:txBody>
        </p:sp>
      </p:grpSp>
      <p:grpSp>
        <p:nvGrpSpPr>
          <p:cNvPr id="32" name="c2-code-1"/>
          <p:cNvGrpSpPr/>
          <p:nvPr/>
        </p:nvGrpSpPr>
        <p:grpSpPr>
          <a:xfrm>
            <a:off x="6464618" y="1524000"/>
            <a:ext cx="5193982" cy="1384935"/>
            <a:chOff x="6464618" y="1524000"/>
            <a:chExt cx="5193982" cy="1384935"/>
          </a:xfrm>
        </p:grpSpPr>
        <p:sp>
          <p:nvSpPr>
            <p:cNvPr id="28" name="Rectangle 28"/>
            <p:cNvSpPr/>
            <p:nvPr/>
          </p:nvSpPr>
          <p:spPr>
            <a:xfrm>
              <a:off x="6464618" y="1524000"/>
              <a:ext cx="5193982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93015" y="1675924"/>
              <a:ext cx="22760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反例：输入「20 回车 Tom Lee 回车」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83668" y="2250758"/>
              <a:ext cx="515588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93015" y="1935956"/>
              <a:ext cx="4048633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Scanner sc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Scanner(System.in);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age = sc.nextInt();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String name = sc.nextLine();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"age="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age +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", name=["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name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"]"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输出 age=20, name=[]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464618" y="3099435"/>
            <a:ext cx="5193982" cy="1335405"/>
            <a:chOff x="6464618" y="3099435"/>
            <a:chExt cx="5193982" cy="1335405"/>
          </a:xfrm>
        </p:grpSpPr>
        <p:sp>
          <p:nvSpPr>
            <p:cNvPr id="33" name="Rectangle 33"/>
            <p:cNvSpPr/>
            <p:nvPr/>
          </p:nvSpPr>
          <p:spPr>
            <a:xfrm>
              <a:off x="6464618" y="3099435"/>
              <a:ext cx="5193982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74142" y="3232785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712268" y="33089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03428" y="33447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13295" y="3344228"/>
              <a:ext cx="24642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nextInt 不吃掉行尾的换行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04648" y="3705225"/>
              <a:ext cx="4472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nextInt() 只取走 20，后面的换行符还留在输入里；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紧接着的 nextLine() 读到的是这一行剩下的空串。</a:t>
              </a:r>
            </a:p>
          </p:txBody>
        </p:sp>
      </p:grpSp>
      <p:grpSp>
        <p:nvGrpSpPr>
          <p:cNvPr id="45" name="c2-callout-3"/>
          <p:cNvGrpSpPr/>
          <p:nvPr/>
        </p:nvGrpSpPr>
        <p:grpSpPr>
          <a:xfrm>
            <a:off x="6464618" y="4625340"/>
            <a:ext cx="5193982" cy="1383030"/>
            <a:chOff x="6464618" y="4625340"/>
            <a:chExt cx="5193982" cy="1383030"/>
          </a:xfrm>
        </p:grpSpPr>
        <p:sp>
          <p:nvSpPr>
            <p:cNvPr id="40" name="Rectangle 40"/>
            <p:cNvSpPr/>
            <p:nvPr/>
          </p:nvSpPr>
          <p:spPr>
            <a:xfrm>
              <a:off x="6464618" y="4625340"/>
              <a:ext cx="5193982" cy="1383030"/>
            </a:xfrm>
            <a:prstGeom prst="roundRect">
              <a:avLst>
                <a:gd name="adj" fmla="val 8264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669405" y="5217795"/>
              <a:ext cx="200026" cy="200026"/>
              <a:chOff x="6669405" y="5217795"/>
              <a:chExt cx="200026" cy="20002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669405" y="52177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736080" y="529558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971348" y="5074920"/>
              <a:ext cx="41205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改法：nextInt() 之后先单独调一次 nextLine()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丢掉换行，再读姓名，得到 name=[Tom Lee]。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69628" cy="909257"/>
            <a:chOff x="520446" y="342900"/>
            <a:chExt cx="73696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9551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809" y="407194"/>
              <a:ext cx="2087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8.3 标准 I/O 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696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Scanner 切分字符串：分隔符写法决定切出什么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410200" cy="1522095"/>
            <a:chOff x="533400" y="1524000"/>
            <a:chExt cx="5410200" cy="15220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22095"/>
            </a:xfrm>
            <a:prstGeom prst="roundRect">
              <a:avLst>
                <a:gd name="adj" fmla="val 625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050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91 页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238375"/>
              <a:ext cx="5372100" cy="16954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988" y="1936194"/>
              <a:ext cx="4802632" cy="10310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35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Scanner s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Scanner(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"123 asdf sd 45 789 sdf asdfl,sdf.sdfl,asdf    ......asdfkl    las"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//s.useDelimiter(" |,|\\.");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(s.hasNext())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System.out.println(s.next());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7" name="c1-table-2"/>
          <p:cNvGrpSpPr/>
          <p:nvPr/>
        </p:nvGrpSpPr>
        <p:grpSpPr>
          <a:xfrm>
            <a:off x="533400" y="3236595"/>
            <a:ext cx="5410200" cy="2702242"/>
            <a:chOff x="533400" y="3236595"/>
            <a:chExt cx="5410200" cy="2702242"/>
          </a:xfrm>
        </p:grpSpPr>
        <p:sp>
          <p:nvSpPr>
            <p:cNvPr id="12" name="Rectangle 12"/>
            <p:cNvSpPr/>
            <p:nvPr/>
          </p:nvSpPr>
          <p:spPr>
            <a:xfrm>
              <a:off x="533400" y="3236595"/>
              <a:ext cx="5410200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25690" y="337137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分隔符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93639" y="3371374"/>
              <a:ext cx="22041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切出的单词（JDK 21 实测）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1223" y="404669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默认空白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55698" y="3820001"/>
              <a:ext cx="342671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123 asdf sd 45 789 sdf 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asdfl,sdf.sdfl,asdf ‖ ......asdfkl ‖ las，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 9 个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45824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4587240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1223" y="4835366"/>
              <a:ext cx="7728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 |,|\\."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55698" y="4722971"/>
              <a:ext cx="296341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 10 个是 123 … asdf；接着 9 个空串、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asdfkl、3 个空串、las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52578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5272088"/>
              <a:ext cx="1495425" cy="65627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5511641"/>
              <a:ext cx="763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"[ ,.]+"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55698" y="5398294"/>
              <a:ext cx="332105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123 asdf sd 45 789 sdf asdfl sdf sdfl asdf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asdfkl las，共 12 个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236595"/>
              <a:ext cx="5410200" cy="27022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043112" y="3236595"/>
              <a:ext cx="9525" cy="27022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2-card-1"/>
          <p:cNvGrpSpPr/>
          <p:nvPr/>
        </p:nvGrpSpPr>
        <p:grpSpPr>
          <a:xfrm>
            <a:off x="6248400" y="1524000"/>
            <a:ext cx="5410200" cy="2242185"/>
            <a:chOff x="6248400" y="1524000"/>
            <a:chExt cx="5410200" cy="2242185"/>
          </a:xfrm>
        </p:grpSpPr>
        <p:sp>
          <p:nvSpPr>
            <p:cNvPr id="28" name="Rectangle 28"/>
            <p:cNvSpPr/>
            <p:nvPr/>
          </p:nvSpPr>
          <p:spPr>
            <a:xfrm>
              <a:off x="6248400" y="1524000"/>
              <a:ext cx="5410200" cy="2242185"/>
            </a:xfrm>
            <a:prstGeom prst="roundRect">
              <a:avLst>
                <a:gd name="adj" fmla="val 5947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57950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31407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为什么有空串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7620" y="17687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一次只匹配一个字符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50330" y="2129790"/>
              <a:ext cx="4806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" |,|\\."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表示「空格或逗号或点」，每次只匹配一个字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符。asdf 和 asdfkl 之间有 4 个空格和 6 个点，共 10 个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分隔符，它们之间夹出 9 个空串。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50330" y="3036570"/>
              <a:ext cx="4625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原课件第 91 页右栏 asdf 与 asdfkl、asdfkl 与 las 之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间的大段空白，就是打印出来的这些空串。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6248400" y="3956685"/>
            <a:ext cx="5410200" cy="1981200"/>
            <a:chOff x="6248400" y="3956685"/>
            <a:chExt cx="5410200" cy="1981200"/>
          </a:xfrm>
        </p:grpSpPr>
        <p:sp>
          <p:nvSpPr>
            <p:cNvPr id="35" name="Rectangle 35"/>
            <p:cNvSpPr/>
            <p:nvPr/>
          </p:nvSpPr>
          <p:spPr>
            <a:xfrm>
              <a:off x="6248400" y="3956685"/>
              <a:ext cx="5410200" cy="1981200"/>
            </a:xfrm>
            <a:prstGeom prst="roundRect">
              <a:avLst>
                <a:gd name="adj" fmla="val 67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4090035"/>
              <a:ext cx="47625" cy="17145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96050" y="41662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86258" y="42019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改法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97078" y="4201478"/>
              <a:ext cx="864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加上 + 号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88430" y="4562475"/>
              <a:ext cx="4672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"[ ,.]+"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把连续的多个分隔符当成一个，结果就是干净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12 个单词。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88430" y="5183505"/>
              <a:ext cx="4711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字符串里的 </a:t>
              </a:r>
              <a:r>
                <a:rPr lang="zh-CN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\\.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是正则的 </a:t>
              </a:r>
              <a:r>
                <a:rPr lang="zh-CN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\.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，表示真正的点；不转义的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. 匹配任意字符。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68989" cy="2997517"/>
            <a:chOff x="667512" y="1835468"/>
            <a:chExt cx="5368989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3665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8.4 随机访问文件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不必从头读起，想读哪里就跳到哪里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51297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RandomAccessFile 同时实现 DataInput 与 DataOutput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42171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seek 移动文件指针，getFilePointer 查询位置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压缩流是套在文件流外面的过滤流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41579" cy="909257"/>
            <a:chOff x="520446" y="342900"/>
            <a:chExt cx="72415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93620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179" y="407194"/>
              <a:ext cx="2172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8.4 随机访问文件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415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RandomAccessFile：能跳到文件任意位置读写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bullets-1"/>
          <p:cNvGrpSpPr/>
          <p:nvPr/>
        </p:nvGrpSpPr>
        <p:grpSpPr>
          <a:xfrm>
            <a:off x="542925" y="1545431"/>
            <a:ext cx="5354066" cy="2100072"/>
            <a:chOff x="542925" y="1545431"/>
            <a:chExt cx="5354066" cy="2100072"/>
          </a:xfrm>
        </p:grpSpPr>
        <p:sp>
          <p:nvSpPr>
            <p:cNvPr id="7" name="Ellipse 7"/>
            <p:cNvSpPr/>
            <p:nvPr/>
          </p:nvSpPr>
          <p:spPr>
            <a:xfrm>
              <a:off x="542925" y="1597342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8373" y="1545431"/>
              <a:ext cx="51986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适用于由大小已知的记录组成的文件，可以用 seek() 从一条记录跳到另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42925" y="2133600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8373" y="2080736"/>
              <a:ext cx="488975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不继承 InputStream、OutputStream，直接继承 Object；像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DataInputStream、DataOutputStream 一样实现了 DataInput 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DataOutput 接口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42925" y="2912745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8373" y="2859881"/>
              <a:ext cx="51498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相当于把 DataInputStream 和 DataOutputStream 合在一起用，同一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个对象既能读也能写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42925" y="3448050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8373" y="3396139"/>
              <a:ext cx="39503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java.io 的流类里只有它支持在文件中定位（seek）</a:t>
              </a:r>
            </a:p>
          </p:txBody>
        </p:sp>
      </p:grpSp>
      <p:grpSp>
        <p:nvGrpSpPr>
          <p:cNvPr id="35" name="c1-table-2"/>
          <p:cNvGrpSpPr/>
          <p:nvPr/>
        </p:nvGrpSpPr>
        <p:grpSpPr>
          <a:xfrm>
            <a:off x="533400" y="3759518"/>
            <a:ext cx="5626418" cy="2280285"/>
            <a:chOff x="533400" y="3759518"/>
            <a:chExt cx="5626418" cy="2280285"/>
          </a:xfrm>
        </p:grpSpPr>
        <p:sp>
          <p:nvSpPr>
            <p:cNvPr id="16" name="Rectangle 16"/>
            <p:cNvSpPr/>
            <p:nvPr/>
          </p:nvSpPr>
          <p:spPr>
            <a:xfrm>
              <a:off x="533400" y="3759518"/>
              <a:ext cx="5626418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12891" y="3877628"/>
              <a:ext cx="3668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mode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17000" y="3877628"/>
              <a:ext cx="13841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含义（JDK 21 实测）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8078" y="425862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"r"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52981" y="4258628"/>
              <a:ext cx="43025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只读；文件不存在抛 FileNotFoundException，写入抛 IOException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51770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4522470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531995"/>
              <a:ext cx="110585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4639628"/>
              <a:ext cx="3668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"rw"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52981" y="463962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读写；文件不存在就新建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89966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8078" y="5021580"/>
              <a:ext cx="542734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"rws" /</a:t>
              </a:r>
              <a:br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"rwd"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52981" y="5114925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读写，并且每次写都同步到磁盘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546735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5472112"/>
              <a:ext cx="5626418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8078" y="5589270"/>
              <a:ext cx="5440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其他（如</a:t>
              </a:r>
              <a:br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"w"）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52981" y="5682615"/>
              <a:ext cx="19242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抛 IllegalArgumentException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759518"/>
              <a:ext cx="5626418" cy="22802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653540" y="3759518"/>
              <a:ext cx="9525" cy="2280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2-uml-1"/>
          <p:cNvGrpSpPr/>
          <p:nvPr/>
        </p:nvGrpSpPr>
        <p:grpSpPr>
          <a:xfrm>
            <a:off x="6758940" y="1646872"/>
            <a:ext cx="4605338" cy="1303974"/>
            <a:chOff x="6758940" y="1646872"/>
            <a:chExt cx="4605338" cy="1303974"/>
          </a:xfrm>
        </p:grpSpPr>
        <p:sp>
          <p:nvSpPr>
            <p:cNvPr id="36" name="Freeform 36"/>
            <p:cNvSpPr/>
            <p:nvPr/>
          </p:nvSpPr>
          <p:spPr>
            <a:xfrm>
              <a:off x="9062085" y="2267902"/>
              <a:ext cx="9525" cy="257175"/>
            </a:xfrm>
            <a:custGeom>
              <a:avLst/>
              <a:gdLst/>
              <a:ahLst/>
              <a:cxnLst/>
              <a:rect l="l" t="t" r="r" b="b"/>
              <a:pathLst>
                <a:path w="9525" h="257175">
                  <a:moveTo>
                    <a:pt x="0" y="257175"/>
                  </a:moveTo>
                  <a:lnTo>
                    <a:pt x="0" y="65723"/>
                  </a:lnTo>
                  <a:lnTo>
                    <a:pt x="0" y="65723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988742" y="214217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330440" y="2335530"/>
              <a:ext cx="1541145" cy="189548"/>
            </a:xfrm>
            <a:custGeom>
              <a:avLst/>
              <a:gdLst/>
              <a:ahLst/>
              <a:cxnLst/>
              <a:rect l="l" t="t" r="r" b="b"/>
              <a:pathLst>
                <a:path w="1541145" h="189548">
                  <a:moveTo>
                    <a:pt x="1541145" y="189548"/>
                  </a:moveTo>
                  <a:lnTo>
                    <a:pt x="1541145" y="32385"/>
                  </a:lnTo>
                  <a:lnTo>
                    <a:pt x="0" y="3238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39" name="Freeform 39"/>
            <p:cNvSpPr/>
            <p:nvPr/>
          </p:nvSpPr>
          <p:spPr>
            <a:xfrm>
              <a:off x="7257098" y="220980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252585" y="2335530"/>
              <a:ext cx="1540192" cy="189548"/>
            </a:xfrm>
            <a:custGeom>
              <a:avLst/>
              <a:gdLst/>
              <a:ahLst/>
              <a:cxnLst/>
              <a:rect l="l" t="t" r="r" b="b"/>
              <a:pathLst>
                <a:path w="1540192" h="189548">
                  <a:moveTo>
                    <a:pt x="0" y="189548"/>
                  </a:moveTo>
                  <a:lnTo>
                    <a:pt x="0" y="32385"/>
                  </a:lnTo>
                  <a:lnTo>
                    <a:pt x="1540192" y="32385"/>
                  </a:lnTo>
                  <a:lnTo>
                    <a:pt x="154019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41" name="Freeform 41"/>
            <p:cNvSpPr/>
            <p:nvPr/>
          </p:nvSpPr>
          <p:spPr>
            <a:xfrm>
              <a:off x="10719435" y="220980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490585" y="1716405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A1343C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497252" y="1723072"/>
              <a:ext cx="1128712" cy="227648"/>
            </a:xfrm>
            <a:prstGeom prst="rect">
              <a:avLst/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490585" y="1945958"/>
              <a:ext cx="1143000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8490585" y="2041208"/>
              <a:ext cx="1143000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758940" y="1646872"/>
              <a:ext cx="1143000" cy="56292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A1343C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766560" y="1654492"/>
              <a:ext cx="1128712" cy="364808"/>
            </a:xfrm>
            <a:prstGeom prst="rect">
              <a:avLst/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758940" y="2014538"/>
              <a:ext cx="1143000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758940" y="2109788"/>
              <a:ext cx="1143000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221278" y="1646872"/>
              <a:ext cx="1143000" cy="56292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A1343C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228898" y="1654492"/>
              <a:ext cx="1128712" cy="364808"/>
            </a:xfrm>
            <a:prstGeom prst="rect">
              <a:avLst/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221278" y="2014538"/>
              <a:ext cx="1143000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221278" y="2109788"/>
              <a:ext cx="1143000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8410575" y="2525078"/>
              <a:ext cx="1301115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A1343C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418195" y="2532698"/>
              <a:ext cx="1286828" cy="227648"/>
            </a:xfrm>
            <a:prstGeom prst="rect">
              <a:avLst/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410575" y="2755582"/>
              <a:ext cx="1301115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410575" y="2850832"/>
              <a:ext cx="1301115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829907" y="1772126"/>
              <a:ext cx="4643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Object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05551" y="1699736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995861" y="1839754"/>
              <a:ext cx="6691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DataInput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467889" y="1699736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388562" y="1839754"/>
              <a:ext cx="8084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DataOutput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462157" y="2580799"/>
              <a:ext cx="11998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RandomAccessFile</a:t>
              </a:r>
            </a:p>
          </p:txBody>
        </p:sp>
      </p:grpSp>
      <p:grpSp>
        <p:nvGrpSpPr>
          <p:cNvPr id="86" name="c2-table-2"/>
          <p:cNvGrpSpPr/>
          <p:nvPr/>
        </p:nvGrpSpPr>
        <p:grpSpPr>
          <a:xfrm>
            <a:off x="6464618" y="3308032"/>
            <a:ext cx="5193982" cy="2847975"/>
            <a:chOff x="6464618" y="3308032"/>
            <a:chExt cx="5193982" cy="2847975"/>
          </a:xfrm>
        </p:grpSpPr>
        <p:sp>
          <p:nvSpPr>
            <p:cNvPr id="65" name="Rectangle 65"/>
            <p:cNvSpPr/>
            <p:nvPr/>
          </p:nvSpPr>
          <p:spPr>
            <a:xfrm>
              <a:off x="6464618" y="3308032"/>
              <a:ext cx="5193982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489698" y="342519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构造器和方法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368915" y="34251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559296" y="3807143"/>
              <a:ext cx="2341959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RandomAccessFile(File file, String</a:t>
              </a:r>
              <a:br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mode)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468231" y="390048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按模式打开文件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464618" y="425291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464618" y="4257675"/>
              <a:ext cx="5193982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559296" y="4374832"/>
              <a:ext cx="2159937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RandomAccessFile(String name,</a:t>
              </a:r>
              <a:br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 mode)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468231" y="44681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同上，传文件名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464618" y="48206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559296" y="5035868"/>
              <a:ext cx="14132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seek(long pos)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468231" y="4942522"/>
              <a:ext cx="17442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把文件指针移到从开头算起第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pos 个字节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464618" y="53892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6464618" y="5394008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559296" y="5511165"/>
              <a:ext cx="1548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long getFilePointer()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468231" y="551116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当前文件指针的位置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464618" y="57702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559296" y="5892165"/>
              <a:ext cx="9605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long length()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468231" y="589216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文件大小（字节）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6464618" y="3308032"/>
              <a:ext cx="5193982" cy="28479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9368790" y="3308032"/>
              <a:ext cx="9525" cy="28479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469714" cy="909257"/>
            <a:chOff x="520446" y="342900"/>
            <a:chExt cx="94697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93620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179" y="407194"/>
              <a:ext cx="2172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8.4 随机访问文件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4697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例：UsingRandomAccessFile 写七个 double，再改掉第六个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193982" cy="2428875"/>
            <a:chOff x="533400" y="1524000"/>
            <a:chExt cx="5193982" cy="24288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428875"/>
            </a:xfrm>
            <a:prstGeom prst="roundRect">
              <a:avLst>
                <a:gd name="adj" fmla="val 392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8285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读出并显示（原课件第 67 页）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194"/>
              <a:ext cx="3820541" cy="1933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java.io.*;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UsingRandomAccessFile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file =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"rtest.dat"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display()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RandomAccessFile rf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RandomAccessFile(file,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7; i++)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"Value 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i + 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": "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+ rf.readDouble());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System.out.println(rf.readUTF());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rf.close();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4128135"/>
            <a:ext cx="5193982" cy="2124075"/>
            <a:chOff x="533400" y="4128135"/>
            <a:chExt cx="5193982" cy="2124075"/>
          </a:xfrm>
        </p:grpSpPr>
        <p:sp>
          <p:nvSpPr>
            <p:cNvPr id="11" name="Rectangle 11"/>
            <p:cNvSpPr/>
            <p:nvPr/>
          </p:nvSpPr>
          <p:spPr>
            <a:xfrm>
              <a:off x="533400" y="4128135"/>
              <a:ext cx="5193982" cy="2124075"/>
            </a:xfrm>
            <a:prstGeom prst="roundRect">
              <a:avLst>
                <a:gd name="adj" fmla="val 62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261485"/>
              <a:ext cx="47625" cy="185737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3905" y="432054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1344" y="435483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读代码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80947" y="4359592"/>
              <a:ext cx="16470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display() 做了什么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7047" y="4693920"/>
              <a:ext cx="44028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以只读方式打开，从头连续读 7 个 double，再读 1 个 UTF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字符串。每次读完，文件指针自动后移相应的字节数。</a:t>
              </a:r>
            </a:p>
          </p:txBody>
        </p:sp>
      </p:grpSp>
      <p:grpSp>
        <p:nvGrpSpPr>
          <p:cNvPr id="23" name="c2-code-1"/>
          <p:cNvGrpSpPr/>
          <p:nvPr/>
        </p:nvGrpSpPr>
        <p:grpSpPr>
          <a:xfrm>
            <a:off x="6032182" y="1524000"/>
            <a:ext cx="5626418" cy="3068955"/>
            <a:chOff x="6032182" y="1524000"/>
            <a:chExt cx="5626418" cy="3068955"/>
          </a:xfrm>
        </p:grpSpPr>
        <p:sp>
          <p:nvSpPr>
            <p:cNvPr id="18" name="Rectangle 18"/>
            <p:cNvSpPr/>
            <p:nvPr/>
          </p:nvSpPr>
          <p:spPr>
            <a:xfrm>
              <a:off x="6032182" y="1524000"/>
              <a:ext cx="5626418" cy="3068955"/>
            </a:xfrm>
            <a:prstGeom prst="roundRect">
              <a:avLst>
                <a:gd name="adj" fmla="val 310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60580" y="1675924"/>
              <a:ext cx="14667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main（原课件第 68 页）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51232" y="3181350"/>
              <a:ext cx="5588318" cy="1600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051232" y="3661410"/>
              <a:ext cx="5588318" cy="1600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160770" y="1935194"/>
              <a:ext cx="3882009" cy="25736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RandomAccessFile rf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RandomAccessFile(file,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"rw"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7; i++)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rf.writeDouble(i * 1.414);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rf.writeUTF(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"The end of the file"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rf.close();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display();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rf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RandomAccessFile(file,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"rw"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rf.seek(5 * 8);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System.out.println(rf.length());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System.out.println(rf.getFilePointer());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rf.writeDouble(47.0001);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rf.close();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display();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9" name="c2-card-2"/>
          <p:cNvGrpSpPr/>
          <p:nvPr/>
        </p:nvGrpSpPr>
        <p:grpSpPr>
          <a:xfrm>
            <a:off x="6032182" y="4768215"/>
            <a:ext cx="5626418" cy="1483995"/>
            <a:chOff x="6032182" y="4768215"/>
            <a:chExt cx="5626418" cy="1483995"/>
          </a:xfrm>
        </p:grpSpPr>
        <p:sp>
          <p:nvSpPr>
            <p:cNvPr id="24" name="Rectangle 24"/>
            <p:cNvSpPr/>
            <p:nvPr/>
          </p:nvSpPr>
          <p:spPr>
            <a:xfrm>
              <a:off x="6032182" y="4768215"/>
              <a:ext cx="5626418" cy="1483995"/>
            </a:xfrm>
            <a:prstGeom prst="roundRect">
              <a:avLst>
                <a:gd name="adj" fmla="val 8986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24588" y="4960620"/>
              <a:ext cx="637222" cy="247650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10697" y="4994910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9 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69252" y="4999673"/>
              <a:ext cx="22877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seek(5*8) 定位到第几个数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17730" y="5334000"/>
              <a:ext cx="490004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 double 占 8 字节，第 i 个（从 0 数）从偏移 8i 开始，所以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5*8 = 40 正好是 Value 5 的开头。接着 writeDouble 覆盖的就是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这一个数。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576098" cy="909257"/>
            <a:chOff x="520446" y="342900"/>
            <a:chExt cx="457609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93620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179" y="407194"/>
              <a:ext cx="2172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8.4 随机访问文件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5760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算一算：为什么打印 77 和 40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cells-1"/>
          <p:cNvGrpSpPr/>
          <p:nvPr/>
        </p:nvGrpSpPr>
        <p:grpSpPr>
          <a:xfrm>
            <a:off x="527685" y="1524000"/>
            <a:ext cx="6064567" cy="1213485"/>
            <a:chOff x="527685" y="1524000"/>
            <a:chExt cx="6064567" cy="1213485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6444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偏移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1548" y="1524000"/>
              <a:ext cx="70485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54721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656398" y="1524000"/>
              <a:ext cx="70485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959571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361248" y="1524000"/>
              <a:ext cx="70485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621838" y="16444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067050" y="1524000"/>
              <a:ext cx="70485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326688" y="16444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771900" y="1524000"/>
              <a:ext cx="70485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031538" y="16444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76750" y="1524000"/>
              <a:ext cx="70485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737340" y="16444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182552" y="1524000"/>
              <a:ext cx="70485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442190" y="16444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887402" y="1524000"/>
              <a:ext cx="70485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147040" y="16444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7685" y="24769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51548" y="2356485"/>
              <a:ext cx="70485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67649" y="247697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656398" y="2356485"/>
              <a:ext cx="70485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785427" y="2476976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1.414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361248" y="2356485"/>
              <a:ext cx="70485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491229" y="2476976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2.828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67050" y="2356485"/>
              <a:ext cx="70485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196079" y="2476976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4.242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771900" y="2356485"/>
              <a:ext cx="70485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900929" y="2476976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5.656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476750" y="2356485"/>
              <a:ext cx="70485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650268" y="247697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7.07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182552" y="2356485"/>
              <a:ext cx="70485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311582" y="2476976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8.484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887402" y="2356485"/>
              <a:ext cx="70485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096111" y="2476976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UTF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45490" y="2106930"/>
              <a:ext cx="5692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seek(40)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4792028" y="226123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67" name="c1-table-2"/>
          <p:cNvGrpSpPr/>
          <p:nvPr/>
        </p:nvGrpSpPr>
        <p:grpSpPr>
          <a:xfrm>
            <a:off x="533400" y="2912745"/>
            <a:ext cx="6059805" cy="2434590"/>
            <a:chOff x="533400" y="2912745"/>
            <a:chExt cx="6059805" cy="2434590"/>
          </a:xfrm>
        </p:grpSpPr>
        <p:sp>
          <p:nvSpPr>
            <p:cNvPr id="44" name="Rectangle 44"/>
            <p:cNvSpPr/>
            <p:nvPr/>
          </p:nvSpPr>
          <p:spPr>
            <a:xfrm>
              <a:off x="533400" y="2912745"/>
              <a:ext cx="6059805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710411" y="303704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39361" y="303704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3412" y="3442811"/>
              <a:ext cx="8271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个 double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299460" y="3442811"/>
              <a:ext cx="20845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× 8 = 56 字节，占偏移 0～55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37195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33400" y="3724275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3412" y="3848576"/>
              <a:ext cx="24894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writeUTF("The end of the file")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299460" y="3848576"/>
              <a:ext cx="30947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字节长度 + 19 个字符 = 21 字节，占 56～76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412527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3412" y="4254341"/>
              <a:ext cx="668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length()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208972" y="4139565"/>
              <a:ext cx="337375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299460" y="4254341"/>
              <a:ext cx="855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 + 21 = 77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45310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33400" y="4535805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33412" y="4660106"/>
              <a:ext cx="23259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seek(5*8) 后 getFilePointer()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208972" y="4545330"/>
              <a:ext cx="337375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299460" y="4660106"/>
              <a:ext cx="18350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40，正好是 Value 5 的开头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33400" y="493680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3412" y="5065871"/>
              <a:ext cx="17140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writeDouble(47.0001)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299460" y="5065871"/>
              <a:ext cx="2416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覆盖 40～47 这 8 个字节，其余不变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33400" y="2912745"/>
              <a:ext cx="6059805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3194685" y="2912745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1" name="c2-code-1"/>
          <p:cNvGrpSpPr/>
          <p:nvPr/>
        </p:nvGrpSpPr>
        <p:grpSpPr>
          <a:xfrm>
            <a:off x="6898005" y="1524000"/>
            <a:ext cx="4760595" cy="3388995"/>
            <a:chOff x="6898005" y="1524000"/>
            <a:chExt cx="4760595" cy="3388995"/>
          </a:xfrm>
        </p:grpSpPr>
        <p:sp>
          <p:nvSpPr>
            <p:cNvPr id="68" name="Rectangle 68"/>
            <p:cNvSpPr/>
            <p:nvPr/>
          </p:nvSpPr>
          <p:spPr>
            <a:xfrm>
              <a:off x="6898005" y="1524000"/>
              <a:ext cx="4760595" cy="3388995"/>
            </a:xfrm>
            <a:prstGeom prst="roundRect">
              <a:avLst>
                <a:gd name="adj" fmla="val 28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026402" y="1675924"/>
              <a:ext cx="27146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输出（JDK 21 实测，与原课件第 69 页一致）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026592" y="1935194"/>
              <a:ext cx="1607693" cy="2893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Value 0: 0.0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Value 1: 1.414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Value 2: 2.828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Value 3: 4.242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Value 4: 5.656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Value 5: 7.069999999999999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Value 6: 8.484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The end of the file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77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40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Value 0: 0.0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Value 1: 1.414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Value 2: 2.828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Value 3: 4.242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Value 4: 5.656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Value 5: 47.0001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Value 6: 8.484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The end of the file</a:t>
              </a:r>
            </a:p>
          </p:txBody>
        </p:sp>
      </p:grpSp>
      <p:grpSp>
        <p:nvGrpSpPr>
          <p:cNvPr id="78" name="c2-card-2"/>
          <p:cNvGrpSpPr/>
          <p:nvPr/>
        </p:nvGrpSpPr>
        <p:grpSpPr>
          <a:xfrm>
            <a:off x="6898005" y="5088255"/>
            <a:ext cx="4760595" cy="1226820"/>
            <a:chOff x="6898005" y="5088255"/>
            <a:chExt cx="4760595" cy="1226820"/>
          </a:xfrm>
        </p:grpSpPr>
        <p:sp>
          <p:nvSpPr>
            <p:cNvPr id="72" name="Rectangle 72"/>
            <p:cNvSpPr/>
            <p:nvPr/>
          </p:nvSpPr>
          <p:spPr>
            <a:xfrm>
              <a:off x="6898005" y="5088255"/>
              <a:ext cx="4760595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6907530" y="5221605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7128510" y="528066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219950" y="53149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712202" y="5319712"/>
              <a:ext cx="25821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为什么是 7.069999999999999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121652" y="5654040"/>
              <a:ext cx="41456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× 1.414 在二进制浮点里不能精确表示，Java 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Python 算出的都是这个数。左图为了排版写成 7.07。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246661" cy="909257"/>
            <a:chOff x="520446" y="342900"/>
            <a:chExt cx="32466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93620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179" y="407194"/>
              <a:ext cx="2172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8.4 随机访问文件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2466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压缩流：ZIP 与 GZIP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5410200" cy="2466975"/>
            <a:chOff x="533400" y="1524000"/>
            <a:chExt cx="5410200" cy="24669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25475" y="1641157"/>
              <a:ext cx="13474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类（java.util.zip）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7559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73524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直接父类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116455"/>
              <a:ext cx="12714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ZipOutputStream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59724" y="2023110"/>
              <a:ext cx="117081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压缩数据，生成 ZIP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74198" y="2116455"/>
              <a:ext cx="1600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DeflaterOutputStream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688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7364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590800"/>
              <a:ext cx="13672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GZIPOutputStream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59724" y="2590800"/>
              <a:ext cx="9569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 GZIP 文件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74198" y="2590800"/>
              <a:ext cx="1600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DeflaterOutputStream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498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3065145"/>
              <a:ext cx="1122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ZipInputStream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59724" y="2971800"/>
              <a:ext cx="12108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解压已生成的 ZIP 文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74198" y="3065145"/>
              <a:ext cx="14225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InflaterInputStream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185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423285"/>
              <a:ext cx="5410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3633788"/>
              <a:ext cx="12173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GZIPInputStream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59724" y="3540443"/>
              <a:ext cx="111080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解压已生成的 GZIP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74198" y="3633788"/>
              <a:ext cx="14225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InflaterInputStream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5410200" cy="24669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260282" y="1524000"/>
              <a:ext cx="9525" cy="24669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774758" y="1524000"/>
              <a:ext cx="9525" cy="24669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ard-2"/>
          <p:cNvGrpSpPr/>
          <p:nvPr/>
        </p:nvGrpSpPr>
        <p:grpSpPr>
          <a:xfrm>
            <a:off x="533400" y="4155758"/>
            <a:ext cx="5410200" cy="2173605"/>
            <a:chOff x="533400" y="4155758"/>
            <a:chExt cx="5410200" cy="2173605"/>
          </a:xfrm>
        </p:grpSpPr>
        <p:sp>
          <p:nvSpPr>
            <p:cNvPr id="32" name="Rectangle 32"/>
            <p:cNvSpPr/>
            <p:nvPr/>
          </p:nvSpPr>
          <p:spPr>
            <a:xfrm>
              <a:off x="533400" y="4155758"/>
              <a:ext cx="5410200" cy="2173605"/>
            </a:xfrm>
            <a:prstGeom prst="roundRect">
              <a:avLst>
                <a:gd name="adj" fmla="val 61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4289108"/>
              <a:ext cx="47625" cy="19069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52475" y="433673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5147" y="436959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18450" y="4376261"/>
              <a:ext cx="1182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70 页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5998" y="4693444"/>
              <a:ext cx="36624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「ZipIutputStream」「GZIPIutputStream」应为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ZipInputStream、GZIPInputStream。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5998" y="5221129"/>
              <a:ext cx="4710938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「继承于 InputStream 和 OutputStream」说得笼统：它们的直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接父类见上表，再往上是 FilterInputStream、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FilterOutputStream，属于过滤流，所以能像缓冲流一样套在文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件流外面。</a:t>
              </a:r>
            </a:p>
          </p:txBody>
        </p:sp>
      </p:grpSp>
      <p:grpSp>
        <p:nvGrpSpPr>
          <p:cNvPr id="43" name="c2-code-1"/>
          <p:cNvGrpSpPr/>
          <p:nvPr/>
        </p:nvGrpSpPr>
        <p:grpSpPr>
          <a:xfrm>
            <a:off x="6248400" y="1524000"/>
            <a:ext cx="5410200" cy="2304098"/>
            <a:chOff x="6248400" y="1524000"/>
            <a:chExt cx="5410200" cy="2304098"/>
          </a:xfrm>
        </p:grpSpPr>
        <p:sp>
          <p:nvSpPr>
            <p:cNvPr id="40" name="Rectangle 40"/>
            <p:cNvSpPr/>
            <p:nvPr/>
          </p:nvSpPr>
          <p:spPr>
            <a:xfrm>
              <a:off x="6248400" y="1524000"/>
              <a:ext cx="5410200" cy="2304098"/>
            </a:xfrm>
            <a:prstGeom prst="roundRect">
              <a:avLst>
                <a:gd name="adj" fmla="val 41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76797" y="1675924"/>
              <a:ext cx="20168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GZIP 压缩再解压（JDK 21 实测）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76988" y="1935004"/>
              <a:ext cx="3331591" cy="18068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text =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"Java IO 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.repeat(1000);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8000 个字符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(Writer w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OutputStreamWriter(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GZIPOutputStream(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FileOutputStream(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"t.gz"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)),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"UTF-8"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w.write(text);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t.gz 只有 55 字节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(BufferedReader r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BufferedReader(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InputStreamReader(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GZIPInputStream(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FileInputStream(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"t.gz"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)),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"UTF-8"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System.out.println(r.readLine().equals(text));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                                         </a:t>
              </a:r>
              <a:r>
                <a:rPr lang="en-US" sz="8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true</a:t>
              </a:r>
            </a:p>
          </p:txBody>
        </p:sp>
      </p:grpSp>
      <p:grpSp>
        <p:nvGrpSpPr>
          <p:cNvPr id="47" name="c2-code-2"/>
          <p:cNvGrpSpPr/>
          <p:nvPr/>
        </p:nvGrpSpPr>
        <p:grpSpPr>
          <a:xfrm>
            <a:off x="6248400" y="3992880"/>
            <a:ext cx="5410200" cy="1556385"/>
            <a:chOff x="6248400" y="3992880"/>
            <a:chExt cx="5410200" cy="1556385"/>
          </a:xfrm>
        </p:grpSpPr>
        <p:sp>
          <p:nvSpPr>
            <p:cNvPr id="44" name="Rectangle 44"/>
            <p:cNvSpPr/>
            <p:nvPr/>
          </p:nvSpPr>
          <p:spPr>
            <a:xfrm>
              <a:off x="6248400" y="3992880"/>
              <a:ext cx="5410200" cy="1556385"/>
            </a:xfrm>
            <a:prstGeom prst="roundRect">
              <a:avLst>
                <a:gd name="adj" fmla="val 612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76797" y="4144804"/>
              <a:ext cx="27279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ZIP 里放两个文件再逐个取出（JDK 21 实测）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76988" y="4403884"/>
              <a:ext cx="4305300" cy="10591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z.putNextEntry(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ZipEntry(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"a.txt"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));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z 是 ZipOutputStream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z.write(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"AAAA"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.getBytes());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z.closeEntry();         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b.txt 同理，写 "BB"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ZipEntry e;             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zin 是 ZipInputStream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((e = zin.getNextEntry()) !=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System.out.println(e.getName() + </a:t>
              </a:r>
              <a:r>
                <a:rPr lang="zh-CN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String(zin.readAllBytes()));</a:t>
              </a:r>
              <a:br/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输出 a.txt AAAA 和 b.txt BB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407468" cy="3321367"/>
            <a:chOff x="667512" y="1835468"/>
            <a:chExt cx="6407468" cy="332136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流的分类总览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97562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原课件「4. IO流」：节点流、处理流，以及缓冲、打印、数据、对象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四种处理流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看构造方法的参数就能分出节点流与处理流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44866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打印流不抛 IOException，自动刷新要构造时打开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transient 字段不参与序列化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21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801" y="407194"/>
              <a:ext cx="1863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流的分类总览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节点流：直接连到数据源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544378" cy="1293495"/>
            <a:chOff x="533400" y="1524000"/>
            <a:chExt cx="4544378" cy="12934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21745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节点流（node stream）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38016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包含从特定位置读、写的基本功能。数据源可以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是文件、内存（数组、字符串）和管道。</a:t>
              </a:r>
            </a:p>
          </p:txBody>
        </p:sp>
      </p:grpSp>
      <p:grpSp>
        <p:nvGrpSpPr>
          <p:cNvPr id="22" name="c1-flow-2"/>
          <p:cNvGrpSpPr/>
          <p:nvPr/>
        </p:nvGrpSpPr>
        <p:grpSpPr>
          <a:xfrm>
            <a:off x="692468" y="3149918"/>
            <a:ext cx="4227194" cy="665797"/>
            <a:chOff x="692468" y="3149918"/>
            <a:chExt cx="4227194" cy="665797"/>
          </a:xfrm>
        </p:grpSpPr>
        <p:sp>
          <p:nvSpPr>
            <p:cNvPr id="14" name="Freeform 14"/>
            <p:cNvSpPr/>
            <p:nvPr/>
          </p:nvSpPr>
          <p:spPr>
            <a:xfrm>
              <a:off x="2646998" y="3603308"/>
              <a:ext cx="213360" cy="9525"/>
            </a:xfrm>
            <a:custGeom>
              <a:avLst/>
              <a:gdLst/>
              <a:ahLst/>
              <a:cxnLst/>
              <a:rect l="l" t="t" r="r" b="b"/>
              <a:pathLst>
                <a:path w="213360" h="9525">
                  <a:moveTo>
                    <a:pt x="0" y="0"/>
                  </a:moveTo>
                  <a:lnTo>
                    <a:pt x="21336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860358" y="35509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692468" y="3390900"/>
              <a:ext cx="1954530" cy="424815"/>
            </a:xfrm>
            <a:custGeom>
              <a:avLst/>
              <a:gdLst/>
              <a:ahLst/>
              <a:cxnLst/>
              <a:rect l="l" t="t" r="r" b="b"/>
              <a:pathLst>
                <a:path w="1954530" h="424815">
                  <a:moveTo>
                    <a:pt x="133350" y="0"/>
                  </a:moveTo>
                  <a:lnTo>
                    <a:pt x="1954530" y="0"/>
                  </a:lnTo>
                  <a:lnTo>
                    <a:pt x="1821180" y="424815"/>
                  </a:lnTo>
                  <a:lnTo>
                    <a:pt x="0" y="424815"/>
                  </a:lnTo>
                  <a:close/>
                </a:path>
              </a:pathLst>
            </a:custGeom>
            <a:solidFill>
              <a:srgbClr val="F7E8E9"/>
            </a:solidFill>
            <a:ln w="13335">
              <a:solidFill>
                <a:srgbClr val="A1343C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965132" y="3390900"/>
              <a:ext cx="1954530" cy="42481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524381" y="3519488"/>
              <a:ext cx="2907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73805" y="35194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558415" y="3149918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588705" y="317658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节点流</a:t>
              </a:r>
            </a:p>
          </p:txBody>
        </p:sp>
      </p:grpSp>
      <p:grpSp>
        <p:nvGrpSpPr>
          <p:cNvPr id="29" name="c1-card-3"/>
          <p:cNvGrpSpPr/>
          <p:nvPr/>
        </p:nvGrpSpPr>
        <p:grpSpPr>
          <a:xfrm>
            <a:off x="533400" y="4389120"/>
            <a:ext cx="4544378" cy="1836420"/>
            <a:chOff x="533400" y="4389120"/>
            <a:chExt cx="4544378" cy="1836420"/>
          </a:xfrm>
        </p:grpSpPr>
        <p:sp>
          <p:nvSpPr>
            <p:cNvPr id="23" name="Rectangle 23"/>
            <p:cNvSpPr/>
            <p:nvPr/>
          </p:nvSpPr>
          <p:spPr>
            <a:xfrm>
              <a:off x="533400" y="4389120"/>
              <a:ext cx="4544378" cy="1836420"/>
            </a:xfrm>
            <a:prstGeom prst="roundRect">
              <a:avLst>
                <a:gd name="adj" fmla="val 72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4522470"/>
              <a:ext cx="47625" cy="15697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75335" y="459295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5543" y="46286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76744" y="4632484"/>
              <a:ext cx="17234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72、73 页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8096" y="4984909"/>
              <a:ext cx="362127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「节点流的包括文件，内容和管道」中的「内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容」应为「内存」；表里的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「PipedOutPutStream」应为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PipedOutputStream。</a:t>
              </a:r>
            </a:p>
          </p:txBody>
        </p:sp>
      </p:grpSp>
      <p:grpSp>
        <p:nvGrpSpPr>
          <p:cNvPr id="55" name="c2-table-1"/>
          <p:cNvGrpSpPr/>
          <p:nvPr/>
        </p:nvGrpSpPr>
        <p:grpSpPr>
          <a:xfrm>
            <a:off x="5382578" y="1524000"/>
            <a:ext cx="6276022" cy="3358515"/>
            <a:chOff x="5382578" y="1524000"/>
            <a:chExt cx="6276022" cy="3358515"/>
          </a:xfrm>
        </p:grpSpPr>
        <p:sp>
          <p:nvSpPr>
            <p:cNvPr id="30" name="Rectangle 30"/>
            <p:cNvSpPr/>
            <p:nvPr/>
          </p:nvSpPr>
          <p:spPr>
            <a:xfrm>
              <a:off x="5382578" y="1524000"/>
              <a:ext cx="6276022" cy="4686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53430" y="165877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36523" y="165877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字节流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09225" y="165877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字符流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92102" y="2002155"/>
              <a:ext cx="1110615" cy="70294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486781" y="225504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16446" y="2128361"/>
              <a:ext cx="1583436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FileInputStream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FileOutputStream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252014" y="2128361"/>
              <a:ext cx="91617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FileReader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FileWriter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82578" y="271081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82578" y="2715578"/>
              <a:ext cx="6276022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486781" y="297703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内存数组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16446" y="2850356"/>
              <a:ext cx="2169541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ByteArrayInputStream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ByteArrayOutputStream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52014" y="2850356"/>
              <a:ext cx="1502283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CharArrayReader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CharArrayWriter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82578" y="343281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486781" y="3572351"/>
              <a:ext cx="7358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内存字符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16446" y="3699034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52014" y="3572351"/>
              <a:ext cx="1159637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StringReader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StringWriter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82578" y="41557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382578" y="4160520"/>
              <a:ext cx="6276022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486781" y="442198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管道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16446" y="4295299"/>
              <a:ext cx="172770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PipedInputStream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PipedOutputStream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252014" y="4295299"/>
              <a:ext cx="1060450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PipedReader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PipedWriter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82578" y="1524000"/>
              <a:ext cx="6276022" cy="33585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507480" y="1524000"/>
              <a:ext cx="9525" cy="33585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143048" y="1524000"/>
              <a:ext cx="9525" cy="33585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2-callout-2"/>
          <p:cNvGrpSpPr/>
          <p:nvPr/>
        </p:nvGrpSpPr>
        <p:grpSpPr>
          <a:xfrm>
            <a:off x="5382578" y="5068252"/>
            <a:ext cx="6276022" cy="1157288"/>
            <a:chOff x="5382578" y="5068252"/>
            <a:chExt cx="6276022" cy="1157288"/>
          </a:xfrm>
        </p:grpSpPr>
        <p:sp>
          <p:nvSpPr>
            <p:cNvPr id="56" name="Rectangle 56"/>
            <p:cNvSpPr/>
            <p:nvPr/>
          </p:nvSpPr>
          <p:spPr>
            <a:xfrm>
              <a:off x="5382578" y="5068252"/>
              <a:ext cx="6276022" cy="1157288"/>
            </a:xfrm>
            <a:prstGeom prst="roundRect">
              <a:avLst>
                <a:gd name="adj" fmla="val 987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5587365" y="5546408"/>
              <a:ext cx="200026" cy="200025"/>
              <a:chOff x="5587365" y="5546408"/>
              <a:chExt cx="200026" cy="20002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5587365" y="55464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5627104" y="55908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5661819" y="57019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5889688" y="5415439"/>
              <a:ext cx="537057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判断方法：构造方法的参数是文件名、File、数组、字符串的是节点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流；参数是另一个流的是处理流。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21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801" y="407194"/>
              <a:ext cx="1863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流的分类总览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处理流：套在别的流上，修改数据或增加功能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328160" cy="1335405"/>
            <a:chOff x="533400" y="1524000"/>
            <a:chExt cx="4328160" cy="13354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9437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处理流（processing stream）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结合在其他流之上，修改或管理流中的数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据，并提供额外的功能。</a:t>
              </a:r>
            </a:p>
          </p:txBody>
        </p:sp>
      </p:grpSp>
      <p:grpSp>
        <p:nvGrpSpPr>
          <p:cNvPr id="28" name="c1-flow-2"/>
          <p:cNvGrpSpPr/>
          <p:nvPr/>
        </p:nvGrpSpPr>
        <p:grpSpPr>
          <a:xfrm>
            <a:off x="666750" y="3545205"/>
            <a:ext cx="4061460" cy="438150"/>
            <a:chOff x="666750" y="3545205"/>
            <a:chExt cx="4061460" cy="438150"/>
          </a:xfrm>
        </p:grpSpPr>
        <p:sp>
          <p:nvSpPr>
            <p:cNvPr id="14" name="Freeform 14"/>
            <p:cNvSpPr/>
            <p:nvPr/>
          </p:nvSpPr>
          <p:spPr>
            <a:xfrm>
              <a:off x="1482090" y="376428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644015" y="37118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2564130" y="376428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726055" y="37118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3646170" y="376428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808095" y="37118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666750" y="3545205"/>
              <a:ext cx="815340" cy="438150"/>
            </a:xfrm>
            <a:custGeom>
              <a:avLst/>
              <a:gdLst/>
              <a:ahLst/>
              <a:cxnLst/>
              <a:rect l="l" t="t" r="r" b="b"/>
              <a:pathLst>
                <a:path w="815340" h="438150">
                  <a:moveTo>
                    <a:pt x="133350" y="0"/>
                  </a:moveTo>
                  <a:lnTo>
                    <a:pt x="815340" y="0"/>
                  </a:lnTo>
                  <a:lnTo>
                    <a:pt x="681990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F7E8E9"/>
            </a:solidFill>
            <a:ln w="13335">
              <a:solidFill>
                <a:srgbClr val="A1343C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748790" y="3545205"/>
              <a:ext cx="81534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830830" y="3545205"/>
              <a:ext cx="815340" cy="438150"/>
            </a:xfrm>
            <a:prstGeom prst="roundRect">
              <a:avLst>
                <a:gd name="adj" fmla="val 21739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912870" y="3545205"/>
              <a:ext cx="815340" cy="43815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19404" y="3675221"/>
              <a:ext cx="3100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91513" y="367522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73553" y="367522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41749" y="367522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</a:t>
              </a:r>
            </a:p>
          </p:txBody>
        </p:sp>
      </p:grpSp>
      <p:grpSp>
        <p:nvGrpSpPr>
          <p:cNvPr id="34" name="c1-card-3"/>
          <p:cNvGrpSpPr/>
          <p:nvPr/>
        </p:nvGrpSpPr>
        <p:grpSpPr>
          <a:xfrm>
            <a:off x="533400" y="4669155"/>
            <a:ext cx="4328160" cy="1621155"/>
            <a:chOff x="533400" y="4669155"/>
            <a:chExt cx="4328160" cy="1621155"/>
          </a:xfrm>
        </p:grpSpPr>
        <p:sp>
          <p:nvSpPr>
            <p:cNvPr id="29" name="Rectangle 29"/>
            <p:cNvSpPr/>
            <p:nvPr/>
          </p:nvSpPr>
          <p:spPr>
            <a:xfrm>
              <a:off x="533400" y="4669155"/>
              <a:ext cx="4328160" cy="1621155"/>
            </a:xfrm>
            <a:prstGeom prst="roundRect">
              <a:avLst>
                <a:gd name="adj" fmla="val 8226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42950" y="487870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3158" y="49144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43978" y="4913948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左边六种功能，四种在本章细讲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5330" y="5274945"/>
              <a:ext cx="37204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缓冲、数据转换、对象序列化、打印四种处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理流，原课件在「4. IO流」里各讲了一页，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就是接下来的四页。</a:t>
              </a:r>
            </a:p>
          </p:txBody>
        </p:sp>
      </p:grpSp>
      <p:grpSp>
        <p:nvGrpSpPr>
          <p:cNvPr id="72" name="c2-table-1"/>
          <p:cNvGrpSpPr/>
          <p:nvPr/>
        </p:nvGrpSpPr>
        <p:grpSpPr>
          <a:xfrm>
            <a:off x="5166360" y="1524000"/>
            <a:ext cx="6492240" cy="4274820"/>
            <a:chOff x="5166360" y="1524000"/>
            <a:chExt cx="6492240" cy="4274820"/>
          </a:xfrm>
        </p:grpSpPr>
        <p:sp>
          <p:nvSpPr>
            <p:cNvPr id="35" name="Rectangle 35"/>
            <p:cNvSpPr/>
            <p:nvPr/>
          </p:nvSpPr>
          <p:spPr>
            <a:xfrm>
              <a:off x="5166360" y="1524000"/>
              <a:ext cx="6492240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57145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功能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3315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字节流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095395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字符流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175885" y="1982152"/>
              <a:ext cx="1149668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74183" y="22217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42901" y="2108359"/>
              <a:ext cx="186613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BufferedInputStream /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BufferedOutputStream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69908" y="2108359"/>
              <a:ext cx="140284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BufferedReader /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BufferedWriter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166360" y="26431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166360" y="2647950"/>
              <a:ext cx="649224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74183" y="289702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过滤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42901" y="2783681"/>
              <a:ext cx="160604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FilterInputStream /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FilterOutputStream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169908" y="2897029"/>
              <a:ext cx="23263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FilterReader / FilterWriter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166360" y="331946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74183" y="3459004"/>
              <a:ext cx="825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字节与字符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转换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42901" y="35723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169908" y="3459004"/>
              <a:ext cx="16791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InputStreamReader /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OutputStreamWriter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166360" y="399478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166360" y="3999548"/>
              <a:ext cx="649224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175885" y="4009072"/>
              <a:ext cx="1149668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274183" y="424767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数据转换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42901" y="4134326"/>
              <a:ext cx="150850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DataInputStream /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DataOutputStream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169908" y="424767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166360" y="467010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175885" y="4684395"/>
              <a:ext cx="1149668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274183" y="492394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对象序列化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42901" y="4810601"/>
              <a:ext cx="16791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ObjectInputStream /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ObjectOutputStream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169908" y="492394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166360" y="534543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5166360" y="5350192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175885" y="5359718"/>
              <a:ext cx="114966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274183" y="548592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42901" y="5485924"/>
              <a:ext cx="10574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PrintStream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169908" y="5485924"/>
              <a:ext cx="10139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PrintWriter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166360" y="1524000"/>
              <a:ext cx="6492240" cy="42748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330315" y="1524000"/>
              <a:ext cx="9525" cy="42748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9057322" y="1524000"/>
              <a:ext cx="9525" cy="42748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05037" cy="909257"/>
            <a:chOff x="520446" y="342900"/>
            <a:chExt cx="91050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21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801" y="407194"/>
              <a:ext cx="1863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流的分类总览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050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缓冲流的专有方法：readLine、newLine、mark 与 reset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able-1"/>
          <p:cNvGrpSpPr/>
          <p:nvPr/>
        </p:nvGrpSpPr>
        <p:grpSpPr>
          <a:xfrm>
            <a:off x="533400" y="1524000"/>
            <a:ext cx="5626418" cy="2834640"/>
            <a:chOff x="533400" y="1524000"/>
            <a:chExt cx="5626418" cy="28346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8941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9059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所属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9082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119877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mark(int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readAheadLimit)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59380" y="215407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缓冲输入流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34815" y="2054066"/>
              <a:ext cx="172542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标记当前位置；参数是标记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后最多再读多少仍能 reset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307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35555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659856"/>
              <a:ext cx="977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reset()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59380" y="26598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缓冲输入流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34815" y="265985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回到最近一次标记的位置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365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2950845"/>
              <a:ext cx="2006918" cy="5867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3165634"/>
              <a:ext cx="13839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 readLine()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59380" y="3165634"/>
              <a:ext cx="11817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BufferedReader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34815" y="3065621"/>
              <a:ext cx="17183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读一行，不含换行符；到末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尾返回 null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54234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54711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3412" y="3671411"/>
              <a:ext cx="11491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newLine()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59380" y="3671411"/>
              <a:ext cx="1174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BufferedWriter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34815" y="367141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写入当前系统的行分隔符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9481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3412" y="4077176"/>
              <a:ext cx="937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flush()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59380" y="407717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输出缓冲流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34815" y="407717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把缓冲区的数据写出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5626418" cy="28346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554605" y="1524000"/>
              <a:ext cx="9525" cy="28346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130040" y="1524000"/>
              <a:ext cx="9525" cy="28346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1-card-2"/>
          <p:cNvGrpSpPr/>
          <p:nvPr/>
        </p:nvGrpSpPr>
        <p:grpSpPr>
          <a:xfrm>
            <a:off x="533400" y="4533900"/>
            <a:ext cx="5626418" cy="1737360"/>
            <a:chOff x="533400" y="4533900"/>
            <a:chExt cx="5626418" cy="1737360"/>
          </a:xfrm>
        </p:grpSpPr>
        <p:sp>
          <p:nvSpPr>
            <p:cNvPr id="37" name="Rectangle 37"/>
            <p:cNvSpPr/>
            <p:nvPr/>
          </p:nvSpPr>
          <p:spPr>
            <a:xfrm>
              <a:off x="533400" y="4533900"/>
              <a:ext cx="5626418" cy="1737360"/>
            </a:xfrm>
            <a:prstGeom prst="roundRect">
              <a:avLst>
                <a:gd name="adj" fmla="val 767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42925" y="4667250"/>
              <a:ext cx="47625" cy="14706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63905" y="47263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55345" y="47605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47597" y="4766310"/>
              <a:ext cx="12468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78 页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7047" y="5099685"/>
              <a:ext cx="477145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mark() 缺参数，javac 报「需要: int，找到: 没有参数」；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readLine() 返回 String，不是 void；「BufferedRead」应为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BufferedReader。</a:t>
              </a:r>
            </a:p>
          </p:txBody>
        </p:sp>
      </p:grpSp>
      <p:grpSp>
        <p:nvGrpSpPr>
          <p:cNvPr id="47" name="c2-code-1"/>
          <p:cNvGrpSpPr/>
          <p:nvPr/>
        </p:nvGrpSpPr>
        <p:grpSpPr>
          <a:xfrm>
            <a:off x="6464618" y="1524000"/>
            <a:ext cx="5193982" cy="2908935"/>
            <a:chOff x="6464618" y="1524000"/>
            <a:chExt cx="5193982" cy="2908935"/>
          </a:xfrm>
        </p:grpSpPr>
        <p:sp>
          <p:nvSpPr>
            <p:cNvPr id="44" name="Rectangle 44"/>
            <p:cNvSpPr/>
            <p:nvPr/>
          </p:nvSpPr>
          <p:spPr>
            <a:xfrm>
              <a:off x="6464618" y="1524000"/>
              <a:ext cx="5193982" cy="2908935"/>
            </a:xfrm>
            <a:prstGeom prst="roundRect">
              <a:avLst>
                <a:gd name="adj" fmla="val 327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93015" y="1675924"/>
              <a:ext cx="19514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按行写、按行读（JDK 21 实测）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93205" y="1935194"/>
              <a:ext cx="4619625" cy="2413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(BufferedWriter bw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BufferedWriter(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FileWriter(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"lines.txt"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bw.write(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"第一行"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bw.newLine();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bw.write(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"second"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bw.newLine();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(BufferedReader br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BufferedReader(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FileReader(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"lines.txt"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br.mark(100);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System.out.println(br.readLine());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br.reset();   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回到开头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s;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 = 0;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((s = br.readLine()) !=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System.out.println(++n + 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": 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s);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1" name="c2-code-2"/>
          <p:cNvGrpSpPr/>
          <p:nvPr/>
        </p:nvGrpSpPr>
        <p:grpSpPr>
          <a:xfrm>
            <a:off x="6464618" y="4608195"/>
            <a:ext cx="5193982" cy="1072515"/>
            <a:chOff x="6464618" y="4608195"/>
            <a:chExt cx="5193982" cy="1072515"/>
          </a:xfrm>
        </p:grpSpPr>
        <p:sp>
          <p:nvSpPr>
            <p:cNvPr id="48" name="Rectangle 48"/>
            <p:cNvSpPr/>
            <p:nvPr/>
          </p:nvSpPr>
          <p:spPr>
            <a:xfrm>
              <a:off x="6464618" y="4608195"/>
              <a:ext cx="5193982" cy="1072515"/>
            </a:xfrm>
            <a:prstGeom prst="roundRect">
              <a:avLst>
                <a:gd name="adj" fmla="val 88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93015" y="476011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92634" y="5021580"/>
              <a:ext cx="670751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第一行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1: 第一行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2: second</a:t>
              </a:r>
            </a:p>
          </p:txBody>
        </p:sp>
      </p:grpSp>
      <p:grpSp>
        <p:nvGrpSpPr>
          <p:cNvPr id="53" name="c2-text-3"/>
          <p:cNvGrpSpPr/>
          <p:nvPr/>
        </p:nvGrpSpPr>
        <p:grpSpPr>
          <a:xfrm>
            <a:off x="6458902" y="5873591"/>
            <a:ext cx="4854702" cy="441008"/>
            <a:chOff x="6458902" y="5873591"/>
            <a:chExt cx="4854702" cy="441008"/>
          </a:xfrm>
        </p:grpSpPr>
        <p:sp>
          <p:nvSpPr>
            <p:cNvPr id="52" name="TextBox 52"/>
            <p:cNvSpPr txBox="1"/>
            <p:nvPr/>
          </p:nvSpPr>
          <p:spPr>
            <a:xfrm>
              <a:off x="6458902" y="5873591"/>
              <a:ext cx="4854702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lines.txt 共 19 字节：「第一行」9 字节，second 6 字节，Windows 上每个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newLine() 写 \r\n 两字节。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39622" cy="909257"/>
            <a:chOff x="520446" y="342900"/>
            <a:chExt cx="62396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21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801" y="407194"/>
              <a:ext cx="1863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流的分类总览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396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打印流：PrintStream 与 PrintWriter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bullets-1"/>
          <p:cNvGrpSpPr/>
          <p:nvPr/>
        </p:nvGrpSpPr>
        <p:grpSpPr>
          <a:xfrm>
            <a:off x="541972" y="1545907"/>
            <a:ext cx="4876038" cy="1652778"/>
            <a:chOff x="541972" y="1545907"/>
            <a:chExt cx="4876038" cy="1652778"/>
          </a:xfrm>
        </p:grpSpPr>
        <p:sp>
          <p:nvSpPr>
            <p:cNvPr id="7" name="Ellipse 7"/>
            <p:cNvSpPr/>
            <p:nvPr/>
          </p:nvSpPr>
          <p:spPr>
            <a:xfrm>
              <a:off x="541972" y="160210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992" y="1545907"/>
              <a:ext cx="39169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PrintStream 处理字节，PrintWriter 处理字符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41972" y="191071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992" y="1854518"/>
              <a:ext cx="47200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为其他输出流添加功能：重载的 print、println 能输出各种类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型的值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41972" y="247650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7992" y="2420302"/>
              <a:ext cx="417137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不抛 IOException：出错时只在内部记一个标志，用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checkError() 查询。实测对已关闭的 PrintWriter 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println，checkError() 返回 true</a:t>
              </a:r>
            </a:p>
          </p:txBody>
        </p:sp>
      </p:grpSp>
      <p:grpSp>
        <p:nvGrpSpPr>
          <p:cNvPr id="34" name="c1-table-2"/>
          <p:cNvGrpSpPr/>
          <p:nvPr/>
        </p:nvGrpSpPr>
        <p:grpSpPr>
          <a:xfrm>
            <a:off x="533400" y="3315652"/>
            <a:ext cx="5193982" cy="3000375"/>
            <a:chOff x="533400" y="3315652"/>
            <a:chExt cx="5193982" cy="3000375"/>
          </a:xfrm>
        </p:grpSpPr>
        <p:sp>
          <p:nvSpPr>
            <p:cNvPr id="14" name="Rectangle 14"/>
            <p:cNvSpPr/>
            <p:nvPr/>
          </p:nvSpPr>
          <p:spPr>
            <a:xfrm>
              <a:off x="533400" y="3315652"/>
              <a:ext cx="5193982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40568" y="3437096"/>
              <a:ext cx="15821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PrintWriter 的构造器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18043" y="3437096"/>
              <a:ext cx="1622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PrintStream 的构造器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0555" y="3837146"/>
              <a:ext cx="19353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PrintWriter(Writer out)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27070" y="3837146"/>
              <a:ext cx="2452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PrintStream(OutputStream out)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1109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4115752"/>
              <a:ext cx="5193982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0555" y="4237196"/>
              <a:ext cx="199781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PrintWriter(OutputStream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27070" y="4337209"/>
              <a:ext cx="16543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PrintStream(File file)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71106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0555" y="4837271"/>
              <a:ext cx="16965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PrintWriter(File file)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27070" y="4837271"/>
              <a:ext cx="22250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PrintStream(String fileName)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511111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5115878"/>
              <a:ext cx="5193982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0555" y="5337334"/>
              <a:ext cx="22958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PrintWriter(String fileName)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227070" y="5237321"/>
              <a:ext cx="193878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PrintStream(OutputStream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out, boolean autoFlush)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57111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0555" y="5837396"/>
              <a:ext cx="181112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PrintWriter(Writer out,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boolean autoFlush)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315652"/>
              <a:ext cx="5193982" cy="30003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3125152" y="3315652"/>
              <a:ext cx="9525" cy="30003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2-card-1"/>
          <p:cNvGrpSpPr/>
          <p:nvPr/>
        </p:nvGrpSpPr>
        <p:grpSpPr>
          <a:xfrm>
            <a:off x="6032182" y="1524000"/>
            <a:ext cx="5626418" cy="1459230"/>
            <a:chOff x="6032182" y="1524000"/>
            <a:chExt cx="5626418" cy="1459230"/>
          </a:xfrm>
        </p:grpSpPr>
        <p:sp>
          <p:nvSpPr>
            <p:cNvPr id="35" name="Rectangle 35"/>
            <p:cNvSpPr/>
            <p:nvPr/>
          </p:nvSpPr>
          <p:spPr>
            <a:xfrm>
              <a:off x="6032182" y="1524000"/>
              <a:ext cx="5626418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41708" y="1657350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56972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4869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22567" y="1745932"/>
              <a:ext cx="26958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79 页「自动的 Flush」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50114" y="2071688"/>
              <a:ext cx="490861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只有构造时传 autoFlush = true 才会自动刷新，而且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PrintWriter 只在 println、printf、format 时刷新。用前面几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个构造器创建的打印流不会自动刷新。</a:t>
              </a:r>
            </a:p>
          </p:txBody>
        </p:sp>
      </p:grpSp>
      <p:grpSp>
        <p:nvGrpSpPr>
          <p:cNvPr id="45" name="c2-code-2"/>
          <p:cNvGrpSpPr/>
          <p:nvPr/>
        </p:nvGrpSpPr>
        <p:grpSpPr>
          <a:xfrm>
            <a:off x="6032182" y="3153728"/>
            <a:ext cx="5626418" cy="1438275"/>
            <a:chOff x="6032182" y="3153728"/>
            <a:chExt cx="5626418" cy="1438275"/>
          </a:xfrm>
        </p:grpSpPr>
        <p:sp>
          <p:nvSpPr>
            <p:cNvPr id="42" name="Rectangle 42"/>
            <p:cNvSpPr/>
            <p:nvPr/>
          </p:nvSpPr>
          <p:spPr>
            <a:xfrm>
              <a:off x="6032182" y="3153728"/>
              <a:ext cx="5626418" cy="1438275"/>
            </a:xfrm>
            <a:prstGeom prst="roundRect">
              <a:avLst>
                <a:gd name="adj" fmla="val 662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60580" y="3305651"/>
              <a:ext cx="7640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JDK 21 实测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160770" y="3564350"/>
              <a:ext cx="3914140" cy="939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PrintWriter p1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PrintWriter(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FileWriter(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"p1.txt"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p1.println(3.5);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p1.txt 仍是 0 字节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PrintWriter p2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PrintWriter(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FileWriter(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"p2.txt"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),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p2.println(3.5);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立即写出，5 字节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p2.print(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'x'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print 不刷新，仍是 5 字节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p1.close();   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close 时写出，p1.txt 变成 5 字节</a:t>
              </a:r>
            </a:p>
          </p:txBody>
        </p:sp>
      </p:grpSp>
      <p:grpSp>
        <p:nvGrpSpPr>
          <p:cNvPr id="53" name="c2-card-3"/>
          <p:cNvGrpSpPr/>
          <p:nvPr/>
        </p:nvGrpSpPr>
        <p:grpSpPr>
          <a:xfrm>
            <a:off x="6032182" y="4761548"/>
            <a:ext cx="5626418" cy="1554480"/>
            <a:chOff x="6032182" y="4761548"/>
            <a:chExt cx="5626418" cy="1554480"/>
          </a:xfrm>
        </p:grpSpPr>
        <p:sp>
          <p:nvSpPr>
            <p:cNvPr id="46" name="Rectangle 46"/>
            <p:cNvSpPr/>
            <p:nvPr/>
          </p:nvSpPr>
          <p:spPr>
            <a:xfrm>
              <a:off x="6032182" y="4761548"/>
              <a:ext cx="5626418" cy="1554480"/>
            </a:xfrm>
            <a:prstGeom prst="roundRect">
              <a:avLst>
                <a:gd name="adj" fmla="val 85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041708" y="4894898"/>
              <a:ext cx="47625" cy="128778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56972" y="4948238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37490" y="498109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读实测结果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95947" y="4983480"/>
              <a:ext cx="10846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字节从哪来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50114" y="5309235"/>
              <a:ext cx="42095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「3.5」3 个字符加 Windows 换行 \r\n 共 5 字节。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50114" y="5609273"/>
              <a:ext cx="47885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PrintStream 用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new PrintStream(out, true)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打开自动刷新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后，在 println、写字节数组或写出换行符时刷新。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21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801" y="407194"/>
              <a:ext cx="1863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流的分类总览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数据流例：用内存里的字节数组代替文件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bullets-1"/>
          <p:cNvGrpSpPr/>
          <p:nvPr/>
        </p:nvGrpSpPr>
        <p:grpSpPr>
          <a:xfrm>
            <a:off x="542925" y="1545431"/>
            <a:ext cx="4394962" cy="1270445"/>
            <a:chOff x="542925" y="1545431"/>
            <a:chExt cx="4394962" cy="1270445"/>
          </a:xfrm>
        </p:grpSpPr>
        <p:sp>
          <p:nvSpPr>
            <p:cNvPr id="7" name="Ellipse 7"/>
            <p:cNvSpPr/>
            <p:nvPr/>
          </p:nvSpPr>
          <p:spPr>
            <a:xfrm>
              <a:off x="542925" y="1597342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8373" y="1545431"/>
              <a:ext cx="41744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存取与机器无关的 Java 基本类型数据：boolean、char、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byte、short、int、long、float、double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42925" y="2133600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8373" y="2080736"/>
              <a:ext cx="423951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 DataInput、DataOutput 接口，必须构造在字节流之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上：DataInputStream(InputStream in)、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DataOutputStream(OutputStream out)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30842"/>
            <a:ext cx="4760595" cy="1645920"/>
            <a:chOff x="533400" y="2930842"/>
            <a:chExt cx="4760595" cy="1645920"/>
          </a:xfrm>
        </p:grpSpPr>
        <p:sp>
          <p:nvSpPr>
            <p:cNvPr id="12" name="Rectangle 12"/>
            <p:cNvSpPr/>
            <p:nvPr/>
          </p:nvSpPr>
          <p:spPr>
            <a:xfrm>
              <a:off x="533400" y="2930842"/>
              <a:ext cx="4760595" cy="1645920"/>
            </a:xfrm>
            <a:prstGeom prst="roundRect">
              <a:avLst>
                <a:gd name="adj" fmla="val 81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42925" y="3064192"/>
              <a:ext cx="47625" cy="13792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52475" y="311181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5147" y="314467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18450" y="3151346"/>
              <a:ext cx="1182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81 页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5998" y="3468529"/>
              <a:ext cx="407695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「分别继承自 InputStream 和 OutputStream」：直接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父类是 FilterInputStream、FilterOutputStream（反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射实测），InputStream 是祖父类。「DateOutput」应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DataOutput。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741545"/>
            <a:ext cx="4760595" cy="1403032"/>
            <a:chOff x="533400" y="4741545"/>
            <a:chExt cx="4760595" cy="1403032"/>
          </a:xfrm>
        </p:grpSpPr>
        <p:sp>
          <p:nvSpPr>
            <p:cNvPr id="19" name="Rectangle 19"/>
            <p:cNvSpPr/>
            <p:nvPr/>
          </p:nvSpPr>
          <p:spPr>
            <a:xfrm>
              <a:off x="533400" y="4741545"/>
              <a:ext cx="4760595" cy="1403032"/>
            </a:xfrm>
            <a:prstGeom prst="roundRect">
              <a:avLst>
                <a:gd name="adj" fmla="val 9504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14375" y="4922520"/>
              <a:ext cx="818198" cy="23812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6269" y="4955381"/>
              <a:ext cx="6553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输出里的 9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40396" y="4962049"/>
              <a:ext cx="25769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available() 返回还没读的字节数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7898" y="5279231"/>
              <a:ext cx="422325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原课件输出三行：9、0.9220506705720964、true。9 = 8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（double）+ 1（boolean）；第二行是随机数，每次运行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都不同。</a:t>
              </a:r>
            </a:p>
          </p:txBody>
        </p:sp>
      </p:grpSp>
      <p:grpSp>
        <p:nvGrpSpPr>
          <p:cNvPr id="30" name="c2-code-1"/>
          <p:cNvGrpSpPr/>
          <p:nvPr/>
        </p:nvGrpSpPr>
        <p:grpSpPr>
          <a:xfrm>
            <a:off x="5598795" y="1524000"/>
            <a:ext cx="6059805" cy="3649028"/>
            <a:chOff x="5598795" y="1524000"/>
            <a:chExt cx="6059805" cy="3649028"/>
          </a:xfrm>
        </p:grpSpPr>
        <p:sp>
          <p:nvSpPr>
            <p:cNvPr id="25" name="Rectangle 25"/>
            <p:cNvSpPr/>
            <p:nvPr/>
          </p:nvSpPr>
          <p:spPr>
            <a:xfrm>
              <a:off x="5598795" y="1524000"/>
              <a:ext cx="6059805" cy="3649028"/>
            </a:xfrm>
            <a:prstGeom prst="roundRect">
              <a:avLst>
                <a:gd name="adj" fmla="val 261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727192" y="1675924"/>
              <a:ext cx="29074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TestDataStream.java（原课件第 82～83 页）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617845" y="2948940"/>
              <a:ext cx="6021705" cy="14954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617845" y="3098482"/>
              <a:ext cx="6021705" cy="14954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27382" y="1935004"/>
              <a:ext cx="3732530" cy="3152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java.io.*;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TestDataStream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ByteArrayOutputStream baos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ByteArrayOutputStream();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DataOutputStream dos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DataOutputStream(baos);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dos.writeDouble(Math.random());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dos.writeBoolean(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ByteArrayInputStream bais =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ByteArrayInputStream(baos.toByteArray());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System.out.println(bais.available());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DataInputStream dis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DataInputStream(bais);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System.out.println(dis.readDouble());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System.out.println(dis.readBoolean());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dos.close();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dis.close();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(IOException e)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e.printStackTrace();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7" name="c2-callout-2"/>
          <p:cNvGrpSpPr/>
          <p:nvPr/>
        </p:nvGrpSpPr>
        <p:grpSpPr>
          <a:xfrm>
            <a:off x="5598795" y="5337810"/>
            <a:ext cx="6059805" cy="807720"/>
            <a:chOff x="5598795" y="5337810"/>
            <a:chExt cx="6059805" cy="807720"/>
          </a:xfrm>
        </p:grpSpPr>
        <p:sp>
          <p:nvSpPr>
            <p:cNvPr id="31" name="Rectangle 31"/>
            <p:cNvSpPr/>
            <p:nvPr/>
          </p:nvSpPr>
          <p:spPr>
            <a:xfrm>
              <a:off x="5598795" y="5337810"/>
              <a:ext cx="6059805" cy="807720"/>
            </a:xfrm>
            <a:prstGeom prst="roundRect">
              <a:avLst>
                <a:gd name="adj" fmla="val 1415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5803583" y="5641658"/>
              <a:ext cx="200026" cy="200025"/>
              <a:chOff x="5803583" y="5641658"/>
              <a:chExt cx="200026" cy="2000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5803583" y="5641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843321" y="5686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878037" y="5797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6106668" y="5534501"/>
              <a:ext cx="51254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ByteArrayOutputStream 把写入的字节存在内存数组里，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toByteArray() 取出一份副本。拿它当临时文件，整个过程不碰磁盘。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43645" cy="909257"/>
            <a:chOff x="520446" y="342900"/>
            <a:chExt cx="594364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21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801" y="407194"/>
              <a:ext cx="1863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流的分类总览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436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对象流例：Logon 登录信息写出再读回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193982" cy="2830830"/>
            <a:chOff x="533400" y="1524000"/>
            <a:chExt cx="5193982" cy="28308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830830"/>
            </a:xfrm>
            <a:prstGeom prst="roundRect">
              <a:avLst>
                <a:gd name="adj" fmla="val 336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7280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Logon 类（原课件第 85 页）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575"/>
              <a:ext cx="3433572" cy="2327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java.io.*;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java.util.*;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Logon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Serializable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Date date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Date();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username;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password;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Logon(String name, String pwd)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username = name;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password = pwd;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toString()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"logon info: \n   username: 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username +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"\n   date: 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date +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"\n   password: 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password;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4524375"/>
            <a:ext cx="5193982" cy="1746885"/>
            <a:chOff x="533400" y="4524375"/>
            <a:chExt cx="5193982" cy="1746885"/>
          </a:xfrm>
        </p:grpSpPr>
        <p:sp>
          <p:nvSpPr>
            <p:cNvPr id="11" name="Rectangle 11"/>
            <p:cNvSpPr/>
            <p:nvPr/>
          </p:nvSpPr>
          <p:spPr>
            <a:xfrm>
              <a:off x="533400" y="4524375"/>
              <a:ext cx="5193982" cy="1746885"/>
            </a:xfrm>
            <a:prstGeom prst="roundRect">
              <a:avLst>
                <a:gd name="adj" fmla="val 76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657725"/>
              <a:ext cx="47625" cy="148018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58190" y="471106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6811" y="474392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看输出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48562" y="4746308"/>
              <a:ext cx="13994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date 读回后不变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1332" y="5072062"/>
              <a:ext cx="44714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读回的对象不是重新构造出来的，构造方法和字段初始化都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不执行，date 仍是写出前那一刻。「Recovering object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at」后面才是读回时的当前时间。</a:t>
              </a:r>
            </a:p>
          </p:txBody>
        </p:sp>
      </p:grpSp>
      <p:grpSp>
        <p:nvGrpSpPr>
          <p:cNvPr id="23" name="c2-code-1"/>
          <p:cNvGrpSpPr/>
          <p:nvPr/>
        </p:nvGrpSpPr>
        <p:grpSpPr>
          <a:xfrm>
            <a:off x="6032182" y="1524000"/>
            <a:ext cx="5626418" cy="2675572"/>
            <a:chOff x="6032182" y="1524000"/>
            <a:chExt cx="5626418" cy="2675572"/>
          </a:xfrm>
        </p:grpSpPr>
        <p:sp>
          <p:nvSpPr>
            <p:cNvPr id="18" name="Rectangle 18"/>
            <p:cNvSpPr/>
            <p:nvPr/>
          </p:nvSpPr>
          <p:spPr>
            <a:xfrm>
              <a:off x="6032182" y="1524000"/>
              <a:ext cx="5626418" cy="2675572"/>
            </a:xfrm>
            <a:prstGeom prst="roundRect">
              <a:avLst>
                <a:gd name="adj" fmla="val 3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60580" y="1675924"/>
              <a:ext cx="14667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main（原课件第 86 页）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51232" y="2675572"/>
              <a:ext cx="5588318" cy="15430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051232" y="3294698"/>
              <a:ext cx="5588318" cy="15430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160770" y="1935575"/>
              <a:ext cx="3914140" cy="21736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Exception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Logon a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Logon(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"Hulk"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"myLittlePony"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"logon a = 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a);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ObjectOutputStream o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ObjectOutputStream(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FileOutputStream(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"Logon.out"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o.writeObject(a);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o.close();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ObjectInputStream in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ObjectInputStream(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FileInputStream(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"Logon.out"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"Recovering object at 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Date());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 = (Logon) in.readObject();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"logon a = 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a);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7" name="c2-code-2"/>
          <p:cNvGrpSpPr/>
          <p:nvPr/>
        </p:nvGrpSpPr>
        <p:grpSpPr>
          <a:xfrm>
            <a:off x="6032182" y="4370070"/>
            <a:ext cx="5626418" cy="1902142"/>
            <a:chOff x="6032182" y="4370070"/>
            <a:chExt cx="5626418" cy="1902142"/>
          </a:xfrm>
        </p:grpSpPr>
        <p:sp>
          <p:nvSpPr>
            <p:cNvPr id="24" name="Rectangle 24"/>
            <p:cNvSpPr/>
            <p:nvPr/>
          </p:nvSpPr>
          <p:spPr>
            <a:xfrm>
              <a:off x="6032182" y="4370070"/>
              <a:ext cx="5626418" cy="1902142"/>
            </a:xfrm>
            <a:prstGeom prst="roundRect">
              <a:avLst>
                <a:gd name="adj" fmla="val 500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160580" y="452199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输出（原课件）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60770" y="4780693"/>
              <a:ext cx="2953004" cy="1402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logon a = logon info: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username: Hulk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date: Fri Aug 31 18:11:01 CST 2012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password: myLittlePony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Recovering object at Fri Aug 31 18:11:01 CST 2012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logon a = logon info: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username: Hulk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date: Fri Aug 31 18:11:01 CST 2012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password: myLittlePony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8" name="TextBox 28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25934" cy="909257"/>
            <a:chOff x="520446" y="342900"/>
            <a:chExt cx="65259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21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801" y="407194"/>
              <a:ext cx="1863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 · 流的分类总览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259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transient：不想写进文件的字段（补充）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626418" cy="677228"/>
            <a:chOff x="533400" y="1524000"/>
            <a:chExt cx="5626418" cy="6772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677228"/>
            </a:xfrm>
            <a:prstGeom prst="roundRect">
              <a:avLst>
                <a:gd name="adj" fmla="val 1406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38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只改 Logon 的一行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1900238"/>
              <a:ext cx="5588318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949" y="1936337"/>
              <a:ext cx="2380735" cy="1848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transient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password;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2386965"/>
            <a:ext cx="5626418" cy="1189672"/>
            <a:chOff x="533400" y="2386965"/>
            <a:chExt cx="5626418" cy="1189672"/>
          </a:xfrm>
        </p:grpSpPr>
        <p:sp>
          <p:nvSpPr>
            <p:cNvPr id="12" name="Rectangle 12"/>
            <p:cNvSpPr/>
            <p:nvPr/>
          </p:nvSpPr>
          <p:spPr>
            <a:xfrm>
              <a:off x="533400" y="2386965"/>
              <a:ext cx="5626418" cy="1189672"/>
            </a:xfrm>
            <a:prstGeom prst="roundRect">
              <a:avLst>
                <a:gd name="adj" fmla="val 80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2538889"/>
              <a:ext cx="18195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读回后的输出（JDK 21 实测）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52450" y="3274695"/>
              <a:ext cx="5588318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949" y="2799302"/>
              <a:ext cx="2438984" cy="6963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logon a = logon info: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username: Hulk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date: Wed Sep 23 17:03:01 CST 2026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password: null</a:t>
              </a:r>
            </a:p>
          </p:txBody>
        </p:sp>
      </p:grpSp>
      <p:grpSp>
        <p:nvGrpSpPr>
          <p:cNvPr id="23" name="c1-card-3"/>
          <p:cNvGrpSpPr/>
          <p:nvPr/>
        </p:nvGrpSpPr>
        <p:grpSpPr>
          <a:xfrm>
            <a:off x="533400" y="3761422"/>
            <a:ext cx="5626418" cy="2552700"/>
            <a:chOff x="533400" y="3761422"/>
            <a:chExt cx="5626418" cy="2552700"/>
          </a:xfrm>
        </p:grpSpPr>
        <p:sp>
          <p:nvSpPr>
            <p:cNvPr id="17" name="Rectangle 17"/>
            <p:cNvSpPr/>
            <p:nvPr/>
          </p:nvSpPr>
          <p:spPr>
            <a:xfrm>
              <a:off x="533400" y="3761422"/>
              <a:ext cx="5626418" cy="2552700"/>
            </a:xfrm>
            <a:prstGeom prst="roundRect">
              <a:avLst>
                <a:gd name="adj" fmla="val 52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894772"/>
              <a:ext cx="47625" cy="228600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75335" y="3965258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2741" y="400097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另一个用途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03464" y="400478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字段本身不能序列化时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8096" y="4357211"/>
              <a:ext cx="494677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前面 Car 的例子里，把字段改成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transient Engine e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后，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Car2 能正常写出和读回：e 变成 null，其他字段照常恢复（实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测输出 B null 7）。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464618" y="1524000"/>
            <a:ext cx="5193982" cy="1836420"/>
            <a:chOff x="6464618" y="1524000"/>
            <a:chExt cx="5193982" cy="1836420"/>
          </a:xfrm>
        </p:grpSpPr>
        <p:sp>
          <p:nvSpPr>
            <p:cNvPr id="24" name="Rectangle 24"/>
            <p:cNvSpPr/>
            <p:nvPr/>
          </p:nvSpPr>
          <p:spPr>
            <a:xfrm>
              <a:off x="6464618" y="1524000"/>
              <a:ext cx="5193982" cy="1836420"/>
            </a:xfrm>
            <a:prstGeom prst="roundRect">
              <a:avLst>
                <a:gd name="adj" fmla="val 72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74142" y="1657350"/>
              <a:ext cx="47625" cy="156972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706552" y="17278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84911" y="17635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为什么需要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34681" y="176736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序列化文件是明文可读的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99314" y="2119789"/>
              <a:ext cx="4550029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原例把密码 myLittlePony 原样写进 Logon.out（实测文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件里能直接搜到这 12 个字母），任何人用文本编辑器都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能看到。密码这类敏感信息应该标 transient，或者写出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前自己加密。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464618" y="3545205"/>
            <a:ext cx="5193982" cy="1564958"/>
            <a:chOff x="6464618" y="3545205"/>
            <a:chExt cx="5193982" cy="1564958"/>
          </a:xfrm>
        </p:grpSpPr>
        <p:sp>
          <p:nvSpPr>
            <p:cNvPr id="31" name="Rectangle 31"/>
            <p:cNvSpPr/>
            <p:nvPr/>
          </p:nvSpPr>
          <p:spPr>
            <a:xfrm>
              <a:off x="6464618" y="3545205"/>
              <a:ext cx="5193982" cy="1564958"/>
            </a:xfrm>
            <a:prstGeom prst="roundRect">
              <a:avLst>
                <a:gd name="adj" fmla="val 8521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668452" y="374904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59613" y="378475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69861" y="3789521"/>
              <a:ext cx="19738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transient 字段不写出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1214" y="4140994"/>
              <a:ext cx="457708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序列化时跳过 transient 字段，读回时它取默认值：引用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类型为 null，int 为 0，boolean 为 false。static 字段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属于类，也不写出。</a:t>
              </a:r>
            </a:p>
          </p:txBody>
        </p:sp>
      </p:grpSp>
      <p:grpSp>
        <p:nvGrpSpPr>
          <p:cNvPr id="43" name="c2-callout-3"/>
          <p:cNvGrpSpPr/>
          <p:nvPr/>
        </p:nvGrpSpPr>
        <p:grpSpPr>
          <a:xfrm>
            <a:off x="6464618" y="5295900"/>
            <a:ext cx="5193982" cy="1018222"/>
            <a:chOff x="6464618" y="5295900"/>
            <a:chExt cx="5193982" cy="1018222"/>
          </a:xfrm>
        </p:grpSpPr>
        <p:sp>
          <p:nvSpPr>
            <p:cNvPr id="37" name="Rectangle 37"/>
            <p:cNvSpPr/>
            <p:nvPr/>
          </p:nvSpPr>
          <p:spPr>
            <a:xfrm>
              <a:off x="6464618" y="5295900"/>
              <a:ext cx="5193982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669405" y="5705475"/>
              <a:ext cx="200026" cy="200026"/>
              <a:chOff x="6669405" y="5705475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669405" y="570547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769418" y="5772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758305" y="580548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971729" y="5443061"/>
              <a:ext cx="4243451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transient 只影响对象序列化，对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DataOutputStream 的 writeXxx 和普通文件读写没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有作用。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自测（一）：概念辨析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2012823" cy="264033"/>
            <a:chOff x="526542" y="1545907"/>
            <a:chExt cx="201282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先自己写答案，再对照。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3505200" cy="2157412"/>
            <a:chOff x="533400" y="1928812"/>
            <a:chExt cx="3505200" cy="215741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27764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四个抽象基类分别是什么？按什么标准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2874010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按方向和单位分：字节输入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InputStream、字节输出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OutputStream、字符输入 Reader、字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符输出 Writer。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251008"/>
            <a:ext cx="3505200" cy="1914525"/>
            <a:chOff x="533400" y="4251008"/>
            <a:chExt cx="3505200" cy="1914525"/>
          </a:xfrm>
        </p:grpSpPr>
        <p:sp>
          <p:nvSpPr>
            <p:cNvPr id="15" name="Rectangle 15"/>
            <p:cNvSpPr/>
            <p:nvPr/>
          </p:nvSpPr>
          <p:spPr>
            <a:xfrm>
              <a:off x="533400" y="4251008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443198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446484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772501"/>
              <a:ext cx="2854909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FileOutputStream("log.txt")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打开一个已有文件，原内容会怎样？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5300186"/>
              <a:ext cx="23700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被清空。要追加，用 new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FileOutputStream("log.txt",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true)。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28812"/>
            <a:ext cx="3505200" cy="2157412"/>
            <a:chOff x="4343400" y="1928812"/>
            <a:chExt cx="3505200" cy="2157412"/>
          </a:xfrm>
        </p:grpSpPr>
        <p:sp>
          <p:nvSpPr>
            <p:cNvPr id="21" name="Rectangle 21"/>
            <p:cNvSpPr/>
            <p:nvPr/>
          </p:nvSpPr>
          <p:spPr>
            <a:xfrm>
              <a:off x="4343400" y="1928812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2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17898" y="2449354"/>
              <a:ext cx="250662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要复制一张 .jpg 图片，用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FileReader/FileWriter 行不行？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17898" y="2977991"/>
              <a:ext cx="293903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不行。字符流会按字符集解码再编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码，不能解码的字节被换成替换字符，文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件会损坏。用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FileInputStream/FileOutputStream。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4251008"/>
            <a:ext cx="3505200" cy="1914525"/>
            <a:chOff x="4343400" y="4251008"/>
            <a:chExt cx="3505200" cy="1914525"/>
          </a:xfrm>
        </p:grpSpPr>
        <p:sp>
          <p:nvSpPr>
            <p:cNvPr id="27" name="Rectangle 27"/>
            <p:cNvSpPr/>
            <p:nvPr/>
          </p:nvSpPr>
          <p:spPr>
            <a:xfrm>
              <a:off x="4343400" y="4251008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24375" y="443198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3832" y="446484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17898" y="477250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节点流和处理流怎样区分？各举一例。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7898" y="5057299"/>
              <a:ext cx="293903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构造参数是数据源（文件名、数组）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的是节点流，如 FileInputStream；参数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是另一个流的是处理流，如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BufferedInputStream。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28812"/>
            <a:ext cx="3505200" cy="1914525"/>
            <a:chOff x="8153400" y="1928812"/>
            <a:chExt cx="3505200" cy="1914525"/>
          </a:xfrm>
        </p:grpSpPr>
        <p:sp>
          <p:nvSpPr>
            <p:cNvPr id="33" name="Rectangle 33"/>
            <p:cNvSpPr/>
            <p:nvPr/>
          </p:nvSpPr>
          <p:spPr>
            <a:xfrm>
              <a:off x="815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3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27898" y="2449354"/>
              <a:ext cx="2866695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File("a.txt") 执行后磁盘上一定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a.txt 吗？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27898" y="2977991"/>
              <a:ext cx="281711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不一定。File 只描述路径，要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createNewFile() 才创建；是否存在用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exists() 判断。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008120"/>
            <a:ext cx="3505200" cy="2157412"/>
            <a:chOff x="8153400" y="4008120"/>
            <a:chExt cx="3505200" cy="2157412"/>
          </a:xfrm>
        </p:grpSpPr>
        <p:sp>
          <p:nvSpPr>
            <p:cNvPr id="39" name="Rectangle 39"/>
            <p:cNvSpPr/>
            <p:nvPr/>
          </p:nvSpPr>
          <p:spPr>
            <a:xfrm>
              <a:off x="8153400" y="400812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3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27898" y="4529614"/>
              <a:ext cx="28679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一个类的对象要能 writeObject，需要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满足什么条件？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27898" y="5057299"/>
              <a:ext cx="29390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类实现 Serializable，且非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transient 的字段也都可序列化；否则抛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NotSerializableException。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自测（二）：算字节数、读程序写输出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408872"/>
            <a:chOff x="533400" y="1524000"/>
            <a:chExt cx="3505200" cy="24088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408872"/>
            </a:xfrm>
            <a:prstGeom prst="roundRect">
              <a:avLst>
                <a:gd name="adj" fmla="val 553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2649245" cy="1364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DataOutputStream 依次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writeInt(5)、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writeDouble(1.5)、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writeUTF("abc")，文件多少字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996" y="3506629"/>
              <a:ext cx="27480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+ 8 + (2 + 3) = 17 字节。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118610"/>
            <a:ext cx="3505200" cy="2137410"/>
            <a:chOff x="533400" y="4118610"/>
            <a:chExt cx="3505200" cy="2137410"/>
          </a:xfrm>
        </p:grpSpPr>
        <p:sp>
          <p:nvSpPr>
            <p:cNvPr id="13" name="Rectangle 13"/>
            <p:cNvSpPr/>
            <p:nvPr/>
          </p:nvSpPr>
          <p:spPr>
            <a:xfrm>
              <a:off x="533400" y="411861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7235" y="432244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4722" y="435816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996" y="4695349"/>
              <a:ext cx="291524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Scanner 读输入「20 回车 Tom」：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 nextInt() 再 nextLine()，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nextLine() 返回什么？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996" y="5558314"/>
              <a:ext cx="282778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空串。nextInt 没有取走 20 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面的换行。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408872"/>
            <a:chOff x="4343400" y="1524000"/>
            <a:chExt cx="3505200" cy="2408872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408872"/>
            </a:xfrm>
            <a:prstGeom prst="roundRect">
              <a:avLst>
                <a:gd name="adj" fmla="val 553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4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3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39996" y="2100739"/>
              <a:ext cx="2932379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FileOutputStream 执行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write(258)，再用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FileInputStream 读，read() 返回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39996" y="3235166"/>
              <a:ext cx="275564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2。write(int) 只写低 8 位，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258 − 256 = 2。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4118610"/>
            <a:ext cx="3505200" cy="2137410"/>
            <a:chOff x="4343400" y="4118610"/>
            <a:chExt cx="3505200" cy="2137410"/>
          </a:xfrm>
        </p:grpSpPr>
        <p:sp>
          <p:nvSpPr>
            <p:cNvPr id="25" name="Rectangle 25"/>
            <p:cNvSpPr/>
            <p:nvPr/>
          </p:nvSpPr>
          <p:spPr>
            <a:xfrm>
              <a:off x="4343400" y="411861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47235" y="432244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34722" y="435816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39996" y="4695349"/>
              <a:ext cx="296168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BufferedOutputStream 包着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FileOutputStream，写 3 个字节后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 close 就结束程序，文件多大？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39996" y="5558314"/>
              <a:ext cx="283679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字节。数据还在 8192 字节的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缓冲区里，没 flush 也没 close。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137410"/>
            <a:chOff x="8153400" y="1524000"/>
            <a:chExt cx="3505200" cy="2137410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5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4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49996" y="2100739"/>
              <a:ext cx="295266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RandomAccessFile 连续 writeInt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三次后 seek(4)、readInt()，此时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getFilePointer() 是几？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49996" y="2963704"/>
              <a:ext cx="272859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8。seek 到第二个 int 的开头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4，读 4 字节后指针到 8。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847148"/>
            <a:ext cx="3505200" cy="2408872"/>
            <a:chOff x="8153400" y="3847148"/>
            <a:chExt cx="3505200" cy="2408872"/>
          </a:xfrm>
        </p:grpSpPr>
        <p:sp>
          <p:nvSpPr>
            <p:cNvPr id="37" name="Rectangle 37"/>
            <p:cNvSpPr/>
            <p:nvPr/>
          </p:nvSpPr>
          <p:spPr>
            <a:xfrm>
              <a:off x="8153400" y="3847148"/>
              <a:ext cx="3505200" cy="2408872"/>
            </a:xfrm>
            <a:prstGeom prst="roundRect">
              <a:avLst>
                <a:gd name="adj" fmla="val 553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57235" y="4050982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44722" y="408670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49996" y="4423886"/>
              <a:ext cx="283679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"a,,b" 用 useDelimiter(",")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逐个 next()，输出几项？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49996" y="5015389"/>
              <a:ext cx="289090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项：a、空串、b。连续两个逗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号之间夹出一个空串，写成 ",+" 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a、b。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7726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3710" y="407194"/>
              <a:ext cx="7766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第8章 IO流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bullets-1"/>
          <p:cNvGrpSpPr/>
          <p:nvPr/>
        </p:nvGrpSpPr>
        <p:grpSpPr>
          <a:xfrm>
            <a:off x="526923" y="1545431"/>
            <a:ext cx="5206619" cy="2643950"/>
            <a:chOff x="526923" y="1545431"/>
            <a:chExt cx="5206619" cy="2643950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四节各自的落点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3400" y="1835468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85307" y="187013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3148" y="1846421"/>
              <a:ext cx="49303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8.1 File 描述路径；FileReader/FileWriter 读写文本，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FileInputStream/FileOutputStream 原样读写字节，读到末尾返回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3400" y="2613660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85307" y="264928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3148" y="2625566"/>
              <a:ext cx="48572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8.2 四个抽象基类分出字节流与字符流；Data、Buffered、Object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流套在字节流外面，读回顺序和类型要与写入一致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149918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85307" y="318554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3148" y="3160871"/>
              <a:ext cx="45727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8.3 System.in 是字节流，按行读要套 InputStreamReader 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BufferedReader；Scanner 按单词和类型读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686175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5307" y="372084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3148" y="3697129"/>
              <a:ext cx="48572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8.4 RandomAccessFile 实现 DataInput/DataOutput，用 seek 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位；压缩流也是过滤流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4304348"/>
            <a:ext cx="5410200" cy="1886902"/>
            <a:chOff x="533400" y="4304348"/>
            <a:chExt cx="5410200" cy="1886902"/>
          </a:xfrm>
        </p:grpSpPr>
        <p:sp>
          <p:nvSpPr>
            <p:cNvPr id="21" name="Rectangle 21"/>
            <p:cNvSpPr/>
            <p:nvPr/>
          </p:nvSpPr>
          <p:spPr>
            <a:xfrm>
              <a:off x="533400" y="4304348"/>
              <a:ext cx="5410200" cy="1886902"/>
            </a:xfrm>
            <a:prstGeom prst="roundRect">
              <a:avLst>
                <a:gd name="adj" fmla="val 70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437698"/>
              <a:ext cx="47625" cy="162020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52475" y="448532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7044" y="451818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复习顺序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68006" y="452485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先分方向和单位，再看包几层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5998" y="4841081"/>
              <a:ext cx="47597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拿到一段 I/O 代码，先看最里层的节点流连着什么，再从里往外看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每层处理流加了什么功能，最后确认最外层有没有 close。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5998" y="5368766"/>
              <a:ext cx="47353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计算题抓住两件事：每个 writeXxx 写几个字节（UTF 串要加 2 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节长度），文件指针随读写自动后移。</a:t>
              </a:r>
            </a:p>
          </p:txBody>
        </p:sp>
      </p:grpSp>
      <p:grpSp>
        <p:nvGrpSpPr>
          <p:cNvPr id="55" name="c2-table-1"/>
          <p:cNvGrpSpPr/>
          <p:nvPr/>
        </p:nvGrpSpPr>
        <p:grpSpPr>
          <a:xfrm>
            <a:off x="6248400" y="1524000"/>
            <a:ext cx="5410200" cy="2856548"/>
            <a:chOff x="6248400" y="1524000"/>
            <a:chExt cx="5410200" cy="2856548"/>
          </a:xfrm>
        </p:grpSpPr>
        <p:sp>
          <p:nvSpPr>
            <p:cNvPr id="29" name="Rectangle 29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167372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易混点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94314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43079" y="2023110"/>
              <a:ext cx="19033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read() 与 readInt() 到末尾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15744" y="2023110"/>
              <a:ext cx="23470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前者返回 -1 / 后者抛 EOFException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48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43079" y="2404110"/>
              <a:ext cx="13923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write(int) 写几字节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15744" y="2404110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只写低 8 位，一个字节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2663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3079" y="2785110"/>
              <a:ext cx="193757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FileOutputStream 打开已有文</a:t>
              </a:r>
              <a:br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15744" y="2878455"/>
              <a:ext cx="21874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默认清空，append 为 true 才追加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3231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48400" y="323659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3079" y="33537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缓冲区默认大小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530590" y="3246120"/>
              <a:ext cx="311848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615744" y="3353752"/>
              <a:ext cx="21733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8192 字节（字符流 8192 个字符）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3612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43079" y="3734752"/>
              <a:ext cx="14832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PrintWriter 自动刷新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15744" y="3734752"/>
              <a:ext cx="20084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构造时 autoFlush 为 true 才有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3993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48400" y="399859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43079" y="4116705"/>
              <a:ext cx="10354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transient 字段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615744" y="4116705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不序列化，读回为默认值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1524000"/>
              <a:ext cx="5410200" cy="2856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516302" y="1524000"/>
              <a:ext cx="9525" cy="2856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2-card-2"/>
          <p:cNvGrpSpPr/>
          <p:nvPr/>
        </p:nvGrpSpPr>
        <p:grpSpPr>
          <a:xfrm>
            <a:off x="6248400" y="4545330"/>
            <a:ext cx="5410200" cy="1645920"/>
            <a:chOff x="6248400" y="4545330"/>
            <a:chExt cx="5410200" cy="1645920"/>
          </a:xfrm>
        </p:grpSpPr>
        <p:sp>
          <p:nvSpPr>
            <p:cNvPr id="56" name="Rectangle 56"/>
            <p:cNvSpPr/>
            <p:nvPr/>
          </p:nvSpPr>
          <p:spPr>
            <a:xfrm>
              <a:off x="6248400" y="4545330"/>
              <a:ext cx="5410200" cy="1645920"/>
            </a:xfrm>
            <a:prstGeom prst="roundRect">
              <a:avLst>
                <a:gd name="adj" fmla="val 81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57925" y="4678680"/>
              <a:ext cx="47625" cy="13792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467475" y="472630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52044" y="475916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版本差异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283006" y="4765834"/>
              <a:ext cx="15722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JDK 21 实测订正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60998" y="5082064"/>
              <a:ext cx="4247642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18 起文件流默认字符集为 UTF-8；带 Charset 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FileReader、FileWriter 构造器 Java 11 起可用；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StringBufferInputStream、LineNumberInputStream、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DataInputStream.readLine() 早在 Java 1.1 就已过时。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640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第8章 IO流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java_ch8">
  <a:themeElements>
    <a:clrScheme name="java_ch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java_ch8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ava_ch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2026-09-23T09:31:22Z</dcterms:created>
  <dcterms:modified xsi:type="dcterms:W3CDTF">2026-09-23T09:31:22Z</dcterms:modified>
  <cp:category/>
  <cp:contentStatus/>
</cp:coreProperties>
</file>