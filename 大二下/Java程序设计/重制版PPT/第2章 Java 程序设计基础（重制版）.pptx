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f0aae9bfa9c875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2078286b57a03d9.png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2f6971f577dcf01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935712" cy="3437763"/>
            <a:chOff x="666750" y="1619250"/>
            <a:chExt cx="493571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第2章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9357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程序设计基础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标识符、数据类型、操作符与控制结构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标识符、关键字与数据类型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操作符与类型转换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表达式、语句与语句块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分支、循环与跳转语句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自学复习版｜据吉林大学《Java程序设计》第2章课件整理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158901"/>
            <a:chOff x="521970" y="1515428"/>
            <a:chExt cx="6287453" cy="4158901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把课文《小白兔和小灰兔》写成程序，看看用到哪些语言要素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31370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标识符、关键字和数据类型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29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命名规则、关键字、常量与变量、8 种基本类型、包装类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37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操作符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赋值、算术、关系、逻辑、位与移位、字符串、类型转换、条件操作符、优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先级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 表达式与语句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表达式的组成、语句、空语句、语句块与作用域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控制结构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51661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顺序、if-else、switch、while、do-while、for，break、continue、</a:t>
              </a:r>
              <a:br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return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100512"/>
            <a:chOff x="7114222" y="1524000"/>
            <a:chExt cx="4544378" cy="4100512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100512"/>
            </a:xfrm>
            <a:prstGeom prst="roundRect">
              <a:avLst>
                <a:gd name="adj" fmla="val 32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83381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判断一个名字能否作 Java 标识符，并按惯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例给类、方法、变量、常量命名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8 种基本类型的位数、取值范围、默认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值和字面量写法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手算含自增、整除、位运算、类型转换的表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达式，并按优先级说明求值顺序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== 与 equals()、&amp; 与 &amp;&amp;、break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continue（含带标号的形式）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读懂并写出分支和循环程序，给出运行结果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引子：把《小白兔和小灰兔》写成程序，要用到哪些要素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4229100"/>
            <a:chOff x="533400" y="1524000"/>
            <a:chExt cx="5626418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229100"/>
            </a:xfrm>
            <a:prstGeom prst="roundRect">
              <a:avLst>
                <a:gd name="adj" fmla="val 2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9665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Cabbage.java（原课件引例；Math.random() 让每次输出不同）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226" y="1938099"/>
              <a:ext cx="5112194" cy="37445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45"/>
                </a:lnSpc>
              </a:pP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Cabbage {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sumCabbage = 20;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whiteRabbit = (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(Math.random() * sumCabbage / 2);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grayRabbit = (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(Math.random() * sumCabbage / 2);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finishJob =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digCabbage = sumCabbage;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whiteRabbit; i++) {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System.out.println(</a:t>
              </a:r>
              <a:r>
                <a:rPr lang="zh-CN" sz="10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"小白兔拾取了第"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digCabbage + </a:t>
              </a:r>
              <a:r>
                <a:rPr lang="zh-CN" sz="10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"颗白菜。"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digCabbage--;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grayRabbit; i++) {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System.out.println(</a:t>
              </a:r>
              <a:r>
                <a:rPr lang="zh-CN" sz="10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"小灰兔拾取了第"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digCabbage + </a:t>
              </a:r>
              <a:r>
                <a:rPr lang="zh-CN" sz="10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"颗白菜。"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digCabbage--;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(digCabbage &gt; 0) {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System.out.println(</a:t>
              </a:r>
              <a:r>
                <a:rPr lang="zh-CN" sz="10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"老山羊拾取了第"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digCabbage + </a:t>
              </a:r>
              <a:r>
                <a:rPr lang="zh-CN" sz="10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"颗白菜。"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digCabbage--;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464618" y="1524000"/>
            <a:ext cx="5193982" cy="3139440"/>
            <a:chOff x="6464618" y="1524000"/>
            <a:chExt cx="5193982" cy="3139440"/>
          </a:xfrm>
        </p:grpSpPr>
        <p:sp>
          <p:nvSpPr>
            <p:cNvPr id="11" name="Rectangle 11"/>
            <p:cNvSpPr/>
            <p:nvPr/>
          </p:nvSpPr>
          <p:spPr>
            <a:xfrm>
              <a:off x="6464618" y="1524000"/>
              <a:ext cx="5193982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93015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后半部分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2252" y="1937861"/>
              <a:ext cx="4271518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(grayRabbit &gt; sumCabbage / 5)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"老山羊给了小灰兔一车白菜。"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"小灰兔偷懒得不到白菜。"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(whiteRabbit &gt; sumCabbage / 5)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"老山羊要给小白兔一车白菜。"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finishJob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"小白兔偷懒得不到白菜。"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(finishJob)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"小白兔向老山羊要了一包种子。"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kv-2"/>
          <p:cNvGrpSpPr/>
          <p:nvPr/>
        </p:nvGrpSpPr>
        <p:grpSpPr>
          <a:xfrm>
            <a:off x="6456998" y="4878705"/>
            <a:ext cx="5201602" cy="1455420"/>
            <a:chOff x="6456998" y="4878705"/>
            <a:chExt cx="5201602" cy="1455420"/>
          </a:xfrm>
        </p:grpSpPr>
        <p:sp>
          <p:nvSpPr>
            <p:cNvPr id="15" name="TextBox 15"/>
            <p:cNvSpPr txBox="1"/>
            <p:nvPr/>
          </p:nvSpPr>
          <p:spPr>
            <a:xfrm>
              <a:off x="6456998" y="48787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标识符与关键字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15288" y="4878705"/>
              <a:ext cx="34347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sumCabbage 等是标识符，final、int 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是关键字（2.1）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64618" y="54806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56998" y="56007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操作符与表达式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15288" y="5600700"/>
              <a:ext cx="341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(int)、*、/、--、&gt; 等（2.2、2.3）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64618" y="59207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6998" y="6040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控制结构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15288" y="6040755"/>
              <a:ext cx="35894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for、while 循环，if-else 分支（2.4）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001893" cy="4277677"/>
            <a:chOff x="667512" y="1835468"/>
            <a:chExt cx="6001893" cy="42776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001893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标识符、关键字和数据类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给程序里的东西起名字，并说明它存放哪种数据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2283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标识符与 Unicode 字符集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常量与变量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种基本数据类型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87692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819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基本类型的包装类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6197" cy="909257"/>
            <a:chOff x="520446" y="342900"/>
            <a:chExt cx="6276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6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标识符：以字母、下划线或 $ 开头的名字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410200" cy="3039428"/>
            <a:chOff x="533400" y="1524000"/>
            <a:chExt cx="5410200" cy="30394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039428"/>
            </a:xfrm>
            <a:prstGeom prst="roundRect">
              <a:avLst>
                <a:gd name="adj" fmla="val 43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7272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929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标识符（Identifier）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给包、类、方法、参数和变量等要素命名时使用的字符序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4986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9033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首字符：字母、下划线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_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$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6800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007519"/>
              <a:ext cx="3044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后续字符：字母、下划线、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$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或数字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38518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325654"/>
              <a:ext cx="47235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区分大小写：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Welcome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WELCOME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是两个不同的名字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7240" y="370332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3831" y="3642836"/>
              <a:ext cx="37803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不能是关键字，也不能是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true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false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524" y="3957638"/>
              <a:ext cx="4782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这里的“字母”指 Unicode 字母，汉字也算，所以张三、汽车都是合法的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标识符。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744402"/>
            <a:ext cx="5410200" cy="1522095"/>
            <a:chOff x="533400" y="4744402"/>
            <a:chExt cx="5410200" cy="1522095"/>
          </a:xfrm>
        </p:grpSpPr>
        <p:sp>
          <p:nvSpPr>
            <p:cNvPr id="23" name="Rectangle 23"/>
            <p:cNvSpPr/>
            <p:nvPr/>
          </p:nvSpPr>
          <p:spPr>
            <a:xfrm>
              <a:off x="533400" y="4744402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877752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9620" y="49425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1060" y="49768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381" y="5303044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原课件写“长度不超过 255 个字符”“系统最多识别前 255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字符”。Java 语言规范规定标识符长度不限，每个字符都参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与区分。</a:t>
              </a:r>
            </a:p>
          </p:txBody>
        </p:sp>
      </p:grpSp>
      <p:grpSp>
        <p:nvGrpSpPr>
          <p:cNvPr id="75" name="c2-table-1"/>
          <p:cNvGrpSpPr/>
          <p:nvPr/>
        </p:nvGrpSpPr>
        <p:grpSpPr>
          <a:xfrm>
            <a:off x="6248400" y="1524000"/>
            <a:ext cx="5410200" cy="4244340"/>
            <a:chOff x="6248400" y="1524000"/>
            <a:chExt cx="5410200" cy="4244340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9229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8291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7648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0889" y="2076450"/>
              <a:ext cx="696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Welcome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63687" y="20764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31186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字母开头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0889" y="2501265"/>
              <a:ext cx="485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_Java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63687" y="250126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31186" y="25012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下划线开头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0889" y="292608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$200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63687" y="29260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31186" y="292608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 开头，后面跟数字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0889" y="33499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张三、汽车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63687" y="33499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31186" y="3349942"/>
              <a:ext cx="1665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汉字属于 Unicode 字母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0889" y="3774757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&amp;1000000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63687" y="377475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31186" y="3774757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 不能出现在标识符中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40662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407098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0889" y="419862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2count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63687" y="41986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31186" y="419862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不能以数字开头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4900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50889" y="4623435"/>
              <a:ext cx="7330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my-name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63687" y="46234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31186" y="46234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减号不是标识符字符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49149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4919662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50889" y="5048250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63687" y="50482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31186" y="50482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关键字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53387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50889" y="54721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_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63687" y="547211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31186" y="5472112"/>
              <a:ext cx="2267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9 起单独的下划线是关键字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1524000"/>
              <a:ext cx="5410200" cy="42443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866698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623935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42405" cy="909257"/>
            <a:chOff x="520446" y="342900"/>
            <a:chExt cx="8442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42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采用 Unicode 字符集，char 是 16 位的编码单元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3040380"/>
            <a:chOff x="533400" y="1524000"/>
            <a:chExt cx="5626418" cy="3040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040380"/>
            </a:xfrm>
            <a:prstGeom prst="roundRect">
              <a:avLst>
                <a:gd name="adj" fmla="val 438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503045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0615" y="1769269"/>
              <a:ext cx="1387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为什么需要 Unicode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968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计算机只处理数字，每个字符都要对应一个编号。Unicode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出现之前有数百种编码，彼此冲突：同一个数字在两种编码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里可能代表不同字符，文本在不同平台之间传递时容易变成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303270"/>
              <a:ext cx="4949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Unicode 为世界上各种文字的每个字符规定唯一的编号（码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点），1991 年发布 1.0 版，现在是通用标准。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473" y="3920966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原课件备注写“1994 年正式公布”，Unicode 1.0 实际在 1991 年发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布。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5780" y="4779645"/>
            <a:ext cx="5634038" cy="1015365"/>
            <a:chOff x="525780" y="4779645"/>
            <a:chExt cx="5634038" cy="1015365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47796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码点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61135" y="4779645"/>
              <a:ext cx="42401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字符的编号，如 U+0041 是 A，U+5468 是“周”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50996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5219700"/>
              <a:ext cx="75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UTF-16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61135" y="5219700"/>
              <a:ext cx="44634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字符串在内存中的编码：常用字符占 1 个 16 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单元，其余字符占 2 个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464618" y="1524000"/>
            <a:ext cx="5193982" cy="1313498"/>
            <a:chOff x="6464618" y="1524000"/>
            <a:chExt cx="5193982" cy="1313498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93015" y="1675924"/>
              <a:ext cx="1485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汉字与 emoji 在 Java 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2252" y="1937861"/>
              <a:ext cx="427151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'周'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汉字在 16 位范围内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年龄 = 20;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合法，但一般不用汉字命名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"\uD83D\uDE00"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笑脸 emoji，码点 U+1F600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System.out.println(s.length());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2：占两个 char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464618" y="3027998"/>
            <a:ext cx="5193982" cy="2707958"/>
            <a:chOff x="6464618" y="3027998"/>
            <a:chExt cx="5193982" cy="2707958"/>
          </a:xfrm>
        </p:grpSpPr>
        <p:sp>
          <p:nvSpPr>
            <p:cNvPr id="24" name="Rectangle 24"/>
            <p:cNvSpPr/>
            <p:nvPr/>
          </p:nvSpPr>
          <p:spPr>
            <a:xfrm>
              <a:off x="6464618" y="3027998"/>
              <a:ext cx="5193982" cy="2707958"/>
            </a:xfrm>
            <a:prstGeom prst="roundRect">
              <a:avLst>
                <a:gd name="adj" fmla="val 49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3161348"/>
              <a:ext cx="47625" cy="2441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12268" y="32375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03428" y="32732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4648" y="3614738"/>
              <a:ext cx="4387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原课件写“Unicode 字符是 16 bits 存储格式”，这是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 年 Unicode 2.0 之前的情况。现在码点最大到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U+10FFFF，超出了 16 位。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4648" y="4521518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 char 是 16 位的 UTF-16 编码单元：汉字等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常用字符用一个 char 表示，emoji 这类字符要用两个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 表示。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命名惯例：类名首字母大写，方法和变量用驼峰，常量全大写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8447" y="1524000"/>
            <a:ext cx="6280975" cy="3063906"/>
            <a:chOff x="528447" y="1524000"/>
            <a:chExt cx="6280975" cy="30639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88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4961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861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34490" y="20454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通常用名词，每个单词首字母大写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72978" y="2045494"/>
              <a:ext cx="1502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SimpleApp、Runnable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545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34490" y="2445544"/>
              <a:ext cx="27139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以动词开头，首单词全小写，其后每个单词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首字母大写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2978" y="2545556"/>
              <a:ext cx="1822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processResult、getName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1456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34490" y="314563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首单词全小写，其后每个单词首字母大写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72978" y="3045619"/>
              <a:ext cx="10568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outputResult、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courseCount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2425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34490" y="36456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全部大写，多个单词用下划线连接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72978" y="3645694"/>
              <a:ext cx="1118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PI、MAX_VALUE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195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0457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34490" y="404574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全部小写，常用倒写的域名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72978" y="4045744"/>
              <a:ext cx="1210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cn.edu.jlu.demo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27602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53257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7106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4397216"/>
              <a:ext cx="27935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包名一行为补充；这种大小写写法俗称“驼峰式”</a:t>
              </a:r>
            </a:p>
          </p:txBody>
        </p:sp>
      </p:grpSp>
      <p:grpSp>
        <p:nvGrpSpPr>
          <p:cNvPr id="57" name="c1-compare-2"/>
          <p:cNvGrpSpPr/>
          <p:nvPr/>
        </p:nvGrpSpPr>
        <p:grpSpPr>
          <a:xfrm>
            <a:off x="533400" y="4719638"/>
            <a:ext cx="6275070" cy="1524000"/>
            <a:chOff x="533400" y="4719638"/>
            <a:chExt cx="6275070" cy="1524000"/>
          </a:xfrm>
        </p:grpSpPr>
        <p:sp>
          <p:nvSpPr>
            <p:cNvPr id="37" name="Rectangle 37"/>
            <p:cNvSpPr/>
            <p:nvPr/>
          </p:nvSpPr>
          <p:spPr>
            <a:xfrm>
              <a:off x="533400" y="4719638"/>
              <a:ext cx="2966085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852988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1332" y="49291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符合惯例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6762" y="530161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2782" y="5245418"/>
              <a:ext cx="1587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StudentInfo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66762" y="56026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2782" y="5546408"/>
              <a:ext cx="1582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printScore()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66762" y="59026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2782" y="5846445"/>
              <a:ext cx="1617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int MAX_SIZE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842385" y="4719638"/>
              <a:ext cx="2966085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3851910" y="4852988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060317" y="492918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能编译但不符合惯例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075748" y="530161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231767" y="5245418"/>
              <a:ext cx="1576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studentinfo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4075748" y="56026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231767" y="5546408"/>
              <a:ext cx="1589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PrintScore()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075748" y="59026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231767" y="5846445"/>
              <a:ext cx="1476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int maxsize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3509010" y="531971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579350" y="541591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2" name="c2-card-1"/>
          <p:cNvGrpSpPr/>
          <p:nvPr/>
        </p:nvGrpSpPr>
        <p:grpSpPr>
          <a:xfrm>
            <a:off x="7114222" y="1524000"/>
            <a:ext cx="4544378" cy="2047875"/>
            <a:chOff x="7114222" y="1524000"/>
            <a:chExt cx="4544378" cy="2047875"/>
          </a:xfrm>
        </p:grpSpPr>
        <p:sp>
          <p:nvSpPr>
            <p:cNvPr id="58" name="Rectangle 58"/>
            <p:cNvSpPr/>
            <p:nvPr/>
          </p:nvSpPr>
          <p:spPr>
            <a:xfrm>
              <a:off x="7114222" y="1524000"/>
              <a:ext cx="4544378" cy="2047875"/>
            </a:xfrm>
            <a:prstGeom prst="roundRect">
              <a:avLst>
                <a:gd name="adj" fmla="val 6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23748" y="1657350"/>
              <a:ext cx="47625" cy="17811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39012" y="1710690"/>
              <a:ext cx="195167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85926" y="1743551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良好的代码规范（原课件建议）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39012" y="2043112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94691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18857" y="205454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多写注释，开始时可写中文，完成后整理成英文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39012" y="2343150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94691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18857" y="235553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捕获异常后至少把异常信息打印出来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339012" y="2643188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394691" y="26815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18857" y="2655570"/>
              <a:ext cx="35798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定期备份：原课件建议打包 .rar 并注明日期，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现在更常用 Git 管理版本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33298" y="3209449"/>
              <a:ext cx="40773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自动排版：Eclipse 按 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Ctrl+Shift+F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，IDEA 按 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Ctrl+Alt+L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7114222" y="3741420"/>
            <a:ext cx="4544378" cy="2502218"/>
            <a:chOff x="7114222" y="3741420"/>
            <a:chExt cx="4544378" cy="2502218"/>
          </a:xfrm>
        </p:grpSpPr>
        <p:sp>
          <p:nvSpPr>
            <p:cNvPr id="73" name="Rectangle 73"/>
            <p:cNvSpPr/>
            <p:nvPr/>
          </p:nvSpPr>
          <p:spPr>
            <a:xfrm>
              <a:off x="7114222" y="3741420"/>
              <a:ext cx="4544378" cy="2502218"/>
            </a:xfrm>
            <a:prstGeom prst="roundRect">
              <a:avLst>
                <a:gd name="adj" fmla="val 53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23748" y="3874770"/>
              <a:ext cx="47625" cy="22355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339012" y="39281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30732" y="39609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32154" y="4271962"/>
              <a:ext cx="38713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原课件写“对象实例名和全局变量名”首单词小写。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没有类外的全局变量，这里应理解为对象变量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和类的成员变量。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6151" cy="909257"/>
            <a:chOff x="520446" y="342900"/>
            <a:chExt cx="73961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61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关键字：51 个保留字，全部小写，不能作标识符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8447" y="1524000"/>
            <a:ext cx="6713411" cy="3463956"/>
            <a:chOff x="528447" y="1524000"/>
            <a:chExt cx="6713411" cy="34639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74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2678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基本类型与 void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72628" y="204549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byte char short int long float double void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流程控制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2628" y="2445544"/>
              <a:ext cx="4572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else switch case default for while do break continue return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9456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类与对象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2628" y="2845594"/>
              <a:ext cx="3923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interface enum extends implements new this super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instanceof package import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24225"/>
              <a:ext cx="670845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5456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修饰符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72628" y="3445669"/>
              <a:ext cx="36954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protected private abstract final static native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transient volatile strictfp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195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异常处理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72628" y="4045744"/>
              <a:ext cx="2838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catch finally throw throws assert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3195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32435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保留未用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2628" y="44457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 goto _（单独的下划线）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6708458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870710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447" y="4797266"/>
              <a:ext cx="50165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 + 11 + 11 + 11 + 6 + 3 = 51 个。enum、strictfp、assert、_ 不在原课件的表里。</a:t>
              </a:r>
            </a:p>
          </p:txBody>
        </p:sp>
      </p:grpSp>
      <p:grpSp>
        <p:nvGrpSpPr>
          <p:cNvPr id="35" name="c1-text-2"/>
          <p:cNvGrpSpPr/>
          <p:nvPr/>
        </p:nvGrpSpPr>
        <p:grpSpPr>
          <a:xfrm>
            <a:off x="527685" y="5138261"/>
            <a:ext cx="6383782" cy="661988"/>
            <a:chOff x="527685" y="5138261"/>
            <a:chExt cx="6383782" cy="661988"/>
          </a:xfrm>
        </p:grpSpPr>
        <p:sp>
          <p:nvSpPr>
            <p:cNvPr id="34" name="TextBox 34"/>
            <p:cNvSpPr txBox="1"/>
            <p:nvPr/>
          </p:nvSpPr>
          <p:spPr>
            <a:xfrm>
              <a:off x="527685" y="5138261"/>
              <a:ext cx="6383782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易错：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System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Integer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只是 java.lang 里的类名，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String = 3;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照样能编译，代价是这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个方法里再也用不了 String 类；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main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args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length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是方法名、参数名和数组属性，也都不是关键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字。单独的下划线 </a:t>
              </a:r>
              <a:r>
                <a:rPr lang="zh-CN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_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JDK 8 里还能作变量名，JDK 9 起收为保留字。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7546658" y="1524000"/>
            <a:ext cx="4111942" cy="2300288"/>
            <a:chOff x="7546658" y="1524000"/>
            <a:chExt cx="4111942" cy="2300288"/>
          </a:xfrm>
        </p:grpSpPr>
        <p:sp>
          <p:nvSpPr>
            <p:cNvPr id="36" name="Rectangle 36"/>
            <p:cNvSpPr/>
            <p:nvPr/>
          </p:nvSpPr>
          <p:spPr>
            <a:xfrm>
              <a:off x="7546658" y="1524000"/>
              <a:ext cx="4111942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56182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71448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64119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780020" y="211074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36039" y="2054542"/>
              <a:ext cx="30998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关键字由系统定义，代表语言中的特定含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义，全部小写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780020" y="26689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36039" y="2612708"/>
              <a:ext cx="30569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const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goto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保留但不使用，Java 没有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goto 语句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780020" y="322611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36039" y="3169920"/>
              <a:ext cx="33312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标识符可以包含关键字（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classNum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），但不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能就是关键字（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class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7546658" y="3994785"/>
            <a:ext cx="4111942" cy="2214562"/>
            <a:chOff x="7546658" y="3994785"/>
            <a:chExt cx="4111942" cy="2214562"/>
          </a:xfrm>
        </p:grpSpPr>
        <p:sp>
          <p:nvSpPr>
            <p:cNvPr id="47" name="Rectangle 47"/>
            <p:cNvSpPr/>
            <p:nvPr/>
          </p:nvSpPr>
          <p:spPr>
            <a:xfrm>
              <a:off x="7546658" y="3994785"/>
              <a:ext cx="4111942" cy="2214562"/>
            </a:xfrm>
            <a:prstGeom prst="roundRect">
              <a:avLst>
                <a:gd name="adj" fmla="val 60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56182" y="4128135"/>
              <a:ext cx="47625" cy="19478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771448" y="4181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4119" y="4214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64589" y="4525328"/>
              <a:ext cx="3554158" cy="15499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原课件说“共 48 个关键字”，表中把 true、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false、null 算了进去。它们是字面量，同样不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能作标识符，但不是关键字。表里还漏了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strictfp（JDK 1.2）、assert（JDK 1.4）、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enum（JDK 5）。按 JDK 9 以后的语言规范，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保留关键字共 51 个。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48717" cy="909257"/>
            <a:chOff x="520446" y="342900"/>
            <a:chExt cx="85487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487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几个少见的关键字，以及 var、record 等上下文关键字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5780" y="1548765"/>
            <a:ext cx="5850255" cy="4027170"/>
            <a:chOff x="525780" y="1548765"/>
            <a:chExt cx="5850255" cy="40271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native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52600" y="1548765"/>
              <a:ext cx="433006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方法由其他语言（通常是 C/C++）实现。Java 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直接访问操作系统底层，借助 native 方法扩展，相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当于 Java 程序与 C 程序之间的接口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transient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2600" y="2552700"/>
              <a:ext cx="4396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修饰成员变量：对象被序列化保存时，不保存这个变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量的值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1546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274695"/>
              <a:ext cx="789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volatile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2600" y="3274695"/>
              <a:ext cx="4396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修饰成员变量：多个线程读到的总是最新值。它不能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n++、n = n + 1 这类依赖旧值的操作变成原子操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作，这时要用 synchronized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1586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4278630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strictfp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2600" y="4278630"/>
              <a:ext cx="4368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要求浮点运算严格按 IEEE 754 进行。JDK 17 起所有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浮点运算都是严格的，这个关键字已不起作用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8806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500062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assert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2600" y="5000625"/>
              <a:ext cx="3958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断言，如 assert x &gt; 0; 条件为假时抛出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AssertionError，运行时要加 -ea 参数才生效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680835" y="1524000"/>
            <a:ext cx="4977765" cy="2291715"/>
            <a:chOff x="6680835" y="1524000"/>
            <a:chExt cx="4977765" cy="2291715"/>
          </a:xfrm>
        </p:grpSpPr>
        <p:sp>
          <p:nvSpPr>
            <p:cNvPr id="22" name="Rectangle 22"/>
            <p:cNvSpPr/>
            <p:nvPr/>
          </p:nvSpPr>
          <p:spPr>
            <a:xfrm>
              <a:off x="6680835" y="1524000"/>
              <a:ext cx="4977765" cy="2291715"/>
            </a:xfrm>
            <a:prstGeom prst="roundRect">
              <a:avLst>
                <a:gd name="adj" fmla="val 581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90385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3842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上下文关键字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60055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只在特定位置有特殊含义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896100" y="2192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54215" y="2129790"/>
              <a:ext cx="3220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var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（JDK 10）：局部变量类型推断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96100" y="25279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54215" y="2465070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yield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（JDK 14）、</a:t>
              </a: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record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（JDK 16）、</a:t>
              </a: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sealed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permits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（JDK 17）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82765" y="3086100"/>
              <a:ext cx="4339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它们不在 51 个保留关键字之中，在别的位置仍可作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变量名。</a:t>
              </a:r>
            </a:p>
          </p:txBody>
        </p:sp>
      </p:grpSp>
      <p:grpSp>
        <p:nvGrpSpPr>
          <p:cNvPr id="35" name="c2-code-2"/>
          <p:cNvGrpSpPr/>
          <p:nvPr/>
        </p:nvGrpSpPr>
        <p:grpSpPr>
          <a:xfrm>
            <a:off x="6680835" y="4006215"/>
            <a:ext cx="4977765" cy="1516380"/>
            <a:chOff x="6680835" y="4006215"/>
            <a:chExt cx="4977765" cy="1516380"/>
          </a:xfrm>
        </p:grpSpPr>
        <p:sp>
          <p:nvSpPr>
            <p:cNvPr id="32" name="Rectangle 32"/>
            <p:cNvSpPr/>
            <p:nvPr/>
          </p:nvSpPr>
          <p:spPr>
            <a:xfrm>
              <a:off x="6680835" y="4006215"/>
              <a:ext cx="497776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9232" y="415813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8470" y="4421029"/>
              <a:ext cx="308381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classNum = 3;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包含关键字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= 3;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class 是关键字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goto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= 1;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goto 保留未用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record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= 1;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可作变量名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"abc"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推断为 String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5515" cy="909257"/>
            <a:chOff x="520446" y="342900"/>
            <a:chExt cx="75755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55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常量：文字常量直接写值，符号常量用 final 声明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912745"/>
            <a:chOff x="533400" y="1524000"/>
            <a:chExt cx="5410200" cy="2912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762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常量（Constant）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9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程序运行过程中值保持不变的量。Java 允许两种常量：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4406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文字常量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（Literal Constant）：直接写出的值，如</a:t>
              </a:r>
              <a:br/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3.14159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'a'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符号常量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（Symbolic Constant）：用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修饰的标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识符，如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PI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，赋值之后不能再改动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70713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所有基本数据类型都可以定义常量，取值范围内的值都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能写成文字常量。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627245"/>
            <a:ext cx="5410200" cy="1365885"/>
            <a:chOff x="533400" y="4627245"/>
            <a:chExt cx="5410200" cy="1365885"/>
          </a:xfrm>
        </p:grpSpPr>
        <p:sp>
          <p:nvSpPr>
            <p:cNvPr id="19" name="Rectangle 19"/>
            <p:cNvSpPr/>
            <p:nvPr/>
          </p:nvSpPr>
          <p:spPr>
            <a:xfrm>
              <a:off x="533400" y="4627245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760595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8367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48725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惯例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527685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5213985"/>
              <a:ext cx="3023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符号常量名全大写，如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MAX_SIZE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561213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5549265"/>
              <a:ext cx="4883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类中公用的常量通常声明为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 final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，如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Math.PI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6248400" y="1524000"/>
            <a:ext cx="5410200" cy="2125028"/>
            <a:chOff x="6248400" y="1524000"/>
            <a:chExt cx="5410200" cy="2125028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1937861"/>
              <a:ext cx="4214622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 = 3.14159;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PI2 = 3.14159f;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float 字面量加 f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PI3 = 3.14159;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3.14159 是 double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PI = 3.14;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final 变量不能再赋值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SIZE;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可以先声明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SIZE = 10;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第一次赋值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SIZE = 20;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不能第二次赋值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839528"/>
            <a:ext cx="5410200" cy="2153602"/>
            <a:chOff x="6248400" y="3839528"/>
            <a:chExt cx="5410200" cy="2153602"/>
          </a:xfrm>
        </p:grpSpPr>
        <p:sp>
          <p:nvSpPr>
            <p:cNvPr id="32" name="Rectangle 32"/>
            <p:cNvSpPr/>
            <p:nvPr/>
          </p:nvSpPr>
          <p:spPr>
            <a:xfrm>
              <a:off x="6248400" y="3839528"/>
              <a:ext cx="5410200" cy="2153602"/>
            </a:xfrm>
            <a:prstGeom prst="roundRect">
              <a:avLst>
                <a:gd name="adj" fmla="val 61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3972878"/>
              <a:ext cx="47625" cy="18869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6050" y="40490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6258" y="40847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4426268"/>
              <a:ext cx="47301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原课件示例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 float PI=3.14159;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编译不通过：带小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数点的字面量默认是 double，不能直接赋给 float，编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译器报 possible lossy conversion。应写成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3.14159f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，或把类型改为 double。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变量：先声明、创建、初始化再使用；只有成员变量有默认值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24000"/>
            <a:ext cx="4977765" cy="1358265"/>
            <a:chOff x="533400" y="1524000"/>
            <a:chExt cx="4977765" cy="13582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468755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66750" y="1657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883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9892" y="20602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47436"/>
              <a:ext cx="1149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说明名字和类型：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i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078355" y="211740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287905" y="1524000"/>
              <a:ext cx="1468755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421255" y="1657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11388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4397" y="20602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5540" y="2347436"/>
              <a:ext cx="1149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按类型分配存储空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832860" y="211740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42410" y="1524000"/>
              <a:ext cx="1468755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175760" y="1657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65893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68902" y="20602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70045" y="23474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赋初值：i = 1</a:t>
              </a:r>
            </a:p>
          </p:txBody>
        </p:sp>
      </p:grpSp>
      <p:grpSp>
        <p:nvGrpSpPr>
          <p:cNvPr id="59" name="c1-table-2"/>
          <p:cNvGrpSpPr/>
          <p:nvPr/>
        </p:nvGrpSpPr>
        <p:grpSpPr>
          <a:xfrm>
            <a:off x="528447" y="3052762"/>
            <a:ext cx="4982718" cy="2663857"/>
            <a:chOff x="528447" y="3052762"/>
            <a:chExt cx="4982718" cy="2663857"/>
          </a:xfrm>
        </p:grpSpPr>
        <p:sp>
          <p:nvSpPr>
            <p:cNvPr id="25" name="Rectangle 25"/>
            <p:cNvSpPr/>
            <p:nvPr/>
          </p:nvSpPr>
          <p:spPr>
            <a:xfrm>
              <a:off x="533400" y="3052762"/>
              <a:ext cx="497776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94131" y="31742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13191" y="31742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98266" y="31742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7313" y="31742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0555" y="3574256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50884" y="357425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18498" y="357425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55855" y="35742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0L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8481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852862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397430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07649" y="39743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'\u0000'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18498" y="39743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77623" y="3974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0.0f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2481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555" y="43743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97890" y="4374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18498" y="43743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77623" y="4374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6482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652962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555" y="477440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397890" y="4774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218498" y="4774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引用类型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15317" y="4774406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0482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555" y="517445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397890" y="5174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052762"/>
              <a:ext cx="497776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763078" y="305276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116580" y="305276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382452" y="305276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447" y="552592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成员变量（方法体外声明）未赋值时的默认值</a:t>
              </a:r>
            </a:p>
          </p:txBody>
        </p:sp>
      </p:grpSp>
      <p:grpSp>
        <p:nvGrpSpPr>
          <p:cNvPr id="63" name="c2-code-1"/>
          <p:cNvGrpSpPr/>
          <p:nvPr/>
        </p:nvGrpSpPr>
        <p:grpSpPr>
          <a:xfrm>
            <a:off x="5815965" y="1524000"/>
            <a:ext cx="5842635" cy="2791778"/>
            <a:chOff x="5815965" y="1524000"/>
            <a:chExt cx="5842635" cy="2791778"/>
          </a:xfrm>
        </p:grpSpPr>
        <p:sp>
          <p:nvSpPr>
            <p:cNvPr id="60" name="Rectangle 60"/>
            <p:cNvSpPr/>
            <p:nvPr/>
          </p:nvSpPr>
          <p:spPr>
            <a:xfrm>
              <a:off x="5815965" y="1524000"/>
              <a:ext cx="584263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44362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成员变量与局部变量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44362" y="1935956"/>
              <a:ext cx="3314319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Demo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成员变量：默认为 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成员变量：默认为 null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show()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局部变量：声明时赋值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 = 2;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新值覆盖旧值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2;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int 2 自动转换为 2.0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只声明，未赋值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System.out.println(count);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输出 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System.out.println(c);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编译错误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5815965" y="4486275"/>
            <a:ext cx="5842635" cy="1192530"/>
            <a:chOff x="5815965" y="4486275"/>
            <a:chExt cx="5842635" cy="1192530"/>
          </a:xfrm>
        </p:grpSpPr>
        <p:sp>
          <p:nvSpPr>
            <p:cNvPr id="64" name="Rectangle 64"/>
            <p:cNvSpPr/>
            <p:nvPr/>
          </p:nvSpPr>
          <p:spPr>
            <a:xfrm>
              <a:off x="5815965" y="4486275"/>
              <a:ext cx="5842635" cy="1192530"/>
            </a:xfrm>
            <a:prstGeom prst="roundRect">
              <a:avLst>
                <a:gd name="adj" fmla="val 95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008694" y="4978836"/>
              <a:ext cx="224134" cy="192560"/>
              <a:chOff x="6008694" y="4978836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120765" y="50492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008694" y="49788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120765" y="51269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323457" y="4863465"/>
              <a:ext cx="48314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报错信息 variable c might not have been initialized：局部变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量没有默认值，必须先赋值再使用。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1" name="Rectangle 7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8373"/>
              <a:ext cx="75622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是强类型语言：每个变量都有确定的类型，只能存放该类型或能自动转换成该类型的值。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83649" cy="909257"/>
            <a:chOff x="520446" y="342900"/>
            <a:chExt cx="76836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836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数据类型：4 类 8 种基本类型，加上 3 种引用类型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533400" y="1590675"/>
            <a:ext cx="6925628" cy="4606290"/>
            <a:chOff x="533400" y="1590675"/>
            <a:chExt cx="6925628" cy="4606290"/>
          </a:xfrm>
        </p:grpSpPr>
        <p:sp>
          <p:nvSpPr>
            <p:cNvPr id="7" name="Freeform 7"/>
            <p:cNvSpPr/>
            <p:nvPr/>
          </p:nvSpPr>
          <p:spPr>
            <a:xfrm>
              <a:off x="5622608" y="1869758"/>
              <a:ext cx="419100" cy="345757"/>
            </a:xfrm>
            <a:custGeom>
              <a:avLst/>
              <a:gdLst/>
              <a:ahLst/>
              <a:cxnLst/>
              <a:rect l="l" t="t" r="r" b="b"/>
              <a:pathLst>
                <a:path w="419100" h="345757">
                  <a:moveTo>
                    <a:pt x="0" y="345757"/>
                  </a:moveTo>
                  <a:lnTo>
                    <a:pt x="209550" y="34575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622608" y="2215515"/>
              <a:ext cx="419100" cy="345757"/>
            </a:xfrm>
            <a:custGeom>
              <a:avLst/>
              <a:gdLst/>
              <a:ahLst/>
              <a:cxnLst/>
              <a:rect l="l" t="t" r="r" b="b"/>
              <a:pathLst>
                <a:path w="419100" h="345757">
                  <a:moveTo>
                    <a:pt x="0" y="0"/>
                  </a:moveTo>
                  <a:lnTo>
                    <a:pt x="209550" y="0"/>
                  </a:lnTo>
                  <a:lnTo>
                    <a:pt x="209550" y="345757"/>
                  </a:lnTo>
                  <a:lnTo>
                    <a:pt x="419100" y="34575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786188" y="2215515"/>
              <a:ext cx="419100" cy="863918"/>
            </a:xfrm>
            <a:custGeom>
              <a:avLst/>
              <a:gdLst/>
              <a:ahLst/>
              <a:cxnLst/>
              <a:rect l="l" t="t" r="r" b="b"/>
              <a:pathLst>
                <a:path w="419100" h="863918">
                  <a:moveTo>
                    <a:pt x="0" y="863918"/>
                  </a:moveTo>
                  <a:lnTo>
                    <a:pt x="209550" y="86391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86188" y="3079432"/>
              <a:ext cx="419100" cy="172402"/>
            </a:xfrm>
            <a:custGeom>
              <a:avLst/>
              <a:gdLst/>
              <a:ahLst/>
              <a:cxnLst/>
              <a:rect l="l" t="t" r="r" b="b"/>
              <a:pathLst>
                <a:path w="419100" h="172402">
                  <a:moveTo>
                    <a:pt x="0" y="0"/>
                  </a:moveTo>
                  <a:lnTo>
                    <a:pt x="209550" y="0"/>
                  </a:lnTo>
                  <a:lnTo>
                    <a:pt x="209550" y="172402"/>
                  </a:lnTo>
                  <a:lnTo>
                    <a:pt x="419100" y="1724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86188" y="3079432"/>
              <a:ext cx="419100" cy="863917"/>
            </a:xfrm>
            <a:custGeom>
              <a:avLst/>
              <a:gdLst/>
              <a:ahLst/>
              <a:cxnLst/>
              <a:rect l="l" t="t" r="r" b="b"/>
              <a:pathLst>
                <a:path w="419100" h="863917">
                  <a:moveTo>
                    <a:pt x="0" y="0"/>
                  </a:moveTo>
                  <a:lnTo>
                    <a:pt x="209550" y="0"/>
                  </a:lnTo>
                  <a:lnTo>
                    <a:pt x="209550" y="863917"/>
                  </a:lnTo>
                  <a:lnTo>
                    <a:pt x="419100" y="86391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86188" y="4634865"/>
              <a:ext cx="419100" cy="690562"/>
            </a:xfrm>
            <a:custGeom>
              <a:avLst/>
              <a:gdLst/>
              <a:ahLst/>
              <a:cxnLst/>
              <a:rect l="l" t="t" r="r" b="b"/>
              <a:pathLst>
                <a:path w="419100" h="690562">
                  <a:moveTo>
                    <a:pt x="0" y="690562"/>
                  </a:moveTo>
                  <a:lnTo>
                    <a:pt x="209550" y="6905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786188" y="532542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86188" y="5325428"/>
              <a:ext cx="419100" cy="691515"/>
            </a:xfrm>
            <a:custGeom>
              <a:avLst/>
              <a:gdLst/>
              <a:ahLst/>
              <a:cxnLst/>
              <a:rect l="l" t="t" r="r" b="b"/>
              <a:pathLst>
                <a:path w="419100" h="691515">
                  <a:moveTo>
                    <a:pt x="0" y="0"/>
                  </a:moveTo>
                  <a:lnTo>
                    <a:pt x="209550" y="0"/>
                  </a:lnTo>
                  <a:lnTo>
                    <a:pt x="209550" y="691515"/>
                  </a:lnTo>
                  <a:lnTo>
                    <a:pt x="419100" y="6915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50720" y="3079432"/>
              <a:ext cx="419100" cy="1122997"/>
            </a:xfrm>
            <a:custGeom>
              <a:avLst/>
              <a:gdLst/>
              <a:ahLst/>
              <a:cxnLst/>
              <a:rect l="l" t="t" r="r" b="b"/>
              <a:pathLst>
                <a:path w="419100" h="1122997">
                  <a:moveTo>
                    <a:pt x="0" y="1122997"/>
                  </a:moveTo>
                  <a:lnTo>
                    <a:pt x="209550" y="112299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50720" y="4202430"/>
              <a:ext cx="419100" cy="1122998"/>
            </a:xfrm>
            <a:custGeom>
              <a:avLst/>
              <a:gdLst/>
              <a:ahLst/>
              <a:cxnLst/>
              <a:rect l="l" t="t" r="r" b="b"/>
              <a:pathLst>
                <a:path w="419100" h="1122998">
                  <a:moveTo>
                    <a:pt x="0" y="0"/>
                  </a:moveTo>
                  <a:lnTo>
                    <a:pt x="209550" y="0"/>
                  </a:lnTo>
                  <a:lnTo>
                    <a:pt x="209550" y="1122998"/>
                  </a:lnTo>
                  <a:lnTo>
                    <a:pt x="419100" y="112299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41708" y="1590675"/>
              <a:ext cx="1417320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41708" y="2282190"/>
              <a:ext cx="1417320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05288" y="2035492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05288" y="3071812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05288" y="3763328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69820" y="2899410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05288" y="4454842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05288" y="5146358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05288" y="5836920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369820" y="5146358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022408"/>
              <a:ext cx="1417320" cy="360045"/>
            </a:xfrm>
            <a:prstGeom prst="roundRect">
              <a:avLst>
                <a:gd name="adj" fmla="val 26455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30862" y="1686878"/>
              <a:ext cx="103327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整数：byte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 int long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30862" y="2378392"/>
              <a:ext cx="8503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浮点：float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94442" y="213169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数值型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94442" y="3168015"/>
              <a:ext cx="101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字符型：char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94442" y="385953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逻辑型：boolean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58974" y="29956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基本数据类型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94442" y="4551045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class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94442" y="524160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 interface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94442" y="59331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58974" y="524160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引用数据类型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554" y="4118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数据类型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762875" y="1524000"/>
            <a:ext cx="3895725" cy="2068830"/>
            <a:chOff x="7762875" y="1524000"/>
            <a:chExt cx="3895725" cy="2068830"/>
          </a:xfrm>
        </p:grpSpPr>
        <p:sp>
          <p:nvSpPr>
            <p:cNvPr id="40" name="Rectangle 40"/>
            <p:cNvSpPr/>
            <p:nvPr/>
          </p:nvSpPr>
          <p:spPr>
            <a:xfrm>
              <a:off x="7762875" y="1524000"/>
              <a:ext cx="3895725" cy="2068830"/>
            </a:xfrm>
            <a:prstGeom prst="roundRect">
              <a:avLst>
                <a:gd name="adj" fmla="val 64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72400" y="1657350"/>
              <a:ext cx="47625" cy="180213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999095" y="17221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70532" y="1756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两类数据的区别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8006715" y="214312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63306" y="208264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基本类型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：变量里直接存放数值本身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006715" y="246030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63306" y="2400776"/>
              <a:ext cx="30802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引用类型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：变量里存放对象的引用（可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理解为地址），对象本身在堆中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92999" y="2986088"/>
              <a:ext cx="30525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两类数据的赋值、比较规则不同，2.2 节的例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2.2 和例 2.4 会具体演示。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7762875" y="3772852"/>
            <a:ext cx="3895725" cy="2429828"/>
            <a:chOff x="7762875" y="3772852"/>
            <a:chExt cx="3895725" cy="2429828"/>
          </a:xfrm>
        </p:grpSpPr>
        <p:sp>
          <p:nvSpPr>
            <p:cNvPr id="50" name="Rectangle 50"/>
            <p:cNvSpPr/>
            <p:nvPr/>
          </p:nvSpPr>
          <p:spPr>
            <a:xfrm>
              <a:off x="7762875" y="3772852"/>
              <a:ext cx="3895725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72400" y="3906202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999095" y="397097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82534" y="40052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容易混淆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006715" y="439197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63306" y="4331494"/>
              <a:ext cx="30261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类指整数、浮点、字符、逻辑；共 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8006715" y="498062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63306" y="4921091"/>
              <a:ext cx="29359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是类，属于引用类型，不在 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种基本类型之中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8006715" y="557022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63306" y="5509736"/>
              <a:ext cx="30802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本章先学基本类型；类、接口、数组在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后面的章节介绍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74269" cy="909257"/>
            <a:chOff x="520446" y="342900"/>
            <a:chExt cx="95742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742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整数类型：byte、short、int、long 都是有符号数，默认 int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5842635" cy="2122170"/>
            <a:chOff x="533400" y="1524000"/>
            <a:chExt cx="5842635" cy="2122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7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163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1691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2003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具体数值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07645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6875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36139" y="2076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-2⁷ ~ 2⁷-1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24884" y="2076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-128 ~ 127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50126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4330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47290" y="2501265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-2¹⁵ ~ 2¹⁵-1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24884" y="2501265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-32768 ~ 32767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2807018"/>
              <a:ext cx="91630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2926080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24330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47290" y="2926080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-2³¹ ~ 2³¹-1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24884" y="292608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-2147483648 ~ 2147483647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3349942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24330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47290" y="3349942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-2⁶³ ~ 2⁶³-1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24884" y="3349942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±9.22×10¹⁸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84263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46399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16503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91763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rd-2"/>
          <p:cNvGrpSpPr/>
          <p:nvPr/>
        </p:nvGrpSpPr>
        <p:grpSpPr>
          <a:xfrm>
            <a:off x="533400" y="3826192"/>
            <a:ext cx="5842635" cy="2429828"/>
            <a:chOff x="533400" y="3826192"/>
            <a:chExt cx="5842635" cy="2429828"/>
          </a:xfrm>
        </p:grpSpPr>
        <p:sp>
          <p:nvSpPr>
            <p:cNvPr id="39" name="Rectangle 39"/>
            <p:cNvSpPr/>
            <p:nvPr/>
          </p:nvSpPr>
          <p:spPr>
            <a:xfrm>
              <a:off x="533400" y="3826192"/>
              <a:ext cx="5842635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3959542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9620" y="402431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9058" y="40586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字面量写法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7240" y="444531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3831" y="4384834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整数字面量默认是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，如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19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28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-36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；long 字面量加后缀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7240" y="503491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3831" y="4974431"/>
              <a:ext cx="50369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十进制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19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，八进制以 0 开头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017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（=15），十六进制以 0x 开头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0x1F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（=31）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77240" y="562356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3831" y="556402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JDK 7 起还可以写二进制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0b1010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（=10），并用下划线分组</a:t>
              </a:r>
              <a:br/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1_000_000</a:t>
              </a:r>
            </a:p>
          </p:txBody>
        </p:sp>
      </p:grpSp>
      <p:grpSp>
        <p:nvGrpSpPr>
          <p:cNvPr id="53" name="c2-code-1"/>
          <p:cNvGrpSpPr/>
          <p:nvPr/>
        </p:nvGrpSpPr>
        <p:grpSpPr>
          <a:xfrm>
            <a:off x="6680835" y="1524000"/>
            <a:ext cx="4977765" cy="1829752"/>
            <a:chOff x="6680835" y="1524000"/>
            <a:chExt cx="4977765" cy="1829752"/>
          </a:xfrm>
        </p:grpSpPr>
        <p:sp>
          <p:nvSpPr>
            <p:cNvPr id="50" name="Rectangle 50"/>
            <p:cNvSpPr/>
            <p:nvPr/>
          </p:nvSpPr>
          <p:spPr>
            <a:xfrm>
              <a:off x="6680835" y="1524000"/>
              <a:ext cx="4977765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09232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08851" y="1937385"/>
              <a:ext cx="3564446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19, b = -36;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b1 = 127;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在 byte 范围内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b2 = 128;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超出 byte 范围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big = 3000000000;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超出 int 范围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ok = 3000000000L;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加 L 表示 long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 = Integer.MAX_VALUE;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System.out.println(max + 1);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-2147483648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680835" y="3533775"/>
            <a:ext cx="4977765" cy="756285"/>
            <a:chOff x="6680835" y="3533775"/>
            <a:chExt cx="4977765" cy="756285"/>
          </a:xfrm>
        </p:grpSpPr>
        <p:sp>
          <p:nvSpPr>
            <p:cNvPr id="54" name="Rectangle 54"/>
            <p:cNvSpPr/>
            <p:nvPr/>
          </p:nvSpPr>
          <p:spPr>
            <a:xfrm>
              <a:off x="6680835" y="353377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873564" y="3808213"/>
              <a:ext cx="224134" cy="192560"/>
              <a:chOff x="6873564" y="3808213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985635" y="38785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873564" y="38082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985635" y="3956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187946" y="368093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整数运算溢出时不报错，结果从最大值绕回到最小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值。计算可能很大的数时，要选范围够用的类型。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5473" cy="909257"/>
            <a:chOff x="520446" y="342900"/>
            <a:chExt cx="82354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54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浮点类型：float 32 位，double 64 位，默认 double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410200" cy="1200150"/>
            <a:chOff x="533400" y="1524000"/>
            <a:chExt cx="5410200" cy="1200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93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6753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3592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有效数字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8084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最大值约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877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字面量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0555" y="2045494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5384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15080" y="20454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6~7 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068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3.4×10³⁸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33912" y="20454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-1.44144f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2333625"/>
              <a:ext cx="84677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244554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35384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32154" y="2445544"/>
              <a:ext cx="622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15~16 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09223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1.8×10³⁰⁸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3912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3.1415926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410200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394460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043112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233738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31995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2893695"/>
            <a:ext cx="5410200" cy="2043112"/>
            <a:chOff x="533400" y="2893695"/>
            <a:chExt cx="5410200" cy="2043112"/>
          </a:xfrm>
        </p:grpSpPr>
        <p:sp>
          <p:nvSpPr>
            <p:cNvPr id="32" name="Rectangle 32"/>
            <p:cNvSpPr/>
            <p:nvPr/>
          </p:nvSpPr>
          <p:spPr>
            <a:xfrm>
              <a:off x="533400" y="2893695"/>
              <a:ext cx="5410200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027045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8190" y="30803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0862" y="31132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6762" y="348138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2782" y="3425190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带小数点或指数的字面量默认是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double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，如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3.1415926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1e-3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6762" y="403860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2782" y="3982402"/>
              <a:ext cx="36632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float 字面量要加后缀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，如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-1.44144f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6762" y="433863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2782" y="4282440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浮点数在计算机里是二进制近似值，0.1 这样的十进制小数无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法精确表示</a:t>
              </a:r>
            </a:p>
          </p:txBody>
        </p:sp>
      </p:grpSp>
      <p:grpSp>
        <p:nvGrpSpPr>
          <p:cNvPr id="48" name="c1-kv-3"/>
          <p:cNvGrpSpPr/>
          <p:nvPr/>
        </p:nvGrpSpPr>
        <p:grpSpPr>
          <a:xfrm>
            <a:off x="526542" y="5129212"/>
            <a:ext cx="5417058" cy="1164146"/>
            <a:chOff x="526542" y="5129212"/>
            <a:chExt cx="5417058" cy="1164146"/>
          </a:xfrm>
        </p:grpSpPr>
        <p:sp>
          <p:nvSpPr>
            <p:cNvPr id="43" name="TextBox 43"/>
            <p:cNvSpPr txBox="1"/>
            <p:nvPr/>
          </p:nvSpPr>
          <p:spPr>
            <a:xfrm>
              <a:off x="526542" y="512921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除以零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09497" y="5129212"/>
              <a:ext cx="443712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浮点除法不抛异常：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1.0 / 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 Infinity，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-1.0 / 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-Infinity。整数除法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 / 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才抛 ArithmeticException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6692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6542" y="5775960"/>
              <a:ext cx="340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NaN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09497" y="5775960"/>
              <a:ext cx="442855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0.0 / 0.0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 NaN（不是数）。NaN 与谁比较都得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false，连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x == x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也是 false，判断要用 Double.isNaN(x)</a:t>
              </a:r>
            </a:p>
          </p:txBody>
        </p:sp>
      </p:grpSp>
      <p:grpSp>
        <p:nvGrpSpPr>
          <p:cNvPr id="52" name="c2-code-1"/>
          <p:cNvGrpSpPr/>
          <p:nvPr/>
        </p:nvGrpSpPr>
        <p:grpSpPr>
          <a:xfrm>
            <a:off x="6248400" y="1524000"/>
            <a:ext cx="5410200" cy="1561148"/>
            <a:chOff x="6248400" y="1524000"/>
            <a:chExt cx="5410200" cy="1561148"/>
          </a:xfrm>
        </p:grpSpPr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76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76797" y="1935956"/>
              <a:ext cx="4185539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 3.1415926;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f1 = -1.44144f;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f2 = 3.14;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double 不能直接赋给 float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f3 = 3;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int 自动转换为 float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System.out.println(0.1 + 0.2);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0.30000000000000004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System.out.println(0.1 + 0.2 == 0.3);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false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3254692"/>
            <a:ext cx="5410200" cy="729615"/>
            <a:chOff x="6248400" y="3254692"/>
            <a:chExt cx="5410200" cy="729615"/>
          </a:xfrm>
        </p:grpSpPr>
        <p:sp>
          <p:nvSpPr>
            <p:cNvPr id="53" name="Rectangle 53"/>
            <p:cNvSpPr/>
            <p:nvPr/>
          </p:nvSpPr>
          <p:spPr>
            <a:xfrm>
              <a:off x="6248400" y="325469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3519488"/>
              <a:ext cx="200026" cy="200025"/>
              <a:chOff x="6453188" y="35194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35194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92926" y="35639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27642" y="36750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892" y="3401377"/>
              <a:ext cx="43171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判断浮点数相等要看差的绝对值，如 Math.abs(x - y) &lt;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1e-9；算金额用 BigDecimal。</a:t>
              </a:r>
            </a:p>
          </p:txBody>
        </p:sp>
      </p:grpSp>
      <p:grpSp>
        <p:nvGrpSpPr>
          <p:cNvPr id="69" name="c2-card-3"/>
          <p:cNvGrpSpPr/>
          <p:nvPr/>
        </p:nvGrpSpPr>
        <p:grpSpPr>
          <a:xfrm>
            <a:off x="6248400" y="4154805"/>
            <a:ext cx="5410200" cy="2085975"/>
            <a:chOff x="6248400" y="4154805"/>
            <a:chExt cx="5410200" cy="2085975"/>
          </a:xfrm>
        </p:grpSpPr>
        <p:sp>
          <p:nvSpPr>
            <p:cNvPr id="60" name="Rectangle 60"/>
            <p:cNvSpPr/>
            <p:nvPr/>
          </p:nvSpPr>
          <p:spPr>
            <a:xfrm>
              <a:off x="6248400" y="4154805"/>
              <a:ext cx="5410200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4288155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3190" y="434149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8961" y="437435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14960" y="4375785"/>
              <a:ext cx="2632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0.1 累加十次，结果不是 1.0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73190" y="4679632"/>
              <a:ext cx="499872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01587" y="483155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01587" y="5092541"/>
              <a:ext cx="3364103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 = 0;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10; i++) s += 0.1;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0.9999999999999999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67475" y="5815489"/>
              <a:ext cx="4187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每加一次就舍入一次，误差一路累积，所以循环计数要用 int。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67421" cy="909257"/>
            <a:chOff x="520446" y="342900"/>
            <a:chExt cx="72674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674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字符类型 char：单引号括起，16 位无符号整数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060258"/>
            <a:chOff x="533400" y="1524000"/>
            <a:chExt cx="5410200" cy="2060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217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字符类型 char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单个字符定义为 char 类型，字符型数据必须用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单引号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括起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来，如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'a'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'z'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'周'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42313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16 位无符号整数存放字符的 Unicode 编号，取值 0 ~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65535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24231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186112"/>
              <a:ext cx="429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 可以参与整数运算：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'a' + 1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的结果是 int 值 98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53802"/>
            <a:ext cx="5410200" cy="2407920"/>
            <a:chOff x="533400" y="3753802"/>
            <a:chExt cx="5410200" cy="2407920"/>
          </a:xfrm>
        </p:grpSpPr>
        <p:sp>
          <p:nvSpPr>
            <p:cNvPr id="18" name="Rectangle 18"/>
            <p:cNvSpPr/>
            <p:nvPr/>
          </p:nvSpPr>
          <p:spPr>
            <a:xfrm>
              <a:off x="533400" y="3753802"/>
              <a:ext cx="5410200" cy="2407920"/>
            </a:xfrm>
            <a:prstGeom prst="roundRect">
              <a:avLst>
                <a:gd name="adj" fmla="val 5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87152"/>
              <a:ext cx="47625" cy="21412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394049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4408" y="397335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字符串不是基本类型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332" y="4285298"/>
              <a:ext cx="46943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Java 把字符串定义为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类，它不在 8 种基本类型当中。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字符串数据必须用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双引号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括起来，如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"this is a simple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program!"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1737360"/>
            <a:chOff x="6248400" y="1524000"/>
            <a:chExt cx="5410200" cy="173736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797" y="1935956"/>
              <a:ext cx="3706368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c1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c2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'周'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汉字也是一个 char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c3 = 97;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即 'a'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c4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'ab'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单引号里只能有一个字符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c5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"a" 是 String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+ 1;     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 n = 98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c6 =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+ 1);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 c6 = 'b'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3430905"/>
            <a:ext cx="5410200" cy="729615"/>
            <a:chOff x="6248400" y="3430905"/>
            <a:chExt cx="5410200" cy="729615"/>
          </a:xfrm>
        </p:grpSpPr>
        <p:sp>
          <p:nvSpPr>
            <p:cNvPr id="28" name="Rectangle 28"/>
            <p:cNvSpPr/>
            <p:nvPr/>
          </p:nvSpPr>
          <p:spPr>
            <a:xfrm>
              <a:off x="6248400" y="343090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3695700"/>
              <a:ext cx="200026" cy="200025"/>
              <a:chOff x="6453188" y="3695700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36957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92926" y="37401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27642" y="38512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892" y="357663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引号、换行这类不能直接写出的字符，用转义字符表示，见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下一页。</a:t>
              </a:r>
            </a:p>
          </p:txBody>
        </p:sp>
      </p:grpSp>
      <p:grpSp>
        <p:nvGrpSpPr>
          <p:cNvPr id="43" name="c2-card-3"/>
          <p:cNvGrpSpPr/>
          <p:nvPr/>
        </p:nvGrpSpPr>
        <p:grpSpPr>
          <a:xfrm>
            <a:off x="6248400" y="4330065"/>
            <a:ext cx="5410200" cy="1831658"/>
            <a:chOff x="6248400" y="4330065"/>
            <a:chExt cx="5410200" cy="1831658"/>
          </a:xfrm>
        </p:grpSpPr>
        <p:sp>
          <p:nvSpPr>
            <p:cNvPr id="35" name="Rectangle 35"/>
            <p:cNvSpPr/>
            <p:nvPr/>
          </p:nvSpPr>
          <p:spPr>
            <a:xfrm>
              <a:off x="6248400" y="4330065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446341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3190" y="45167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7759" y="45496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常用套路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3190" y="4838700"/>
              <a:ext cx="499872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01587" y="49906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1587" y="5251609"/>
              <a:ext cx="2611120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'7'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'0'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d = 7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 =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'b'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- 32);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'B'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7475" y="5799296"/>
              <a:ext cx="34103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'0'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是 48，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'A'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是 65，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'a'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是 97，大小写差 32。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4553" cy="909257"/>
            <a:chOff x="520446" y="342900"/>
            <a:chExt cx="6564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4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转义字符与例 2.1：用反斜杠表示特殊字符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4760595" cy="3395662"/>
            <a:chOff x="533400" y="1524000"/>
            <a:chExt cx="4760595" cy="33956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571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转义字符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0318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6689" y="1652588"/>
              <a:ext cx="62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Unicode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5512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8889" y="207645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退格 backspace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07929" y="2076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\u0008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5512" y="25012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78889" y="2501265"/>
              <a:ext cx="973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水平制表 tab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07929" y="250126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\u0009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5512" y="292608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78889" y="2926080"/>
              <a:ext cx="101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换行 linefeed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07929" y="292608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\u000a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165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2135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5512" y="33499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78889" y="3349942"/>
              <a:ext cx="1635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回车 carriage return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07929" y="334994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\u000d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4140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5512" y="377475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\"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78889" y="3774757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双引号 double quote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07929" y="3774757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\u0022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0662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07098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5512" y="41986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\'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78889" y="419862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单引号 single quote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07929" y="419862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\u0027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4900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5512" y="46234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\\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78889" y="46234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反斜线 backslash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07929" y="462343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\u005c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4760595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71638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861435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text-2"/>
          <p:cNvGrpSpPr/>
          <p:nvPr/>
        </p:nvGrpSpPr>
        <p:grpSpPr>
          <a:xfrm>
            <a:off x="527304" y="5119688"/>
            <a:ext cx="4477512" cy="470916"/>
            <a:chOff x="527304" y="5119688"/>
            <a:chExt cx="4477512" cy="470916"/>
          </a:xfrm>
        </p:grpSpPr>
        <p:sp>
          <p:nvSpPr>
            <p:cNvPr id="45" name="TextBox 45"/>
            <p:cNvSpPr txBox="1"/>
            <p:nvPr/>
          </p:nvSpPr>
          <p:spPr>
            <a:xfrm>
              <a:off x="527304" y="5119688"/>
              <a:ext cx="44775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补充：另有 </a:t>
              </a:r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\f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（换页）和八进制转义 </a:t>
              </a:r>
              <a:r>
                <a:rPr lang="zh-CN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\0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~</a:t>
              </a:r>
              <a:r>
                <a:rPr lang="zh-CN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\377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，JDK 15 起新增 </a:t>
              </a:r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\s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（空格）。</a:t>
              </a:r>
            </a:p>
          </p:txBody>
        </p:sp>
      </p:grpSp>
      <p:grpSp>
        <p:nvGrpSpPr>
          <p:cNvPr id="50" name="c2-code-1"/>
          <p:cNvGrpSpPr/>
          <p:nvPr/>
        </p:nvGrpSpPr>
        <p:grpSpPr>
          <a:xfrm>
            <a:off x="5598795" y="1524000"/>
            <a:ext cx="6059805" cy="2586990"/>
            <a:chOff x="5598795" y="1524000"/>
            <a:chExt cx="6059805" cy="2586990"/>
          </a:xfrm>
        </p:grpSpPr>
        <p:sp>
          <p:nvSpPr>
            <p:cNvPr id="47" name="Rectangle 47"/>
            <p:cNvSpPr/>
            <p:nvPr/>
          </p:nvSpPr>
          <p:spPr>
            <a:xfrm>
              <a:off x="5598795" y="1524000"/>
              <a:ext cx="6059805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27192" y="1675924"/>
              <a:ext cx="31152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2.1 SimpleApp1.java：打印一些常用的转义字符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26811" y="1937385"/>
              <a:ext cx="3404426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SimpleApp1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"转义字符打印"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"\r\n"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回车换行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"\""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双引号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制表符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"\'"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单引号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System.out.println();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换行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"\\"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反斜线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4" name="c2-code-2"/>
          <p:cNvGrpSpPr/>
          <p:nvPr/>
        </p:nvGrpSpPr>
        <p:grpSpPr>
          <a:xfrm>
            <a:off x="5598795" y="4291012"/>
            <a:ext cx="6059805" cy="1072515"/>
            <a:chOff x="5598795" y="4291012"/>
            <a:chExt cx="6059805" cy="1072515"/>
          </a:xfrm>
        </p:grpSpPr>
        <p:sp>
          <p:nvSpPr>
            <p:cNvPr id="51" name="Rectangle 51"/>
            <p:cNvSpPr/>
            <p:nvPr/>
          </p:nvSpPr>
          <p:spPr>
            <a:xfrm>
              <a:off x="5598795" y="4291012"/>
              <a:ext cx="6059805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27192" y="4442936"/>
              <a:ext cx="2807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输出结果（第 2 行两个引号之间是一个制表符）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26811" y="4704398"/>
              <a:ext cx="810768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转义字符打印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"       '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\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5598795" y="5543550"/>
            <a:ext cx="6059805" cy="756285"/>
            <a:chOff x="5598795" y="5543550"/>
            <a:chExt cx="6059805" cy="756285"/>
          </a:xfrm>
        </p:grpSpPr>
        <p:sp>
          <p:nvSpPr>
            <p:cNvPr id="55" name="Rectangle 55"/>
            <p:cNvSpPr/>
            <p:nvPr/>
          </p:nvSpPr>
          <p:spPr>
            <a:xfrm>
              <a:off x="5598795" y="5543550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5803583" y="5821680"/>
              <a:ext cx="200026" cy="200025"/>
              <a:chOff x="5803583" y="5821680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5803583" y="58216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843321" y="58661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878037" y="59772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105906" y="5690711"/>
              <a:ext cx="492874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print 输出后不换行，println 输出后换行。\r\n 是 Windows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的换行习惯，一般直接用 println 换行即可。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2632" cy="909257"/>
            <a:chOff x="520446" y="342900"/>
            <a:chExt cx="89426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26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逻辑类型 boolean：只有 true 和 false，不能与整数互换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485900"/>
            <a:chOff x="533400" y="1524000"/>
            <a:chExt cx="5193982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321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只有两个取值：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true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false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355532"/>
              <a:ext cx="44456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关系运算和逻辑运算的结果都是 boolean；if、while、for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的条件也必须是 boolean。</a:t>
              </a:r>
            </a:p>
          </p:txBody>
        </p:sp>
      </p:grpSp>
      <p:grpSp>
        <p:nvGrpSpPr>
          <p:cNvPr id="34" name="c1-compare-2"/>
          <p:cNvGrpSpPr/>
          <p:nvPr/>
        </p:nvGrpSpPr>
        <p:grpSpPr>
          <a:xfrm>
            <a:off x="533400" y="3179445"/>
            <a:ext cx="5193030" cy="3068955"/>
            <a:chOff x="533400" y="3179445"/>
            <a:chExt cx="5193030" cy="3068955"/>
          </a:xfrm>
        </p:grpSpPr>
        <p:sp>
          <p:nvSpPr>
            <p:cNvPr id="14" name="Rectangle 14"/>
            <p:cNvSpPr/>
            <p:nvPr/>
          </p:nvSpPr>
          <p:spPr>
            <a:xfrm>
              <a:off x="533400" y="3179445"/>
              <a:ext cx="2425065" cy="3068955"/>
            </a:xfrm>
            <a:prstGeom prst="roundRect">
              <a:avLst>
                <a:gd name="adj" fmla="val 5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12795"/>
              <a:ext cx="47625" cy="280225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1332" y="3388995"/>
              <a:ext cx="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/ C++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76237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70617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表示假，非 0 表示真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406241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4006215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(n) 合法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436245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430625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整数与逻辑值可以互相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01365" y="3179445"/>
              <a:ext cx="2425065" cy="3068955"/>
            </a:xfrm>
            <a:prstGeom prst="roundRect">
              <a:avLst>
                <a:gd name="adj" fmla="val 5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10890" y="3312795"/>
              <a:ext cx="47625" cy="28022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19297" y="3388995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534727" y="376237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90747" y="3706177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是独立的类型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534727" y="406241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90747" y="4006215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(n) 编译错误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534727" y="436245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90747" y="430625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逻辑类型与整数类型不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能直接转换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2967990" y="45529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038330" y="46491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6032182" y="1524000"/>
            <a:ext cx="5626418" cy="1912620"/>
            <a:chOff x="6032182" y="1524000"/>
            <a:chExt cx="5626418" cy="1912620"/>
          </a:xfrm>
        </p:grpSpPr>
        <p:sp>
          <p:nvSpPr>
            <p:cNvPr id="35" name="Rectangle 35"/>
            <p:cNvSpPr/>
            <p:nvPr/>
          </p:nvSpPr>
          <p:spPr>
            <a:xfrm>
              <a:off x="6032182" y="1524000"/>
              <a:ext cx="5626418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60580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60580" y="1935956"/>
              <a:ext cx="3712591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1;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b1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b2 = 1;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int 不能转换为 boolean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(n) { }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条件必须是 boolean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!= 0) { }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写出比较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flag = n &gt; 0;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关系运算得到 boolean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flag ? 1 : 0;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需要数值时显式写出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 =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flag;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强制转换也不行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032182" y="3607118"/>
            <a:ext cx="5626418" cy="729615"/>
            <a:chOff x="6032182" y="3607118"/>
            <a:chExt cx="5626418" cy="729615"/>
          </a:xfrm>
        </p:grpSpPr>
        <p:sp>
          <p:nvSpPr>
            <p:cNvPr id="39" name="Rectangle 39"/>
            <p:cNvSpPr/>
            <p:nvPr/>
          </p:nvSpPr>
          <p:spPr>
            <a:xfrm>
              <a:off x="6032182" y="3607118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236970" y="3870962"/>
              <a:ext cx="200023" cy="200023"/>
              <a:chOff x="6236970" y="3870962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236970" y="38709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370320" y="3937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539674" y="3752850"/>
              <a:ext cx="44628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这条限制让 C 里一些隐蔽的错误在 Java 中变成编译错误，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2.2 节的 while (x = y) 就是例子。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032182" y="4506278"/>
            <a:ext cx="5626418" cy="1743075"/>
            <a:chOff x="6032182" y="4506278"/>
            <a:chExt cx="5626418" cy="1743075"/>
          </a:xfrm>
        </p:grpSpPr>
        <p:sp>
          <p:nvSpPr>
            <p:cNvPr id="45" name="Rectangle 45"/>
            <p:cNvSpPr/>
            <p:nvPr/>
          </p:nvSpPr>
          <p:spPr>
            <a:xfrm>
              <a:off x="6032182" y="4506278"/>
              <a:ext cx="5626418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41708" y="4639628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6972" y="46929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8692" y="47258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65545" y="509301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21564" y="503682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成员变量 boolean 默认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false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，局部变量没有默认值，未赋值就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用报错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65545" y="56502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21564" y="5594033"/>
              <a:ext cx="37256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包装类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Boolean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可以是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，放进 if 里拆箱时抛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NullPointerException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包装类：每种基本类型都有一个对应的类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28447" y="1524000"/>
            <a:ext cx="4765548" cy="3864006"/>
            <a:chOff x="528447" y="1524000"/>
            <a:chExt cx="4765548" cy="38640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099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8182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包装类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2187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直接父类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61222" y="2045494"/>
              <a:ext cx="347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61435" y="2045494"/>
              <a:ext cx="544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61222" y="2445544"/>
              <a:ext cx="43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61435" y="2445544"/>
              <a:ext cx="544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73592" y="2733675"/>
              <a:ext cx="168116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61222" y="2845594"/>
              <a:ext cx="558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61435" y="2845594"/>
              <a:ext cx="544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3245644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1222" y="3245644"/>
              <a:ext cx="347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61435" y="3245644"/>
              <a:ext cx="544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194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555" y="3645694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61222" y="3645694"/>
              <a:ext cx="392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61435" y="3645694"/>
              <a:ext cx="544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195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9243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4045744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61222" y="4045744"/>
              <a:ext cx="475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61435" y="4045744"/>
              <a:ext cx="544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3195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44457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073592" y="4333875"/>
              <a:ext cx="168116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61222" y="4445794"/>
              <a:ext cx="762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Character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61435" y="4445794"/>
              <a:ext cx="506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196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7244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4845844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61222" y="4845844"/>
              <a:ext cx="558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61435" y="4845844"/>
              <a:ext cx="506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4760595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05930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75951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447" y="5197316"/>
              <a:ext cx="3238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包装类都在 java.lang 包中，Number 又继承自 Object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5598795" y="1524000"/>
            <a:ext cx="6059805" cy="1485900"/>
            <a:chOff x="5598795" y="1524000"/>
            <a:chExt cx="6059805" cy="1485900"/>
          </a:xfrm>
        </p:grpSpPr>
        <p:sp>
          <p:nvSpPr>
            <p:cNvPr id="53" name="Rectangle 53"/>
            <p:cNvSpPr/>
            <p:nvPr/>
          </p:nvSpPr>
          <p:spPr>
            <a:xfrm>
              <a:off x="5598795" y="1524000"/>
              <a:ext cx="6059805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08320" y="165735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3585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97905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为什么要包装类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832158" y="211074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88177" y="2054542"/>
              <a:ext cx="5493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有些场合只接受对象（如第 7 章的集合），基本类型要先包装成对象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832158" y="24117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88177" y="2355532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包装类提供了常量和工具方法，如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Integer.MAX_VALUE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Integer.parseInt()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5598795" y="3179445"/>
            <a:ext cx="6059805" cy="1228725"/>
            <a:chOff x="5598795" y="3179445"/>
            <a:chExt cx="6059805" cy="1228725"/>
          </a:xfrm>
        </p:grpSpPr>
        <p:sp>
          <p:nvSpPr>
            <p:cNvPr id="62" name="Rectangle 62"/>
            <p:cNvSpPr/>
            <p:nvPr/>
          </p:nvSpPr>
          <p:spPr>
            <a:xfrm>
              <a:off x="5598795" y="3179445"/>
              <a:ext cx="6059805" cy="1228725"/>
            </a:xfrm>
            <a:prstGeom prst="roundRect">
              <a:avLst>
                <a:gd name="adj" fmla="val 1085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785485" y="3366135"/>
              <a:ext cx="182022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26573" y="3398996"/>
              <a:ext cx="17390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自动装箱与拆箱（JDK 5 起）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794058" y="37671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50077" y="3710940"/>
              <a:ext cx="4561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Integer x = 5;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自动装箱，相当于 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Integer.valueOf(5)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794058" y="406717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50077" y="4010977"/>
              <a:ext cx="4129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int y = x + 1;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自动拆箱，相当于 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x.intValue() + 1</a:t>
              </a:r>
            </a:p>
          </p:txBody>
        </p:sp>
      </p:grpSp>
      <p:grpSp>
        <p:nvGrpSpPr>
          <p:cNvPr id="75" name="c2-card-3"/>
          <p:cNvGrpSpPr/>
          <p:nvPr/>
        </p:nvGrpSpPr>
        <p:grpSpPr>
          <a:xfrm>
            <a:off x="5598795" y="4578668"/>
            <a:ext cx="6059805" cy="1443038"/>
            <a:chOff x="5598795" y="4578668"/>
            <a:chExt cx="6059805" cy="1443038"/>
          </a:xfrm>
        </p:grpSpPr>
        <p:sp>
          <p:nvSpPr>
            <p:cNvPr id="70" name="Rectangle 70"/>
            <p:cNvSpPr/>
            <p:nvPr/>
          </p:nvSpPr>
          <p:spPr>
            <a:xfrm>
              <a:off x="5598795" y="4578668"/>
              <a:ext cx="605980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608320" y="471201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23585" y="47653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16257" y="47982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816727" y="5109210"/>
              <a:ext cx="53372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原课件列出的构造方法 Integer(int)、Float(float)、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Character(char)、Boolean(String) 等从 JDK 9 起已弃用，JDK 16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起标记为将要删除。创建包装类对象应改用 valueOf(…) 或自动装箱。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32540" cy="909257"/>
            <a:chOff x="520446" y="342900"/>
            <a:chExt cx="45325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325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类：常量与常用方法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4328160" cy="2554605"/>
            <a:chOff x="533400" y="1524000"/>
            <a:chExt cx="4328160" cy="2554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554605"/>
            </a:xfrm>
            <a:prstGeom prst="roundRect">
              <a:avLst>
                <a:gd name="adj" fmla="val 52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8790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33350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2086" y="1743551"/>
              <a:ext cx="12057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java.lang.Integer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241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继承关系：Object → Number → Integer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2919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MAX_VALUE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2³¹-1 = 2147483647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71176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655570"/>
              <a:ext cx="28719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MIN_VALUE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-2³¹ = -2147483648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0118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2955608"/>
              <a:ext cx="24483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 Integer(int value)、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Integer(String s)：已弃用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475" y="3509486"/>
              <a:ext cx="32687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parseInt("444", 16) 的计算：4×16² + 4×16 + 4 =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1092。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249102"/>
            <a:ext cx="4328160" cy="1957388"/>
            <a:chOff x="533400" y="4249102"/>
            <a:chExt cx="4328160" cy="1957388"/>
          </a:xfrm>
        </p:grpSpPr>
        <p:sp>
          <p:nvSpPr>
            <p:cNvPr id="21" name="Rectangle 21"/>
            <p:cNvSpPr/>
            <p:nvPr/>
          </p:nvSpPr>
          <p:spPr>
            <a:xfrm>
              <a:off x="533400" y="4249102"/>
              <a:ext cx="4328160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382452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8190" y="44357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0862" y="44686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332" y="4779645"/>
              <a:ext cx="3742754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原课件备注说 parseInt 遇到 0x 开头按十六进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制、0 开头按八进制解析，这是 JavaScript 的行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为。Java 中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parseInt("0x1F")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抛出异常，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parseInt("017")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 17，识别前缀要用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Integer.decode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。另外 valueof 应为 valueOf。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5161407" y="1524000"/>
            <a:ext cx="6497193" cy="4237387"/>
            <a:chOff x="5161407" y="1524000"/>
            <a:chExt cx="6497193" cy="4237387"/>
          </a:xfrm>
        </p:grpSpPr>
        <p:sp>
          <p:nvSpPr>
            <p:cNvPr id="27" name="Rectangle 27"/>
            <p:cNvSpPr/>
            <p:nvPr/>
          </p:nvSpPr>
          <p:spPr>
            <a:xfrm>
              <a:off x="5166360" y="1524000"/>
              <a:ext cx="649224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138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6524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调用示例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581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63515" y="2045494"/>
              <a:ext cx="147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parseInt(String 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0458" y="2045494"/>
              <a:ext cx="122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parseInt("123")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67925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166360" y="23193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66360" y="2324100"/>
              <a:ext cx="649224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3515" y="2445544"/>
              <a:ext cx="163189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parseInt(String s, int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radix)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70458" y="2545556"/>
              <a:ext cx="1522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parseInt("444", 16)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67925" y="25455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1092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66360" y="291941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63515" y="3045619"/>
              <a:ext cx="1652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toBinaryString(int i)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70458" y="3045619"/>
              <a:ext cx="1440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toBinaryString(10)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67925" y="304561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"1010"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3324225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3515" y="3445669"/>
              <a:ext cx="1164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toString(int i)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70458" y="3445669"/>
              <a:ext cx="1059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toString(255)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67925" y="344566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"255"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371951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3515" y="3845719"/>
              <a:ext cx="1109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valueOf(int i)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70458" y="3845719"/>
              <a:ext cx="923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valueOf(47)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67925" y="3845719"/>
              <a:ext cx="905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对象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41195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66360" y="4124325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63515" y="4245769"/>
              <a:ext cx="1716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compareTo(Integer x)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70458" y="4245769"/>
              <a:ext cx="1954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valueOf(5).compareTo(7)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67925" y="4245769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-1（小于为负）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166360" y="451961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63515" y="4645819"/>
              <a:ext cx="1457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equals(Object obj)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70458" y="4645819"/>
              <a:ext cx="1798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valueOf(47).equals(47)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67925" y="464581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49196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166360" y="4924425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63515" y="5045869"/>
              <a:ext cx="808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intValue()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70458" y="5045869"/>
              <a:ext cx="17660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valueOf(47).intValue()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67925" y="504586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1524000"/>
              <a:ext cx="6492240" cy="38004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68540" y="1524000"/>
              <a:ext cx="9525" cy="3800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966008" y="1524000"/>
              <a:ext cx="9525" cy="3800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161407" y="5397341"/>
              <a:ext cx="5809742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 5 行是 static 方法，用类名调用，示例省略了 Integer. 前缀。字符串不是合法整数时（如 "12a"），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parseInt 抛出 NumberFormatException。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32921" cy="909257"/>
            <a:chOff x="520446" y="342900"/>
            <a:chExt cx="78329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329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类：MIN_VALUE 是最小的正数，不是最小值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4544378" cy="2944178"/>
            <a:chOff x="533400" y="1524000"/>
            <a:chExt cx="4544378" cy="29441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944178"/>
            </a:xfrm>
            <a:prstGeom prst="roundRect">
              <a:avLst>
                <a:gd name="adj" fmla="val 45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7747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18967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823" y="1743551"/>
              <a:ext cx="10533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java.lang.Float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042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继承关系：Object → Number → Float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35196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MAX_VALUE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(2-2⁻²³)·2¹²⁷ ≈ 3.4×10³⁸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71176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655570"/>
              <a:ext cx="2772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MIN_VALUE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2⁻¹⁴⁹ ≈ 1.4×10⁻⁴⁵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0118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2955608"/>
              <a:ext cx="37256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POSITIVE_INFINITY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NEGATIVE_INFINITY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：正、负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无穷，如 1.0f / 0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356901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3512820"/>
              <a:ext cx="2032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SIZE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32，float 的位数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386905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3812858"/>
              <a:ext cx="32798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 Float(float)、Float(double)、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Float(String)：已弃用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637722"/>
            <a:ext cx="4544378" cy="1724978"/>
            <a:chOff x="533400" y="4637722"/>
            <a:chExt cx="4544378" cy="1724978"/>
          </a:xfrm>
        </p:grpSpPr>
        <p:sp>
          <p:nvSpPr>
            <p:cNvPr id="24" name="Rectangle 24"/>
            <p:cNvSpPr/>
            <p:nvPr/>
          </p:nvSpPr>
          <p:spPr>
            <a:xfrm>
              <a:off x="533400" y="4637722"/>
              <a:ext cx="4544378" cy="1724978"/>
            </a:xfrm>
            <a:prstGeom prst="roundRect">
              <a:avLst>
                <a:gd name="adj" fmla="val 662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6129" y="5396983"/>
              <a:ext cx="224134" cy="192560"/>
              <a:chOff x="726129" y="5396983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38200" y="54673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129" y="53969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5451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5281612"/>
              <a:ext cx="364845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Float.MIN_VALUE 是大于 0 的最小值，float 的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最小值是 -Float.MAX_VALUE。Double 同理。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5377624" y="1524000"/>
            <a:ext cx="6280976" cy="3263931"/>
            <a:chOff x="5377624" y="1524000"/>
            <a:chExt cx="6280976" cy="3263931"/>
          </a:xfrm>
        </p:grpSpPr>
        <p:sp>
          <p:nvSpPr>
            <p:cNvPr id="31" name="Rectangle 31"/>
            <p:cNvSpPr/>
            <p:nvPr/>
          </p:nvSpPr>
          <p:spPr>
            <a:xfrm>
              <a:off x="5382578" y="1524000"/>
              <a:ext cx="627602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928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2717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调用示例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4868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79732" y="2045494"/>
              <a:ext cx="154228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parseFloat(String s)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13332" y="2145506"/>
              <a:ext cx="1391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parseFloat("3.5")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9853" y="21455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25193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82578" y="2524125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79732" y="2645569"/>
              <a:ext cx="848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3332" y="2645569"/>
              <a:ext cx="197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valueOf(2.5f).toString()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49853" y="264556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"2.5"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82578" y="29194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79732" y="3045619"/>
              <a:ext cx="1908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toString(float f)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3332" y="3045619"/>
              <a:ext cx="11417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toString(1.0f)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49853" y="304561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"1.0"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82578" y="3324225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79732" y="3445669"/>
              <a:ext cx="1542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compareTo(Float x)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13332" y="3445669"/>
              <a:ext cx="2454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valueOf(1.5f).compareTo(2.5f)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49853" y="344566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37195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79732" y="3845719"/>
              <a:ext cx="10224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shortValue()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13332" y="3845719"/>
              <a:ext cx="21355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valueOf(7.9f).shortValue()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49853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82578" y="41195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82578" y="4124325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79732" y="4245769"/>
              <a:ext cx="808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intValue()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13332" y="4245769"/>
              <a:ext cx="2015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valueOf(-2.5f).intValue()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49853" y="4245769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-2（截掉小数）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1524000"/>
              <a:ext cx="6276022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511415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147935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77624" y="4597241"/>
              <a:ext cx="43025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parseFloat("abc") 这类不合法的字符串抛出 NumberFormatException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5382578" y="4919662"/>
            <a:ext cx="6276022" cy="1443038"/>
            <a:chOff x="5382578" y="4919662"/>
            <a:chExt cx="6276022" cy="1443038"/>
          </a:xfrm>
        </p:grpSpPr>
        <p:sp>
          <p:nvSpPr>
            <p:cNvPr id="66" name="Rectangle 66"/>
            <p:cNvSpPr/>
            <p:nvPr/>
          </p:nvSpPr>
          <p:spPr>
            <a:xfrm>
              <a:off x="5382578" y="4919662"/>
              <a:ext cx="627602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392102" y="505301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607368" y="5106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700039" y="5139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00510" y="5451158"/>
              <a:ext cx="54486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toString(float f) 写成实例方法，它是 static 方法；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NumberFromatException 应为 NumberFormatException，Java.lang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java.lang，publie 应为 public。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5472" cy="909257"/>
            <a:chOff x="520446" y="342900"/>
            <a:chExt cx="86054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014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980" y="407194"/>
              <a:ext cx="365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2.1 标识符、关键字和数据类型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54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Character 与 Boolean 类：判断字符类别，解析布尔值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615440"/>
            <a:chOff x="533400" y="1524000"/>
            <a:chExt cx="5410200" cy="1615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60305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498" y="1756410"/>
              <a:ext cx="14923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java.lang.Character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27711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继承关系：Object → Character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44054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MAX_VALUE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'\uFFFF'，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MIN_VALUE</a:t>
              </a: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'\u0000'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277844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2717959"/>
              <a:ext cx="37202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 Character(char value)：已弃用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33400" y="3319462"/>
            <a:ext cx="5410200" cy="2546985"/>
            <a:chOff x="533400" y="3319462"/>
            <a:chExt cx="5410200" cy="2546985"/>
          </a:xfrm>
        </p:grpSpPr>
        <p:sp>
          <p:nvSpPr>
            <p:cNvPr id="18" name="Rectangle 18"/>
            <p:cNvSpPr/>
            <p:nvPr/>
          </p:nvSpPr>
          <p:spPr>
            <a:xfrm>
              <a:off x="533400" y="3319462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21511" y="34480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45839" y="34480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示例与结果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889" y="3871912"/>
              <a:ext cx="15194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isLetter(char ch)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70479" y="3871912"/>
              <a:ext cx="17467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isLetter('周') → true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633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168140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4296728"/>
              <a:ext cx="1340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isDigit(char ch)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70479" y="4296728"/>
              <a:ext cx="150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isDigit('7') → true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5881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4720590"/>
              <a:ext cx="1883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isWhitespace(char ch)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70479" y="4720590"/>
              <a:ext cx="211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isWhitespace('\t') → true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120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01681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889" y="5145405"/>
              <a:ext cx="18819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toLowerCase(char ch)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70479" y="5145405"/>
              <a:ext cx="1976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toLowerCase('Q') → 'q'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4368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889" y="5570220"/>
              <a:ext cx="1847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toUpperCase(char ch)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70479" y="5570220"/>
              <a:ext cx="1910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toUpperCase('a') → 'A'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319462"/>
              <a:ext cx="5410200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63228" y="3319462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1615440"/>
            <a:chOff x="6248400" y="1524000"/>
            <a:chExt cx="5410200" cy="1615440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84620" y="1722120"/>
              <a:ext cx="141351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5433" y="1756410"/>
              <a:ext cx="12918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java.lang.Boolean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2240" y="214312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48831" y="2082641"/>
              <a:ext cx="25128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继承关系：Object → Boolean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92240" y="246030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831" y="2400776"/>
              <a:ext cx="45572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常量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TRUE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FALSE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：表示真、假的两个 Boolean 对象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92240" y="277844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48831" y="2717959"/>
              <a:ext cx="48799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 Boolean(boolean)、Boolean(String)：已弃用</a:t>
              </a:r>
            </a:p>
          </p:txBody>
        </p:sp>
      </p:grpSp>
      <p:grpSp>
        <p:nvGrpSpPr>
          <p:cNvPr id="65" name="c2-table-2"/>
          <p:cNvGrpSpPr/>
          <p:nvPr/>
        </p:nvGrpSpPr>
        <p:grpSpPr>
          <a:xfrm>
            <a:off x="6248400" y="3319462"/>
            <a:ext cx="5410200" cy="1697355"/>
            <a:chOff x="6248400" y="3319462"/>
            <a:chExt cx="5410200" cy="1697355"/>
          </a:xfrm>
        </p:grpSpPr>
        <p:sp>
          <p:nvSpPr>
            <p:cNvPr id="51" name="Rectangle 51"/>
            <p:cNvSpPr/>
            <p:nvPr/>
          </p:nvSpPr>
          <p:spPr>
            <a:xfrm>
              <a:off x="6248400" y="3319462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36511" y="34480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静态方法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60839" y="34480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示例与结果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50889" y="3871912"/>
              <a:ext cx="1948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parseBoolean(String s)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85479" y="3871912"/>
              <a:ext cx="2322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parseBoolean("TRUE") → true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41633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4168140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0889" y="429672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85479" y="4296728"/>
              <a:ext cx="2255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parseBoolean("yes") → false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45881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0889" y="4720590"/>
              <a:ext cx="1663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toString(boolean b)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85479" y="4720590"/>
              <a:ext cx="2037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toString(false) → "false"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319462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678228" y="331946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llout-3"/>
          <p:cNvGrpSpPr/>
          <p:nvPr/>
        </p:nvGrpSpPr>
        <p:grpSpPr>
          <a:xfrm>
            <a:off x="6248400" y="5196840"/>
            <a:ext cx="5410200" cy="756285"/>
            <a:chOff x="6248400" y="5196840"/>
            <a:chExt cx="5410200" cy="756285"/>
          </a:xfrm>
        </p:grpSpPr>
        <p:sp>
          <p:nvSpPr>
            <p:cNvPr id="66" name="Rectangle 66"/>
            <p:cNvSpPr/>
            <p:nvPr/>
          </p:nvSpPr>
          <p:spPr>
            <a:xfrm>
              <a:off x="6248400" y="519684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53188" y="5474970"/>
              <a:ext cx="200026" cy="200026"/>
              <a:chOff x="6453188" y="5474970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53188" y="54749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53200" y="55416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42088" y="55749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755511" y="5344954"/>
              <a:ext cx="444182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parseBoolean 只在字符串忽略大小写后等于 "true" 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true，其余情况（包括 null）都返回 false。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962830" cy="3706177"/>
            <a:chOff x="667512" y="1835468"/>
            <a:chExt cx="4962830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827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操作符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529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写法大多沿用 C/C++，差别集中在类型检查更严格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赋值与算术操作符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关系与逻辑操作符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位、移位与字符串操作符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类型转换与条件操作符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优先级与结合性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6977" cy="909257"/>
            <a:chOff x="520446" y="342900"/>
            <a:chExt cx="89669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69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操作符一览：继承 C/C++，去掉了指针相关的操作符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6492240" cy="4244340"/>
            <a:chOff x="533400" y="1524000"/>
            <a:chExt cx="6492240" cy="42443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013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71076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8454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64639" y="207645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以及 +=、-= 等复合赋值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80266" y="207645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4639" y="2501265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- * / % ++ --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0266" y="2501265"/>
              <a:ext cx="4079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% 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4639" y="2926080"/>
              <a:ext cx="1102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&gt; &lt;= &gt;= == !=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0266" y="292608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== 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165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2135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64639" y="3349942"/>
              <a:ext cx="803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! &amp; | ^ &amp;&amp; ||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80266" y="3349942"/>
              <a:ext cx="101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&gt; 0 &amp;&amp; y &gt; 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414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77475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64639" y="3774757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 | ^ ~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80266" y="3774757"/>
              <a:ext cx="66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&amp; 0xFF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0662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07098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889" y="41986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64639" y="419862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 &gt;&gt; &gt;&gt;&gt;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80266" y="419862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&gt;&gt;&gt; 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4900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889" y="4623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字符串连接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64639" y="462343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+=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80266" y="4623435"/>
              <a:ext cx="73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"n = " + 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149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19662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889" y="50482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类型转换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64639" y="5048250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(类型)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80266" y="504825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(int) 3.7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3387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889" y="54721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条件（三元）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064639" y="5472112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 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80266" y="5472112"/>
              <a:ext cx="92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 b ? a : b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6492240" cy="42443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957388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073015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1"/>
          <p:cNvGrpSpPr/>
          <p:nvPr/>
        </p:nvGrpSpPr>
        <p:grpSpPr>
          <a:xfrm>
            <a:off x="7330440" y="1524000"/>
            <a:ext cx="4328160" cy="2704148"/>
            <a:chOff x="7330440" y="1524000"/>
            <a:chExt cx="4328160" cy="2704148"/>
          </a:xfrm>
        </p:grpSpPr>
        <p:sp>
          <p:nvSpPr>
            <p:cNvPr id="54" name="Rectangle 54"/>
            <p:cNvSpPr/>
            <p:nvPr/>
          </p:nvSpPr>
          <p:spPr>
            <a:xfrm>
              <a:off x="7330440" y="1524000"/>
              <a:ext cx="4328160" cy="2704148"/>
            </a:xfrm>
            <a:prstGeom prst="roundRect">
              <a:avLst>
                <a:gd name="adj" fmla="val 493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28560" y="1722120"/>
              <a:ext cx="121158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83641" y="1756410"/>
              <a:ext cx="1101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C/C++ 的关系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21321" y="2082641"/>
              <a:ext cx="36843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形式、功能、优先级和结合性都与 C/C++ 非常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相似。Java 取消了：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536180" y="273177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92771" y="2672239"/>
              <a:ext cx="2824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指针操作符：取地址 </a:t>
              </a:r>
              <a:r>
                <a:rPr lang="zh-CN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&amp;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、取内容 </a:t>
              </a:r>
              <a:r>
                <a:rPr lang="zh-CN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536180" y="304990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92771" y="298942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结构体成员操作符 </a:t>
              </a:r>
              <a:r>
                <a:rPr lang="zh-CN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-&gt;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536180" y="336804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92771" y="3307556"/>
              <a:ext cx="16106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长度操作符 </a:t>
              </a: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sizeof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22464" y="3621405"/>
              <a:ext cx="3639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&amp; 和 * 在 Java 中仍然表示按位与和乘法，只是没有了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指针含义。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7330440" y="4408170"/>
            <a:ext cx="4328160" cy="1522095"/>
            <a:chOff x="7330440" y="4408170"/>
            <a:chExt cx="4328160" cy="1522095"/>
          </a:xfrm>
        </p:grpSpPr>
        <p:sp>
          <p:nvSpPr>
            <p:cNvPr id="66" name="Rectangle 66"/>
            <p:cNvSpPr/>
            <p:nvPr/>
          </p:nvSpPr>
          <p:spPr>
            <a:xfrm>
              <a:off x="7330440" y="4408170"/>
              <a:ext cx="432816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39965" y="454152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566660" y="46062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58100" y="46405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59421" y="4966811"/>
              <a:ext cx="369341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Java 增加了无符号右移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&gt;&gt;&gt;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和判断对象类型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instanceof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还能连接字符串。比较对象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内容时用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equals()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方法，它不是操作符。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赋值操作符：取得右边的值，复制到左边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2204085"/>
            <a:chOff x="533400" y="1524000"/>
            <a:chExt cx="5626418" cy="2204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04085"/>
            </a:xfrm>
            <a:prstGeom prst="roundRect">
              <a:avLst>
                <a:gd name="adj" fmla="val 6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3738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5080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b = a + 2;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先算出右边的值，再把它复制给左边的变量。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40077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右边可以是常数、变量或表达式，只要能产生一个值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77844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71795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左边必须是一个明确的、已命名的变量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09657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036094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赋值表达式本身也有值，并且从右到左结合：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 = b = 5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相当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于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 = (b = 5)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28066" y="3908108"/>
            <a:ext cx="5631752" cy="2402776"/>
            <a:chOff x="528066" y="3908108"/>
            <a:chExt cx="5631752" cy="2402776"/>
          </a:xfrm>
        </p:grpSpPr>
        <p:sp>
          <p:nvSpPr>
            <p:cNvPr id="19" name="Rectangle 19"/>
            <p:cNvSpPr/>
            <p:nvPr/>
          </p:nvSpPr>
          <p:spPr>
            <a:xfrm>
              <a:off x="533400" y="3908108"/>
              <a:ext cx="5626418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05344" y="40366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复合赋值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9800" y="403669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0962" y="4461510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+=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3067" y="446151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a + 3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7529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75773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690962" y="4885372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-=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3067" y="488537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a - 3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1768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90962" y="5310188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*=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3067" y="5310188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a * 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6016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560641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90962" y="5735002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/= 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23067" y="573500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a / 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08108"/>
              <a:ext cx="562641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30892" y="390810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6105525"/>
              <a:ext cx="3000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同类的还有 %=、&amp;=、|=、^=、&lt;&lt;=、&gt;&gt;=、&gt;&gt;&gt;=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6464618" y="1524000"/>
            <a:ext cx="5193982" cy="1829752"/>
            <a:chOff x="6464618" y="1524000"/>
            <a:chExt cx="5193982" cy="1829752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3015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2634" y="1937385"/>
              <a:ext cx="3424428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1;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a + 2;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 b = 3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 = b = 5;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a、b 都是 5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1 = a;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不能给常数赋值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 + 1 = b;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左边不是变量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4;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 = 5;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不能给 final 变量再赋值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464618" y="3533775"/>
            <a:ext cx="5193982" cy="1018222"/>
            <a:chOff x="6464618" y="3533775"/>
            <a:chExt cx="5193982" cy="1018222"/>
          </a:xfrm>
        </p:grpSpPr>
        <p:sp>
          <p:nvSpPr>
            <p:cNvPr id="43" name="Rectangle 43"/>
            <p:cNvSpPr/>
            <p:nvPr/>
          </p:nvSpPr>
          <p:spPr>
            <a:xfrm>
              <a:off x="6464618" y="3533775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69405" y="3943350"/>
              <a:ext cx="200026" cy="200025"/>
              <a:chOff x="6669405" y="3943350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669405" y="39433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09144" y="39878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43859" y="40989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1729" y="3680936"/>
              <a:ext cx="415328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复合赋值自带强制转换：byte b = 10; 之后 b += 5;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合法，而 b = b + 5; 编译报错，因为 b + 5 的结果是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int（见强制类型转换一页）。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464618" y="4732972"/>
            <a:ext cx="5193982" cy="1536382"/>
            <a:chOff x="6464618" y="4732972"/>
            <a:chExt cx="5193982" cy="1536382"/>
          </a:xfrm>
        </p:grpSpPr>
        <p:sp>
          <p:nvSpPr>
            <p:cNvPr id="50" name="Rectangle 50"/>
            <p:cNvSpPr/>
            <p:nvPr/>
          </p:nvSpPr>
          <p:spPr>
            <a:xfrm>
              <a:off x="6464618" y="4732972"/>
              <a:ext cx="5193982" cy="1536382"/>
            </a:xfrm>
            <a:prstGeom prst="roundRect">
              <a:avLst>
                <a:gd name="adj" fmla="val 86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4866322"/>
              <a:ext cx="47625" cy="12696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00838" y="49310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92278" y="49653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93598" y="529161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 = a; \\不允许的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。Java 的单行注释是</a:t>
              </a:r>
              <a:br/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//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\\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不是注释符号，这样写本身也会报错。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2.2 引用类型赋值：复制的是引用，不是对象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3670935"/>
            <a:chOff x="533400" y="1524000"/>
            <a:chExt cx="6276022" cy="3670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858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SimpleApp2.java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65760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4185539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Number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SimpleApp2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Number n1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Number();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类为引用类型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Number n2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Number();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9, k = 47;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基本类型赋值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n1.i = 9;  n2.i = 47;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引用类型赋值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"第一次赋值 n1.i: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n1.i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n2.i: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n2.i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j: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j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k: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k);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n1 = n2;  j = k;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n2 赋给 n1，k 赋给 j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"第二次赋值 n1.i: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n1.i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n2.i: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n2.i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j: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j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k: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k);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n1.i = 27;  j = 27;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改 n1 和 j，看 n2 和 k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"第三次赋值 n1.i: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n1.i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n2.i: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n2.i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j: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j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", k: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k);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365432"/>
            <a:ext cx="6276022" cy="978218"/>
            <a:chOff x="533400" y="5365432"/>
            <a:chExt cx="6276022" cy="978218"/>
          </a:xfrm>
        </p:grpSpPr>
        <p:sp>
          <p:nvSpPr>
            <p:cNvPr id="12" name="Rectangle 12"/>
            <p:cNvSpPr/>
            <p:nvPr/>
          </p:nvSpPr>
          <p:spPr>
            <a:xfrm>
              <a:off x="533400" y="5365432"/>
              <a:ext cx="6276022" cy="978218"/>
            </a:xfrm>
            <a:prstGeom prst="roundRect">
              <a:avLst>
                <a:gd name="adj" fmla="val 11685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754055"/>
              <a:ext cx="200023" cy="200023"/>
              <a:chOff x="738188" y="5754055"/>
              <a:chExt cx="200023" cy="20002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7540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1538" y="5820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511165"/>
              <a:ext cx="521722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执行完 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n1 = n2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，原来 n1 指向的对象再没有变量引用它，成为垃圾对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象等回收，里面的 9 取不回来。想让两个对象各自独立，应写 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n1.i =</a:t>
              </a:r>
              <a:br/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n2.i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，只复制数值。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7114222" y="1524000"/>
            <a:ext cx="4544378" cy="1600200"/>
            <a:chOff x="7114222" y="1524000"/>
            <a:chExt cx="4544378" cy="1600200"/>
          </a:xfrm>
        </p:grpSpPr>
        <p:sp>
          <p:nvSpPr>
            <p:cNvPr id="18" name="Rectangle 18"/>
            <p:cNvSpPr/>
            <p:nvPr/>
          </p:nvSpPr>
          <p:spPr>
            <a:xfrm>
              <a:off x="7114222" y="1524000"/>
              <a:ext cx="4544378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3004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87702" y="1645444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n1.i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63050" y="1645444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n2.i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06141" y="164544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3501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11378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第一次赋值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0059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34479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8842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95627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14222" y="23193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14222" y="2324100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11378" y="2445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第二次赋值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5913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34479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4696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95627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14222" y="271938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11378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第三次赋值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9132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294495" y="2733675"/>
              <a:ext cx="85629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34479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46962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919460" y="2733675"/>
              <a:ext cx="72961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95627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14222" y="1524000"/>
              <a:ext cx="454437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04860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28020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15650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90517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7114222" y="3293745"/>
            <a:ext cx="4544378" cy="978218"/>
            <a:chOff x="7114222" y="3293745"/>
            <a:chExt cx="4544378" cy="978218"/>
          </a:xfrm>
        </p:grpSpPr>
        <p:sp>
          <p:nvSpPr>
            <p:cNvPr id="50" name="Rectangle 50"/>
            <p:cNvSpPr/>
            <p:nvPr/>
          </p:nvSpPr>
          <p:spPr>
            <a:xfrm>
              <a:off x="7114222" y="3293745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19010" y="3683320"/>
              <a:ext cx="200023" cy="200023"/>
              <a:chOff x="7319010" y="368332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19010" y="36833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452360" y="37499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621714" y="3440430"/>
              <a:ext cx="363988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 n1.i 时 n2.i 也变成 27：n1 = n2 之后两个变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量指向同一个对象。改 j 不影响 k：基本类型赋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值复制的是数值。</a:t>
              </a:r>
            </a:p>
          </p:txBody>
        </p:sp>
      </p:grpSp>
      <p:grpSp>
        <p:nvGrpSpPr>
          <p:cNvPr id="62" name="c2-card-3"/>
          <p:cNvGrpSpPr/>
          <p:nvPr/>
        </p:nvGrpSpPr>
        <p:grpSpPr>
          <a:xfrm>
            <a:off x="7114222" y="4442460"/>
            <a:ext cx="4544378" cy="1901190"/>
            <a:chOff x="7114222" y="4442460"/>
            <a:chExt cx="4544378" cy="1901190"/>
          </a:xfrm>
        </p:grpSpPr>
        <p:sp>
          <p:nvSpPr>
            <p:cNvPr id="56" name="Rectangle 56"/>
            <p:cNvSpPr/>
            <p:nvPr/>
          </p:nvSpPr>
          <p:spPr>
            <a:xfrm>
              <a:off x="7114222" y="4442460"/>
              <a:ext cx="4544378" cy="1901190"/>
            </a:xfrm>
            <a:prstGeom prst="roundRect">
              <a:avLst>
                <a:gd name="adj" fmla="val 70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23748" y="4575810"/>
              <a:ext cx="47625" cy="16344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9012" y="46291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30732" y="46620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32154" y="4973002"/>
              <a:ext cx="37256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原课件输出结果中的“大二次赋值”应为“第二次赋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值”。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33298" y="5526881"/>
              <a:ext cx="38803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本例的 Number 是自定义类，与 java.lang.Number 同名，在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这个文件里会遮蔽后者，实际编程时应避免这样起名。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90924" cy="909257"/>
            <a:chOff x="520446" y="342900"/>
            <a:chExt cx="77909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909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2.2 图解：变量在栈中，new 出来的对象在堆中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860319" y="1626394"/>
            <a:ext cx="5222346" cy="4152995"/>
            <a:chOff x="860319" y="1626394"/>
            <a:chExt cx="5222346" cy="4152995"/>
          </a:xfrm>
        </p:grpSpPr>
        <p:sp>
          <p:nvSpPr>
            <p:cNvPr id="7" name="Freeform 7"/>
            <p:cNvSpPr/>
            <p:nvPr/>
          </p:nvSpPr>
          <p:spPr>
            <a:xfrm>
              <a:off x="2186940" y="2535555"/>
              <a:ext cx="1990725" cy="101917"/>
            </a:xfrm>
            <a:custGeom>
              <a:avLst/>
              <a:gdLst/>
              <a:ahLst/>
              <a:cxnLst/>
              <a:rect l="l" t="t" r="r" b="b"/>
              <a:pathLst>
                <a:path w="1990725" h="101917">
                  <a:moveTo>
                    <a:pt x="0" y="0"/>
                  </a:moveTo>
                  <a:lnTo>
                    <a:pt x="1990725" y="10191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4174808" y="2589848"/>
              <a:ext cx="98108" cy="94298"/>
            </a:xfrm>
            <a:custGeom>
              <a:avLst/>
              <a:gdLst/>
              <a:ahLst/>
              <a:cxnLst/>
              <a:rect l="l" t="t" r="r" b="b"/>
              <a:pathLst>
                <a:path w="98108" h="94298">
                  <a:moveTo>
                    <a:pt x="98108" y="52388"/>
                  </a:moveTo>
                  <a:lnTo>
                    <a:pt x="0" y="94298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92642" y="2727960"/>
              <a:ext cx="2476500" cy="1262062"/>
            </a:xfrm>
            <a:custGeom>
              <a:avLst/>
              <a:gdLst/>
              <a:ahLst/>
              <a:cxnLst/>
              <a:rect l="l" t="t" r="r" b="b"/>
              <a:pathLst>
                <a:path w="2476500" h="1262062">
                  <a:moveTo>
                    <a:pt x="0" y="0"/>
                  </a:moveTo>
                  <a:lnTo>
                    <a:pt x="2476500" y="1262062"/>
                  </a:lnTo>
                </a:path>
              </a:pathLst>
            </a:custGeom>
            <a:noFill/>
            <a:ln w="17145">
              <a:solidFill>
                <a:srgbClr val="A1343C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47235" y="394716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5725"/>
                  </a:moveTo>
                  <a:lnTo>
                    <a:pt x="0" y="84773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A1343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86940" y="3613785"/>
              <a:ext cx="1992630" cy="457200"/>
            </a:xfrm>
            <a:custGeom>
              <a:avLst/>
              <a:gdLst/>
              <a:ahLst/>
              <a:cxnLst/>
              <a:rect l="l" t="t" r="r" b="b"/>
              <a:pathLst>
                <a:path w="1992630" h="457200">
                  <a:moveTo>
                    <a:pt x="0" y="0"/>
                  </a:moveTo>
                  <a:lnTo>
                    <a:pt x="1992630" y="4572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69092" y="4024312"/>
              <a:ext cx="103823" cy="93345"/>
            </a:xfrm>
            <a:custGeom>
              <a:avLst/>
              <a:gdLst/>
              <a:ahLst/>
              <a:cxnLst/>
              <a:rect l="l" t="t" r="r" b="b"/>
              <a:pathLst>
                <a:path w="103823" h="93345">
                  <a:moveTo>
                    <a:pt x="103823" y="67628"/>
                  </a:moveTo>
                  <a:lnTo>
                    <a:pt x="0" y="93345"/>
                  </a:lnTo>
                  <a:lnTo>
                    <a:pt x="2095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39190" y="2289810"/>
              <a:ext cx="1047750" cy="438150"/>
            </a:xfrm>
            <a:prstGeom prst="roundRect">
              <a:avLst>
                <a:gd name="adj" fmla="val 2173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39190" y="3274695"/>
              <a:ext cx="1047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39190" y="4259580"/>
              <a:ext cx="1047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39190" y="5065395"/>
              <a:ext cx="1047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72915" y="2421255"/>
              <a:ext cx="1809750" cy="533400"/>
            </a:xfrm>
            <a:prstGeom prst="roundRect">
              <a:avLst>
                <a:gd name="adj" fmla="val 1785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72915" y="4032885"/>
              <a:ext cx="1809750" cy="533400"/>
            </a:xfrm>
            <a:prstGeom prst="roundRect">
              <a:avLst>
                <a:gd name="adj" fmla="val 17857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63677" y="24345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3677" y="34194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0702" y="4404360"/>
              <a:ext cx="444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27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9499" y="5210175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47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83587" y="2613660"/>
              <a:ext cx="988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 A：i = 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81271" y="299227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不再被引用，等待垃圾回收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6941" y="4225290"/>
              <a:ext cx="1081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 B：i = 27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80360" y="2495550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95156" y="253031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原来的引用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84182" y="3287078"/>
              <a:ext cx="77914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96107" y="3321844"/>
              <a:ext cx="755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n1 = n2 之后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0319" y="1626394"/>
              <a:ext cx="16054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栈：main 方法中的变量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74178" y="1626394"/>
              <a:ext cx="1407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堆：new 创建的对象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46819" y="557403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执行到第三次赋值之后的状态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7114222" y="1524000"/>
            <a:ext cx="4544378" cy="3337084"/>
            <a:chOff x="7114222" y="1524000"/>
            <a:chExt cx="4544378" cy="3337084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0" t="8486" r="0" b="8485"/>
            <a:stretch>
              <a:fillRect/>
            </a:stretch>
          </p:blipFill>
          <p:spPr>
            <a:xfrm>
              <a:off x="7114222" y="1524000"/>
              <a:ext cx="4544378" cy="2829878"/>
            </a:xfrm>
            <a:prstGeom prst="roundRect">
              <a:avLst>
                <a:gd name="adj" fmla="val 4712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246620" y="4448651"/>
              <a:ext cx="4278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两张牌系在同一个箱子上，顺着哪张找到的都是它；左边没挂牌的箱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子就像对象 A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7114222" y="5027295"/>
            <a:ext cx="4544378" cy="1335405"/>
            <a:chOff x="7114222" y="5027295"/>
            <a:chExt cx="4544378" cy="1335405"/>
          </a:xfrm>
        </p:grpSpPr>
        <p:sp>
          <p:nvSpPr>
            <p:cNvPr id="37" name="Rectangle 37"/>
            <p:cNvSpPr/>
            <p:nvPr/>
          </p:nvSpPr>
          <p:spPr>
            <a:xfrm>
              <a:off x="7114222" y="5027295"/>
              <a:ext cx="4544378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19010" y="5594985"/>
              <a:ext cx="200026" cy="200025"/>
              <a:chOff x="7319010" y="559498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19010" y="5594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358749" y="5639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93464" y="5750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620952" y="5175885"/>
              <a:ext cx="36633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n1 = n2 只是让 n1 改为指向对象 B；对象 A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不再被任何变量引用，之后由垃圾回收器自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动释放。j、k 各有自己的存储单元，互不影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响。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3119" cy="909257"/>
            <a:chOff x="520446" y="342900"/>
            <a:chExt cx="86431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31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算术操作符：整数相除只保留商，% 的符号与被除数相同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28447" y="1524000"/>
            <a:ext cx="5415153" cy="4264056"/>
            <a:chOff x="528447" y="1524000"/>
            <a:chExt cx="5415153" cy="42640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825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380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277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593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087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4010" y="20454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78418" y="204549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85260" y="2045494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 与 b 的和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087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04010" y="24455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78418" y="244554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-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85260" y="2445544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 与 b 的差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7087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04010" y="28455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78418" y="284559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*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85260" y="2845594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 与 b 的积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0876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4010" y="32456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78418" y="324564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/ 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85260" y="3245644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 除以 b 的商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5045" y="3645694"/>
              <a:ext cx="13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04010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78418" y="3645694"/>
              <a:ext cx="380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% 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5260" y="3645694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 除以 b 的余数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9328" y="4045744"/>
              <a:ext cx="701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+（一元）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04010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78418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85260" y="40457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值就是 x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319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9328" y="4445794"/>
              <a:ext cx="701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-（一元）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04010" y="4445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78418" y="44457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85260" y="4445794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x 取负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7196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7244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7340" y="48458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++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04010" y="48458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自增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78418" y="4845844"/>
              <a:ext cx="65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x++、++x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985260" y="4845844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加 1 后放回 x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1196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7340" y="52458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--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04010" y="5245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78418" y="5245894"/>
              <a:ext cx="65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x--、--x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85260" y="5245894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减 1 后放回 x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1524000"/>
              <a:ext cx="5410200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50209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476500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88334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8447" y="5597366"/>
              <a:ext cx="3387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二元算术操作符从左到右结合：a - b - c 等于 (a - b) - c</a:t>
              </a:r>
            </a:p>
          </p:txBody>
        </p:sp>
      </p:grpSp>
      <p:grpSp>
        <p:nvGrpSpPr>
          <p:cNvPr id="103" name="c2-table-1"/>
          <p:cNvGrpSpPr/>
          <p:nvPr/>
        </p:nvGrpSpPr>
        <p:grpSpPr>
          <a:xfrm>
            <a:off x="6248400" y="1524000"/>
            <a:ext cx="5410200" cy="3200400"/>
            <a:chOff x="6248400" y="1524000"/>
            <a:chExt cx="5410200" cy="3200400"/>
          </a:xfrm>
        </p:grpSpPr>
        <p:sp>
          <p:nvSpPr>
            <p:cNvPr id="66" name="Rectangle 66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6612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8548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4097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45555" y="2045494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/ 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4381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34438" y="20454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两个整数相除，小数部分直接截掉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5555" y="2445544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-7 / 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4381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834438" y="2445544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0 取整，不是 -4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45555" y="2845594"/>
              <a:ext cx="541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 / 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43812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34438" y="2845594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有一个操作数是 double 就做小数除法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45555" y="324564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-7 % 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43812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34438" y="32456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余数的符号与被除数相同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5555" y="36456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7 % -3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64381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834438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48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248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345555" y="4045744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643812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抛出异常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834438" y="4045744"/>
              <a:ext cx="263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整数除以 0 抛出 ArithmeticException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4319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345555" y="4445794"/>
              <a:ext cx="541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 / 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643812" y="4445794"/>
              <a:ext cx="56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Infinity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834438" y="4445794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浮点数除以 0 得到无穷大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248400" y="1524000"/>
              <a:ext cx="541020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754189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8732520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9" name="c2-card-2"/>
          <p:cNvGrpSpPr/>
          <p:nvPr/>
        </p:nvGrpSpPr>
        <p:grpSpPr>
          <a:xfrm>
            <a:off x="6248400" y="4893945"/>
            <a:ext cx="5410200" cy="1443038"/>
            <a:chOff x="6248400" y="4893945"/>
            <a:chExt cx="5410200" cy="1443038"/>
          </a:xfrm>
        </p:grpSpPr>
        <p:sp>
          <p:nvSpPr>
            <p:cNvPr id="104" name="Rectangle 104"/>
            <p:cNvSpPr/>
            <p:nvPr/>
          </p:nvSpPr>
          <p:spPr>
            <a:xfrm>
              <a:off x="6248400" y="4893945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257925" y="502729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473190" y="50806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65862" y="51134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466332" y="5425440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原课件说“数学操作符并不改变操作数的值”，这对 + - * / % 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立，但 ++ 和 -- 会修改变量本身。原表中 a-- 的功能误写成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“将 x 的值减 1 后再放回变量 x”。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2528" cy="909257"/>
            <a:chOff x="520446" y="342900"/>
            <a:chExt cx="7932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2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2.3 自增：i++ 先取值后加 1，++i 先加 1 后取值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2616518"/>
            <a:chOff x="533400" y="1524000"/>
            <a:chExt cx="6059805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858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SimpleApp3.java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306128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309999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SimpleApp3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2;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"i初始化为2"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"做后递增运算后i++本身的值为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i++);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"做后递增运算后i的值为：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2;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"j初始化为2"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"做前递增运算后++j本身的值为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++j);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"做前递增运算后j的值为：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j);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4310062"/>
            <a:ext cx="6059805" cy="2000250"/>
            <a:chOff x="533400" y="4310062"/>
            <a:chExt cx="6059805" cy="2000250"/>
          </a:xfrm>
        </p:grpSpPr>
        <p:sp>
          <p:nvSpPr>
            <p:cNvPr id="13" name="Rectangle 13"/>
            <p:cNvSpPr/>
            <p:nvPr/>
          </p:nvSpPr>
          <p:spPr>
            <a:xfrm>
              <a:off x="533400" y="4310062"/>
              <a:ext cx="605980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0068" y="4431506"/>
              <a:ext cx="827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执行前 i =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13989" y="44315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表达式的值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16480" y="4431506"/>
              <a:ext cx="757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 i 的值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7471" y="483155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i++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49462" y="4831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47807" y="4831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1054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511016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47471" y="523160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++i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49462" y="5231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47807" y="5231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505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47471" y="563165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i--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49462" y="5631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47807" y="5631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9055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91026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47471" y="603170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--i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49462" y="60317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47807" y="60317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310062"/>
              <a:ext cx="605980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90800" y="431006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92955" y="431006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code-1"/>
          <p:cNvGrpSpPr/>
          <p:nvPr/>
        </p:nvGrpSpPr>
        <p:grpSpPr>
          <a:xfrm>
            <a:off x="6898005" y="1524000"/>
            <a:ext cx="4760595" cy="1561148"/>
            <a:chOff x="6898005" y="1524000"/>
            <a:chExt cx="4760595" cy="1561148"/>
          </a:xfrm>
        </p:grpSpPr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26402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26402" y="1935956"/>
              <a:ext cx="1845691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i初始化为2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做后递增运算后i++本身的值为 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做后递增运算后i的值为： 3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j初始化为2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做前递增运算后++j本身的值为 3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做前递增运算后j的值为： 3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898005" y="3254692"/>
            <a:ext cx="4760595" cy="1485900"/>
            <a:chOff x="6898005" y="3254692"/>
            <a:chExt cx="4760595" cy="1485900"/>
          </a:xfrm>
        </p:grpSpPr>
        <p:sp>
          <p:nvSpPr>
            <p:cNvPr id="42" name="Rectangle 42"/>
            <p:cNvSpPr/>
            <p:nvPr/>
          </p:nvSpPr>
          <p:spPr>
            <a:xfrm>
              <a:off x="6898005" y="3254692"/>
              <a:ext cx="4760595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3388042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22795" y="344138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00214" y="347424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原课件的例子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15937" y="378618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 = 1; j = 1; a = i++; b = ++j;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15937" y="4086225"/>
              <a:ext cx="39484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取 i 的旧值 1 后 i 变成 2；j 先变成 2，b 再取新值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2。结果 a = 1，b = 2。</a:t>
              </a:r>
            </a:p>
          </p:txBody>
        </p:sp>
      </p:grpSp>
      <p:grpSp>
        <p:nvGrpSpPr>
          <p:cNvPr id="54" name="c2-card-3"/>
          <p:cNvGrpSpPr/>
          <p:nvPr/>
        </p:nvGrpSpPr>
        <p:grpSpPr>
          <a:xfrm>
            <a:off x="6898005" y="4911090"/>
            <a:ext cx="4760595" cy="1399222"/>
            <a:chOff x="6898005" y="4911090"/>
            <a:chExt cx="4760595" cy="1399222"/>
          </a:xfrm>
        </p:grpSpPr>
        <p:sp>
          <p:nvSpPr>
            <p:cNvPr id="49" name="Rectangle 49"/>
            <p:cNvSpPr/>
            <p:nvPr/>
          </p:nvSpPr>
          <p:spPr>
            <a:xfrm>
              <a:off x="6898005" y="4911090"/>
              <a:ext cx="4760595" cy="1399222"/>
            </a:xfrm>
            <a:prstGeom prst="roundRect">
              <a:avLst>
                <a:gd name="adj" fmla="val 95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7530" y="5044440"/>
              <a:ext cx="47625" cy="11325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2795" y="50977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14514" y="51306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15937" y="5441633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 = i++ ,b = ++j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。Java 没有逗号运算符，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这不是合法语句，应拆成两条。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45168" cy="909257"/>
            <a:chOff x="520446" y="342900"/>
            <a:chExt cx="91451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451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关系操作符：结果是 boolean；== 用于引用时比较的是地址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7685" y="1524000"/>
            <a:ext cx="4983480" cy="3437097"/>
            <a:chOff x="527685" y="1524000"/>
            <a:chExt cx="4983480" cy="34370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612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976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911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846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5087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==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7525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31020" y="2108359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== 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1596" y="2108359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7703" y="2556986"/>
              <a:ext cx="166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!=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37525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31020" y="2556986"/>
              <a:ext cx="452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!=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744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484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7525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大于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31020" y="300561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1596" y="3005614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484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7525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31020" y="345424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&lt; 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67443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633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087" y="390382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&gt;=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37525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大于等于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31020" y="3903821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&gt;= 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67443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11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21671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087" y="43524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&lt;=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37525" y="43524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小于等于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31020" y="4352449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&lt;=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41596" y="4352449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497776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2494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71843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21195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685" y="4741069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int a = 1; int b = 2;</a:t>
              </a:r>
            </a:p>
          </p:txBody>
        </p:sp>
      </p:grpSp>
      <p:grpSp>
        <p:nvGrpSpPr>
          <p:cNvPr id="56" name="c1-callout-2"/>
          <p:cNvGrpSpPr/>
          <p:nvPr/>
        </p:nvGrpSpPr>
        <p:grpSpPr>
          <a:xfrm>
            <a:off x="533400" y="5107305"/>
            <a:ext cx="4977765" cy="854392"/>
            <a:chOff x="533400" y="5107305"/>
            <a:chExt cx="4977765" cy="854392"/>
          </a:xfrm>
        </p:grpSpPr>
        <p:sp>
          <p:nvSpPr>
            <p:cNvPr id="50" name="Rectangle 50"/>
            <p:cNvSpPr/>
            <p:nvPr/>
          </p:nvSpPr>
          <p:spPr>
            <a:xfrm>
              <a:off x="533400" y="5107305"/>
              <a:ext cx="4977765" cy="854392"/>
            </a:xfrm>
            <a:prstGeom prst="roundRect">
              <a:avLst>
                <a:gd name="adj" fmla="val 1337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5431273"/>
              <a:ext cx="224134" cy="192560"/>
              <a:chOff x="726129" y="5431273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55016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54312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5794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5292090"/>
              <a:ext cx="3958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不能写 1 &lt; x &lt; 5：1 &lt; x 的结果是 boolean，不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能再与 5 比较。应写成 1 &lt; x &amp;&amp; x &lt; 5。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5815965" y="1524000"/>
            <a:ext cx="5842635" cy="1346835"/>
            <a:chOff x="5815965" y="1524000"/>
            <a:chExt cx="5842635" cy="1346835"/>
          </a:xfrm>
        </p:grpSpPr>
        <p:sp>
          <p:nvSpPr>
            <p:cNvPr id="57" name="Rectangle 57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2068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比较的数据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33163" y="1659731"/>
              <a:ext cx="438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==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36579" y="1659731"/>
              <a:ext cx="990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equals()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923788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基本类型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08711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比较两个值是否相等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12783" y="21083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不能用，基本类型没有方法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23788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引用类型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08711" y="255698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比较是否指向同一个对象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214485" y="2430780"/>
              <a:ext cx="243459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12783" y="25569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比较两个对象的内容是否相同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815965" y="1524000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09612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20019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ard-2"/>
          <p:cNvGrpSpPr/>
          <p:nvPr/>
        </p:nvGrpSpPr>
        <p:grpSpPr>
          <a:xfrm>
            <a:off x="5815965" y="3061335"/>
            <a:ext cx="5842635" cy="1651635"/>
            <a:chOff x="5815965" y="3061335"/>
            <a:chExt cx="5842635" cy="1651635"/>
          </a:xfrm>
        </p:grpSpPr>
        <p:sp>
          <p:nvSpPr>
            <p:cNvPr id="74" name="Rectangle 74"/>
            <p:cNvSpPr/>
            <p:nvPr/>
          </p:nvSpPr>
          <p:spPr>
            <a:xfrm>
              <a:off x="5815965" y="3061335"/>
              <a:ext cx="5842635" cy="1651635"/>
            </a:xfrm>
            <a:prstGeom prst="roundRect">
              <a:avLst>
                <a:gd name="adj" fmla="val 807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25515" y="32708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15723" y="33066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031230" y="37109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189345" y="3648075"/>
              <a:ext cx="2549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基本类型直接用 </a:t>
              </a:r>
              <a:r>
                <a:rPr lang="zh-CN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==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!=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比较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031230" y="404622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89345" y="3983355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比较两个对象（包括 String、Integer）的内容是否相同，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用 </a:t>
              </a: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equals()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方法</a:t>
              </a:r>
            </a:p>
          </p:txBody>
        </p:sp>
      </p:grpSp>
      <p:grpSp>
        <p:nvGrpSpPr>
          <p:cNvPr id="88" name="c2-callout-3"/>
          <p:cNvGrpSpPr/>
          <p:nvPr/>
        </p:nvGrpSpPr>
        <p:grpSpPr>
          <a:xfrm>
            <a:off x="5815965" y="4903470"/>
            <a:ext cx="5842635" cy="1059180"/>
            <a:chOff x="5815965" y="4903470"/>
            <a:chExt cx="5842635" cy="1059180"/>
          </a:xfrm>
        </p:grpSpPr>
        <p:sp>
          <p:nvSpPr>
            <p:cNvPr id="82" name="Rectangle 82"/>
            <p:cNvSpPr/>
            <p:nvPr/>
          </p:nvSpPr>
          <p:spPr>
            <a:xfrm>
              <a:off x="5815965" y="490347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020753" y="5333048"/>
              <a:ext cx="200026" cy="200026"/>
              <a:chOff x="6020753" y="5333048"/>
              <a:chExt cx="200026" cy="2000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020753" y="53330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120765" y="53997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109653" y="54330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322695" y="5052060"/>
              <a:ext cx="4806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equals() 比较内容，是 String、Integer 等类自己实现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的。自定义的类如果没有重写 equals()，它和 == 一样只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比较是否同一个对象。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51447" cy="909257"/>
            <a:chOff x="520446" y="342900"/>
            <a:chExt cx="77514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514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2.4 == 与 equals()：两个内容相同的不同对象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791778"/>
            <a:chOff x="533400" y="1524000"/>
            <a:chExt cx="6059805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731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SimpleApp4.java（输出语句已整理）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378452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SimpleApp4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1, j =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基本类型：== 比较两个值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== j: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(i == j));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引用类型：== 比较是否同一个对象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Integer n1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Integer(47);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已弃用，仅为造出两个对象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Integer n2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Integer(47);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"n1 == n2: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(n1 == n2));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equals() 比较对象的内容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"n1.equals(n2):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n1.equals(n2));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486275"/>
            <a:ext cx="6059805" cy="1033462"/>
            <a:chOff x="533400" y="4486275"/>
            <a:chExt cx="6059805" cy="1033462"/>
          </a:xfrm>
        </p:grpSpPr>
        <p:sp>
          <p:nvSpPr>
            <p:cNvPr id="11" name="Rectangle 11"/>
            <p:cNvSpPr/>
            <p:nvPr/>
          </p:nvSpPr>
          <p:spPr>
            <a:xfrm>
              <a:off x="533400" y="4486275"/>
              <a:ext cx="605980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6381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4898231"/>
              <a:ext cx="1310513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 == j: true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n1 == n2: false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n1.equals(n2): true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898005" y="1524000"/>
            <a:ext cx="4760595" cy="1700212"/>
            <a:chOff x="6898005" y="1524000"/>
            <a:chExt cx="4760595" cy="1700212"/>
          </a:xfrm>
        </p:grpSpPr>
        <p:sp>
          <p:nvSpPr>
            <p:cNvPr id="15" name="Rectangle 15"/>
            <p:cNvSpPr/>
            <p:nvPr/>
          </p:nvSpPr>
          <p:spPr>
            <a:xfrm>
              <a:off x="6898005" y="1524000"/>
              <a:ext cx="4760595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07530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2279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14514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5937" y="2054542"/>
              <a:ext cx="409422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原课件先用一条 println 打印说明文字，再用另一条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println 打印结果，实际每个结果单独占一行，与课件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中画成一行的输出框不符。注释“调用 == 方法”也不准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确，== 是操作符。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6898005" y="3393758"/>
            <a:ext cx="4760595" cy="729615"/>
            <a:chOff x="6898005" y="3393758"/>
            <a:chExt cx="4760595" cy="729615"/>
          </a:xfrm>
        </p:grpSpPr>
        <p:sp>
          <p:nvSpPr>
            <p:cNvPr id="21" name="Rectangle 21"/>
            <p:cNvSpPr/>
            <p:nvPr/>
          </p:nvSpPr>
          <p:spPr>
            <a:xfrm>
              <a:off x="6898005" y="339375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090734" y="3654861"/>
              <a:ext cx="224134" cy="192560"/>
              <a:chOff x="7090734" y="3654861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202805" y="37252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090734" y="36548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2805" y="38030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405497" y="3540442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括号不能省："i == j: " + i == j 会先做字符串连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接，再拿 String 和 int 比较，编译报错。</a:t>
              </a:r>
            </a:p>
          </p:txBody>
        </p:sp>
      </p:grpSp>
      <p:grpSp>
        <p:nvGrpSpPr>
          <p:cNvPr id="43" name="c2-table-3"/>
          <p:cNvGrpSpPr/>
          <p:nvPr/>
        </p:nvGrpSpPr>
        <p:grpSpPr>
          <a:xfrm>
            <a:off x="6893052" y="4292918"/>
            <a:ext cx="4765548" cy="2038064"/>
            <a:chOff x="6893052" y="4292918"/>
            <a:chExt cx="4765548" cy="2038064"/>
          </a:xfrm>
        </p:grpSpPr>
        <p:sp>
          <p:nvSpPr>
            <p:cNvPr id="28" name="Rectangle 28"/>
            <p:cNvSpPr/>
            <p:nvPr/>
          </p:nvSpPr>
          <p:spPr>
            <a:xfrm>
              <a:off x="6898005" y="4292918"/>
              <a:ext cx="476059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2688" y="4414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82986" y="4414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95160" y="4814411"/>
              <a:ext cx="22392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a = 47, b = 47; a == 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17505" y="481441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50882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98005" y="5093018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5160" y="5214461"/>
              <a:ext cx="2589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c = 1000, d = 1000; c == 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17505" y="5214461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98005" y="54883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95160" y="5614511"/>
              <a:ext cx="92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c.equals(d)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17505" y="561451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4292918"/>
              <a:ext cx="476059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415588" y="429291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93052" y="5966936"/>
              <a:ext cx="4515358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自动装箱会复用 -128~127 的缓存对象，所以小数值用 == 碰巧相等；1000 一行是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默认配置下的结果。包装类对象一律用 equals() 比较。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9621" cy="909257"/>
            <a:chOff x="520446" y="342900"/>
            <a:chExt cx="74296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96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逻辑操作符：&amp;&amp; 和 || 会短路，&amp; 和 | 两边都计算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5193982" cy="2800350"/>
            <a:chOff x="533400" y="1524000"/>
            <a:chExt cx="5193982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920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8663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9349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470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182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5910" y="2045494"/>
              <a:ext cx="472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AND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15602" y="2045494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 &amp; true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09312" y="204549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1616" y="244554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5910" y="2445544"/>
              <a:ext cx="417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15602" y="2445544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 | true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31928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182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^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65910" y="2845594"/>
              <a:ext cx="655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异或 XOR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15602" y="2845594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^ false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31928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1616" y="324564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65910" y="3245644"/>
              <a:ext cx="5047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 NOT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15602" y="324564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!true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09312" y="324564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8290" y="36456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&amp;&amp;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65910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短路与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15602" y="3645694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 &amp;&amp; true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09312" y="364569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195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9243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7869" y="4045744"/>
              <a:ext cx="106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||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65910" y="40457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短路或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15602" y="4045744"/>
              <a:ext cx="900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 || true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31928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519398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6399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81368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7579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ard-2"/>
          <p:cNvGrpSpPr/>
          <p:nvPr/>
        </p:nvGrpSpPr>
        <p:grpSpPr>
          <a:xfrm>
            <a:off x="533400" y="4493895"/>
            <a:ext cx="5193982" cy="1528762"/>
            <a:chOff x="533400" y="4493895"/>
            <a:chExt cx="5193982" cy="1528762"/>
          </a:xfrm>
        </p:grpSpPr>
        <p:sp>
          <p:nvSpPr>
            <p:cNvPr id="49" name="Rectangle 49"/>
            <p:cNvSpPr/>
            <p:nvPr/>
          </p:nvSpPr>
          <p:spPr>
            <a:xfrm>
              <a:off x="533400" y="4493895"/>
              <a:ext cx="5193982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925" y="4627245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8190" y="468058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2759" y="471344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短路求值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66762" y="508158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2782" y="5025390"/>
              <a:ext cx="3684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&amp;&amp;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：左边为 false 时结果已定，右边不再计算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66762" y="538162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2782" y="5325428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||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：左边为 true 时结果已定，右边不再计算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66762" y="568166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2782" y="5625465"/>
              <a:ext cx="2894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&amp;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|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：无论左边是什么，两边都计算</a:t>
              </a:r>
            </a:p>
          </p:txBody>
        </p:sp>
      </p:grpSp>
      <p:grpSp>
        <p:nvGrpSpPr>
          <p:cNvPr id="63" name="c2-code-1"/>
          <p:cNvGrpSpPr/>
          <p:nvPr/>
        </p:nvGrpSpPr>
        <p:grpSpPr>
          <a:xfrm>
            <a:off x="6032182" y="1524000"/>
            <a:ext cx="5626418" cy="1737360"/>
            <a:chOff x="6032182" y="1524000"/>
            <a:chExt cx="5626418" cy="1737360"/>
          </a:xfrm>
        </p:grpSpPr>
        <p:sp>
          <p:nvSpPr>
            <p:cNvPr id="60" name="Rectangle 60"/>
            <p:cNvSpPr/>
            <p:nvPr/>
          </p:nvSpPr>
          <p:spPr>
            <a:xfrm>
              <a:off x="6032182" y="1524000"/>
              <a:ext cx="5626418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60580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短路的用处：先检查，再计算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60580" y="1935956"/>
              <a:ext cx="4235323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0;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!= 0 &amp;&amp; 10 / x &gt; 1) {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左边为 false，不再算 10 / x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"大于 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!= 0 &amp; 10 / x &gt; 1) {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两边都算，除数为 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"大于 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032182" y="3430905"/>
            <a:ext cx="5626418" cy="729615"/>
            <a:chOff x="6032182" y="3430905"/>
            <a:chExt cx="5626418" cy="729615"/>
          </a:xfrm>
        </p:grpSpPr>
        <p:sp>
          <p:nvSpPr>
            <p:cNvPr id="64" name="Rectangle 64"/>
            <p:cNvSpPr/>
            <p:nvPr/>
          </p:nvSpPr>
          <p:spPr>
            <a:xfrm>
              <a:off x="6032182" y="343090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224912" y="3692008"/>
              <a:ext cx="224134" cy="192560"/>
              <a:chOff x="6224912" y="3692008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336983" y="37623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224912" y="36920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36983" y="38401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539674" y="3576638"/>
              <a:ext cx="467715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第二个 if 运行时抛出 ArithmeticException。需要“前一个条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件成立才能计算后一个”时，用 &amp;&amp; 或 ||。</a:t>
              </a:r>
            </a:p>
          </p:txBody>
        </p:sp>
      </p:grpSp>
      <p:grpSp>
        <p:nvGrpSpPr>
          <p:cNvPr id="72" name="c2-text-3"/>
          <p:cNvGrpSpPr/>
          <p:nvPr/>
        </p:nvGrpSpPr>
        <p:grpSpPr>
          <a:xfrm>
            <a:off x="6026467" y="4348639"/>
            <a:ext cx="5345430" cy="441008"/>
            <a:chOff x="6026467" y="4348639"/>
            <a:chExt cx="5345430" cy="441008"/>
          </a:xfrm>
        </p:grpSpPr>
        <p:sp>
          <p:nvSpPr>
            <p:cNvPr id="71" name="TextBox 71"/>
            <p:cNvSpPr txBox="1"/>
            <p:nvPr/>
          </p:nvSpPr>
          <p:spPr>
            <a:xfrm>
              <a:off x="6026467" y="4348639"/>
              <a:ext cx="534543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逻辑操作符的操作数必须是 boolean。C 和 C++ 用整型数据代替逻辑型数据，Java 中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整型与逻辑型不存在互换关系。&amp; | ^ 的操作数是整数时做按位运算。</a:t>
              </a:r>
            </a:p>
          </p:txBody>
        </p:sp>
      </p:grpSp>
      <p:grpSp>
        <p:nvGrpSpPr>
          <p:cNvPr id="79" name="c2-callout-4"/>
          <p:cNvGrpSpPr/>
          <p:nvPr/>
        </p:nvGrpSpPr>
        <p:grpSpPr>
          <a:xfrm>
            <a:off x="6032182" y="4915852"/>
            <a:ext cx="5626418" cy="1106805"/>
            <a:chOff x="6032182" y="4915852"/>
            <a:chExt cx="5626418" cy="1106805"/>
          </a:xfrm>
        </p:grpSpPr>
        <p:sp>
          <p:nvSpPr>
            <p:cNvPr id="73" name="Rectangle 73"/>
            <p:cNvSpPr/>
            <p:nvPr/>
          </p:nvSpPr>
          <p:spPr>
            <a:xfrm>
              <a:off x="6032182" y="4915852"/>
              <a:ext cx="5626418" cy="1106805"/>
            </a:xfrm>
            <a:prstGeom prst="roundRect">
              <a:avLst>
                <a:gd name="adj" fmla="val 1032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236970" y="5369243"/>
              <a:ext cx="200026" cy="200025"/>
              <a:chOff x="6236970" y="5369243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236970" y="53692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276709" y="54136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311424" y="55248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539674" y="5126355"/>
              <a:ext cx="467715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闰年判断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(y % 4 == 0 &amp;&amp; y % 100 != 0) || y % 400 == 0</a:t>
              </a: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：y =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2000 左半边为 false、右半边为 true，整体 true；y = 1900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两半都是 false。&amp;&amp; 的优先级高于 ||，括号只为看清。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37965" cy="909257"/>
            <a:chOff x="520446" y="342900"/>
            <a:chExt cx="80379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379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易错：条件里把 == 写成 =，Java 在编译时就会报错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450658"/>
            <a:chOff x="533400" y="1524000"/>
            <a:chExt cx="5410200" cy="1450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0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/ C++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904363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0, y = 5;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= y) {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本意是 x == y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x = y 的值是 5，非 0 即为真：死循环 */</a:t>
              </a:r>
            </a:p>
          </p:txBody>
        </p:sp>
      </p:grpSp>
      <p:grpSp>
        <p:nvGrpSpPr>
          <p:cNvPr id="12" name="c1-text-2"/>
          <p:cNvGrpSpPr/>
          <p:nvPr/>
        </p:nvGrpSpPr>
        <p:grpSpPr>
          <a:xfrm>
            <a:off x="526161" y="3178969"/>
            <a:ext cx="5136134" cy="838772"/>
            <a:chOff x="526161" y="3178969"/>
            <a:chExt cx="5136134" cy="838772"/>
          </a:xfrm>
        </p:grpSpPr>
        <p:sp>
          <p:nvSpPr>
            <p:cNvPr id="11" name="TextBox 11"/>
            <p:cNvSpPr txBox="1"/>
            <p:nvPr/>
          </p:nvSpPr>
          <p:spPr>
            <a:xfrm>
              <a:off x="526161" y="3178969"/>
              <a:ext cx="5136134" cy="838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程序本意是测试两个数是否相等，却写成了赋值。在 C 和 C++ 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赋值表达式的值会被当作真假，y 不为 0 时条件永远为真，程序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陷入死循环，编译器不会阻止。</a:t>
              </a:r>
            </a:p>
          </p:txBody>
        </p:sp>
      </p:grpSp>
      <p:grpSp>
        <p:nvGrpSpPr>
          <p:cNvPr id="35" name="c1-table-3"/>
          <p:cNvGrpSpPr/>
          <p:nvPr/>
        </p:nvGrpSpPr>
        <p:grpSpPr>
          <a:xfrm>
            <a:off x="533400" y="4142422"/>
            <a:ext cx="5410200" cy="2124075"/>
            <a:chOff x="533400" y="4142422"/>
            <a:chExt cx="5410200" cy="2124075"/>
          </a:xfrm>
        </p:grpSpPr>
        <p:sp>
          <p:nvSpPr>
            <p:cNvPr id="13" name="Rectangle 13"/>
            <p:cNvSpPr/>
            <p:nvPr/>
          </p:nvSpPr>
          <p:spPr>
            <a:xfrm>
              <a:off x="533400" y="4142422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31964" y="4271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条件写法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21754" y="4271010"/>
              <a:ext cx="612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/ C++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10080" y="427101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889" y="4694872"/>
              <a:ext cx="166954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(x = y)，x、y 为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91384" y="4801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合法，可能死循环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275772" y="4576762"/>
              <a:ext cx="1658302" cy="6191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68736" y="4801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编译错误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1996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5204460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5333048"/>
              <a:ext cx="1242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(n)，n 为 int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91384" y="533304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75772" y="5213985"/>
              <a:ext cx="1658302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68736" y="53330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编译错误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624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5757862"/>
              <a:ext cx="168478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(flag = true)，flag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boolean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91384" y="586454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合法，永远为真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275772" y="5638800"/>
              <a:ext cx="1658302" cy="61912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68736" y="586454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合法，永远为真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42422"/>
              <a:ext cx="541020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584132" y="4142422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61485" y="4142422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2-code-1"/>
          <p:cNvGrpSpPr/>
          <p:nvPr/>
        </p:nvGrpSpPr>
        <p:grpSpPr>
          <a:xfrm>
            <a:off x="6248400" y="1524000"/>
            <a:ext cx="5410200" cy="2397442"/>
            <a:chOff x="6248400" y="1524000"/>
            <a:chExt cx="5410200" cy="2397442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6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416" y="1937385"/>
              <a:ext cx="3537776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0, y = 5;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= y) { }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int 不能转换为 boolean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== y) { }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本意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q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 q) { }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能编译，但多半写错了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flag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(flag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}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能编译，条件永远为真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(flag) { }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boolean 直接作条件</a:t>
              </a:r>
            </a:p>
          </p:txBody>
        </p:sp>
      </p:grpSp>
      <p:grpSp>
        <p:nvGrpSpPr>
          <p:cNvPr id="41" name="c2-text-2"/>
          <p:cNvGrpSpPr/>
          <p:nvPr/>
        </p:nvGrpSpPr>
        <p:grpSpPr>
          <a:xfrm>
            <a:off x="6241161" y="4125754"/>
            <a:ext cx="5181219" cy="558736"/>
            <a:chOff x="6241161" y="4125754"/>
            <a:chExt cx="5181219" cy="558736"/>
          </a:xfrm>
        </p:grpSpPr>
        <p:sp>
          <p:nvSpPr>
            <p:cNvPr id="40" name="TextBox 40"/>
            <p:cNvSpPr txBox="1"/>
            <p:nvPr/>
          </p:nvSpPr>
          <p:spPr>
            <a:xfrm>
              <a:off x="6241161" y="4125754"/>
              <a:ext cx="5181219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要求条件是 boolean，x = y 的结果是 int，也不会从 int 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换而来，所以编译时就报错，程序无法运行。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248400" y="4809172"/>
            <a:ext cx="5410200" cy="1458278"/>
            <a:chOff x="6248400" y="4809172"/>
            <a:chExt cx="5410200" cy="1458278"/>
          </a:xfrm>
        </p:grpSpPr>
        <p:sp>
          <p:nvSpPr>
            <p:cNvPr id="42" name="Rectangle 42"/>
            <p:cNvSpPr/>
            <p:nvPr/>
          </p:nvSpPr>
          <p:spPr>
            <a:xfrm>
              <a:off x="6248400" y="4809172"/>
              <a:ext cx="5410200" cy="1458278"/>
            </a:xfrm>
            <a:prstGeom prst="roundRect">
              <a:avLst>
                <a:gd name="adj" fmla="val 783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41129" y="5434131"/>
              <a:ext cx="224134" cy="192560"/>
              <a:chOff x="6441129" y="5434131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553200" y="55044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41129" y="54341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5822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511" y="5175409"/>
              <a:ext cx="450494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唯一不报错的情况是两边都是 boolean，这时赋值是合法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表达式。判断 boolean 变量直接写 if (flag) 或 if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(!flag)，不要写 == true。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位操作符与移位操作符：对整数的二进制位进行运算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28066" y="1524000"/>
            <a:ext cx="5415534" cy="3888677"/>
            <a:chOff x="528066" y="1524000"/>
            <a:chExt cx="5415534" cy="388867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2689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6227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3962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309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01712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按位取反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1384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73424" y="2076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每一位取反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3093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01712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1384" y="2501265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&amp;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73424" y="250126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对应位都为 1 才得 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4296" y="2926080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1712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91384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|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73424" y="292608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对应位有一个为 1 就得 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3093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^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1712" y="33499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按位异或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91384" y="3349942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^ 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73424" y="3349942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对应位不同得 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6447" y="377475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01712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91384" y="3774757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&lt;&lt; 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73424" y="3774757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 b 位，低位补 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662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070985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6447" y="43053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&gt;&gt;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01712" y="43053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有符号右移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91384" y="430530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&gt;&gt; 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73424" y="4198620"/>
              <a:ext cx="1863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 b 位，高位补原来的符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7034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9802" y="483679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&gt;&gt;&gt;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01712" y="483679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无符号右移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91384" y="483679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&gt;&gt;&gt; 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73424" y="483679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 b 位，高位补 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5410200" cy="360902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394460" y="1524000"/>
              <a:ext cx="9525" cy="36090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584132" y="1524000"/>
              <a:ext cx="9525" cy="36090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666172" y="1524000"/>
              <a:ext cx="9525" cy="36090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8066" y="520731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操作数应是整数类型，结果也是整数类型</a:t>
              </a:r>
            </a:p>
          </p:txBody>
        </p:sp>
      </p:grpSp>
      <p:grpSp>
        <p:nvGrpSpPr>
          <p:cNvPr id="140" name="c2-cells-1"/>
          <p:cNvGrpSpPr/>
          <p:nvPr/>
        </p:nvGrpSpPr>
        <p:grpSpPr>
          <a:xfrm>
            <a:off x="6242304" y="1524000"/>
            <a:ext cx="4212336" cy="2614613"/>
            <a:chOff x="6242304" y="1524000"/>
            <a:chExt cx="4212336" cy="2614613"/>
          </a:xfrm>
        </p:grpSpPr>
        <p:sp>
          <p:nvSpPr>
            <p:cNvPr id="55" name="TextBox 55"/>
            <p:cNvSpPr txBox="1"/>
            <p:nvPr/>
          </p:nvSpPr>
          <p:spPr>
            <a:xfrm>
              <a:off x="6242304" y="1645920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 = 60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10184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58648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52094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77748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94004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96848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35914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15948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7824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35048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9734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54148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61644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773248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03554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192348" y="16459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42304" y="2201228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b = 13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101840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258648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520940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677748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940040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096848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359140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15948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778240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935048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197340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354148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616440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773248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0035540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192348" y="22012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242304" y="2756535"/>
              <a:ext cx="7754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 &amp; b = 12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101840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25864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520940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67774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940040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09684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8359140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51594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778240" y="2634615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93504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9197340" y="2634615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35414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9616440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77324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10035540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1019234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242304" y="3311842"/>
              <a:ext cx="7330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 | b = 61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7101840" y="31889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258648" y="33118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7520940" y="31889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677748" y="33118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7940040" y="318897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096848" y="33118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8359140" y="318897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515948" y="33118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8778240" y="318897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935048" y="33118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9197340" y="318897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9354148" y="33118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9616440" y="31889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9773248" y="33118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10035540" y="318897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192348" y="33118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242304" y="3867150"/>
              <a:ext cx="7754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 ^ b = 49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7101840" y="374427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7258648" y="3867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7520940" y="374427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7677748" y="3867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7940040" y="3744278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8096848" y="3867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8359140" y="3744278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8515948" y="3867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8778240" y="374427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8935048" y="3867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9197340" y="374427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9354148" y="3867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9616440" y="374427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9773248" y="3867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10035540" y="3744278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10192348" y="3867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61" name="c2-table-2"/>
          <p:cNvGrpSpPr/>
          <p:nvPr/>
        </p:nvGrpSpPr>
        <p:grpSpPr>
          <a:xfrm>
            <a:off x="6243066" y="4318635"/>
            <a:ext cx="5415534" cy="1977962"/>
            <a:chOff x="6243066" y="4318635"/>
            <a:chExt cx="5415534" cy="1977962"/>
          </a:xfrm>
        </p:grpSpPr>
        <p:sp>
          <p:nvSpPr>
            <p:cNvPr id="141" name="Rectangle 141"/>
            <p:cNvSpPr/>
            <p:nvPr/>
          </p:nvSpPr>
          <p:spPr>
            <a:xfrm>
              <a:off x="6248400" y="4318635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6811518" y="44472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190548" y="44472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0084117" y="44472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6350889" y="48710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~60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973949" y="487108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-61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8947404" y="4871085"/>
              <a:ext cx="1748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对任何 int：~a = -a - 1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6248400" y="51625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6248400" y="5167312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6350889" y="5295900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&lt;&lt; 2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7973949" y="529590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8947404" y="529590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不溢出时相当于乘 2²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6248400" y="55873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6350889" y="5720715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&gt;&gt; 2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7973949" y="572071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8947404" y="5720715"/>
              <a:ext cx="1902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相当于除以 2² 后向下取整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6248400" y="4318635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7866698" y="431863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8840152" y="431863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6243066" y="6091238"/>
              <a:ext cx="2229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上图只画出低 8 位，高 24 位全是 0</a:t>
              </a:r>
            </a:p>
          </p:txBody>
        </p:sp>
      </p:grpSp>
      <p:grpSp>
        <p:nvGrpSpPr>
          <p:cNvPr id="1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2" name="TextBox 162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61435" cy="909257"/>
            <a:chOff x="520446" y="342900"/>
            <a:chExt cx="9361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61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移位细节：&gt;&gt; 保留符号，&gt;&gt;&gt; 高位补 0，移位前先提升为 int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1719262"/>
            <a:chOff x="533400" y="1524000"/>
            <a:chExt cx="6059805" cy="1719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82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 位二进制补码（空格按字节分组）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07005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909888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431419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60        = 00000000 00000000 00000000 00111100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60 &lt;&lt; 2   = 00000000 00000000 00000000 11110000  = 240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60 &gt;&gt; 2   = 00000000 00000000 00000000 00001111  = 15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-60        = 11111111 11111111 11111111 11000100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-60 &gt;&gt; 2   = 11111111 11111111 11111111 11110001  = -15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-60 &gt;&gt;&gt; 28 = 00000000 00000000 00000000 00001111  = 15</a:t>
              </a:r>
            </a:p>
          </p:txBody>
        </p:sp>
      </p:grpSp>
      <p:grpSp>
        <p:nvGrpSpPr>
          <p:cNvPr id="14" name="c1-text-2"/>
          <p:cNvGrpSpPr/>
          <p:nvPr/>
        </p:nvGrpSpPr>
        <p:grpSpPr>
          <a:xfrm>
            <a:off x="526923" y="3455194"/>
            <a:ext cx="5539994" cy="500824"/>
            <a:chOff x="526923" y="3455194"/>
            <a:chExt cx="5539994" cy="500824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3455194"/>
              <a:ext cx="553999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-60 右移时，&gt;&gt; 在高位补 1，结果仍是负数；&gt;&gt;&gt; 在高位补 0，负数变成了正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41" name="c1-table-3"/>
          <p:cNvGrpSpPr/>
          <p:nvPr/>
        </p:nvGrpSpPr>
        <p:grpSpPr>
          <a:xfrm>
            <a:off x="533400" y="4095750"/>
            <a:ext cx="6059805" cy="2244090"/>
            <a:chOff x="533400" y="4095750"/>
            <a:chExt cx="6059805" cy="2244090"/>
          </a:xfrm>
        </p:grpSpPr>
        <p:sp>
          <p:nvSpPr>
            <p:cNvPr id="15" name="Rectangle 15"/>
            <p:cNvSpPr/>
            <p:nvPr/>
          </p:nvSpPr>
          <p:spPr>
            <a:xfrm>
              <a:off x="533400" y="4095750"/>
              <a:ext cx="605980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7138" y="42305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59697" y="42305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0914" y="42305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4680109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-7 &gt;&gt; 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360295" y="4553902"/>
              <a:ext cx="155638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458593" y="46801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34028" y="46801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向下取整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9882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99300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5128736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-7 / 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360295" y="5002530"/>
              <a:ext cx="155638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58593" y="512873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34028" y="5128736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整数除法向 0 取整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4368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5577364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&lt;&lt; 31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58593" y="5577364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-2147483648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34028" y="5577364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移到了符号位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886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89121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6025991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&lt;&lt; 32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58593" y="60259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34028" y="6025991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移位数只取低 5 位，32 当作 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95750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46008" y="40957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921442" y="40957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1"/>
          <p:cNvGrpSpPr/>
          <p:nvPr/>
        </p:nvGrpSpPr>
        <p:grpSpPr>
          <a:xfrm>
            <a:off x="6898005" y="1524000"/>
            <a:ext cx="4760595" cy="2272665"/>
            <a:chOff x="6898005" y="1524000"/>
            <a:chExt cx="4760595" cy="2272665"/>
          </a:xfrm>
        </p:grpSpPr>
        <p:sp>
          <p:nvSpPr>
            <p:cNvPr id="42" name="Rectangle 42"/>
            <p:cNvSpPr/>
            <p:nvPr/>
          </p:nvSpPr>
          <p:spPr>
            <a:xfrm>
              <a:off x="6898005" y="1524000"/>
              <a:ext cx="4760595" cy="2272665"/>
            </a:xfrm>
            <a:prstGeom prst="roundRect">
              <a:avLst>
                <a:gd name="adj" fmla="val 5868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075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977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规律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1327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71385" y="2110740"/>
              <a:ext cx="2822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a &lt;&lt; n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：不溢出时相当于 a × 2ⁿ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13270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71385" y="2446020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a &gt;&gt; n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：相当于 a ÷ 2ⁿ 后向下取整，和整数除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法的向 0 取整在负数时不同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13270" y="31299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71385" y="306705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int 移位时只取移位数的低 5 位（0~31），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long 取低 6 位（0~63）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898005" y="3987165"/>
            <a:ext cx="4760595" cy="2352675"/>
            <a:chOff x="6898005" y="3987165"/>
            <a:chExt cx="4760595" cy="2352675"/>
          </a:xfrm>
        </p:grpSpPr>
        <p:sp>
          <p:nvSpPr>
            <p:cNvPr id="52" name="Rectangle 52"/>
            <p:cNvSpPr/>
            <p:nvPr/>
          </p:nvSpPr>
          <p:spPr>
            <a:xfrm>
              <a:off x="6898005" y="3987165"/>
              <a:ext cx="4760595" cy="2352675"/>
            </a:xfrm>
            <a:prstGeom prst="roundRect">
              <a:avLst>
                <a:gd name="adj" fmla="val 56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07530" y="4120515"/>
              <a:ext cx="47625" cy="2085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45655" y="41967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35863" y="42324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38035" y="4573905"/>
              <a:ext cx="4044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byte、short、char 参与移位前先提升为 int。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byte b = -1;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 b 提升为 32 位的 -1，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 &gt;&gt;&gt; 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的结果是 268435455，不是 15。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1030" cy="909257"/>
            <a:chOff x="520446" y="342900"/>
            <a:chExt cx="8571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1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字符串连接 +：从左到右计算，出现字符串之后都是连接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747010"/>
            <a:chOff x="533400" y="1524000"/>
            <a:chExt cx="4977765" cy="27470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747010"/>
            </a:xfrm>
            <a:prstGeom prst="roundRect">
              <a:avLst>
                <a:gd name="adj" fmla="val 48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8031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41983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的两个操作数中只要有一个是 String，另一个就先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转换成字符串，再连接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72239"/>
              <a:ext cx="408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与其他类的对象连接时，自动调用它的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toString()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方法转成字符串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32136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260884"/>
              <a:ext cx="22988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 += 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把连接的结果放回 s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63950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579019"/>
              <a:ext cx="41893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同级的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从左到右计算，字符串出现的位置会影响结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</p:grpSp>
      <p:grpSp>
        <p:nvGrpSpPr>
          <p:cNvPr id="23" name="c1-code-2"/>
          <p:cNvGrpSpPr/>
          <p:nvPr/>
        </p:nvGrpSpPr>
        <p:grpSpPr>
          <a:xfrm>
            <a:off x="533400" y="4451032"/>
            <a:ext cx="4977765" cy="1261110"/>
            <a:chOff x="533400" y="4451032"/>
            <a:chExt cx="4977765" cy="1261110"/>
          </a:xfrm>
        </p:grpSpPr>
        <p:sp>
          <p:nvSpPr>
            <p:cNvPr id="20" name="Rectangle 20"/>
            <p:cNvSpPr/>
            <p:nvPr/>
          </p:nvSpPr>
          <p:spPr>
            <a:xfrm>
              <a:off x="533400" y="4451032"/>
              <a:ext cx="4977765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1797" y="460295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1416" y="4864418"/>
              <a:ext cx="3604450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 =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"Java"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 += 17;                  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 = "Java17"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3;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 = 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n);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 = 3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815965" y="1524000"/>
            <a:ext cx="5842635" cy="2546985"/>
            <a:chOff x="5815965" y="1524000"/>
            <a:chExt cx="5842635" cy="2546985"/>
          </a:xfrm>
        </p:grpSpPr>
        <p:sp>
          <p:nvSpPr>
            <p:cNvPr id="24" name="Rectangle 24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479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5144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9302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计算过程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18454" y="2076450"/>
              <a:ext cx="868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"1" + 2 + 3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3897" y="20764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"123"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89252" y="207645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 "1" + 2 得 "12"，再连接 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18454" y="2501265"/>
              <a:ext cx="868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+ "3"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53897" y="250126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"33"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89252" y="2501265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 1 + 2 得 3，再连接 "3"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8454" y="2926080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"1" + (2 + 3)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3897" y="29260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"15"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89252" y="292608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括号里先做加法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8454" y="3349942"/>
              <a:ext cx="1148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'a' + 'b' + ""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53897" y="334994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"195"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89252" y="3349942"/>
              <a:ext cx="2540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 先按整数相加：97 + 98 = 195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36414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18454" y="3774757"/>
              <a:ext cx="1148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"" + 'a' + 'b'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53897" y="3774757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"ab"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89252" y="3774757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先出现字符串，之后逐个连接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1524000"/>
              <a:ext cx="5842635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446645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38200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llout-2"/>
          <p:cNvGrpSpPr/>
          <p:nvPr/>
        </p:nvGrpSpPr>
        <p:grpSpPr>
          <a:xfrm>
            <a:off x="5815965" y="4251008"/>
            <a:ext cx="5842635" cy="756285"/>
            <a:chOff x="5815965" y="4251008"/>
            <a:chExt cx="5842635" cy="756285"/>
          </a:xfrm>
        </p:grpSpPr>
        <p:sp>
          <p:nvSpPr>
            <p:cNvPr id="53" name="Rectangle 53"/>
            <p:cNvSpPr/>
            <p:nvPr/>
          </p:nvSpPr>
          <p:spPr>
            <a:xfrm>
              <a:off x="5815965" y="4251008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008694" y="4525446"/>
              <a:ext cx="224134" cy="192560"/>
              <a:chOff x="6008694" y="4525446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120765" y="45958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008694" y="45254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120765" y="46736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323076" y="4398169"/>
              <a:ext cx="486562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输出计算结果时给算式加括号：写成 "和为" + (a + b)，否则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a、b 会被当作两段文字依次连接。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5815965" y="5187315"/>
            <a:ext cx="5842635" cy="1018222"/>
            <a:chOff x="5815965" y="5187315"/>
            <a:chExt cx="5842635" cy="1018222"/>
          </a:xfrm>
        </p:grpSpPr>
        <p:sp>
          <p:nvSpPr>
            <p:cNvPr id="60" name="Rectangle 60"/>
            <p:cNvSpPr/>
            <p:nvPr/>
          </p:nvSpPr>
          <p:spPr>
            <a:xfrm>
              <a:off x="5815965" y="5187315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5596890"/>
              <a:ext cx="200026" cy="200026"/>
              <a:chOff x="6020753" y="5596890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020753" y="55968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120765" y="56635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109653" y="56969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3076" y="5334476"/>
              <a:ext cx="478447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建好之后内容不能改，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 += x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是新建一个字符串再把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引用赋回 s，循环 n 次就复制 n 次。拼接量大时改用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StringBuilder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append，最后 toString()。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自动类型转换：混合运算时，向范围大的类型看齐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flow-1"/>
          <p:cNvGrpSpPr/>
          <p:nvPr/>
        </p:nvGrpSpPr>
        <p:grpSpPr>
          <a:xfrm>
            <a:off x="666750" y="1645920"/>
            <a:ext cx="5792152" cy="1014412"/>
            <a:chOff x="666750" y="1645920"/>
            <a:chExt cx="5792152" cy="1014412"/>
          </a:xfrm>
        </p:grpSpPr>
        <p:sp>
          <p:nvSpPr>
            <p:cNvPr id="7" name="Freeform 7"/>
            <p:cNvSpPr/>
            <p:nvPr/>
          </p:nvSpPr>
          <p:spPr>
            <a:xfrm>
              <a:off x="1409700" y="18383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71625" y="1785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420302" y="18383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82228" y="1785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29952" y="18383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91878" y="1785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39602" y="18383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01528" y="1785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49252" y="18383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611178" y="1785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58478" y="2135505"/>
              <a:ext cx="9525" cy="139065"/>
            </a:xfrm>
            <a:custGeom>
              <a:avLst/>
              <a:gdLst/>
              <a:ahLst/>
              <a:cxnLst/>
              <a:rect l="l" t="t" r="r" b="b"/>
              <a:pathLst>
                <a:path w="9525" h="139065">
                  <a:moveTo>
                    <a:pt x="0" y="13906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006090" y="2030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1645920"/>
              <a:ext cx="7429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676400" y="1645920"/>
              <a:ext cx="7429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87002" y="1645920"/>
              <a:ext cx="742950" cy="385762"/>
            </a:xfrm>
            <a:prstGeom prst="roundRect">
              <a:avLst>
                <a:gd name="adj" fmla="val 24691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96652" y="1645920"/>
              <a:ext cx="7429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706302" y="1645920"/>
              <a:ext cx="7429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952" y="1645920"/>
              <a:ext cx="7429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87002" y="2274570"/>
              <a:ext cx="7429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6658" y="1759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4845" y="17597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47220" y="175974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15407" y="175974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83594" y="175974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51782" y="1759744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86911" y="23883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</p:grpSp>
      <p:grpSp>
        <p:nvGrpSpPr>
          <p:cNvPr id="69" name="c1-table-2"/>
          <p:cNvGrpSpPr/>
          <p:nvPr/>
        </p:nvGrpSpPr>
        <p:grpSpPr>
          <a:xfrm>
            <a:off x="528447" y="2950845"/>
            <a:ext cx="6064758" cy="3264884"/>
            <a:chOff x="528447" y="2950845"/>
            <a:chExt cx="6064758" cy="3264884"/>
          </a:xfrm>
        </p:grpSpPr>
        <p:sp>
          <p:nvSpPr>
            <p:cNvPr id="34" name="Rectangle 34"/>
            <p:cNvSpPr/>
            <p:nvPr/>
          </p:nvSpPr>
          <p:spPr>
            <a:xfrm>
              <a:off x="533400" y="2950845"/>
              <a:ext cx="605980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567740" y="3072289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88005" y="3072289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25529" y="307228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转换后的类型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0555" y="3472339"/>
              <a:ext cx="1040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 或 short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96602" y="3472339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72038" y="3472339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7461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375094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3872389"/>
              <a:ext cx="1413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byte、short 或 int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96602" y="3872389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72038" y="3872389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1462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555" y="4272439"/>
              <a:ext cx="1872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byte、short、int 或 long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296602" y="4272439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72038" y="4272439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5462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55104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555" y="4672489"/>
              <a:ext cx="2419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byte、short、int、long 或 float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296602" y="4672489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72038" y="4672489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9463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0555" y="507253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296602" y="5072539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72038" y="5072539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53463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" y="5351145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0555" y="5472589"/>
              <a:ext cx="22620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byte、short、char 两两之间（含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同类型）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296602" y="55726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784408" y="5360670"/>
              <a:ext cx="1798320" cy="5810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872038" y="557260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2950845"/>
              <a:ext cx="6059805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3194685" y="2950845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4770120" y="2950845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8447" y="602503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最后一行为补充：两个 byte 相加，结果也是 int</a:t>
              </a:r>
            </a:p>
          </p:txBody>
        </p:sp>
      </p:grpSp>
      <p:grpSp>
        <p:nvGrpSpPr>
          <p:cNvPr id="72" name="c2-image-1"/>
          <p:cNvGrpSpPr/>
          <p:nvPr/>
        </p:nvGrpSpPr>
        <p:grpSpPr>
          <a:xfrm>
            <a:off x="6898005" y="1524000"/>
            <a:ext cx="4760595" cy="3710655"/>
            <a:chOff x="6898005" y="1524000"/>
            <a:chExt cx="4760595" cy="3710655"/>
          </a:xfrm>
        </p:grpSpPr>
        <p:pic>
          <p:nvPicPr>
            <p:cNvPr id="70" name="Image 70"/>
            <p:cNvPicPr>
              <a:picLocks noChangeAspect="1"/>
            </p:cNvPicPr>
            <p:nvPr/>
          </p:nvPicPr>
          <p:blipFill>
            <a:blip r:embed="rId2"/>
            <a:srcRect l="0" t="4355" r="0" b="4355"/>
            <a:stretch>
              <a:fillRect/>
            </a:stretch>
          </p:blipFill>
          <p:spPr>
            <a:xfrm>
              <a:off x="6898005" y="1524000"/>
              <a:ext cx="4760595" cy="3259455"/>
            </a:xfrm>
            <a:prstGeom prst="roundRect">
              <a:avLst>
                <a:gd name="adj" fmla="val 4091"/>
              </a:avLst>
            </a:prstGeom>
          </p:spPr>
        </p:pic>
        <p:sp>
          <p:nvSpPr>
            <p:cNvPr id="71" name="TextBox 71"/>
            <p:cNvSpPr txBox="1"/>
            <p:nvPr/>
          </p:nvSpPr>
          <p:spPr>
            <a:xfrm>
              <a:off x="7095300" y="4876324"/>
              <a:ext cx="4366006" cy="358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小杯倒进大杯不会洒出（自动转换）；大杯倒进小杯可能溢出，必须明确写出来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（强制转换）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6898005" y="5384482"/>
            <a:ext cx="4760595" cy="978218"/>
            <a:chOff x="6898005" y="5384482"/>
            <a:chExt cx="4760595" cy="978218"/>
          </a:xfrm>
        </p:grpSpPr>
        <p:sp>
          <p:nvSpPr>
            <p:cNvPr id="73" name="Rectangle 73"/>
            <p:cNvSpPr/>
            <p:nvPr/>
          </p:nvSpPr>
          <p:spPr>
            <a:xfrm>
              <a:off x="6898005" y="5384482"/>
              <a:ext cx="476059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102793" y="5774055"/>
              <a:ext cx="200026" cy="200026"/>
              <a:chOff x="7102793" y="5774055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102793" y="57740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202805" y="58407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191693" y="58740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405497" y="5531168"/>
              <a:ext cx="387134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在表达式中，Java 先把不同类型的数据转换成同一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种类型再运算。long 转 float 虽然是自动的，但可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能损失精度。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9432" cy="909257"/>
            <a:chOff x="520446" y="342900"/>
            <a:chExt cx="7739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9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强制类型转换：(类型) 写在值前面，可能丢失数据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2085975"/>
            <a:chOff x="533400" y="1524000"/>
            <a:chExt cx="5193982" cy="2085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语法与效果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(目标类型) 表达式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：从范围大的类型转换到范围小的类型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时，必须显式写出。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12708"/>
              <a:ext cx="3493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浮点数转整数：截掉小数部分（向 0 取整）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1274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大整数转小整数：只保留低位，可能变号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326898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3212782"/>
              <a:ext cx="32668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与任何数值类型之间都不能转换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3780472"/>
            <a:ext cx="5193982" cy="2400300"/>
            <a:chOff x="533400" y="3780472"/>
            <a:chExt cx="5193982" cy="2400300"/>
          </a:xfrm>
        </p:grpSpPr>
        <p:sp>
          <p:nvSpPr>
            <p:cNvPr id="19" name="Rectangle 19"/>
            <p:cNvSpPr/>
            <p:nvPr/>
          </p:nvSpPr>
          <p:spPr>
            <a:xfrm>
              <a:off x="533400" y="3780472"/>
              <a:ext cx="519398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2103" y="39019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06701" y="39019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72636" y="39019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0555" y="430196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(int) 3.99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92668" y="43019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7070" y="43019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截掉小数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5758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580572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702016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(int) -3.99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92668" y="47020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27070" y="470201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0 取整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9758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5102066"/>
              <a:ext cx="842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(byte) 200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92668" y="5102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-56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27070" y="510206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只保留低 8 位 11001000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3759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380672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5502116"/>
              <a:ext cx="755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(char) 97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92668" y="550211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'a'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27070" y="55021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按编号取字符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7759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555" y="5902166"/>
              <a:ext cx="725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(int) 'A'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92668" y="59021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27070" y="59021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取字符的编号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780472"/>
              <a:ext cx="519398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190750" y="378047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125152" y="378047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ode-1"/>
          <p:cNvGrpSpPr/>
          <p:nvPr/>
        </p:nvGrpSpPr>
        <p:grpSpPr>
          <a:xfrm>
            <a:off x="6032182" y="1524000"/>
            <a:ext cx="5626418" cy="1912620"/>
            <a:chOff x="6032182" y="1524000"/>
            <a:chExt cx="5626418" cy="1912620"/>
          </a:xfrm>
        </p:grpSpPr>
        <p:sp>
          <p:nvSpPr>
            <p:cNvPr id="48" name="Rectangle 48"/>
            <p:cNvSpPr/>
            <p:nvPr/>
          </p:nvSpPr>
          <p:spPr>
            <a:xfrm>
              <a:off x="6032182" y="1524000"/>
              <a:ext cx="5626418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60580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51232" y="2954655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60580" y="1935956"/>
              <a:ext cx="3837051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b1 = 10, b2 = 20;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b3 = b1 + b2;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b1 + b2 是 int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b4 =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(b1 + b2);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 b4 = 30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b1 += 5;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复合赋值自带强制转换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3.7;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double 不能自动转为 int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3.7;   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 k = 3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1000000 * 1000000;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能编译，x = -727379968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 = 1000000L * 1000000;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✓ y = 1000000000000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032182" y="3607118"/>
            <a:ext cx="5626418" cy="729615"/>
            <a:chOff x="6032182" y="3607118"/>
            <a:chExt cx="5626418" cy="729615"/>
          </a:xfrm>
        </p:grpSpPr>
        <p:sp>
          <p:nvSpPr>
            <p:cNvPr id="53" name="Rectangle 53"/>
            <p:cNvSpPr/>
            <p:nvPr/>
          </p:nvSpPr>
          <p:spPr>
            <a:xfrm>
              <a:off x="6032182" y="3607118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224912" y="3867268"/>
              <a:ext cx="224134" cy="192560"/>
              <a:chOff x="6224912" y="3867268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336983" y="39376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224912" y="38672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336983" y="40154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539674" y="3752850"/>
              <a:ext cx="43256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1000000 * 1000000 先按 int 相乘并溢出，然后才转换为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long 赋给 x。要让其中一个操作数先成为 long。</a:t>
              </a:r>
            </a:p>
          </p:txBody>
        </p:sp>
      </p:grpSp>
      <p:grpSp>
        <p:nvGrpSpPr>
          <p:cNvPr id="71" name="c2-card-3"/>
          <p:cNvGrpSpPr/>
          <p:nvPr/>
        </p:nvGrpSpPr>
        <p:grpSpPr>
          <a:xfrm>
            <a:off x="6032182" y="4506278"/>
            <a:ext cx="5626418" cy="1674495"/>
            <a:chOff x="6032182" y="4506278"/>
            <a:chExt cx="5626418" cy="1674495"/>
          </a:xfrm>
        </p:grpSpPr>
        <p:sp>
          <p:nvSpPr>
            <p:cNvPr id="60" name="Rectangle 60"/>
            <p:cNvSpPr/>
            <p:nvPr/>
          </p:nvSpPr>
          <p:spPr>
            <a:xfrm>
              <a:off x="6032182" y="4506278"/>
              <a:ext cx="5626418" cy="1674495"/>
            </a:xfrm>
            <a:prstGeom prst="roundRect">
              <a:avLst>
                <a:gd name="adj" fmla="val 79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1708" y="4639628"/>
              <a:ext cx="47625" cy="1407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6972" y="46929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8692" y="47258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56972" y="5024438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12651" y="50637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36817" y="5036820"/>
              <a:ext cx="3757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200 的 int 补码低 8 位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11001000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被搬进 byte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256972" y="5325428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12651" y="53638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36817" y="533685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 有符号，最高位 1 是负数，取反加一得 56，值为 -56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51258" y="5633561"/>
              <a:ext cx="4067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一般规律：x 转 byte 等于 (x + 128) 对 256 取余再减 128。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0636" cy="909257"/>
            <a:chOff x="520446" y="342900"/>
            <a:chExt cx="64006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06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三元条件操作符：布尔表达式 ? 值1 : 值2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977765" cy="2343150"/>
            <a:chOff x="533400" y="1524000"/>
            <a:chExt cx="4977765" cy="2343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43150"/>
            </a:xfrm>
            <a:prstGeom prst="roundRect">
              <a:avLst>
                <a:gd name="adj" fmla="val 56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64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格式：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布尔表达式 ? 值1 : 值2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，如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(a &gt; b) ? a : b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中较大的数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12708"/>
              <a:ext cx="3475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布尔表达式为 true，整个表达式的值是值1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12745"/>
              <a:ext cx="2621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false，整个表达式的值是值2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326898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3212782"/>
              <a:ext cx="41970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只计算被选中的那个值；值1、值2 的类型应一致或能自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动转换</a:t>
              </a:r>
            </a:p>
          </p:txBody>
        </p:sp>
      </p:grpSp>
      <p:grpSp>
        <p:nvGrpSpPr>
          <p:cNvPr id="33" name="c1-flow-2"/>
          <p:cNvGrpSpPr/>
          <p:nvPr/>
        </p:nvGrpSpPr>
        <p:grpSpPr>
          <a:xfrm>
            <a:off x="666750" y="4148138"/>
            <a:ext cx="4711065" cy="1276349"/>
            <a:chOff x="666750" y="4148138"/>
            <a:chExt cx="4711065" cy="1276349"/>
          </a:xfrm>
        </p:grpSpPr>
        <p:sp>
          <p:nvSpPr>
            <p:cNvPr id="19" name="Freeform 19"/>
            <p:cNvSpPr/>
            <p:nvPr/>
          </p:nvSpPr>
          <p:spPr>
            <a:xfrm>
              <a:off x="1363028" y="4723448"/>
              <a:ext cx="1659255" cy="210503"/>
            </a:xfrm>
            <a:custGeom>
              <a:avLst/>
              <a:gdLst/>
              <a:ahLst/>
              <a:cxnLst/>
              <a:rect l="l" t="t" r="r" b="b"/>
              <a:pathLst>
                <a:path w="1659255" h="210503">
                  <a:moveTo>
                    <a:pt x="1659255" y="0"/>
                  </a:moveTo>
                  <a:lnTo>
                    <a:pt x="1659255" y="158115"/>
                  </a:lnTo>
                  <a:lnTo>
                    <a:pt x="0" y="158115"/>
                  </a:lnTo>
                  <a:lnTo>
                    <a:pt x="0" y="2105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310640" y="4933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022282" y="4723448"/>
              <a:ext cx="1659255" cy="210503"/>
            </a:xfrm>
            <a:custGeom>
              <a:avLst/>
              <a:gdLst/>
              <a:ahLst/>
              <a:cxnLst/>
              <a:rect l="l" t="t" r="r" b="b"/>
              <a:pathLst>
                <a:path w="1659255" h="210503">
                  <a:moveTo>
                    <a:pt x="0" y="0"/>
                  </a:moveTo>
                  <a:lnTo>
                    <a:pt x="0" y="158115"/>
                  </a:lnTo>
                  <a:lnTo>
                    <a:pt x="1659255" y="158115"/>
                  </a:lnTo>
                  <a:lnTo>
                    <a:pt x="1659255" y="2105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629150" y="4933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326005" y="4148138"/>
              <a:ext cx="1392555" cy="575310"/>
            </a:xfrm>
            <a:custGeom>
              <a:avLst/>
              <a:gdLst/>
              <a:ahLst/>
              <a:cxnLst/>
              <a:rect l="l" t="t" r="r" b="b"/>
              <a:pathLst>
                <a:path w="1392555" h="575310">
                  <a:moveTo>
                    <a:pt x="696278" y="0"/>
                  </a:moveTo>
                  <a:lnTo>
                    <a:pt x="1392555" y="287655"/>
                  </a:lnTo>
                  <a:lnTo>
                    <a:pt x="696278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6750" y="5038725"/>
              <a:ext cx="139255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85260" y="5038725"/>
              <a:ext cx="139255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82867" y="435721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 b ?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67072" y="515350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结果为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85582" y="515350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结果为 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019300" y="4685348"/>
              <a:ext cx="34671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54619" y="4708208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661410" y="4685348"/>
              <a:ext cx="38100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95700" y="4708208"/>
              <a:ext cx="312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5815965" y="1524000"/>
            <a:ext cx="5842635" cy="1737360"/>
            <a:chOff x="5815965" y="1524000"/>
            <a:chExt cx="5842635" cy="1737360"/>
          </a:xfrm>
        </p:grpSpPr>
        <p:sp>
          <p:nvSpPr>
            <p:cNvPr id="34" name="Rectangle 34"/>
            <p:cNvSpPr/>
            <p:nvPr/>
          </p:nvSpPr>
          <p:spPr>
            <a:xfrm>
              <a:off x="5815965" y="1524000"/>
              <a:ext cx="584263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44362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例：求较大值、判断是否及格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44362" y="1935956"/>
              <a:ext cx="3619246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3, b = 8, c = 5;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max2 = (a &gt; b) ? a : b;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8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max3 = (a &gt; b) ? (a &gt; c ? a : c)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: (b &gt; c ? b : c);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8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 = 75;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r = score &gt;= 60 ?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"及格"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: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"不及格"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"及格"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System.out.println(r);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5815965" y="3430905"/>
            <a:ext cx="5842635" cy="1600200"/>
            <a:chOff x="5815965" y="3430905"/>
            <a:chExt cx="5842635" cy="1600200"/>
          </a:xfrm>
        </p:grpSpPr>
        <p:sp>
          <p:nvSpPr>
            <p:cNvPr id="38" name="Rectangle 38"/>
            <p:cNvSpPr/>
            <p:nvPr/>
          </p:nvSpPr>
          <p:spPr>
            <a:xfrm>
              <a:off x="5815965" y="3430905"/>
              <a:ext cx="584263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51853" y="35523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97125" y="35523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75291" y="35523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13120" y="3952399"/>
              <a:ext cx="1515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&gt; 3 ? "yes" : "no"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49602" y="395239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"yes"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02115" y="3952399"/>
              <a:ext cx="1375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条件为 true，取值1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42262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15965" y="423100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3120" y="4352449"/>
              <a:ext cx="10800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&gt;= 0 ? x : -x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9602" y="4352449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的绝对值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02115" y="43524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常用写法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46262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3120" y="4752499"/>
              <a:ext cx="1072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? 1 : 2.0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49602" y="475249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02115" y="4752499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两个值统一为 double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3430905"/>
              <a:ext cx="584263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47685" y="343090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00198" y="343090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llout-3"/>
          <p:cNvGrpSpPr/>
          <p:nvPr/>
        </p:nvGrpSpPr>
        <p:grpSpPr>
          <a:xfrm>
            <a:off x="5815965" y="5200650"/>
            <a:ext cx="5842635" cy="729615"/>
            <a:chOff x="5815965" y="5200650"/>
            <a:chExt cx="5842635" cy="729615"/>
          </a:xfrm>
        </p:grpSpPr>
        <p:sp>
          <p:nvSpPr>
            <p:cNvPr id="58" name="Rectangle 58"/>
            <p:cNvSpPr/>
            <p:nvPr/>
          </p:nvSpPr>
          <p:spPr>
            <a:xfrm>
              <a:off x="5815965" y="520065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020753" y="5465445"/>
              <a:ext cx="200026" cy="200025"/>
              <a:chOff x="6020753" y="5465445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020753" y="54654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60491" y="55098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095207" y="56210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323457" y="5347335"/>
              <a:ext cx="48743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条件操作符从右到左结合：x &gt; 0 ? 1 : x &lt; 0 ? -1 : 0 相当于 x &gt;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 ? 1 : (x &lt; 0 ? -1 : 0)。嵌套多了不好读，这时改用 if-else。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7723" cy="909257"/>
            <a:chOff x="520446" y="342900"/>
            <a:chExt cx="68177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77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操作符的优先级与结合性：从高到低共 14 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33400" y="1524000"/>
            <a:ext cx="5410200" cy="3200400"/>
            <a:chOff x="533400" y="1524000"/>
            <a:chExt cx="5410200" cy="3200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6138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0554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2673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7070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结合性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798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7282" y="2045494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 [ ] ( 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51872" y="20454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成员、下标、调用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9395" y="20454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798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7282" y="2445544"/>
              <a:ext cx="1375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++ -- + - ~ ! (类型)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1872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一元运算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871085" y="2333625"/>
              <a:ext cx="106299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9395" y="244554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 → 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798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282" y="2845594"/>
              <a:ext cx="380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 / 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1872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59395" y="28455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798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7282" y="324564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-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1872" y="32456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算术、字符串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59395" y="324564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7989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7282" y="364569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 &gt;&gt; &gt;&gt;&gt;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51872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59395" y="36456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7989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7282" y="4045744"/>
              <a:ext cx="1481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&lt;= &gt; &gt;= instanceof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1872" y="40457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算术、对象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59395" y="404574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319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7989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7282" y="444579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== !=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51872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任意类型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59395" y="44457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541020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1536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44995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856798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1-card-2"/>
          <p:cNvGrpSpPr/>
          <p:nvPr/>
        </p:nvGrpSpPr>
        <p:grpSpPr>
          <a:xfrm>
            <a:off x="533400" y="4893945"/>
            <a:ext cx="5410200" cy="1446848"/>
            <a:chOff x="533400" y="4893945"/>
            <a:chExt cx="5410200" cy="1446848"/>
          </a:xfrm>
        </p:grpSpPr>
        <p:sp>
          <p:nvSpPr>
            <p:cNvPr id="55" name="Rectangle 55"/>
            <p:cNvSpPr/>
            <p:nvPr/>
          </p:nvSpPr>
          <p:spPr>
            <a:xfrm>
              <a:off x="533400" y="4893945"/>
              <a:ext cx="5410200" cy="1446848"/>
            </a:xfrm>
            <a:prstGeom prst="roundRect">
              <a:avLst>
                <a:gd name="adj" fmla="val 921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0090" y="50806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4659" y="51134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记忆顺序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3232" y="5425440"/>
              <a:ext cx="43085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一元 → 算术 → 移位 → 关系 → 相等 → 位运算 → 逻辑 → 条件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赋值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4375" y="5979319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只有一元、条件、赋值三类从右到左结合。</a:t>
              </a:r>
            </a:p>
          </p:txBody>
        </p:sp>
      </p:grpSp>
      <p:grpSp>
        <p:nvGrpSpPr>
          <p:cNvPr id="109" name="c2-table-1"/>
          <p:cNvGrpSpPr/>
          <p:nvPr/>
        </p:nvGrpSpPr>
        <p:grpSpPr>
          <a:xfrm>
            <a:off x="6248400" y="1524000"/>
            <a:ext cx="5410200" cy="3200400"/>
            <a:chOff x="6248400" y="1524000"/>
            <a:chExt cx="5410200" cy="3200400"/>
          </a:xfrm>
        </p:grpSpPr>
        <p:sp>
          <p:nvSpPr>
            <p:cNvPr id="61" name="Rectangle 61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11138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2054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4173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8570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结合性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4298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3228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66872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整型、逻辑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74395" y="20454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4298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228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^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266872" y="2445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整型、逻辑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874395" y="244554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99453" y="28455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832282" y="2845594"/>
              <a:ext cx="56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66872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整型、逻辑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874395" y="28455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99453" y="32456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832282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&amp;&amp;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266872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874395" y="324564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99453" y="36456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32282" y="3645694"/>
              <a:ext cx="101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||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266872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874395" y="36456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 → 右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48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248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399453" y="40457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832282" y="404574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 :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266872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586085" y="3933825"/>
              <a:ext cx="106299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874395" y="404574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 → 左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248400" y="4319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399453" y="44457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832282" y="4445794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及 += 等复合赋值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266872" y="4445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10586085" y="4333875"/>
              <a:ext cx="106299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10874395" y="444579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 → 左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248400" y="1524000"/>
              <a:ext cx="541020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73036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16495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0571798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5" name="c2-card-2"/>
          <p:cNvGrpSpPr/>
          <p:nvPr/>
        </p:nvGrpSpPr>
        <p:grpSpPr>
          <a:xfrm>
            <a:off x="6248400" y="4893945"/>
            <a:ext cx="5410200" cy="1446848"/>
            <a:chOff x="6248400" y="4893945"/>
            <a:chExt cx="5410200" cy="1446848"/>
          </a:xfrm>
        </p:grpSpPr>
        <p:sp>
          <p:nvSpPr>
            <p:cNvPr id="110" name="Rectangle 110"/>
            <p:cNvSpPr/>
            <p:nvPr/>
          </p:nvSpPr>
          <p:spPr>
            <a:xfrm>
              <a:off x="6248400" y="4893945"/>
              <a:ext cx="5410200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257925" y="5027295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473190" y="50806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565862" y="51134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466332" y="5425440"/>
              <a:ext cx="47628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7 级把 == 和 != 的操作数写成“基本类型”，它们也能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比较引用；第 2 级漏了一元正号 +。严格说后缀 i++ 比前缀 ++i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高一级。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2.2 操作符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例：按优先级给表达式加括号，再逐步求值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704850"/>
            <a:chOff x="533400" y="1524000"/>
            <a:chExt cx="6059805" cy="704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681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int a = 5, b = 3;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406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 = a + b * 2 &gt; 12 || a % b == 2 &amp;&amp; !(a &lt; b);</a:t>
              </a:r>
            </a:p>
          </p:txBody>
        </p:sp>
      </p:grpSp>
      <p:grpSp>
        <p:nvGrpSpPr>
          <p:cNvPr id="32" name="c1-steps-2"/>
          <p:cNvGrpSpPr/>
          <p:nvPr/>
        </p:nvGrpSpPr>
        <p:grpSpPr>
          <a:xfrm>
            <a:off x="533400" y="2428875"/>
            <a:ext cx="4759264" cy="3179730"/>
            <a:chOff x="533400" y="2428875"/>
            <a:chExt cx="4759264" cy="3179730"/>
          </a:xfrm>
        </p:grpSpPr>
        <p:sp>
          <p:nvSpPr>
            <p:cNvPr id="11" name="Rectangle 11"/>
            <p:cNvSpPr/>
            <p:nvPr/>
          </p:nvSpPr>
          <p:spPr>
            <a:xfrm>
              <a:off x="666750" y="257175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33400" y="242887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02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7943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532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2999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038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8150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55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03205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1058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4631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按优先级加括号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2757011"/>
              <a:ext cx="4346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((a + (b * 2)) &gt; 12) || (((a % b) == 2) &amp;&amp; (!(a &lt; b)))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113722"/>
              <a:ext cx="885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* 和 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407569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* 2 = 6，a % b =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3764280"/>
              <a:ext cx="1672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+ 和关系、相等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058126"/>
              <a:ext cx="3553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+ 6 = 11，11 &gt; 12 为 false；2 == 2 为 true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4415790"/>
              <a:ext cx="906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! 和 &amp;&amp;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708684"/>
              <a:ext cx="429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&lt; b 为 false，!false 为 true；true &amp;&amp; true 为 true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880" y="5066348"/>
              <a:ext cx="407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||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5359241"/>
              <a:ext cx="2925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 || true 为 true，所以 r = true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892290" y="1524000"/>
            <a:ext cx="4766310" cy="2539842"/>
            <a:chOff x="6892290" y="1524000"/>
            <a:chExt cx="4766310" cy="2539842"/>
          </a:xfrm>
        </p:grpSpPr>
        <p:sp>
          <p:nvSpPr>
            <p:cNvPr id="33" name="Rectangle 33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4648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795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等价写法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178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5828" y="2108359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- b - 1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33626" y="2108359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- b) - 1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43375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8005" y="242125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5828" y="2556986"/>
              <a:ext cx="827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 &lt;&lt;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3626" y="2556986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+ b) &lt;&lt;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43375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98005" y="2866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05828" y="3005614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b = 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33626" y="3005614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(b = 7)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43375" y="30056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都为 7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98005" y="33147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98005" y="331946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05828" y="3454241"/>
              <a:ext cx="827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&amp; 1 == 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3626" y="3454241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&amp; (1 == 1)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145078" y="3328988"/>
              <a:ext cx="150399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243375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编译错误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98005" y="1524000"/>
              <a:ext cx="476059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2104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3079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92290" y="3843814"/>
              <a:ext cx="1813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各行都从 a = 5, b = 3 开始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898005" y="4210050"/>
            <a:ext cx="4760595" cy="1059180"/>
            <a:chOff x="6898005" y="4210050"/>
            <a:chExt cx="4760595" cy="1059180"/>
          </a:xfrm>
        </p:grpSpPr>
        <p:sp>
          <p:nvSpPr>
            <p:cNvPr id="60" name="Rectangle 60"/>
            <p:cNvSpPr/>
            <p:nvPr/>
          </p:nvSpPr>
          <p:spPr>
            <a:xfrm>
              <a:off x="6898005" y="421005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102793" y="4639628"/>
              <a:ext cx="200026" cy="200026"/>
              <a:chOff x="7102793" y="4639628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102793" y="46396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02805" y="47063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191693" y="47396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404735" y="4358640"/>
              <a:ext cx="37871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优先级决定怎样加括号；计算时 Java 仍按从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左到右的顺序求各操作数的值，&amp;&amp; 和 || 照样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短路。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6898005" y="5459730"/>
            <a:ext cx="4760595" cy="782955"/>
            <a:chOff x="6898005" y="5459730"/>
            <a:chExt cx="4760595" cy="782955"/>
          </a:xfrm>
        </p:grpSpPr>
        <p:sp>
          <p:nvSpPr>
            <p:cNvPr id="67" name="Rectangle 67"/>
            <p:cNvSpPr/>
            <p:nvPr/>
          </p:nvSpPr>
          <p:spPr>
            <a:xfrm>
              <a:off x="6898005" y="545973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102793" y="5751195"/>
              <a:ext cx="200026" cy="200025"/>
              <a:chOff x="7102793" y="5751195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102793" y="57511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142531" y="57956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177247" y="59067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4735" y="5608320"/>
              <a:ext cx="3806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记不清优先级时就加括号：(a &amp; 1) == 1 既正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确又好读。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366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 表达式与语句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表达式计算出一个值，语句完成一个动作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表达式的组成与用途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语句与空语句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语句块与变量作用域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2.3 表达式与语句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表达式：操作符、常量和变量按语法规则的组合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043112"/>
            <a:chOff x="533400" y="1524000"/>
            <a:chExt cx="5410200" cy="2043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表达式是操作符、常量和变量遵循语法规则的组合，计算后得到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一个值。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12708"/>
              <a:ext cx="4802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 = 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 + 5.0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(a - b) * c - 3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 &lt; 30 &amp;&amp; i % 10 != 0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1274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可以出现在选择条件测试、循环条件测试、变量说明、方法调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用的参数等场合，也可以单独组成语句</a:t>
              </a:r>
            </a:p>
          </p:txBody>
        </p:sp>
      </p:grpSp>
      <p:grpSp>
        <p:nvGrpSpPr>
          <p:cNvPr id="20" name="c1-code-2"/>
          <p:cNvGrpSpPr/>
          <p:nvPr/>
        </p:nvGrpSpPr>
        <p:grpSpPr>
          <a:xfrm>
            <a:off x="533400" y="3737610"/>
            <a:ext cx="5410200" cy="1561148"/>
            <a:chOff x="533400" y="3737610"/>
            <a:chExt cx="5410200" cy="1561148"/>
          </a:xfrm>
        </p:grpSpPr>
        <p:sp>
          <p:nvSpPr>
            <p:cNvPr id="17" name="Rectangle 17"/>
            <p:cNvSpPr/>
            <p:nvPr/>
          </p:nvSpPr>
          <p:spPr>
            <a:xfrm>
              <a:off x="533400" y="3737610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388953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表达式单独成为语句：正例与反例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797" y="4149566"/>
              <a:ext cx="3021838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 = 0;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赋值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i++;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自增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方法调用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创建对象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 + 5.0;        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✗ not a statement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5;              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✗ not a statement</a:t>
              </a:r>
            </a:p>
          </p:txBody>
        </p:sp>
      </p:grpSp>
      <p:grpSp>
        <p:nvGrpSpPr>
          <p:cNvPr id="22" name="c1-text-3"/>
          <p:cNvGrpSpPr/>
          <p:nvPr/>
        </p:nvGrpSpPr>
        <p:grpSpPr>
          <a:xfrm>
            <a:off x="527685" y="5486876"/>
            <a:ext cx="4989830" cy="441008"/>
            <a:chOff x="527685" y="5486876"/>
            <a:chExt cx="4989830" cy="441008"/>
          </a:xfrm>
        </p:grpSpPr>
        <p:sp>
          <p:nvSpPr>
            <p:cNvPr id="21" name="TextBox 21"/>
            <p:cNvSpPr txBox="1"/>
            <p:nvPr/>
          </p:nvSpPr>
          <p:spPr>
            <a:xfrm>
              <a:off x="527685" y="5486876"/>
              <a:ext cx="498983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只有赋值、自增自减、方法调用、创建对象这几类表达式，加上分号后能作为语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句。</a:t>
              </a:r>
            </a:p>
          </p:txBody>
        </p:sp>
      </p:grpSp>
      <p:grpSp>
        <p:nvGrpSpPr>
          <p:cNvPr id="43" name="c2-tree-1"/>
          <p:cNvGrpSpPr/>
          <p:nvPr/>
        </p:nvGrpSpPr>
        <p:grpSpPr>
          <a:xfrm>
            <a:off x="6401752" y="1611630"/>
            <a:ext cx="4089083" cy="2004060"/>
            <a:chOff x="6401752" y="1611630"/>
            <a:chExt cx="4089083" cy="2004060"/>
          </a:xfrm>
        </p:grpSpPr>
        <p:sp>
          <p:nvSpPr>
            <p:cNvPr id="23" name="Freeform 23"/>
            <p:cNvSpPr/>
            <p:nvPr/>
          </p:nvSpPr>
          <p:spPr>
            <a:xfrm>
              <a:off x="6586538" y="2886075"/>
              <a:ext cx="338138" cy="544830"/>
            </a:xfrm>
            <a:custGeom>
              <a:avLst/>
              <a:gdLst/>
              <a:ahLst/>
              <a:cxnLst/>
              <a:rect l="l" t="t" r="r" b="b"/>
              <a:pathLst>
                <a:path w="338138" h="544830">
                  <a:moveTo>
                    <a:pt x="338138" y="0"/>
                  </a:moveTo>
                  <a:lnTo>
                    <a:pt x="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924675" y="2886075"/>
              <a:ext cx="338138" cy="544830"/>
            </a:xfrm>
            <a:custGeom>
              <a:avLst/>
              <a:gdLst/>
              <a:ahLst/>
              <a:cxnLst/>
              <a:rect l="l" t="t" r="r" b="b"/>
              <a:pathLst>
                <a:path w="338138" h="544830">
                  <a:moveTo>
                    <a:pt x="0" y="0"/>
                  </a:moveTo>
                  <a:lnTo>
                    <a:pt x="338138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924675" y="2341245"/>
              <a:ext cx="676275" cy="544830"/>
            </a:xfrm>
            <a:custGeom>
              <a:avLst/>
              <a:gdLst/>
              <a:ahLst/>
              <a:cxnLst/>
              <a:rect l="l" t="t" r="r" b="b"/>
              <a:pathLst>
                <a:path w="676275" h="544830">
                  <a:moveTo>
                    <a:pt x="676275" y="0"/>
                  </a:moveTo>
                  <a:lnTo>
                    <a:pt x="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600950" y="2341245"/>
              <a:ext cx="676275" cy="544830"/>
            </a:xfrm>
            <a:custGeom>
              <a:avLst/>
              <a:gdLst/>
              <a:ahLst/>
              <a:cxnLst/>
              <a:rect l="l" t="t" r="r" b="b"/>
              <a:pathLst>
                <a:path w="676275" h="544830">
                  <a:moveTo>
                    <a:pt x="0" y="0"/>
                  </a:moveTo>
                  <a:lnTo>
                    <a:pt x="676275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600950" y="1796415"/>
              <a:ext cx="1352550" cy="544830"/>
            </a:xfrm>
            <a:custGeom>
              <a:avLst/>
              <a:gdLst/>
              <a:ahLst/>
              <a:cxnLst/>
              <a:rect l="l" t="t" r="r" b="b"/>
              <a:pathLst>
                <a:path w="1352550" h="544830">
                  <a:moveTo>
                    <a:pt x="1352550" y="0"/>
                  </a:moveTo>
                  <a:lnTo>
                    <a:pt x="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53500" y="1796415"/>
              <a:ext cx="1352550" cy="544830"/>
            </a:xfrm>
            <a:custGeom>
              <a:avLst/>
              <a:gdLst/>
              <a:ahLst/>
              <a:cxnLst/>
              <a:rect l="l" t="t" r="r" b="b"/>
              <a:pathLst>
                <a:path w="1352550" h="544830">
                  <a:moveTo>
                    <a:pt x="0" y="0"/>
                  </a:moveTo>
                  <a:lnTo>
                    <a:pt x="1352550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401752" y="324612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78028" y="324612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739890" y="27012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092440" y="27012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416165" y="215646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121265" y="215646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768715" y="1611630"/>
              <a:ext cx="369570" cy="369570"/>
            </a:xfrm>
            <a:prstGeom prst="ellipse">
              <a:avLst/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0388" y="33651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16663" y="33651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8526" y="28203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31076" y="28203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4801" y="22755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59901" y="22755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07351" y="1730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</p:grpSp>
      <p:grpSp>
        <p:nvGrpSpPr>
          <p:cNvPr id="45" name="c2-text-2"/>
          <p:cNvGrpSpPr/>
          <p:nvPr/>
        </p:nvGrpSpPr>
        <p:grpSpPr>
          <a:xfrm>
            <a:off x="7285497" y="3891439"/>
            <a:ext cx="3336006" cy="220028"/>
            <a:chOff x="7285497" y="3891439"/>
            <a:chExt cx="3336006" cy="220028"/>
          </a:xfrm>
        </p:grpSpPr>
        <p:sp>
          <p:nvSpPr>
            <p:cNvPr id="44" name="TextBox 44"/>
            <p:cNvSpPr txBox="1"/>
            <p:nvPr/>
          </p:nvSpPr>
          <p:spPr>
            <a:xfrm>
              <a:off x="7285497" y="3891439"/>
              <a:ext cx="3336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(a - b) * c - 3 的计算结构：先算下层，再算上层</a:t>
              </a:r>
            </a:p>
          </p:txBody>
        </p:sp>
      </p:grpSp>
      <p:grpSp>
        <p:nvGrpSpPr>
          <p:cNvPr id="60" name="c2-table-3"/>
          <p:cNvGrpSpPr/>
          <p:nvPr/>
        </p:nvGrpSpPr>
        <p:grpSpPr>
          <a:xfrm>
            <a:off x="6248400" y="4237672"/>
            <a:ext cx="5410200" cy="1600200"/>
            <a:chOff x="6248400" y="4237672"/>
            <a:chExt cx="5410200" cy="1600200"/>
          </a:xfrm>
        </p:grpSpPr>
        <p:sp>
          <p:nvSpPr>
            <p:cNvPr id="46" name="Rectangle 46"/>
            <p:cNvSpPr/>
            <p:nvPr/>
          </p:nvSpPr>
          <p:spPr>
            <a:xfrm>
              <a:off x="6248400" y="4237672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52666" y="43591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组成部分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33153" y="43591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45555" y="47591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68615" y="47591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50330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503777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5555" y="51592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68615" y="515921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54330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5555" y="55592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68615" y="5559266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-、*（括号只改变计算顺序）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237672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866698" y="423767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2.3 表达式与语句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语句以分号结束，语句块用大括号括起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2644140"/>
            <a:chOff x="533400" y="1524000"/>
            <a:chExt cx="5410200" cy="2644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44140"/>
            </a:xfrm>
            <a:prstGeom prst="roundRect">
              <a:avLst>
                <a:gd name="adj" fmla="val 50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7744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语句与语句块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402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每条语句以分号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结束，可以写成一行，也可以跨多行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只有一个分号的语句叫空语句，用在语法上需要一条语句、实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际上什么也不做的地方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1274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语句块是用左、右大括号括起来的一组语句，可以嵌套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26898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21278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基本语句完成声明、赋值等操作；控制流语句（选择、循环）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决定语句执行的顺序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382619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3769995"/>
              <a:ext cx="2073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语言没有 goto 语句</a:t>
              </a:r>
            </a:p>
          </p:txBody>
        </p:sp>
      </p:grpSp>
      <p:grpSp>
        <p:nvGrpSpPr>
          <p:cNvPr id="25" name="c1-code-2"/>
          <p:cNvGrpSpPr/>
          <p:nvPr/>
        </p:nvGrpSpPr>
        <p:grpSpPr>
          <a:xfrm>
            <a:off x="533400" y="4337685"/>
            <a:ext cx="5410200" cy="1912620"/>
            <a:chOff x="533400" y="4337685"/>
            <a:chExt cx="5410200" cy="1912620"/>
          </a:xfrm>
        </p:grpSpPr>
        <p:sp>
          <p:nvSpPr>
            <p:cNvPr id="22" name="Rectangle 22"/>
            <p:cNvSpPr/>
            <p:nvPr/>
          </p:nvSpPr>
          <p:spPr>
            <a:xfrm>
              <a:off x="533400" y="4337685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797" y="448960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语句、空语句与语句块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797" y="4750594"/>
              <a:ext cx="2673350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1;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1.2;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a * b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空语句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语句块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i++;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 = ++j; }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嵌套的语句块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185862"/>
            <a:chOff x="6248400" y="1524000"/>
            <a:chExt cx="5410200" cy="1185862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35090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08458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语句块与作用域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054542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块中声明的变量只在块内有效。与 C/C++ 不同，Java 不允许在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内层块中再声明与外层局部变量同名的变量。</a:t>
              </a:r>
            </a:p>
          </p:txBody>
        </p:sp>
      </p:grpSp>
      <p:grpSp>
        <p:nvGrpSpPr>
          <p:cNvPr id="34" name="c2-code-2"/>
          <p:cNvGrpSpPr/>
          <p:nvPr/>
        </p:nvGrpSpPr>
        <p:grpSpPr>
          <a:xfrm>
            <a:off x="6248400" y="2879408"/>
            <a:ext cx="5410200" cy="1737360"/>
            <a:chOff x="6248400" y="2879408"/>
            <a:chExt cx="5410200" cy="1737360"/>
          </a:xfrm>
        </p:grpSpPr>
        <p:sp>
          <p:nvSpPr>
            <p:cNvPr id="31" name="Rectangle 31"/>
            <p:cNvSpPr/>
            <p:nvPr/>
          </p:nvSpPr>
          <p:spPr>
            <a:xfrm>
              <a:off x="6248400" y="2879408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303133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797" y="3292316"/>
              <a:ext cx="3115183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2;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a 已在外层定义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a + 1;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可以使用外层的 a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System.out.println(b);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✗ b 在块外无效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3; }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✓ 与上一个块互不相干</a:t>
              </a:r>
            </a:p>
          </p:txBody>
        </p:sp>
      </p:grpSp>
      <p:grpSp>
        <p:nvGrpSpPr>
          <p:cNvPr id="41" name="c2-callout-3"/>
          <p:cNvGrpSpPr/>
          <p:nvPr/>
        </p:nvGrpSpPr>
        <p:grpSpPr>
          <a:xfrm>
            <a:off x="6248400" y="4786312"/>
            <a:ext cx="5410200" cy="1463992"/>
            <a:chOff x="6248400" y="4786312"/>
            <a:chExt cx="5410200" cy="1463992"/>
          </a:xfrm>
        </p:grpSpPr>
        <p:sp>
          <p:nvSpPr>
            <p:cNvPr id="35" name="Rectangle 35"/>
            <p:cNvSpPr/>
            <p:nvPr/>
          </p:nvSpPr>
          <p:spPr>
            <a:xfrm>
              <a:off x="6248400" y="4786312"/>
              <a:ext cx="5410200" cy="1463992"/>
            </a:xfrm>
            <a:prstGeom prst="roundRect">
              <a:avLst>
                <a:gd name="adj" fmla="val 780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41129" y="5415081"/>
              <a:ext cx="224134" cy="192560"/>
              <a:chOff x="6441129" y="5415081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53200" y="54854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41129" y="54150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53200" y="55632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892" y="529971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空语句的陷阱：for (i = 0; i &lt; 10; i++); 末尾多一个分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号，循环体就成了空语句，后面的大括号块只执行一次。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73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控制结构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顺序、分支、循环三种结构组合出整个程序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分支：if-else 与 switch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807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循环：while、do-while、for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跳转：break、continue、return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结构化程序设计的三种控制结构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779145" y="1626870"/>
            <a:ext cx="3014662" cy="2366010"/>
            <a:chOff x="779145" y="1626870"/>
            <a:chExt cx="3014662" cy="2366010"/>
          </a:xfrm>
        </p:grpSpPr>
        <p:sp>
          <p:nvSpPr>
            <p:cNvPr id="7" name="Freeform 7"/>
            <p:cNvSpPr/>
            <p:nvPr/>
          </p:nvSpPr>
          <p:spPr>
            <a:xfrm>
              <a:off x="2286000" y="2065020"/>
              <a:ext cx="9525" cy="99060"/>
            </a:xfrm>
            <a:custGeom>
              <a:avLst/>
              <a:gdLst/>
              <a:ahLst/>
              <a:cxnLst/>
              <a:rect l="l" t="t" r="r" b="b"/>
              <a:pathLst>
                <a:path w="9525" h="99060">
                  <a:moveTo>
                    <a:pt x="0" y="0"/>
                  </a:moveTo>
                  <a:lnTo>
                    <a:pt x="0" y="99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33612" y="21640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286000" y="2707005"/>
              <a:ext cx="9525" cy="100965"/>
            </a:xfrm>
            <a:custGeom>
              <a:avLst/>
              <a:gdLst/>
              <a:ahLst/>
              <a:cxnLst/>
              <a:rect l="l" t="t" r="r" b="b"/>
              <a:pathLst>
                <a:path w="9525" h="100965">
                  <a:moveTo>
                    <a:pt x="0" y="0"/>
                  </a:moveTo>
                  <a:lnTo>
                    <a:pt x="0" y="100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33612" y="28079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86000" y="3350895"/>
              <a:ext cx="9525" cy="99060"/>
            </a:xfrm>
            <a:custGeom>
              <a:avLst/>
              <a:gdLst/>
              <a:ahLst/>
              <a:cxnLst/>
              <a:rect l="l" t="t" r="r" b="b"/>
              <a:pathLst>
                <a:path w="9525" h="99060">
                  <a:moveTo>
                    <a:pt x="0" y="0"/>
                  </a:moveTo>
                  <a:lnTo>
                    <a:pt x="0" y="99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33612" y="34499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9145" y="1626870"/>
              <a:ext cx="3014662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9145" y="2268855"/>
              <a:ext cx="30146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9145" y="2912745"/>
              <a:ext cx="30146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9145" y="3554730"/>
              <a:ext cx="3014662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07209" y="17559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3666" y="2399824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3666" y="3042761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07209" y="36856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出口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286250"/>
            <a:ext cx="3505200" cy="1316355"/>
            <a:chOff x="533400" y="4286250"/>
            <a:chExt cx="3505200" cy="1316355"/>
          </a:xfrm>
        </p:grpSpPr>
        <p:sp>
          <p:nvSpPr>
            <p:cNvPr id="22" name="Rectangle 22"/>
            <p:cNvSpPr/>
            <p:nvPr/>
          </p:nvSpPr>
          <p:spPr>
            <a:xfrm>
              <a:off x="533400" y="4286250"/>
              <a:ext cx="3505200" cy="1316355"/>
            </a:xfrm>
            <a:prstGeom prst="roundRect">
              <a:avLst>
                <a:gd name="adj" fmla="val 101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42950" y="449580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5259" y="45315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顺序结构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330" y="487299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语句按书写顺序自上而下依次执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51" name="c2-flow-1"/>
          <p:cNvGrpSpPr/>
          <p:nvPr/>
        </p:nvGrpSpPr>
        <p:grpSpPr>
          <a:xfrm>
            <a:off x="4476750" y="1626870"/>
            <a:ext cx="3238500" cy="2366010"/>
            <a:chOff x="4476750" y="1626870"/>
            <a:chExt cx="3238500" cy="2366010"/>
          </a:xfrm>
        </p:grpSpPr>
        <p:sp>
          <p:nvSpPr>
            <p:cNvPr id="27" name="Freeform 27"/>
            <p:cNvSpPr/>
            <p:nvPr/>
          </p:nvSpPr>
          <p:spPr>
            <a:xfrm>
              <a:off x="6096000" y="2065020"/>
              <a:ext cx="9525" cy="18097"/>
            </a:xfrm>
            <a:custGeom>
              <a:avLst/>
              <a:gdLst/>
              <a:ahLst/>
              <a:cxnLst/>
              <a:rect l="l" t="t" r="r" b="b"/>
              <a:pathLst>
                <a:path w="9525" h="18097">
                  <a:moveTo>
                    <a:pt x="0" y="0"/>
                  </a:moveTo>
                  <a:lnTo>
                    <a:pt x="0" y="180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43612" y="20831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927282" y="2788920"/>
              <a:ext cx="1168718" cy="61912"/>
            </a:xfrm>
            <a:custGeom>
              <a:avLst/>
              <a:gdLst/>
              <a:ahLst/>
              <a:cxnLst/>
              <a:rect l="l" t="t" r="r" b="b"/>
              <a:pathLst>
                <a:path w="1168718" h="61912">
                  <a:moveTo>
                    <a:pt x="1168718" y="0"/>
                  </a:moveTo>
                  <a:lnTo>
                    <a:pt x="1168718" y="61912"/>
                  </a:lnTo>
                  <a:lnTo>
                    <a:pt x="0" y="61912"/>
                  </a:lnTo>
                  <a:lnTo>
                    <a:pt x="0" y="19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874895" y="28079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7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096000" y="2788920"/>
              <a:ext cx="1168718" cy="61912"/>
            </a:xfrm>
            <a:custGeom>
              <a:avLst/>
              <a:gdLst/>
              <a:ahLst/>
              <a:cxnLst/>
              <a:rect l="l" t="t" r="r" b="b"/>
              <a:pathLst>
                <a:path w="1168718" h="61912">
                  <a:moveTo>
                    <a:pt x="0" y="0"/>
                  </a:moveTo>
                  <a:lnTo>
                    <a:pt x="0" y="61912"/>
                  </a:lnTo>
                  <a:lnTo>
                    <a:pt x="1168718" y="61912"/>
                  </a:lnTo>
                  <a:lnTo>
                    <a:pt x="1168718" y="19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212330" y="28079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927282" y="3350895"/>
              <a:ext cx="1168718" cy="101917"/>
            </a:xfrm>
            <a:custGeom>
              <a:avLst/>
              <a:gdLst/>
              <a:ahLst/>
              <a:cxnLst/>
              <a:rect l="l" t="t" r="r" b="b"/>
              <a:pathLst>
                <a:path w="1168718" h="101917">
                  <a:moveTo>
                    <a:pt x="0" y="0"/>
                  </a:moveTo>
                  <a:lnTo>
                    <a:pt x="0" y="101917"/>
                  </a:lnTo>
                  <a:lnTo>
                    <a:pt x="1168718" y="101917"/>
                  </a:lnTo>
                  <a:lnTo>
                    <a:pt x="1168718" y="99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043612" y="34499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096000" y="3350895"/>
              <a:ext cx="1168718" cy="101917"/>
            </a:xfrm>
            <a:custGeom>
              <a:avLst/>
              <a:gdLst/>
              <a:ahLst/>
              <a:cxnLst/>
              <a:rect l="l" t="t" r="r" b="b"/>
              <a:pathLst>
                <a:path w="1168718" h="101917">
                  <a:moveTo>
                    <a:pt x="1168718" y="0"/>
                  </a:moveTo>
                  <a:lnTo>
                    <a:pt x="1168718" y="101917"/>
                  </a:lnTo>
                  <a:lnTo>
                    <a:pt x="0" y="101917"/>
                  </a:lnTo>
                  <a:lnTo>
                    <a:pt x="0" y="99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043612" y="34499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45468" y="1626870"/>
              <a:ext cx="902018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645468" y="2187892"/>
              <a:ext cx="901065" cy="601028"/>
            </a:xfrm>
            <a:custGeom>
              <a:avLst/>
              <a:gdLst/>
              <a:ahLst/>
              <a:cxnLst/>
              <a:rect l="l" t="t" r="r" b="b"/>
              <a:pathLst>
                <a:path w="901065" h="601028">
                  <a:moveTo>
                    <a:pt x="450532" y="0"/>
                  </a:moveTo>
                  <a:lnTo>
                    <a:pt x="901065" y="300038"/>
                  </a:lnTo>
                  <a:lnTo>
                    <a:pt x="450532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476750" y="2912745"/>
              <a:ext cx="9020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13232" y="2912745"/>
              <a:ext cx="9020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45468" y="3554730"/>
              <a:ext cx="902018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7209" y="17559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17209" y="23998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14949" y="3042761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2384" y="3042761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17209" y="36856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17808" y="2634615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351297" y="266128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5570" y="2634615"/>
              <a:ext cx="42862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97860" y="2661285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4343400" y="4286250"/>
            <a:ext cx="3505200" cy="1316355"/>
            <a:chOff x="4343400" y="4286250"/>
            <a:chExt cx="3505200" cy="1316355"/>
          </a:xfrm>
        </p:grpSpPr>
        <p:sp>
          <p:nvSpPr>
            <p:cNvPr id="52" name="Rectangle 52"/>
            <p:cNvSpPr/>
            <p:nvPr/>
          </p:nvSpPr>
          <p:spPr>
            <a:xfrm>
              <a:off x="4343400" y="4286250"/>
              <a:ext cx="3505200" cy="1316355"/>
            </a:xfrm>
            <a:prstGeom prst="roundRect">
              <a:avLst>
                <a:gd name="adj" fmla="val 101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552950" y="449580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635259" y="45315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分支结构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45330" y="4872990"/>
              <a:ext cx="2491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根据条件选择一条路径执行：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if-else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switch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7" name="c3-flow-1"/>
          <p:cNvGrpSpPr/>
          <p:nvPr/>
        </p:nvGrpSpPr>
        <p:grpSpPr>
          <a:xfrm>
            <a:off x="8205788" y="1626870"/>
            <a:ext cx="3148012" cy="2366010"/>
            <a:chOff x="8205788" y="1626870"/>
            <a:chExt cx="3148012" cy="2366010"/>
          </a:xfrm>
        </p:grpSpPr>
        <p:sp>
          <p:nvSpPr>
            <p:cNvPr id="57" name="Freeform 57"/>
            <p:cNvSpPr/>
            <p:nvPr/>
          </p:nvSpPr>
          <p:spPr>
            <a:xfrm>
              <a:off x="9029700" y="2065020"/>
              <a:ext cx="9525" cy="18097"/>
            </a:xfrm>
            <a:custGeom>
              <a:avLst/>
              <a:gdLst/>
              <a:ahLst/>
              <a:cxnLst/>
              <a:rect l="l" t="t" r="r" b="b"/>
              <a:pathLst>
                <a:path w="9525" h="18097">
                  <a:moveTo>
                    <a:pt x="0" y="0"/>
                  </a:moveTo>
                  <a:lnTo>
                    <a:pt x="0" y="180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977312" y="20831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9029700" y="2788920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0"/>
                  </a:moveTo>
                  <a:lnTo>
                    <a:pt x="0" y="19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977312" y="28079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8205788" y="2475548"/>
              <a:ext cx="252412" cy="656273"/>
            </a:xfrm>
            <a:custGeom>
              <a:avLst/>
              <a:gdLst/>
              <a:ahLst/>
              <a:cxnLst/>
              <a:rect l="l" t="t" r="r" b="b"/>
              <a:pathLst>
                <a:path w="252412" h="656273">
                  <a:moveTo>
                    <a:pt x="252412" y="656273"/>
                  </a:moveTo>
                  <a:lnTo>
                    <a:pt x="42862" y="656273"/>
                  </a:lnTo>
                  <a:lnTo>
                    <a:pt x="0" y="656273"/>
                  </a:lnTo>
                  <a:lnTo>
                    <a:pt x="0" y="642938"/>
                  </a:lnTo>
                  <a:lnTo>
                    <a:pt x="0" y="0"/>
                  </a:lnTo>
                  <a:lnTo>
                    <a:pt x="0" y="12383"/>
                  </a:lnTo>
                  <a:lnTo>
                    <a:pt x="23812" y="12383"/>
                  </a:lnTo>
                  <a:lnTo>
                    <a:pt x="128588" y="123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334375" y="24364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9620250" y="2487930"/>
              <a:ext cx="1162050" cy="962025"/>
            </a:xfrm>
            <a:custGeom>
              <a:avLst/>
              <a:gdLst/>
              <a:ahLst/>
              <a:cxnLst/>
              <a:rect l="l" t="t" r="r" b="b"/>
              <a:pathLst>
                <a:path w="1162050" h="962025">
                  <a:moveTo>
                    <a:pt x="0" y="0"/>
                  </a:moveTo>
                  <a:lnTo>
                    <a:pt x="209550" y="0"/>
                  </a:lnTo>
                  <a:lnTo>
                    <a:pt x="1162050" y="0"/>
                  </a:lnTo>
                  <a:lnTo>
                    <a:pt x="1162050" y="857250"/>
                  </a:lnTo>
                  <a:lnTo>
                    <a:pt x="1162050" y="9620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729912" y="34499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458200" y="1626870"/>
              <a:ext cx="1143000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439150" y="2187892"/>
              <a:ext cx="1181100" cy="601028"/>
            </a:xfrm>
            <a:custGeom>
              <a:avLst/>
              <a:gdLst/>
              <a:ahLst/>
              <a:cxnLst/>
              <a:rect l="l" t="t" r="r" b="b"/>
              <a:pathLst>
                <a:path w="1181100" h="601028">
                  <a:moveTo>
                    <a:pt x="590550" y="0"/>
                  </a:moveTo>
                  <a:lnTo>
                    <a:pt x="1181100" y="300038"/>
                  </a:lnTo>
                  <a:lnTo>
                    <a:pt x="590550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458200" y="2912745"/>
              <a:ext cx="11430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210800" y="3554730"/>
              <a:ext cx="1143000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850909" y="17559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78596" y="23998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64753" y="30427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循环体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603509" y="36856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出口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058275" y="2758440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081516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091738" y="2272665"/>
              <a:ext cx="42862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124027" y="229838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</p:grpSp>
      <p:grpSp>
        <p:nvGrpSpPr>
          <p:cNvPr id="82" name="c3-card-2"/>
          <p:cNvGrpSpPr/>
          <p:nvPr/>
        </p:nvGrpSpPr>
        <p:grpSpPr>
          <a:xfrm>
            <a:off x="8153400" y="4286250"/>
            <a:ext cx="3505200" cy="1316355"/>
            <a:chOff x="8153400" y="4286250"/>
            <a:chExt cx="3505200" cy="1316355"/>
          </a:xfrm>
        </p:grpSpPr>
        <p:sp>
          <p:nvSpPr>
            <p:cNvPr id="78" name="Rectangle 78"/>
            <p:cNvSpPr/>
            <p:nvPr/>
          </p:nvSpPr>
          <p:spPr>
            <a:xfrm>
              <a:off x="8153400" y="4286250"/>
              <a:ext cx="3505200" cy="1316355"/>
            </a:xfrm>
            <a:prstGeom prst="roundRect">
              <a:avLst>
                <a:gd name="adj" fmla="val 101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362950" y="449580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45259" y="45315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循环结构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55330" y="4872990"/>
              <a:ext cx="2491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条件成立时重复执行循环体：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while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do-while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3" name="Rectangle 8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0130" y="5991225"/>
              <a:ext cx="7804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1966 年 Böhm 和 Jacopini 证明：任何算法都能只用这三种结构写出来，不需要 goto。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5895" cy="909257"/>
            <a:chOff x="520446" y="342900"/>
            <a:chExt cx="67258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58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if-else：根据条件在两个分支中选一个执行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313498"/>
            <a:chOff x="533400" y="1524000"/>
            <a:chExt cx="4977765" cy="13134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81076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(boolean_expression)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statement_or_block1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statement_or_block2</a:t>
              </a:r>
            </a:p>
          </p:txBody>
        </p:sp>
      </p:grpSp>
      <p:grpSp>
        <p:nvGrpSpPr>
          <p:cNvPr id="31" name="c1-flow-2"/>
          <p:cNvGrpSpPr/>
          <p:nvPr/>
        </p:nvGrpSpPr>
        <p:grpSpPr>
          <a:xfrm>
            <a:off x="666750" y="3172778"/>
            <a:ext cx="4711065" cy="2302192"/>
            <a:chOff x="666750" y="3172778"/>
            <a:chExt cx="4711065" cy="2302192"/>
          </a:xfrm>
        </p:grpSpPr>
        <p:sp>
          <p:nvSpPr>
            <p:cNvPr id="11" name="Freeform 11"/>
            <p:cNvSpPr/>
            <p:nvPr/>
          </p:nvSpPr>
          <p:spPr>
            <a:xfrm>
              <a:off x="1363028" y="3773805"/>
              <a:ext cx="1659255" cy="266700"/>
            </a:xfrm>
            <a:custGeom>
              <a:avLst/>
              <a:gdLst/>
              <a:ahLst/>
              <a:cxnLst/>
              <a:rect l="l" t="t" r="r" b="b"/>
              <a:pathLst>
                <a:path w="1659255" h="266700">
                  <a:moveTo>
                    <a:pt x="1659255" y="0"/>
                  </a:moveTo>
                  <a:lnTo>
                    <a:pt x="1659255" y="185738"/>
                  </a:lnTo>
                  <a:lnTo>
                    <a:pt x="0" y="185738"/>
                  </a:lnTo>
                  <a:lnTo>
                    <a:pt x="0" y="266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10640" y="40405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22282" y="3773805"/>
              <a:ext cx="1659255" cy="266700"/>
            </a:xfrm>
            <a:custGeom>
              <a:avLst/>
              <a:gdLst/>
              <a:ahLst/>
              <a:cxnLst/>
              <a:rect l="l" t="t" r="r" b="b"/>
              <a:pathLst>
                <a:path w="1659255" h="266700">
                  <a:moveTo>
                    <a:pt x="0" y="0"/>
                  </a:moveTo>
                  <a:lnTo>
                    <a:pt x="0" y="185738"/>
                  </a:lnTo>
                  <a:lnTo>
                    <a:pt x="1659255" y="185738"/>
                  </a:lnTo>
                  <a:lnTo>
                    <a:pt x="1659255" y="266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29150" y="40405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63028" y="4583430"/>
              <a:ext cx="1659255" cy="348615"/>
            </a:xfrm>
            <a:custGeom>
              <a:avLst/>
              <a:gdLst/>
              <a:ahLst/>
              <a:cxnLst/>
              <a:rect l="l" t="t" r="r" b="b"/>
              <a:pathLst>
                <a:path w="1659255" h="348615">
                  <a:moveTo>
                    <a:pt x="0" y="0"/>
                  </a:moveTo>
                  <a:lnTo>
                    <a:pt x="0" y="226695"/>
                  </a:lnTo>
                  <a:lnTo>
                    <a:pt x="1659255" y="226695"/>
                  </a:lnTo>
                  <a:lnTo>
                    <a:pt x="1659255" y="3486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69895" y="49320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22282" y="4583430"/>
              <a:ext cx="1659255" cy="348615"/>
            </a:xfrm>
            <a:custGeom>
              <a:avLst/>
              <a:gdLst/>
              <a:ahLst/>
              <a:cxnLst/>
              <a:rect l="l" t="t" r="r" b="b"/>
              <a:pathLst>
                <a:path w="1659255" h="348615">
                  <a:moveTo>
                    <a:pt x="1659255" y="0"/>
                  </a:moveTo>
                  <a:lnTo>
                    <a:pt x="1659255" y="226695"/>
                  </a:lnTo>
                  <a:lnTo>
                    <a:pt x="0" y="226695"/>
                  </a:lnTo>
                  <a:lnTo>
                    <a:pt x="0" y="3486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69895" y="49320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326005" y="3172778"/>
              <a:ext cx="1392555" cy="601027"/>
            </a:xfrm>
            <a:custGeom>
              <a:avLst/>
              <a:gdLst/>
              <a:ahLst/>
              <a:cxnLst/>
              <a:rect l="l" t="t" r="r" b="b"/>
              <a:pathLst>
                <a:path w="1392555" h="601027">
                  <a:moveTo>
                    <a:pt x="696278" y="0"/>
                  </a:moveTo>
                  <a:lnTo>
                    <a:pt x="1392555" y="300990"/>
                  </a:lnTo>
                  <a:lnTo>
                    <a:pt x="696278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" y="4145280"/>
              <a:ext cx="139255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985260" y="4145280"/>
              <a:ext cx="139255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26005" y="5036820"/>
              <a:ext cx="1392555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757335" y="33847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0694" y="4275296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69204" y="4275296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71178" y="51668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后续语句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98345" y="3743325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31835" y="376999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637598" y="3743325"/>
              <a:ext cx="42862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69887" y="3769995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</p:grpSp>
      <p:grpSp>
        <p:nvGrpSpPr>
          <p:cNvPr id="33" name="c1-text-3"/>
          <p:cNvGrpSpPr/>
          <p:nvPr/>
        </p:nvGrpSpPr>
        <p:grpSpPr>
          <a:xfrm>
            <a:off x="526923" y="5912644"/>
            <a:ext cx="4767834" cy="500824"/>
            <a:chOff x="526923" y="5912644"/>
            <a:chExt cx="4767834" cy="500824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912644"/>
              <a:ext cx="476783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条件必须是 boolean；else 部分可以省略，省略后条件为 false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什么也不做。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5815965" y="1524000"/>
            <a:ext cx="5842635" cy="2733675"/>
            <a:chOff x="5815965" y="1524000"/>
            <a:chExt cx="5842635" cy="2733675"/>
          </a:xfrm>
        </p:grpSpPr>
        <p:sp>
          <p:nvSpPr>
            <p:cNvPr id="34" name="Rectangle 34"/>
            <p:cNvSpPr/>
            <p:nvPr/>
          </p:nvSpPr>
          <p:spPr>
            <a:xfrm>
              <a:off x="5815965" y="1524000"/>
              <a:ext cx="5842635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44362" y="1675924"/>
              <a:ext cx="10162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例：IfElse.java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43600" y="1937861"/>
              <a:ext cx="3631438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IfElse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&lt; b)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"执行if语句"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"执行else语句"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1" name="c2-code-2"/>
          <p:cNvGrpSpPr/>
          <p:nvPr/>
        </p:nvGrpSpPr>
        <p:grpSpPr>
          <a:xfrm>
            <a:off x="5815965" y="4448175"/>
            <a:ext cx="5842635" cy="704850"/>
            <a:chOff x="5815965" y="4448175"/>
            <a:chExt cx="5842635" cy="704850"/>
          </a:xfrm>
        </p:grpSpPr>
        <p:sp>
          <p:nvSpPr>
            <p:cNvPr id="38" name="Rectangle 38"/>
            <p:cNvSpPr/>
            <p:nvPr/>
          </p:nvSpPr>
          <p:spPr>
            <a:xfrm>
              <a:off x="5815965" y="4448175"/>
              <a:ext cx="5842635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44362" y="46000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43600" y="486203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执行else语句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5815965" y="5343525"/>
            <a:ext cx="5842635" cy="782955"/>
            <a:chOff x="5815965" y="5343525"/>
            <a:chExt cx="5842635" cy="782955"/>
          </a:xfrm>
        </p:grpSpPr>
        <p:sp>
          <p:nvSpPr>
            <p:cNvPr id="42" name="Rectangle 42"/>
            <p:cNvSpPr/>
            <p:nvPr/>
          </p:nvSpPr>
          <p:spPr>
            <a:xfrm>
              <a:off x="5815965" y="534352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020753" y="5634990"/>
              <a:ext cx="200026" cy="200025"/>
              <a:chOff x="6020753" y="563499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020753" y="56349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060491" y="56794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095207" y="57905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322695" y="5492115"/>
              <a:ext cx="4834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&lt; b 即 0 &lt; 0，结果为 false，所以执行 else 分支。把 b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改成 1 再运行，输出变为“执行if语句”。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49614" cy="909257"/>
            <a:chOff x="520446" y="342900"/>
            <a:chExt cx="83496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496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多分支与悬空 else：else 总是和最近的未配对 if 配对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440305"/>
            <a:chOff x="533400" y="1524000"/>
            <a:chExt cx="5410200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32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例：按分数给等级（else if 链）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231517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 = 85;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(score &gt;= 90)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"优秀"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(score &gt;= 80)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"良好"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(score &gt;= 60)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"及格"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"不及格"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输出：良好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28447" y="4133850"/>
            <a:ext cx="5415153" cy="1864709"/>
            <a:chOff x="528447" y="4133850"/>
            <a:chExt cx="5415153" cy="1864709"/>
          </a:xfrm>
        </p:grpSpPr>
        <p:sp>
          <p:nvSpPr>
            <p:cNvPr id="11" name="Rectangle 11"/>
            <p:cNvSpPr/>
            <p:nvPr/>
          </p:nvSpPr>
          <p:spPr>
            <a:xfrm>
              <a:off x="533400" y="413385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6732" y="425529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22651" y="42552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依次判断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91798" y="42552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7340" y="46553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04010" y="4655344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&gt;= 90 成立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91798" y="46553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929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93395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7340" y="50553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4010" y="505539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&gt;= 90 不成立，&gt;= 80 成立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91798" y="50553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良好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3292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7340" y="545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04010" y="5455444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三个条件都不成立，执行 else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16411" y="545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不及格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13385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02092" y="413385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48212" y="413385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447" y="5807869"/>
              <a:ext cx="46669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第一个成立的分支执行完就跳过其余分支，所以第二个条件不必再写 score &lt; 90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6248400" y="1524000"/>
            <a:ext cx="5410200" cy="1561148"/>
            <a:chOff x="6248400" y="1524000"/>
            <a:chExt cx="5410200" cy="1561148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76797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反例：缩进与实际配对不一致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76797" y="1935956"/>
              <a:ext cx="220040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5, y = -1;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&gt; 0)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(y &gt;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3254692"/>
            <a:ext cx="5410200" cy="1443038"/>
            <a:chOff x="6248400" y="3254692"/>
            <a:chExt cx="5410200" cy="1443038"/>
          </a:xfrm>
        </p:grpSpPr>
        <p:sp>
          <p:nvSpPr>
            <p:cNvPr id="36" name="Rectangle 36"/>
            <p:cNvSpPr/>
            <p:nvPr/>
          </p:nvSpPr>
          <p:spPr>
            <a:xfrm>
              <a:off x="6248400" y="3254692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338804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3190" y="3441382"/>
              <a:ext cx="204216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000" y="3474244"/>
              <a:ext cx="1952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原课件提示“if else 的括号问题”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6332" y="3786188"/>
              <a:ext cx="48057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这里的 else 虽与外层 if 对齐，实际属于内层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if (y &gt; 0)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B；x = -5 时什么也不输出。分支只有一条语句也加上大括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号，就不会有歧义。</a:t>
              </a:r>
            </a:p>
          </p:txBody>
        </p:sp>
      </p:grpSp>
      <p:grpSp>
        <p:nvGrpSpPr>
          <p:cNvPr id="45" name="c2-code-3"/>
          <p:cNvGrpSpPr/>
          <p:nvPr/>
        </p:nvGrpSpPr>
        <p:grpSpPr>
          <a:xfrm>
            <a:off x="6248400" y="4868228"/>
            <a:ext cx="5410200" cy="1384935"/>
            <a:chOff x="6248400" y="4868228"/>
            <a:chExt cx="5410200" cy="1384935"/>
          </a:xfrm>
        </p:grpSpPr>
        <p:sp>
          <p:nvSpPr>
            <p:cNvPr id="42" name="Rectangle 42"/>
            <p:cNvSpPr/>
            <p:nvPr/>
          </p:nvSpPr>
          <p:spPr>
            <a:xfrm>
              <a:off x="6248400" y="4868228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76797" y="5020151"/>
              <a:ext cx="1932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加上大括号后，else 属于外层 if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76797" y="5280184"/>
              <a:ext cx="2679573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&gt; 0)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(y &gt; 0)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99097" cy="909257"/>
            <a:chOff x="520446" y="342900"/>
            <a:chExt cx="76990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990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switch：按表达式的值跳到对应的 case 开始执行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719262"/>
            <a:chOff x="533400" y="1524000"/>
            <a:chExt cx="4977765" cy="1719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74955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(expression)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const1: statements;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const2: statements;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......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 statements;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1-steps-2"/>
          <p:cNvGrpSpPr/>
          <p:nvPr/>
        </p:nvGrpSpPr>
        <p:grpSpPr>
          <a:xfrm>
            <a:off x="533400" y="3443288"/>
            <a:ext cx="4530217" cy="2764440"/>
            <a:chOff x="533400" y="3443288"/>
            <a:chExt cx="4530217" cy="2764440"/>
          </a:xfrm>
        </p:grpSpPr>
        <p:sp>
          <p:nvSpPr>
            <p:cNvPr id="11" name="Rectangle 11"/>
            <p:cNvSpPr/>
            <p:nvPr/>
          </p:nvSpPr>
          <p:spPr>
            <a:xfrm>
              <a:off x="666750" y="3586162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33400" y="344328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5171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09384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1676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74440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8182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63022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7040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47757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771424"/>
              <a:ext cx="1710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expression 的值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1281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421981"/>
              <a:ext cx="3907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与各 case 常量比较，跳到相等的 case 处开始执行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77869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5072539"/>
              <a:ext cx="4117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 break 跳出 switch；没有 break 就继续执行下一个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 的语句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566451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5958364"/>
              <a:ext cx="4114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没有相等的常量时执行 default（default 可以省略）</a:t>
              </a:r>
            </a:p>
          </p:txBody>
        </p:sp>
      </p:grpSp>
      <p:grpSp>
        <p:nvGrpSpPr>
          <p:cNvPr id="68" name="c2-flow-1"/>
          <p:cNvGrpSpPr/>
          <p:nvPr/>
        </p:nvGrpSpPr>
        <p:grpSpPr>
          <a:xfrm>
            <a:off x="5949315" y="1620202"/>
            <a:ext cx="5575935" cy="2203132"/>
            <a:chOff x="5949315" y="1620202"/>
            <a:chExt cx="5575935" cy="2203132"/>
          </a:xfrm>
        </p:grpSpPr>
        <p:sp>
          <p:nvSpPr>
            <p:cNvPr id="29" name="Freeform 29"/>
            <p:cNvSpPr/>
            <p:nvPr/>
          </p:nvSpPr>
          <p:spPr>
            <a:xfrm>
              <a:off x="6399848" y="2221230"/>
              <a:ext cx="2337435" cy="169545"/>
            </a:xfrm>
            <a:custGeom>
              <a:avLst/>
              <a:gdLst/>
              <a:ahLst/>
              <a:cxnLst/>
              <a:rect l="l" t="t" r="r" b="b"/>
              <a:pathLst>
                <a:path w="2337435" h="169545">
                  <a:moveTo>
                    <a:pt x="2337435" y="0"/>
                  </a:moveTo>
                  <a:lnTo>
                    <a:pt x="2337435" y="137160"/>
                  </a:lnTo>
                  <a:lnTo>
                    <a:pt x="0" y="137160"/>
                  </a:lnTo>
                  <a:lnTo>
                    <a:pt x="0" y="1695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347460" y="2390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568565" y="2221230"/>
              <a:ext cx="1168717" cy="169545"/>
            </a:xfrm>
            <a:custGeom>
              <a:avLst/>
              <a:gdLst/>
              <a:ahLst/>
              <a:cxnLst/>
              <a:rect l="l" t="t" r="r" b="b"/>
              <a:pathLst>
                <a:path w="1168717" h="169545">
                  <a:moveTo>
                    <a:pt x="1168717" y="0"/>
                  </a:moveTo>
                  <a:lnTo>
                    <a:pt x="1168717" y="137160"/>
                  </a:lnTo>
                  <a:lnTo>
                    <a:pt x="0" y="137160"/>
                  </a:lnTo>
                  <a:lnTo>
                    <a:pt x="0" y="1695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516178" y="2390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737282" y="2221230"/>
              <a:ext cx="9525" cy="274320"/>
            </a:xfrm>
            <a:custGeom>
              <a:avLst/>
              <a:gdLst/>
              <a:ahLst/>
              <a:cxnLst/>
              <a:rect l="l" t="t" r="r" b="b"/>
              <a:pathLst>
                <a:path w="9525" h="274320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737282" y="2221230"/>
              <a:ext cx="1168718" cy="169545"/>
            </a:xfrm>
            <a:custGeom>
              <a:avLst/>
              <a:gdLst/>
              <a:ahLst/>
              <a:cxnLst/>
              <a:rect l="l" t="t" r="r" b="b"/>
              <a:pathLst>
                <a:path w="1168718" h="169545">
                  <a:moveTo>
                    <a:pt x="0" y="0"/>
                  </a:moveTo>
                  <a:lnTo>
                    <a:pt x="0" y="137160"/>
                  </a:lnTo>
                  <a:lnTo>
                    <a:pt x="1168718" y="137160"/>
                  </a:lnTo>
                  <a:lnTo>
                    <a:pt x="1168718" y="1695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853612" y="2390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737282" y="2221230"/>
              <a:ext cx="2337435" cy="89535"/>
            </a:xfrm>
            <a:custGeom>
              <a:avLst/>
              <a:gdLst/>
              <a:ahLst/>
              <a:cxnLst/>
              <a:rect l="l" t="t" r="r" b="b"/>
              <a:pathLst>
                <a:path w="2337435" h="89535">
                  <a:moveTo>
                    <a:pt x="0" y="0"/>
                  </a:moveTo>
                  <a:lnTo>
                    <a:pt x="0" y="89535"/>
                  </a:lnTo>
                  <a:lnTo>
                    <a:pt x="2337435" y="89535"/>
                  </a:lnTo>
                  <a:lnTo>
                    <a:pt x="2337435" y="74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1022330" y="2295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399848" y="2933700"/>
              <a:ext cx="2337435" cy="155258"/>
            </a:xfrm>
            <a:custGeom>
              <a:avLst/>
              <a:gdLst/>
              <a:ahLst/>
              <a:cxnLst/>
              <a:rect l="l" t="t" r="r" b="b"/>
              <a:pathLst>
                <a:path w="2337435" h="155258">
                  <a:moveTo>
                    <a:pt x="0" y="0"/>
                  </a:moveTo>
                  <a:lnTo>
                    <a:pt x="0" y="129540"/>
                  </a:lnTo>
                  <a:lnTo>
                    <a:pt x="2337435" y="129540"/>
                  </a:lnTo>
                  <a:lnTo>
                    <a:pt x="2337435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684895" y="3088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568565" y="2933700"/>
              <a:ext cx="1168717" cy="155258"/>
            </a:xfrm>
            <a:custGeom>
              <a:avLst/>
              <a:gdLst/>
              <a:ahLst/>
              <a:cxnLst/>
              <a:rect l="l" t="t" r="r" b="b"/>
              <a:pathLst>
                <a:path w="1168717" h="155258">
                  <a:moveTo>
                    <a:pt x="0" y="0"/>
                  </a:moveTo>
                  <a:lnTo>
                    <a:pt x="0" y="129540"/>
                  </a:lnTo>
                  <a:lnTo>
                    <a:pt x="1168717" y="129540"/>
                  </a:lnTo>
                  <a:lnTo>
                    <a:pt x="1168717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684895" y="3088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737282" y="2933700"/>
              <a:ext cx="1168718" cy="155258"/>
            </a:xfrm>
            <a:custGeom>
              <a:avLst/>
              <a:gdLst/>
              <a:ahLst/>
              <a:cxnLst/>
              <a:rect l="l" t="t" r="r" b="b"/>
              <a:pathLst>
                <a:path w="1168718" h="155258">
                  <a:moveTo>
                    <a:pt x="1168718" y="0"/>
                  </a:moveTo>
                  <a:lnTo>
                    <a:pt x="1168718" y="129540"/>
                  </a:lnTo>
                  <a:lnTo>
                    <a:pt x="0" y="129540"/>
                  </a:lnTo>
                  <a:lnTo>
                    <a:pt x="0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684895" y="3088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737282" y="3028950"/>
              <a:ext cx="2337435" cy="82867"/>
            </a:xfrm>
            <a:custGeom>
              <a:avLst/>
              <a:gdLst/>
              <a:ahLst/>
              <a:cxnLst/>
              <a:rect l="l" t="t" r="r" b="b"/>
              <a:pathLst>
                <a:path w="2337435" h="82867">
                  <a:moveTo>
                    <a:pt x="2337435" y="0"/>
                  </a:moveTo>
                  <a:lnTo>
                    <a:pt x="2337435" y="82867"/>
                  </a:lnTo>
                  <a:lnTo>
                    <a:pt x="0" y="82867"/>
                  </a:lnTo>
                  <a:lnTo>
                    <a:pt x="0" y="600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684895" y="3088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285798" y="1620202"/>
              <a:ext cx="902018" cy="601028"/>
            </a:xfrm>
            <a:custGeom>
              <a:avLst/>
              <a:gdLst/>
              <a:ahLst/>
              <a:cxnLst/>
              <a:rect l="l" t="t" r="r" b="b"/>
              <a:pathLst>
                <a:path w="902018" h="601028">
                  <a:moveTo>
                    <a:pt x="451485" y="0"/>
                  </a:moveTo>
                  <a:lnTo>
                    <a:pt x="902018" y="300990"/>
                  </a:lnTo>
                  <a:lnTo>
                    <a:pt x="45148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949315" y="2495550"/>
              <a:ext cx="9020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17080" y="2495550"/>
              <a:ext cx="9020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285798" y="2495550"/>
              <a:ext cx="90201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454515" y="2495550"/>
              <a:ext cx="9020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623232" y="2400300"/>
              <a:ext cx="9020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85798" y="3193732"/>
              <a:ext cx="902018" cy="629602"/>
            </a:xfrm>
            <a:prstGeom prst="roundRect">
              <a:avLst>
                <a:gd name="adj" fmla="val 4992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72335" y="18321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87514" y="2625566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56231" y="2625566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36033" y="262556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93666" y="2625566"/>
              <a:ext cx="62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24400" y="2516029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53438" y="3310414"/>
              <a:ext cx="5676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switch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350442" y="2142172"/>
              <a:ext cx="43529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83008" y="2168842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常量1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935278" y="2142172"/>
              <a:ext cx="43529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66891" y="2168842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常量2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03995" y="2142172"/>
              <a:ext cx="43529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35608" y="2168842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常量n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618345" y="2094548"/>
              <a:ext cx="57531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646234" y="2121218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default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5815965" y="4095750"/>
            <a:ext cx="5842635" cy="2173605"/>
            <a:chOff x="5815965" y="4095750"/>
            <a:chExt cx="5842635" cy="2173605"/>
          </a:xfrm>
        </p:grpSpPr>
        <p:sp>
          <p:nvSpPr>
            <p:cNvPr id="69" name="Rectangle 69"/>
            <p:cNvSpPr/>
            <p:nvPr/>
          </p:nvSpPr>
          <p:spPr>
            <a:xfrm>
              <a:off x="5815965" y="4095750"/>
              <a:ext cx="5842635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25490" y="4229100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63615" y="4305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53823" y="4341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55995" y="4682490"/>
              <a:ext cx="51777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expression“只能是整数类型或字符型，不能是浮点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类型”。准确地说：可以是 char、byte、short、int 及其包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装类；JDK 5 起可以是枚举，JDK 7 起可以是 String；不能是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long、float、double、boolean。JDK 21 起还支持按对象类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型匹配的模式 switch。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02628" cy="909257"/>
            <a:chOff x="520446" y="342900"/>
            <a:chExt cx="84026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026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switch 例题：case 穿透，以及 JDK 14 起的箭头写法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776538"/>
            <a:chOff x="533400" y="1524000"/>
            <a:chExt cx="5410200" cy="27765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34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1：多个 case 共用一段代码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817686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month = 2;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(month)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12: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"冬季"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3: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4: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5: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"春季"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"其他季节"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输出：冬季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480560"/>
            <a:ext cx="5410200" cy="1440180"/>
            <a:chOff x="533400" y="4480560"/>
            <a:chExt cx="5410200" cy="1440180"/>
          </a:xfrm>
        </p:grpSpPr>
        <p:sp>
          <p:nvSpPr>
            <p:cNvPr id="11" name="Rectangle 11"/>
            <p:cNvSpPr/>
            <p:nvPr/>
          </p:nvSpPr>
          <p:spPr>
            <a:xfrm>
              <a:off x="533400" y="4480560"/>
              <a:ext cx="5410200" cy="1440180"/>
            </a:xfrm>
            <a:prstGeom prst="roundRect">
              <a:avLst>
                <a:gd name="adj" fmla="val 793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100638"/>
              <a:ext cx="200026" cy="200025"/>
              <a:chOff x="738188" y="5100638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1006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1450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2562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4839176"/>
              <a:ext cx="449592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month 为 2，从 case 2 处开始执行，打印“冬季”后遇到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break 跳出。case 12 和 case 1 下面没有语句，执行会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“穿透”到同一段代码。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1829752"/>
            <a:chOff x="6248400" y="1524000"/>
            <a:chExt cx="5410200" cy="182975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10778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2：漏写 break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416" y="1937385"/>
              <a:ext cx="3311081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1;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 System.out.println(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"one"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2: System.out.println(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"two"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3: System.out.println(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"three"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输出两行：one  two</a:t>
              </a:r>
            </a:p>
          </p:txBody>
        </p:sp>
      </p:grpSp>
      <p:grpSp>
        <p:nvGrpSpPr>
          <p:cNvPr id="25" name="c2-code-2"/>
          <p:cNvGrpSpPr/>
          <p:nvPr/>
        </p:nvGrpSpPr>
        <p:grpSpPr>
          <a:xfrm>
            <a:off x="6248400" y="3533775"/>
            <a:ext cx="5410200" cy="1450658"/>
            <a:chOff x="6248400" y="3533775"/>
            <a:chExt cx="5410200" cy="1450658"/>
          </a:xfrm>
        </p:grpSpPr>
        <p:sp>
          <p:nvSpPr>
            <p:cNvPr id="22" name="Rectangle 22"/>
            <p:cNvSpPr/>
            <p:nvPr/>
          </p:nvSpPr>
          <p:spPr>
            <a:xfrm>
              <a:off x="6248400" y="3533775"/>
              <a:ext cx="541020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3685699"/>
              <a:ext cx="28663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3：箭头形式的 switch 表达式（JDK 14 起）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416" y="3947160"/>
              <a:ext cx="2357628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season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(month)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12, 1, 2 -&gt;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"冬季"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3, 4, 5  -&gt;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"春季"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-&gt;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"其他季节"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32" name="c2-callout-3"/>
          <p:cNvGrpSpPr/>
          <p:nvPr/>
        </p:nvGrpSpPr>
        <p:grpSpPr>
          <a:xfrm>
            <a:off x="6248400" y="5164455"/>
            <a:ext cx="5410200" cy="756285"/>
            <a:chOff x="6248400" y="5164455"/>
            <a:chExt cx="5410200" cy="756285"/>
          </a:xfrm>
        </p:grpSpPr>
        <p:sp>
          <p:nvSpPr>
            <p:cNvPr id="26" name="Rectangle 26"/>
            <p:cNvSpPr/>
            <p:nvPr/>
          </p:nvSpPr>
          <p:spPr>
            <a:xfrm>
              <a:off x="6248400" y="516445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441129" y="5438893"/>
              <a:ext cx="224134" cy="192560"/>
              <a:chOff x="6441129" y="5438893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553200" y="55092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441129" y="54388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53200" y="5587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755511" y="5312569"/>
              <a:ext cx="445084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箭头形式不会穿透，不用写 break。switch 表达式必须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覆盖所有可能的值，所以这里的 default 不能省略。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6347" cy="909257"/>
            <a:chOff x="520446" y="342900"/>
            <a:chExt cx="61663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63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循环：先判断条件，再执行循环体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544378" cy="907732"/>
            <a:chOff x="533400" y="1524000"/>
            <a:chExt cx="4544378" cy="9077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045462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(boolean_expression)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statement_or_block</a:t>
              </a:r>
            </a:p>
          </p:txBody>
        </p:sp>
      </p:grpSp>
      <p:grpSp>
        <p:nvGrpSpPr>
          <p:cNvPr id="31" name="c1-flow-2"/>
          <p:cNvGrpSpPr/>
          <p:nvPr/>
        </p:nvGrpSpPr>
        <p:grpSpPr>
          <a:xfrm>
            <a:off x="601980" y="2818448"/>
            <a:ext cx="4053840" cy="2194559"/>
            <a:chOff x="601980" y="2818448"/>
            <a:chExt cx="4053840" cy="2194559"/>
          </a:xfrm>
        </p:grpSpPr>
        <p:sp>
          <p:nvSpPr>
            <p:cNvPr id="11" name="Freeform 11"/>
            <p:cNvSpPr/>
            <p:nvPr/>
          </p:nvSpPr>
          <p:spPr>
            <a:xfrm>
              <a:off x="1669732" y="3256598"/>
              <a:ext cx="9525" cy="205740"/>
            </a:xfrm>
            <a:custGeom>
              <a:avLst/>
              <a:gdLst/>
              <a:ahLst/>
              <a:cxnLst/>
              <a:rect l="l" t="t" r="r" b="b"/>
              <a:pathLst>
                <a:path w="9525" h="205740">
                  <a:moveTo>
                    <a:pt x="0" y="0"/>
                  </a:moveTo>
                  <a:lnTo>
                    <a:pt x="0" y="205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7345" y="3462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69732" y="4168140"/>
              <a:ext cx="9525" cy="110490"/>
            </a:xfrm>
            <a:custGeom>
              <a:avLst/>
              <a:gdLst/>
              <a:ahLst/>
              <a:cxnLst/>
              <a:rect l="l" t="t" r="r" b="b"/>
              <a:pathLst>
                <a:path w="9525" h="110490">
                  <a:moveTo>
                    <a:pt x="0" y="0"/>
                  </a:moveTo>
                  <a:lnTo>
                    <a:pt x="0" y="1104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17345" y="42786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01980" y="3868102"/>
              <a:ext cx="258127" cy="829627"/>
            </a:xfrm>
            <a:custGeom>
              <a:avLst/>
              <a:gdLst/>
              <a:ahLst/>
              <a:cxnLst/>
              <a:rect l="l" t="t" r="r" b="b"/>
              <a:pathLst>
                <a:path w="258127" h="829627">
                  <a:moveTo>
                    <a:pt x="258127" y="829627"/>
                  </a:moveTo>
                  <a:lnTo>
                    <a:pt x="48577" y="829627"/>
                  </a:lnTo>
                  <a:lnTo>
                    <a:pt x="0" y="829627"/>
                  </a:lnTo>
                  <a:lnTo>
                    <a:pt x="0" y="82105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15335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55332" y="38157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479358" y="3868102"/>
              <a:ext cx="1462088" cy="505777"/>
            </a:xfrm>
            <a:custGeom>
              <a:avLst/>
              <a:gdLst/>
              <a:ahLst/>
              <a:cxnLst/>
              <a:rect l="l" t="t" r="r" b="b"/>
              <a:pathLst>
                <a:path w="1462088" h="505777">
                  <a:moveTo>
                    <a:pt x="0" y="0"/>
                  </a:moveTo>
                  <a:lnTo>
                    <a:pt x="209550" y="0"/>
                  </a:lnTo>
                  <a:lnTo>
                    <a:pt x="1462088" y="0"/>
                  </a:lnTo>
                  <a:lnTo>
                    <a:pt x="1462088" y="401002"/>
                  </a:lnTo>
                  <a:lnTo>
                    <a:pt x="1462088" y="5057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89058" y="43738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60108" y="2818448"/>
              <a:ext cx="1619250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60108" y="3567112"/>
              <a:ext cx="1619250" cy="601028"/>
            </a:xfrm>
            <a:custGeom>
              <a:avLst/>
              <a:gdLst/>
              <a:ahLst/>
              <a:cxnLst/>
              <a:rect l="l" t="t" r="r" b="b"/>
              <a:pathLst>
                <a:path w="1619250" h="601028">
                  <a:moveTo>
                    <a:pt x="809625" y="0"/>
                  </a:moveTo>
                  <a:lnTo>
                    <a:pt x="1619250" y="300990"/>
                  </a:lnTo>
                  <a:lnTo>
                    <a:pt x="80962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0108" y="4383405"/>
              <a:ext cx="16192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27070" y="4478655"/>
              <a:ext cx="1428750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41617" y="2948464"/>
              <a:ext cx="456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8628" y="37790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4296" y="4499134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循环执行的语句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90341" y="46086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循环之后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698308" y="4183380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21548" y="421005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101340" y="3651885"/>
              <a:ext cx="42862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33630" y="3678555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303520"/>
            <a:ext cx="4544378" cy="1059180"/>
            <a:chOff x="533400" y="5303520"/>
            <a:chExt cx="4544378" cy="1059180"/>
          </a:xfrm>
        </p:grpSpPr>
        <p:sp>
          <p:nvSpPr>
            <p:cNvPr id="32" name="Rectangle 32"/>
            <p:cNvSpPr/>
            <p:nvPr/>
          </p:nvSpPr>
          <p:spPr>
            <a:xfrm>
              <a:off x="533400" y="530352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5729406"/>
              <a:ext cx="224134" cy="192560"/>
              <a:chOff x="726129" y="5729406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57997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57294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8775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452110"/>
              <a:ext cx="3463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条件一开始为 false 时循环体一次也不执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行；循环体中要有让条件变为 false 的操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作，否则是死循环。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5382578" y="1524000"/>
            <a:ext cx="6276022" cy="2733675"/>
            <a:chOff x="5382578" y="1524000"/>
            <a:chExt cx="6276022" cy="2733675"/>
          </a:xfrm>
        </p:grpSpPr>
        <p:sp>
          <p:nvSpPr>
            <p:cNvPr id="39" name="Rectangle 39"/>
            <p:cNvSpPr/>
            <p:nvPr/>
          </p:nvSpPr>
          <p:spPr>
            <a:xfrm>
              <a:off x="5382578" y="1524000"/>
              <a:ext cx="6276022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10974" y="1675924"/>
              <a:ext cx="12728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例：WhileTest.java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10212" y="1937861"/>
              <a:ext cx="4940046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WhileTest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signIn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courseCount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(signIn &amp; (courseCount &lt; 17))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will come to the java course"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courseCount);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courseCount +=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5382578" y="4448175"/>
            <a:ext cx="6276022" cy="1602105"/>
            <a:chOff x="5382578" y="4448175"/>
            <a:chExt cx="6276022" cy="1602105"/>
          </a:xfrm>
        </p:grpSpPr>
        <p:sp>
          <p:nvSpPr>
            <p:cNvPr id="43" name="Rectangle 43"/>
            <p:cNvSpPr/>
            <p:nvPr/>
          </p:nvSpPr>
          <p:spPr>
            <a:xfrm>
              <a:off x="5382578" y="4448175"/>
              <a:ext cx="627602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92102" y="458152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630228" y="46577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21388" y="4693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22608" y="5034915"/>
              <a:ext cx="5511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I will come to the java course1 到 course16，共 16 行。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原课件的输出截图只截到 course8 ~ course16。条件中的 &amp; 两边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都计算，换成 &amp;&amp; 结果相同。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7800" cy="909257"/>
            <a:chOff x="520446" y="342900"/>
            <a:chExt cx="64178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78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do-while 循环：先执行一次，再判断条件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544378" cy="1110615"/>
            <a:chOff x="533400" y="1524000"/>
            <a:chExt cx="4544378" cy="1110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123694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statement_or_block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(boolean_expression);</a:t>
              </a:r>
            </a:p>
          </p:txBody>
        </p:sp>
      </p:grpSp>
      <p:grpSp>
        <p:nvGrpSpPr>
          <p:cNvPr id="27" name="c1-flow-2"/>
          <p:cNvGrpSpPr/>
          <p:nvPr/>
        </p:nvGrpSpPr>
        <p:grpSpPr>
          <a:xfrm>
            <a:off x="555308" y="2944178"/>
            <a:ext cx="4100512" cy="1792604"/>
            <a:chOff x="555308" y="2944178"/>
            <a:chExt cx="4100512" cy="1792604"/>
          </a:xfrm>
        </p:grpSpPr>
        <p:sp>
          <p:nvSpPr>
            <p:cNvPr id="11" name="Freeform 11"/>
            <p:cNvSpPr/>
            <p:nvPr/>
          </p:nvSpPr>
          <p:spPr>
            <a:xfrm>
              <a:off x="1669732" y="3382328"/>
              <a:ext cx="9525" cy="52388"/>
            </a:xfrm>
            <a:custGeom>
              <a:avLst/>
              <a:gdLst/>
              <a:ahLst/>
              <a:cxnLst/>
              <a:rect l="l" t="t" r="r" b="b"/>
              <a:pathLst>
                <a:path w="9525" h="52388">
                  <a:moveTo>
                    <a:pt x="0" y="0"/>
                  </a:moveTo>
                  <a:lnTo>
                    <a:pt x="0" y="52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7345" y="34347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55308" y="3163252"/>
              <a:ext cx="304800" cy="677227"/>
            </a:xfrm>
            <a:custGeom>
              <a:avLst/>
              <a:gdLst/>
              <a:ahLst/>
              <a:cxnLst/>
              <a:rect l="l" t="t" r="r" b="b"/>
              <a:pathLst>
                <a:path w="304800" h="677227">
                  <a:moveTo>
                    <a:pt x="304800" y="677227"/>
                  </a:moveTo>
                  <a:lnTo>
                    <a:pt x="95250" y="677227"/>
                  </a:lnTo>
                  <a:lnTo>
                    <a:pt x="46673" y="677227"/>
                  </a:lnTo>
                  <a:lnTo>
                    <a:pt x="0" y="677227"/>
                  </a:lnTo>
                  <a:lnTo>
                    <a:pt x="0" y="6667"/>
                  </a:lnTo>
                  <a:lnTo>
                    <a:pt x="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60082" y="31108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479358" y="3840480"/>
              <a:ext cx="1462088" cy="353378"/>
            </a:xfrm>
            <a:custGeom>
              <a:avLst/>
              <a:gdLst/>
              <a:ahLst/>
              <a:cxnLst/>
              <a:rect l="l" t="t" r="r" b="b"/>
              <a:pathLst>
                <a:path w="1462088" h="353378">
                  <a:moveTo>
                    <a:pt x="0" y="0"/>
                  </a:moveTo>
                  <a:lnTo>
                    <a:pt x="209550" y="0"/>
                  </a:lnTo>
                  <a:lnTo>
                    <a:pt x="1462088" y="0"/>
                  </a:lnTo>
                  <a:lnTo>
                    <a:pt x="1462088" y="248603"/>
                  </a:lnTo>
                  <a:lnTo>
                    <a:pt x="1462088" y="3533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89058" y="41938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4858" y="2944178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60108" y="3539490"/>
              <a:ext cx="1619250" cy="601980"/>
            </a:xfrm>
            <a:custGeom>
              <a:avLst/>
              <a:gdLst/>
              <a:ahLst/>
              <a:cxnLst/>
              <a:rect l="l" t="t" r="r" b="b"/>
              <a:pathLst>
                <a:path w="1619250" h="601980">
                  <a:moveTo>
                    <a:pt x="809625" y="0"/>
                  </a:moveTo>
                  <a:lnTo>
                    <a:pt x="1619250" y="300990"/>
                  </a:lnTo>
                  <a:lnTo>
                    <a:pt x="809625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227070" y="4298632"/>
              <a:ext cx="1428750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001" y="307419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循环执行的语句块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8628" y="37514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90341" y="44286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循环之后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3882" y="3413760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7124" y="344043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101340" y="3624262"/>
              <a:ext cx="42862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33630" y="365093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5046345"/>
            <a:ext cx="4544378" cy="1316355"/>
            <a:chOff x="533400" y="5046345"/>
            <a:chExt cx="4544378" cy="1316355"/>
          </a:xfrm>
        </p:grpSpPr>
        <p:sp>
          <p:nvSpPr>
            <p:cNvPr id="28" name="Rectangle 28"/>
            <p:cNvSpPr/>
            <p:nvPr/>
          </p:nvSpPr>
          <p:spPr>
            <a:xfrm>
              <a:off x="533400" y="5046345"/>
              <a:ext cx="454437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517969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52558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1258" y="52916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3430" y="5633085"/>
              <a:ext cx="3910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原课件语法写作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while(boolean)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，漏了末尾的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分号。do-while 语句必须以分号结束。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5382578" y="1524000"/>
            <a:ext cx="6276022" cy="2530792"/>
            <a:chOff x="5382578" y="1524000"/>
            <a:chExt cx="6276022" cy="2530792"/>
          </a:xfrm>
        </p:grpSpPr>
        <p:sp>
          <p:nvSpPr>
            <p:cNvPr id="34" name="Rectangle 34"/>
            <p:cNvSpPr/>
            <p:nvPr/>
          </p:nvSpPr>
          <p:spPr>
            <a:xfrm>
              <a:off x="5382578" y="1524000"/>
              <a:ext cx="6276022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10974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例：条件一开始就不成立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10212" y="1937861"/>
              <a:ext cx="3218942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10;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5)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"while: 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i++;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"do-while: 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i++;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5);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输出只有一行：do-while: 10</a:t>
              </a:r>
            </a:p>
          </p:txBody>
        </p:sp>
      </p:grpSp>
      <p:grpSp>
        <p:nvGrpSpPr>
          <p:cNvPr id="58" name="c2-compare-2"/>
          <p:cNvGrpSpPr/>
          <p:nvPr/>
        </p:nvGrpSpPr>
        <p:grpSpPr>
          <a:xfrm>
            <a:off x="5382578" y="4245292"/>
            <a:ext cx="6276022" cy="1703070"/>
            <a:chOff x="5382578" y="4245292"/>
            <a:chExt cx="6276022" cy="1703070"/>
          </a:xfrm>
        </p:grpSpPr>
        <p:sp>
          <p:nvSpPr>
            <p:cNvPr id="38" name="Rectangle 38"/>
            <p:cNvSpPr/>
            <p:nvPr/>
          </p:nvSpPr>
          <p:spPr>
            <a:xfrm>
              <a:off x="5382578" y="4245292"/>
              <a:ext cx="2966085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92102" y="4378642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22608" y="4479608"/>
              <a:ext cx="5347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635942" y="4896802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94058" y="483393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先判断，后执行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35942" y="5232083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94058" y="516921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循环体可能一次也不执行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35942" y="5567362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94058" y="550449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条件后面没有分号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692515" y="4245292"/>
              <a:ext cx="2966085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702040" y="4378642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32545" y="4479608"/>
              <a:ext cx="884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do-while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945880" y="4896802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03995" y="483393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先执行，后判断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945880" y="5232083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03995" y="516921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循环体至少执行一次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945880" y="5567362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03995" y="5504498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(…) 后面有分号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8359140" y="493490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29480" y="503110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循环：初始化、条件、更新写在一行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544378" cy="858202"/>
            <a:chOff x="533400" y="1524000"/>
            <a:chExt cx="4544378" cy="8582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816479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(init_expr; boolean_expr; alter_expr)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statement_or_block</a:t>
              </a:r>
            </a:p>
          </p:txBody>
        </p:sp>
      </p:grpSp>
      <p:grpSp>
        <p:nvGrpSpPr>
          <p:cNvPr id="35" name="c1-flow-2"/>
          <p:cNvGrpSpPr/>
          <p:nvPr/>
        </p:nvGrpSpPr>
        <p:grpSpPr>
          <a:xfrm>
            <a:off x="601980" y="2835592"/>
            <a:ext cx="4053840" cy="3243262"/>
            <a:chOff x="601980" y="2835592"/>
            <a:chExt cx="4053840" cy="3243262"/>
          </a:xfrm>
        </p:grpSpPr>
        <p:sp>
          <p:nvSpPr>
            <p:cNvPr id="11" name="Freeform 11"/>
            <p:cNvSpPr/>
            <p:nvPr/>
          </p:nvSpPr>
          <p:spPr>
            <a:xfrm>
              <a:off x="1669732" y="3221355"/>
              <a:ext cx="9525" cy="366712"/>
            </a:xfrm>
            <a:custGeom>
              <a:avLst/>
              <a:gdLst/>
              <a:ahLst/>
              <a:cxnLst/>
              <a:rect l="l" t="t" r="r" b="b"/>
              <a:pathLst>
                <a:path w="9525" h="366712">
                  <a:moveTo>
                    <a:pt x="0" y="0"/>
                  </a:moveTo>
                  <a:lnTo>
                    <a:pt x="0" y="3667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7345" y="35880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69732" y="4268152"/>
              <a:ext cx="9525" cy="367665"/>
            </a:xfrm>
            <a:custGeom>
              <a:avLst/>
              <a:gdLst/>
              <a:ahLst/>
              <a:cxnLst/>
              <a:rect l="l" t="t" r="r" b="b"/>
              <a:pathLst>
                <a:path w="9525" h="367665">
                  <a:moveTo>
                    <a:pt x="0" y="0"/>
                  </a:moveTo>
                  <a:lnTo>
                    <a:pt x="0" y="3676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17345" y="46358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669732" y="5126355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0"/>
                  </a:moveTo>
                  <a:lnTo>
                    <a:pt x="0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17345" y="55883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01980" y="3961448"/>
              <a:ext cx="258127" cy="1925003"/>
            </a:xfrm>
            <a:custGeom>
              <a:avLst/>
              <a:gdLst/>
              <a:ahLst/>
              <a:cxnLst/>
              <a:rect l="l" t="t" r="r" b="b"/>
              <a:pathLst>
                <a:path w="258127" h="1925003">
                  <a:moveTo>
                    <a:pt x="258127" y="1925003"/>
                  </a:moveTo>
                  <a:lnTo>
                    <a:pt x="48577" y="1925003"/>
                  </a:lnTo>
                  <a:lnTo>
                    <a:pt x="0" y="1925003"/>
                  </a:lnTo>
                  <a:lnTo>
                    <a:pt x="0" y="1905953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48577" y="19050"/>
                  </a:lnTo>
                  <a:lnTo>
                    <a:pt x="153352" y="19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55332" y="39281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479358" y="3980498"/>
              <a:ext cx="1462088" cy="655320"/>
            </a:xfrm>
            <a:custGeom>
              <a:avLst/>
              <a:gdLst/>
              <a:ahLst/>
              <a:cxnLst/>
              <a:rect l="l" t="t" r="r" b="b"/>
              <a:pathLst>
                <a:path w="1462088" h="655320">
                  <a:moveTo>
                    <a:pt x="0" y="0"/>
                  </a:moveTo>
                  <a:lnTo>
                    <a:pt x="209550" y="0"/>
                  </a:lnTo>
                  <a:lnTo>
                    <a:pt x="1462088" y="0"/>
                  </a:lnTo>
                  <a:lnTo>
                    <a:pt x="1462088" y="550545"/>
                  </a:lnTo>
                  <a:lnTo>
                    <a:pt x="1462088" y="6553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889058" y="46358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0108" y="2835592"/>
              <a:ext cx="1619250" cy="385762"/>
            </a:xfrm>
            <a:prstGeom prst="roundRect">
              <a:avLst>
                <a:gd name="adj" fmla="val 4987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60108" y="3692842"/>
              <a:ext cx="1619250" cy="575310"/>
            </a:xfrm>
            <a:custGeom>
              <a:avLst/>
              <a:gdLst/>
              <a:ahLst/>
              <a:cxnLst/>
              <a:rect l="l" t="t" r="r" b="b"/>
              <a:pathLst>
                <a:path w="1619250" h="575310">
                  <a:moveTo>
                    <a:pt x="809625" y="0"/>
                  </a:moveTo>
                  <a:lnTo>
                    <a:pt x="1619250" y="287655"/>
                  </a:lnTo>
                  <a:lnTo>
                    <a:pt x="809625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0108" y="4740592"/>
              <a:ext cx="16192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60108" y="5693092"/>
              <a:ext cx="16192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27070" y="4740592"/>
              <a:ext cx="1428750" cy="385762"/>
            </a:xfrm>
            <a:prstGeom prst="roundRect">
              <a:avLst>
                <a:gd name="adj" fmla="val 4987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62469" y="29494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初始操作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2469" y="39019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11694" y="48553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循环执行语句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0920" y="58078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循环处理（更新）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34181" y="48553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循环之后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698308" y="4425315"/>
              <a:ext cx="34671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22120" y="444817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25152" y="3784282"/>
              <a:ext cx="38100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59443" y="3807142"/>
              <a:ext cx="312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5382578" y="1524000"/>
            <a:ext cx="6276022" cy="1384935"/>
            <a:chOff x="5382578" y="1524000"/>
            <a:chExt cx="6276022" cy="1384935"/>
          </a:xfrm>
        </p:grpSpPr>
        <p:sp>
          <p:nvSpPr>
            <p:cNvPr id="36" name="Rectangle 36"/>
            <p:cNvSpPr/>
            <p:nvPr/>
          </p:nvSpPr>
          <p:spPr>
            <a:xfrm>
              <a:off x="5382578" y="1524000"/>
              <a:ext cx="6276022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510974" y="1675924"/>
              <a:ext cx="13822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例：求 1 + 2 + … + 100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10974" y="1935956"/>
              <a:ext cx="3501009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100; i++)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sum += i;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"sum =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sum);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sum = 5050</a:t>
              </a:r>
            </a:p>
          </p:txBody>
        </p:sp>
      </p:grpSp>
      <p:grpSp>
        <p:nvGrpSpPr>
          <p:cNvPr id="65" name="c2-table-2"/>
          <p:cNvGrpSpPr/>
          <p:nvPr/>
        </p:nvGrpSpPr>
        <p:grpSpPr>
          <a:xfrm>
            <a:off x="5377624" y="3079432"/>
            <a:ext cx="6280976" cy="2263807"/>
            <a:chOff x="5377624" y="3079432"/>
            <a:chExt cx="6280976" cy="2263807"/>
          </a:xfrm>
        </p:grpSpPr>
        <p:sp>
          <p:nvSpPr>
            <p:cNvPr id="40" name="Rectangle 40"/>
            <p:cNvSpPr/>
            <p:nvPr/>
          </p:nvSpPr>
          <p:spPr>
            <a:xfrm>
              <a:off x="5382578" y="3079432"/>
              <a:ext cx="6276022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17336" y="32008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组成部分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50251" y="32008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95941" y="32008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执行次数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79732" y="36009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初始操作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2825" y="3600926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i =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44965" y="360092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次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387477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82578" y="387953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79732" y="40009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2825" y="400097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&lt;= 100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44965" y="4000976"/>
              <a:ext cx="193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 次（最后一次为 false）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42748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79732" y="4401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循环执行语句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62825" y="440102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sum += 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44965" y="440102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次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82578" y="467487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82578" y="467963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79732" y="48010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循环处理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2825" y="480107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i++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44965" y="480107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次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3079432"/>
              <a:ext cx="627602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260908" y="307943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143048" y="307943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77624" y="5152549"/>
              <a:ext cx="44096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初始操作中声明的 i 只在循环内有效；三部分都可省略，for (;;) 是死循环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5382578" y="5474970"/>
            <a:ext cx="6276022" cy="729615"/>
            <a:chOff x="5382578" y="5474970"/>
            <a:chExt cx="6276022" cy="729615"/>
          </a:xfrm>
        </p:grpSpPr>
        <p:sp>
          <p:nvSpPr>
            <p:cNvPr id="66" name="Rectangle 66"/>
            <p:cNvSpPr/>
            <p:nvPr/>
          </p:nvSpPr>
          <p:spPr>
            <a:xfrm>
              <a:off x="5382578" y="547497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5587365" y="5739765"/>
              <a:ext cx="200026" cy="200026"/>
              <a:chOff x="5587365" y="573976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5587365" y="57397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687378" y="58064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5676265" y="58397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5890070" y="5620702"/>
              <a:ext cx="49343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 for 循环编号为“(2)”，与 do-while 重复，应为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“(3)”。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02999" cy="909257"/>
            <a:chOff x="520446" y="342900"/>
            <a:chExt cx="9702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02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不带标号的 break 与 continue：一个结束循环，一个结束本轮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flow-1"/>
          <p:cNvGrpSpPr/>
          <p:nvPr/>
        </p:nvGrpSpPr>
        <p:grpSpPr>
          <a:xfrm>
            <a:off x="614362" y="1598295"/>
            <a:ext cx="4833938" cy="2089785"/>
            <a:chOff x="614362" y="1598295"/>
            <a:chExt cx="4833938" cy="2089785"/>
          </a:xfrm>
        </p:grpSpPr>
        <p:sp>
          <p:nvSpPr>
            <p:cNvPr id="7" name="Freeform 7"/>
            <p:cNvSpPr/>
            <p:nvPr/>
          </p:nvSpPr>
          <p:spPr>
            <a:xfrm>
              <a:off x="1885950" y="1964055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4572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33562" y="1964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85950" y="2612708"/>
              <a:ext cx="9525" cy="44767"/>
            </a:xfrm>
            <a:custGeom>
              <a:avLst/>
              <a:gdLst/>
              <a:ahLst/>
              <a:cxnLst/>
              <a:rect l="l" t="t" r="r" b="b"/>
              <a:pathLst>
                <a:path w="9525" h="44767">
                  <a:moveTo>
                    <a:pt x="0" y="4476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3562" y="26127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85950" y="3128962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33562" y="3171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14362" y="2351722"/>
              <a:ext cx="319088" cy="1130618"/>
            </a:xfrm>
            <a:custGeom>
              <a:avLst/>
              <a:gdLst/>
              <a:ahLst/>
              <a:cxnLst/>
              <a:rect l="l" t="t" r="r" b="b"/>
              <a:pathLst>
                <a:path w="319088" h="1130618">
                  <a:moveTo>
                    <a:pt x="319088" y="1130618"/>
                  </a:moveTo>
                  <a:lnTo>
                    <a:pt x="109538" y="1130618"/>
                  </a:lnTo>
                  <a:lnTo>
                    <a:pt x="0" y="1130618"/>
                  </a:lnTo>
                  <a:lnTo>
                    <a:pt x="0" y="1119187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109538" y="11430"/>
                  </a:lnTo>
                  <a:lnTo>
                    <a:pt x="214312" y="114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28675" y="23107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38450" y="2363152"/>
              <a:ext cx="1752600" cy="808672"/>
            </a:xfrm>
            <a:custGeom>
              <a:avLst/>
              <a:gdLst/>
              <a:ahLst/>
              <a:cxnLst/>
              <a:rect l="l" t="t" r="r" b="b"/>
              <a:pathLst>
                <a:path w="1752600" h="808672">
                  <a:moveTo>
                    <a:pt x="0" y="0"/>
                  </a:moveTo>
                  <a:lnTo>
                    <a:pt x="209550" y="0"/>
                  </a:lnTo>
                  <a:lnTo>
                    <a:pt x="1752600" y="0"/>
                  </a:lnTo>
                  <a:lnTo>
                    <a:pt x="1752600" y="703898"/>
                  </a:lnTo>
                  <a:lnTo>
                    <a:pt x="1752600" y="8086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38662" y="3171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38450" y="2923222"/>
              <a:ext cx="790575" cy="559118"/>
            </a:xfrm>
            <a:custGeom>
              <a:avLst/>
              <a:gdLst/>
              <a:ahLst/>
              <a:cxnLst/>
              <a:rect l="l" t="t" r="r" b="b"/>
              <a:pathLst>
                <a:path w="790575" h="559118">
                  <a:moveTo>
                    <a:pt x="0" y="0"/>
                  </a:moveTo>
                  <a:lnTo>
                    <a:pt x="209550" y="0"/>
                  </a:lnTo>
                  <a:lnTo>
                    <a:pt x="685800" y="0"/>
                  </a:lnTo>
                  <a:lnTo>
                    <a:pt x="685800" y="559118"/>
                  </a:lnTo>
                  <a:lnTo>
                    <a:pt x="790575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629025" y="34299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33450" y="1598295"/>
              <a:ext cx="190500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33450" y="2068830"/>
              <a:ext cx="1905000" cy="588645"/>
            </a:xfrm>
            <a:custGeom>
              <a:avLst/>
              <a:gdLst/>
              <a:ahLst/>
              <a:cxnLst/>
              <a:rect l="l" t="t" r="r" b="b"/>
              <a:pathLst>
                <a:path w="1905000" h="588645">
                  <a:moveTo>
                    <a:pt x="952500" y="0"/>
                  </a:moveTo>
                  <a:lnTo>
                    <a:pt x="1905000" y="294323"/>
                  </a:lnTo>
                  <a:lnTo>
                    <a:pt x="952500" y="588645"/>
                  </a:lnTo>
                  <a:lnTo>
                    <a:pt x="0" y="2943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33450" y="2717482"/>
              <a:ext cx="1905000" cy="411480"/>
            </a:xfrm>
            <a:prstGeom prst="roundRect">
              <a:avLst>
                <a:gd name="adj" fmla="val 23148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33450" y="3276600"/>
              <a:ext cx="190500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733800" y="3276600"/>
              <a:ext cx="1714500" cy="4114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56766" y="17202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初始操作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56766" y="22793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7145" y="2839402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 break; ……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56766" y="33985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循环处理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1866" y="33985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循环之后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914525" y="2602230"/>
              <a:ext cx="3686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38147" y="262651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616642" y="2157412"/>
              <a:ext cx="4067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49662" y="2181701"/>
              <a:ext cx="339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552825" y="3117532"/>
              <a:ext cx="43719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576447" y="3141821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break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33400" y="3942398"/>
            <a:ext cx="5410200" cy="1697355"/>
            <a:chOff x="533400" y="3942398"/>
            <a:chExt cx="5410200" cy="1697355"/>
          </a:xfrm>
        </p:grpSpPr>
        <p:sp>
          <p:nvSpPr>
            <p:cNvPr id="36" name="Rectangle 36"/>
            <p:cNvSpPr/>
            <p:nvPr/>
          </p:nvSpPr>
          <p:spPr>
            <a:xfrm>
              <a:off x="533400" y="3942398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7074" y="4070985"/>
              <a:ext cx="117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break 所在结构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17502" y="4070985"/>
              <a:ext cx="1065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 break 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5889" y="4495800"/>
              <a:ext cx="563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switch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58949" y="449580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跳出 switch，执行其后的语句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863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9107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889" y="4919662"/>
              <a:ext cx="12847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while、do-while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58949" y="491966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立即结束循环，不再判断条件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2111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889" y="534447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58949" y="5344478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立即结束循环，不再执行循环处理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942398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151698" y="394239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flow-1"/>
          <p:cNvGrpSpPr/>
          <p:nvPr/>
        </p:nvGrpSpPr>
        <p:grpSpPr>
          <a:xfrm>
            <a:off x="6329362" y="1598295"/>
            <a:ext cx="4833938" cy="2089785"/>
            <a:chOff x="6329362" y="1598295"/>
            <a:chExt cx="4833938" cy="2089785"/>
          </a:xfrm>
        </p:grpSpPr>
        <p:sp>
          <p:nvSpPr>
            <p:cNvPr id="51" name="Freeform 51"/>
            <p:cNvSpPr/>
            <p:nvPr/>
          </p:nvSpPr>
          <p:spPr>
            <a:xfrm>
              <a:off x="7600950" y="1964055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4572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548562" y="1964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600950" y="2612708"/>
              <a:ext cx="9525" cy="44767"/>
            </a:xfrm>
            <a:custGeom>
              <a:avLst/>
              <a:gdLst/>
              <a:ahLst/>
              <a:cxnLst/>
              <a:rect l="l" t="t" r="r" b="b"/>
              <a:pathLst>
                <a:path w="9525" h="44767">
                  <a:moveTo>
                    <a:pt x="0" y="4476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548562" y="26127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600950" y="3128962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548562" y="3171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329362" y="2351722"/>
              <a:ext cx="319088" cy="1130618"/>
            </a:xfrm>
            <a:custGeom>
              <a:avLst/>
              <a:gdLst/>
              <a:ahLst/>
              <a:cxnLst/>
              <a:rect l="l" t="t" r="r" b="b"/>
              <a:pathLst>
                <a:path w="319088" h="1130618">
                  <a:moveTo>
                    <a:pt x="319088" y="1130618"/>
                  </a:moveTo>
                  <a:lnTo>
                    <a:pt x="109538" y="1130618"/>
                  </a:lnTo>
                  <a:lnTo>
                    <a:pt x="0" y="1130618"/>
                  </a:lnTo>
                  <a:lnTo>
                    <a:pt x="0" y="1119187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109538" y="11430"/>
                  </a:lnTo>
                  <a:lnTo>
                    <a:pt x="214312" y="114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543675" y="23107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553450" y="2363152"/>
              <a:ext cx="1752600" cy="808672"/>
            </a:xfrm>
            <a:custGeom>
              <a:avLst/>
              <a:gdLst/>
              <a:ahLst/>
              <a:cxnLst/>
              <a:rect l="l" t="t" r="r" b="b"/>
              <a:pathLst>
                <a:path w="1752600" h="808672">
                  <a:moveTo>
                    <a:pt x="0" y="0"/>
                  </a:moveTo>
                  <a:lnTo>
                    <a:pt x="209550" y="0"/>
                  </a:lnTo>
                  <a:lnTo>
                    <a:pt x="1752600" y="0"/>
                  </a:lnTo>
                  <a:lnTo>
                    <a:pt x="1752600" y="703898"/>
                  </a:lnTo>
                  <a:lnTo>
                    <a:pt x="1752600" y="8086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253662" y="3171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48450" y="1598295"/>
              <a:ext cx="190500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6648450" y="2068830"/>
              <a:ext cx="1905000" cy="588645"/>
            </a:xfrm>
            <a:custGeom>
              <a:avLst/>
              <a:gdLst/>
              <a:ahLst/>
              <a:cxnLst/>
              <a:rect l="l" t="t" r="r" b="b"/>
              <a:pathLst>
                <a:path w="1905000" h="588645">
                  <a:moveTo>
                    <a:pt x="952500" y="0"/>
                  </a:moveTo>
                  <a:lnTo>
                    <a:pt x="1905000" y="294323"/>
                  </a:lnTo>
                  <a:lnTo>
                    <a:pt x="952500" y="588645"/>
                  </a:lnTo>
                  <a:lnTo>
                    <a:pt x="0" y="2943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48450" y="2717482"/>
              <a:ext cx="1905000" cy="411480"/>
            </a:xfrm>
            <a:prstGeom prst="roundRect">
              <a:avLst>
                <a:gd name="adj" fmla="val 23148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48450" y="3276600"/>
              <a:ext cx="190500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448800" y="3276600"/>
              <a:ext cx="1714500" cy="4114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1766" y="17202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初始操作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71766" y="22793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89064" y="2839402"/>
              <a:ext cx="122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 continue; ……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71766" y="33985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循环处理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76866" y="33985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循环之后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629525" y="2602230"/>
              <a:ext cx="3686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653147" y="262651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629525" y="3117532"/>
              <a:ext cx="61150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53147" y="3141821"/>
              <a:ext cx="5574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continue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331642" y="2157412"/>
              <a:ext cx="4067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364662" y="2181701"/>
              <a:ext cx="339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</p:grpSp>
      <p:grpSp>
        <p:nvGrpSpPr>
          <p:cNvPr id="89" name="c2-table-2"/>
          <p:cNvGrpSpPr/>
          <p:nvPr/>
        </p:nvGrpSpPr>
        <p:grpSpPr>
          <a:xfrm>
            <a:off x="6248400" y="3942398"/>
            <a:ext cx="5410200" cy="1273492"/>
            <a:chOff x="6248400" y="3942398"/>
            <a:chExt cx="5410200" cy="1273492"/>
          </a:xfrm>
        </p:grpSpPr>
        <p:sp>
          <p:nvSpPr>
            <p:cNvPr id="78" name="Rectangle 78"/>
            <p:cNvSpPr/>
            <p:nvPr/>
          </p:nvSpPr>
          <p:spPr>
            <a:xfrm>
              <a:off x="6248400" y="3942398"/>
              <a:ext cx="5410200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461924" y="4070985"/>
              <a:ext cx="1413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continue 所在循环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60809" y="4070985"/>
              <a:ext cx="1625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 continue 后跳到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350889" y="4495800"/>
              <a:ext cx="12847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while、do-while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190166" y="44958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循环条件的判断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248400" y="47863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248400" y="479107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50889" y="491966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190166" y="4919662"/>
              <a:ext cx="2871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先执行循环处理（如 i++），再判断条件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3942398"/>
              <a:ext cx="5410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082915" y="394239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90" name="Rectangle 9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511" y="6011704"/>
              <a:ext cx="10088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break、continue 只作用于所在的最内层循环。while 中若把 i++ 写在 continue 之后，它会被跳过，可能造成死循环。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76024" cy="909257"/>
            <a:chOff x="520446" y="342900"/>
            <a:chExt cx="93760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760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2.5 break 与 continue：计划循环十次，只执行到第三次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2791778"/>
            <a:chOff x="533400" y="1524000"/>
            <a:chExt cx="6276022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858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SimpleApp5.java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7844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954655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229100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SimpleApp5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output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10; i++) {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计划进行十次循环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output +=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"\n第"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"次循环开始。"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2)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continue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第二次：跳过循环体剩余部分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3)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第三次：结束整个循环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output +=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"\n第"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"次循环结束！"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 +=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"\n结束整个程序的输出工作。"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System.out.println(output);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486275"/>
            <a:ext cx="6276022" cy="1668780"/>
            <a:chOff x="533400" y="4486275"/>
            <a:chExt cx="6276022" cy="1668780"/>
          </a:xfrm>
        </p:grpSpPr>
        <p:sp>
          <p:nvSpPr>
            <p:cNvPr id="13" name="Rectangle 13"/>
            <p:cNvSpPr/>
            <p:nvPr/>
          </p:nvSpPr>
          <p:spPr>
            <a:xfrm>
              <a:off x="533400" y="4486275"/>
              <a:ext cx="6276022" cy="1668780"/>
            </a:xfrm>
            <a:prstGeom prst="roundRect">
              <a:avLst>
                <a:gd name="adj" fmla="val 79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619625"/>
              <a:ext cx="47625" cy="14020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46729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47058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5016818"/>
              <a:ext cx="55344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JOptionPane.showMessageDialog 弹窗显示结果并调用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System.exit(0)，这里改为控制台输出，内容相同。原课件中本例和“引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用类型赋值”都编号为例 2.2，本讲义把例题顺序编号。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7114222" y="1524000"/>
            <a:ext cx="4544378" cy="2000250"/>
            <a:chOff x="7114222" y="1524000"/>
            <a:chExt cx="4544378" cy="2000250"/>
          </a:xfrm>
        </p:grpSpPr>
        <p:sp>
          <p:nvSpPr>
            <p:cNvPr id="19" name="Rectangle 19"/>
            <p:cNvSpPr/>
            <p:nvPr/>
          </p:nvSpPr>
          <p:spPr>
            <a:xfrm>
              <a:off x="7114222" y="1524000"/>
              <a:ext cx="4544378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47663" y="164544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7004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执行情况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7885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本轮追加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27874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8135" y="2045494"/>
              <a:ext cx="1134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if 都不成立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10800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开始、结束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14222" y="23193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14222" y="2324100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2787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8135" y="2445544"/>
              <a:ext cx="173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continue 跳过后面的语句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10800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只有开始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14222" y="271938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27874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38135" y="2845594"/>
              <a:ext cx="1375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break 结束整个循环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10800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只有开始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14222" y="31194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14222" y="3124200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97266" y="32456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4~10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3813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不再执行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10800" y="32456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14222" y="1524000"/>
              <a:ext cx="454437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83621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10888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ode-2"/>
          <p:cNvGrpSpPr/>
          <p:nvPr/>
        </p:nvGrpSpPr>
        <p:grpSpPr>
          <a:xfrm>
            <a:off x="7114222" y="3693795"/>
            <a:ext cx="4544378" cy="1561148"/>
            <a:chOff x="7114222" y="3693795"/>
            <a:chExt cx="4544378" cy="1561148"/>
          </a:xfrm>
        </p:grpSpPr>
        <p:sp>
          <p:nvSpPr>
            <p:cNvPr id="44" name="Rectangle 44"/>
            <p:cNvSpPr/>
            <p:nvPr/>
          </p:nvSpPr>
          <p:spPr>
            <a:xfrm>
              <a:off x="7114222" y="3693795"/>
              <a:ext cx="4544378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42620" y="3845719"/>
              <a:ext cx="1620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输出结果（第 1 行是空行）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2620" y="4106704"/>
              <a:ext cx="1503426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第1次循环开始。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第1次循环结束！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第2次循环开始。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第3次循环开始。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结束整个程序的输出工作。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7114222" y="5425440"/>
            <a:ext cx="4544378" cy="729615"/>
            <a:chOff x="7114222" y="5425440"/>
            <a:chExt cx="4544378" cy="729615"/>
          </a:xfrm>
        </p:grpSpPr>
        <p:sp>
          <p:nvSpPr>
            <p:cNvPr id="48" name="Rectangle 48"/>
            <p:cNvSpPr/>
            <p:nvPr/>
          </p:nvSpPr>
          <p:spPr>
            <a:xfrm>
              <a:off x="7114222" y="5425440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19010" y="5690235"/>
              <a:ext cx="200026" cy="200025"/>
              <a:chOff x="7319010" y="5690235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19010" y="56902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58749" y="57346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393464" y="58458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621714" y="5571173"/>
              <a:ext cx="34255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第一行是空行，因为 output 中每段文字都以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\n 开头。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6594" cy="909257"/>
            <a:chOff x="520446" y="342900"/>
            <a:chExt cx="7986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6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带标号的 break 与 continue：一次跳出或跳过多层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305050"/>
            <a:chOff x="533400" y="1524000"/>
            <a:chExt cx="5410200" cy="23050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05050"/>
            </a:xfrm>
            <a:prstGeom prst="roundRect">
              <a:avLst>
                <a:gd name="adj" fmla="val 57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83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93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标号是写在语句前面的标识符加冒号，如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outer: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355532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break label;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：跳出 label 标定的整个语句块，接着执行它后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面的语句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12745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continue label;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：结束 label 标定的循环本轮的剩余部分，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开始它的下一轮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475" y="3466624"/>
              <a:ext cx="4911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continue 的标号必须标在循环上；break 的标号可以标在任何语句块上。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3998595"/>
            <a:ext cx="5410200" cy="1912620"/>
            <a:chOff x="533400" y="3998595"/>
            <a:chExt cx="5410200" cy="1912620"/>
          </a:xfrm>
        </p:grpSpPr>
        <p:sp>
          <p:nvSpPr>
            <p:cNvPr id="18" name="Rectangle 18"/>
            <p:cNvSpPr/>
            <p:nvPr/>
          </p:nvSpPr>
          <p:spPr>
            <a:xfrm>
              <a:off x="533400" y="3998595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4150519"/>
              <a:ext cx="24858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2：continue outer 跳到外层的下一轮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2450" y="490156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1797" y="4411504"/>
              <a:ext cx="2953385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outer: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3; i++)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3; j++)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== 2)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continue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System.out.print(i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j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输出：11 21 31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2264092"/>
            <a:chOff x="6248400" y="1524000"/>
            <a:chExt cx="5410200" cy="226409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797" y="1675924"/>
              <a:ext cx="2070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1：找出第一对乘积为 12 的 i、j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67450" y="2778442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1935956"/>
              <a:ext cx="3843274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outer: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9; i++)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9; j++)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* j == 12)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System.out.println(i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×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j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= 12"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两层循环一起结束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输出：2 × 6 = 12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958590"/>
            <a:ext cx="5410200" cy="1954530"/>
            <a:chOff x="6248400" y="3958590"/>
            <a:chExt cx="5410200" cy="1954530"/>
          </a:xfrm>
        </p:grpSpPr>
        <p:sp>
          <p:nvSpPr>
            <p:cNvPr id="28" name="Rectangle 28"/>
            <p:cNvSpPr/>
            <p:nvPr/>
          </p:nvSpPr>
          <p:spPr>
            <a:xfrm>
              <a:off x="6248400" y="3958590"/>
              <a:ext cx="5410200" cy="1954530"/>
            </a:xfrm>
            <a:prstGeom prst="roundRect">
              <a:avLst>
                <a:gd name="adj" fmla="val 6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4091940"/>
              <a:ext cx="47625" cy="16878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3190" y="414528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7759" y="41781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执行过程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81762" y="45453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37782" y="4489132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1：i = 2、j = 6 时输出，break outer 让两层循环一起结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1762" y="51025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37782" y="5046345"/>
              <a:ext cx="429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2：j = 2 时 continue outer，直接进入 i 的下一轮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7475" y="5343049"/>
              <a:ext cx="44635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去掉标号后，例 1 输出 2 × 6、3 × 4、4 × 3、6 × 2 四行，例 2 输出 11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 21 23 31 33。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4784" cy="909257"/>
            <a:chOff x="520446" y="342900"/>
            <a:chExt cx="7244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4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2.6（上）break L01：跳出带标号的语句块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2966085"/>
            <a:chOff x="533400" y="1524000"/>
            <a:chExt cx="6059805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544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SimpleApp6.java 前半部分（main 方法内）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33712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1937385"/>
              <a:ext cx="4304538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output 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L01: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10; i++) {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计划十次外部循环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 +=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"\n第"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"次外部循环开始 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8; j++) {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计划八次内部循环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4 &amp;&amp; j == 6)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L01;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output +=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"## 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     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结束内部循环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 +=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"次外部循环结束"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         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结束外部循环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             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结束 L01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output +=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"\n结束break语句的输出工作。"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4670108"/>
            <a:ext cx="6059805" cy="1450658"/>
            <a:chOff x="533400" y="4670108"/>
            <a:chExt cx="6059805" cy="1450658"/>
          </a:xfrm>
        </p:grpSpPr>
        <p:sp>
          <p:nvSpPr>
            <p:cNvPr id="12" name="Rectangle 12"/>
            <p:cNvSpPr/>
            <p:nvPr/>
          </p:nvSpPr>
          <p:spPr>
            <a:xfrm>
              <a:off x="533400" y="4670108"/>
              <a:ext cx="6059805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82203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这一部分的输出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416" y="5083492"/>
              <a:ext cx="4124516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第1次外部循环开始 ## ## ## ## ## ## ## ## 第1次外部循环结束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第2次外部循环开始 ## ## ## ## ## ## ## ## 第2次外部循环结束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第3次外部循环开始 ## ## ## ## ## ## ## ## 第3次外部循环结束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第4次外部循环开始 ## ## ## ## ##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结束break语句的输出工作。</a:t>
              </a:r>
            </a:p>
          </p:txBody>
        </p:sp>
      </p:grpSp>
      <p:grpSp>
        <p:nvGrpSpPr>
          <p:cNvPr id="29" name="c2-steps-1"/>
          <p:cNvGrpSpPr/>
          <p:nvPr/>
        </p:nvGrpSpPr>
        <p:grpSpPr>
          <a:xfrm>
            <a:off x="6898005" y="1533525"/>
            <a:ext cx="4425696" cy="2223516"/>
            <a:chOff x="6898005" y="1533525"/>
            <a:chExt cx="4425696" cy="2223516"/>
          </a:xfrm>
        </p:grpSpPr>
        <p:sp>
          <p:nvSpPr>
            <p:cNvPr id="16" name="Rectangle 16"/>
            <p:cNvSpPr/>
            <p:nvPr/>
          </p:nvSpPr>
          <p:spPr>
            <a:xfrm>
              <a:off x="7031355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98005" y="23717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9162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98005" y="298799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1629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09866" y="1566386"/>
              <a:ext cx="10190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1、2、3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1009" y="1846898"/>
              <a:ext cx="40126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 8 次都不满足条件：每行 8 个 ##，再追加“外部循环结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866" y="2404586"/>
              <a:ext cx="1229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4，j = 1~5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1009" y="2685098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追加 5 个 ##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9866" y="3020854"/>
              <a:ext cx="10085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4，j = 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1009" y="3301365"/>
              <a:ext cx="3966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break L01：内外两层循环连同 L01 块一起结束，不会出现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“第4次外部循环结束”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898005" y="3928110"/>
            <a:ext cx="4760595" cy="2192655"/>
            <a:chOff x="6898005" y="3928110"/>
            <a:chExt cx="4760595" cy="2192655"/>
          </a:xfrm>
        </p:grpSpPr>
        <p:sp>
          <p:nvSpPr>
            <p:cNvPr id="30" name="Rectangle 30"/>
            <p:cNvSpPr/>
            <p:nvPr/>
          </p:nvSpPr>
          <p:spPr>
            <a:xfrm>
              <a:off x="6898005" y="3928110"/>
              <a:ext cx="4760595" cy="2192655"/>
            </a:xfrm>
            <a:prstGeom prst="roundRect">
              <a:avLst>
                <a:gd name="adj" fmla="val 60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4061460"/>
              <a:ext cx="47625" cy="19259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34225" y="41262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25665" y="41605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26986" y="4487704"/>
              <a:ext cx="407212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原课件外层循环的第一句写的是 </a:t>
              </a:r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output = "\n第";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（赋值而不是 +=），每轮外层循环开始都会清空前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面的内容，所以弹窗里只剩第 4 次。本讲义改为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+=，能看到完整过程。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77096" cy="909257"/>
            <a:chOff x="520446" y="342900"/>
            <a:chExt cx="87770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770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2.6（下）continue L02：直接进入外层循环的下一轮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2776538"/>
            <a:chOff x="533400" y="1524000"/>
            <a:chExt cx="6059805" cy="27765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150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SimpleApp6.java 后半部分（接上页）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844165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1937385"/>
              <a:ext cx="4304538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L02: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5; i++) {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计划五次外部循环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output +=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"\n第"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"次外部循环开始 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6; j++) {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计划六次内部循环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2 || i + j == 7)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continue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L02;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 +=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"$$ 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         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结束内部循环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output +=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"次外部循环结束"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             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结束外部循环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output +=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"\n结束continue语句的输出工作。"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System.out.println(output);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4480560"/>
            <a:ext cx="6059805" cy="1640205"/>
            <a:chOff x="533400" y="4480560"/>
            <a:chExt cx="6059805" cy="1640205"/>
          </a:xfrm>
        </p:grpSpPr>
        <p:sp>
          <p:nvSpPr>
            <p:cNvPr id="12" name="Rectangle 12"/>
            <p:cNvSpPr/>
            <p:nvPr/>
          </p:nvSpPr>
          <p:spPr>
            <a:xfrm>
              <a:off x="533400" y="4480560"/>
              <a:ext cx="6059805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63248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这一部分的输出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416" y="4893945"/>
              <a:ext cx="2250948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第1次外部循环开始 $$ $$ $$ $$ $$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第2次外部循环开始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第3次外部循环开始 $$ $$ $$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第4次外部循环开始 $$ $$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第5次外部循环开始 $$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结束continue语句的输出工作。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898005" y="1524000"/>
            <a:ext cx="4760595" cy="2546985"/>
            <a:chOff x="6898005" y="1524000"/>
            <a:chExt cx="4760595" cy="2546985"/>
          </a:xfrm>
        </p:grpSpPr>
        <p:sp>
          <p:nvSpPr>
            <p:cNvPr id="16" name="Rectangle 16"/>
            <p:cNvSpPr/>
            <p:nvPr/>
          </p:nvSpPr>
          <p:spPr>
            <a:xfrm>
              <a:off x="6898005" y="1524000"/>
              <a:ext cx="476059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98888" y="1652588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1836" y="1652588"/>
              <a:ext cx="1640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触发 continue L02 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75613" y="1652588"/>
              <a:ext cx="946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$$ 个数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768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66292" y="2076450"/>
              <a:ext cx="1296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6（1 + 6 = 7）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9845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98005" y="23679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98005" y="2372678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77686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66292" y="2501265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1（i == 2）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9845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98005" y="279273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77686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66292" y="2926080"/>
              <a:ext cx="1296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4（3 + 4 = 7）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9845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98005" y="32165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98005" y="322135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77686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66292" y="3349942"/>
              <a:ext cx="1296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3（4 + 3 = 7）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9845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98005" y="364140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7686" y="3774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66292" y="3774757"/>
              <a:ext cx="1296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2（5 + 2 = 7）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98454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1524000"/>
              <a:ext cx="4760595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5904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03554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llout-2"/>
          <p:cNvGrpSpPr/>
          <p:nvPr/>
        </p:nvGrpSpPr>
        <p:grpSpPr>
          <a:xfrm>
            <a:off x="6898005" y="4251008"/>
            <a:ext cx="4760595" cy="1018222"/>
            <a:chOff x="6898005" y="4251008"/>
            <a:chExt cx="4760595" cy="1018222"/>
          </a:xfrm>
        </p:grpSpPr>
        <p:sp>
          <p:nvSpPr>
            <p:cNvPr id="45" name="Rectangle 45"/>
            <p:cNvSpPr/>
            <p:nvPr/>
          </p:nvSpPr>
          <p:spPr>
            <a:xfrm>
              <a:off x="6898005" y="4251008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102793" y="4660585"/>
              <a:ext cx="200023" cy="200023"/>
              <a:chOff x="7102793" y="4660585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102793" y="46605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36143" y="47272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405116" y="4398169"/>
              <a:ext cx="36212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每一轮外层循环都在内层被 continue L02 打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断，所以“第 i 次外部循环结束”一次也没有输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出。</a:t>
              </a:r>
            </a:p>
          </p:txBody>
        </p:sp>
      </p:grpSp>
      <p:grpSp>
        <p:nvGrpSpPr>
          <p:cNvPr id="52" name="c2-text-3"/>
          <p:cNvGrpSpPr/>
          <p:nvPr/>
        </p:nvGrpSpPr>
        <p:grpSpPr>
          <a:xfrm>
            <a:off x="6891909" y="5469255"/>
            <a:ext cx="4416552" cy="470916"/>
            <a:chOff x="6891909" y="5469255"/>
            <a:chExt cx="4416552" cy="470916"/>
          </a:xfrm>
        </p:grpSpPr>
        <p:sp>
          <p:nvSpPr>
            <p:cNvPr id="51" name="TextBox 51"/>
            <p:cNvSpPr txBox="1"/>
            <p:nvPr/>
          </p:nvSpPr>
          <p:spPr>
            <a:xfrm>
              <a:off x="6891909" y="5469255"/>
              <a:ext cx="441655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前后两部分共用同一个 output 字符串，最后一起输出。原课件用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JOptionPane 弹窗显示，这里改为控制台输出。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21311" cy="909257"/>
            <a:chOff x="520446" y="342900"/>
            <a:chExt cx="60213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21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return：结束方法，并把值交回调用处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568768"/>
            <a:chOff x="533400" y="1524000"/>
            <a:chExt cx="4977765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19062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04" y="1756410"/>
              <a:ext cx="10506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return 表达式;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29774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return variable_or_expression;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400776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用在方法体中，返回一个与方法返回类型一致的值给方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法的调用者，同时结束方法。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272790"/>
            <a:ext cx="4977765" cy="1250632"/>
            <a:chOff x="533400" y="3272790"/>
            <a:chExt cx="4977765" cy="1250632"/>
          </a:xfrm>
        </p:grpSpPr>
        <p:sp>
          <p:nvSpPr>
            <p:cNvPr id="14" name="Rectangle 14"/>
            <p:cNvSpPr/>
            <p:nvPr/>
          </p:nvSpPr>
          <p:spPr>
            <a:xfrm>
              <a:off x="533400" y="3272790"/>
              <a:ext cx="497776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0614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3470910"/>
              <a:ext cx="748665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2913" y="35052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return;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3831431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不返回任何数值，只把控制交回调用方法的语句。用在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返回类型为 void 的方法中，可以提前结束方法。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704398"/>
            <a:ext cx="4977765" cy="1330642"/>
            <a:chOff x="533400" y="4704398"/>
            <a:chExt cx="4977765" cy="1330642"/>
          </a:xfrm>
        </p:grpSpPr>
        <p:sp>
          <p:nvSpPr>
            <p:cNvPr id="20" name="Rectangle 20"/>
            <p:cNvSpPr/>
            <p:nvPr/>
          </p:nvSpPr>
          <p:spPr>
            <a:xfrm>
              <a:off x="533400" y="4704398"/>
              <a:ext cx="4977765" cy="1330642"/>
            </a:xfrm>
            <a:prstGeom prst="roundRect">
              <a:avLst>
                <a:gd name="adj" fmla="val 859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265538"/>
              <a:ext cx="224134" cy="192560"/>
              <a:chOff x="726129" y="5265538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3359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2655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4136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4876324"/>
              <a:ext cx="3963924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有返回值的方法，每条执行路径都要以 return 值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结束，否则编译报 missing return statement；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紧跟在 return 之后的语句执行不到，也会编译报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5815965" y="1524000"/>
            <a:ext cx="5842635" cy="2207895"/>
            <a:chOff x="5815965" y="1524000"/>
            <a:chExt cx="5842635" cy="2207895"/>
          </a:xfrm>
        </p:grpSpPr>
        <p:sp>
          <p:nvSpPr>
            <p:cNvPr id="27" name="Rectangle 27"/>
            <p:cNvSpPr/>
            <p:nvPr/>
          </p:nvSpPr>
          <p:spPr>
            <a:xfrm>
              <a:off x="5815965" y="1524000"/>
              <a:ext cx="5842635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44362" y="1675924"/>
              <a:ext cx="1036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例：两种 return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43981" y="1937385"/>
              <a:ext cx="3557778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&gt; b)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 a，方法结束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printPositive(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&lt;= 0)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提前结束，不返回值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5815965" y="3912870"/>
            <a:ext cx="5842635" cy="2122170"/>
            <a:chOff x="5815965" y="3912870"/>
            <a:chExt cx="5842635" cy="2122170"/>
          </a:xfrm>
        </p:grpSpPr>
        <p:sp>
          <p:nvSpPr>
            <p:cNvPr id="31" name="Rectangle 31"/>
            <p:cNvSpPr/>
            <p:nvPr/>
          </p:nvSpPr>
          <p:spPr>
            <a:xfrm>
              <a:off x="5815965" y="3912870"/>
              <a:ext cx="584263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33248" y="40405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54565" y="40405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18454" y="446532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max(3, 8)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89252" y="446532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表达式的值为 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47567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476154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8454" y="4890135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max(9, 2)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89252" y="48901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表达式的值为 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51806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18454" y="5313998"/>
              <a:ext cx="1383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printPositive(5)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89252" y="5313998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5605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561022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8454" y="5738812"/>
              <a:ext cx="1477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printPositive(-1)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89252" y="57388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什么也不输出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3912870"/>
              <a:ext cx="584263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82000" y="391287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 · 2.4 控制结构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自测：先自己写出答案再看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11692"/>
            <a:chOff x="533400" y="1524000"/>
            <a:chExt cx="3505200" cy="2111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28881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哪些是合法标识符：$price、2nd、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_count、my-var、年龄、class？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672239"/>
              <a:ext cx="285483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$price、_count、年龄合法；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2nd 以数字开头，my-var 含减号，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是关键字。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15715"/>
            <a:ext cx="3505200" cy="2383155"/>
            <a:chOff x="533400" y="3815715"/>
            <a:chExt cx="3505200" cy="2383155"/>
          </a:xfrm>
        </p:grpSpPr>
        <p:sp>
          <p:nvSpPr>
            <p:cNvPr id="13" name="Rectangle 13"/>
            <p:cNvSpPr/>
            <p:nvPr/>
          </p:nvSpPr>
          <p:spPr>
            <a:xfrm>
              <a:off x="533400" y="3815715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374356"/>
              <a:ext cx="28377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-17 / 5、-17 % 5、-17 &gt;&gt; 2 分别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963954"/>
              <a:ext cx="298107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-3、-2、-5。整除向 0 取整，余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数与被除数同号，&gt;&gt; 2 相当于除以 4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后向下取整。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568768"/>
            <a:chOff x="4343400" y="1524000"/>
            <a:chExt cx="3505200" cy="156876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4281" y="2082641"/>
              <a:ext cx="31399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f = 1.5; 能编译吗？怎样改？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4281" y="2400776"/>
              <a:ext cx="25933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不能，1.5 是 double。写成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1.5f，或把 f 声明为 double。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272790"/>
            <a:ext cx="3505200" cy="2926080"/>
            <a:chOff x="4343400" y="3272790"/>
            <a:chExt cx="3505200" cy="2926080"/>
          </a:xfrm>
        </p:grpSpPr>
        <p:sp>
          <p:nvSpPr>
            <p:cNvPr id="25" name="Rectangle 25"/>
            <p:cNvSpPr/>
            <p:nvPr/>
          </p:nvSpPr>
          <p:spPr>
            <a:xfrm>
              <a:off x="4343400" y="3272790"/>
              <a:ext cx="3505200" cy="2926080"/>
            </a:xfrm>
            <a:prstGeom prst="roundRect">
              <a:avLst>
                <a:gd name="adj" fmla="val 45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1520" y="34709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0468" y="35052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4281" y="3831431"/>
              <a:ext cx="29909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变量 x、y 的值都是 1000，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怎样判断它们相等？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4281" y="4421029"/>
              <a:ext cx="29359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x.equals(y)。x == y 比较是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否同一个对象，默认配置下为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840230"/>
            <a:chOff x="8153400" y="1524000"/>
            <a:chExt cx="3505200" cy="184023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4281" y="2082641"/>
              <a:ext cx="29698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i = 5; int a = i++ + ++i; 执行后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a、i 各是多少？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4281" y="2672239"/>
              <a:ext cx="28458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i++ 的值为 5，i 变 6；++i 的值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7，i 变 7。所以 a = 12，i = 7。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544252"/>
            <a:ext cx="3505200" cy="2654618"/>
            <a:chOff x="8153400" y="3544252"/>
            <a:chExt cx="3505200" cy="2654618"/>
          </a:xfrm>
        </p:grpSpPr>
        <p:sp>
          <p:nvSpPr>
            <p:cNvPr id="37" name="Rectangle 37"/>
            <p:cNvSpPr/>
            <p:nvPr/>
          </p:nvSpPr>
          <p:spPr>
            <a:xfrm>
              <a:off x="8153400" y="3544252"/>
              <a:ext cx="3505200" cy="2654618"/>
            </a:xfrm>
            <a:prstGeom prst="roundRect">
              <a:avLst>
                <a:gd name="adj" fmla="val 502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1520" y="374237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0468" y="377666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4281" y="4102894"/>
              <a:ext cx="279937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(int i = 1; i &lt;= 5; i++) { if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 % 2 == 0) continue; if (i ==</a:t>
              </a:r>
            </a:p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5) break;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System.out.print(i); } 输出什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4281" y="550687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13。i 为 2、4 时跳过打印，i 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时结束循环。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544574" cy="909257"/>
            <a:chOff x="520446" y="342900"/>
            <a:chExt cx="15445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第2章 程序设计基础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708458" cy="4048125"/>
            <a:chOff x="533400" y="1524000"/>
            <a:chExt cx="6708458" cy="40481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8954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465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17598" y="2108359"/>
              <a:ext cx="47922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字母、_、$ 开头，区分大小写，不能用关键字；类名首字母大写，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常量全大写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数据类型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17598" y="2783681"/>
              <a:ext cx="45158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 8、short 16、int 32、long 64、float 32、double 64、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 16 位，boolean；整数默认 int，小数默认 double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194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4590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常量与变量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17598" y="3459004"/>
              <a:ext cx="4932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常量赋值后不能改；成员变量有默认值，局部变量须先赋值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6809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72852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0209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17598" y="3907631"/>
              <a:ext cx="46784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整除向 0 取整；i++ 先取值后加；== 比地址、equals() 比内容；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&amp;&amp; || 短路；范围小转大自动，大转小要强制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4341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5839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表达式与语句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17598" y="458390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分号结束语句；语句块限定作用域，内层不能与外层局部变量重名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9204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896802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51458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控制结构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17598" y="5032534"/>
              <a:ext cx="45321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if-else、switch；while、do-while（至少执行一次）、for；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break、continue 及带标号形式；return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6708458" cy="40481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05012" y="1524000"/>
              <a:ext cx="9525" cy="4048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1"/>
          <p:cNvGrpSpPr/>
          <p:nvPr/>
        </p:nvGrpSpPr>
        <p:grpSpPr>
          <a:xfrm>
            <a:off x="7546658" y="1524000"/>
            <a:ext cx="4111942" cy="4048125"/>
            <a:chOff x="7546658" y="1524000"/>
            <a:chExt cx="4111942" cy="4048125"/>
          </a:xfrm>
        </p:grpSpPr>
        <p:sp>
          <p:nvSpPr>
            <p:cNvPr id="33" name="Rectangle 33"/>
            <p:cNvSpPr/>
            <p:nvPr/>
          </p:nvSpPr>
          <p:spPr>
            <a:xfrm>
              <a:off x="7546658" y="1524000"/>
              <a:ext cx="4111942" cy="4048125"/>
            </a:xfrm>
            <a:prstGeom prst="roundRect">
              <a:avLst>
                <a:gd name="adj" fmla="val 32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56182" y="1657350"/>
              <a:ext cx="47625" cy="37814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794308" y="1733550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42161" y="176926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本讲义对原课件的主要更正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00022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58138" y="2110740"/>
              <a:ext cx="3120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标识符长度不限；Unicode 已超出 16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00022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58138" y="2731770"/>
              <a:ext cx="3272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保留关键字 51 个，true、false、null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是字面量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800022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58138" y="3352800"/>
              <a:ext cx="304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float PI = 3.14159; 要加 f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00022" y="375094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8138" y="3688080"/>
              <a:ext cx="3282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parseInt 不识别 0x 前缀；包装类构造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方法已弃用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800022" y="437197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58138" y="430911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switch 可用 String、枚举；do-while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末尾有分号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800022" y="49930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58138" y="4930140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2.2、2.4、2.6 的输出与代码细节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10515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动手检验：把例 2.5 中的 continue 和 break 互换，把例 2.6 的 break L01 改成 break，先预测输出，再运行验证。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486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第2章 Java 程序设计基础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2">
  <a:themeElements>
    <a:clrScheme name="java_ch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2026-09-19T03:57:38Z</dcterms:created>
  <dcterms:modified xsi:type="dcterms:W3CDTF">2026-09-19T03:57:38Z</dcterms:modified>
  <cp:category/>
  <cp:contentStatus/>
</cp:coreProperties>
</file>