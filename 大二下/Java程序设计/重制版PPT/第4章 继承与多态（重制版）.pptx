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java_ch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java_ch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49100f0b4aff151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2bb3432dd99f89c.png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f6311519eb45c34d.png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389882" cy="3437763"/>
            <a:chOff x="666750" y="1619250"/>
            <a:chExt cx="438988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81188" cy="3429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740" y="1718310"/>
              <a:ext cx="16482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Java程序设计 · 第4章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继承与多态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379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类怎么复用、方法怎么分派、接口怎么用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类的复用：组合与继承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多态与动态绑定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接口与抽象类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内部类的四种形式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382814" cy="205359"/>
            <a:chOff x="680466" y="6192202"/>
            <a:chExt cx="438281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3828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自学复习版｜据吉林大学《Java程序设计》第4章课件整理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4862798"/>
            <a:chOff x="521970" y="1515428"/>
            <a:chExt cx="6287453" cy="4862798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3600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 类的复用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51742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组合与继承两条复用路线、构造方法的调用顺序、super、重写与重载、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this、final、abstract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41649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52126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557462"/>
              <a:ext cx="91580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 多态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875121"/>
              <a:ext cx="53774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向上转型与向下转型、动态绑定的适用范围、成员变量和静态方法为什么不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参与动态绑定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342328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52806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564255"/>
              <a:ext cx="91580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 接口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881914"/>
              <a:ext cx="53774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接口的定义与隐含修饰符、接口与抽象类怎么选、默认方法冲突、接口与工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厂模式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443007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45348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4571048"/>
              <a:ext cx="1137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 内部类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887754"/>
              <a:ext cx="53449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成员内部类、静态嵌套类、局部内部类、匿名内部类的写法、用途与 class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文件命名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543687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554164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557784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两轮自测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5894546"/>
              <a:ext cx="54424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 道题覆盖构造顺序、重写判定、字段绑定、接口限制和内部类语法，答案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紧跟题目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4804410"/>
            <a:chOff x="7114222" y="1524000"/>
            <a:chExt cx="4544378" cy="4804410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4804410"/>
            </a:xfrm>
            <a:prstGeom prst="roundRect">
              <a:avLst>
                <a:gd name="adj" fmla="val 29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453771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给出一段继承代码，能按顺序写出各级构造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方法的执行结果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判断两个方法是重写还是重载，说得出编译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器凭什么这么认定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能解释为什么方法调用看对象、字段访问看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引用类型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在「抽象类还是接口」的场景里做出选择并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说明理由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写出四种内部类的定义与创建语法，并说出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各自的 class 文件名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293108" cy="2643187"/>
            <a:chOff x="667512" y="1835468"/>
            <a:chExt cx="4293108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6738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 类的复用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把写过的类再用一次，有两条路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组合是横向关系，继承是纵向关系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继承带来构造顺序、重写和访问权限三组规则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面向对象的三个特性，决定了代码怎么复用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4985385" cy="2019300"/>
            <a:chOff x="525780" y="1548765"/>
            <a:chExt cx="4985385" cy="201930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封装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70622" y="1548765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把数据和操作包在类里，对外只留必要的口子。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类本身就是封装的产物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继承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0622" y="2270760"/>
              <a:ext cx="3825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父亲的特性可以传给儿子。子类拿到超类的成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员，还能添自己的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87274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9927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多态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70622" y="2992755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属于不同类的若干对象，收到同一个消息，各做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各的应答</a:t>
              </a:r>
            </a:p>
          </p:txBody>
        </p:sp>
      </p:grpSp>
      <p:grpSp>
        <p:nvGrpSpPr>
          <p:cNvPr id="37" name="c1-graph-2"/>
          <p:cNvGrpSpPr/>
          <p:nvPr/>
        </p:nvGrpSpPr>
        <p:grpSpPr>
          <a:xfrm>
            <a:off x="623888" y="3732371"/>
            <a:ext cx="4720590" cy="944404"/>
            <a:chOff x="623888" y="3732371"/>
            <a:chExt cx="4720590" cy="944404"/>
          </a:xfrm>
        </p:grpSpPr>
        <p:sp>
          <p:nvSpPr>
            <p:cNvPr id="16" name="Freeform 16"/>
            <p:cNvSpPr/>
            <p:nvPr/>
          </p:nvSpPr>
          <p:spPr>
            <a:xfrm>
              <a:off x="1538288" y="4467225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822132" y="44196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2831782" y="4467225"/>
              <a:ext cx="360997" cy="9525"/>
            </a:xfrm>
            <a:custGeom>
              <a:avLst/>
              <a:gdLst/>
              <a:ahLst/>
              <a:cxnLst/>
              <a:rect l="l" t="t" r="r" b="b"/>
              <a:pathLst>
                <a:path w="360997" h="9525">
                  <a:moveTo>
                    <a:pt x="0" y="0"/>
                  </a:moveTo>
                  <a:lnTo>
                    <a:pt x="36099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192780" y="44196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4050030" y="4467225"/>
              <a:ext cx="437198" cy="9525"/>
            </a:xfrm>
            <a:custGeom>
              <a:avLst/>
              <a:gdLst/>
              <a:ahLst/>
              <a:cxnLst/>
              <a:rect l="l" t="t" r="r" b="b"/>
              <a:pathLst>
                <a:path w="437198" h="9525">
                  <a:moveTo>
                    <a:pt x="0" y="0"/>
                  </a:moveTo>
                  <a:lnTo>
                    <a:pt x="43719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487228" y="44196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3888" y="4257675"/>
              <a:ext cx="914400" cy="419100"/>
            </a:xfrm>
            <a:prstGeom prst="roundRect">
              <a:avLst>
                <a:gd name="adj" fmla="val 22727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917382" y="4257675"/>
              <a:ext cx="91440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288030" y="4257675"/>
              <a:ext cx="762000" cy="419100"/>
            </a:xfrm>
            <a:prstGeom prst="roundRect">
              <a:avLst>
                <a:gd name="adj" fmla="val 22727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582478" y="4257675"/>
              <a:ext cx="76200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93051" y="44015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现实事物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45731" y="4401502"/>
              <a:ext cx="6577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数据+操作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93020" y="440150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16792" y="44015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585912" y="4389120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612684" y="441817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917508" y="4389120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945232" y="441817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封装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81475" y="4389120"/>
              <a:ext cx="268605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208906" y="4418171"/>
              <a:ext cx="2137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new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48042" y="3732371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原课件的封装示意：先抽象出数据和操作，再装进类里</a:t>
              </a:r>
            </a:p>
          </p:txBody>
        </p:sp>
      </p:grpSp>
      <p:grpSp>
        <p:nvGrpSpPr>
          <p:cNvPr id="44" name="c1-callout-3"/>
          <p:cNvGrpSpPr/>
          <p:nvPr/>
        </p:nvGrpSpPr>
        <p:grpSpPr>
          <a:xfrm>
            <a:off x="533400" y="5128260"/>
            <a:ext cx="4977765" cy="782955"/>
            <a:chOff x="533400" y="5128260"/>
            <a:chExt cx="4977765" cy="782955"/>
          </a:xfrm>
        </p:grpSpPr>
        <p:sp>
          <p:nvSpPr>
            <p:cNvPr id="38" name="Rectangle 38"/>
            <p:cNvSpPr/>
            <p:nvPr/>
          </p:nvSpPr>
          <p:spPr>
            <a:xfrm>
              <a:off x="533400" y="512826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419725"/>
              <a:ext cx="200026" cy="200026"/>
              <a:chOff x="738188" y="5419725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4197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54864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27088" y="55197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276850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三者是一条链：先有封装好的类，才谈得上继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承；有了继承，才有多态。</a:t>
              </a:r>
            </a:p>
          </p:txBody>
        </p:sp>
      </p:grpSp>
      <p:grpSp>
        <p:nvGrpSpPr>
          <p:cNvPr id="56" name="c2-bullets-1"/>
          <p:cNvGrpSpPr/>
          <p:nvPr/>
        </p:nvGrpSpPr>
        <p:grpSpPr>
          <a:xfrm>
            <a:off x="5808345" y="1548765"/>
            <a:ext cx="5226675" cy="1758600"/>
            <a:chOff x="5808345" y="1548765"/>
            <a:chExt cx="5226675" cy="1758600"/>
          </a:xfrm>
        </p:grpSpPr>
        <p:sp>
          <p:nvSpPr>
            <p:cNvPr id="45" name="TextBox 45"/>
            <p:cNvSpPr txBox="1"/>
            <p:nvPr/>
          </p:nvSpPr>
          <p:spPr>
            <a:xfrm>
              <a:off x="5808345" y="154876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复用可以从两个角度看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21680" y="196596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79795" y="190309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从类定义看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987415" y="226980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171438" y="2196941"/>
              <a:ext cx="48635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类封装了数据与操作，new 出来的每个对象都在复用这一份代码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821680" y="2568893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79795" y="250602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从类间关系看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987415" y="287274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171438" y="279987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组合（横向）：新类内部持有已有类的对象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987415" y="313086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171438" y="305800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继承（纵向）：新类是已有类的一种</a:t>
              </a:r>
            </a:p>
          </p:txBody>
        </p:sp>
      </p:grpSp>
      <p:grpSp>
        <p:nvGrpSpPr>
          <p:cNvPr id="76" name="c2-graph-2"/>
          <p:cNvGrpSpPr/>
          <p:nvPr/>
        </p:nvGrpSpPr>
        <p:grpSpPr>
          <a:xfrm>
            <a:off x="6459855" y="3476149"/>
            <a:ext cx="4203383" cy="2513171"/>
            <a:chOff x="6459855" y="3476149"/>
            <a:chExt cx="4203383" cy="2513171"/>
          </a:xfrm>
        </p:grpSpPr>
        <p:sp>
          <p:nvSpPr>
            <p:cNvPr id="57" name="Freeform 57"/>
            <p:cNvSpPr/>
            <p:nvPr/>
          </p:nvSpPr>
          <p:spPr>
            <a:xfrm>
              <a:off x="6983730" y="4433888"/>
              <a:ext cx="9525" cy="1041082"/>
            </a:xfrm>
            <a:custGeom>
              <a:avLst/>
              <a:gdLst/>
              <a:ahLst/>
              <a:cxnLst/>
              <a:rect l="l" t="t" r="r" b="b"/>
              <a:pathLst>
                <a:path w="9525" h="1041082">
                  <a:moveTo>
                    <a:pt x="0" y="0"/>
                  </a:moveTo>
                  <a:lnTo>
                    <a:pt x="0" y="104108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936105" y="54749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10139362" y="4481512"/>
              <a:ext cx="9525" cy="1088707"/>
            </a:xfrm>
            <a:custGeom>
              <a:avLst/>
              <a:gdLst/>
              <a:ahLst/>
              <a:cxnLst/>
              <a:rect l="l" t="t" r="r" b="b"/>
              <a:pathLst>
                <a:path w="9525" h="1088707">
                  <a:moveTo>
                    <a:pt x="0" y="1088707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091738" y="43862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459855" y="3919538"/>
              <a:ext cx="1047750" cy="514350"/>
            </a:xfrm>
            <a:prstGeom prst="roundRect">
              <a:avLst>
                <a:gd name="adj" fmla="val 18519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59855" y="5570220"/>
              <a:ext cx="10477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9615488" y="3967162"/>
              <a:ext cx="10477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9615488" y="5570220"/>
              <a:ext cx="10477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837045" y="402812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汽车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695694" y="41948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（新类）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766370" y="571404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发动机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851326" y="411099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交通工具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992678" y="571404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汽车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789420" y="4923472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813385" y="495252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有一个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9945052" y="4899660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969017" y="4928711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是一种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827241" y="34761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982873" y="34761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继承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组合：把已有类的对象装进新类里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020570" cy="264033"/>
            <a:chOff x="526542" y="1545907"/>
            <a:chExt cx="502057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020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新对象通过控制这些已有对象来复用它们，这就是聚合/合成。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6276022" cy="3758565"/>
            <a:chOff x="533400" y="1928812"/>
            <a:chExt cx="6276022" cy="375856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276022" cy="3758565"/>
            </a:xfrm>
            <a:prstGeom prst="roundRect">
              <a:avLst>
                <a:gd name="adj" fmla="val 25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6264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　ThinkPad 组合 CPU 与若干 String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988" y="2339435"/>
              <a:ext cx="4094353" cy="3253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CentralProcessingUnit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type;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CentralProcessingUnit() {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"Intel inside"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type =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"Core i3"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toString() {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type; 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ThinkPad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type, system, RAM, size;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CentralProcessingUnit CPU =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CentralProcessingUnit();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toString()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"type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type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 system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system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 RAM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RAM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 size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size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"\n"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i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f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f +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CPU = 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CPU;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ThinkPad());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7114222" y="1928812"/>
            <a:ext cx="4544378" cy="973455"/>
            <a:chOff x="7114222" y="1928812"/>
            <a:chExt cx="4544378" cy="973455"/>
          </a:xfrm>
        </p:grpSpPr>
        <p:sp>
          <p:nvSpPr>
            <p:cNvPr id="13" name="Rectangle 13"/>
            <p:cNvSpPr/>
            <p:nvPr/>
          </p:nvSpPr>
          <p:spPr>
            <a:xfrm>
              <a:off x="7114222" y="1928812"/>
              <a:ext cx="4544378" cy="973455"/>
            </a:xfrm>
            <a:prstGeom prst="roundRect">
              <a:avLst>
                <a:gd name="adj" fmla="val 978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42620" y="208073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实际运行输出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42810" y="2339435"/>
              <a:ext cx="3073146" cy="476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Intel inside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= null  system = null  RAM = null  size = null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 = 0 f = 0.0 CPU = Core i3</a:t>
              </a:r>
            </a:p>
          </p:txBody>
        </p:sp>
      </p:grpSp>
      <p:grpSp>
        <p:nvGrpSpPr>
          <p:cNvPr id="25" name="c2-card-2"/>
          <p:cNvGrpSpPr/>
          <p:nvPr/>
        </p:nvGrpSpPr>
        <p:grpSpPr>
          <a:xfrm>
            <a:off x="7114222" y="3071812"/>
            <a:ext cx="4544378" cy="2615565"/>
            <a:chOff x="7114222" y="3071812"/>
            <a:chExt cx="4544378" cy="2615565"/>
          </a:xfrm>
        </p:grpSpPr>
        <p:sp>
          <p:nvSpPr>
            <p:cNvPr id="17" name="Rectangle 17"/>
            <p:cNvSpPr/>
            <p:nvPr/>
          </p:nvSpPr>
          <p:spPr>
            <a:xfrm>
              <a:off x="7114222" y="3071812"/>
              <a:ext cx="4544378" cy="2615565"/>
            </a:xfrm>
            <a:prstGeom prst="roundRect">
              <a:avLst>
                <a:gd name="adj" fmla="val 50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123748" y="3205162"/>
              <a:ext cx="47625" cy="23488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39012" y="325850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19530" y="329136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读这段代码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77987" y="329374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谁算组合，谁不算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32154" y="3619500"/>
              <a:ext cx="389705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ThinkPad 持有一个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CentralProcessingUnit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对象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和四个 String 对象，功能由这几个类拼起来，这是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32154" y="4434840"/>
              <a:ext cx="38970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int i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float f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是基本数据类型，直接定义，不算组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33298" y="4987766"/>
              <a:ext cx="364566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字段没有显式赋值时取默认值：引用型为 null，int 为 0，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float 为 0.0。</a:t>
              </a:r>
            </a:p>
          </p:txBody>
        </p:sp>
      </p:grpSp>
      <p:grpSp>
        <p:nvGrpSpPr>
          <p:cNvPr id="3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26" name="Rectangle 2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892" y="6028373"/>
              <a:ext cx="83190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组合关系读作「有一个」（has-a），继承关系读作「是一种」（is-a）。拿不准时先问这句话通不通。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53973" cy="909257"/>
            <a:chOff x="520446" y="342900"/>
            <a:chExt cx="84539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539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toString()：编译器想把对象当字符串时调的那个方法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626418" cy="2060258"/>
            <a:chOff x="533400" y="1524000"/>
            <a:chExt cx="5626418" cy="20602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32611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每个非基本类型的对象都有 toString()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5914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当编译器需要把一个对象表示成 String 时（例如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"CPU = " +</a:t>
              </a:r>
              <a:br/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CPU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），会调用该对象所属类的 toString()。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1332" y="2628900"/>
              <a:ext cx="43007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想让输出有意义，就在自己的类里重写 toString()。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928938"/>
              <a:ext cx="48704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不重写时用的是 Object.toString()，打印出来的是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类名 + @ +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十六进制哈希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19" name="c1-code-2"/>
          <p:cNvGrpSpPr/>
          <p:nvPr/>
        </p:nvGrpSpPr>
        <p:grpSpPr>
          <a:xfrm>
            <a:off x="533400" y="3753802"/>
            <a:ext cx="5626418" cy="1902142"/>
            <a:chOff x="533400" y="3753802"/>
            <a:chExt cx="5626418" cy="1902142"/>
          </a:xfrm>
        </p:grpSpPr>
        <p:sp>
          <p:nvSpPr>
            <p:cNvPr id="16" name="Rectangle 16"/>
            <p:cNvSpPr/>
            <p:nvPr/>
          </p:nvSpPr>
          <p:spPr>
            <a:xfrm>
              <a:off x="533400" y="3753802"/>
              <a:ext cx="5626418" cy="1902142"/>
            </a:xfrm>
            <a:prstGeom prst="roundRect">
              <a:avLst>
                <a:gd name="adj" fmla="val 500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1797" y="3905726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重写前后对比（实测）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1988" y="4165378"/>
              <a:ext cx="3673856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Plain { }</a:t>
              </a:r>
              <a:br/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Named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 = 3;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toString() {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"Named[x="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x + </a:t>
              </a:r>
              <a:r>
                <a:rPr lang="zh-CN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"]"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System.out.println(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"obj = "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Plain());</a:t>
              </a:r>
              <a:br/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obj = Plain@41a4555e   哈希值每次运行都可能不同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System.out.println(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"obj = "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Named());</a:t>
              </a:r>
              <a:br/>
              <a:r>
                <a:rPr lang="en-US" sz="86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obj = Named[x=3]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6464618" y="1533525"/>
            <a:ext cx="2172179" cy="2268379"/>
            <a:chOff x="6464618" y="1533525"/>
            <a:chExt cx="2172179" cy="2268379"/>
          </a:xfrm>
        </p:grpSpPr>
        <p:sp>
          <p:nvSpPr>
            <p:cNvPr id="20" name="Rectangle 20"/>
            <p:cNvSpPr/>
            <p:nvPr/>
          </p:nvSpPr>
          <p:spPr>
            <a:xfrm>
              <a:off x="6597968" y="167640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64618" y="211645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64618" y="269938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58241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64618" y="328231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58241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6860" y="156495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字符串拼接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8002" y="1833086"/>
              <a:ext cx="17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编译器遇到 String + 对象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6860" y="214788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查找方法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8002" y="2416016"/>
              <a:ext cx="17587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调用该对象的 toString()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876860" y="2730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动态绑定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8002" y="299894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有重写就走重写的那一个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76860" y="331374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得到结果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78002" y="358187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拼进最终的字符串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464618" y="3965258"/>
            <a:ext cx="5193982" cy="729615"/>
            <a:chOff x="6464618" y="3965258"/>
            <a:chExt cx="5193982" cy="729615"/>
          </a:xfrm>
        </p:grpSpPr>
        <p:sp>
          <p:nvSpPr>
            <p:cNvPr id="38" name="Rectangle 38"/>
            <p:cNvSpPr/>
            <p:nvPr/>
          </p:nvSpPr>
          <p:spPr>
            <a:xfrm>
              <a:off x="6464618" y="3965258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669405" y="4230053"/>
              <a:ext cx="200026" cy="200025"/>
              <a:chOff x="6669405" y="4230053"/>
              <a:chExt cx="200026" cy="20002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669405" y="423005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709144" y="427450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743859" y="438562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972110" y="4111942"/>
              <a:ext cx="408565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println(对象) 走的也是同一条路：内部先把对象转成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String 再打印。</a:t>
              </a:r>
            </a:p>
          </p:txBody>
        </p:sp>
      </p:grpSp>
      <p:grpSp>
        <p:nvGrpSpPr>
          <p:cNvPr id="51" name="c2-card-3"/>
          <p:cNvGrpSpPr/>
          <p:nvPr/>
        </p:nvGrpSpPr>
        <p:grpSpPr>
          <a:xfrm>
            <a:off x="6464618" y="4864418"/>
            <a:ext cx="5193982" cy="1459230"/>
            <a:chOff x="6464618" y="4864418"/>
            <a:chExt cx="5193982" cy="1459230"/>
          </a:xfrm>
        </p:grpSpPr>
        <p:sp>
          <p:nvSpPr>
            <p:cNvPr id="45" name="Rectangle 45"/>
            <p:cNvSpPr/>
            <p:nvPr/>
          </p:nvSpPr>
          <p:spPr>
            <a:xfrm>
              <a:off x="6464618" y="4864418"/>
              <a:ext cx="519398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74142" y="4997768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689408" y="505110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782079" y="508396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55954" y="5086350"/>
              <a:ext cx="1629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@ 后面不是内存地址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82549" y="5412105"/>
              <a:ext cx="44628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原课件说不重写时输出的是对象的内存地址。@ 后面其实是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hashCode() 的十六进制，HotSpot 默认的哈希码是随机生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成的，和地址无关。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65665" cy="909257"/>
            <a:chOff x="520446" y="342900"/>
            <a:chExt cx="746566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6566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继承：用 extends 说明「新类是已有类的一种」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1033462"/>
            <a:chOff x="533400" y="1524000"/>
            <a:chExt cx="5410200" cy="1033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语法格式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1920367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子类名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超类名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子类自己的成员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kv-2"/>
          <p:cNvGrpSpPr/>
          <p:nvPr/>
        </p:nvGrpSpPr>
        <p:grpSpPr>
          <a:xfrm>
            <a:off x="525780" y="2772728"/>
            <a:ext cx="5417820" cy="1297304"/>
            <a:chOff x="525780" y="2772728"/>
            <a:chExt cx="5417820" cy="1297304"/>
          </a:xfrm>
        </p:grpSpPr>
        <p:sp>
          <p:nvSpPr>
            <p:cNvPr id="11" name="TextBox 11"/>
            <p:cNvSpPr txBox="1"/>
            <p:nvPr/>
          </p:nvSpPr>
          <p:spPr>
            <a:xfrm>
              <a:off x="525780" y="2772728"/>
              <a:ext cx="15958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超类 superclass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26958" y="2772728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被继承的类，也叫父类、基类。写的是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更通用的那一层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33747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5780" y="3494722"/>
              <a:ext cx="13626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子类 subclass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326958" y="3494722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继承超类的类，也叫派生类。是超类的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一个特定用途的具体化</a:t>
              </a:r>
            </a:p>
          </p:txBody>
        </p:sp>
      </p:grpSp>
      <p:grpSp>
        <p:nvGrpSpPr>
          <p:cNvPr id="22" name="c1-callout-3"/>
          <p:cNvGrpSpPr/>
          <p:nvPr/>
        </p:nvGrpSpPr>
        <p:grpSpPr>
          <a:xfrm>
            <a:off x="533400" y="4201478"/>
            <a:ext cx="5410200" cy="1222058"/>
            <a:chOff x="533400" y="4201478"/>
            <a:chExt cx="5410200" cy="1222058"/>
          </a:xfrm>
        </p:grpSpPr>
        <p:sp>
          <p:nvSpPr>
            <p:cNvPr id="17" name="Rectangle 17"/>
            <p:cNvSpPr/>
            <p:nvPr/>
          </p:nvSpPr>
          <p:spPr>
            <a:xfrm>
              <a:off x="533400" y="4201478"/>
              <a:ext cx="5410200" cy="1222058"/>
            </a:xfrm>
            <a:prstGeom prst="roundRect">
              <a:avLst>
                <a:gd name="adj" fmla="val 9353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4712972"/>
              <a:ext cx="200023" cy="200023"/>
              <a:chOff x="738188" y="4712972"/>
              <a:chExt cx="200023" cy="20002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471297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1538" y="47796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130" y="457009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继承允许创建分层次的类，是面向对象编程技术里复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用代码的主要机制。</a:t>
              </a:r>
            </a:p>
          </p:txBody>
        </p:sp>
      </p:grpSp>
      <p:grpSp>
        <p:nvGrpSpPr>
          <p:cNvPr id="50" name="c2-uml-1"/>
          <p:cNvGrpSpPr/>
          <p:nvPr/>
        </p:nvGrpSpPr>
        <p:grpSpPr>
          <a:xfrm>
            <a:off x="7961948" y="1617345"/>
            <a:ext cx="1983105" cy="2970847"/>
            <a:chOff x="7961948" y="1617345"/>
            <a:chExt cx="1983105" cy="2970847"/>
          </a:xfrm>
        </p:grpSpPr>
        <p:sp>
          <p:nvSpPr>
            <p:cNvPr id="23" name="Freeform 23"/>
            <p:cNvSpPr/>
            <p:nvPr/>
          </p:nvSpPr>
          <p:spPr>
            <a:xfrm>
              <a:off x="8953500" y="2365058"/>
              <a:ext cx="9525" cy="141922"/>
            </a:xfrm>
            <a:custGeom>
              <a:avLst/>
              <a:gdLst/>
              <a:ahLst/>
              <a:cxnLst/>
              <a:rect l="l" t="t" r="r" b="b"/>
              <a:pathLst>
                <a:path w="9525" h="141922">
                  <a:moveTo>
                    <a:pt x="0" y="14192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880158" y="223932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953500" y="3094672"/>
              <a:ext cx="9525" cy="221933"/>
            </a:xfrm>
            <a:custGeom>
              <a:avLst/>
              <a:gdLst/>
              <a:ahLst/>
              <a:cxnLst/>
              <a:rect l="l" t="t" r="r" b="b"/>
              <a:pathLst>
                <a:path w="9525" h="221933">
                  <a:moveTo>
                    <a:pt x="0" y="22193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880158" y="2969895"/>
              <a:ext cx="146685" cy="124777"/>
            </a:xfrm>
            <a:custGeom>
              <a:avLst/>
              <a:gdLst/>
              <a:ahLst/>
              <a:cxnLst/>
              <a:rect l="l" t="t" r="r" b="b"/>
              <a:pathLst>
                <a:path w="146685" h="124777">
                  <a:moveTo>
                    <a:pt x="73343" y="0"/>
                  </a:moveTo>
                  <a:lnTo>
                    <a:pt x="146685" y="124777"/>
                  </a:lnTo>
                  <a:lnTo>
                    <a:pt x="0" y="124777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953500" y="3904298"/>
              <a:ext cx="9525" cy="221933"/>
            </a:xfrm>
            <a:custGeom>
              <a:avLst/>
              <a:gdLst/>
              <a:ahLst/>
              <a:cxnLst/>
              <a:rect l="l" t="t" r="r" b="b"/>
              <a:pathLst>
                <a:path w="9525" h="221933">
                  <a:moveTo>
                    <a:pt x="0" y="22193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880158" y="3779520"/>
              <a:ext cx="146685" cy="124777"/>
            </a:xfrm>
            <a:custGeom>
              <a:avLst/>
              <a:gdLst/>
              <a:ahLst/>
              <a:cxnLst/>
              <a:rect l="l" t="t" r="r" b="b"/>
              <a:pathLst>
                <a:path w="146685" h="124777">
                  <a:moveTo>
                    <a:pt x="73343" y="0"/>
                  </a:moveTo>
                  <a:lnTo>
                    <a:pt x="146685" y="124777"/>
                  </a:lnTo>
                  <a:lnTo>
                    <a:pt x="0" y="124777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382000" y="1617345"/>
              <a:ext cx="1143000" cy="62198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A1343C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389620" y="1624965"/>
              <a:ext cx="1128712" cy="423862"/>
            </a:xfrm>
            <a:prstGeom prst="rect">
              <a:avLst/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382000" y="2044065"/>
              <a:ext cx="1143000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82000" y="2139315"/>
              <a:ext cx="1143000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107680" y="2506980"/>
              <a:ext cx="169164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A1343C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115300" y="2514600"/>
              <a:ext cx="1677352" cy="264795"/>
            </a:xfrm>
            <a:prstGeom prst="rect">
              <a:avLst/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107680" y="2773680"/>
              <a:ext cx="1691640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107680" y="2868930"/>
              <a:ext cx="1691640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141018" y="3316605"/>
              <a:ext cx="1624012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A1343C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148638" y="3324225"/>
              <a:ext cx="1609725" cy="264795"/>
            </a:xfrm>
            <a:prstGeom prst="rect">
              <a:avLst/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141018" y="3583305"/>
              <a:ext cx="1624012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141018" y="3678555"/>
              <a:ext cx="1624012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961948" y="4126230"/>
              <a:ext cx="1983105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A1343C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969568" y="4133850"/>
              <a:ext cx="1968818" cy="264795"/>
            </a:xfrm>
            <a:prstGeom prst="rect">
              <a:avLst/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961948" y="4392930"/>
              <a:ext cx="1983105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961948" y="4488180"/>
              <a:ext cx="1983105" cy="952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546168" y="1678781"/>
              <a:ext cx="8146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«所有类的根»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688099" y="1842611"/>
              <a:ext cx="5308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Object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49447" y="2572226"/>
              <a:ext cx="16081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java.awt.Component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185194" y="3381851"/>
              <a:ext cx="15366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java.awt.Container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92530" y="4191476"/>
              <a:ext cx="19219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javax.swing.JComponent</a:t>
              </a:r>
            </a:p>
          </p:txBody>
        </p:sp>
      </p:grpSp>
      <p:grpSp>
        <p:nvGrpSpPr>
          <p:cNvPr id="52" name="c2-text-2"/>
          <p:cNvGrpSpPr/>
          <p:nvPr/>
        </p:nvGrpSpPr>
        <p:grpSpPr>
          <a:xfrm>
            <a:off x="6241923" y="4974431"/>
            <a:ext cx="5141722" cy="500824"/>
            <a:chOff x="6241923" y="4974431"/>
            <a:chExt cx="5141722" cy="500824"/>
          </a:xfrm>
        </p:grpSpPr>
        <p:sp>
          <p:nvSpPr>
            <p:cNvPr id="51" name="TextBox 51"/>
            <p:cNvSpPr txBox="1"/>
            <p:nvPr/>
          </p:nvSpPr>
          <p:spPr>
            <a:xfrm>
              <a:off x="6241923" y="4974431"/>
              <a:ext cx="514172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JDK 里的 JOptionPane 就挂在这条继承链的下面。继承关系是传递的，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所以它同时也是 Object。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62116" cy="909257"/>
            <a:chOff x="520446" y="342900"/>
            <a:chExt cx="80621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621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子类拿到超类的全部成员，但碰不到 private 的那些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graph-1"/>
          <p:cNvGrpSpPr/>
          <p:nvPr/>
        </p:nvGrpSpPr>
        <p:grpSpPr>
          <a:xfrm>
            <a:off x="870585" y="1895475"/>
            <a:ext cx="3861435" cy="2667000"/>
            <a:chOff x="870585" y="1895475"/>
            <a:chExt cx="3861435" cy="2667000"/>
          </a:xfrm>
        </p:grpSpPr>
        <p:sp>
          <p:nvSpPr>
            <p:cNvPr id="7" name="Freeform 7"/>
            <p:cNvSpPr/>
            <p:nvPr/>
          </p:nvSpPr>
          <p:spPr>
            <a:xfrm>
              <a:off x="2394585" y="2466975"/>
              <a:ext cx="718185" cy="9525"/>
            </a:xfrm>
            <a:custGeom>
              <a:avLst/>
              <a:gdLst/>
              <a:ahLst/>
              <a:cxnLst/>
              <a:rect l="l" t="t" r="r" b="b"/>
              <a:pathLst>
                <a:path w="718185" h="9525">
                  <a:moveTo>
                    <a:pt x="718185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299335" y="24193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64970" y="3100388"/>
              <a:ext cx="1438275" cy="938212"/>
            </a:xfrm>
            <a:custGeom>
              <a:avLst/>
              <a:gdLst/>
              <a:ahLst/>
              <a:cxnLst/>
              <a:rect l="l" t="t" r="r" b="b"/>
              <a:pathLst>
                <a:path w="1438275" h="938212">
                  <a:moveTo>
                    <a:pt x="1438275" y="93821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584960" y="3048000"/>
              <a:ext cx="105727" cy="92392"/>
            </a:xfrm>
            <a:custGeom>
              <a:avLst/>
              <a:gdLst/>
              <a:ahLst/>
              <a:cxnLst/>
              <a:rect l="l" t="t" r="r" b="b"/>
              <a:pathLst>
                <a:path w="105727" h="92392">
                  <a:moveTo>
                    <a:pt x="0" y="0"/>
                  </a:moveTo>
                  <a:lnTo>
                    <a:pt x="105727" y="12383"/>
                  </a:lnTo>
                  <a:lnTo>
                    <a:pt x="54292" y="9239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870585" y="1895475"/>
              <a:ext cx="1428750" cy="114300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3112770" y="1943100"/>
              <a:ext cx="1619250" cy="1047750"/>
            </a:xfrm>
            <a:prstGeom prst="roundRect">
              <a:avLst>
                <a:gd name="adj" fmla="val 9091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12770" y="3514725"/>
              <a:ext cx="1619250" cy="10477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385874" y="2174081"/>
              <a:ext cx="3981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48079" y="23293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48079" y="248364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77958" y="2638901"/>
              <a:ext cx="8140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成员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23309" y="2251234"/>
              <a:ext cx="3981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 B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10080" y="2406491"/>
              <a:ext cx="1224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超类变量 · 超类方法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10080" y="2560796"/>
              <a:ext cx="1224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子类变量 · 子类方法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23309" y="3822859"/>
              <a:ext cx="3981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 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10080" y="3978116"/>
              <a:ext cx="1224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超类变量 · 超类方法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310080" y="4132421"/>
              <a:ext cx="12246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子类变量 · 子类方法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2467928" y="2388870"/>
              <a:ext cx="47720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488792" y="2417921"/>
              <a:ext cx="4345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extends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105978" y="3465195"/>
              <a:ext cx="47720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126842" y="3494246"/>
              <a:ext cx="4345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extends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4857750"/>
            <a:ext cx="5842635" cy="1059180"/>
            <a:chOff x="533400" y="4857750"/>
            <a:chExt cx="5842635" cy="1059180"/>
          </a:xfrm>
        </p:grpSpPr>
        <p:sp>
          <p:nvSpPr>
            <p:cNvPr id="29" name="Rectangle 29"/>
            <p:cNvSpPr/>
            <p:nvPr/>
          </p:nvSpPr>
          <p:spPr>
            <a:xfrm>
              <a:off x="533400" y="4857750"/>
              <a:ext cx="584263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26129" y="5283636"/>
              <a:ext cx="224134" cy="192560"/>
              <a:chOff x="726129" y="5283636"/>
              <a:chExt cx="224134" cy="19256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838200" y="53540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26129" y="52836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54317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5006340"/>
              <a:ext cx="49491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private 成员依然在子类对象的内存里，只是子类代码不能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直接写它的名字。要访问就得靠超类留下的 public 或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protected 方法。</a:t>
              </a:r>
            </a:p>
          </p:txBody>
        </p:sp>
      </p:grpSp>
      <p:grpSp>
        <p:nvGrpSpPr>
          <p:cNvPr id="43" name="c2-bullets-1"/>
          <p:cNvGrpSpPr/>
          <p:nvPr/>
        </p:nvGrpSpPr>
        <p:grpSpPr>
          <a:xfrm>
            <a:off x="6673215" y="1548765"/>
            <a:ext cx="4770120" cy="2194560"/>
            <a:chOff x="6673215" y="1548765"/>
            <a:chExt cx="4770120" cy="2194560"/>
          </a:xfrm>
        </p:grpSpPr>
        <p:sp>
          <p:nvSpPr>
            <p:cNvPr id="36" name="TextBox 36"/>
            <p:cNvSpPr txBox="1"/>
            <p:nvPr/>
          </p:nvSpPr>
          <p:spPr>
            <a:xfrm>
              <a:off x="6673215" y="15487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三条要记住的话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680835" y="1934528"/>
              <a:ext cx="144780" cy="117158"/>
            </a:xfrm>
            <a:custGeom>
              <a:avLst/>
              <a:gdLst/>
              <a:ahLst/>
              <a:cxnLst/>
              <a:rect l="l" t="t" r="r" b="b"/>
              <a:pathLst>
                <a:path w="144780" h="117158">
                  <a:moveTo>
                    <a:pt x="0" y="61912"/>
                  </a:moveTo>
                  <a:lnTo>
                    <a:pt x="55245" y="117158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32295" y="190309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子类不限于使用超类原有的方法，可以加自己的新方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80835" y="2565082"/>
              <a:ext cx="144780" cy="117158"/>
            </a:xfrm>
            <a:custGeom>
              <a:avLst/>
              <a:gdLst/>
              <a:ahLst/>
              <a:cxnLst/>
              <a:rect l="l" t="t" r="r" b="b"/>
              <a:pathLst>
                <a:path w="144780" h="117158">
                  <a:moveTo>
                    <a:pt x="0" y="61912"/>
                  </a:moveTo>
                  <a:lnTo>
                    <a:pt x="55245" y="117158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932295" y="253365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子类包括超类的所有成员，但不能访问其中声明为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的成员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6680835" y="3195638"/>
              <a:ext cx="144780" cy="117158"/>
            </a:xfrm>
            <a:custGeom>
              <a:avLst/>
              <a:gdLst/>
              <a:ahLst/>
              <a:cxnLst/>
              <a:rect l="l" t="t" r="r" b="b"/>
              <a:pathLst>
                <a:path w="144780" h="117158">
                  <a:moveTo>
                    <a:pt x="0" y="61912"/>
                  </a:moveTo>
                  <a:lnTo>
                    <a:pt x="55245" y="117158"/>
                  </a:lnTo>
                  <a:lnTo>
                    <a:pt x="14478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932295" y="3164205"/>
              <a:ext cx="4511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尽管 superclass 是 subclass 的超类，它自己仍是一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个完全独立的类，可以单独 new 出来用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680835" y="3874770"/>
            <a:ext cx="4977765" cy="2042160"/>
            <a:chOff x="6680835" y="3874770"/>
            <a:chExt cx="4977765" cy="2042160"/>
          </a:xfrm>
        </p:grpSpPr>
        <p:sp>
          <p:nvSpPr>
            <p:cNvPr id="44" name="Rectangle 44"/>
            <p:cNvSpPr/>
            <p:nvPr/>
          </p:nvSpPr>
          <p:spPr>
            <a:xfrm>
              <a:off x="6680835" y="3874770"/>
              <a:ext cx="4977765" cy="2042160"/>
            </a:xfrm>
            <a:prstGeom prst="roundRect">
              <a:avLst>
                <a:gd name="adj" fmla="val 65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90360" y="4008120"/>
              <a:ext cx="47625" cy="177546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928485" y="408432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19646" y="41200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29512" y="4119562"/>
              <a:ext cx="2541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 是为继承准备的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920865" y="448056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超类里想让子类用、又不想让外人用的成员，写</a:t>
              </a:r>
              <a:br/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protected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920865" y="5101590"/>
              <a:ext cx="421195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访问权限从小到大：</a:t>
              </a:r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&lt; 默认 &lt; protected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&lt; </a:t>
              </a:r>
              <a:r>
                <a:rPr lang="en-US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public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21272" cy="909257"/>
            <a:chOff x="520446" y="342900"/>
            <a:chExt cx="62212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212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　子类对象里同时装着超类的字段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059805" cy="4726305"/>
            <a:chOff x="533400" y="1524000"/>
            <a:chExt cx="6059805" cy="47263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726305"/>
            </a:xfrm>
            <a:prstGeom prst="roundRect">
              <a:avLst>
                <a:gd name="adj" fmla="val 201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81101" y="1935956"/>
              <a:ext cx="146812" cy="4243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388"/>
                </a:lnSpc>
              </a:pPr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16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17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18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19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20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24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32307" y="1935956"/>
              <a:ext cx="3706368" cy="4243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SuperClass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i, j;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printij()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and j: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i +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j);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SubClass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SuperClass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printk()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"k: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k);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printsum()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"i+j+k: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(i + j + k));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SimpleInheritance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 args[])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SuperClass superOb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SuperClass();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SubClass subOb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SubClass();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superOb.i = 10;  superOb.j = 20;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subOb.i = 7;  subOb.j = 8;  subOb.k = 9;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subOb.printij();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subOb.printk();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subOb.printsum();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5" name="c2-code-1"/>
          <p:cNvGrpSpPr/>
          <p:nvPr/>
        </p:nvGrpSpPr>
        <p:grpSpPr>
          <a:xfrm>
            <a:off x="6898005" y="1524000"/>
            <a:ext cx="4760595" cy="973455"/>
            <a:chOff x="6898005" y="1524000"/>
            <a:chExt cx="4760595" cy="973455"/>
          </a:xfrm>
        </p:grpSpPr>
        <p:sp>
          <p:nvSpPr>
            <p:cNvPr id="12" name="Rectangle 12"/>
            <p:cNvSpPr/>
            <p:nvPr/>
          </p:nvSpPr>
          <p:spPr>
            <a:xfrm>
              <a:off x="6898005" y="1524000"/>
              <a:ext cx="4760595" cy="973455"/>
            </a:xfrm>
            <a:prstGeom prst="roundRect">
              <a:avLst>
                <a:gd name="adj" fmla="val 978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026402" y="1675924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026592" y="1935575"/>
              <a:ext cx="730377" cy="476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 and j: 7 8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k: 9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i+j+k: 24</a:t>
              </a:r>
            </a:p>
          </p:txBody>
        </p:sp>
      </p:grpSp>
      <p:grpSp>
        <p:nvGrpSpPr>
          <p:cNvPr id="24" name="c2-card-2"/>
          <p:cNvGrpSpPr/>
          <p:nvPr/>
        </p:nvGrpSpPr>
        <p:grpSpPr>
          <a:xfrm>
            <a:off x="6898005" y="2667952"/>
            <a:ext cx="4760595" cy="3582352"/>
            <a:chOff x="6898005" y="2667952"/>
            <a:chExt cx="4760595" cy="3582352"/>
          </a:xfrm>
        </p:grpSpPr>
        <p:sp>
          <p:nvSpPr>
            <p:cNvPr id="16" name="Rectangle 16"/>
            <p:cNvSpPr/>
            <p:nvPr/>
          </p:nvSpPr>
          <p:spPr>
            <a:xfrm>
              <a:off x="6898005" y="2667952"/>
              <a:ext cx="4760595" cy="3582352"/>
            </a:xfrm>
            <a:prstGeom prst="roundRect">
              <a:avLst>
                <a:gd name="adj" fmla="val 37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907530" y="2801302"/>
              <a:ext cx="47625" cy="33156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122795" y="285464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214514" y="288750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88389" y="288893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两个对象互不相干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115937" y="3215640"/>
              <a:ext cx="39742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superOb 与 subOb 是两个独立对象，给 superOb.i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赋 10 不会影响 subOb.i。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15937" y="3772852"/>
              <a:ext cx="41885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subOb 里有 i、j、k 三个字段：i 和 j 来自超类，k 是自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己加的。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15937" y="4330065"/>
              <a:ext cx="417137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printsum() 定义在子类里，却能直接读超类的 i 和 j，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因为它们不是 private。</a:t>
              </a:r>
            </a:p>
          </p:txBody>
        </p:sp>
      </p:grpSp>
      <p:grpSp>
        <p:nvGrpSpPr>
          <p:cNvPr id="2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5" name="TextBox 2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子类对象的初始化：先把超类那一半装好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465826" cy="264033"/>
            <a:chOff x="526542" y="1545907"/>
            <a:chExt cx="546582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子类对象内部包含超类的一个「子对象」，它必须先被正确初始化。</a:t>
              </a:r>
            </a:p>
          </p:txBody>
        </p:sp>
      </p:grpSp>
      <p:grpSp>
        <p:nvGrpSpPr>
          <p:cNvPr id="29" name="c1-flow-1"/>
          <p:cNvGrpSpPr/>
          <p:nvPr/>
        </p:nvGrpSpPr>
        <p:grpSpPr>
          <a:xfrm>
            <a:off x="882015" y="2028825"/>
            <a:ext cx="4280535" cy="2665095"/>
            <a:chOff x="882015" y="2028825"/>
            <a:chExt cx="4280535" cy="2665095"/>
          </a:xfrm>
        </p:grpSpPr>
        <p:sp>
          <p:nvSpPr>
            <p:cNvPr id="9" name="Freeform 9"/>
            <p:cNvSpPr/>
            <p:nvPr/>
          </p:nvSpPr>
          <p:spPr>
            <a:xfrm>
              <a:off x="3022282" y="2401252"/>
              <a:ext cx="9525" cy="96202"/>
            </a:xfrm>
            <a:custGeom>
              <a:avLst/>
              <a:gdLst/>
              <a:ahLst/>
              <a:cxnLst/>
              <a:rect l="l" t="t" r="r" b="b"/>
              <a:pathLst>
                <a:path w="9525" h="96202">
                  <a:moveTo>
                    <a:pt x="0" y="0"/>
                  </a:moveTo>
                  <a:lnTo>
                    <a:pt x="0" y="9620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969895" y="24974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022282" y="2974658"/>
              <a:ext cx="9525" cy="96202"/>
            </a:xfrm>
            <a:custGeom>
              <a:avLst/>
              <a:gdLst/>
              <a:ahLst/>
              <a:cxnLst/>
              <a:rect l="l" t="t" r="r" b="b"/>
              <a:pathLst>
                <a:path w="9525" h="96202">
                  <a:moveTo>
                    <a:pt x="0" y="0"/>
                  </a:moveTo>
                  <a:lnTo>
                    <a:pt x="0" y="9620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969895" y="30708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022282" y="3548062"/>
              <a:ext cx="9525" cy="96203"/>
            </a:xfrm>
            <a:custGeom>
              <a:avLst/>
              <a:gdLst/>
              <a:ahLst/>
              <a:cxnLst/>
              <a:rect l="l" t="t" r="r" b="b"/>
              <a:pathLst>
                <a:path w="9525" h="96203">
                  <a:moveTo>
                    <a:pt x="0" y="0"/>
                  </a:moveTo>
                  <a:lnTo>
                    <a:pt x="0" y="9620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969895" y="3644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022282" y="4121468"/>
              <a:ext cx="9525" cy="95250"/>
            </a:xfrm>
            <a:custGeom>
              <a:avLst/>
              <a:gdLst/>
              <a:ahLst/>
              <a:cxnLst/>
              <a:rect l="l" t="t" r="r" b="b"/>
              <a:pathLst>
                <a:path w="9525" h="95250">
                  <a:moveTo>
                    <a:pt x="0" y="0"/>
                  </a:moveTo>
                  <a:lnTo>
                    <a:pt x="0" y="952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969895" y="42167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882015" y="2028825"/>
              <a:ext cx="4280535" cy="37242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882015" y="2602230"/>
              <a:ext cx="428053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82015" y="3175635"/>
              <a:ext cx="428053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82015" y="3749040"/>
              <a:ext cx="4280535" cy="372428"/>
            </a:xfrm>
            <a:prstGeom prst="roundRect">
              <a:avLst>
                <a:gd name="adj" fmla="val 25575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882015" y="4321492"/>
              <a:ext cx="4280535" cy="37242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480892" y="2142172"/>
              <a:ext cx="10827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 FootBall()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53403" y="2715578"/>
              <a:ext cx="7377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Ball() 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537174" y="3288030"/>
              <a:ext cx="9702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Playing() 执行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495717" y="3861435"/>
              <a:ext cx="10531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FootBall() 执行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34246" y="443484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对象可用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050858" y="2423160"/>
              <a:ext cx="102679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074670" y="2446020"/>
              <a:ext cx="9969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自动插入 super()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4959668"/>
            <a:ext cx="4977765" cy="1126808"/>
            <a:chOff x="533400" y="4959668"/>
            <a:chExt cx="4977765" cy="1126808"/>
          </a:xfrm>
        </p:grpSpPr>
        <p:sp>
          <p:nvSpPr>
            <p:cNvPr id="30" name="Rectangle 30"/>
            <p:cNvSpPr/>
            <p:nvPr/>
          </p:nvSpPr>
          <p:spPr>
            <a:xfrm>
              <a:off x="533400" y="4959668"/>
              <a:ext cx="4977765" cy="1126808"/>
            </a:xfrm>
            <a:prstGeom prst="roundRect">
              <a:avLst>
                <a:gd name="adj" fmla="val 10144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422585"/>
              <a:ext cx="200023" cy="200023"/>
              <a:chOff x="738188" y="5422585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4225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1538" y="54892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1273" y="5316379"/>
              <a:ext cx="40769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构造方法的执行先于所有层次的类，所以超类总在子类访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问它之前就完成了初始化。</a:t>
              </a:r>
            </a:p>
          </p:txBody>
        </p:sp>
      </p:grpSp>
      <p:grpSp>
        <p:nvGrpSpPr>
          <p:cNvPr id="39" name="c2-code-1"/>
          <p:cNvGrpSpPr/>
          <p:nvPr/>
        </p:nvGrpSpPr>
        <p:grpSpPr>
          <a:xfrm>
            <a:off x="5815965" y="1928812"/>
            <a:ext cx="5842635" cy="2005012"/>
            <a:chOff x="5815965" y="1928812"/>
            <a:chExt cx="5842635" cy="2005012"/>
          </a:xfrm>
        </p:grpSpPr>
        <p:sp>
          <p:nvSpPr>
            <p:cNvPr id="36" name="Rectangle 36"/>
            <p:cNvSpPr/>
            <p:nvPr/>
          </p:nvSpPr>
          <p:spPr>
            <a:xfrm>
              <a:off x="5815965" y="1928812"/>
              <a:ext cx="5842635" cy="2005012"/>
            </a:xfrm>
            <a:prstGeom prst="roundRect">
              <a:avLst>
                <a:gd name="adj" fmla="val 475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44362" y="2080736"/>
              <a:ext cx="19950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4.3　三层构造方法的执行顺序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944552" y="2339816"/>
              <a:ext cx="3560699" cy="15078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Ball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Ball() { System.out.print(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hava a ball,"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Playing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Ball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Playing() { System.out.print(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kick it"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FootBall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Playing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FootBall() { System.out.print(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"with my foot."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FootBall();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3" name="c2-code-2"/>
          <p:cNvGrpSpPr/>
          <p:nvPr/>
        </p:nvGrpSpPr>
        <p:grpSpPr>
          <a:xfrm>
            <a:off x="5815965" y="4098608"/>
            <a:ext cx="5842635" cy="660082"/>
            <a:chOff x="5815965" y="4098608"/>
            <a:chExt cx="5842635" cy="660082"/>
          </a:xfrm>
        </p:grpSpPr>
        <p:sp>
          <p:nvSpPr>
            <p:cNvPr id="40" name="Rectangle 40"/>
            <p:cNvSpPr/>
            <p:nvPr/>
          </p:nvSpPr>
          <p:spPr>
            <a:xfrm>
              <a:off x="5815965" y="4098608"/>
              <a:ext cx="5842635" cy="660082"/>
            </a:xfrm>
            <a:prstGeom prst="roundRect">
              <a:avLst>
                <a:gd name="adj" fmla="val 1443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944362" y="4250531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944552" y="4509611"/>
              <a:ext cx="220438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 hava a ball,I kick itwith my foot.</a:t>
              </a:r>
            </a:p>
          </p:txBody>
        </p:sp>
      </p:grpSp>
      <p:grpSp>
        <p:nvGrpSpPr>
          <p:cNvPr id="51" name="c2-card-3"/>
          <p:cNvGrpSpPr/>
          <p:nvPr/>
        </p:nvGrpSpPr>
        <p:grpSpPr>
          <a:xfrm>
            <a:off x="5815965" y="4922520"/>
            <a:ext cx="5842635" cy="1163955"/>
            <a:chOff x="5815965" y="4922520"/>
            <a:chExt cx="5842635" cy="1163955"/>
          </a:xfrm>
        </p:grpSpPr>
        <p:sp>
          <p:nvSpPr>
            <p:cNvPr id="44" name="Rectangle 44"/>
            <p:cNvSpPr/>
            <p:nvPr/>
          </p:nvSpPr>
          <p:spPr>
            <a:xfrm>
              <a:off x="5815965" y="4922520"/>
              <a:ext cx="5842635" cy="1163955"/>
            </a:xfrm>
            <a:prstGeom prst="roundRect">
              <a:avLst>
                <a:gd name="adj" fmla="val 114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825490" y="5055870"/>
              <a:ext cx="47625" cy="8972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035040" y="510349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126759" y="51363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01016" y="514302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原课件的输出框漏了句号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28563" y="5460206"/>
              <a:ext cx="54438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原课件印的是 </a:t>
              </a:r>
              <a:r>
                <a:rPr lang="en-US" sz="128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 hava a ball,I kick itwith my foot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，末尾少一个句点。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029706" y="5741670"/>
              <a:ext cx="41239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hava 与 itwith 的拼法来自代码里的字符串，实际输出就是这样。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08985" cy="909257"/>
            <a:chOff x="520446" y="342900"/>
            <a:chExt cx="76089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089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调超类的有参构造方法，必须自己写 super(...)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709035"/>
            <a:chOff x="533400" y="1524000"/>
            <a:chExt cx="5951220" cy="37090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709035"/>
            </a:xfrm>
            <a:prstGeom prst="roundRect">
              <a:avLst>
                <a:gd name="adj" fmla="val 25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314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4.4　用 super 把参数传上去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194"/>
              <a:ext cx="3144393" cy="3213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Ball1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Ball1(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x)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System.out.print(</a:t>
              </a:r>
              <a:r>
                <a:rPr lang="en-US" sz="8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have "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x + </a:t>
              </a:r>
              <a:r>
                <a:rPr lang="en-US" sz="8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Ball,"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Playing1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Ball1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Playing1(String who)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(2);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System.out.print(who + </a:t>
              </a:r>
              <a:r>
                <a:rPr lang="en-US" sz="8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"kick it"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FootBall1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Playing1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FootBall1()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</a:t>
              </a:r>
              <a:r>
                <a:rPr lang="en-US" sz="8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"John "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8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with his foot."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FootBall1();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5407342"/>
            <a:ext cx="5951220" cy="668655"/>
            <a:chOff x="533400" y="5407342"/>
            <a:chExt cx="5951220" cy="668655"/>
          </a:xfrm>
        </p:grpSpPr>
        <p:sp>
          <p:nvSpPr>
            <p:cNvPr id="11" name="Rectangle 11"/>
            <p:cNvSpPr/>
            <p:nvPr/>
          </p:nvSpPr>
          <p:spPr>
            <a:xfrm>
              <a:off x="533400" y="5407342"/>
              <a:ext cx="5951220" cy="668655"/>
            </a:xfrm>
            <a:prstGeom prst="roundRect">
              <a:avLst>
                <a:gd name="adj" fmla="val 1424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5559266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88" y="5819489"/>
              <a:ext cx="2696045" cy="173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 have 2 Ball,John kick it with his foot.</a:t>
              </a:r>
            </a:p>
          </p:txBody>
        </p:sp>
      </p:grpSp>
      <p:grpSp>
        <p:nvGrpSpPr>
          <p:cNvPr id="22" name="c2-card-1"/>
          <p:cNvGrpSpPr/>
          <p:nvPr/>
        </p:nvGrpSpPr>
        <p:grpSpPr>
          <a:xfrm>
            <a:off x="6789420" y="1524000"/>
            <a:ext cx="4869180" cy="1697355"/>
            <a:chOff x="6789420" y="1524000"/>
            <a:chExt cx="4869180" cy="1697355"/>
          </a:xfrm>
        </p:grpSpPr>
        <p:sp>
          <p:nvSpPr>
            <p:cNvPr id="15" name="Rectangle 15"/>
            <p:cNvSpPr/>
            <p:nvPr/>
          </p:nvSpPr>
          <p:spPr>
            <a:xfrm>
              <a:off x="6789420" y="1524000"/>
              <a:ext cx="4869180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798945" y="1657350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019925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095363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常见编译错误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137017" y="175641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超类没有无参构造方法时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13067" y="2090738"/>
              <a:ext cx="38970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超类只写了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Ball1(int x)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，子类构造方法又没写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super(...)，编译器仍会插入 super()，于是报：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14210" y="2646521"/>
              <a:ext cx="395147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错误：无法将类 Ball1 中的构造器 Ball1 应用到给定类型；需要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int，找到 没有参数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789420" y="3396615"/>
            <a:ext cx="4869180" cy="2771775"/>
            <a:chOff x="6789420" y="3396615"/>
            <a:chExt cx="4869180" cy="2771775"/>
          </a:xfrm>
        </p:grpSpPr>
        <p:sp>
          <p:nvSpPr>
            <p:cNvPr id="23" name="Rectangle 23"/>
            <p:cNvSpPr/>
            <p:nvPr/>
          </p:nvSpPr>
          <p:spPr>
            <a:xfrm>
              <a:off x="6789420" y="3396615"/>
              <a:ext cx="4869180" cy="2771775"/>
            </a:xfrm>
            <a:prstGeom prst="roundRect">
              <a:avLst>
                <a:gd name="adj" fmla="val 48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98945" y="3529965"/>
              <a:ext cx="47625" cy="25050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19925" y="3589020"/>
              <a:ext cx="1063942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76366" y="3623310"/>
              <a:ext cx="9520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 · JDK 25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91310" y="3629025"/>
              <a:ext cx="2937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super(...) 不再必须是第一条语句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13067" y="3963352"/>
              <a:ext cx="4193667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原课件说「注意 super 的位置」，指的是它必须写在构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造方法首行。这条规则到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Java 25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放宽了（灵活构造器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主体）。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13067" y="4779645"/>
              <a:ext cx="423995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现在可以在 super(...) 之前写不引用 this 的语句；一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旦引用实例成员，仍然报「无法在调用超类型构造器之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前引用 v」。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14210" y="5593556"/>
              <a:ext cx="414350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 javac --release 17 编译同一段代码会报「-source 17 中不支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持 灵活构造器」，所以考试按首行答仍然稳妥。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31199" cy="909257"/>
            <a:chOff x="520446" y="342900"/>
            <a:chExt cx="59311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311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super 还能直接点出超类被遮挡的成员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626418" cy="3723322"/>
            <a:chOff x="533400" y="1524000"/>
            <a:chExt cx="5626418" cy="37233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723322"/>
            </a:xfrm>
            <a:prstGeom prst="roundRect">
              <a:avLst>
                <a:gd name="adj" fmla="val 255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7312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4.5　同名字段与同名方法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223260"/>
              <a:ext cx="5588318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601402"/>
              <a:ext cx="5588318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416" y="1937385"/>
              <a:ext cx="3237738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Country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name;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value() { name = 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"China"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City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Country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name;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value()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name = 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"Beijing"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.value();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System.out.println(name);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.name);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City c =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City();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c.value();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6464618" y="1524000"/>
            <a:ext cx="5193982" cy="828675"/>
            <a:chOff x="6464618" y="1524000"/>
            <a:chExt cx="5193982" cy="828675"/>
          </a:xfrm>
        </p:grpSpPr>
        <p:sp>
          <p:nvSpPr>
            <p:cNvPr id="13" name="Rectangle 13"/>
            <p:cNvSpPr/>
            <p:nvPr/>
          </p:nvSpPr>
          <p:spPr>
            <a:xfrm>
              <a:off x="6464618" y="1524000"/>
              <a:ext cx="5193982" cy="828675"/>
            </a:xfrm>
            <a:prstGeom prst="roundRect">
              <a:avLst>
                <a:gd name="adj" fmla="val 1149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593015" y="1675924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93205" y="1935194"/>
              <a:ext cx="439801" cy="3333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Beijing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China</a:t>
              </a:r>
            </a:p>
          </p:txBody>
        </p:sp>
      </p:grpSp>
      <p:grpSp>
        <p:nvGrpSpPr>
          <p:cNvPr id="24" name="c2-card-2"/>
          <p:cNvGrpSpPr/>
          <p:nvPr/>
        </p:nvGrpSpPr>
        <p:grpSpPr>
          <a:xfrm>
            <a:off x="6464618" y="2527935"/>
            <a:ext cx="5193982" cy="2088832"/>
            <a:chOff x="6464618" y="2527935"/>
            <a:chExt cx="5193982" cy="2088832"/>
          </a:xfrm>
        </p:grpSpPr>
        <p:sp>
          <p:nvSpPr>
            <p:cNvPr id="17" name="Rectangle 17"/>
            <p:cNvSpPr/>
            <p:nvPr/>
          </p:nvSpPr>
          <p:spPr>
            <a:xfrm>
              <a:off x="6464618" y="2527935"/>
              <a:ext cx="5193982" cy="2088832"/>
            </a:xfrm>
            <a:prstGeom prst="roundRect">
              <a:avLst>
                <a:gd name="adj" fmla="val 6384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657022" y="2720340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44462" y="275463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74064" y="2760345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 name 同时存在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50164" y="3093720"/>
              <a:ext cx="43685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City 里的 name 遮挡了 Country 的 name，但没有覆盖掉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它，对象里两个字段都在。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50164" y="3653790"/>
              <a:ext cx="45026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name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取的是子类那个，</a:t>
              </a:r>
              <a:r>
                <a:rPr lang="en-US" sz="135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super.name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取的是超类那个。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50164" y="3956685"/>
              <a:ext cx="43342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super.value() 调的是超类方法，它写的 name 是超类的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name，所以改的是 China 那一份。</a:t>
              </a:r>
            </a:p>
          </p:txBody>
        </p:sp>
      </p:grpSp>
      <p:grpSp>
        <p:nvGrpSpPr>
          <p:cNvPr id="32" name="c2-card-3"/>
          <p:cNvGrpSpPr/>
          <p:nvPr/>
        </p:nvGrpSpPr>
        <p:grpSpPr>
          <a:xfrm>
            <a:off x="6464618" y="4792028"/>
            <a:ext cx="5193982" cy="1529715"/>
            <a:chOff x="6464618" y="4792028"/>
            <a:chExt cx="5193982" cy="1529715"/>
          </a:xfrm>
        </p:grpSpPr>
        <p:sp>
          <p:nvSpPr>
            <p:cNvPr id="25" name="Rectangle 25"/>
            <p:cNvSpPr/>
            <p:nvPr/>
          </p:nvSpPr>
          <p:spPr>
            <a:xfrm>
              <a:off x="6464618" y="4792028"/>
              <a:ext cx="5193982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74142" y="4925378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95122" y="498443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86562" y="501872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78814" y="502443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原课件的代码编不过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88264" y="5357812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原课件的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 static void main()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缺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String[] args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数，字符串 “China”“Beijing” 用的是中文引号。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88264" y="5917883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按上面的写法改过之后才能编译运行。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继承的五个特征，和它换来的代价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bullets-1"/>
          <p:cNvGrpSpPr/>
          <p:nvPr/>
        </p:nvGrpSpPr>
        <p:grpSpPr>
          <a:xfrm>
            <a:off x="525780" y="1548765"/>
            <a:ext cx="5372100" cy="2598420"/>
            <a:chOff x="525780" y="1548765"/>
            <a:chExt cx="5372100" cy="25984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5624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Java 继承的特征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89760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5249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4390" y="1903095"/>
              <a:ext cx="4853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继承关系是传递的，A 继承 B、B 继承 C，A 也拿到 C 的成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520315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5249" y="25626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4390" y="253365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继承简化了对事物的描述，能清晰体现类之间的层次结构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865120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5249" y="29074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4390" y="28784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继承提供了软件复用功能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209925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32522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322326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继承通过增强一致性来减少模块间的接口，程序更易维护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3554730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5249" y="35970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4390" y="3568065"/>
              <a:ext cx="4872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出于安全性和可靠性只支持单重继承，多重继承交给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4278630"/>
            <a:ext cx="5410200" cy="1621155"/>
            <a:chOff x="533400" y="4278630"/>
            <a:chExt cx="5410200" cy="1621155"/>
          </a:xfrm>
        </p:grpSpPr>
        <p:sp>
          <p:nvSpPr>
            <p:cNvPr id="24" name="Rectangle 24"/>
            <p:cNvSpPr/>
            <p:nvPr/>
          </p:nvSpPr>
          <p:spPr>
            <a:xfrm>
              <a:off x="533400" y="4278630"/>
              <a:ext cx="5410200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41198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81050" y="448818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54507" y="452389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单继承的补救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50720" y="452342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多重继承交给接口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3430" y="4884420"/>
              <a:ext cx="4672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 允许一个类有多个基类，Java 不允许。要让一个类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同时具备几种能力，就让它实现多个接口，这是 4.3 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的主题。</a:t>
              </a:r>
            </a:p>
          </p:txBody>
        </p:sp>
      </p:grpSp>
      <p:grpSp>
        <p:nvGrpSpPr>
          <p:cNvPr id="49" name="c2-compare-1"/>
          <p:cNvGrpSpPr/>
          <p:nvPr/>
        </p:nvGrpSpPr>
        <p:grpSpPr>
          <a:xfrm>
            <a:off x="6248400" y="1524000"/>
            <a:ext cx="5410200" cy="2846070"/>
            <a:chOff x="6248400" y="1524000"/>
            <a:chExt cx="5410200" cy="2846070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2495550" cy="2846070"/>
            </a:xfrm>
            <a:prstGeom prst="roundRect">
              <a:avLst>
                <a:gd name="adj" fmla="val 53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25793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88430" y="17583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继承复用的优点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501765" y="217551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9880" y="211264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超类的大部分功能自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动进入子类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79654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73367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新类的实现、修改和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扩展比较容易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9163050" y="1524000"/>
              <a:ext cx="2495550" cy="2846070"/>
            </a:xfrm>
            <a:prstGeom prst="roundRect">
              <a:avLst>
                <a:gd name="adj" fmla="val 53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172575" y="1657350"/>
              <a:ext cx="47625" cy="257937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403080" y="17583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继承复用的缺点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9416415" y="217551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574530" y="2112645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把超类的实现细节暴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露给子类，可能破坏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9416415" y="308229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574530" y="301942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继承来的实现是静态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的，运行时改不了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9416415" y="370332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574530" y="364045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灵活性不足，只能在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有限的环境中使用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8791575" y="278511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861915" y="288131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6248400" y="4560570"/>
            <a:ext cx="5410200" cy="1339215"/>
            <a:chOff x="6248400" y="4560570"/>
            <a:chExt cx="5410200" cy="1339215"/>
          </a:xfrm>
        </p:grpSpPr>
        <p:sp>
          <p:nvSpPr>
            <p:cNvPr id="50" name="Rectangle 50"/>
            <p:cNvSpPr/>
            <p:nvPr/>
          </p:nvSpPr>
          <p:spPr>
            <a:xfrm>
              <a:off x="6248400" y="4560570"/>
              <a:ext cx="5410200" cy="1339215"/>
            </a:xfrm>
            <a:prstGeom prst="roundRect">
              <a:avLst>
                <a:gd name="adj" fmla="val 853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453188" y="5130165"/>
              <a:ext cx="200026" cy="200025"/>
              <a:chOff x="6453188" y="5130165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453188" y="51301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492926" y="51746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527642" y="52857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755130" y="498729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组合能在运行时换掉被持有的对象，继承不能。要在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「运行时替换实现」的场合，优先考虑组合加接口。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63051" cy="909257"/>
            <a:chOff x="520446" y="342900"/>
            <a:chExt cx="68630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630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重写 Override：子类把超类已有的方法改掉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202055"/>
            <a:chOff x="533400" y="1524000"/>
            <a:chExt cx="5193982" cy="1202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什么叫重写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子类不想原封不动地继承超类的方法，而要作一定修改，这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叫重写（Override，也叫覆写）。</a:t>
              </a:r>
            </a:p>
          </p:txBody>
        </p:sp>
      </p:grpSp>
      <p:grpSp>
        <p:nvGrpSpPr>
          <p:cNvPr id="27" name="c1-bullets-2"/>
          <p:cNvGrpSpPr/>
          <p:nvPr/>
        </p:nvGrpSpPr>
        <p:grpSpPr>
          <a:xfrm>
            <a:off x="526542" y="2918460"/>
            <a:ext cx="3754374" cy="1507045"/>
            <a:chOff x="526542" y="2918460"/>
            <a:chExt cx="3754374" cy="1507045"/>
          </a:xfrm>
        </p:grpSpPr>
        <p:sp>
          <p:nvSpPr>
            <p:cNvPr id="14" name="TextBox 14"/>
            <p:cNvSpPr txBox="1"/>
            <p:nvPr/>
          </p:nvSpPr>
          <p:spPr>
            <a:xfrm>
              <a:off x="526542" y="291846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编译器认定重写的四条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3223260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89078" y="32616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14197" y="323564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方法名与参数列表必须和超类完全相同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3531870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89078" y="35702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4197" y="354425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返回类型相同，或者是超类返回类型的子类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3840480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89078" y="38788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4197" y="385286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访问权限不能比超类方法更严格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4149090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9078" y="418747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4197" y="416147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不能抛出新的或更宽泛的检查异常</a:t>
              </a:r>
            </a:p>
          </p:txBody>
        </p:sp>
      </p:grpSp>
      <p:grpSp>
        <p:nvGrpSpPr>
          <p:cNvPr id="36" name="c1-card-3"/>
          <p:cNvGrpSpPr/>
          <p:nvPr/>
        </p:nvGrpSpPr>
        <p:grpSpPr>
          <a:xfrm>
            <a:off x="533400" y="4542472"/>
            <a:ext cx="5193982" cy="1803082"/>
            <a:chOff x="533400" y="4542472"/>
            <a:chExt cx="5193982" cy="1803082"/>
          </a:xfrm>
        </p:grpSpPr>
        <p:sp>
          <p:nvSpPr>
            <p:cNvPr id="28" name="Rectangle 28"/>
            <p:cNvSpPr/>
            <p:nvPr/>
          </p:nvSpPr>
          <p:spPr>
            <a:xfrm>
              <a:off x="533400" y="4542472"/>
              <a:ext cx="5193982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675822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58190" y="472916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0862" y="47620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记法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23784" y="476440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两同、两小、一大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1332" y="509016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两同：方法名相同，参数列表相同。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1332" y="5390198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两小：返回类型和抛出的检查异常，子类的要比超类的小或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相等。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1332" y="594741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一大：访问权限，子类的要比超类的大或相等。</a:t>
              </a:r>
            </a:p>
          </p:txBody>
        </p:sp>
      </p:grpSp>
      <p:grpSp>
        <p:nvGrpSpPr>
          <p:cNvPr id="73" name="c2-table-1"/>
          <p:cNvGrpSpPr/>
          <p:nvPr/>
        </p:nvGrpSpPr>
        <p:grpSpPr>
          <a:xfrm>
            <a:off x="6032182" y="1524000"/>
            <a:ext cx="5626418" cy="3600450"/>
            <a:chOff x="6032182" y="1524000"/>
            <a:chExt cx="5626418" cy="3600450"/>
          </a:xfrm>
        </p:grpSpPr>
        <p:sp>
          <p:nvSpPr>
            <p:cNvPr id="37" name="Rectangle 37"/>
            <p:cNvSpPr/>
            <p:nvPr/>
          </p:nvSpPr>
          <p:spPr>
            <a:xfrm>
              <a:off x="6032182" y="1524000"/>
              <a:ext cx="5626418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5679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68817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是否构成重写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45122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编译结果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129338" y="204549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参数、返回、权限都相同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92490" y="20454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955530" y="20454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32182" y="23193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32182" y="2324100"/>
              <a:ext cx="5626418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129338" y="2445544"/>
              <a:ext cx="2037639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Animal 返回 Animal，子类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 Dog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404860" y="2333625"/>
              <a:ext cx="1443990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492490" y="2545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955530" y="2545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通过（协变返回）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032182" y="291941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129338" y="3045619"/>
              <a:ext cx="1873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public，子类 private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492490" y="30456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867900" y="2933700"/>
              <a:ext cx="1781175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955530" y="30456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032182" y="33194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032182" y="3324225"/>
              <a:ext cx="5626418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29338" y="3445669"/>
              <a:ext cx="2051507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throws IOException，子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 throws Exception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492490" y="35456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9867900" y="3333750"/>
              <a:ext cx="1781175" cy="58102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955530" y="35456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032182" y="39195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129338" y="4045744"/>
              <a:ext cx="2051507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throws IOException，子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类不抛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492490" y="41457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955530" y="41457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032182" y="451961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032182" y="4524375"/>
              <a:ext cx="5626418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129338" y="4645819"/>
              <a:ext cx="206110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private 方法，子类写同名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492490" y="47458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955530" y="47458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通过，但只是新方法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032182" y="1524000"/>
              <a:ext cx="5626418" cy="36004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390572" y="1524000"/>
              <a:ext cx="9525" cy="36004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853612" y="1524000"/>
              <a:ext cx="9525" cy="36004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9" name="c2-callout-2"/>
          <p:cNvGrpSpPr/>
          <p:nvPr/>
        </p:nvGrpSpPr>
        <p:grpSpPr>
          <a:xfrm>
            <a:off x="6032182" y="5293995"/>
            <a:ext cx="5626418" cy="1050608"/>
            <a:chOff x="6032182" y="5293995"/>
            <a:chExt cx="5626418" cy="1050608"/>
          </a:xfrm>
        </p:grpSpPr>
        <p:sp>
          <p:nvSpPr>
            <p:cNvPr id="74" name="Rectangle 74"/>
            <p:cNvSpPr/>
            <p:nvPr/>
          </p:nvSpPr>
          <p:spPr>
            <a:xfrm>
              <a:off x="6032182" y="5293995"/>
              <a:ext cx="5626418" cy="1050608"/>
            </a:xfrm>
            <a:prstGeom prst="roundRect">
              <a:avLst>
                <a:gd name="adj" fmla="val 1087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6236970" y="5719765"/>
              <a:ext cx="200023" cy="200023"/>
              <a:chOff x="6236970" y="5719765"/>
              <a:chExt cx="200023" cy="200023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6236970" y="571976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370320" y="57864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6539674" y="5600700"/>
              <a:ext cx="472859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方法上加 </a:t>
              </a:r>
              <a:r>
                <a:rPr lang="en-US" sz="135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@Override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注解，写错一个字母编译器就会拦住你，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值得养成习惯。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48148" cy="909257"/>
            <a:chOff x="520446" y="342900"/>
            <a:chExt cx="48481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481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4.6　重写的正例与两个反例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319462"/>
            <a:chOff x="533400" y="1524000"/>
            <a:chExt cx="5410200" cy="3319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19462"/>
            </a:xfrm>
            <a:prstGeom prst="roundRect">
              <a:avLst>
                <a:gd name="adj" fmla="val 28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4736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正例</a:t>
              </a:r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：子类重写 print()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644138" cy="28338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"超类Person的print方法!"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"子类Student的print方法!"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OverrideExample01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 args[])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Student s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s.print();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子类Student的print方法!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5" name="c2-code-1"/>
          <p:cNvGrpSpPr/>
          <p:nvPr/>
        </p:nvGrpSpPr>
        <p:grpSpPr>
          <a:xfrm>
            <a:off x="6248400" y="1524000"/>
            <a:ext cx="5410200" cy="1209675"/>
            <a:chOff x="6248400" y="1524000"/>
            <a:chExt cx="5410200" cy="1209675"/>
          </a:xfrm>
        </p:grpSpPr>
        <p:sp>
          <p:nvSpPr>
            <p:cNvPr id="11" name="Rectangle 11"/>
            <p:cNvSpPr/>
            <p:nvPr/>
          </p:nvSpPr>
          <p:spPr>
            <a:xfrm>
              <a:off x="6248400" y="1524000"/>
              <a:ext cx="5410200" cy="1209675"/>
            </a:xfrm>
            <a:prstGeom prst="roundRect">
              <a:avLst>
                <a:gd name="adj" fmla="val 787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376797" y="1675924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反例一</a:t>
              </a:r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：重写时降低了访问权限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267450" y="207549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76797" y="1935956"/>
              <a:ext cx="3227197" cy="719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P2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print() {}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S2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P2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print() {} 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S2中的print()无法覆盖P2中的print()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      正在尝试分配更低的访问权限; 以前为public</a:t>
              </a:r>
            </a:p>
          </p:txBody>
        </p:sp>
      </p:grpSp>
      <p:grpSp>
        <p:nvGrpSpPr>
          <p:cNvPr id="19" name="c2-code-2"/>
          <p:cNvGrpSpPr/>
          <p:nvPr/>
        </p:nvGrpSpPr>
        <p:grpSpPr>
          <a:xfrm>
            <a:off x="6248400" y="2924175"/>
            <a:ext cx="5410200" cy="1912620"/>
            <a:chOff x="6248400" y="2924175"/>
            <a:chExt cx="5410200" cy="1912620"/>
          </a:xfrm>
        </p:grpSpPr>
        <p:sp>
          <p:nvSpPr>
            <p:cNvPr id="16" name="Rectangle 16"/>
            <p:cNvSpPr/>
            <p:nvPr/>
          </p:nvSpPr>
          <p:spPr>
            <a:xfrm>
              <a:off x="6248400" y="2924175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76797" y="3076099"/>
              <a:ext cx="26609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反例二</a:t>
              </a:r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：超类方法是 private，根本没被重写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76797" y="3336131"/>
              <a:ext cx="3569462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"PA.f"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call() { f();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PB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"PB.f"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PB().call();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实测输出 PA.f</a:t>
              </a:r>
            </a:p>
          </p:txBody>
        </p:sp>
      </p:grpSp>
      <p:grpSp>
        <p:nvGrpSpPr>
          <p:cNvPr id="2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0" name="Rectangle 2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130" y="5991225"/>
              <a:ext cx="77289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超类方法是 private 时，子类写同名方法只是定义了一个新方法，达不到重写的效果。</a:t>
              </a:r>
            </a:p>
          </p:txBody>
        </p:sp>
      </p:grpSp>
      <p:grpSp>
        <p:nvGrpSpPr>
          <p:cNvPr id="2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7" name="TextBox 2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36175" cy="909257"/>
            <a:chOff x="520446" y="342900"/>
            <a:chExt cx="82361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361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 Overload：同一个类里同名方法靠参数列表区分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3235642"/>
            <a:chOff x="533400" y="1524000"/>
            <a:chExt cx="5626418" cy="32356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235642"/>
            </a:xfrm>
            <a:prstGeom prst="roundRect">
              <a:avLst>
                <a:gd name="adj" fmla="val 294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5913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4.7　四个同名的 print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49" y="1936337"/>
              <a:ext cx="4014800" cy="27422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Item {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name;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qty;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print() {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"name: "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name + 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 qty: "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qty);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print(String a,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b) { ...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print(String a,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b,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 { ...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print(String a,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b,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double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c) { ...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Item p1 =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Item();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p1.name = 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"pen"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 p1.qty = 22;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p1.print();                      </a:t>
              </a:r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name: pen qty: 22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p1.print(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"book"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19);            </a:t>
              </a:r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name: book qty: 19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p1.print(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"disk"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18, 325);  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走 int 那一个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p1.print(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"cup"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, 25, 903.0); 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走 double 那一个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4945380"/>
            <a:ext cx="5626418" cy="1389698"/>
            <a:chOff x="533400" y="4945380"/>
            <a:chExt cx="5626418" cy="1389698"/>
          </a:xfrm>
        </p:grpSpPr>
        <p:sp>
          <p:nvSpPr>
            <p:cNvPr id="11" name="Rectangle 11"/>
            <p:cNvSpPr/>
            <p:nvPr/>
          </p:nvSpPr>
          <p:spPr>
            <a:xfrm>
              <a:off x="533400" y="4945380"/>
              <a:ext cx="5626418" cy="1389698"/>
            </a:xfrm>
            <a:prstGeom prst="roundRect">
              <a:avLst>
                <a:gd name="adj" fmla="val 8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539740"/>
              <a:ext cx="200026" cy="200026"/>
              <a:chOff x="738188" y="5539740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53974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56064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563975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511" y="5278279"/>
              <a:ext cx="4640199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最后两次调用的第三个实参分别是 325 和 903.0，编译器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按实参类型在 int 版本和 double 版本之间挑，这个过程叫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重载解析。</a:t>
              </a:r>
            </a:p>
          </p:txBody>
        </p:sp>
      </p:grpSp>
      <p:grpSp>
        <p:nvGrpSpPr>
          <p:cNvPr id="27" name="c2-bullets-1"/>
          <p:cNvGrpSpPr/>
          <p:nvPr/>
        </p:nvGrpSpPr>
        <p:grpSpPr>
          <a:xfrm>
            <a:off x="6457379" y="1547336"/>
            <a:ext cx="4662626" cy="1605535"/>
            <a:chOff x="6457379" y="1547336"/>
            <a:chExt cx="4662626" cy="1605535"/>
          </a:xfrm>
        </p:grpSpPr>
        <p:sp>
          <p:nvSpPr>
            <p:cNvPr id="18" name="TextBox 18"/>
            <p:cNvSpPr txBox="1"/>
            <p:nvPr/>
          </p:nvSpPr>
          <p:spPr>
            <a:xfrm>
              <a:off x="6457379" y="154733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重载只认参数列表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464618" y="191643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708838" y="1886426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参数的类型、个数或顺序不同，就是不同的方法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6464618" y="2245042"/>
              <a:ext cx="137160" cy="111443"/>
            </a:xfrm>
            <a:custGeom>
              <a:avLst/>
              <a:gdLst/>
              <a:ahLst/>
              <a:cxnLst/>
              <a:rect l="l" t="t" r="r" b="b"/>
              <a:pathLst>
                <a:path w="137160" h="111443">
                  <a:moveTo>
                    <a:pt x="0" y="59055"/>
                  </a:moveTo>
                  <a:lnTo>
                    <a:pt x="52388" y="111443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08838" y="2215039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可以有不同的返回类型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6464618" y="2574608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9055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08838" y="254460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可以有不同的访问修饰符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6464618" y="2904172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08838" y="2874169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可以声明不同的异常，异常的类型和数目不影响重载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464618" y="3282315"/>
            <a:ext cx="5193982" cy="1574482"/>
            <a:chOff x="6464618" y="3282315"/>
            <a:chExt cx="5193982" cy="1574482"/>
          </a:xfrm>
        </p:grpSpPr>
        <p:sp>
          <p:nvSpPr>
            <p:cNvPr id="28" name="Rectangle 28"/>
            <p:cNvSpPr/>
            <p:nvPr/>
          </p:nvSpPr>
          <p:spPr>
            <a:xfrm>
              <a:off x="6464618" y="3282315"/>
              <a:ext cx="5193982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3415665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06552" y="34861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97713" y="35218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07961" y="352567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只有返回类型不同不叫重载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99314" y="3877151"/>
              <a:ext cx="456806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int f()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double f()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写在同一个类里，编译器报「已在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类中定义了方法 f()」。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0456" y="4465320"/>
              <a:ext cx="38569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原因：调用处写 </a:t>
              </a:r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f();</a:t>
              </a: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 xml:space="preserve"> 时编译器无从判断该选哪一个。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464618" y="5041582"/>
            <a:ext cx="5193982" cy="1293495"/>
            <a:chOff x="6464618" y="5041582"/>
            <a:chExt cx="5193982" cy="1293495"/>
          </a:xfrm>
        </p:grpSpPr>
        <p:sp>
          <p:nvSpPr>
            <p:cNvPr id="36" name="Rectangle 36"/>
            <p:cNvSpPr/>
            <p:nvPr/>
          </p:nvSpPr>
          <p:spPr>
            <a:xfrm>
              <a:off x="6464618" y="5041582"/>
              <a:ext cx="5193982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4142" y="5174932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06552" y="524541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97713" y="52811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07961" y="5285899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原课件的示例数据已替换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99314" y="5637371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原课件用的是几位同学的姓名和编号，这里换成了不含个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人信息的商品数据，方法签名和调用次序不变。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重写与重载：容易混，但判据完全不同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table-1"/>
          <p:cNvGrpSpPr/>
          <p:nvPr/>
        </p:nvGrpSpPr>
        <p:grpSpPr>
          <a:xfrm>
            <a:off x="533400" y="1524000"/>
            <a:ext cx="6059805" cy="3413760"/>
            <a:chOff x="533400" y="1524000"/>
            <a:chExt cx="6059805" cy="34137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8768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89635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区别点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769" y="1663065"/>
              <a:ext cx="17084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重载 Overloading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15229" y="1663065"/>
              <a:ext cx="15918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重写 Overriding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1507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发生位置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73580" y="21507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同一个类中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6732" y="21507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子类与超类之间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945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9936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26384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73580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36732" y="2638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822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12610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参数列表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76425" y="2996565"/>
              <a:ext cx="2344102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973580" y="312610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必须不同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239578" y="2996565"/>
              <a:ext cx="2344102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336732" y="312610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必须相同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4699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47472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0080" y="36137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返回类型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73580" y="36137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可以不同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36732" y="36137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相同或是其子类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9576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0080" y="41014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访问权限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73580" y="41014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没有要求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336732" y="41014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不能比超类更严格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44531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45008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0080" y="45891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绑定时机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973580" y="45891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编译期（静态）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239578" y="4459605"/>
              <a:ext cx="2344102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336732" y="45891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运行期（动态）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524000"/>
              <a:ext cx="6059805" cy="34137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862138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225290" y="1524000"/>
              <a:ext cx="9525" cy="34137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graph-1"/>
          <p:cNvGrpSpPr/>
          <p:nvPr/>
        </p:nvGrpSpPr>
        <p:grpSpPr>
          <a:xfrm>
            <a:off x="7167278" y="1871662"/>
            <a:ext cx="4078877" cy="2741962"/>
            <a:chOff x="7167278" y="1871662"/>
            <a:chExt cx="4078877" cy="2741962"/>
          </a:xfrm>
        </p:grpSpPr>
        <p:sp>
          <p:nvSpPr>
            <p:cNvPr id="44" name="Freeform 44"/>
            <p:cNvSpPr/>
            <p:nvPr/>
          </p:nvSpPr>
          <p:spPr>
            <a:xfrm>
              <a:off x="8135302" y="2500312"/>
              <a:ext cx="9525" cy="737235"/>
            </a:xfrm>
            <a:custGeom>
              <a:avLst/>
              <a:gdLst/>
              <a:ahLst/>
              <a:cxnLst/>
              <a:rect l="l" t="t" r="r" b="b"/>
              <a:pathLst>
                <a:path w="9525" h="737235">
                  <a:moveTo>
                    <a:pt x="0" y="73723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087678" y="24050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563802" y="1871662"/>
              <a:ext cx="1143000" cy="533400"/>
            </a:xfrm>
            <a:prstGeom prst="roundRect">
              <a:avLst>
                <a:gd name="adj" fmla="val 17857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563802" y="3237548"/>
              <a:ext cx="1143000" cy="533400"/>
            </a:xfrm>
            <a:prstGeom prst="roundRect">
              <a:avLst>
                <a:gd name="adj" fmla="val 17857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896475" y="3161348"/>
              <a:ext cx="12382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921969" y="1989772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62815" y="2156460"/>
              <a:ext cx="544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print()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921969" y="3355658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 B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62815" y="3522345"/>
              <a:ext cx="544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print()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372942" y="3271838"/>
              <a:ext cx="2853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 C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243113" y="3438525"/>
              <a:ext cx="544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print()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076142" y="3605212"/>
              <a:ext cx="87891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print(int a)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993380" y="274224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020152" y="277225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重写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67278" y="4422934"/>
              <a:ext cx="19360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参数 · 返回 · 权限 三者都受约束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785045" y="227218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重载：只要参数列表不同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1" name="Rectangle 6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130" y="5991225"/>
              <a:ext cx="7486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一句话判据：看两个方法在不在同一个类里。在，就是重载；跨了继承，才谈重写。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45810" cy="909257"/>
            <a:chOff x="520446" y="342900"/>
            <a:chExt cx="80458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458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this 的两种用法：指当前对象，或调另一个构造方法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1912620"/>
            <a:chOff x="533400" y="1524000"/>
            <a:chExt cx="5410200" cy="19126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用法一：参数与字段同名时区分它们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252089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PersonInfo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name;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age;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PersonInfo(String name,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age)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.name = name;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左边字段，右边参数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.age  = age;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627120"/>
            <a:ext cx="5410200" cy="2679382"/>
            <a:chOff x="533400" y="3627120"/>
            <a:chExt cx="5410200" cy="2679382"/>
          </a:xfrm>
        </p:grpSpPr>
        <p:sp>
          <p:nvSpPr>
            <p:cNvPr id="11" name="Rectangle 11"/>
            <p:cNvSpPr/>
            <p:nvPr/>
          </p:nvSpPr>
          <p:spPr>
            <a:xfrm>
              <a:off x="533400" y="3627120"/>
              <a:ext cx="5410200" cy="2679382"/>
            </a:xfrm>
            <a:prstGeom prst="roundRect">
              <a:avLst>
                <a:gd name="adj" fmla="val 497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3760470"/>
              <a:ext cx="47625" cy="24126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81050" y="383667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1258" y="38723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82078" y="387191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原课件那段不是构造方法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4232910"/>
              <a:ext cx="46634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原课件写的是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void PersonInformation(...)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，带了返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回类型 void，它只是一个和类同名的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普通方法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，new 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象时不会执行。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513969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构造方法不写返回类型，这里已按构造方法改正。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248400" y="1524000"/>
            <a:ext cx="5410200" cy="2440305"/>
            <a:chOff x="6248400" y="1524000"/>
            <a:chExt cx="5410200" cy="244030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6797" y="1675924"/>
              <a:ext cx="26814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用法二：this(...) 调用本类另一个构造方法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76797" y="1935956"/>
              <a:ext cx="3158744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UserInfo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userName;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userNumber;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UserInfo(String name)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(name, 0);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写在首行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UserInfo(String name,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number)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userName = name;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userNumber = number;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4154805"/>
            <a:ext cx="5410200" cy="2152650"/>
            <a:chOff x="6248400" y="4154805"/>
            <a:chExt cx="5410200" cy="2152650"/>
          </a:xfrm>
        </p:grpSpPr>
        <p:sp>
          <p:nvSpPr>
            <p:cNvPr id="23" name="Rectangle 23"/>
            <p:cNvSpPr/>
            <p:nvPr/>
          </p:nvSpPr>
          <p:spPr>
            <a:xfrm>
              <a:off x="6248400" y="4154805"/>
              <a:ext cx="5410200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4288155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96050" y="436435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78359" y="44000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两条限制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80923" y="4399598"/>
              <a:ext cx="16811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this(...) 的位置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88430" y="4760595"/>
              <a:ext cx="4672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this(...)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super(...) 一样要写在首行（JDK 21 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「对this的调用必须是构造器中的第一个语句」，Java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 起放宽），两者也不能同时出现。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89573" y="5664041"/>
              <a:ext cx="463778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原课件这段把类名拼成了 Userinfo，序列号 aNewSerialNumber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也没有定义，照抄编不过。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9091" cy="909257"/>
            <a:chOff x="520446" y="342900"/>
            <a:chExt cx="83890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90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final：类不许被继承，方法不许被重写，变量不许被改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3505200" cy="1884998"/>
            <a:chOff x="533400" y="1524000"/>
            <a:chExt cx="3505200" cy="188499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32472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9096" y="1763554"/>
              <a:ext cx="5659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final 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4869" y="17673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不能被继承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类的实现细节不允许改变、确信不会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再被扩展时，声明为 final。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711291"/>
              <a:ext cx="263842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final 类的成员方法没有机会被覆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盖，等于都是 final 的。</a:t>
              </a:r>
            </a:p>
          </p:txBody>
        </p:sp>
      </p:grpSp>
      <p:grpSp>
        <p:nvGrpSpPr>
          <p:cNvPr id="18" name="c1-code-2"/>
          <p:cNvGrpSpPr/>
          <p:nvPr/>
        </p:nvGrpSpPr>
        <p:grpSpPr>
          <a:xfrm>
            <a:off x="533400" y="3593782"/>
            <a:ext cx="3505200" cy="1415415"/>
            <a:chOff x="533400" y="3593782"/>
            <a:chExt cx="3505200" cy="1415415"/>
          </a:xfrm>
        </p:grpSpPr>
        <p:sp>
          <p:nvSpPr>
            <p:cNvPr id="15" name="Rectangle 15"/>
            <p:cNvSpPr/>
            <p:nvPr/>
          </p:nvSpPr>
          <p:spPr>
            <a:xfrm>
              <a:off x="533400" y="3593782"/>
              <a:ext cx="3505200" cy="1415415"/>
            </a:xfrm>
            <a:prstGeom prst="roundRect">
              <a:avLst>
                <a:gd name="adj" fmla="val 672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1797" y="374570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两个反例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1988" y="4004120"/>
              <a:ext cx="2356485" cy="9172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85"/>
                </a:lnSpc>
              </a:pP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FinalClass {}</a:t>
              </a:r>
              <a:br/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TestClass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FinalClass {}</a:t>
              </a:r>
              <a:br/>
              <a:r>
                <a:rPr lang="zh-CN" sz="8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无法从最终FinalClass进行继承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FinalClass2 {}</a:t>
              </a:r>
              <a:br/>
              <a:r>
                <a:rPr lang="zh-CN" sz="8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非法的修饰符组合: abstract和final</a:t>
              </a:r>
            </a:p>
          </p:txBody>
        </p:sp>
      </p:grpSp>
      <p:grpSp>
        <p:nvGrpSpPr>
          <p:cNvPr id="25" name="c1-callout-3"/>
          <p:cNvGrpSpPr/>
          <p:nvPr/>
        </p:nvGrpSpPr>
        <p:grpSpPr>
          <a:xfrm>
            <a:off x="533400" y="5194935"/>
            <a:ext cx="3505200" cy="1018222"/>
            <a:chOff x="533400" y="5194935"/>
            <a:chExt cx="3505200" cy="1018222"/>
          </a:xfrm>
        </p:grpSpPr>
        <p:sp>
          <p:nvSpPr>
            <p:cNvPr id="19" name="Rectangle 19"/>
            <p:cNvSpPr/>
            <p:nvPr/>
          </p:nvSpPr>
          <p:spPr>
            <a:xfrm>
              <a:off x="533400" y="5194935"/>
              <a:ext cx="3505200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5604510"/>
              <a:ext cx="200026" cy="200025"/>
              <a:chOff x="738188" y="5604510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6045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56489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57600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511" y="5342096"/>
              <a:ext cx="2692527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String、Integer 这些常用类都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 final 的，想扩展它们只能靠组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合。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4343400" y="1524000"/>
            <a:ext cx="3505200" cy="1884998"/>
            <a:chOff x="4343400" y="1524000"/>
            <a:chExt cx="3505200" cy="1884998"/>
          </a:xfrm>
        </p:grpSpPr>
        <p:sp>
          <p:nvSpPr>
            <p:cNvPr id="26" name="Rectangle 26"/>
            <p:cNvSpPr/>
            <p:nvPr/>
          </p:nvSpPr>
          <p:spPr>
            <a:xfrm>
              <a:off x="4343400" y="1524000"/>
              <a:ext cx="3505200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52925" y="1657350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85335" y="1727835"/>
              <a:ext cx="875348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64194" y="1763554"/>
              <a:ext cx="7166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final 方法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567744" y="17673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不能被重写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78096" y="211978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不允许子类覆盖某个方法时，把它声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明为 final，相当于给方法上锁。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78096" y="2711291"/>
              <a:ext cx="28728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编译器可以把对 final 方法的调用内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嵌进去，省下一次分派。</a:t>
              </a:r>
            </a:p>
          </p:txBody>
        </p:sp>
      </p:grpSp>
      <p:grpSp>
        <p:nvGrpSpPr>
          <p:cNvPr id="37" name="c2-code-2"/>
          <p:cNvGrpSpPr/>
          <p:nvPr/>
        </p:nvGrpSpPr>
        <p:grpSpPr>
          <a:xfrm>
            <a:off x="4343400" y="3593782"/>
            <a:ext cx="3505200" cy="1113472"/>
            <a:chOff x="4343400" y="3593782"/>
            <a:chExt cx="3505200" cy="1113472"/>
          </a:xfrm>
        </p:grpSpPr>
        <p:sp>
          <p:nvSpPr>
            <p:cNvPr id="34" name="Rectangle 34"/>
            <p:cNvSpPr/>
            <p:nvPr/>
          </p:nvSpPr>
          <p:spPr>
            <a:xfrm>
              <a:off x="4343400" y="3593782"/>
              <a:ext cx="3505200" cy="1113472"/>
            </a:xfrm>
            <a:prstGeom prst="roundRect">
              <a:avLst>
                <a:gd name="adj" fmla="val 855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471797" y="37457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71988" y="4004120"/>
              <a:ext cx="2473833" cy="6162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85"/>
                </a:lnSpc>
              </a:pP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FM {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{} }</a:t>
              </a:r>
              <a:br/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FN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FM {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{} }</a:t>
              </a:r>
              <a:br/>
              <a:r>
                <a:rPr lang="zh-CN" sz="8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FN中的g()无法覆盖FM中的g()</a:t>
              </a:r>
              <a:br/>
              <a:r>
                <a:rPr lang="zh-CN" sz="8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      被覆盖的方法为final</a:t>
              </a:r>
            </a:p>
          </p:txBody>
        </p:sp>
      </p:grpSp>
      <p:grpSp>
        <p:nvGrpSpPr>
          <p:cNvPr id="44" name="c2-callout-3"/>
          <p:cNvGrpSpPr/>
          <p:nvPr/>
        </p:nvGrpSpPr>
        <p:grpSpPr>
          <a:xfrm>
            <a:off x="4343400" y="4892992"/>
            <a:ext cx="3505200" cy="1320165"/>
            <a:chOff x="4343400" y="4892992"/>
            <a:chExt cx="3505200" cy="1320165"/>
          </a:xfrm>
        </p:grpSpPr>
        <p:sp>
          <p:nvSpPr>
            <p:cNvPr id="38" name="Rectangle 38"/>
            <p:cNvSpPr/>
            <p:nvPr/>
          </p:nvSpPr>
          <p:spPr>
            <a:xfrm>
              <a:off x="4343400" y="4892992"/>
              <a:ext cx="3505200" cy="1320165"/>
            </a:xfrm>
            <a:prstGeom prst="roundRect">
              <a:avLst>
                <a:gd name="adj" fmla="val 865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4548188" y="5453063"/>
              <a:ext cx="200026" cy="200026"/>
              <a:chOff x="4548188" y="5453063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548188" y="54530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648200" y="55197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637088" y="555307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4850511" y="5191601"/>
              <a:ext cx="2674493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方法隐含就是 final 的，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子类看不见它，自然也改不了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它。</a:t>
              </a:r>
            </a:p>
          </p:txBody>
        </p:sp>
      </p:grpSp>
      <p:grpSp>
        <p:nvGrpSpPr>
          <p:cNvPr id="52" name="c3-card-1"/>
          <p:cNvGrpSpPr/>
          <p:nvPr/>
        </p:nvGrpSpPr>
        <p:grpSpPr>
          <a:xfrm>
            <a:off x="8153400" y="1524000"/>
            <a:ext cx="3505200" cy="2205038"/>
            <a:chOff x="8153400" y="1524000"/>
            <a:chExt cx="3505200" cy="2205038"/>
          </a:xfrm>
        </p:grpSpPr>
        <p:sp>
          <p:nvSpPr>
            <p:cNvPr id="45" name="Rectangle 45"/>
            <p:cNvSpPr/>
            <p:nvPr/>
          </p:nvSpPr>
          <p:spPr>
            <a:xfrm>
              <a:off x="8153400" y="1524000"/>
              <a:ext cx="3505200" cy="2205038"/>
            </a:xfrm>
            <a:prstGeom prst="roundRect">
              <a:avLst>
                <a:gd name="adj" fmla="val 60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162925" y="1657350"/>
              <a:ext cx="47625" cy="193833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8395335" y="1727835"/>
              <a:ext cx="875348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474194" y="1763554"/>
              <a:ext cx="7166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final 变量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88096" y="210073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常量，值一旦给定就不能改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88096" y="2439829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静态变量、实例变量、局部变量都能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 final，分别是三种类型的常量。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88096" y="3031331"/>
              <a:ext cx="28417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空白 final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：定义时可以先声明不给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初值。</a:t>
              </a:r>
            </a:p>
          </p:txBody>
        </p:sp>
      </p:grpSp>
      <p:grpSp>
        <p:nvGrpSpPr>
          <p:cNvPr id="56" name="c3-code-2"/>
          <p:cNvGrpSpPr/>
          <p:nvPr/>
        </p:nvGrpSpPr>
        <p:grpSpPr>
          <a:xfrm>
            <a:off x="8153400" y="3913822"/>
            <a:ext cx="3505200" cy="1415415"/>
            <a:chOff x="8153400" y="3913822"/>
            <a:chExt cx="3505200" cy="1415415"/>
          </a:xfrm>
        </p:grpSpPr>
        <p:sp>
          <p:nvSpPr>
            <p:cNvPr id="53" name="Rectangle 53"/>
            <p:cNvSpPr/>
            <p:nvPr/>
          </p:nvSpPr>
          <p:spPr>
            <a:xfrm>
              <a:off x="8153400" y="3913822"/>
              <a:ext cx="3505200" cy="1415415"/>
            </a:xfrm>
            <a:prstGeom prst="roundRect">
              <a:avLst>
                <a:gd name="adj" fmla="val 672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81797" y="4065746"/>
              <a:ext cx="19878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空白 final 必须在构造方法里赋值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81988" y="4324160"/>
              <a:ext cx="1983105" cy="9172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85"/>
                </a:lnSpc>
              </a:pP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BF {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a;</a:t>
              </a:r>
              <a:br/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BF(</a:t>
              </a:r>
              <a:r>
                <a:rPr lang="en-US" sz="8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x) { a = x; }   </a:t>
              </a:r>
              <a:r>
                <a:rPr lang="zh-CN" sz="8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正确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BF() { }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8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可能尚未初始化变量a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74519" cy="909257"/>
            <a:chOff x="520446" y="342900"/>
            <a:chExt cx="60745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745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abstract：声明一件「还没做完」的事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831658"/>
            <a:chOff x="533400" y="1524000"/>
            <a:chExt cx="5410200" cy="18316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31658"/>
            </a:xfrm>
            <a:prstGeom prst="roundRect">
              <a:avLst>
                <a:gd name="adj" fmla="val 72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6495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1455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 修饰符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866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 表示所修饰的成分没有完全实现，还不能实例化。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448877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392680"/>
              <a:ext cx="45026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方法加 abstract：只有声明没有方法体，要在子类实现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275177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2695575"/>
              <a:ext cx="45914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类里只要有一个抽象方法，这个类就必须声明为 abstract，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而且不能实例化</a:t>
              </a:r>
            </a:p>
          </p:txBody>
        </p:sp>
      </p:grpSp>
      <p:grpSp>
        <p:nvGrpSpPr>
          <p:cNvPr id="21" name="c1-code-2"/>
          <p:cNvGrpSpPr/>
          <p:nvPr/>
        </p:nvGrpSpPr>
        <p:grpSpPr>
          <a:xfrm>
            <a:off x="533400" y="3530918"/>
            <a:ext cx="5410200" cy="2108835"/>
            <a:chOff x="533400" y="3530918"/>
            <a:chExt cx="5410200" cy="2108835"/>
          </a:xfrm>
        </p:grpSpPr>
        <p:sp>
          <p:nvSpPr>
            <p:cNvPr id="18" name="Rectangle 18"/>
            <p:cNvSpPr/>
            <p:nvPr/>
          </p:nvSpPr>
          <p:spPr>
            <a:xfrm>
              <a:off x="533400" y="3530918"/>
              <a:ext cx="5410200" cy="2108835"/>
            </a:xfrm>
            <a:prstGeom prst="roundRect">
              <a:avLst>
                <a:gd name="adj" fmla="val 45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1797" y="3682841"/>
              <a:ext cx="19950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4.8　抽象类可以一层层往下传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1988" y="3942112"/>
              <a:ext cx="3328797" cy="16135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AbstractClass1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v1;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test();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AbstractClass2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AbstractClass1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v2;       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继承了 test() 但没实现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NoAbstractClass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AbstractClass2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test() { }      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实现了，可以不再是抽象类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5" name="c2-steps-1"/>
          <p:cNvGrpSpPr/>
          <p:nvPr/>
        </p:nvGrpSpPr>
        <p:grpSpPr>
          <a:xfrm>
            <a:off x="6248400" y="1533525"/>
            <a:ext cx="3576000" cy="1693069"/>
            <a:chOff x="6248400" y="1533525"/>
            <a:chExt cx="3576000" cy="1693069"/>
          </a:xfrm>
        </p:grpSpPr>
        <p:sp>
          <p:nvSpPr>
            <p:cNvPr id="22" name="Rectangle 22"/>
            <p:cNvSpPr/>
            <p:nvPr/>
          </p:nvSpPr>
          <p:spPr>
            <a:xfrm>
              <a:off x="6381750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48400" y="212026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2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48400" y="270700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42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0642" y="1564957"/>
              <a:ext cx="1447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AbstractClass1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61785" y="1833086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含抽象方法 test()，必须声明为抽象类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0642" y="2152650"/>
              <a:ext cx="14477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AbstractClass2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61785" y="2419826"/>
              <a:ext cx="3162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继承了 test() 却没实现，所以也必须是抽象类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0642" y="2739390"/>
              <a:ext cx="15575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NoAbstractClass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61785" y="3006566"/>
              <a:ext cx="2514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实现了 test()，不必再声明为抽象的</a:t>
              </a:r>
            </a:p>
          </p:txBody>
        </p:sp>
      </p:grpSp>
      <p:grpSp>
        <p:nvGrpSpPr>
          <p:cNvPr id="41" name="c2-callout-2"/>
          <p:cNvGrpSpPr/>
          <p:nvPr/>
        </p:nvGrpSpPr>
        <p:grpSpPr>
          <a:xfrm>
            <a:off x="6248400" y="3395662"/>
            <a:ext cx="5410200" cy="729615"/>
            <a:chOff x="6248400" y="3395662"/>
            <a:chExt cx="5410200" cy="729615"/>
          </a:xfrm>
        </p:grpSpPr>
        <p:sp>
          <p:nvSpPr>
            <p:cNvPr id="36" name="Rectangle 36"/>
            <p:cNvSpPr/>
            <p:nvPr/>
          </p:nvSpPr>
          <p:spPr>
            <a:xfrm>
              <a:off x="6248400" y="339566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453188" y="3660460"/>
              <a:ext cx="200023" cy="200023"/>
              <a:chOff x="6453188" y="3660460"/>
              <a:chExt cx="200023" cy="20002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453188" y="36604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586538" y="37271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755892" y="3541395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抽象类可以有字段、构造方法和普通方法，它只是不能被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new 出来。子类的构造方法照样要调它的构造方法。</a:t>
              </a:r>
            </a:p>
          </p:txBody>
        </p:sp>
      </p:grpSp>
      <p:grpSp>
        <p:nvGrpSpPr>
          <p:cNvPr id="49" name="c2-card-3"/>
          <p:cNvGrpSpPr/>
          <p:nvPr/>
        </p:nvGrpSpPr>
        <p:grpSpPr>
          <a:xfrm>
            <a:off x="6248400" y="4300538"/>
            <a:ext cx="5410200" cy="1786890"/>
            <a:chOff x="6248400" y="4300538"/>
            <a:chExt cx="5410200" cy="1786890"/>
          </a:xfrm>
        </p:grpSpPr>
        <p:sp>
          <p:nvSpPr>
            <p:cNvPr id="42" name="Rectangle 42"/>
            <p:cNvSpPr/>
            <p:nvPr/>
          </p:nvSpPr>
          <p:spPr>
            <a:xfrm>
              <a:off x="6248400" y="4300538"/>
              <a:ext cx="5410200" cy="1786890"/>
            </a:xfrm>
            <a:prstGeom prst="roundRect">
              <a:avLst>
                <a:gd name="adj" fmla="val 7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57925" y="4433888"/>
              <a:ext cx="47625" cy="152019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8905" y="4492942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50342" y="452723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抽象方法的意义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29347" y="453199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给所有子类一个统一的界面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72047" y="486632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抽象方法只有声明没有方法体，超类不去实现它，必须由派生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类重写，这为子类用抽象机制实现多态提供了统一的界面。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72047" y="542639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创建抽象类和方法也把「这个类还不完整」这件事写在了明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处，让使用者和编译器都知道该怎么用它。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82653" cy="909257"/>
            <a:chOff x="520446" y="342900"/>
            <a:chExt cx="61826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385" y="407194"/>
              <a:ext cx="2295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4.1 类的复用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826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 的四条限制，逐条编译器验过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table-1"/>
          <p:cNvGrpSpPr/>
          <p:nvPr/>
        </p:nvGrpSpPr>
        <p:grpSpPr>
          <a:xfrm>
            <a:off x="533400" y="1524000"/>
            <a:ext cx="11125200" cy="3368040"/>
            <a:chOff x="533400" y="1524000"/>
            <a:chExt cx="11125200" cy="3368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35676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07719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编译结果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470494" y="1659731"/>
              <a:ext cx="10364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javac 的原话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20628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 AbstractClass1();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46486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26708" y="2108359"/>
              <a:ext cx="30051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AbstractClass1是抽象的; 无法实例化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3419805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 C { abstract void test(); }（类没加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646486" y="267033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26708" y="2670334"/>
              <a:ext cx="36853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C不是抽象的, 并且未覆盖C中的抽象方法test()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22745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 static void s();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46486" y="32323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26708" y="3232309"/>
              <a:ext cx="29939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非法的修饰符组合: abstract和static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680936"/>
              <a:ext cx="21298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abstract final void f();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46486" y="36809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26708" y="3680936"/>
              <a:ext cx="28561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非法的修饰符组合: abstract和final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130516"/>
              <a:ext cx="23740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abstract void p();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46486" y="41305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26708" y="4130516"/>
              <a:ext cx="3088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非法的修饰符组合: abstract和private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579144"/>
              <a:ext cx="22418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接口里的方法不写 abstract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548188" y="4452938"/>
              <a:ext cx="176117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46486" y="45791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26708" y="4579144"/>
              <a:ext cx="273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接口方法默认就是 public abstract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11125200" cy="3368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4533900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314122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bullets-2"/>
          <p:cNvGrpSpPr/>
          <p:nvPr/>
        </p:nvGrpSpPr>
        <p:grpSpPr>
          <a:xfrm>
            <a:off x="533400" y="5103971"/>
            <a:ext cx="10446563" cy="555117"/>
            <a:chOff x="533400" y="5103971"/>
            <a:chExt cx="10446563" cy="555117"/>
          </a:xfrm>
        </p:grpSpPr>
        <p:sp>
          <p:nvSpPr>
            <p:cNvPr id="42" name="Freeform 42"/>
            <p:cNvSpPr/>
            <p:nvPr/>
          </p:nvSpPr>
          <p:spPr>
            <a:xfrm>
              <a:off x="533400" y="5134928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57428" y="5103971"/>
              <a:ext cx="102225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构造方法、静态方法、final 方法都不能用 abstract 修饰，原因都一样：abstract 意味着等着被重写，而这三种方法都不参与重写。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533400" y="5440680"/>
              <a:ext cx="97155" cy="97155"/>
            </a:xfrm>
            <a:custGeom>
              <a:avLst/>
              <a:gdLst/>
              <a:ahLst/>
              <a:cxnLst/>
              <a:rect l="l" t="t" r="r" b="b"/>
              <a:pathLst>
                <a:path w="97155" h="97155">
                  <a:moveTo>
                    <a:pt x="0" y="0"/>
                  </a:moveTo>
                  <a:lnTo>
                    <a:pt x="97155" y="97155"/>
                  </a:lnTo>
                  <a:moveTo>
                    <a:pt x="97155" y="0"/>
                  </a:moveTo>
                  <a:lnTo>
                    <a:pt x="0" y="9715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7428" y="5409724"/>
              <a:ext cx="51651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方法子类看不见，也就无从实现，所以同样不能是抽象的。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7" name="Rectangle 4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7224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记法：abstract 是「留给子类填的空」，凡是子类填不了的位置，都不许留空。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024884" cy="2643187"/>
            <a:chOff x="667512" y="1835468"/>
            <a:chExt cx="4024884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98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 多态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同一个调用，运行时落到不同的方法体上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向上转型让一份代码适用于整个家族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方法看对象，字段看引用类型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多态：同一个消息，不同的对象给出不同的应答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842635" cy="1687830"/>
            <a:chOff x="533400" y="1524000"/>
            <a:chExt cx="5842635" cy="16878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687830"/>
            </a:xfrm>
            <a:prstGeom prst="roundRect">
              <a:avLst>
                <a:gd name="adj" fmla="val 79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2113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11889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polymorphism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这个词来自希腊语，意思是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多种形式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。若干个属于不同类的对象，对同一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个消息（例如一次方法调用）做出不一样的应答。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5998" y="2589371"/>
              <a:ext cx="52148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它把「做什么」与「怎么做」分开：调用方只管发消息，怎么执行由对象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自己决定。</a:t>
              </a:r>
            </a:p>
          </p:txBody>
        </p:sp>
      </p:grpSp>
      <p:grpSp>
        <p:nvGrpSpPr>
          <p:cNvPr id="28" name="c1-bullets-2"/>
          <p:cNvGrpSpPr/>
          <p:nvPr/>
        </p:nvGrpSpPr>
        <p:grpSpPr>
          <a:xfrm>
            <a:off x="526923" y="3398044"/>
            <a:ext cx="3059430" cy="1768887"/>
            <a:chOff x="526923" y="3398044"/>
            <a:chExt cx="3059430" cy="1768887"/>
          </a:xfrm>
        </p:grpSpPr>
        <p:sp>
          <p:nvSpPr>
            <p:cNvPr id="15" name="TextBox 15"/>
            <p:cNvSpPr txBox="1"/>
            <p:nvPr/>
          </p:nvSpPr>
          <p:spPr>
            <a:xfrm>
              <a:off x="526923" y="3398044"/>
              <a:ext cx="21948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Java 里多态的三种实现形式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42925" y="3751898"/>
              <a:ext cx="57150" cy="571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8373" y="369903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继承实现的多态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04850" y="4006215"/>
              <a:ext cx="60008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90016" y="3948112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子类重写超类方法，调用时按实际对象分派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42925" y="4258628"/>
              <a:ext cx="57150" cy="571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8373" y="42057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抽象类实现的多态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04850" y="4513898"/>
              <a:ext cx="60008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90016" y="4454842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抽象方法只给统一界面，实现交给各子类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42925" y="4765358"/>
              <a:ext cx="57150" cy="571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98373" y="471249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接口实现的多态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04850" y="5020628"/>
              <a:ext cx="60008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90016" y="4961572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一个接口多种实现，弥补单继承的不足</a:t>
              </a:r>
            </a:p>
          </p:txBody>
        </p:sp>
      </p:grpSp>
      <p:grpSp>
        <p:nvGrpSpPr>
          <p:cNvPr id="35" name="c1-callout-3"/>
          <p:cNvGrpSpPr/>
          <p:nvPr/>
        </p:nvGrpSpPr>
        <p:grpSpPr>
          <a:xfrm>
            <a:off x="533400" y="5290185"/>
            <a:ext cx="5842635" cy="713422"/>
            <a:chOff x="533400" y="5290185"/>
            <a:chExt cx="5842635" cy="713422"/>
          </a:xfrm>
        </p:grpSpPr>
        <p:sp>
          <p:nvSpPr>
            <p:cNvPr id="29" name="Rectangle 29"/>
            <p:cNvSpPr/>
            <p:nvPr/>
          </p:nvSpPr>
          <p:spPr>
            <a:xfrm>
              <a:off x="533400" y="5290185"/>
              <a:ext cx="5842635" cy="713422"/>
            </a:xfrm>
            <a:prstGeom prst="roundRect">
              <a:avLst>
                <a:gd name="adj" fmla="val 1602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547360"/>
              <a:ext cx="200026" cy="200026"/>
              <a:chOff x="738188" y="5547360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5473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6140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564737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1273" y="5441156"/>
              <a:ext cx="48897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方法重载有时也被称作「编译时多态」，它在编译期就定下来了，和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这里讲的运行时分派是两码事。</a:t>
              </a:r>
            </a:p>
          </p:txBody>
        </p:sp>
      </p:grpSp>
      <p:grpSp>
        <p:nvGrpSpPr>
          <p:cNvPr id="38" name="c2-image-1"/>
          <p:cNvGrpSpPr/>
          <p:nvPr/>
        </p:nvGrpSpPr>
        <p:grpSpPr>
          <a:xfrm>
            <a:off x="7820978" y="1524000"/>
            <a:ext cx="2698432" cy="2306669"/>
            <a:chOff x="7820978" y="1524000"/>
            <a:chExt cx="2698432" cy="2306669"/>
          </a:xfrm>
        </p:grpSpPr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2"/>
            <a:srcRect l="6" t="0" r="6" b="0"/>
            <a:stretch>
              <a:fillRect/>
            </a:stretch>
          </p:blipFill>
          <p:spPr>
            <a:xfrm>
              <a:off x="7820978" y="1524000"/>
              <a:ext cx="2698432" cy="2024062"/>
            </a:xfrm>
            <a:prstGeom prst="roundRect">
              <a:avLst>
                <a:gd name="adj" fmla="val 6588"/>
              </a:avLst>
            </a:prstGeom>
          </p:spPr>
        </p:pic>
        <p:sp>
          <p:nvSpPr>
            <p:cNvPr id="37" name="TextBox 37"/>
            <p:cNvSpPr txBox="1"/>
            <p:nvPr/>
          </p:nvSpPr>
          <p:spPr>
            <a:xfrm>
              <a:off x="8109344" y="3639979"/>
              <a:ext cx="21207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同一个手势，三件乐器发出三种声音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680835" y="3976688"/>
            <a:ext cx="4977765" cy="702945"/>
            <a:chOff x="6680835" y="3976688"/>
            <a:chExt cx="4977765" cy="702945"/>
          </a:xfrm>
        </p:grpSpPr>
        <p:sp>
          <p:nvSpPr>
            <p:cNvPr id="39" name="Rectangle 39"/>
            <p:cNvSpPr/>
            <p:nvPr/>
          </p:nvSpPr>
          <p:spPr>
            <a:xfrm>
              <a:off x="6680835" y="3976688"/>
              <a:ext cx="4977765" cy="702945"/>
            </a:xfrm>
            <a:prstGeom prst="roundRect">
              <a:avLst>
                <a:gd name="adj" fmla="val 16260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885623" y="4228150"/>
              <a:ext cx="200023" cy="200023"/>
              <a:chOff x="6885623" y="4228150"/>
              <a:chExt cx="200023" cy="20002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885623" y="42281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18973" y="42948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7188708" y="4120991"/>
              <a:ext cx="40769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多态带来的好处是可读性和可扩展性：加一种新乐器，指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挥的动作不用改。</a:t>
              </a:r>
            </a:p>
          </p:txBody>
        </p:sp>
      </p:grpSp>
      <p:grpSp>
        <p:nvGrpSpPr>
          <p:cNvPr id="51" name="c2-card-3"/>
          <p:cNvGrpSpPr/>
          <p:nvPr/>
        </p:nvGrpSpPr>
        <p:grpSpPr>
          <a:xfrm>
            <a:off x="6680835" y="4844415"/>
            <a:ext cx="4977765" cy="1160145"/>
            <a:chOff x="6680835" y="4844415"/>
            <a:chExt cx="4977765" cy="1160145"/>
          </a:xfrm>
        </p:grpSpPr>
        <p:sp>
          <p:nvSpPr>
            <p:cNvPr id="45" name="Rectangle 45"/>
            <p:cNvSpPr/>
            <p:nvPr/>
          </p:nvSpPr>
          <p:spPr>
            <a:xfrm>
              <a:off x="6680835" y="4844415"/>
              <a:ext cx="497776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690360" y="4976812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899910" y="5024438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77329" y="505729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为什么需要它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64043" y="506491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多态要解决的问题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93433" y="5381149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抽象类和接口是解决单继承限制、实现多态的两个主要手段。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没有多态，每加一种新类型都要回去改调用方的代码。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向上转型：用超类类型的引用指向子类对象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3495675"/>
            <a:chOff x="533400" y="1524000"/>
            <a:chExt cx="5842635" cy="3495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495675"/>
            </a:xfrm>
            <a:prstGeom prst="roundRect">
              <a:avLst>
                <a:gd name="adj" fmla="val 27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1949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4.9　一个 domeow 管住整个猫科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4459351" cy="30100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am Felid!"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domeow(Felid f) { f.meow();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am small cat."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Tiger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am Tiger."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Ocelot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 am Ocelot."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main 里：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Felid.domeow(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Cat());    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I am small cat.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Felid.domeow(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Tiger());  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I am Tiger.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Felid.domeow(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Ocelot()); 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I am Ocelot.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210175"/>
            <a:ext cx="5842635" cy="782955"/>
            <a:chOff x="533400" y="5210175"/>
            <a:chExt cx="5842635" cy="782955"/>
          </a:xfrm>
        </p:grpSpPr>
        <p:sp>
          <p:nvSpPr>
            <p:cNvPr id="11" name="Rectangle 11"/>
            <p:cNvSpPr/>
            <p:nvPr/>
          </p:nvSpPr>
          <p:spPr>
            <a:xfrm>
              <a:off x="533400" y="521017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501640"/>
              <a:ext cx="200026" cy="200025"/>
              <a:chOff x="738188" y="5501640"/>
              <a:chExt cx="200026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5016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7926" y="55460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12642" y="56572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5358765"/>
              <a:ext cx="47301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如果 Cat 不重写 meow()，Felid.domeow(new Cat())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输出的就是 I am Felid!，这也是实测结果。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680835" y="1524000"/>
            <a:ext cx="4977765" cy="2538412"/>
            <a:chOff x="6680835" y="1524000"/>
            <a:chExt cx="4977765" cy="2538412"/>
          </a:xfrm>
        </p:grpSpPr>
        <p:sp>
          <p:nvSpPr>
            <p:cNvPr id="18" name="Rectangle 18"/>
            <p:cNvSpPr/>
            <p:nvPr/>
          </p:nvSpPr>
          <p:spPr>
            <a:xfrm>
              <a:off x="6680835" y="1524000"/>
              <a:ext cx="4977765" cy="2538412"/>
            </a:xfrm>
            <a:prstGeom prst="roundRect">
              <a:avLst>
                <a:gd name="adj" fmla="val 52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90360" y="1657350"/>
              <a:ext cx="47625" cy="227171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28485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97992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不用多态会怎样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41030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给每个子类写一个重载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20865" y="2129790"/>
              <a:ext cx="42729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把 domeow 改成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domeow(Cat)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domeow(Tiger)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两个重载，再传一只 Ocelot 进去，编译器直接拦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922008" y="3033236"/>
              <a:ext cx="38709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错误：对于 domeow(Ocelot)，找不到合适的方法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20865" y="3332798"/>
              <a:ext cx="4177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每加一种猫科动物就得改 Felid 的源码，这正是多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态要消灭的麻烦。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6680835" y="4252912"/>
            <a:ext cx="4977765" cy="1739265"/>
            <a:chOff x="6680835" y="4252912"/>
            <a:chExt cx="4977765" cy="1739265"/>
          </a:xfrm>
        </p:grpSpPr>
        <p:sp>
          <p:nvSpPr>
            <p:cNvPr id="27" name="Rectangle 27"/>
            <p:cNvSpPr/>
            <p:nvPr/>
          </p:nvSpPr>
          <p:spPr>
            <a:xfrm>
              <a:off x="6680835" y="4252912"/>
              <a:ext cx="4977765" cy="1739265"/>
            </a:xfrm>
            <a:prstGeom prst="roundRect">
              <a:avLst>
                <a:gd name="adj" fmla="val 7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90360" y="4386262"/>
              <a:ext cx="47625" cy="14725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928485" y="446246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19646" y="449818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29512" y="449770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原课件这页有两处笔误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20865" y="4858702"/>
              <a:ext cx="4177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原课件把 static 拼成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Statci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，而且 Ocelot 的重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载写在了 Felid 类体外面。照抄无法编译。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超类类型的引用，能调什么、不能调什么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table-1"/>
          <p:cNvGrpSpPr/>
          <p:nvPr/>
        </p:nvGrpSpPr>
        <p:grpSpPr>
          <a:xfrm>
            <a:off x="533400" y="1524000"/>
            <a:ext cx="4977765" cy="1720215"/>
            <a:chOff x="533400" y="1524000"/>
            <a:chExt cx="4977765" cy="17202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3053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04950" y="16554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方法在哪里定义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751516" y="165544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能否通过超类引用调用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8746" y="208502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超类有，子类没重写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724846" y="208502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能，执行超类版本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7934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84108"/>
              <a:ext cx="497776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8746" y="251555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超类有，子类重写了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629025" y="2393632"/>
              <a:ext cx="187261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724846" y="251555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能，执行</a:t>
              </a:r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子类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80987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746" y="294608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只有子类有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29025" y="2824162"/>
              <a:ext cx="1872615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24846" y="294608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不能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，编译期报错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1524000"/>
              <a:ext cx="497776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614738" y="152400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7" name="c1-code-2"/>
          <p:cNvGrpSpPr/>
          <p:nvPr/>
        </p:nvGrpSpPr>
        <p:grpSpPr>
          <a:xfrm>
            <a:off x="533400" y="3429952"/>
            <a:ext cx="4977765" cy="1263968"/>
            <a:chOff x="533400" y="3429952"/>
            <a:chExt cx="4977765" cy="1263968"/>
          </a:xfrm>
        </p:grpSpPr>
        <p:sp>
          <p:nvSpPr>
            <p:cNvPr id="24" name="Rectangle 24"/>
            <p:cNvSpPr/>
            <p:nvPr/>
          </p:nvSpPr>
          <p:spPr>
            <a:xfrm>
              <a:off x="533400" y="3429952"/>
              <a:ext cx="4977765" cy="1263968"/>
            </a:xfrm>
            <a:prstGeom prst="roundRect">
              <a:avLst>
                <a:gd name="adj" fmla="val 753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61797" y="3581876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第三行的实测报错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1988" y="3840290"/>
              <a:ext cx="1332357" cy="766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85"/>
                </a:lnSpc>
              </a:pP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F1 f = new C1();</a:t>
              </a:r>
              <a:br/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f.purr();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错误: 找不到符号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符号: 方法 purr()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位置: 类型为F1的变量 f</a:t>
              </a:r>
            </a:p>
          </p:txBody>
        </p:sp>
      </p:grpSp>
      <p:grpSp>
        <p:nvGrpSpPr>
          <p:cNvPr id="34" name="c1-callout-3"/>
          <p:cNvGrpSpPr/>
          <p:nvPr/>
        </p:nvGrpSpPr>
        <p:grpSpPr>
          <a:xfrm>
            <a:off x="533400" y="4879658"/>
            <a:ext cx="4977765" cy="1374458"/>
            <a:chOff x="533400" y="4879658"/>
            <a:chExt cx="4977765" cy="1374458"/>
          </a:xfrm>
        </p:grpSpPr>
        <p:sp>
          <p:nvSpPr>
            <p:cNvPr id="28" name="Rectangle 28"/>
            <p:cNvSpPr/>
            <p:nvPr/>
          </p:nvSpPr>
          <p:spPr>
            <a:xfrm>
              <a:off x="533400" y="4879658"/>
              <a:ext cx="4977765" cy="1374458"/>
            </a:xfrm>
            <a:prstGeom prst="roundRect">
              <a:avLst>
                <a:gd name="adj" fmla="val 831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466398"/>
              <a:ext cx="200026" cy="200025"/>
              <a:chOff x="738188" y="5466398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4663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5108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56219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511" y="5336381"/>
              <a:ext cx="39819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确实要用子类特有的方法时，只能先向下转型，写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法和风险见本节后面的 RTTI 例子。</a:t>
              </a:r>
            </a:p>
          </p:txBody>
        </p:sp>
      </p:grpSp>
      <p:grpSp>
        <p:nvGrpSpPr>
          <p:cNvPr id="53" name="c2-graph-1"/>
          <p:cNvGrpSpPr/>
          <p:nvPr/>
        </p:nvGrpSpPr>
        <p:grpSpPr>
          <a:xfrm>
            <a:off x="6617018" y="1773555"/>
            <a:ext cx="4397438" cy="1838325"/>
            <a:chOff x="6617018" y="1773555"/>
            <a:chExt cx="4397438" cy="1838325"/>
          </a:xfrm>
        </p:grpSpPr>
        <p:sp>
          <p:nvSpPr>
            <p:cNvPr id="35" name="Freeform 35"/>
            <p:cNvSpPr/>
            <p:nvPr/>
          </p:nvSpPr>
          <p:spPr>
            <a:xfrm>
              <a:off x="7218045" y="2386012"/>
              <a:ext cx="9525" cy="376238"/>
            </a:xfrm>
            <a:custGeom>
              <a:avLst/>
              <a:gdLst/>
              <a:ahLst/>
              <a:cxnLst/>
              <a:rect l="l" t="t" r="r" b="b"/>
              <a:pathLst>
                <a:path w="9525" h="376238">
                  <a:moveTo>
                    <a:pt x="0" y="37623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170420" y="22907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7907655" y="2225040"/>
              <a:ext cx="1840230" cy="700088"/>
            </a:xfrm>
            <a:custGeom>
              <a:avLst/>
              <a:gdLst/>
              <a:ahLst/>
              <a:cxnLst/>
              <a:rect l="l" t="t" r="r" b="b"/>
              <a:pathLst>
                <a:path w="1840230" h="700088">
                  <a:moveTo>
                    <a:pt x="1840230" y="0"/>
                  </a:moveTo>
                  <a:lnTo>
                    <a:pt x="0" y="700088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8" name="Freeform 38"/>
            <p:cNvSpPr/>
            <p:nvPr/>
          </p:nvSpPr>
          <p:spPr>
            <a:xfrm>
              <a:off x="7818120" y="2880360"/>
              <a:ext cx="106680" cy="89535"/>
            </a:xfrm>
            <a:custGeom>
              <a:avLst/>
              <a:gdLst/>
              <a:ahLst/>
              <a:cxnLst/>
              <a:rect l="l" t="t" r="r" b="b"/>
              <a:pathLst>
                <a:path w="106680" h="89535">
                  <a:moveTo>
                    <a:pt x="0" y="78105"/>
                  </a:moveTo>
                  <a:lnTo>
                    <a:pt x="72390" y="0"/>
                  </a:lnTo>
                  <a:lnTo>
                    <a:pt x="106680" y="8953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617018" y="1773555"/>
              <a:ext cx="1201102" cy="517208"/>
            </a:xfrm>
            <a:prstGeom prst="roundRect">
              <a:avLst>
                <a:gd name="adj" fmla="val 18416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17018" y="2762250"/>
              <a:ext cx="1201102" cy="849630"/>
            </a:xfrm>
            <a:prstGeom prst="roundRect">
              <a:avLst>
                <a:gd name="adj" fmla="val 11211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747885" y="1828800"/>
              <a:ext cx="1016318" cy="406718"/>
            </a:xfrm>
            <a:prstGeom prst="roundRect">
              <a:avLst>
                <a:gd name="adj" fmla="val 23419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04712" y="1883092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A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945558" y="2049780"/>
              <a:ext cx="544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print()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04712" y="2871788"/>
              <a:ext cx="4266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 B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45558" y="3038475"/>
              <a:ext cx="544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print()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04743" y="3205162"/>
              <a:ext cx="62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print2()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04743" y="3371850"/>
              <a:ext cx="62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print3()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972511" y="1966912"/>
              <a:ext cx="568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型引用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641080" y="251364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667852" y="254269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指向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498584" y="2689384"/>
              <a:ext cx="15158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只有 print() 在 A 里露面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595227" y="3081814"/>
              <a:ext cx="13225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print2/print3 调不到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5815965" y="4019550"/>
            <a:ext cx="5842635" cy="756285"/>
            <a:chOff x="5815965" y="4019550"/>
            <a:chExt cx="5842635" cy="756285"/>
          </a:xfrm>
        </p:grpSpPr>
        <p:sp>
          <p:nvSpPr>
            <p:cNvPr id="54" name="Rectangle 54"/>
            <p:cNvSpPr/>
            <p:nvPr/>
          </p:nvSpPr>
          <p:spPr>
            <a:xfrm>
              <a:off x="5815965" y="4019550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020753" y="4297682"/>
              <a:ext cx="200023" cy="200023"/>
              <a:chOff x="6020753" y="4297682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020753" y="42976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154103" y="43643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323076" y="4166711"/>
              <a:ext cx="48836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编译期按引用类型查方法名，运行期按对象的实际类型挑方法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体。两步各管各的。</a:t>
              </a:r>
            </a:p>
          </p:txBody>
        </p:sp>
      </p:grpSp>
      <p:grpSp>
        <p:nvGrpSpPr>
          <p:cNvPr id="66" name="c2-card-3"/>
          <p:cNvGrpSpPr/>
          <p:nvPr/>
        </p:nvGrpSpPr>
        <p:grpSpPr>
          <a:xfrm>
            <a:off x="5815965" y="4960620"/>
            <a:ext cx="5842635" cy="1293495"/>
            <a:chOff x="5815965" y="4960620"/>
            <a:chExt cx="5842635" cy="1293495"/>
          </a:xfrm>
        </p:grpSpPr>
        <p:sp>
          <p:nvSpPr>
            <p:cNvPr id="60" name="Rectangle 60"/>
            <p:cNvSpPr/>
            <p:nvPr/>
          </p:nvSpPr>
          <p:spPr>
            <a:xfrm>
              <a:off x="5815965" y="4960620"/>
              <a:ext cx="5842635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5825490" y="509397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57900" y="516445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131357" y="520017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设计上的含义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227951" y="5203984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超类露出的方法越少，可替换性越强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050661" y="555640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调用方只依赖超类声明的那几个方法，换成任何一个子类都能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跑；子类新增的方法对调用方不可见，也就不会被依赖上。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62798" cy="909257"/>
            <a:chOff x="520446" y="342900"/>
            <a:chExt cx="67627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627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4.10　重载与重写混在一起时会发生什么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5626418" cy="2967990"/>
            <a:chOff x="533400" y="1524000"/>
            <a:chExt cx="5626418" cy="29679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967990"/>
            </a:xfrm>
            <a:prstGeom prst="roundRect">
              <a:avLst>
                <a:gd name="adj" fmla="val 320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778442"/>
              <a:ext cx="558831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954655"/>
              <a:ext cx="558831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81101" y="1935956"/>
              <a:ext cx="146812" cy="2481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388"/>
                </a:lnSpc>
              </a:pPr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14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2307" y="1935956"/>
              <a:ext cx="4048633" cy="2481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Father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func1() { func2();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func2()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"AAA"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Child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Father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func1(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"BBB"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func2()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"CCC"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PolymorphismTest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Father child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Child();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child.func1();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ode-2"/>
          <p:cNvGrpSpPr/>
          <p:nvPr/>
        </p:nvGrpSpPr>
        <p:grpSpPr>
          <a:xfrm>
            <a:off x="533400" y="4682490"/>
            <a:ext cx="5626418" cy="681990"/>
            <a:chOff x="533400" y="4682490"/>
            <a:chExt cx="5626418" cy="681990"/>
          </a:xfrm>
        </p:grpSpPr>
        <p:sp>
          <p:nvSpPr>
            <p:cNvPr id="14" name="Rectangle 14"/>
            <p:cNvSpPr/>
            <p:nvPr/>
          </p:nvSpPr>
          <p:spPr>
            <a:xfrm>
              <a:off x="533400" y="4682490"/>
              <a:ext cx="5626418" cy="681990"/>
            </a:xfrm>
            <a:prstGeom prst="roundRect">
              <a:avLst>
                <a:gd name="adj" fmla="val 139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1797" y="4834414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1797" y="5094446"/>
              <a:ext cx="2399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CCC</a:t>
              </a:r>
            </a:p>
          </p:txBody>
        </p:sp>
      </p:grpSp>
      <p:grpSp>
        <p:nvGrpSpPr>
          <p:cNvPr id="31" name="c2-steps-1"/>
          <p:cNvGrpSpPr/>
          <p:nvPr/>
        </p:nvGrpSpPr>
        <p:grpSpPr>
          <a:xfrm>
            <a:off x="6464618" y="1533525"/>
            <a:ext cx="4695898" cy="2112930"/>
            <a:chOff x="6464618" y="1533525"/>
            <a:chExt cx="4695898" cy="2112930"/>
          </a:xfrm>
        </p:grpSpPr>
        <p:sp>
          <p:nvSpPr>
            <p:cNvPr id="18" name="Rectangle 18"/>
            <p:cNvSpPr/>
            <p:nvPr/>
          </p:nvSpPr>
          <p:spPr>
            <a:xfrm>
              <a:off x="6597968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464618" y="2419350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58241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64618" y="306990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76098" y="1567815"/>
              <a:ext cx="14252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child.func1()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77241" y="1861661"/>
              <a:ext cx="41257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Father 里有 func1()，编译通过；Child 没重写它，执行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Father 的版本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76098" y="2453640"/>
              <a:ext cx="21476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func1 体内调 func2()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77241" y="2746534"/>
              <a:ext cx="42832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这里隐含的是 this.func2()，this 指向的是 Child 对象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6098" y="31041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动态绑定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7241" y="3397091"/>
              <a:ext cx="42641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Child 重写了 func2()，于是执行 Child 版本，打印 CCC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464618" y="3825240"/>
            <a:ext cx="5193982" cy="1956435"/>
            <a:chOff x="6464618" y="3825240"/>
            <a:chExt cx="5193982" cy="1956435"/>
          </a:xfrm>
        </p:grpSpPr>
        <p:sp>
          <p:nvSpPr>
            <p:cNvPr id="32" name="Rectangle 32"/>
            <p:cNvSpPr/>
            <p:nvPr/>
          </p:nvSpPr>
          <p:spPr>
            <a:xfrm>
              <a:off x="6464618" y="3825240"/>
              <a:ext cx="5193982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74142" y="395859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712268" y="403479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803428" y="4070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13295" y="4070032"/>
              <a:ext cx="29346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func1(int i) 是重载，不是重写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04648" y="443103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Child 的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func1(int i)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Father 的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func1()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参数列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表不同，是两个方法。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04648" y="505206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超类里没有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func1(int)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，所以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child.func1(3)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编译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期就通不过。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动态绑定：把调用和方法体关联起来的时机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5201602" cy="1173480"/>
            <a:chOff x="525780" y="1548765"/>
            <a:chExt cx="5201602" cy="117348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绑定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66862" y="154876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把一个方法调用同一个方法主体关联起来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静态绑定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66862" y="198882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绑定发生在程序执行之前，编译期就定死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0886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4288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动态绑定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6862" y="242887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绑定在程序运行时才决定，也叫运行时绑定</a:t>
              </a:r>
            </a:p>
          </p:txBody>
        </p:sp>
      </p:grpSp>
      <p:grpSp>
        <p:nvGrpSpPr>
          <p:cNvPr id="21" name="c1-bullets-2"/>
          <p:cNvGrpSpPr/>
          <p:nvPr/>
        </p:nvGrpSpPr>
        <p:grpSpPr>
          <a:xfrm>
            <a:off x="525780" y="2878455"/>
            <a:ext cx="4781550" cy="1278255"/>
            <a:chOff x="525780" y="2878455"/>
            <a:chExt cx="4781550" cy="1278255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28784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记住这两句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533400" y="326421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3908" y="3232785"/>
              <a:ext cx="31522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中的多态性依靠动态绑定实现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533400" y="360902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83908" y="3577590"/>
              <a:ext cx="452342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除了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static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方法和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final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方法（private 方法隐含是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final 的），所有方法都是动态绑定的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4288155"/>
            <a:ext cx="5193982" cy="1251585"/>
            <a:chOff x="533400" y="4288155"/>
            <a:chExt cx="5193982" cy="1251585"/>
          </a:xfrm>
        </p:grpSpPr>
        <p:sp>
          <p:nvSpPr>
            <p:cNvPr id="22" name="Rectangle 22"/>
            <p:cNvSpPr/>
            <p:nvPr/>
          </p:nvSpPr>
          <p:spPr>
            <a:xfrm>
              <a:off x="533400" y="4288155"/>
              <a:ext cx="5193982" cy="1251585"/>
            </a:xfrm>
            <a:prstGeom prst="roundRect">
              <a:avLst>
                <a:gd name="adj" fmla="val 913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4813935"/>
              <a:ext cx="200026" cy="200026"/>
              <a:chOff x="738188" y="4813935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48139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48806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27088" y="49139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4532948"/>
              <a:ext cx="43014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构造方法也不参与动态绑定。《Java 编程思想》说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它是「隐式的 static 方法」，调用哪一个在编译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期就定了。</a:t>
              </a:r>
            </a:p>
          </p:txBody>
        </p:sp>
      </p:grpSp>
      <p:grpSp>
        <p:nvGrpSpPr>
          <p:cNvPr id="32" name="c2-code-1"/>
          <p:cNvGrpSpPr/>
          <p:nvPr/>
        </p:nvGrpSpPr>
        <p:grpSpPr>
          <a:xfrm>
            <a:off x="6032182" y="1524000"/>
            <a:ext cx="5626418" cy="2616518"/>
            <a:chOff x="6032182" y="1524000"/>
            <a:chExt cx="5626418" cy="2616518"/>
          </a:xfrm>
        </p:grpSpPr>
        <p:sp>
          <p:nvSpPr>
            <p:cNvPr id="29" name="Rectangle 29"/>
            <p:cNvSpPr/>
            <p:nvPr/>
          </p:nvSpPr>
          <p:spPr>
            <a:xfrm>
              <a:off x="6032182" y="1524000"/>
              <a:ext cx="5626418" cy="2616518"/>
            </a:xfrm>
            <a:prstGeom prst="roundRect">
              <a:avLst>
                <a:gd name="adj" fmla="val 36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160580" y="1675924"/>
              <a:ext cx="23178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4.11　getClass() 看实际对象是谁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60580" y="1935956"/>
              <a:ext cx="3501009" cy="2129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Father4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"super method, class = "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       +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.getClass());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Son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Father4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Father4 sample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Son();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sample.method();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6" name="c2-code-2"/>
          <p:cNvGrpSpPr/>
          <p:nvPr/>
        </p:nvGrpSpPr>
        <p:grpSpPr>
          <a:xfrm>
            <a:off x="6032182" y="4331018"/>
            <a:ext cx="5626418" cy="1209675"/>
            <a:chOff x="6032182" y="4331018"/>
            <a:chExt cx="5626418" cy="1209675"/>
          </a:xfrm>
        </p:grpSpPr>
        <p:sp>
          <p:nvSpPr>
            <p:cNvPr id="33" name="Rectangle 33"/>
            <p:cNvSpPr/>
            <p:nvPr/>
          </p:nvSpPr>
          <p:spPr>
            <a:xfrm>
              <a:off x="6032182" y="4331018"/>
              <a:ext cx="5626418" cy="1209675"/>
            </a:xfrm>
            <a:prstGeom prst="roundRect">
              <a:avLst>
                <a:gd name="adj" fmla="val 787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160580" y="448294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两种情形的实测输出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60580" y="4742974"/>
              <a:ext cx="2268855" cy="7193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子类不重写 method()：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super method, class = class Son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子类重写 method()：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sub method, class = class Son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130" y="5991225"/>
              <a:ext cx="7976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两种情形里 getClass() 都返回 Son，说明 this 始终指向那个实际创建出来的子类对象。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私有方法不参与多态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842635" cy="3342322"/>
            <a:chOff x="533400" y="1524000"/>
            <a:chExt cx="5842635" cy="33423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342322"/>
            </a:xfrm>
            <a:prstGeom prst="roundRect">
              <a:avLst>
                <a:gd name="adj" fmla="val 285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7296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4.12　PrivateOverride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112770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035" y="1937861"/>
              <a:ext cx="3453638" cy="2857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PrivateOverride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"private f()"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PrivateOverride po =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Derived();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po.f();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Derived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PrivateOverride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"public f()"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5" name="c1-code-2"/>
          <p:cNvGrpSpPr/>
          <p:nvPr/>
        </p:nvGrpSpPr>
        <p:grpSpPr>
          <a:xfrm>
            <a:off x="533400" y="5056822"/>
            <a:ext cx="5842635" cy="681990"/>
            <a:chOff x="533400" y="5056822"/>
            <a:chExt cx="5842635" cy="681990"/>
          </a:xfrm>
        </p:grpSpPr>
        <p:sp>
          <p:nvSpPr>
            <p:cNvPr id="12" name="Rectangle 12"/>
            <p:cNvSpPr/>
            <p:nvPr/>
          </p:nvSpPr>
          <p:spPr>
            <a:xfrm>
              <a:off x="533400" y="5056822"/>
              <a:ext cx="5842635" cy="681990"/>
            </a:xfrm>
            <a:prstGeom prst="roundRect">
              <a:avLst>
                <a:gd name="adj" fmla="val 139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5208746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1797" y="5468779"/>
              <a:ext cx="8080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private f()</a:t>
              </a:r>
            </a:p>
          </p:txBody>
        </p:sp>
      </p:grpSp>
      <p:grpSp>
        <p:nvGrpSpPr>
          <p:cNvPr id="22" name="c2-card-1"/>
          <p:cNvGrpSpPr/>
          <p:nvPr/>
        </p:nvGrpSpPr>
        <p:grpSpPr>
          <a:xfrm>
            <a:off x="6680835" y="1524000"/>
            <a:ext cx="4977765" cy="2242185"/>
            <a:chOff x="6680835" y="1524000"/>
            <a:chExt cx="4977765" cy="2242185"/>
          </a:xfrm>
        </p:grpSpPr>
        <p:sp>
          <p:nvSpPr>
            <p:cNvPr id="16" name="Rectangle 16"/>
            <p:cNvSpPr/>
            <p:nvPr/>
          </p:nvSpPr>
          <p:spPr>
            <a:xfrm>
              <a:off x="6680835" y="1524000"/>
              <a:ext cx="4977765" cy="2242185"/>
            </a:xfrm>
            <a:prstGeom prst="roundRect">
              <a:avLst>
                <a:gd name="adj" fmla="val 5947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890385" y="1733550"/>
              <a:ext cx="1675448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46193" y="1769269"/>
              <a:ext cx="156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为什么不是 public f()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672512" y="1768792"/>
              <a:ext cx="2511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 f() 之间没有任何关系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82765" y="2129790"/>
              <a:ext cx="43300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PrivateOverride.f()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是 private 的，子类根本看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不见它，Derived 的 </a:t>
              </a:r>
              <a:r>
                <a:rPr lang="en-US" sz="150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f()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只是一个同名的新方法。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82765" y="2750820"/>
              <a:ext cx="43776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main 写在 PrivateOverride 内部，所以 </a:t>
              </a:r>
              <a:r>
                <a:rPr lang="en-US" sz="150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po.f()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编译；而它在编译期就绑定到了 private 的那个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f()。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680835" y="3956685"/>
            <a:ext cx="4977765" cy="2291715"/>
            <a:chOff x="6680835" y="3956685"/>
            <a:chExt cx="4977765" cy="2291715"/>
          </a:xfrm>
        </p:grpSpPr>
        <p:sp>
          <p:nvSpPr>
            <p:cNvPr id="23" name="Rectangle 23"/>
            <p:cNvSpPr/>
            <p:nvPr/>
          </p:nvSpPr>
          <p:spPr>
            <a:xfrm>
              <a:off x="6680835" y="3956685"/>
              <a:ext cx="4977765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690360" y="4090035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928485" y="416623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01942" y="420195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怎么避免踩坑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20865" y="4543425"/>
              <a:ext cx="39347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别给子类可能用到的方法起 private 的同名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20865" y="4897755"/>
              <a:ext cx="4187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要么把超类方法改成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protected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让它真的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可被重写，要么给子类方法换个名字。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20865" y="5518785"/>
              <a:ext cx="42443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在子类方法上写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@Override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，编译器会立刻告诉你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它其实没重写任何东西。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成员变量是静态绑定：方法看对象，字段看引用类型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967990"/>
            <a:chOff x="533400" y="1524000"/>
            <a:chExt cx="5626418" cy="29679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967990"/>
            </a:xfrm>
            <a:prstGeom prst="roundRect">
              <a:avLst>
                <a:gd name="adj" fmla="val 320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393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4.13　字段被遮挡时取哪一个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4092194" cy="2481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Father2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name =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"父亲属性"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method() { ... }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打印 this.getClass()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Son2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Father2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name = </a:t>
              </a:r>
              <a:r>
                <a:rPr lang="zh-CN" sz="980" dirty="0">
                  <a:solidFill>
                    <a:srgbClr val="C2410C"/>
                  </a:solidFill>
                  <a:latin typeface="Consolas"/>
                  <a:ea typeface="Microsoft YaHei"/>
                  <a:cs typeface="Consolas"/>
                </a:rPr>
                <a:t>"儿子属性"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method() { ...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Father2 sample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Son2();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向上转型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sample.method();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System.out.println(sample.name);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System.out.println(((Son2) sample).name);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4682490"/>
            <a:ext cx="5626418" cy="1033462"/>
            <a:chOff x="533400" y="4682490"/>
            <a:chExt cx="5626418" cy="1033462"/>
          </a:xfrm>
        </p:grpSpPr>
        <p:sp>
          <p:nvSpPr>
            <p:cNvPr id="11" name="Rectangle 11"/>
            <p:cNvSpPr/>
            <p:nvPr/>
          </p:nvSpPr>
          <p:spPr>
            <a:xfrm>
              <a:off x="533400" y="4682490"/>
              <a:ext cx="5626418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4834414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797" y="5094446"/>
              <a:ext cx="2063496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sub method, class = class Son2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父亲属性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儿子属性</a:t>
              </a:r>
            </a:p>
          </p:txBody>
        </p:sp>
      </p:grpSp>
      <p:grpSp>
        <p:nvGrpSpPr>
          <p:cNvPr id="20" name="c2-callout-1"/>
          <p:cNvGrpSpPr/>
          <p:nvPr/>
        </p:nvGrpSpPr>
        <p:grpSpPr>
          <a:xfrm>
            <a:off x="6464618" y="1524000"/>
            <a:ext cx="5193982" cy="1059180"/>
            <a:chOff x="6464618" y="1524000"/>
            <a:chExt cx="5193982" cy="1059180"/>
          </a:xfrm>
        </p:grpSpPr>
        <p:sp>
          <p:nvSpPr>
            <p:cNvPr id="15" name="Rectangle 15"/>
            <p:cNvSpPr/>
            <p:nvPr/>
          </p:nvSpPr>
          <p:spPr>
            <a:xfrm>
              <a:off x="6464618" y="1524000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6669405" y="1953580"/>
              <a:ext cx="200023" cy="200023"/>
              <a:chOff x="6669405" y="1953580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6669405" y="19535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6802755" y="20202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6971348" y="1672590"/>
              <a:ext cx="4206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对象的方法能「找到」子类，对象的属性却还是超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类的属性。运行时绑定针对的范畴只是对象的方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</p:grpSp>
      <p:grpSp>
        <p:nvGrpSpPr>
          <p:cNvPr id="28" name="c2-card-2"/>
          <p:cNvGrpSpPr/>
          <p:nvPr/>
        </p:nvGrpSpPr>
        <p:grpSpPr>
          <a:xfrm>
            <a:off x="6464618" y="2773680"/>
            <a:ext cx="5193982" cy="1670685"/>
            <a:chOff x="6464618" y="2773680"/>
            <a:chExt cx="5193982" cy="1670685"/>
          </a:xfrm>
        </p:grpSpPr>
        <p:sp>
          <p:nvSpPr>
            <p:cNvPr id="21" name="Rectangle 21"/>
            <p:cNvSpPr/>
            <p:nvPr/>
          </p:nvSpPr>
          <p:spPr>
            <a:xfrm>
              <a:off x="6464618" y="2773680"/>
              <a:ext cx="5193982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74142" y="2907030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12268" y="298323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77825" y="301894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想拿到子类的字段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66735" y="3018472"/>
              <a:ext cx="32016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封装成 getter，借动态绑定绕过去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04648" y="3379470"/>
              <a:ext cx="4291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给超类和子类各写一个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getName()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，超类引用调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getName() 时按对象分派，取到的就是子类那份。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04648" y="4000500"/>
              <a:ext cx="39708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实测：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sample.getName()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输出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儿子属性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36" name="c2-card-3"/>
          <p:cNvGrpSpPr/>
          <p:nvPr/>
        </p:nvGrpSpPr>
        <p:grpSpPr>
          <a:xfrm>
            <a:off x="6464618" y="4634865"/>
            <a:ext cx="5193982" cy="1631632"/>
            <a:chOff x="6464618" y="4634865"/>
            <a:chExt cx="5193982" cy="1631632"/>
          </a:xfrm>
        </p:grpSpPr>
        <p:sp>
          <p:nvSpPr>
            <p:cNvPr id="29" name="Rectangle 29"/>
            <p:cNvSpPr/>
            <p:nvPr/>
          </p:nvSpPr>
          <p:spPr>
            <a:xfrm>
              <a:off x="6464618" y="4634865"/>
              <a:ext cx="5193982" cy="1631632"/>
            </a:xfrm>
            <a:prstGeom prst="roundRect">
              <a:avLst>
                <a:gd name="adj" fmla="val 81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4142" y="4768215"/>
              <a:ext cx="47625" cy="136493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12268" y="484441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85724" y="488013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少一个都不行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81938" y="487965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超类必须也有这个方法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4648" y="5240655"/>
              <a:ext cx="4434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Father2 里的 getName() 删掉，只留子类的，编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译时报「找不到符号：方法 getName()」。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05791" y="5858351"/>
              <a:ext cx="38886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因为编译期是按引用类型 Father2 去查方法名的。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可扩展性：把会变的和不变的分开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951220" cy="3747135"/>
            <a:chOff x="533400" y="1524000"/>
            <a:chExt cx="5951220" cy="3747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747135"/>
            </a:xfrm>
            <a:prstGeom prst="roundRect">
              <a:avLst>
                <a:gd name="adj" fmla="val 254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309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4.14　用抽象类统一界面，一次处理一数组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49" y="1936337"/>
              <a:ext cx="3686505" cy="32537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Felid2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Cat2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Felid2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 { System.out.println(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"Cat2"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Tiger2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Felid2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meow() { System.out.println(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"Tiger2"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RoarTest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roar(Felid2 f) { f.meow();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roarall(Felid2[] e)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(Felid2 i : e) roar(i);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Felid2[] e = {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Cat2(),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Tiger2() };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roarall(e);     </a:t>
              </a:r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Cat2  Tiger2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2-card-1"/>
          <p:cNvGrpSpPr/>
          <p:nvPr/>
        </p:nvGrpSpPr>
        <p:grpSpPr>
          <a:xfrm>
            <a:off x="6789420" y="1524000"/>
            <a:ext cx="4869180" cy="1293495"/>
            <a:chOff x="6789420" y="1524000"/>
            <a:chExt cx="4869180" cy="1293495"/>
          </a:xfrm>
        </p:grpSpPr>
        <p:sp>
          <p:nvSpPr>
            <p:cNvPr id="11" name="Rectangle 11"/>
            <p:cNvSpPr/>
            <p:nvPr/>
          </p:nvSpPr>
          <p:spPr>
            <a:xfrm>
              <a:off x="6789420" y="1524000"/>
              <a:ext cx="4869180" cy="1293495"/>
            </a:xfrm>
            <a:prstGeom prst="roundRect">
              <a:avLst>
                <a:gd name="adj" fmla="val 10309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993255" y="172783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070661" y="17635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不变的部分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021384" y="1767364"/>
              <a:ext cx="30295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roar 和 roarall 只与超类接口通信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986016" y="2119789"/>
              <a:ext cx="387375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加一种新的猫科动物，只要它继承 Felid2 并实现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meow()，这两个方法一个字都不用改。</a:t>
              </a:r>
            </a:p>
          </p:txBody>
        </p:sp>
      </p:grpSp>
      <p:grpSp>
        <p:nvGrpSpPr>
          <p:cNvPr id="34" name="c2-card-2"/>
          <p:cNvGrpSpPr/>
          <p:nvPr/>
        </p:nvGrpSpPr>
        <p:grpSpPr>
          <a:xfrm>
            <a:off x="6789420" y="3002280"/>
            <a:ext cx="4869180" cy="3339465"/>
            <a:chOff x="6789420" y="3002280"/>
            <a:chExt cx="4869180" cy="3339465"/>
          </a:xfrm>
        </p:grpSpPr>
        <p:sp>
          <p:nvSpPr>
            <p:cNvPr id="17" name="Rectangle 17"/>
            <p:cNvSpPr/>
            <p:nvPr/>
          </p:nvSpPr>
          <p:spPr>
            <a:xfrm>
              <a:off x="6789420" y="3002280"/>
              <a:ext cx="4869180" cy="3339465"/>
            </a:xfrm>
            <a:prstGeom prst="roundRect">
              <a:avLst>
                <a:gd name="adj" fmla="val 3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798945" y="3135630"/>
              <a:ext cx="47625" cy="30727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031355" y="32061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21563" y="32418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32764" y="324659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原课件这段有四处编不过的写法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031355" y="3586162"/>
              <a:ext cx="201930" cy="20193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089700" y="36255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22248" y="3598069"/>
              <a:ext cx="383768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 void static roar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修饰符顺序反了，应是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 static void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031355" y="4177665"/>
              <a:ext cx="201930" cy="20193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089700" y="421705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22248" y="4189571"/>
              <a:ext cx="390982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 void abstract meow();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同样反了，应是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 abstract void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031355" y="4769168"/>
              <a:ext cx="201930" cy="20193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089700" y="48085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322248" y="4781074"/>
              <a:ext cx="38016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数组初始化写成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{ new cat(); new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tiger(); }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，类名小写且用了分号，应是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{ new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Cat2(), new Tiger2() }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031355" y="5632132"/>
              <a:ext cx="201930" cy="20193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089700" y="56715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22248" y="5644039"/>
              <a:ext cx="382866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 Felid 的 meow() 有方法体却被当成抽象方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法用。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向下转型：想用子类特有的方法，就得转回去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ode-1"/>
          <p:cNvGrpSpPr/>
          <p:nvPr/>
        </p:nvGrpSpPr>
        <p:grpSpPr>
          <a:xfrm>
            <a:off x="533400" y="1524000"/>
            <a:ext cx="5842635" cy="2985135"/>
            <a:chOff x="533400" y="1524000"/>
            <a:chExt cx="5842635" cy="2985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2985135"/>
            </a:xfrm>
            <a:prstGeom prst="roundRect">
              <a:avLst>
                <a:gd name="adj" fmla="val 319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6754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4.15　三种写法两种结果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604260"/>
              <a:ext cx="5804535" cy="15430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758565"/>
              <a:ext cx="5804535" cy="15430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913822"/>
              <a:ext cx="5804535" cy="15430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80910" y="1935575"/>
              <a:ext cx="129667" cy="2482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215"/>
                </a:lnSpc>
              </a:pPr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12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13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14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15</a:t>
              </a:r>
              <a:br/>
              <a:r>
                <a:rPr lang="zh-CN" sz="86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16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15352" y="1935575"/>
              <a:ext cx="3023997" cy="2482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Useful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{}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{}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MoreUseful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Useful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{}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{}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u() {}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RTTI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Useful x =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Useful();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Useful y =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MoreUseful();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y.u();               编译错误，找不到方法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((MoreUseful) y).u();   </a:t>
              </a:r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正确的向下转型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((MoreUseful) x).u();   </a:t>
              </a:r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运行时抛异常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4678680"/>
            <a:ext cx="5842635" cy="944880"/>
            <a:chOff x="533400" y="4678680"/>
            <a:chExt cx="5842635" cy="944880"/>
          </a:xfrm>
        </p:grpSpPr>
        <p:sp>
          <p:nvSpPr>
            <p:cNvPr id="15" name="Rectangle 15"/>
            <p:cNvSpPr/>
            <p:nvPr/>
          </p:nvSpPr>
          <p:spPr>
            <a:xfrm>
              <a:off x="533400" y="4678680"/>
              <a:ext cx="5842635" cy="944880"/>
            </a:xfrm>
            <a:prstGeom prst="roundRect">
              <a:avLst>
                <a:gd name="adj" fmla="val 14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812030"/>
              <a:ext cx="47625" cy="67818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486537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0862" y="489823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23784" y="490061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原课件照抄编不过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332" y="5226368"/>
              <a:ext cx="50591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类名写成 MoreUsefull（多一个 l），y.u() 那行也没注释掉。</a:t>
              </a:r>
            </a:p>
          </p:txBody>
        </p:sp>
      </p:grpSp>
      <p:grpSp>
        <p:nvGrpSpPr>
          <p:cNvPr id="32" name="c2-bullets-1"/>
          <p:cNvGrpSpPr/>
          <p:nvPr/>
        </p:nvGrpSpPr>
        <p:grpSpPr>
          <a:xfrm>
            <a:off x="6673977" y="1545907"/>
            <a:ext cx="4914662" cy="1712786"/>
            <a:chOff x="6673977" y="1545907"/>
            <a:chExt cx="4914662" cy="1712786"/>
          </a:xfrm>
        </p:grpSpPr>
        <p:sp>
          <p:nvSpPr>
            <p:cNvPr id="22" name="TextBox 22"/>
            <p:cNvSpPr txBox="1"/>
            <p:nvPr/>
          </p:nvSpPr>
          <p:spPr>
            <a:xfrm>
              <a:off x="6673977" y="154590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三行分别发生了什么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680835" y="1850708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36513" y="18900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961632" y="1863090"/>
              <a:ext cx="46270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y.u()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：编译期按引用类型 Useful 找不到 u()，直接报错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680835" y="2159318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736513" y="21986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61632" y="2171700"/>
              <a:ext cx="44028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((MoreUseful) y).u()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：y 指向的确实是 MoreUseful 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象，转型成功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80835" y="2725102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36513" y="27644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61632" y="2737485"/>
              <a:ext cx="45057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((MoreUseful) x).u()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：x 指向的只是 Useful 对象，运行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时抛 ClassCastException</a:t>
              </a:r>
            </a:p>
          </p:txBody>
        </p:sp>
      </p:grpSp>
      <p:grpSp>
        <p:nvGrpSpPr>
          <p:cNvPr id="36" name="c2-code-2"/>
          <p:cNvGrpSpPr/>
          <p:nvPr/>
        </p:nvGrpSpPr>
        <p:grpSpPr>
          <a:xfrm>
            <a:off x="6680835" y="3375660"/>
            <a:ext cx="4977765" cy="795338"/>
            <a:chOff x="6680835" y="3375660"/>
            <a:chExt cx="4977765" cy="795338"/>
          </a:xfrm>
        </p:grpSpPr>
        <p:sp>
          <p:nvSpPr>
            <p:cNvPr id="33" name="Rectangle 33"/>
            <p:cNvSpPr/>
            <p:nvPr/>
          </p:nvSpPr>
          <p:spPr>
            <a:xfrm>
              <a:off x="6680835" y="3375660"/>
              <a:ext cx="4977765" cy="795338"/>
            </a:xfrm>
            <a:prstGeom prst="roundRect">
              <a:avLst>
                <a:gd name="adj" fmla="val 119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09232" y="352758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第三行的实测异常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09422" y="3785949"/>
              <a:ext cx="1664970" cy="296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class Useful cannot be cast to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class MoreUseful</a:t>
              </a:r>
            </a:p>
          </p:txBody>
        </p:sp>
      </p:grpSp>
      <p:grpSp>
        <p:nvGrpSpPr>
          <p:cNvPr id="40" name="c2-code-3"/>
          <p:cNvGrpSpPr/>
          <p:nvPr/>
        </p:nvGrpSpPr>
        <p:grpSpPr>
          <a:xfrm>
            <a:off x="6680835" y="4341495"/>
            <a:ext cx="4977765" cy="1128712"/>
            <a:chOff x="6680835" y="4341495"/>
            <a:chExt cx="4977765" cy="1128712"/>
          </a:xfrm>
        </p:grpSpPr>
        <p:sp>
          <p:nvSpPr>
            <p:cNvPr id="37" name="Rectangle 37"/>
            <p:cNvSpPr/>
            <p:nvPr/>
          </p:nvSpPr>
          <p:spPr>
            <a:xfrm>
              <a:off x="6680835" y="4341495"/>
              <a:ext cx="4977765" cy="1128712"/>
            </a:xfrm>
            <a:prstGeom prst="roundRect">
              <a:avLst>
                <a:gd name="adj" fmla="val 843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09232" y="4493419"/>
              <a:ext cx="27991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转型前先用 instanceof 检查（实测不抛异常）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09422" y="4752118"/>
              <a:ext cx="2292223" cy="6305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(x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instanceof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MoreUseful) {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((MoreUseful) x).u();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x 实际指向 Useful，条件为 false，跳过</a:t>
              </a:r>
            </a:p>
          </p:txBody>
        </p:sp>
      </p:grpSp>
      <p:grpSp>
        <p:nvGrpSpPr>
          <p:cNvPr id="4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1" name="Rectangle 4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0892" y="6028373"/>
              <a:ext cx="100792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向上转型总是安全的，向下转型不是。Java 对所有转型都做检查，转错了在运行时才发作，转型前先用 instanceof 问一句。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4.2 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静态方法是隐藏，不是重写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319462"/>
            <a:chOff x="533400" y="1524000"/>
            <a:chExt cx="5410200" cy="3319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19462"/>
            </a:xfrm>
            <a:prstGeom prst="roundRect">
              <a:avLst>
                <a:gd name="adj" fmla="val 28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088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4.16　同名的 static 与实例方法各走各的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569462" cy="28338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SH1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"SH1.f"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      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"SH1.g"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SH2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SH1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"SH2.f"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      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"SH2.g"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StaticHide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SH1 x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SH2();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x.g();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SH2.g   动态绑定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SH1.f();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SH1.f   看类名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SH2.f();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SH2.f   看类名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033962"/>
            <a:ext cx="5410200" cy="1120140"/>
            <a:chOff x="533400" y="5033962"/>
            <a:chExt cx="5410200" cy="1120140"/>
          </a:xfrm>
        </p:grpSpPr>
        <p:sp>
          <p:nvSpPr>
            <p:cNvPr id="11" name="Rectangle 11"/>
            <p:cNvSpPr/>
            <p:nvPr/>
          </p:nvSpPr>
          <p:spPr>
            <a:xfrm>
              <a:off x="533400" y="5033962"/>
              <a:ext cx="5410200" cy="1120140"/>
            </a:xfrm>
            <a:prstGeom prst="roundRect">
              <a:avLst>
                <a:gd name="adj" fmla="val 1020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494020"/>
              <a:ext cx="200026" cy="200026"/>
              <a:chOff x="738188" y="5494020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4940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55606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55940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5351145"/>
              <a:ext cx="4320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 x.f() 也能编译，但编译器按引用类型 SH1 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析，结果还是 SH1.f，这种写法容易误导人。</a:t>
              </a:r>
            </a:p>
          </p:txBody>
        </p:sp>
      </p:grpSp>
      <p:grpSp>
        <p:nvGrpSpPr>
          <p:cNvPr id="38" name="c2-table-1"/>
          <p:cNvGrpSpPr/>
          <p:nvPr/>
        </p:nvGrpSpPr>
        <p:grpSpPr>
          <a:xfrm>
            <a:off x="6248400" y="1524000"/>
            <a:ext cx="5410200" cy="1795462"/>
            <a:chOff x="6248400" y="1524000"/>
            <a:chExt cx="5410200" cy="1795462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0882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调用形式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2041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139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6223" y="2108359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x.g()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79283" y="2108359"/>
              <a:ext cx="1365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指向的实际对象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936480" y="1982152"/>
              <a:ext cx="17125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0034778" y="2108359"/>
              <a:ext cx="5046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SH2.g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6223" y="2556986"/>
              <a:ext cx="7358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SH1.f()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79283" y="255698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写在前面的类名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034778" y="2556986"/>
              <a:ext cx="5046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SH1.f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6223" y="3005614"/>
              <a:ext cx="7358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SH2.f()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79283" y="300561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写在前面的类名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034778" y="3005614"/>
              <a:ext cx="5046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SH2.f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866698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92219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2-card-2"/>
          <p:cNvGrpSpPr/>
          <p:nvPr/>
        </p:nvGrpSpPr>
        <p:grpSpPr>
          <a:xfrm>
            <a:off x="6248400" y="3509962"/>
            <a:ext cx="5410200" cy="1670685"/>
            <a:chOff x="6248400" y="3509962"/>
            <a:chExt cx="5410200" cy="1670685"/>
          </a:xfrm>
        </p:grpSpPr>
        <p:sp>
          <p:nvSpPr>
            <p:cNvPr id="39" name="Rectangle 39"/>
            <p:cNvSpPr/>
            <p:nvPr/>
          </p:nvSpPr>
          <p:spPr>
            <a:xfrm>
              <a:off x="6248400" y="3509962"/>
              <a:ext cx="5410200" cy="1670685"/>
            </a:xfrm>
            <a:prstGeom prst="roundRect">
              <a:avLst>
                <a:gd name="adj" fmla="val 7982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57950" y="371951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48158" y="37552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58978" y="3754755"/>
              <a:ext cx="23409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static 方法不进虚方法表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50330" y="4115752"/>
              <a:ext cx="4672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子类写同名 static 方法叫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隐藏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（hiding），不叫重写，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调用哪一个在编译期就定了。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50330" y="4736782"/>
              <a:ext cx="43637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所以静态方法上加 </a:t>
              </a:r>
              <a:r>
                <a:rPr lang="en-US" sz="150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@Override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会直接编译报错。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248400" y="5371148"/>
            <a:ext cx="5410200" cy="782955"/>
            <a:chOff x="6248400" y="5371148"/>
            <a:chExt cx="5410200" cy="782955"/>
          </a:xfrm>
        </p:grpSpPr>
        <p:sp>
          <p:nvSpPr>
            <p:cNvPr id="46" name="Rectangle 46"/>
            <p:cNvSpPr/>
            <p:nvPr/>
          </p:nvSpPr>
          <p:spPr>
            <a:xfrm>
              <a:off x="6248400" y="5371148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453188" y="5662613"/>
              <a:ext cx="200026" cy="200025"/>
              <a:chOff x="6453188" y="5662613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453188" y="566261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492926" y="570706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27642" y="581818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755130" y="5519738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静态方法请始终用类名调用，用对象调用会给人「它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会多态」的错觉。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293108" cy="2643187"/>
            <a:chOff x="667512" y="1835468"/>
            <a:chExt cx="4293108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981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 接口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只约定能做什么，不管怎么做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接口是抽象方法与常量值的集合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一个类只能继承一个超类，却能实现多个接口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接口的定义：一份只写签名的约定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059805" cy="1107758"/>
            <a:chOff x="533400" y="1524000"/>
            <a:chExt cx="6059805" cy="11077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107758"/>
            </a:xfrm>
            <a:prstGeom prst="roundRect">
              <a:avLst>
                <a:gd name="adj" fmla="val 859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语法格式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004"/>
              <a:ext cx="2779649" cy="610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]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接口名 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父接口名列表]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] 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] 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] 常量;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] [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] 方法;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2796540"/>
            <a:ext cx="6059805" cy="2154555"/>
            <a:chOff x="533400" y="2796540"/>
            <a:chExt cx="6059805" cy="2154555"/>
          </a:xfrm>
        </p:grpSpPr>
        <p:sp>
          <p:nvSpPr>
            <p:cNvPr id="11" name="Rectangle 11"/>
            <p:cNvSpPr/>
            <p:nvPr/>
          </p:nvSpPr>
          <p:spPr>
            <a:xfrm>
              <a:off x="533400" y="2796540"/>
              <a:ext cx="6059805" cy="2154555"/>
            </a:xfrm>
            <a:prstGeom prst="roundRect">
              <a:avLst>
                <a:gd name="adj" fmla="val 442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948464"/>
              <a:ext cx="22032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4.17　一个计算面积和周长的接口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88" y="3207544"/>
              <a:ext cx="3732530" cy="165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Calculate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 = 3.14159f;         </a:t>
              </a:r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常量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getArea(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r);            </a:t>
              </a:r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抽象方法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getCircumference(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Calculate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getArea(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r)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PI * r * r;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getCircumference(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float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r)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2 * PI * r;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Calculate c = new Circle();</a:t>
              </a:r>
              <a:br/>
              <a:r>
                <a:rPr lang="en-US" sz="8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c.getArea(2f) -&gt; 12.56636</a:t>
              </a:r>
            </a:p>
          </p:txBody>
        </p:sp>
      </p:grpSp>
      <p:grpSp>
        <p:nvGrpSpPr>
          <p:cNvPr id="21" name="c1-card-3"/>
          <p:cNvGrpSpPr/>
          <p:nvPr/>
        </p:nvGrpSpPr>
        <p:grpSpPr>
          <a:xfrm>
            <a:off x="533400" y="5115878"/>
            <a:ext cx="6059805" cy="1160145"/>
            <a:chOff x="533400" y="5115878"/>
            <a:chExt cx="6059805" cy="1160145"/>
          </a:xfrm>
        </p:grpSpPr>
        <p:sp>
          <p:nvSpPr>
            <p:cNvPr id="15" name="Rectangle 15"/>
            <p:cNvSpPr/>
            <p:nvPr/>
          </p:nvSpPr>
          <p:spPr>
            <a:xfrm>
              <a:off x="533400" y="5115878"/>
              <a:ext cx="6059805" cy="1160145"/>
            </a:xfrm>
            <a:prstGeom prst="roundRect">
              <a:avLst>
                <a:gd name="adj" fmla="val 114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5249228"/>
              <a:ext cx="47625" cy="89344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2475" y="529685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5147" y="53297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18450" y="53363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接口是什么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5998" y="5653564"/>
              <a:ext cx="51335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接口是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抽象方法与常量值的集合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，由接口的声明和接口体两部分组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成。可以把它看成一个「纯」抽象类：只说能做什么，不说怎么做。</a:t>
              </a:r>
            </a:p>
          </p:txBody>
        </p:sp>
      </p:grpSp>
      <p:grpSp>
        <p:nvGrpSpPr>
          <p:cNvPr id="24" name="c2-image-1"/>
          <p:cNvGrpSpPr/>
          <p:nvPr/>
        </p:nvGrpSpPr>
        <p:grpSpPr>
          <a:xfrm>
            <a:off x="8151965" y="1524000"/>
            <a:ext cx="2252675" cy="1820894"/>
            <a:chOff x="8151965" y="1524000"/>
            <a:chExt cx="2252675" cy="1820894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rcRect l="8" t="0" r="7" b="0"/>
            <a:stretch>
              <a:fillRect/>
            </a:stretch>
          </p:blipFill>
          <p:spPr>
            <a:xfrm>
              <a:off x="8252460" y="1524000"/>
              <a:ext cx="2050732" cy="1538288"/>
            </a:xfrm>
            <a:prstGeom prst="roundRect">
              <a:avLst>
                <a:gd name="adj" fmla="val 8668"/>
              </a:avLst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8151965" y="3154204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插头形状统一，插上去的电器各不相同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898005" y="3490912"/>
            <a:ext cx="4760595" cy="2785110"/>
            <a:chOff x="6898005" y="3490912"/>
            <a:chExt cx="4760595" cy="2785110"/>
          </a:xfrm>
        </p:grpSpPr>
        <p:sp>
          <p:nvSpPr>
            <p:cNvPr id="25" name="Rectangle 25"/>
            <p:cNvSpPr/>
            <p:nvPr/>
          </p:nvSpPr>
          <p:spPr>
            <a:xfrm>
              <a:off x="6898005" y="3490912"/>
              <a:ext cx="4760595" cy="2785110"/>
            </a:xfrm>
            <a:prstGeom prst="roundRect">
              <a:avLst>
                <a:gd name="adj" fmla="val 47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907530" y="3624262"/>
              <a:ext cx="47625" cy="251841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117080" y="367188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201649" y="37047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可插入性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31658" y="371141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加功能不必改整棵继承树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10603" y="4027646"/>
              <a:ext cx="41582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单继承。没有接口时，想给某个子类加新功能，只能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往它的超类上再加超类，一直改到继承树顶端；有了接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口，让这个类多实现一个接口就行。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10603" y="479917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这符合开闭原则：对扩展开放，对修改关闭。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抽象类还是接口？看共性到底有多深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1701165"/>
            <a:chOff x="533400" y="1524000"/>
            <a:chExt cx="5410200" cy="17011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01165"/>
            </a:xfrm>
            <a:prstGeom prst="roundRect">
              <a:avLst>
                <a:gd name="adj" fmla="val 559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共性多时用抽象类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49" y="1936337"/>
              <a:ext cx="3322396" cy="12078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Instrument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play();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what() {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"Instrument"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adjust();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Wind、Percussion、Stringed 都 extends Instrument</a:t>
              </a:r>
              <a:br/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what() 这类公共实现可以直接继承下去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409950"/>
            <a:ext cx="5410200" cy="1360170"/>
            <a:chOff x="533400" y="3409950"/>
            <a:chExt cx="5410200" cy="1360170"/>
          </a:xfrm>
        </p:grpSpPr>
        <p:sp>
          <p:nvSpPr>
            <p:cNvPr id="11" name="Rectangle 11"/>
            <p:cNvSpPr/>
            <p:nvPr/>
          </p:nvSpPr>
          <p:spPr>
            <a:xfrm>
              <a:off x="533400" y="3409950"/>
              <a:ext cx="5410200" cy="1360170"/>
            </a:xfrm>
            <a:prstGeom prst="roundRect">
              <a:avLst>
                <a:gd name="adj" fmla="val 70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561874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只有「会做这件事」相同时用接口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49" y="3822287"/>
              <a:ext cx="3949141" cy="8668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HowToMove {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move(); }</a:t>
              </a:r>
              <a:br/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HowToMove {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move() { } }</a:t>
              </a:r>
              <a:br/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Animal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HowToMove {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move() { } }</a:t>
              </a:r>
              <a:br/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汽车和动物没有共同的超类可言，</a:t>
              </a:r>
              <a:br/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但它们都"会移动"，这一点可以抽成接口</a:t>
              </a:r>
            </a:p>
          </p:txBody>
        </p:sp>
      </p:grpSp>
      <p:grpSp>
        <p:nvGrpSpPr>
          <p:cNvPr id="20" name="c1-callout-3"/>
          <p:cNvGrpSpPr/>
          <p:nvPr/>
        </p:nvGrpSpPr>
        <p:grpSpPr>
          <a:xfrm>
            <a:off x="533400" y="4954905"/>
            <a:ext cx="5410200" cy="1061085"/>
            <a:chOff x="533400" y="4954905"/>
            <a:chExt cx="5410200" cy="1061085"/>
          </a:xfrm>
        </p:grpSpPr>
        <p:sp>
          <p:nvSpPr>
            <p:cNvPr id="15" name="Rectangle 15"/>
            <p:cNvSpPr/>
            <p:nvPr/>
          </p:nvSpPr>
          <p:spPr>
            <a:xfrm>
              <a:off x="533400" y="4954905"/>
              <a:ext cx="5410200" cy="1061085"/>
            </a:xfrm>
            <a:prstGeom prst="roundRect">
              <a:avLst>
                <a:gd name="adj" fmla="val 10772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5385437"/>
              <a:ext cx="200023" cy="200023"/>
              <a:chOff x="738188" y="5385437"/>
              <a:chExt cx="200023" cy="20002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38543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71538" y="54521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511" y="5255419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抽象类回答的是「这些类是什么」，接口回答的是「这些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类能做什么」。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248400" y="1524000"/>
            <a:ext cx="5410200" cy="2150745"/>
            <a:chOff x="6248400" y="1524000"/>
            <a:chExt cx="5410200" cy="2150745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43053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190613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问自己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56751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选抽象类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2950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选接口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3747" y="208502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这些类是同一族吗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638222" y="1964055"/>
              <a:ext cx="149542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34044" y="208502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249472" y="20850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48400" y="23793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2384108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3747" y="251555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有公共实现要共享吗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34044" y="251555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49472" y="251555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8098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3747" y="2946082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一个类要同时具备几种能力吗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734044" y="294608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不方便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0153650" y="2824162"/>
              <a:ext cx="149542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249472" y="294608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32394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48400" y="3244215"/>
              <a:ext cx="5410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53747" y="33756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以后可能加新方法吗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34044" y="33756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加了子类自动拿到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49472" y="33756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所有实现类都要改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1524000"/>
              <a:ext cx="5410200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623935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139362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rd-2"/>
          <p:cNvGrpSpPr/>
          <p:nvPr/>
        </p:nvGrpSpPr>
        <p:grpSpPr>
          <a:xfrm>
            <a:off x="6248400" y="3860482"/>
            <a:ext cx="5410200" cy="2156460"/>
            <a:chOff x="6248400" y="3860482"/>
            <a:chExt cx="5410200" cy="2156460"/>
          </a:xfrm>
        </p:grpSpPr>
        <p:sp>
          <p:nvSpPr>
            <p:cNvPr id="48" name="Rectangle 48"/>
            <p:cNvSpPr/>
            <p:nvPr/>
          </p:nvSpPr>
          <p:spPr>
            <a:xfrm>
              <a:off x="6248400" y="3860482"/>
              <a:ext cx="5410200" cy="2156460"/>
            </a:xfrm>
            <a:prstGeom prst="roundRect">
              <a:avLst>
                <a:gd name="adj" fmla="val 61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3993832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90335" y="406431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80543" y="41000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91744" y="410384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原课件这两页的笔误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83096" y="4455319"/>
              <a:ext cx="4414774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抽象类那段里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what()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的 return 语句末尾少了分号；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Interface Instrument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的 I 应小写；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pubic class Wind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implement Instrument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应为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public class Wind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implements Instrument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83096" y="5589746"/>
              <a:ext cx="36638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void Move()；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用了全角分号，也编不过。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接口成员的修饰符可以省，但它们一直都在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042160"/>
            <a:chOff x="533400" y="1524000"/>
            <a:chExt cx="5626418" cy="20421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42160"/>
            </a:xfrm>
            <a:prstGeom prst="roundRect">
              <a:avLst>
                <a:gd name="adj" fmla="val 46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2032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4.18　用反射把隐含修饰符打出来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49" y="1936337"/>
              <a:ext cx="3656660" cy="15488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CONST = 1;               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合法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method();               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合法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method2();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显式写出来也一样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Field  f = A.class.getField("CONST");</a:t>
              </a:r>
              <a:br/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Method m = A.class.getMethod("method");</a:t>
              </a:r>
              <a:br/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Modifier.toString(f.getModifiers())</a:t>
              </a:r>
              <a:br/>
              <a:r>
                <a:rPr lang="en-US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Modifier.toString(m.getModifiers())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750945"/>
            <a:ext cx="5626418" cy="847725"/>
            <a:chOff x="533400" y="3750945"/>
            <a:chExt cx="5626418" cy="847725"/>
          </a:xfrm>
        </p:grpSpPr>
        <p:sp>
          <p:nvSpPr>
            <p:cNvPr id="11" name="Rectangle 11"/>
            <p:cNvSpPr/>
            <p:nvPr/>
          </p:nvSpPr>
          <p:spPr>
            <a:xfrm>
              <a:off x="533400" y="3750945"/>
              <a:ext cx="5626418" cy="847725"/>
            </a:xfrm>
            <a:prstGeom prst="roundRect">
              <a:avLst>
                <a:gd name="adj" fmla="val 1123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902869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49" y="4163282"/>
              <a:ext cx="2504643" cy="355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CONST modifiers  = public static final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method modifiers = public abstract</a:t>
              </a:r>
            </a:p>
          </p:txBody>
        </p:sp>
      </p:grpSp>
      <p:grpSp>
        <p:nvGrpSpPr>
          <p:cNvPr id="21" name="c1-callout-3"/>
          <p:cNvGrpSpPr/>
          <p:nvPr/>
        </p:nvGrpSpPr>
        <p:grpSpPr>
          <a:xfrm>
            <a:off x="533400" y="4784408"/>
            <a:ext cx="5626418" cy="1422082"/>
            <a:chOff x="533400" y="4784408"/>
            <a:chExt cx="5626418" cy="1422082"/>
          </a:xfrm>
        </p:grpSpPr>
        <p:sp>
          <p:nvSpPr>
            <p:cNvPr id="15" name="Rectangle 15"/>
            <p:cNvSpPr/>
            <p:nvPr/>
          </p:nvSpPr>
          <p:spPr>
            <a:xfrm>
              <a:off x="533400" y="4784408"/>
              <a:ext cx="5626418" cy="1422082"/>
            </a:xfrm>
            <a:prstGeom prst="roundRect">
              <a:avLst>
                <a:gd name="adj" fmla="val 803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395913"/>
              <a:ext cx="200026" cy="200026"/>
              <a:chOff x="738188" y="5395913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3959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54625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549592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511" y="5264944"/>
              <a:ext cx="4595114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接口名前的 public 也可以省，省掉后就是包内可见。接口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体里的每一项都会被补上它所允许的最宽松的修饰符。</a:t>
              </a:r>
            </a:p>
          </p:txBody>
        </p:sp>
      </p:grpSp>
      <p:grpSp>
        <p:nvGrpSpPr>
          <p:cNvPr id="27" name="c2-bullets-1"/>
          <p:cNvGrpSpPr/>
          <p:nvPr/>
        </p:nvGrpSpPr>
        <p:grpSpPr>
          <a:xfrm>
            <a:off x="6457379" y="1547336"/>
            <a:ext cx="4986337" cy="1760792"/>
            <a:chOff x="6457379" y="1547336"/>
            <a:chExt cx="4986337" cy="1760792"/>
          </a:xfrm>
        </p:grpSpPr>
        <p:sp>
          <p:nvSpPr>
            <p:cNvPr id="22" name="TextBox 22"/>
            <p:cNvSpPr txBox="1"/>
            <p:nvPr/>
          </p:nvSpPr>
          <p:spPr>
            <a:xfrm>
              <a:off x="6457379" y="1547336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由此得出的两条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6464618" y="191643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708838" y="1886426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接口里的成员变量默认是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public static final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，必须显式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初始化，写不写修饰符都一样。常量名一般全大写，单词之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间用下划线分隔。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6464618" y="2787968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08838" y="2757964"/>
              <a:ext cx="4734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接口里的方法默认是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public abstract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，没有方法体，接口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本身不能被实例化。</a:t>
              </a:r>
            </a:p>
          </p:txBody>
        </p:sp>
      </p:grpSp>
      <p:grpSp>
        <p:nvGrpSpPr>
          <p:cNvPr id="34" name="c2-callout-2"/>
          <p:cNvGrpSpPr/>
          <p:nvPr/>
        </p:nvGrpSpPr>
        <p:grpSpPr>
          <a:xfrm>
            <a:off x="6464618" y="3437572"/>
            <a:ext cx="5193982" cy="1018222"/>
            <a:chOff x="6464618" y="3437572"/>
            <a:chExt cx="5193982" cy="1018222"/>
          </a:xfrm>
        </p:grpSpPr>
        <p:sp>
          <p:nvSpPr>
            <p:cNvPr id="28" name="Rectangle 28"/>
            <p:cNvSpPr/>
            <p:nvPr/>
          </p:nvSpPr>
          <p:spPr>
            <a:xfrm>
              <a:off x="6464618" y="3437572"/>
              <a:ext cx="5193982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669405" y="3847148"/>
              <a:ext cx="200026" cy="200025"/>
              <a:chOff x="6669405" y="3847148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669405" y="38471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709144" y="38915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743859" y="40027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971729" y="3584734"/>
              <a:ext cx="4315587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接口里的字段是 static 的，所以用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Constants.ROOT</a:t>
              </a: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 xml:space="preserve"> 这种形式直接引用，不必先 new 一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个实现类。</a:t>
              </a:r>
            </a:p>
          </p:txBody>
        </p:sp>
      </p:grpSp>
      <p:grpSp>
        <p:nvGrpSpPr>
          <p:cNvPr id="41" name="c2-card-3"/>
          <p:cNvGrpSpPr/>
          <p:nvPr/>
        </p:nvGrpSpPr>
        <p:grpSpPr>
          <a:xfrm>
            <a:off x="6464618" y="4641532"/>
            <a:ext cx="5193982" cy="1564958"/>
            <a:chOff x="6464618" y="4641532"/>
            <a:chExt cx="5193982" cy="1564958"/>
          </a:xfrm>
        </p:grpSpPr>
        <p:sp>
          <p:nvSpPr>
            <p:cNvPr id="35" name="Rectangle 35"/>
            <p:cNvSpPr/>
            <p:nvPr/>
          </p:nvSpPr>
          <p:spPr>
            <a:xfrm>
              <a:off x="6464618" y="4641532"/>
              <a:ext cx="5193982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74142" y="4774882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06552" y="484536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97713" y="48810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07961" y="488584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接口常量只有一份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99314" y="5237321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实现类里直接写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MAX_SIZE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能编译，是因为实现接口后这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个常量进入了类的作用域，但它仍然只有一份，改不了也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不属于任何对象。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69051" cy="909257"/>
            <a:chOff x="520446" y="342900"/>
            <a:chExt cx="85690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690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接口里写不了的四样东西，以及 Java 8 之后松动的地方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410200" cy="1561148"/>
            <a:chOff x="533400" y="1524000"/>
            <a:chExt cx="5410200" cy="15611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489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四个反例</a:t>
              </a:r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（javac 原话见右侧）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9554" y="1935956"/>
              <a:ext cx="78359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388"/>
                </a:lnSpc>
              </a:pPr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32307" y="1935956"/>
              <a:ext cx="2474214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var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;   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1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method() { }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2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method2();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3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B() { }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4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0" name="c1-table-2"/>
          <p:cNvGrpSpPr/>
          <p:nvPr/>
        </p:nvGrpSpPr>
        <p:grpSpPr>
          <a:xfrm>
            <a:off x="533400" y="3275648"/>
            <a:ext cx="5410200" cy="2438400"/>
            <a:chOff x="533400" y="3275648"/>
            <a:chExt cx="5410200" cy="2438400"/>
          </a:xfrm>
        </p:grpSpPr>
        <p:sp>
          <p:nvSpPr>
            <p:cNvPr id="12" name="Rectangle 12"/>
            <p:cNvSpPr/>
            <p:nvPr/>
          </p:nvSpPr>
          <p:spPr>
            <a:xfrm>
              <a:off x="533400" y="3275648"/>
              <a:ext cx="5410200" cy="48768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49618" y="3414712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55950" y="3414712"/>
              <a:ext cx="12147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javac 报的错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0080" y="3902392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9685" y="3902392"/>
              <a:ext cx="5301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需要=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42462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4251008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0080" y="4390072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89685" y="439007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接口抽象方法不能带有主体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7339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0080" y="4877752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89685" y="4877752"/>
              <a:ext cx="303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此处不允许使用修饰符protected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52216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5226368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0080" y="5365432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89685" y="5365432"/>
              <a:ext cx="12470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需要&lt;标识符&gt;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275648"/>
              <a:ext cx="5410200" cy="2438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178242" y="3275648"/>
              <a:ext cx="9525" cy="2438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2-card-1"/>
          <p:cNvGrpSpPr/>
          <p:nvPr/>
        </p:nvGrpSpPr>
        <p:grpSpPr>
          <a:xfrm>
            <a:off x="6248400" y="1524000"/>
            <a:ext cx="5410200" cy="2577465"/>
            <a:chOff x="6248400" y="1524000"/>
            <a:chExt cx="5410200" cy="257746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1733550"/>
              <a:ext cx="950595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73054" y="1769269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 · 版本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8430" y="2110740"/>
              <a:ext cx="4559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「接口中只能有 public abstract 方法」已经过时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88430" y="2465070"/>
              <a:ext cx="4463891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原课件的说法停在 Java 7。从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Java 8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起接口可以有</a:t>
              </a:r>
              <a:br/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default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方法和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static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方法，从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Java 9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起还可以有</a:t>
              </a:r>
              <a:br/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private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方法，它们都带方法体。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88430" y="3371850"/>
              <a:ext cx="4768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不变的是：不写 default/static/private 的方法仍然是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public abstract，仍然不能带方法体。</a:t>
              </a:r>
            </a:p>
          </p:txBody>
        </p:sp>
      </p:grpSp>
      <p:grpSp>
        <p:nvGrpSpPr>
          <p:cNvPr id="42" name="c2-code-2"/>
          <p:cNvGrpSpPr/>
          <p:nvPr/>
        </p:nvGrpSpPr>
        <p:grpSpPr>
          <a:xfrm>
            <a:off x="6248400" y="4291965"/>
            <a:ext cx="5410200" cy="1737360"/>
            <a:chOff x="6248400" y="4291965"/>
            <a:chExt cx="5410200" cy="1737360"/>
          </a:xfrm>
        </p:grpSpPr>
        <p:sp>
          <p:nvSpPr>
            <p:cNvPr id="39" name="Rectangle 39"/>
            <p:cNvSpPr/>
            <p:nvPr/>
          </p:nvSpPr>
          <p:spPr>
            <a:xfrm>
              <a:off x="6248400" y="4291965"/>
              <a:ext cx="541020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76797" y="4443889"/>
              <a:ext cx="102793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JDK 25 实测通过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76797" y="4704874"/>
              <a:ext cx="3843274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Greet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name();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default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hello()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prefix() + name();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Greet of(String s)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() -&gt; s;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prefix()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"Hello, 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Greet.of(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"Java"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).hello();  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Hello, Java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95664" cy="909257"/>
            <a:chOff x="520446" y="342900"/>
            <a:chExt cx="76956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956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接口之间用 extends，类实现接口用 implements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616518"/>
            <a:chOff x="533400" y="1524000"/>
            <a:chExt cx="5626418" cy="26165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616518"/>
            </a:xfrm>
            <a:prstGeom prst="roundRect">
              <a:avLst>
                <a:gd name="adj" fmla="val 36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477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4.19　复合接口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880612" cy="2129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methodA();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IB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methodB();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IC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IA, IB {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IC 称为复合接口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methodC();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IC {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三个方法都得实现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methodA()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methodB()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methodC()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C, D { 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B 是 class，C、D 是 interface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4331018"/>
            <a:ext cx="5626418" cy="1865948"/>
            <a:chOff x="533400" y="4331018"/>
            <a:chExt cx="5626418" cy="1865948"/>
          </a:xfrm>
        </p:grpSpPr>
        <p:sp>
          <p:nvSpPr>
            <p:cNvPr id="11" name="Rectangle 11"/>
            <p:cNvSpPr/>
            <p:nvPr/>
          </p:nvSpPr>
          <p:spPr>
            <a:xfrm>
              <a:off x="533400" y="4331018"/>
              <a:ext cx="5626418" cy="1865948"/>
            </a:xfrm>
            <a:prstGeom prst="roundRect">
              <a:avLst>
                <a:gd name="adj" fmla="val 6126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5163505"/>
              <a:ext cx="200023" cy="200023"/>
              <a:chOff x="738188" y="5163505"/>
              <a:chExt cx="200023" cy="20002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16350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71538" y="52301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130" y="5020628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一个类只能继承一个直接超类，却可以实现多个接口，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从而间接实现了多重继承。</a:t>
              </a:r>
            </a:p>
          </p:txBody>
        </p:sp>
      </p:grpSp>
      <p:grpSp>
        <p:nvGrpSpPr>
          <p:cNvPr id="40" name="c2-table-1"/>
          <p:cNvGrpSpPr/>
          <p:nvPr/>
        </p:nvGrpSpPr>
        <p:grpSpPr>
          <a:xfrm>
            <a:off x="6464618" y="1524000"/>
            <a:ext cx="5193982" cy="3146108"/>
            <a:chOff x="6464618" y="1524000"/>
            <a:chExt cx="5193982" cy="3146108"/>
          </a:xfrm>
        </p:grpSpPr>
        <p:sp>
          <p:nvSpPr>
            <p:cNvPr id="17" name="Rectangle 17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79268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8919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72441" y="2108359"/>
              <a:ext cx="21943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interface C extends A, B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9486900" y="1982152"/>
              <a:ext cx="216217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585198" y="210835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合法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，接口可以多继承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72441" y="2556986"/>
              <a:ext cx="2214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interface C implements 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585198" y="2556986"/>
              <a:ext cx="1210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：需要 '{'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72441" y="3005614"/>
              <a:ext cx="2370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a = new B()（B 实现了 A）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486900" y="2880360"/>
              <a:ext cx="216217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585198" y="30056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合法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33147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64618" y="3319462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72441" y="3567589"/>
              <a:ext cx="22075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a = new A()（A 是接口）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85198" y="3454241"/>
              <a:ext cx="186613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：A是抽象的; 无法实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399002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72441" y="42438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实现类只实现了接口的一半方法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85198" y="4130516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报错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：未覆盖抽象方法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64618" y="1524000"/>
              <a:ext cx="5193982" cy="3146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472612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2-card-2"/>
          <p:cNvGrpSpPr/>
          <p:nvPr/>
        </p:nvGrpSpPr>
        <p:grpSpPr>
          <a:xfrm>
            <a:off x="6464618" y="4860608"/>
            <a:ext cx="5193982" cy="1335405"/>
            <a:chOff x="6464618" y="4860608"/>
            <a:chExt cx="5193982" cy="1335405"/>
          </a:xfrm>
        </p:grpSpPr>
        <p:sp>
          <p:nvSpPr>
            <p:cNvPr id="41" name="Rectangle 41"/>
            <p:cNvSpPr/>
            <p:nvPr/>
          </p:nvSpPr>
          <p:spPr>
            <a:xfrm>
              <a:off x="6464618" y="4860608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74142" y="4993958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712268" y="507015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798526" y="510587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补一句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55218" y="51054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实现不全也有出路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04648" y="5466398"/>
              <a:ext cx="4530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类实现接口时必须实现其中的所有抽象方法，否则这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个类必须声明为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abstract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，把剩下的留给它的子类。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两个接口的默认方法撞名，编译器要你自己表态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1257300"/>
            <a:chOff x="533400" y="1524000"/>
            <a:chExt cx="5626418" cy="12573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57300"/>
            </a:xfrm>
            <a:prstGeom prst="roundRect">
              <a:avLst>
                <a:gd name="adj" fmla="val 7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</a:t>
              </a:r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：同名默认方法来自两个接口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004"/>
              <a:ext cx="3102483" cy="7600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default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who()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"DA"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 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DB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default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who() {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"DB"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 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DC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DA, DB { }</a:t>
              </a:r>
              <a:br/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类型 DA 和 DB 不兼容；</a:t>
              </a:r>
              <a:br/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  类 DC从类型 DA 和 DB 中继承了who() 的不相关默认值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2946082"/>
            <a:ext cx="5626418" cy="1406842"/>
            <a:chOff x="533400" y="2946082"/>
            <a:chExt cx="5626418" cy="1406842"/>
          </a:xfrm>
        </p:grpSpPr>
        <p:sp>
          <p:nvSpPr>
            <p:cNvPr id="11" name="Rectangle 11"/>
            <p:cNvSpPr/>
            <p:nvPr/>
          </p:nvSpPr>
          <p:spPr>
            <a:xfrm>
              <a:off x="533400" y="2946082"/>
              <a:ext cx="5626418" cy="1406842"/>
            </a:xfrm>
            <a:prstGeom prst="roundRect">
              <a:avLst>
                <a:gd name="adj" fmla="val 677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098006"/>
              <a:ext cx="23971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解法</a:t>
              </a:r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：重写它，并用 接口名.super 指定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88" y="3357086"/>
              <a:ext cx="3159760" cy="909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DC2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DA2, DB2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who()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DA2.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.who() + </a:t>
              </a:r>
              <a:r>
                <a:rPr lang="zh-CN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"+"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DB2.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.who();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DC2().who();      </a:t>
              </a:r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实测输出 DA2+DB2</a:t>
              </a:r>
            </a:p>
          </p:txBody>
        </p:sp>
      </p:grpSp>
      <p:grpSp>
        <p:nvGrpSpPr>
          <p:cNvPr id="21" name="c1-callout-3"/>
          <p:cNvGrpSpPr/>
          <p:nvPr/>
        </p:nvGrpSpPr>
        <p:grpSpPr>
          <a:xfrm>
            <a:off x="533400" y="4517708"/>
            <a:ext cx="5626418" cy="1657350"/>
            <a:chOff x="533400" y="4517708"/>
            <a:chExt cx="5626418" cy="1657350"/>
          </a:xfrm>
        </p:grpSpPr>
        <p:sp>
          <p:nvSpPr>
            <p:cNvPr id="15" name="Rectangle 15"/>
            <p:cNvSpPr/>
            <p:nvPr/>
          </p:nvSpPr>
          <p:spPr>
            <a:xfrm>
              <a:off x="533400" y="4517708"/>
              <a:ext cx="5626418" cy="1657350"/>
            </a:xfrm>
            <a:prstGeom prst="roundRect">
              <a:avLst>
                <a:gd name="adj" fmla="val 6897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246370"/>
              <a:ext cx="200026" cy="200026"/>
              <a:chOff x="738188" y="5246370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2463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531304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534638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1273" y="5140166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抽象方法撞名不会有这个麻烦：两个接口都只有声明，实现类反正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要写一个方法体。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464618" y="1524000"/>
            <a:ext cx="5193982" cy="1930718"/>
            <a:chOff x="6464618" y="1524000"/>
            <a:chExt cx="5193982" cy="1930718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5193982" cy="1930718"/>
            </a:xfrm>
            <a:prstGeom prst="roundRect">
              <a:avLst>
                <a:gd name="adj" fmla="val 6907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645592" y="1704975"/>
              <a:ext cx="1827848" cy="23812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97510" y="1737836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为什么接口的多继承不出乱子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581263" y="174450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接口里原本没有状态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39116" y="2061686"/>
              <a:ext cx="45646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接口中只有方法声明，实现接口时不存在成员变量名字冲突，也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没有对超类方法的重定义问题，更没有重复继承同一份实现的问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题，所以比类的多重继承简单。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39116" y="2832259"/>
              <a:ext cx="465404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8 引入 default 方法后才出现上面这一种冲突，编译器的处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理办法是强制实现类自己挑一个。</a:t>
              </a:r>
            </a:p>
          </p:txBody>
        </p:sp>
      </p:grpSp>
      <p:grpSp>
        <p:nvGrpSpPr>
          <p:cNvPr id="35" name="c2-callout-2"/>
          <p:cNvGrpSpPr/>
          <p:nvPr/>
        </p:nvGrpSpPr>
        <p:grpSpPr>
          <a:xfrm>
            <a:off x="6464618" y="3619500"/>
            <a:ext cx="5193982" cy="702945"/>
            <a:chOff x="6464618" y="3619500"/>
            <a:chExt cx="5193982" cy="702945"/>
          </a:xfrm>
        </p:grpSpPr>
        <p:sp>
          <p:nvSpPr>
            <p:cNvPr id="29" name="Rectangle 29"/>
            <p:cNvSpPr/>
            <p:nvPr/>
          </p:nvSpPr>
          <p:spPr>
            <a:xfrm>
              <a:off x="6464618" y="3619500"/>
              <a:ext cx="5193982" cy="702945"/>
            </a:xfrm>
            <a:prstGeom prst="roundRect">
              <a:avLst>
                <a:gd name="adj" fmla="val 1626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6669405" y="3870960"/>
              <a:ext cx="200026" cy="200026"/>
              <a:chOff x="6669405" y="3870960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669405" y="38709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769418" y="39376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758305" y="397097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6972491" y="3764756"/>
              <a:ext cx="42801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接口名.super.方法名()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这种写法只能用在实现该接口的类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里，用来指定走哪个接口的默认实现。</a:t>
              </a:r>
            </a:p>
          </p:txBody>
        </p:sp>
      </p:grpSp>
      <p:grpSp>
        <p:nvGrpSpPr>
          <p:cNvPr id="43" name="c2-card-3"/>
          <p:cNvGrpSpPr/>
          <p:nvPr/>
        </p:nvGrpSpPr>
        <p:grpSpPr>
          <a:xfrm>
            <a:off x="6464618" y="4487228"/>
            <a:ext cx="5193982" cy="1687830"/>
            <a:chOff x="6464618" y="4487228"/>
            <a:chExt cx="5193982" cy="1687830"/>
          </a:xfrm>
        </p:grpSpPr>
        <p:sp>
          <p:nvSpPr>
            <p:cNvPr id="36" name="Rectangle 36"/>
            <p:cNvSpPr/>
            <p:nvPr/>
          </p:nvSpPr>
          <p:spPr>
            <a:xfrm>
              <a:off x="6464618" y="4487228"/>
              <a:ext cx="5193982" cy="1687830"/>
            </a:xfrm>
            <a:prstGeom prst="roundRect">
              <a:avLst>
                <a:gd name="adj" fmla="val 79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4142" y="4620578"/>
              <a:ext cx="47625" cy="14211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683692" y="4668202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58013" y="4701064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类与接口相遇时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72603" y="47077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超类的具体方法优先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77216" y="5024914"/>
              <a:ext cx="459714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超类里有一个具体方法，接口里有同名的 default 方法时，编译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器直接选超类那一个，不报错。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77216" y="5552599"/>
              <a:ext cx="443458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只有两个接口的 default 方法撞在一起，才需要实现类出面表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态。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89674" cy="909257"/>
            <a:chOff x="520446" y="342900"/>
            <a:chExt cx="53896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896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4.20　一个类同时具备两种能力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059805" cy="3847148"/>
            <a:chOff x="533400" y="1524000"/>
            <a:chExt cx="6059805" cy="38471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3847148"/>
            </a:xfrm>
            <a:prstGeom prst="roundRect">
              <a:avLst>
                <a:gd name="adj" fmla="val 24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5006975" cy="33625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Flyable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fly();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Talkable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talk();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MAX_SIZE = 4096;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getMessage();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Parrot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Flyable, Talkable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fly() 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"Flying like a parrot..."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talk()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"Hello! I am a parrot!"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TextMessage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Message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message;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setMessage(String msg)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message = msg;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(message.length() &gt; MAX_SIZE)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message = message.substring(0, MAX_SIZE);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getMessage()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message;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2-card-1"/>
          <p:cNvGrpSpPr/>
          <p:nvPr/>
        </p:nvGrpSpPr>
        <p:grpSpPr>
          <a:xfrm>
            <a:off x="6898005" y="1524000"/>
            <a:ext cx="4760595" cy="2863215"/>
            <a:chOff x="6898005" y="1524000"/>
            <a:chExt cx="4760595" cy="2863215"/>
          </a:xfrm>
        </p:grpSpPr>
        <p:sp>
          <p:nvSpPr>
            <p:cNvPr id="11" name="Rectangle 11"/>
            <p:cNvSpPr/>
            <p:nvPr/>
          </p:nvSpPr>
          <p:spPr>
            <a:xfrm>
              <a:off x="6898005" y="1524000"/>
              <a:ext cx="4760595" cy="2863215"/>
            </a:xfrm>
            <a:prstGeom prst="roundRect">
              <a:avLst>
                <a:gd name="adj" fmla="val 4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6907530" y="1657350"/>
              <a:ext cx="47625" cy="25965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145655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223061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读这段代码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72450" y="176879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三个要点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8035" y="2129790"/>
              <a:ext cx="41300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Parrot 同时是 Flyable 和 Talkable，一个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Parrot 对象可以赋给这两种接口类型的引用中的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任何一个。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8035" y="3036570"/>
              <a:ext cx="4053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TextMessage 直接写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MAX_SIZE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，因为实现类自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动拿到接口里的常量。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38035" y="3657600"/>
              <a:ext cx="3282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接口类型的引用变量可以存在，但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new</a:t>
              </a:r>
              <a:br/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Message()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不行。</a:t>
              </a:r>
            </a:p>
          </p:txBody>
        </p:sp>
      </p:grpSp>
      <p:grpSp>
        <p:nvGrpSpPr>
          <p:cNvPr id="23" name="c2-code-2"/>
          <p:cNvGrpSpPr/>
          <p:nvPr/>
        </p:nvGrpSpPr>
        <p:grpSpPr>
          <a:xfrm>
            <a:off x="6898005" y="4577715"/>
            <a:ext cx="4760595" cy="1598295"/>
            <a:chOff x="6898005" y="4577715"/>
            <a:chExt cx="4760595" cy="1598295"/>
          </a:xfrm>
        </p:grpSpPr>
        <p:sp>
          <p:nvSpPr>
            <p:cNvPr id="20" name="Rectangle 20"/>
            <p:cNvSpPr/>
            <p:nvPr/>
          </p:nvSpPr>
          <p:spPr>
            <a:xfrm>
              <a:off x="6898005" y="4577715"/>
              <a:ext cx="4760595" cy="1598295"/>
            </a:xfrm>
            <a:prstGeom prst="roundRect">
              <a:avLst>
                <a:gd name="adj" fmla="val 595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26402" y="4729639"/>
              <a:ext cx="20643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main 里这样用（注释是实测输出）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26592" y="4988481"/>
              <a:ext cx="2925699" cy="11006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22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Parrot p =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Parrot();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Flyable f = p;   Talkable t = p;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f.fly();     </a:t>
              </a:r>
              <a:r>
                <a:rPr lang="en-US" sz="86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Flying like a parrot...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t.talk();    </a:t>
              </a:r>
              <a:r>
                <a:rPr lang="en-US" sz="86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Hello! I am a parrot!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TextMessage m =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TextMessage();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m.setMessage(</a:t>
              </a:r>
              <a:r>
                <a:rPr lang="en-US" sz="86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"x"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.repeat(5000));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m.getMessage().length();   </a:t>
              </a:r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4096，超出部分被截掉</a:t>
              </a:r>
            </a:p>
          </p:txBody>
        </p:sp>
      </p:grpSp>
      <p:grpSp>
        <p:nvGrpSpPr>
          <p:cNvPr id="2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4" name="TextBox 24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用接口存常量，以及原课件里的一处编译错误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1468755"/>
            <a:chOff x="533400" y="1524000"/>
            <a:chExt cx="5410200" cy="14687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68755"/>
            </a:xfrm>
            <a:prstGeom prst="roundRect">
              <a:avLst>
                <a:gd name="adj" fmla="val 648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0145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接口里的字段天生是 static final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194"/>
              <a:ext cx="1786509" cy="9734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Constants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String ROOT = </a:t>
              </a:r>
              <a:r>
                <a:rPr lang="en-US" sz="8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"/root"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MAX_COUNT = 200;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MIN_COUNT = 100;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使用时直接写 Constants.ROOT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68015"/>
            <a:ext cx="5410200" cy="1529715"/>
            <a:chOff x="533400" y="3168015"/>
            <a:chExt cx="5410200" cy="1529715"/>
          </a:xfrm>
        </p:grpSpPr>
        <p:sp>
          <p:nvSpPr>
            <p:cNvPr id="11" name="Rectangle 11"/>
            <p:cNvSpPr/>
            <p:nvPr/>
          </p:nvSpPr>
          <p:spPr>
            <a:xfrm>
              <a:off x="533400" y="3168015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3301365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63905" y="336042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35342" y="33947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初值可以算出来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14347" y="3399472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值在第一次被访问时确定，之后不变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73380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常量的初始化表达式不必是字面量，可以是一次计算。接口被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初始化时算一次，此后读到的永远是同一个值。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429387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实测：连续两次读同一个随机常量，结果相等。</a:t>
              </a:r>
            </a:p>
          </p:txBody>
        </p:sp>
      </p:grpSp>
      <p:grpSp>
        <p:nvGrpSpPr>
          <p:cNvPr id="25" name="c1-card-3"/>
          <p:cNvGrpSpPr/>
          <p:nvPr/>
        </p:nvGrpSpPr>
        <p:grpSpPr>
          <a:xfrm>
            <a:off x="533400" y="4872038"/>
            <a:ext cx="5410200" cy="1483995"/>
            <a:chOff x="533400" y="4872038"/>
            <a:chExt cx="5410200" cy="1483995"/>
          </a:xfrm>
        </p:grpSpPr>
        <p:sp>
          <p:nvSpPr>
            <p:cNvPr id="19" name="Rectangle 19"/>
            <p:cNvSpPr/>
            <p:nvPr/>
          </p:nvSpPr>
          <p:spPr>
            <a:xfrm>
              <a:off x="533400" y="4872038"/>
              <a:ext cx="5410200" cy="1483995"/>
            </a:xfrm>
            <a:prstGeom prst="roundRect">
              <a:avLst>
                <a:gd name="adj" fmla="val 8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5005388"/>
              <a:ext cx="47625" cy="12172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3905" y="506444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47344" y="509873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写法提示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14297" y="5104448"/>
              <a:ext cx="24798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final 可以不写，f 后缀不能漏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7047" y="5438775"/>
              <a:ext cx="472859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final float PI = 3.14159f;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里的 final 是多余的，接口字段本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来就是 public static final；但漏掉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f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后缀，字面量按 double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处理，同样报不兼容的类型。</a:t>
              </a:r>
            </a:p>
          </p:txBody>
        </p:sp>
      </p:grpSp>
      <p:grpSp>
        <p:nvGrpSpPr>
          <p:cNvPr id="29" name="c2-code-1"/>
          <p:cNvGrpSpPr/>
          <p:nvPr/>
        </p:nvGrpSpPr>
        <p:grpSpPr>
          <a:xfrm>
            <a:off x="6248400" y="1524000"/>
            <a:ext cx="5410200" cy="1468755"/>
            <a:chOff x="6248400" y="1524000"/>
            <a:chExt cx="5410200" cy="1468755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1468755"/>
            </a:xfrm>
            <a:prstGeom prst="roundRect">
              <a:avLst>
                <a:gd name="adj" fmla="val 648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76797" y="167592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原课件写法：编不过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76988" y="1935194"/>
              <a:ext cx="3004693" cy="9734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RandomColor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red   = Math.random() * 255;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green = Math.random() * 255;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blue  = Math.random() * 255;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错误: 不兼容的类型: 从double转换到int可能会有损失</a:t>
              </a:r>
            </a:p>
          </p:txBody>
        </p:sp>
      </p:grpSp>
      <p:grpSp>
        <p:nvGrpSpPr>
          <p:cNvPr id="33" name="c2-code-2"/>
          <p:cNvGrpSpPr/>
          <p:nvPr/>
        </p:nvGrpSpPr>
        <p:grpSpPr>
          <a:xfrm>
            <a:off x="6248400" y="3168015"/>
            <a:ext cx="5410200" cy="1308735"/>
            <a:chOff x="6248400" y="3168015"/>
            <a:chExt cx="5410200" cy="1308735"/>
          </a:xfrm>
        </p:grpSpPr>
        <p:sp>
          <p:nvSpPr>
            <p:cNvPr id="30" name="Rectangle 30"/>
            <p:cNvSpPr/>
            <p:nvPr/>
          </p:nvSpPr>
          <p:spPr>
            <a:xfrm>
              <a:off x="6248400" y="3168015"/>
              <a:ext cx="5410200" cy="1308735"/>
            </a:xfrm>
            <a:prstGeom prst="roundRect">
              <a:avLst>
                <a:gd name="adj" fmla="val 727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76797" y="331993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更正后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76988" y="3579209"/>
              <a:ext cx="2714117" cy="8134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RandomColor2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red   = (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(Math.random() * 255);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green = (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(Math.random() * 255);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blue  = (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(Math.random() * 255);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0" name="c2-callout-3"/>
          <p:cNvGrpSpPr/>
          <p:nvPr/>
        </p:nvGrpSpPr>
        <p:grpSpPr>
          <a:xfrm>
            <a:off x="6248400" y="4651058"/>
            <a:ext cx="5410200" cy="1704975"/>
            <a:chOff x="6248400" y="4651058"/>
            <a:chExt cx="5410200" cy="1704975"/>
          </a:xfrm>
        </p:grpSpPr>
        <p:sp>
          <p:nvSpPr>
            <p:cNvPr id="34" name="Rectangle 34"/>
            <p:cNvSpPr/>
            <p:nvPr/>
          </p:nvSpPr>
          <p:spPr>
            <a:xfrm>
              <a:off x="6248400" y="4651058"/>
              <a:ext cx="5410200" cy="1704975"/>
            </a:xfrm>
            <a:prstGeom prst="roundRect">
              <a:avLst>
                <a:gd name="adj" fmla="val 670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441129" y="5399841"/>
              <a:ext cx="224134" cy="192560"/>
              <a:chOff x="6441129" y="5399841"/>
              <a:chExt cx="224134" cy="19256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6553200" y="547020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441129" y="539984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53200" y="554799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755892" y="5285423"/>
              <a:ext cx="433425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Math.random() 返回 double，赋给 int 必须显式强制转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换，这一点和放在接口里还是类里无关。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接口与抽象类：相同点与不同点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6" name="c1-table-1"/>
          <p:cNvGrpSpPr/>
          <p:nvPr/>
        </p:nvGrpSpPr>
        <p:grpSpPr>
          <a:xfrm>
            <a:off x="533400" y="1524000"/>
            <a:ext cx="5842635" cy="4168140"/>
            <a:chOff x="533400" y="1524000"/>
            <a:chExt cx="5842635" cy="41681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8768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9185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98470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4445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15074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能否实例化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92680" y="215074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37698" y="215074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945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9936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26384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能否有抽象方法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392680" y="263842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37698" y="263842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822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2594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能否有方法实现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92680" y="325945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37698" y="3126105"/>
              <a:ext cx="10820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8 起能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（default）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366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4142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38804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能否有实例字段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392680" y="388048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37698" y="38804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否，字段都是常量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22433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0080" y="43681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能否有构造方法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392680" y="43681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37698" y="436816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71201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71678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0080" y="48558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一个类能用几个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392680" y="4855845"/>
              <a:ext cx="1257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只能继承 1 个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340542" y="4726305"/>
              <a:ext cx="2025968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437698" y="48558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可以实现多个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1996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0080" y="53435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加新方法的代价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295525" y="5213985"/>
              <a:ext cx="2025968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392680" y="53435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子类自动获得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437698" y="53435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所有实现类都要补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1524000"/>
              <a:ext cx="5842635" cy="41681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2281238" y="1524000"/>
              <a:ext cx="9525" cy="41681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4326255" y="1524000"/>
              <a:ext cx="9525" cy="41681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card-1"/>
          <p:cNvGrpSpPr/>
          <p:nvPr/>
        </p:nvGrpSpPr>
        <p:grpSpPr>
          <a:xfrm>
            <a:off x="6680835" y="1524000"/>
            <a:ext cx="4977765" cy="2242185"/>
            <a:chOff x="6680835" y="1524000"/>
            <a:chExt cx="4977765" cy="2242185"/>
          </a:xfrm>
        </p:grpSpPr>
        <p:sp>
          <p:nvSpPr>
            <p:cNvPr id="47" name="Rectangle 47"/>
            <p:cNvSpPr/>
            <p:nvPr/>
          </p:nvSpPr>
          <p:spPr>
            <a:xfrm>
              <a:off x="6680835" y="1524000"/>
              <a:ext cx="4977765" cy="2242185"/>
            </a:xfrm>
            <a:prstGeom prst="roundRect">
              <a:avLst>
                <a:gd name="adj" fmla="val 5947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890385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976643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相同点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33335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两者都代表系统的抽象层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82765" y="2129790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当一个系统使用一棵继承树上的类时，应尽量把引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用变量声明为上层的抽象类型，这样两个系统之间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的耦合更松。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82765" y="303657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两者都不能被实例化，都包含用于描述「能提供哪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些服务」的抽象方法。</a:t>
              </a:r>
            </a:p>
          </p:txBody>
        </p:sp>
      </p:grpSp>
      <p:grpSp>
        <p:nvGrpSpPr>
          <p:cNvPr id="64" name="c2-bullets-2"/>
          <p:cNvGrpSpPr/>
          <p:nvPr/>
        </p:nvGrpSpPr>
        <p:grpSpPr>
          <a:xfrm>
            <a:off x="6673215" y="3981450"/>
            <a:ext cx="4680395" cy="1940528"/>
            <a:chOff x="6673215" y="3981450"/>
            <a:chExt cx="4680395" cy="1940528"/>
          </a:xfrm>
        </p:grpSpPr>
        <p:sp>
          <p:nvSpPr>
            <p:cNvPr id="54" name="TextBox 54"/>
            <p:cNvSpPr txBox="1"/>
            <p:nvPr/>
          </p:nvSpPr>
          <p:spPr>
            <a:xfrm>
              <a:off x="6673215" y="39814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使用原则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681788" y="4320540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733694" y="435616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51536" y="4332446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声明类型的工作交给接口，同时给出一个实现了该接口的抽象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681788" y="4870132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33694" y="490480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951536" y="4881086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用接口作为系统与外界交互的窗口，接口一旦制定就不要随便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681788" y="5418772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733694" y="545439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951536" y="5429726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用抽象类定制系统中的扩展点，它完成一部分实现，其余留给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49360" cy="909257"/>
            <a:chOff x="520446" y="342900"/>
            <a:chExt cx="74493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364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237" y="407194"/>
              <a:ext cx="1993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4.3 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493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4.21　接口与工厂：把调用方和实现彻底分开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059805" cy="4374832"/>
            <a:chOff x="533400" y="1524000"/>
            <a:chExt cx="6059805" cy="4374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374832"/>
            </a:xfrm>
            <a:prstGeom prst="roundRect">
              <a:avLst>
                <a:gd name="adj" fmla="val 217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4459351" cy="38911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method1();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method2();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ServiceFactory { Service getService();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method1() { print(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"Implementation1 method1"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method2() { print(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"Implementation1 method2"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Implementation1Factory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ServiceFactory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 getService()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Implementation2 与 Implementation2Factory 同理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Factories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serviceConsumer(ServiceFactory fact)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Service s = fact.getService();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s.method1();  s.method2();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serviceConsumer(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Implementation1Factory());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serviceConsumer(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Implementation2Factory());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6898005" y="1524000"/>
            <a:ext cx="4760595" cy="1131570"/>
            <a:chOff x="6898005" y="1524000"/>
            <a:chExt cx="4760595" cy="1131570"/>
          </a:xfrm>
        </p:grpSpPr>
        <p:sp>
          <p:nvSpPr>
            <p:cNvPr id="11" name="Rectangle 11"/>
            <p:cNvSpPr/>
            <p:nvPr/>
          </p:nvSpPr>
          <p:spPr>
            <a:xfrm>
              <a:off x="6898005" y="1524000"/>
              <a:ext cx="4760595" cy="1131570"/>
            </a:xfrm>
            <a:prstGeom prst="roundRect">
              <a:avLst>
                <a:gd name="adj" fmla="val 841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026402" y="1675924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26592" y="1934766"/>
              <a:ext cx="1391158" cy="6348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22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Implementation1 method1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Implementation1 method2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Implementation2 method1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Implementation2 method2</a:t>
              </a:r>
            </a:p>
          </p:txBody>
        </p:sp>
      </p:grpSp>
      <p:grpSp>
        <p:nvGrpSpPr>
          <p:cNvPr id="21" name="c2-card-2"/>
          <p:cNvGrpSpPr/>
          <p:nvPr/>
        </p:nvGrpSpPr>
        <p:grpSpPr>
          <a:xfrm>
            <a:off x="6898005" y="2846070"/>
            <a:ext cx="4760595" cy="2242185"/>
            <a:chOff x="6898005" y="2846070"/>
            <a:chExt cx="4760595" cy="2242185"/>
          </a:xfrm>
        </p:grpSpPr>
        <p:sp>
          <p:nvSpPr>
            <p:cNvPr id="15" name="Rectangle 15"/>
            <p:cNvSpPr/>
            <p:nvPr/>
          </p:nvSpPr>
          <p:spPr>
            <a:xfrm>
              <a:off x="6898005" y="2846070"/>
              <a:ext cx="4760595" cy="2242185"/>
            </a:xfrm>
            <a:prstGeom prst="roundRect">
              <a:avLst>
                <a:gd name="adj" fmla="val 5947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07555" y="305562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81012" y="309133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工厂做了什么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77225" y="309086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工厂上调的是创建方法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9935" y="3451860"/>
              <a:ext cx="39300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serviceConsumer 只认识 ServiceFactory 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Service 两个接口，从头到尾不知道有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Implementation1 这个名字。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99935" y="435864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换一种实现只需要换传进去的工厂对象，两种实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现完全可以互换。</a:t>
              </a:r>
            </a:p>
          </p:txBody>
        </p:sp>
      </p:grpSp>
      <p:grpSp>
        <p:nvGrpSpPr>
          <p:cNvPr id="28" name="c2-callout-3"/>
          <p:cNvGrpSpPr/>
          <p:nvPr/>
        </p:nvGrpSpPr>
        <p:grpSpPr>
          <a:xfrm>
            <a:off x="6898005" y="5278755"/>
            <a:ext cx="4760595" cy="782955"/>
            <a:chOff x="6898005" y="5278755"/>
            <a:chExt cx="4760595" cy="782955"/>
          </a:xfrm>
        </p:grpSpPr>
        <p:sp>
          <p:nvSpPr>
            <p:cNvPr id="22" name="Rectangle 22"/>
            <p:cNvSpPr/>
            <p:nvPr/>
          </p:nvSpPr>
          <p:spPr>
            <a:xfrm>
              <a:off x="6898005" y="527875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102793" y="5570220"/>
              <a:ext cx="200026" cy="200026"/>
              <a:chOff x="7102793" y="5570220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102793" y="55702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202805" y="56368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191693" y="56702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7404735" y="5427345"/>
              <a:ext cx="38633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 print(...) 来自书中自带的工具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类，这里按 System.out.println 编译运行。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4" name="section-title"/>
          <p:cNvGrpSpPr/>
          <p:nvPr/>
        </p:nvGrpSpPr>
        <p:grpSpPr>
          <a:xfrm>
            <a:off x="667512" y="1835468"/>
            <a:ext cx="4696968" cy="2643187"/>
            <a:chOff x="667512" y="1835468"/>
            <a:chExt cx="4696968" cy="264318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8275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 内部类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把一个类藏进另一个类里面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内部类对外部类的全部成员都可见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对继承和接口的使用提供了更隐蔽、更灵活的方式</a:t>
              </a:r>
            </a:p>
          </p:txBody>
        </p:sp>
      </p:grpSp>
      <p:grpSp>
        <p:nvGrpSpPr>
          <p:cNvPr id="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" name="TextBox 15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内部类的四种形式，先认清它们的位置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977765" cy="1956435"/>
            <a:chOff x="533400" y="1524000"/>
            <a:chExt cx="4977765" cy="19564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什么是内部类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把一个类的定义放在另一个类的内部，这个放在内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部的类就叫内部类。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750820"/>
              <a:ext cx="4034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内部类可以像方法一样被修饰为 public、默认、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 和 private，也可以是 static 的。</a:t>
              </a:r>
            </a:p>
          </p:txBody>
        </p:sp>
      </p:grpSp>
      <p:grpSp>
        <p:nvGrpSpPr>
          <p:cNvPr id="18" name="c1-code-2"/>
          <p:cNvGrpSpPr/>
          <p:nvPr/>
        </p:nvGrpSpPr>
        <p:grpSpPr>
          <a:xfrm>
            <a:off x="533400" y="3670935"/>
            <a:ext cx="4977765" cy="1737360"/>
            <a:chOff x="533400" y="3670935"/>
            <a:chExt cx="4977765" cy="1737360"/>
          </a:xfrm>
        </p:grpSpPr>
        <p:sp>
          <p:nvSpPr>
            <p:cNvPr id="15" name="Rectangle 15"/>
            <p:cNvSpPr/>
            <p:nvPr/>
          </p:nvSpPr>
          <p:spPr>
            <a:xfrm>
              <a:off x="533400" y="3670935"/>
              <a:ext cx="4977765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1797" y="382285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最简单的一个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1797" y="4083844"/>
              <a:ext cx="3637915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First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"inner Contents.f()"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4" name="c2-table-1"/>
          <p:cNvGrpSpPr/>
          <p:nvPr/>
        </p:nvGrpSpPr>
        <p:grpSpPr>
          <a:xfrm>
            <a:off x="5815965" y="1524000"/>
            <a:ext cx="5842635" cy="2705100"/>
            <a:chOff x="5815965" y="1524000"/>
            <a:chExt cx="5842635" cy="2705100"/>
          </a:xfrm>
        </p:grpSpPr>
        <p:sp>
          <p:nvSpPr>
            <p:cNvPr id="19" name="Rectangle 19"/>
            <p:cNvSpPr/>
            <p:nvPr/>
          </p:nvSpPr>
          <p:spPr>
            <a:xfrm>
              <a:off x="5815965" y="1524000"/>
              <a:ext cx="5842635" cy="48768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745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82865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写在哪里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903142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关键差别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22645" y="228409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成员内部类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24725" y="228409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类体内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77325" y="2150745"/>
              <a:ext cx="2301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非静态，必须依附一个外部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类对象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815965" y="27612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815965" y="276606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22645" y="29051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静态嵌套类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24725" y="2905125"/>
              <a:ext cx="14994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类体内加 static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80170" y="2775585"/>
              <a:ext cx="2668905" cy="4686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77325" y="290512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不需要外部类对象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815965" y="324897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22645" y="339280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局部内部类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24725" y="339280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方法或代码块内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077325" y="339280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不能有访问控制符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15965" y="37366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15965" y="3741420"/>
              <a:ext cx="584263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22645" y="38804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匿名内部类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24725" y="38804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表达式里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77325" y="38804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没有类名，也没有构造方法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1524000"/>
              <a:ext cx="5842635" cy="27051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213282" y="1524000"/>
              <a:ext cx="9525" cy="2705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8965882" y="1524000"/>
              <a:ext cx="9525" cy="27051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2-callout-2"/>
          <p:cNvGrpSpPr/>
          <p:nvPr/>
        </p:nvGrpSpPr>
        <p:grpSpPr>
          <a:xfrm>
            <a:off x="5815965" y="4419600"/>
            <a:ext cx="5842635" cy="988695"/>
            <a:chOff x="5815965" y="4419600"/>
            <a:chExt cx="5842635" cy="988695"/>
          </a:xfrm>
        </p:grpSpPr>
        <p:sp>
          <p:nvSpPr>
            <p:cNvPr id="45" name="Rectangle 45"/>
            <p:cNvSpPr/>
            <p:nvPr/>
          </p:nvSpPr>
          <p:spPr>
            <a:xfrm>
              <a:off x="5815965" y="4419600"/>
              <a:ext cx="5842635" cy="988695"/>
            </a:xfrm>
            <a:prstGeom prst="roundRect">
              <a:avLst>
                <a:gd name="adj" fmla="val 1156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020753" y="4813935"/>
              <a:ext cx="200026" cy="200025"/>
              <a:chOff x="6020753" y="4813935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020753" y="48139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060491" y="48583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095207" y="49695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322695" y="4671060"/>
              <a:ext cx="48348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嵌套类（nested class）指静态的那一种，用得较少；狭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义的内部类（inner class）指非静态的那一种，更常见。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06079" cy="909257"/>
            <a:chOff x="520446" y="342900"/>
            <a:chExt cx="71060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060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4.22　成员内部类：把实现藏起来只露接口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276022" cy="4374832"/>
            <a:chOff x="533400" y="1524000"/>
            <a:chExt cx="6276022" cy="4374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374832"/>
            </a:xfrm>
            <a:prstGeom prst="roundRect">
              <a:avLst>
                <a:gd name="adj" fmla="val 217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5006975" cy="38911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value();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Destination { String readLabel(); 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Goods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11;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value()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GDestination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Destination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label;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GDestination(String whereTo) { label = whereTo;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readLabel()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label;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Destination dest(String s)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GDestination(s);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cont() {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TestGoods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Goods p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Goods();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Contents c = p.cont();             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c.value() == 11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Destination d = p.dest(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"Beijing"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); 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d.readLabel() == "Beijing"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ard-1"/>
          <p:cNvGrpSpPr/>
          <p:nvPr/>
        </p:nvGrpSpPr>
        <p:grpSpPr>
          <a:xfrm>
            <a:off x="7114222" y="1524000"/>
            <a:ext cx="4544378" cy="2813685"/>
            <a:chOff x="7114222" y="1524000"/>
            <a:chExt cx="4544378" cy="2813685"/>
          </a:xfrm>
        </p:grpSpPr>
        <p:sp>
          <p:nvSpPr>
            <p:cNvPr id="11" name="Rectangle 11"/>
            <p:cNvSpPr/>
            <p:nvPr/>
          </p:nvSpPr>
          <p:spPr>
            <a:xfrm>
              <a:off x="7114222" y="1524000"/>
              <a:ext cx="4544378" cy="2813685"/>
            </a:xfrm>
            <a:prstGeom prst="roundRect">
              <a:avLst>
                <a:gd name="adj" fmla="val 47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123748" y="1657350"/>
              <a:ext cx="47625" cy="25469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361872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30427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这段代码好在哪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73465" y="1768792"/>
              <a:ext cx="25540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 里看不见内部类的名字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4252" y="2129790"/>
              <a:ext cx="38347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Content 和 GDestination 分别用 private 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 控制访问级别，main 里只用</a:t>
              </a:r>
              <a:br/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Contents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5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Destination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两个接口类型操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4252" y="3322320"/>
              <a:ext cx="3825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调用方连这两个内部类叫什么都不知道，这就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是内部类的第一个好处：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隐藏不想让别人知道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的实现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2" name="c2-code-2"/>
          <p:cNvGrpSpPr/>
          <p:nvPr/>
        </p:nvGrpSpPr>
        <p:grpSpPr>
          <a:xfrm>
            <a:off x="7114222" y="4528185"/>
            <a:ext cx="4544378" cy="820102"/>
            <a:chOff x="7114222" y="4528185"/>
            <a:chExt cx="4544378" cy="820102"/>
          </a:xfrm>
        </p:grpSpPr>
        <p:sp>
          <p:nvSpPr>
            <p:cNvPr id="19" name="Rectangle 19"/>
            <p:cNvSpPr/>
            <p:nvPr/>
          </p:nvSpPr>
          <p:spPr>
            <a:xfrm>
              <a:off x="7114222" y="4528185"/>
              <a:ext cx="4544378" cy="820102"/>
            </a:xfrm>
            <a:prstGeom prst="roundRect">
              <a:avLst>
                <a:gd name="adj" fmla="val 1161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242620" y="468010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实测的类名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42810" y="4938951"/>
              <a:ext cx="1090803" cy="3243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22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Goods$Content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Goods$GDestination</a:t>
              </a:r>
            </a:p>
          </p:txBody>
        </p:sp>
      </p:grpSp>
      <p:grpSp>
        <p:nvGrpSpPr>
          <p:cNvPr id="28" name="c2-callout-3"/>
          <p:cNvGrpSpPr/>
          <p:nvPr/>
        </p:nvGrpSpPr>
        <p:grpSpPr>
          <a:xfrm>
            <a:off x="7114222" y="5538788"/>
            <a:ext cx="4544378" cy="782955"/>
            <a:chOff x="7114222" y="5538788"/>
            <a:chExt cx="4544378" cy="782955"/>
          </a:xfrm>
        </p:grpSpPr>
        <p:sp>
          <p:nvSpPr>
            <p:cNvPr id="23" name="Rectangle 23"/>
            <p:cNvSpPr/>
            <p:nvPr/>
          </p:nvSpPr>
          <p:spPr>
            <a:xfrm>
              <a:off x="7114222" y="5538788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19010" y="5830255"/>
              <a:ext cx="200023" cy="200023"/>
              <a:chOff x="7319010" y="5830255"/>
              <a:chExt cx="200023" cy="20002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19010" y="583025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452360" y="58969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7620952" y="5687378"/>
              <a:ext cx="3653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内部类与外部类各自生成一个 class 文件，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名字是 外部类名$内部类名.class。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78168" cy="909257"/>
            <a:chOff x="520446" y="342900"/>
            <a:chExt cx="717816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781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创建内部类对象：先有外部类对象，再用 .new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988695"/>
            <a:chOff x="533400" y="1524000"/>
            <a:chExt cx="5626418" cy="9886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988695"/>
            </a:xfrm>
            <a:prstGeom prst="roundRect">
              <a:avLst>
                <a:gd name="adj" fmla="val 96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语法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194"/>
              <a:ext cx="2814701" cy="4933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OuterClass outerObject =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OuterClass(参数);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OuterClass.InnerClass innerObject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= outerObject.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InnerClass(参数);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2687955"/>
            <a:ext cx="5626418" cy="2908935"/>
            <a:chOff x="533400" y="2687955"/>
            <a:chExt cx="5626418" cy="2908935"/>
          </a:xfrm>
        </p:grpSpPr>
        <p:sp>
          <p:nvSpPr>
            <p:cNvPr id="11" name="Rectangle 11"/>
            <p:cNvSpPr/>
            <p:nvPr/>
          </p:nvSpPr>
          <p:spPr>
            <a:xfrm>
              <a:off x="533400" y="2687955"/>
              <a:ext cx="5626418" cy="2908935"/>
            </a:xfrm>
            <a:prstGeom prst="roundRect">
              <a:avLst>
                <a:gd name="adj" fmla="val 327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839879"/>
              <a:ext cx="28888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4.23　.this 取外部类对象，new 造一个新的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52450" y="3865245"/>
              <a:ext cx="5588318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52450" y="4025265"/>
              <a:ext cx="5588318" cy="16002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1988" y="3099149"/>
              <a:ext cx="3451733" cy="24136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Outer() {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Outer(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num) {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.num = num;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 getOuter()  {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Outer.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 newOuter()  {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Outer();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Outer test =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Outer(5);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Outer.Inner inner = test.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Inner();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System.out.println(inner.getOuter().num);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5</a:t>
              </a:r>
              <a:br/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System.out.println(inner.newOuter().num);   </a:t>
              </a:r>
              <a:r>
                <a:rPr lang="zh-CN" sz="8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0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2" name="c2-graph-1"/>
          <p:cNvGrpSpPr/>
          <p:nvPr/>
        </p:nvGrpSpPr>
        <p:grpSpPr>
          <a:xfrm>
            <a:off x="7295198" y="1826895"/>
            <a:ext cx="3740467" cy="1333501"/>
            <a:chOff x="7295198" y="1826895"/>
            <a:chExt cx="3740467" cy="1333501"/>
          </a:xfrm>
        </p:grpSpPr>
        <p:sp>
          <p:nvSpPr>
            <p:cNvPr id="17" name="Freeform 17"/>
            <p:cNvSpPr/>
            <p:nvPr/>
          </p:nvSpPr>
          <p:spPr>
            <a:xfrm>
              <a:off x="7815262" y="2382202"/>
              <a:ext cx="9525" cy="344805"/>
            </a:xfrm>
            <a:custGeom>
              <a:avLst/>
              <a:gdLst/>
              <a:ahLst/>
              <a:cxnLst/>
              <a:rect l="l" t="t" r="r" b="b"/>
              <a:pathLst>
                <a:path w="9525" h="344805">
                  <a:moveTo>
                    <a:pt x="0" y="34480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767638" y="22869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8335328" y="2267902"/>
              <a:ext cx="1569720" cy="507682"/>
            </a:xfrm>
            <a:custGeom>
              <a:avLst/>
              <a:gdLst/>
              <a:ahLst/>
              <a:cxnLst/>
              <a:rect l="l" t="t" r="r" b="b"/>
              <a:pathLst>
                <a:path w="1569720" h="507682">
                  <a:moveTo>
                    <a:pt x="0" y="507682"/>
                  </a:moveTo>
                  <a:lnTo>
                    <a:pt x="15697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9890760" y="2222182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16192"/>
                  </a:moveTo>
                  <a:lnTo>
                    <a:pt x="29527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295198" y="1853565"/>
              <a:ext cx="1040130" cy="433388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95198" y="2727008"/>
              <a:ext cx="1040130" cy="433388"/>
            </a:xfrm>
            <a:prstGeom prst="roundRect">
              <a:avLst>
                <a:gd name="adj" fmla="val 21978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9995535" y="1826895"/>
              <a:ext cx="1040130" cy="485775"/>
            </a:xfrm>
            <a:prstGeom prst="roundRect">
              <a:avLst>
                <a:gd name="adj" fmla="val 1960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90708" y="2009299"/>
              <a:ext cx="6491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OuterObj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22317" y="2882741"/>
              <a:ext cx="5858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InnerObj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078184" y="1932146"/>
              <a:ext cx="8748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new Outer()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80828" y="20864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另一个对象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493318" y="2427922"/>
              <a:ext cx="64389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7800" y="2457926"/>
              <a:ext cx="6149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Outer.this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820150" y="2427922"/>
              <a:ext cx="69056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833195" y="2457926"/>
              <a:ext cx="6654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newOuter()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464618" y="3519488"/>
            <a:ext cx="5193982" cy="1786890"/>
            <a:chOff x="6464618" y="3519488"/>
            <a:chExt cx="5193982" cy="1786890"/>
          </a:xfrm>
        </p:grpSpPr>
        <p:sp>
          <p:nvSpPr>
            <p:cNvPr id="33" name="Rectangle 33"/>
            <p:cNvSpPr/>
            <p:nvPr/>
          </p:nvSpPr>
          <p:spPr>
            <a:xfrm>
              <a:off x="6464618" y="3519488"/>
              <a:ext cx="5193982" cy="1786890"/>
            </a:xfrm>
            <a:prstGeom prst="roundRect">
              <a:avLst>
                <a:gd name="adj" fmla="val 7463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657022" y="3711892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36461" y="374618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两者的区别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40764" y="375189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一个是回头看，一个是另起炉灶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50164" y="4085272"/>
              <a:ext cx="46000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Outer.this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得到的是创建该内部类对象时用的那个外部类对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象，所以 num 是 5。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50164" y="4645342"/>
              <a:ext cx="45314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new Outer()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造了一个全新的对象，走无参构造方法，num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取默认值 0。</a:t>
              </a:r>
            </a:p>
          </p:txBody>
        </p:sp>
      </p:grpSp>
      <p:grpSp>
        <p:nvGrpSpPr>
          <p:cNvPr id="46" name="c2-callout-3"/>
          <p:cNvGrpSpPr/>
          <p:nvPr/>
        </p:nvGrpSpPr>
        <p:grpSpPr>
          <a:xfrm>
            <a:off x="6464618" y="5480685"/>
            <a:ext cx="5193982" cy="729615"/>
            <a:chOff x="6464618" y="5480685"/>
            <a:chExt cx="5193982" cy="729615"/>
          </a:xfrm>
        </p:grpSpPr>
        <p:sp>
          <p:nvSpPr>
            <p:cNvPr id="40" name="Rectangle 40"/>
            <p:cNvSpPr/>
            <p:nvPr/>
          </p:nvSpPr>
          <p:spPr>
            <a:xfrm>
              <a:off x="6464618" y="548068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657347" y="5741788"/>
              <a:ext cx="224134" cy="192560"/>
              <a:chOff x="6657347" y="5741788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769418" y="581215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657347" y="574178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769418" y="58899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972110" y="5627370"/>
              <a:ext cx="41285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创建非静态内部类对象时，一定要先有相应的外部类对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象。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静态嵌套类：不依附外部类对象，也够不着实例成员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3406140"/>
            <a:chOff x="533400" y="1524000"/>
            <a:chExt cx="5842635" cy="34061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406140"/>
            </a:xfrm>
            <a:prstGeom prst="roundRect">
              <a:avLst>
                <a:gd name="adj" fmla="val 279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4881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4.24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49" y="1936337"/>
              <a:ext cx="4378909" cy="29127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42"/>
                </a:lnSpc>
              </a:pP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1;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 = 10;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outer_f1() {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 {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inner_i = 100;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inner_j = 200;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inner_f1() {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en-US" sz="94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"Outer.i"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i);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静态成员，可以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outer_f1();                    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静态方法，可以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Outer.Inner obj = </a:t>
              </a:r>
              <a:r>
                <a:rPr lang="en-US" sz="94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Outer.Inner();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不需要外部类对象</a:t>
              </a:r>
              <a:br/>
              <a:r>
                <a:rPr lang="en-US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System.out.println(obj.inner_j);         </a:t>
              </a:r>
              <a:r>
                <a:rPr lang="zh-CN" sz="94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200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115878"/>
            <a:ext cx="5842635" cy="1213485"/>
            <a:chOff x="533400" y="5115878"/>
            <a:chExt cx="5842635" cy="1213485"/>
          </a:xfrm>
        </p:grpSpPr>
        <p:sp>
          <p:nvSpPr>
            <p:cNvPr id="11" name="Rectangle 11"/>
            <p:cNvSpPr/>
            <p:nvPr/>
          </p:nvSpPr>
          <p:spPr>
            <a:xfrm>
              <a:off x="533400" y="5115878"/>
              <a:ext cx="5842635" cy="1213485"/>
            </a:xfrm>
            <a:prstGeom prst="roundRect">
              <a:avLst>
                <a:gd name="adj" fmla="val 941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622608"/>
              <a:ext cx="200026" cy="200026"/>
              <a:chOff x="738188" y="5622608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622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5689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5722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511" y="5491639"/>
              <a:ext cx="491070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嵌套类的实例方法想读外部类的 j，得自己拿到一个 Outer 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象，例如写成 new Outer().j。</a:t>
              </a:r>
            </a:p>
          </p:txBody>
        </p:sp>
      </p:grpSp>
      <p:grpSp>
        <p:nvGrpSpPr>
          <p:cNvPr id="23" name="c2-bullets-1"/>
          <p:cNvGrpSpPr/>
          <p:nvPr/>
        </p:nvGrpSpPr>
        <p:grpSpPr>
          <a:xfrm>
            <a:off x="6673596" y="1547336"/>
            <a:ext cx="4280306" cy="1217867"/>
            <a:chOff x="6673596" y="1547336"/>
            <a:chExt cx="4280306" cy="1217867"/>
          </a:xfrm>
        </p:grpSpPr>
        <p:sp>
          <p:nvSpPr>
            <p:cNvPr id="18" name="TextBox 18"/>
            <p:cNvSpPr txBox="1"/>
            <p:nvPr/>
          </p:nvSpPr>
          <p:spPr>
            <a:xfrm>
              <a:off x="6673596" y="154733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嵌套类的特性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680835" y="1916430"/>
              <a:ext cx="137160" cy="110490"/>
            </a:xfrm>
            <a:custGeom>
              <a:avLst/>
              <a:gdLst/>
              <a:ahLst/>
              <a:cxnLst/>
              <a:rect l="l" t="t" r="r" b="b"/>
              <a:pathLst>
                <a:path w="137160" h="110490">
                  <a:moveTo>
                    <a:pt x="0" y="58103"/>
                  </a:moveTo>
                  <a:lnTo>
                    <a:pt x="52388" y="110490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25056" y="1886426"/>
              <a:ext cx="323354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创建嵌套类对象不需要外部类对象：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new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Outer.Inner()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6680835" y="2516505"/>
              <a:ext cx="137160" cy="111442"/>
            </a:xfrm>
            <a:custGeom>
              <a:avLst/>
              <a:gdLst/>
              <a:ahLst/>
              <a:cxnLst/>
              <a:rect l="l" t="t" r="r" b="b"/>
              <a:pathLst>
                <a:path w="137160" h="111442">
                  <a:moveTo>
                    <a:pt x="0" y="59055"/>
                  </a:moveTo>
                  <a:lnTo>
                    <a:pt x="52388" y="111442"/>
                  </a:lnTo>
                  <a:lnTo>
                    <a:pt x="13716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25056" y="248650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不能从嵌套类的对象中访问非静态的外部类成员</a:t>
              </a:r>
            </a:p>
          </p:txBody>
        </p:sp>
      </p:grpSp>
      <p:grpSp>
        <p:nvGrpSpPr>
          <p:cNvPr id="27" name="c2-code-2"/>
          <p:cNvGrpSpPr/>
          <p:nvPr/>
        </p:nvGrpSpPr>
        <p:grpSpPr>
          <a:xfrm>
            <a:off x="6680835" y="2894648"/>
            <a:ext cx="4977765" cy="811530"/>
            <a:chOff x="6680835" y="2894648"/>
            <a:chExt cx="4977765" cy="811530"/>
          </a:xfrm>
        </p:grpSpPr>
        <p:sp>
          <p:nvSpPr>
            <p:cNvPr id="24" name="Rectangle 24"/>
            <p:cNvSpPr/>
            <p:nvPr/>
          </p:nvSpPr>
          <p:spPr>
            <a:xfrm>
              <a:off x="6680835" y="2894648"/>
              <a:ext cx="4977765" cy="811530"/>
            </a:xfrm>
            <a:prstGeom prst="roundRect">
              <a:avLst>
                <a:gd name="adj" fmla="val 1173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09232" y="304657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第二条的实测报错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09422" y="3304984"/>
              <a:ext cx="2649855" cy="3152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85"/>
                </a:lnSpc>
              </a:pPr>
              <a:r>
                <a:rPr lang="en-US" sz="84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static class Inner { void f() { print(j); } }</a:t>
              </a:r>
              <a:br/>
              <a:r>
                <a:rPr lang="zh-CN" sz="84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错误: 无法从静态上下文中引用非静态 变量 j</a:t>
              </a:r>
            </a:p>
          </p:txBody>
        </p:sp>
      </p:grpSp>
      <p:grpSp>
        <p:nvGrpSpPr>
          <p:cNvPr id="36" name="c2-card-3"/>
          <p:cNvGrpSpPr/>
          <p:nvPr/>
        </p:nvGrpSpPr>
        <p:grpSpPr>
          <a:xfrm>
            <a:off x="6680835" y="3891915"/>
            <a:ext cx="4977765" cy="2437448"/>
            <a:chOff x="6680835" y="3891915"/>
            <a:chExt cx="4977765" cy="2437448"/>
          </a:xfrm>
        </p:grpSpPr>
        <p:sp>
          <p:nvSpPr>
            <p:cNvPr id="28" name="Rectangle 28"/>
            <p:cNvSpPr/>
            <p:nvPr/>
          </p:nvSpPr>
          <p:spPr>
            <a:xfrm>
              <a:off x="6680835" y="3891915"/>
              <a:ext cx="4977765" cy="2437448"/>
            </a:xfrm>
            <a:prstGeom prst="roundRect">
              <a:avLst>
                <a:gd name="adj" fmla="val 54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90360" y="4025265"/>
              <a:ext cx="47625" cy="217074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22770" y="4095750"/>
              <a:ext cx="950595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99774" y="4131469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 · 版本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80426" y="4135279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「非嵌套类中不能有静态成员」已经过时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15531" y="4487704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原课件说非静态内部类里不能有静态数据、静态方法和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静态内部类。这条限制在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Java 16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取消了。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15531" y="5079206"/>
              <a:ext cx="427951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JDK 25 实测：非静态内部类里写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static int COUNT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br/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static void hello()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以及 </a:t>
              </a:r>
              <a:r>
                <a:rPr lang="en-US" sz="142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static class Deep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全部编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译通过。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916674" y="5937885"/>
              <a:ext cx="4577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只有 Java 15 及更早的版本才会报「内部类不能有静态声明」。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19517" cy="909257"/>
            <a:chOff x="520446" y="342900"/>
            <a:chExt cx="641951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1951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4.25　局部内部类：定义在方法里的类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842635" cy="3948112"/>
            <a:chOff x="533400" y="1524000"/>
            <a:chExt cx="5842635" cy="39481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948112"/>
            </a:xfrm>
            <a:prstGeom prst="roundRect">
              <a:avLst>
                <a:gd name="adj" fmla="val 241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82688" y="1935004"/>
              <a:ext cx="124079" cy="3451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178"/>
                </a:lnSpc>
              </a:pPr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12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13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14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15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16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17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18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19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20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21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22</a:t>
              </a:r>
              <a:br/>
              <a:r>
                <a:rPr lang="zh-CN" sz="8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23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11542" y="1935004"/>
              <a:ext cx="3253486" cy="34518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Outer1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 = 100;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out_i = 1;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 = 200;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 = 10;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 = 300;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Inner(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 inner_f(k);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inner_f(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k)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System.out.println(out_i);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System.out.println(j);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System.out.println(s);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System.out.println(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.s);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System.out.println(Outer1.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.s);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Inner(k);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Outer1().f(3);       </a:t>
              </a:r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输出 1 10 300 300 100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1" name="c2-table-1"/>
          <p:cNvGrpSpPr/>
          <p:nvPr/>
        </p:nvGrpSpPr>
        <p:grpSpPr>
          <a:xfrm>
            <a:off x="6680835" y="1524000"/>
            <a:ext cx="4977765" cy="2287905"/>
            <a:chOff x="6680835" y="1524000"/>
            <a:chExt cx="4977765" cy="2287905"/>
          </a:xfrm>
        </p:grpSpPr>
        <p:sp>
          <p:nvSpPr>
            <p:cNvPr id="12" name="Rectangle 12"/>
            <p:cNvSpPr/>
            <p:nvPr/>
          </p:nvSpPr>
          <p:spPr>
            <a:xfrm>
              <a:off x="6680835" y="1524000"/>
              <a:ext cx="4977765" cy="38100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939371" y="1641157"/>
              <a:ext cx="976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println 的参数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31224" y="164115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取到的是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985373" y="1641157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75514" y="2023110"/>
              <a:ext cx="3817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out_i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269034" y="202311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外部类的实例变量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58844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680835" y="22821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680835" y="2286952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75514" y="2404110"/>
              <a:ext cx="55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69034" y="24041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方法的局部变量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558844" y="2404110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680835" y="26631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75514" y="278511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69034" y="278511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内部类自己的 s（就近）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558844" y="278511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680835" y="304514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80835" y="3049905"/>
              <a:ext cx="497776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75514" y="3167062"/>
              <a:ext cx="4633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this.s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69034" y="3167062"/>
              <a:ext cx="9789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内部类自己的 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558844" y="3167062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680835" y="342614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75514" y="3548062"/>
              <a:ext cx="10704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Outer1.this.s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69034" y="354806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外部类的 s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10473690" y="3440430"/>
              <a:ext cx="1175385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0558844" y="3548062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680835" y="1524000"/>
              <a:ext cx="4977765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8169592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459402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2-card-2"/>
          <p:cNvGrpSpPr/>
          <p:nvPr/>
        </p:nvGrpSpPr>
        <p:grpSpPr>
          <a:xfrm>
            <a:off x="6680835" y="3976688"/>
            <a:ext cx="4977765" cy="1494472"/>
            <a:chOff x="6680835" y="3976688"/>
            <a:chExt cx="4977765" cy="1494472"/>
          </a:xfrm>
        </p:grpSpPr>
        <p:sp>
          <p:nvSpPr>
            <p:cNvPr id="42" name="Rectangle 42"/>
            <p:cNvSpPr/>
            <p:nvPr/>
          </p:nvSpPr>
          <p:spPr>
            <a:xfrm>
              <a:off x="6680835" y="3976688"/>
              <a:ext cx="4977765" cy="1494472"/>
            </a:xfrm>
            <a:prstGeom prst="roundRect">
              <a:avLst>
                <a:gd name="adj" fmla="val 89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90360" y="4110038"/>
              <a:ext cx="47625" cy="122777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899910" y="4157662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81028" y="4190524"/>
              <a:ext cx="6969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 · 版本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865936" y="4198144"/>
              <a:ext cx="27144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不必是 final，只要事实上不变即可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93433" y="4514374"/>
              <a:ext cx="4106215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原课件说局部内部类只能访问外部类的 </a:t>
              </a:r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final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局部变量。</a:t>
              </a:r>
              <a:br/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Java 8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起放宽为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有效 final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：变量赋值后不再改动，不写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final 也能用。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659755"/>
            <a:ext cx="11125200" cy="702945"/>
            <a:chOff x="533400" y="5659755"/>
            <a:chExt cx="11125200" cy="702945"/>
          </a:xfrm>
        </p:grpSpPr>
        <p:sp>
          <p:nvSpPr>
            <p:cNvPr id="49" name="Rectangle 49"/>
            <p:cNvSpPr/>
            <p:nvPr/>
          </p:nvSpPr>
          <p:spPr>
            <a:xfrm>
              <a:off x="533400" y="5659755"/>
              <a:ext cx="11125200" cy="702945"/>
            </a:xfrm>
            <a:prstGeom prst="roundRect">
              <a:avLst>
                <a:gd name="adj" fmla="val 162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26129" y="5907523"/>
              <a:ext cx="224134" cy="192560"/>
              <a:chOff x="726129" y="5907523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838200" y="597789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26129" y="590752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200" y="60556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1273" y="5805011"/>
              <a:ext cx="1001852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局部内部类不能加 public/private 这类访问控制符，写了直接报「非法的表达式开始」；局部变量赋值后再改一次，才会报「必须是最终变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量或实际上的最终变量」。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92641" cy="909257"/>
            <a:chOff x="520446" y="342900"/>
            <a:chExt cx="77926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926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4.26　匿名内部类：只用一次，就不给它起名字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828675"/>
            <a:chOff x="533400" y="1524000"/>
            <a:chExt cx="5626418" cy="828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828675"/>
            </a:xfrm>
            <a:prstGeom prst="roundRect">
              <a:avLst>
                <a:gd name="adj" fmla="val 1149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语法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194"/>
              <a:ext cx="1451229" cy="3333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接口名() { ...... };</a:t>
              </a:r>
              <a:br/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超类名() { ...... };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2527935"/>
            <a:ext cx="5626418" cy="1948815"/>
            <a:chOff x="533400" y="2527935"/>
            <a:chExt cx="5626418" cy="1948815"/>
          </a:xfrm>
        </p:grpSpPr>
        <p:sp>
          <p:nvSpPr>
            <p:cNvPr id="11" name="Rectangle 11"/>
            <p:cNvSpPr/>
            <p:nvPr/>
          </p:nvSpPr>
          <p:spPr>
            <a:xfrm>
              <a:off x="533400" y="2527935"/>
              <a:ext cx="5626418" cy="1948815"/>
            </a:xfrm>
            <a:prstGeom prst="roundRect">
              <a:avLst>
                <a:gd name="adj" fmla="val 488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67985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写法一：匿名内部类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88" y="2939129"/>
              <a:ext cx="2714117" cy="1453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Parcel7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contents()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Contents()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11;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value() {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实测类名：Parcel7$1</a:t>
              </a:r>
            </a:p>
          </p:txBody>
        </p:sp>
      </p:grpSp>
      <p:grpSp>
        <p:nvGrpSpPr>
          <p:cNvPr id="21" name="c1-callout-3"/>
          <p:cNvGrpSpPr/>
          <p:nvPr/>
        </p:nvGrpSpPr>
        <p:grpSpPr>
          <a:xfrm>
            <a:off x="533400" y="4651058"/>
            <a:ext cx="5626418" cy="942975"/>
            <a:chOff x="533400" y="4651058"/>
            <a:chExt cx="5626418" cy="942975"/>
          </a:xfrm>
        </p:grpSpPr>
        <p:sp>
          <p:nvSpPr>
            <p:cNvPr id="15" name="Rectangle 15"/>
            <p:cNvSpPr/>
            <p:nvPr/>
          </p:nvSpPr>
          <p:spPr>
            <a:xfrm>
              <a:off x="533400" y="4651058"/>
              <a:ext cx="5626418" cy="942975"/>
            </a:xfrm>
            <a:prstGeom prst="roundRect">
              <a:avLst>
                <a:gd name="adj" fmla="val 1212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022533"/>
              <a:ext cx="200026" cy="200026"/>
              <a:chOff x="738188" y="5022533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02253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50892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512254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892" y="4904423"/>
              <a:ext cx="46428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匿名类的类体里可以写字段和方法，但写不出构造方法，也不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能同时 extends 一个类又 implements 一个接口。</a:t>
              </a:r>
            </a:p>
          </p:txBody>
        </p:sp>
      </p:grpSp>
      <p:grpSp>
        <p:nvGrpSpPr>
          <p:cNvPr id="25" name="c2-code-1"/>
          <p:cNvGrpSpPr/>
          <p:nvPr/>
        </p:nvGrpSpPr>
        <p:grpSpPr>
          <a:xfrm>
            <a:off x="6464618" y="1524000"/>
            <a:ext cx="5193982" cy="2108835"/>
            <a:chOff x="6464618" y="1524000"/>
            <a:chExt cx="5193982" cy="2108835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5193982" cy="2108835"/>
            </a:xfrm>
            <a:prstGeom prst="roundRect">
              <a:avLst>
                <a:gd name="adj" fmla="val 45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93015" y="167592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写法二：等价的具名内部类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93205" y="1935194"/>
              <a:ext cx="2591181" cy="16135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0"/>
                </a:lnSpc>
              </a:pP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Parcel7b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MyContents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11;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value() {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i;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Contents contents() {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MyContents();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8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实测类名：Parcel7b$MyContents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464618" y="3808095"/>
            <a:ext cx="5193982" cy="1786890"/>
            <a:chOff x="6464618" y="3808095"/>
            <a:chExt cx="5193982" cy="1786890"/>
          </a:xfrm>
        </p:grpSpPr>
        <p:sp>
          <p:nvSpPr>
            <p:cNvPr id="26" name="Rectangle 26"/>
            <p:cNvSpPr/>
            <p:nvPr/>
          </p:nvSpPr>
          <p:spPr>
            <a:xfrm>
              <a:off x="6464618" y="3808095"/>
              <a:ext cx="5193982" cy="1786890"/>
            </a:xfrm>
            <a:prstGeom prst="roundRect">
              <a:avLst>
                <a:gd name="adj" fmla="val 7463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57022" y="400050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32461" y="403479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两段代码等价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74114" y="403955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匿名写法省掉的只是名字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50164" y="4373880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new Contents() { ... }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一次做完两件事：定义一个实现了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Contents 的类，并创建它的一个对象。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50164" y="493395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当你只需要一个对象、而且用不上它的名字时，这种写法让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代码更短。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75467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注意匿名内部类那对花括号后面的分号：整个 new 表达式是一条语句的一部分，分号不能少。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匿名内部类没有构造方法，初始化靠别的办法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2242185"/>
            <a:chOff x="533400" y="1524000"/>
            <a:chExt cx="5410200" cy="22421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42185"/>
            </a:xfrm>
            <a:prstGeom prst="roundRect">
              <a:avLst>
                <a:gd name="adj" fmla="val 5947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31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978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构造方法必须和类同名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12979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匿名内部类连名字都没有，自然写不出构造方法。要在创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建时做初始化，用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实例初始化块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（一对花括号）。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7508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如果它继承的超类只有带参构造方法，创建时必须把参数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写在 new 后面的括号里，编译器会把它们传给超类构造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方法。</a:t>
              </a:r>
            </a:p>
          </p:txBody>
        </p:sp>
      </p:grpSp>
      <p:grpSp>
        <p:nvGrpSpPr>
          <p:cNvPr id="17" name="c1-code-2"/>
          <p:cNvGrpSpPr/>
          <p:nvPr/>
        </p:nvGrpSpPr>
        <p:grpSpPr>
          <a:xfrm>
            <a:off x="533400" y="3956685"/>
            <a:ext cx="5410200" cy="2088832"/>
            <a:chOff x="533400" y="3956685"/>
            <a:chExt cx="5410200" cy="2088832"/>
          </a:xfrm>
        </p:grpSpPr>
        <p:sp>
          <p:nvSpPr>
            <p:cNvPr id="14" name="Rectangle 14"/>
            <p:cNvSpPr/>
            <p:nvPr/>
          </p:nvSpPr>
          <p:spPr>
            <a:xfrm>
              <a:off x="533400" y="3956685"/>
              <a:ext cx="5410200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1797" y="4108609"/>
              <a:ext cx="20986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4.27　带参超类 + 实例初始化块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1797" y="4369594"/>
              <a:ext cx="3407664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Base3 b =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Base3(7) {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7 传给 Base3(int)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v;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{ v = 42; }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实例初始化块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"v = "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+ v);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b.f();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/* 实测输出：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Base3(7)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v = 42  */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6248400" y="1524000"/>
            <a:ext cx="5410200" cy="1912620"/>
            <a:chOff x="6248400" y="1524000"/>
            <a:chExt cx="5410200" cy="1912620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76797" y="1675924"/>
              <a:ext cx="20712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4.28　事件处理里的匿名适配器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76797" y="1935956"/>
              <a:ext cx="3158744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frame.addWindowListener(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WindowAdapter()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windowClosing(WindowEvent e)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System.exit(0);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});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实测（外部类名为 WinAdapter）：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注册的监听器 1 个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它的类名是 WinAdapter$1</a:t>
              </a:r>
            </a:p>
          </p:txBody>
        </p:sp>
      </p:grpSp>
      <p:grpSp>
        <p:nvGrpSpPr>
          <p:cNvPr id="29" name="c2-card-2"/>
          <p:cNvGrpSpPr/>
          <p:nvPr/>
        </p:nvGrpSpPr>
        <p:grpSpPr>
          <a:xfrm>
            <a:off x="6248400" y="3627120"/>
            <a:ext cx="5410200" cy="2418398"/>
            <a:chOff x="6248400" y="3627120"/>
            <a:chExt cx="5410200" cy="2418398"/>
          </a:xfrm>
        </p:grpSpPr>
        <p:sp>
          <p:nvSpPr>
            <p:cNvPr id="22" name="Rectangle 22"/>
            <p:cNvSpPr/>
            <p:nvPr/>
          </p:nvSpPr>
          <p:spPr>
            <a:xfrm>
              <a:off x="6248400" y="3627120"/>
              <a:ext cx="5410200" cy="2418398"/>
            </a:xfrm>
            <a:prstGeom prst="roundRect">
              <a:avLst>
                <a:gd name="adj" fmla="val 55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57925" y="3760470"/>
              <a:ext cx="47625" cy="215169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96050" y="383667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65557" y="387238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为什么用适配器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07642" y="3871912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只想管一个事件，不想实现七个方法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8430" y="4232910"/>
              <a:ext cx="47015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WindowListener 接口有七个方法，全实现太啰嗦。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WindowAdapter 是它的一个空实现类，继承它只重写关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心的那一个即可。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89573" y="5136356"/>
              <a:ext cx="3776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在 Java 的事件处理里，匿名内部类被大量使用。</a:t>
              </a:r>
            </a:p>
          </p:txBody>
        </p:sp>
      </p:grpSp>
      <p:grpSp>
        <p:nvGrpSpPr>
          <p:cNvPr id="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0" name="TextBox 30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198376" cy="909257"/>
            <a:chOff x="520446" y="342900"/>
            <a:chExt cx="91983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1983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4.29　用匿名内部类做工厂，构造方法可以设成 private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6059805" cy="4309110"/>
            <a:chOff x="533400" y="1524000"/>
            <a:chExt cx="6059805" cy="43091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309110"/>
            </a:xfrm>
            <a:prstGeom prst="roundRect">
              <a:avLst>
                <a:gd name="adj" fmla="val 221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231708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727008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2892742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988" y="1935766"/>
              <a:ext cx="4058031" cy="382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05"/>
                </a:lnSpc>
              </a:pP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Service、ServiceFactory 两个接口同例 4.21</a:t>
              </a:r>
              <a:br/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Implementation1() { }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外面 new 不了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method1() { print(</a:t>
              </a:r>
              <a:r>
                <a:rPr lang="en-US" sz="9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"Implementation1 method1"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method2() { print(</a:t>
              </a:r>
              <a:r>
                <a:rPr lang="en-US" sz="9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"Implementation1 method2"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ServiceFactory factory =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ServiceFactory()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 getService()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Implementation1();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Implementation2 写法相同</a:t>
              </a:r>
              <a:br/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Factories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serviceConsumer(ServiceFactory fact)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Service s = fact.getService();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s.method1();  s.method2();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serviceConsumer(Implementation1.factory);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serviceConsumer(Implementation2.factory);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2-code-1"/>
          <p:cNvGrpSpPr/>
          <p:nvPr/>
        </p:nvGrpSpPr>
        <p:grpSpPr>
          <a:xfrm>
            <a:off x="6898005" y="1524000"/>
            <a:ext cx="4760595" cy="1095375"/>
            <a:chOff x="6898005" y="1524000"/>
            <a:chExt cx="4760595" cy="1095375"/>
          </a:xfrm>
        </p:grpSpPr>
        <p:sp>
          <p:nvSpPr>
            <p:cNvPr id="14" name="Rectangle 14"/>
            <p:cNvSpPr/>
            <p:nvPr/>
          </p:nvSpPr>
          <p:spPr>
            <a:xfrm>
              <a:off x="6898005" y="1524000"/>
              <a:ext cx="4760595" cy="1095375"/>
            </a:xfrm>
            <a:prstGeom prst="roundRect">
              <a:avLst>
                <a:gd name="adj" fmla="val 869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026402" y="1675924"/>
              <a:ext cx="15332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21/25 实测）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26592" y="1934718"/>
              <a:ext cx="1310831" cy="5991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55"/>
                </a:lnSpc>
              </a:pPr>
              <a:r>
                <a:rPr lang="en-US" sz="8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Implementation1 method1</a:t>
              </a:r>
              <a:br/>
              <a:r>
                <a:rPr lang="en-US" sz="8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Implementation1 method2</a:t>
              </a:r>
              <a:br/>
              <a:r>
                <a:rPr lang="en-US" sz="8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Implementation2 method1</a:t>
              </a:r>
              <a:br/>
              <a:r>
                <a:rPr lang="en-US" sz="8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Implementation2 method2</a:t>
              </a:r>
            </a:p>
          </p:txBody>
        </p:sp>
      </p:grpSp>
      <p:grpSp>
        <p:nvGrpSpPr>
          <p:cNvPr id="24" name="c2-card-2"/>
          <p:cNvGrpSpPr/>
          <p:nvPr/>
        </p:nvGrpSpPr>
        <p:grpSpPr>
          <a:xfrm>
            <a:off x="6898005" y="2799398"/>
            <a:ext cx="4760595" cy="2129790"/>
            <a:chOff x="6898005" y="2799398"/>
            <a:chExt cx="4760595" cy="2129790"/>
          </a:xfrm>
        </p:grpSpPr>
        <p:sp>
          <p:nvSpPr>
            <p:cNvPr id="18" name="Rectangle 18"/>
            <p:cNvSpPr/>
            <p:nvPr/>
          </p:nvSpPr>
          <p:spPr>
            <a:xfrm>
              <a:off x="6898005" y="2799398"/>
              <a:ext cx="4760595" cy="2129790"/>
            </a:xfrm>
            <a:prstGeom prst="roundRect">
              <a:avLst>
                <a:gd name="adj" fmla="val 6261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096125" y="2997518"/>
              <a:ext cx="1002030" cy="247650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71041" y="3031808"/>
              <a:ext cx="8502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和例 4.21 比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04264" y="303323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工厂类没了，换成一个匿名对象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88886" y="3376136"/>
              <a:ext cx="417131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不再单独写 Implementation1Factory：工厂是一个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匿名内部类的对象，存在静态字段 factory 里。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88886" y="3965734"/>
              <a:ext cx="386473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匿名类写在 Implementation1 里面，能调它的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private 构造方法；外面只能通过 factory 拿对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象。</a:t>
              </a:r>
            </a:p>
          </p:txBody>
        </p:sp>
      </p:grpSp>
      <p:grpSp>
        <p:nvGrpSpPr>
          <p:cNvPr id="31" name="c2-card-3"/>
          <p:cNvGrpSpPr/>
          <p:nvPr/>
        </p:nvGrpSpPr>
        <p:grpSpPr>
          <a:xfrm>
            <a:off x="6898005" y="5109210"/>
            <a:ext cx="4760595" cy="1179195"/>
            <a:chOff x="6898005" y="5109210"/>
            <a:chExt cx="4760595" cy="1179195"/>
          </a:xfrm>
        </p:grpSpPr>
        <p:sp>
          <p:nvSpPr>
            <p:cNvPr id="25" name="Rectangle 25"/>
            <p:cNvSpPr/>
            <p:nvPr/>
          </p:nvSpPr>
          <p:spPr>
            <a:xfrm>
              <a:off x="6898005" y="5109210"/>
              <a:ext cx="4760595" cy="1179195"/>
            </a:xfrm>
            <a:prstGeom prst="roundRect">
              <a:avLst>
                <a:gd name="adj" fmla="val 11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907530" y="5242560"/>
              <a:ext cx="47625" cy="9124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134225" y="530733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225665" y="534162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17536" y="5343049"/>
              <a:ext cx="20355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在外面直接 new 会怎样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28129" y="5682615"/>
              <a:ext cx="36164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错误: Implementation1() 在 Implementation1 中是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private 访问控制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内部类向上转型为接口，实现就彻底藏住了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842635" cy="3748088"/>
            <a:chOff x="533400" y="1524000"/>
            <a:chExt cx="5842635" cy="37480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748088"/>
            </a:xfrm>
            <a:prstGeom prst="roundRect">
              <a:avLst>
                <a:gd name="adj" fmla="val 254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2516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4.30　Painter 只交出一个 Shape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707005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721418"/>
              <a:ext cx="5804535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035" y="1937861"/>
              <a:ext cx="4470654" cy="3263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paint();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Painter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InnerShape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paint()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System.out.println(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"painter paint() method"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getShape() {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InnerShape();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Painter painter =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Painter();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Shape shape = painter.getShape();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shape.paint();      </a:t>
              </a:r>
              <a:r>
                <a:rPr lang="en-US" sz="11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painter paint() method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0" name="c2-bullets-1"/>
          <p:cNvGrpSpPr/>
          <p:nvPr/>
        </p:nvGrpSpPr>
        <p:grpSpPr>
          <a:xfrm>
            <a:off x="6673215" y="1548765"/>
            <a:ext cx="4810125" cy="2135505"/>
            <a:chOff x="6673215" y="1548765"/>
            <a:chExt cx="4810125" cy="2135505"/>
          </a:xfrm>
        </p:grpSpPr>
        <p:sp>
          <p:nvSpPr>
            <p:cNvPr id="13" name="TextBox 13"/>
            <p:cNvSpPr txBox="1"/>
            <p:nvPr/>
          </p:nvSpPr>
          <p:spPr>
            <a:xfrm>
              <a:off x="6673215" y="154876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内部类存在的两个作用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6680835" y="1889760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742684" y="19320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81825" y="1903095"/>
              <a:ext cx="45015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更小层次的封装：一般的非内部类不允许有 private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protected 权限，内部类可以。把一个类藏在另一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个类内部，只让外部类看得到它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680835" y="2806065"/>
              <a:ext cx="213360" cy="2133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42684" y="28483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81825" y="281940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内部类对外部类的所有内容都可访问，可以用内部类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来实现接口，从而在同一个类里安置两个同名方法的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不同实现</a:t>
              </a:r>
            </a:p>
          </p:txBody>
        </p:sp>
      </p:grpSp>
      <p:grpSp>
        <p:nvGrpSpPr>
          <p:cNvPr id="24" name="c2-code-2"/>
          <p:cNvGrpSpPr/>
          <p:nvPr/>
        </p:nvGrpSpPr>
        <p:grpSpPr>
          <a:xfrm>
            <a:off x="6680835" y="3815715"/>
            <a:ext cx="4977765" cy="1286828"/>
            <a:chOff x="6680835" y="3815715"/>
            <a:chExt cx="4977765" cy="1286828"/>
          </a:xfrm>
        </p:grpSpPr>
        <p:sp>
          <p:nvSpPr>
            <p:cNvPr id="21" name="Rectangle 21"/>
            <p:cNvSpPr/>
            <p:nvPr/>
          </p:nvSpPr>
          <p:spPr>
            <a:xfrm>
              <a:off x="6680835" y="3815715"/>
              <a:ext cx="4977765" cy="1286828"/>
            </a:xfrm>
            <a:prstGeom prst="roundRect">
              <a:avLst>
                <a:gd name="adj" fmla="val 740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809232" y="396763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第二个作用的用法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09422" y="4226481"/>
              <a:ext cx="2532507" cy="7900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22"/>
                </a:lnSpc>
              </a:pP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f();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p(); }</a:t>
              </a:r>
              <a:br/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 {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f();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q(); }</a:t>
              </a:r>
              <a:br/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 </a:t>
              </a:r>
              <a:r>
                <a:rPr lang="en-US" sz="86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A, B {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zh-CN" sz="86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两个 f() 各由一个内部类去实现</a:t>
              </a:r>
              <a:br/>
              <a:r>
                <a:rPr lang="zh-CN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25" name="Rectangle 2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5991225"/>
              <a:ext cx="79310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InnerShape 是 private 的，外界只能拿到 Shape 类型的引用，连它的存在都察觉不到。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90963" cy="909257"/>
            <a:chOff x="520446" y="342900"/>
            <a:chExt cx="75909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93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0335" y="407194"/>
              <a:ext cx="2144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 · 4.4 内部类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909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内部类不参与重写，继承内部类要用 wi.super()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649028"/>
            <a:chOff x="533400" y="1524000"/>
            <a:chExt cx="5410200" cy="36490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649028"/>
            </a:xfrm>
            <a:prstGeom prst="roundRect">
              <a:avLst>
                <a:gd name="adj" fmla="val 261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5989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4.31　子类里同名的内部类是另一个实体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004"/>
              <a:ext cx="3847084" cy="31527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Egg2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Yolk() {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"Egg2.Yolk()"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"Egg2.Yolk.f()"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 y =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Yolk();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Egg2() {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"New Egg2()"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insertYolk(Yolk yy) { y = yy;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g() { y.f();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BigEgg2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Egg2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Egg2.Yolk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Yolk() {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"BigEgg2.Yolk()"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"BigEgg2.Yolk.f()"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BigEgg2() { insertYolk(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Yolk());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Egg2 e2 =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BigEgg2();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e2.g();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5337810"/>
            <a:ext cx="5410200" cy="795338"/>
            <a:chOff x="533400" y="5337810"/>
            <a:chExt cx="5410200" cy="795338"/>
          </a:xfrm>
        </p:grpSpPr>
        <p:sp>
          <p:nvSpPr>
            <p:cNvPr id="11" name="Rectangle 11"/>
            <p:cNvSpPr/>
            <p:nvPr/>
          </p:nvSpPr>
          <p:spPr>
            <a:xfrm>
              <a:off x="533400" y="5337810"/>
              <a:ext cx="5410200" cy="795338"/>
            </a:xfrm>
            <a:prstGeom prst="roundRect">
              <a:avLst>
                <a:gd name="adj" fmla="val 119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5489734"/>
              <a:ext cx="12917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输出（JDK 25 实测）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88" y="5748099"/>
              <a:ext cx="2106422" cy="2967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18"/>
                </a:lnSpc>
              </a:pPr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Egg2.Yolk()   New Egg2()   Egg2.Yolk()</a:t>
              </a:r>
              <a:br/>
              <a:r>
                <a:rPr lang="en-US" sz="7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BigEgg2.Yolk()   BigEgg2.Yolk.f()</a:t>
              </a:r>
            </a:p>
          </p:txBody>
        </p:sp>
      </p:grpSp>
      <p:grpSp>
        <p:nvGrpSpPr>
          <p:cNvPr id="21" name="c2-card-1"/>
          <p:cNvGrpSpPr/>
          <p:nvPr/>
        </p:nvGrpSpPr>
        <p:grpSpPr>
          <a:xfrm>
            <a:off x="6248400" y="1524000"/>
            <a:ext cx="5410200" cy="1600200"/>
            <a:chOff x="6248400" y="1524000"/>
            <a:chExt cx="5410200" cy="1600200"/>
          </a:xfrm>
        </p:grpSpPr>
        <p:sp>
          <p:nvSpPr>
            <p:cNvPr id="15" name="Rectangle 15"/>
            <p:cNvSpPr/>
            <p:nvPr/>
          </p:nvSpPr>
          <p:spPr>
            <a:xfrm>
              <a:off x="6248400" y="1524000"/>
              <a:ext cx="5410200" cy="1600200"/>
            </a:xfrm>
            <a:prstGeom prst="roundRect">
              <a:avLst>
                <a:gd name="adj" fmla="val 8333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4293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5220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95351" y="1744504"/>
              <a:ext cx="21965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只有显式 extends 才有多态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22898" y="20616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两个同名内部类各在自己的命名空间内，是完全独立的两个实体。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BigEgg2.Yolk 写了 </a:t>
              </a:r>
              <a:r>
                <a:rPr lang="en-US" sz="1280" dirty="0">
                  <a:solidFill>
                    <a:srgbClr val="F7E8E9"/>
                  </a:solidFill>
                  <a:latin typeface="+mn-lt"/>
                  <a:ea typeface="+mn-ea"/>
                  <a:cs typeface="+mn-cs"/>
                </a:rPr>
                <a:t>extends Egg2.Yolk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才真正重写了 f()。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24041" y="2585085"/>
              <a:ext cx="4784598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若去掉这个 extends（原课件前一页的 Egg / BigEgg），输出只有 New Egg() 和</a:t>
              </a:r>
              <a:br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Egg.Yolk()，子类的 Yolk 根本不被创建。</a:t>
              </a:r>
            </a:p>
          </p:txBody>
        </p:sp>
      </p:grpSp>
      <p:grpSp>
        <p:nvGrpSpPr>
          <p:cNvPr id="25" name="c2-code-2"/>
          <p:cNvGrpSpPr/>
          <p:nvPr/>
        </p:nvGrpSpPr>
        <p:grpSpPr>
          <a:xfrm>
            <a:off x="6248400" y="3288982"/>
            <a:ext cx="5410200" cy="1855470"/>
            <a:chOff x="6248400" y="3288982"/>
            <a:chExt cx="5410200" cy="1855470"/>
          </a:xfrm>
        </p:grpSpPr>
        <p:sp>
          <p:nvSpPr>
            <p:cNvPr id="22" name="Rectangle 22"/>
            <p:cNvSpPr/>
            <p:nvPr/>
          </p:nvSpPr>
          <p:spPr>
            <a:xfrm>
              <a:off x="6248400" y="3288982"/>
              <a:ext cx="5410200" cy="1855470"/>
            </a:xfrm>
            <a:prstGeom prst="roundRect">
              <a:avLst>
                <a:gd name="adj" fmla="val 513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6797" y="3440906"/>
              <a:ext cx="15435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4.32　继承一个内部类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988" y="3699986"/>
              <a:ext cx="4190746" cy="1358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178"/>
                </a:lnSpc>
              </a:pP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WithInner {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Inner { Inner() {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"in WithInner.Inner"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 }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InheritInner 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WithInner.Inner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InheritInner(WithInner wi) {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wi.</a:t>
              </a:r>
              <a:r>
                <a:rPr lang="en-US" sz="8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();          </a:t>
              </a:r>
              <a:r>
                <a:rPr lang="zh-CN" sz="8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专门的语法</a:t>
              </a:r>
              <a:br/>
              <a:r>
                <a:rPr lang="en-US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8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"in InheritInner"</a:t>
              </a:r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8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2" name="c2-callout-3"/>
          <p:cNvGrpSpPr/>
          <p:nvPr/>
        </p:nvGrpSpPr>
        <p:grpSpPr>
          <a:xfrm>
            <a:off x="6248400" y="5308282"/>
            <a:ext cx="5410200" cy="823912"/>
            <a:chOff x="6248400" y="5308282"/>
            <a:chExt cx="5410200" cy="823912"/>
          </a:xfrm>
        </p:grpSpPr>
        <p:sp>
          <p:nvSpPr>
            <p:cNvPr id="26" name="Rectangle 26"/>
            <p:cNvSpPr/>
            <p:nvPr/>
          </p:nvSpPr>
          <p:spPr>
            <a:xfrm>
              <a:off x="6248400" y="5308282"/>
              <a:ext cx="5410200" cy="823912"/>
            </a:xfrm>
            <a:prstGeom prst="roundRect">
              <a:avLst>
                <a:gd name="adj" fmla="val 1387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6441129" y="5617011"/>
              <a:ext cx="224134" cy="192560"/>
              <a:chOff x="6441129" y="5617011"/>
              <a:chExt cx="224134" cy="19256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553200" y="568737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441129" y="561701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6553200" y="576516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6756273" y="5514499"/>
              <a:ext cx="441020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不写 wi.super()，编译器报「需要包含 WithInner.Inner 的</a:t>
              </a:r>
              <a:br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封闭实例」：那个隐藏的外部类对象引用必须被初始化。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自测（一）：继承与多态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076292" cy="264033"/>
            <a:chOff x="526542" y="1545907"/>
            <a:chExt cx="507629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0762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先自己写答案，再对照。涉及输出的题目都在 JDK 25 上跑过。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3505200" cy="1671638"/>
            <a:chOff x="533400" y="1928812"/>
            <a:chExt cx="3505200" cy="167163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505200" cy="1671638"/>
            </a:xfrm>
            <a:prstGeom prst="roundRect">
              <a:avLst>
                <a:gd name="adj" fmla="val 79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7898" y="2449354"/>
              <a:ext cx="279110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子类构造方法没有显式写 super(...)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时，编译器会做什么？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7898" y="2977991"/>
              <a:ext cx="296341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自动插入一条无参的 super()。此时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超类若没有无参构造方法就会编译报错。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765232"/>
            <a:ext cx="3505200" cy="1914525"/>
            <a:chOff x="533400" y="3765232"/>
            <a:chExt cx="3505200" cy="1914525"/>
          </a:xfrm>
        </p:grpSpPr>
        <p:sp>
          <p:nvSpPr>
            <p:cNvPr id="15" name="Rectangle 15"/>
            <p:cNvSpPr/>
            <p:nvPr/>
          </p:nvSpPr>
          <p:spPr>
            <a:xfrm>
              <a:off x="533400" y="376523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4375" y="39462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3832" y="39790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7898" y="4286726"/>
              <a:ext cx="2954477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超类方法是 private，子类写了同名同参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public 方法，算重写吗？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7898" y="4814411"/>
              <a:ext cx="293903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不算。那只是一个新方法。实测调用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超类里的 call() 仍然走 private 的那一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4343400" y="1928812"/>
            <a:ext cx="3505200" cy="1914525"/>
            <a:chOff x="4343400" y="1928812"/>
            <a:chExt cx="3505200" cy="1914525"/>
          </a:xfrm>
        </p:grpSpPr>
        <p:sp>
          <p:nvSpPr>
            <p:cNvPr id="21" name="Rectangle 21"/>
            <p:cNvSpPr/>
            <p:nvPr/>
          </p:nvSpPr>
          <p:spPr>
            <a:xfrm>
              <a:off x="4343400" y="192881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52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1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17898" y="2449354"/>
              <a:ext cx="2797200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三层继承 Ball → Playing → FootBall，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new FootBall() 时构造方法的执行顺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17898" y="3220879"/>
              <a:ext cx="2865882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Ball() → Playing() → FootBall()，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从最上层往下执行。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4343400" y="4008120"/>
            <a:ext cx="3505200" cy="1671638"/>
            <a:chOff x="4343400" y="4008120"/>
            <a:chExt cx="3505200" cy="1671638"/>
          </a:xfrm>
        </p:grpSpPr>
        <p:sp>
          <p:nvSpPr>
            <p:cNvPr id="27" name="Rectangle 27"/>
            <p:cNvSpPr/>
            <p:nvPr/>
          </p:nvSpPr>
          <p:spPr>
            <a:xfrm>
              <a:off x="4343400" y="4008120"/>
              <a:ext cx="3505200" cy="1671638"/>
            </a:xfrm>
            <a:prstGeom prst="roundRect">
              <a:avLst>
                <a:gd name="adj" fmla="val 79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524375" y="418909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13832" y="422195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17898" y="4529614"/>
              <a:ext cx="287441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Father f = new Son(); 如果两个类都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有字段 name，f.name 取哪一个？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7898" y="5057299"/>
              <a:ext cx="292277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Father 的。字段是静态绑定，按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引用类型决定；只有方法才动态绑定。</a:t>
              </a:r>
            </a:p>
          </p:txBody>
        </p:sp>
      </p:grpSp>
      <p:grpSp>
        <p:nvGrpSpPr>
          <p:cNvPr id="38" name="c3-card-1"/>
          <p:cNvGrpSpPr/>
          <p:nvPr/>
        </p:nvGrpSpPr>
        <p:grpSpPr>
          <a:xfrm>
            <a:off x="8153400" y="1928812"/>
            <a:ext cx="3505200" cy="1671638"/>
            <a:chOff x="8153400" y="1928812"/>
            <a:chExt cx="3505200" cy="1671638"/>
          </a:xfrm>
        </p:grpSpPr>
        <p:sp>
          <p:nvSpPr>
            <p:cNvPr id="33" name="Rectangle 33"/>
            <p:cNvSpPr/>
            <p:nvPr/>
          </p:nvSpPr>
          <p:spPr>
            <a:xfrm>
              <a:off x="8153400" y="1928812"/>
              <a:ext cx="3505200" cy="1671638"/>
            </a:xfrm>
            <a:prstGeom prst="roundRect">
              <a:avLst>
                <a:gd name="adj" fmla="val 79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3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2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7898" y="2449354"/>
              <a:ext cx="2706573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子类方法把超类的 public 方法改写成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private，会怎样？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27898" y="2977991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编译报错：正在尝试分配更低的访问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权限。重写不能收紧访问权限。</a:t>
              </a:r>
            </a:p>
          </p:txBody>
        </p:sp>
      </p:grpSp>
      <p:grpSp>
        <p:nvGrpSpPr>
          <p:cNvPr id="44" name="c3-card-2"/>
          <p:cNvGrpSpPr/>
          <p:nvPr/>
        </p:nvGrpSpPr>
        <p:grpSpPr>
          <a:xfrm>
            <a:off x="8153400" y="3765232"/>
            <a:ext cx="3505200" cy="1914525"/>
            <a:chOff x="8153400" y="3765232"/>
            <a:chExt cx="3505200" cy="1914525"/>
          </a:xfrm>
        </p:grpSpPr>
        <p:sp>
          <p:nvSpPr>
            <p:cNvPr id="39" name="Rectangle 39"/>
            <p:cNvSpPr/>
            <p:nvPr/>
          </p:nvSpPr>
          <p:spPr>
            <a:xfrm>
              <a:off x="8153400" y="3765232"/>
              <a:ext cx="3505200" cy="1914525"/>
            </a:xfrm>
            <a:prstGeom prst="roundRect">
              <a:avLst>
                <a:gd name="adj" fmla="val 696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334375" y="39462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423832" y="39790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27898" y="428672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哪些方法不是动态绑定的？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27898" y="4571524"/>
              <a:ext cx="28577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static 方法、final 方法、private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方法（隐含 final），以及构造方法。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5" name="Rectangle 45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1273" y="6039326"/>
              <a:ext cx="63454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5 题想拿到子类字段，就给两个类各写一个 getter，借方法的动态绑定绕过去。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自测（二）：接口与内部类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1428750"/>
            <a:chOff x="533400" y="1524000"/>
            <a:chExt cx="3505200" cy="14287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14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3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7898" y="2045494"/>
              <a:ext cx="28948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接口里写 int var; 为什么编译不过？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7898" y="2330291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接口字段隐含 public static final，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必须显式初始化。javac 报「需要=」。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17532"/>
            <a:ext cx="3505200" cy="1428750"/>
            <a:chOff x="533400" y="3117532"/>
            <a:chExt cx="3505200" cy="1428750"/>
          </a:xfrm>
        </p:grpSpPr>
        <p:sp>
          <p:nvSpPr>
            <p:cNvPr id="13" name="Rectangle 13"/>
            <p:cNvSpPr/>
            <p:nvPr/>
          </p:nvSpPr>
          <p:spPr>
            <a:xfrm>
              <a:off x="533400" y="3117532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14375" y="32985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3832" y="33313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7898" y="363902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创建非静态内部类的对象要写成什么样？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7898" y="3923824"/>
              <a:ext cx="210185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Outer.Inner obj =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outerObject.new Inner();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712018"/>
            <a:ext cx="3505200" cy="1428750"/>
            <a:chOff x="533400" y="4712018"/>
            <a:chExt cx="3505200" cy="1428750"/>
          </a:xfrm>
        </p:grpSpPr>
        <p:sp>
          <p:nvSpPr>
            <p:cNvPr id="19" name="Rectangle 19"/>
            <p:cNvSpPr/>
            <p:nvPr/>
          </p:nvSpPr>
          <p:spPr>
            <a:xfrm>
              <a:off x="533400" y="4712018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14375" y="489299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3832" y="492585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7898" y="523255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接口方法一定没有方法体吗？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7898" y="5518309"/>
              <a:ext cx="23944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不一定，default、static、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方法都有方法体。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4343400" y="1524000"/>
            <a:ext cx="3505200" cy="1428750"/>
            <a:chOff x="4343400" y="1524000"/>
            <a:chExt cx="3505200" cy="1428750"/>
          </a:xfrm>
        </p:grpSpPr>
        <p:sp>
          <p:nvSpPr>
            <p:cNvPr id="25" name="Rectangle 25"/>
            <p:cNvSpPr/>
            <p:nvPr/>
          </p:nvSpPr>
          <p:spPr>
            <a:xfrm>
              <a:off x="4343400" y="1524000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24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13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17898" y="2045494"/>
              <a:ext cx="31662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一个接口能 implements 另一个接口吗？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17898" y="2330291"/>
              <a:ext cx="28008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不能，只能用 extends；接口可以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extends 多个接口。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4343400" y="3117532"/>
            <a:ext cx="3505200" cy="1428750"/>
            <a:chOff x="4343400" y="3117532"/>
            <a:chExt cx="3505200" cy="1428750"/>
          </a:xfrm>
        </p:grpSpPr>
        <p:sp>
          <p:nvSpPr>
            <p:cNvPr id="31" name="Rectangle 31"/>
            <p:cNvSpPr/>
            <p:nvPr/>
          </p:nvSpPr>
          <p:spPr>
            <a:xfrm>
              <a:off x="4343400" y="3117532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524375" y="32985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613832" y="33313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7898" y="3639026"/>
              <a:ext cx="31604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Outer.this 与 new Outer() 的区别？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7898" y="3923824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前者是创建它时用的外部类对象，后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者是新建的。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4343400" y="4712018"/>
            <a:ext cx="3505200" cy="1428750"/>
            <a:chOff x="4343400" y="4712018"/>
            <a:chExt cx="3505200" cy="1428750"/>
          </a:xfrm>
        </p:grpSpPr>
        <p:sp>
          <p:nvSpPr>
            <p:cNvPr id="37" name="Rectangle 37"/>
            <p:cNvSpPr/>
            <p:nvPr/>
          </p:nvSpPr>
          <p:spPr>
            <a:xfrm>
              <a:off x="4343400" y="4712018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524375" y="489299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3832" y="492585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Q8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17898" y="5232559"/>
              <a:ext cx="29134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非静态内部类里能写 static 字段吗？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17898" y="5518309"/>
              <a:ext cx="29796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16 起可以，JDK 25 实测静态成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员全部通过。</a:t>
              </a:r>
            </a:p>
          </p:txBody>
        </p:sp>
      </p:grpSp>
      <p:grpSp>
        <p:nvGrpSpPr>
          <p:cNvPr id="48" name="c3-card-1"/>
          <p:cNvGrpSpPr/>
          <p:nvPr/>
        </p:nvGrpSpPr>
        <p:grpSpPr>
          <a:xfrm>
            <a:off x="8153400" y="1524000"/>
            <a:ext cx="3505200" cy="1428750"/>
            <a:chOff x="8153400" y="1524000"/>
            <a:chExt cx="3505200" cy="1428750"/>
          </a:xfrm>
        </p:grpSpPr>
        <p:sp>
          <p:nvSpPr>
            <p:cNvPr id="43" name="Rectangle 43"/>
            <p:cNvSpPr/>
            <p:nvPr/>
          </p:nvSpPr>
          <p:spPr>
            <a:xfrm>
              <a:off x="8153400" y="1524000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334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23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27898" y="2045494"/>
              <a:ext cx="30129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两个接口有同名 default 方法会怎样？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27898" y="2330291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编译报错。要在实现类里重写它，用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接口名.super.方法名() 指定。</a:t>
              </a:r>
            </a:p>
          </p:txBody>
        </p:sp>
      </p:grpSp>
      <p:grpSp>
        <p:nvGrpSpPr>
          <p:cNvPr id="54" name="c3-card-2"/>
          <p:cNvGrpSpPr/>
          <p:nvPr/>
        </p:nvGrpSpPr>
        <p:grpSpPr>
          <a:xfrm>
            <a:off x="8153400" y="3117532"/>
            <a:ext cx="3505200" cy="1428750"/>
            <a:chOff x="8153400" y="3117532"/>
            <a:chExt cx="3505200" cy="1428750"/>
          </a:xfrm>
        </p:grpSpPr>
        <p:sp>
          <p:nvSpPr>
            <p:cNvPr id="49" name="Rectangle 49"/>
            <p:cNvSpPr/>
            <p:nvPr/>
          </p:nvSpPr>
          <p:spPr>
            <a:xfrm>
              <a:off x="8153400" y="3117532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334375" y="32985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423832" y="33313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27898" y="3639026"/>
              <a:ext cx="29862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匿名内部类生成的 class 文件叫什么？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327898" y="3923824"/>
              <a:ext cx="28983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外部类名$数字.class，数字从 1 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始，实测过。</a:t>
              </a:r>
            </a:p>
          </p:txBody>
        </p:sp>
      </p:grpSp>
      <p:grpSp>
        <p:nvGrpSpPr>
          <p:cNvPr id="60" name="c3-card-3"/>
          <p:cNvGrpSpPr/>
          <p:nvPr/>
        </p:nvGrpSpPr>
        <p:grpSpPr>
          <a:xfrm>
            <a:off x="8153400" y="4712018"/>
            <a:ext cx="3505200" cy="1428750"/>
            <a:chOff x="8153400" y="4712018"/>
            <a:chExt cx="3505200" cy="1428750"/>
          </a:xfrm>
        </p:grpSpPr>
        <p:sp>
          <p:nvSpPr>
            <p:cNvPr id="55" name="Rectangle 55"/>
            <p:cNvSpPr/>
            <p:nvPr/>
          </p:nvSpPr>
          <p:spPr>
            <a:xfrm>
              <a:off x="8153400" y="4712018"/>
              <a:ext cx="3505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334375" y="489299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423832" y="492585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Q9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27898" y="5232559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匿名内部类怎么做初始化？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27898" y="5518309"/>
              <a:ext cx="29390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用实例初始化块，即类体里的一对花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括号；超类的构造参数写在 new 后面。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402652" cy="909257"/>
            <a:chOff x="520446" y="342900"/>
            <a:chExt cx="1402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第4章 继承与多态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bullets-1"/>
          <p:cNvGrpSpPr/>
          <p:nvPr/>
        </p:nvGrpSpPr>
        <p:grpSpPr>
          <a:xfrm>
            <a:off x="526923" y="1545431"/>
            <a:ext cx="5157851" cy="2401062"/>
            <a:chOff x="526923" y="1545431"/>
            <a:chExt cx="5157851" cy="2401062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四节各自的落点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35468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85307" y="187013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03148" y="1846421"/>
              <a:ext cx="48816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 复用有组合和继承两条路：组合读作「有一个」，继承读作「是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一种」。继承带来构造顺序、重写规则和访问权限三组约束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370772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85307" y="240639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03148" y="2382679"/>
              <a:ext cx="48816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 多态靠动态绑定实现：方法看实际对象，字段和静态方法看引用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类型或类名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907030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85307" y="2942654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3148" y="2917984"/>
              <a:ext cx="48816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 接口只约定能做什么。一个类可以实现多个接口，从而间接获得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多重继承的效果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3443288"/>
              <a:ext cx="180975" cy="18097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85307" y="347795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3148" y="3454241"/>
              <a:ext cx="4881626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 内部类有四种形式，它们的共同价值是更细粒度的封装和对接口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的灵活实现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4061460"/>
            <a:ext cx="5410200" cy="1931670"/>
            <a:chOff x="533400" y="4061460"/>
            <a:chExt cx="5410200" cy="1931670"/>
          </a:xfrm>
        </p:grpSpPr>
        <p:sp>
          <p:nvSpPr>
            <p:cNvPr id="21" name="Rectangle 21"/>
            <p:cNvSpPr/>
            <p:nvPr/>
          </p:nvSpPr>
          <p:spPr>
            <a:xfrm>
              <a:off x="533400" y="4061460"/>
              <a:ext cx="5410200" cy="1931670"/>
            </a:xfrm>
            <a:prstGeom prst="roundRect">
              <a:avLst>
                <a:gd name="adj" fmla="val 69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194810"/>
              <a:ext cx="47625" cy="166497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52475" y="424243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7044" y="427529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复习顺序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68006" y="42819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三条主线串起全章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5998" y="4598194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先把构造方法的调用链走一遍，再看重写与重载的判定，最后才是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动态绑定。前两步不清楚，多态一定看不明白。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5998" y="5125879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接口和内部类都建在前面的基础上：接口是纯抽象的超类型，内部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类是把类的作用域再收紧一层。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6248400" y="1524000"/>
            <a:ext cx="5410200" cy="2287905"/>
            <a:chOff x="6248400" y="1524000"/>
            <a:chExt cx="5410200" cy="2287905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38100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16190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场景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179939" y="164115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该用什么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43079" y="20231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运行时要换掉一段实现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372981" y="2023110"/>
              <a:ext cx="7386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 + 接口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282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48400" y="2286952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3079" y="24041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一族类共享一部分实现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72981" y="240411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抽象类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48400" y="2663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43079" y="2785110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不同族的类有同一种能力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287828" y="2677478"/>
              <a:ext cx="2361248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72981" y="2785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3045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48400" y="304990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3079" y="316706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某个实现只服务于一个类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372981" y="316706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私有内部类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3426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3079" y="354806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只用一次的接口实现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72981" y="354806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匿名内部类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1524000"/>
              <a:ext cx="5410200" cy="2287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273540" y="1524000"/>
              <a:ext cx="9525" cy="2287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card-2"/>
          <p:cNvGrpSpPr/>
          <p:nvPr/>
        </p:nvGrpSpPr>
        <p:grpSpPr>
          <a:xfrm>
            <a:off x="6248400" y="3976688"/>
            <a:ext cx="5410200" cy="2015490"/>
            <a:chOff x="6248400" y="3976688"/>
            <a:chExt cx="5410200" cy="2015490"/>
          </a:xfrm>
        </p:grpSpPr>
        <p:sp>
          <p:nvSpPr>
            <p:cNvPr id="52" name="Rectangle 52"/>
            <p:cNvSpPr/>
            <p:nvPr/>
          </p:nvSpPr>
          <p:spPr>
            <a:xfrm>
              <a:off x="6248400" y="3976688"/>
              <a:ext cx="5410200" cy="2015490"/>
            </a:xfrm>
            <a:prstGeom prst="roundRect">
              <a:avLst>
                <a:gd name="adj" fmla="val 66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57925" y="4110038"/>
              <a:ext cx="47625" cy="17487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67475" y="4157662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44894" y="41905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四处版本差异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31608" y="4198144"/>
              <a:ext cx="13046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JDK 实测订正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60998" y="4514374"/>
              <a:ext cx="43207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接口：Java 8 起可写 default/static 方法，Java 9 起可写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 方法。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60998" y="5042059"/>
              <a:ext cx="40187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局部内部类：Java 8 起能用有效 final 的局部变量。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60998" y="5326856"/>
              <a:ext cx="2934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内部类：Java 16 起可以有静态成员。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60998" y="5612606"/>
              <a:ext cx="49161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super(...)：Java 25 起不必在首行，但之前不能用实例成员。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019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第4章 继承与多态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java_ch4">
  <a:themeElements>
    <a:clrScheme name="java_ch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java_ch4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java_ch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2026-09-23T06:52:44Z</dcterms:created>
  <dcterms:modified xsi:type="dcterms:W3CDTF">2026-09-23T06:52:44Z</dcterms:modified>
  <cp:category/>
  <cp:contentStatus/>
</cp:coreProperties>
</file>