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va_ch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va_ch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ef9755688ce5253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47699a2b1476b4b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50d884bc32c2e97.png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89882" cy="3437763"/>
            <a:chOff x="666750" y="1619250"/>
            <a:chExt cx="438988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81188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740" y="1718310"/>
              <a:ext cx="164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Java程序设计 · 第5章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图形用户界面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用组件、布局和事件搭一个会响应的窗口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123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AWT 与 Swing 的组件体系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常用组件与三种布局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委托事件模型与适配器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综合例：计算器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82814" cy="205359"/>
            <a:chOff x="680466" y="6192202"/>
            <a:chExt cx="438281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8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自学复习版｜据吉林大学《Java程序设计》第5章课件整理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924585"/>
            <a:chOff x="521970" y="1515428"/>
            <a:chExt cx="6287453" cy="392458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60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 GUI 概述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8725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AWT 与 Swing、GUI 组件类的继承层次、容器类/控件类/辅助类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 常用组件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4505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JFrame、JLabel、JPanel、JButton，文本框、选择框、对话框、菜单与绘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18801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2937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329940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 布局管理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646646"/>
              <a:ext cx="5490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FlowLayout、BorderLayout、GridLayout 的排法、默认值和实测位置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96049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06527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101465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5.4 事件处理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41912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事件源、事件对象与监听器，三种注册写法，事件类层次和适配器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73202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83774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87394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综合例与自测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190649"/>
              <a:ext cx="5475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从空类一步步写出计算器，再修掉原程序的四个缺陷；两轮自测共 14 题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086225"/>
            <a:chOff x="7114222" y="1524000"/>
            <a:chExt cx="4544378" cy="408622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086225"/>
            </a:xfrm>
            <a:prstGeom prst="roundRect">
              <a:avLst>
                <a:gd name="adj" fmla="val 32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81952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JFrame 从 Object 开始的继承链，说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 JFrame、JPanel、JButton 各属于哪一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类组件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308038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301752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看一段布局代码，能画出窗口里各组件的位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置和大小关系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70141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63855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为一个按钮写出监听器的三种注册方式，并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说明各自如何区分事件源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32244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4259580"/>
              <a:ext cx="3006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MouseListener 有几个方法，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MouseAdapter 替你省掉了什么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94347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88061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读懂计算器程序的四个状态变量，能指出连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续运算为什么算错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3143250" cy="2643187"/>
            <a:chOff x="667512" y="1835468"/>
            <a:chExt cx="3143250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6832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 GUI 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窗口里的每样东西都是一个对象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9039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AWT 靠本地方法，Swing 自己画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容器装组件，容器还能再装容器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32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1897" y="407194"/>
              <a:ext cx="2456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5.1 GUI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从命令行到图形界面：用户不再需要记命令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2156460"/>
            <a:chOff x="533400" y="1524000"/>
            <a:chExt cx="5842635" cy="2156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8882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可视化 Visualization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利用计算机图形学和图像处理技术，将数据转换成图形或图像在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屏幕上显示出来，并进行交互处理的理论、方法和技术。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512711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图形用户界面（GUI，Graphical User Interface）就是把这套思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路用在操作界面上：窗口、菜单、按钮都画在屏幕上，用鼠标点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选即可。</a:t>
              </a:r>
            </a:p>
          </p:txBody>
        </p:sp>
      </p:grpSp>
      <p:grpSp>
        <p:nvGrpSpPr>
          <p:cNvPr id="31" name="c1-compare-2"/>
          <p:cNvGrpSpPr/>
          <p:nvPr/>
        </p:nvGrpSpPr>
        <p:grpSpPr>
          <a:xfrm>
            <a:off x="533400" y="3865245"/>
            <a:ext cx="5842636" cy="2309812"/>
            <a:chOff x="533400" y="3865245"/>
            <a:chExt cx="5842636" cy="2309812"/>
          </a:xfrm>
        </p:grpSpPr>
        <p:sp>
          <p:nvSpPr>
            <p:cNvPr id="15" name="Rectangle 15"/>
            <p:cNvSpPr/>
            <p:nvPr/>
          </p:nvSpPr>
          <p:spPr>
            <a:xfrm>
              <a:off x="533400" y="3865245"/>
              <a:ext cx="2711768" cy="2309812"/>
            </a:xfrm>
            <a:prstGeom prst="roundRect">
              <a:avLst>
                <a:gd name="adj" fmla="val 57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98595"/>
              <a:ext cx="47625" cy="20431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8096" y="409336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命令行界面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449199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4431506"/>
              <a:ext cx="18539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先记住命令再敲：copy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1.txt c:\test\test2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508349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5023009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反馈只有一行文字：已复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 1 个文件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64268" y="3865245"/>
              <a:ext cx="2711768" cy="2309812"/>
            </a:xfrm>
            <a:prstGeom prst="roundRect">
              <a:avLst>
                <a:gd name="adj" fmla="val 57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73792" y="3998595"/>
              <a:ext cx="47625" cy="20431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98964" y="40933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图形界面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913823" y="449199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070414" y="4431506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右键点文件，在弹出菜单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里选「复制」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913823" y="508349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070414" y="5023009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拖到目标文件夹，结果直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接显示在窗口里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292792" y="485870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363133" y="495490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680835" y="1524000"/>
            <a:ext cx="4977765" cy="2581275"/>
            <a:chOff x="6680835" y="1524000"/>
            <a:chExt cx="4977765" cy="2581275"/>
          </a:xfrm>
        </p:grpSpPr>
        <p:sp>
          <p:nvSpPr>
            <p:cNvPr id="32" name="Rectangle 32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9749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发布时间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4792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86182" y="2085022"/>
              <a:ext cx="10476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1985 年 11 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76919" y="2085022"/>
              <a:ext cx="9811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1.0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80835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80835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86182" y="2515552"/>
              <a:ext cx="954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1990 年 5 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76919" y="2515552"/>
              <a:ext cx="9811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3.0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80835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86182" y="2946082"/>
              <a:ext cx="10476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2001 年 10 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76919" y="2946082"/>
              <a:ext cx="9009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XP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680835" y="32394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0835" y="324421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86182" y="3375660"/>
              <a:ext cx="954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2009 年 7 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76919" y="3375660"/>
              <a:ext cx="802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80835" y="36699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86182" y="3806190"/>
              <a:ext cx="954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2015 年 7 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76919" y="3806190"/>
              <a:ext cx="89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10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1524000"/>
              <a:ext cx="4977765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6681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6680835" y="4290060"/>
            <a:ext cx="4977765" cy="1884998"/>
            <a:chOff x="6680835" y="4290060"/>
            <a:chExt cx="4977765" cy="1884998"/>
          </a:xfrm>
        </p:grpSpPr>
        <p:sp>
          <p:nvSpPr>
            <p:cNvPr id="54" name="Rectangle 54"/>
            <p:cNvSpPr/>
            <p:nvPr/>
          </p:nvSpPr>
          <p:spPr>
            <a:xfrm>
              <a:off x="6680835" y="4290060"/>
              <a:ext cx="4977765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90360" y="442341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22770" y="449389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96227" y="45296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原课件的开场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92821" y="453437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先看几代桌面，再动手写窗口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15531" y="4885849"/>
              <a:ext cx="427951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 Windows 各代界面和 macOS、Ubuntu 桌面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的截图说明：图形界面早已是桌面系统的标配。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15531" y="5477351"/>
              <a:ext cx="43065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本章的目标是用 Java 写出这样的窗口：有按钮、文本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框、菜单，点一下会有反应。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7365" cy="909257"/>
            <a:chOff x="520446" y="342900"/>
            <a:chExt cx="81173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32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1897" y="407194"/>
              <a:ext cx="2456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5.1 GUI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73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AWT 与 Swing：一个借操作系统的控件，一个自己画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6059804" cy="2571750"/>
            <a:chOff x="533400" y="1524000"/>
            <a:chExt cx="6059804" cy="2571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820352" cy="2571750"/>
            </a:xfrm>
            <a:prstGeom prst="roundRect">
              <a:avLst>
                <a:gd name="adj" fmla="val 51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050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738312"/>
              <a:ext cx="1580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AWT（java.awt）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2478" y="211455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8497" y="2058352"/>
              <a:ext cx="20368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 Window ToolKit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的缩写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67462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618422"/>
              <a:ext cx="20711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提供一套与本地图形界面交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互的接口，功能靠本地方法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349091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3434715"/>
              <a:ext cx="19768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AWT 控件称为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重量级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控件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72852" y="1524000"/>
              <a:ext cx="2820352" cy="2571750"/>
            </a:xfrm>
            <a:prstGeom prst="roundRect">
              <a:avLst>
                <a:gd name="adj" fmla="val 51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82378" y="1657350"/>
              <a:ext cx="47625" cy="2305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996500" y="1738312"/>
              <a:ext cx="1995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Swing（javax.swing）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011930" y="211455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67950" y="2058352"/>
              <a:ext cx="20025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建在 AWT 之上，提供 AWT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的全部功能并大幅扩充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011930" y="267462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67950" y="2618422"/>
              <a:ext cx="20368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不用本地方法实现图形功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能，组件由 Java 自己绘制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4011930" y="323373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67950" y="3177540"/>
              <a:ext cx="21225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Swing 控件称为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轻量级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控件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401378" y="264795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477849" y="274939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7" name="c1-bullets-2"/>
          <p:cNvGrpSpPr/>
          <p:nvPr/>
        </p:nvGrpSpPr>
        <p:grpSpPr>
          <a:xfrm>
            <a:off x="526542" y="4292918"/>
            <a:ext cx="5774436" cy="2031873"/>
            <a:chOff x="526542" y="4292918"/>
            <a:chExt cx="5774436" cy="2031873"/>
          </a:xfrm>
        </p:grpSpPr>
        <p:sp>
          <p:nvSpPr>
            <p:cNvPr id="28" name="TextBox 28"/>
            <p:cNvSpPr txBox="1"/>
            <p:nvPr/>
          </p:nvSpPr>
          <p:spPr>
            <a:xfrm>
              <a:off x="526542" y="4292918"/>
              <a:ext cx="1922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用 Swing 搭界面的方式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41972" y="466915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7992" y="4612958"/>
              <a:ext cx="55686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2 发布后，大部分 AWT 组件在 Swing 里重写过，本章以 Swing 组件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为主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41972" y="523779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7992" y="5180648"/>
              <a:ext cx="56029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 组件的类名以字母 J 开头，除了与 AWT 对应的组件，还增加了许多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高层组件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41972" y="580548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7992" y="574929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向容器中添加组件：通常用顶级容器承载所有组件，再合理安排布局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41972" y="611695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7992" y="606075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容器之间可以嵌套，面板里还能再放面板</a:t>
              </a:r>
            </a:p>
          </p:txBody>
        </p:sp>
      </p:grpSp>
      <p:grpSp>
        <p:nvGrpSpPr>
          <p:cNvPr id="40" name="c2-image-1"/>
          <p:cNvGrpSpPr/>
          <p:nvPr/>
        </p:nvGrpSpPr>
        <p:grpSpPr>
          <a:xfrm>
            <a:off x="7371398" y="1524000"/>
            <a:ext cx="3813810" cy="3159061"/>
            <a:chOff x="7371398" y="1524000"/>
            <a:chExt cx="3813810" cy="3159061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7371398" y="1524000"/>
              <a:ext cx="3813810" cy="2860358"/>
            </a:xfrm>
            <a:prstGeom prst="roundRect">
              <a:avLst>
                <a:gd name="adj" fmla="val 4662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718108" y="447770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抽屉里放隔板盒，盒里再放小盒：容器一层层嵌套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898005" y="4835842"/>
            <a:ext cx="4760595" cy="1435418"/>
            <a:chOff x="6898005" y="4835842"/>
            <a:chExt cx="4760595" cy="1435418"/>
          </a:xfrm>
        </p:grpSpPr>
        <p:sp>
          <p:nvSpPr>
            <p:cNvPr id="41" name="Rectangle 41"/>
            <p:cNvSpPr/>
            <p:nvPr/>
          </p:nvSpPr>
          <p:spPr>
            <a:xfrm>
              <a:off x="6898005" y="4835842"/>
              <a:ext cx="4760595" cy="1435418"/>
            </a:xfrm>
            <a:prstGeom prst="roundRect">
              <a:avLst>
                <a:gd name="adj" fmla="val 796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102793" y="5454015"/>
              <a:ext cx="200026" cy="200026"/>
              <a:chOff x="7102793" y="5454015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102793" y="54540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02805" y="55206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191693" y="55540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405497" y="5211128"/>
              <a:ext cx="386276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原课件用乐高积木和 Scratch 积木编程作比方：先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铺底板（顶级容器），再往上拼零件（组件），拼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好的一块也能整体装到别处。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21338" cy="909257"/>
            <a:chOff x="520446" y="342900"/>
            <a:chExt cx="6721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32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1897" y="407194"/>
              <a:ext cx="2456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5.1 GUI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21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原课件列的 Swing 替代品，如今各自的去向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11125200" cy="3221355"/>
            <a:chOff x="533400" y="1524000"/>
            <a:chExt cx="11125200" cy="3221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015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58362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原课件的说法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87558" y="1655445"/>
              <a:ext cx="1779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现状（按 2026 年核对）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191702"/>
              <a:ext cx="1352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Applet / JApplet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07526" y="2191702"/>
              <a:ext cx="2768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不成功，JRE 插件没有在浏览器中普及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105525" y="1964055"/>
              <a:ext cx="5543550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01347" y="2085022"/>
              <a:ext cx="45460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9 标为过时，Java 17 起标记为待删除；JDK 21 编译 extends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JApplet 报 [removal] 警告（实测）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5927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597468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835592"/>
              <a:ext cx="974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Flash / Flex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07526" y="2728912"/>
              <a:ext cx="33878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编程环境强大，Flash Player 小、下载快，装机率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05525" y="2606992"/>
              <a:ext cx="5543550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01347" y="2835592"/>
              <a:ext cx="43280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Adobe 已于 2020 年底停止支持，主流浏览器都已移除 Flash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365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3372802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07526" y="3372802"/>
              <a:ext cx="2383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Eclipse 的标准窗口小部件工具包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01347" y="3372802"/>
              <a:ext cx="3480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仍在维护，Eclipse IDE 自己的界面就是用它写的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661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670935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3909060"/>
              <a:ext cx="587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JavaFX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07526" y="39090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原课件未提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01347" y="3802380"/>
              <a:ext cx="50109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 之后官方推出的界面库，Java 11 起从 JDK 拆出，由 OpenJFX 单独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10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4446270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07526" y="44462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本章主角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105525" y="4324350"/>
              <a:ext cx="554355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01347" y="4446270"/>
              <a:ext cx="5372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仍在 JDK 的 java.desktop 模块里，本讲义的示例都在 JDK 21 上实编实跑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11125200" cy="3221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197418" y="1524000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91238" y="1524000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rd-2"/>
          <p:cNvGrpSpPr/>
          <p:nvPr/>
        </p:nvGrpSpPr>
        <p:grpSpPr>
          <a:xfrm>
            <a:off x="533400" y="4930140"/>
            <a:ext cx="11125200" cy="1432560"/>
            <a:chOff x="533400" y="4930140"/>
            <a:chExt cx="11125200" cy="1432560"/>
          </a:xfrm>
        </p:grpSpPr>
        <p:sp>
          <p:nvSpPr>
            <p:cNvPr id="39" name="Rectangle 39"/>
            <p:cNvSpPr/>
            <p:nvPr/>
          </p:nvSpPr>
          <p:spPr>
            <a:xfrm>
              <a:off x="533400" y="4930140"/>
              <a:ext cx="11125200" cy="1432560"/>
            </a:xfrm>
            <a:prstGeom prst="roundRect">
              <a:avLst>
                <a:gd name="adj" fmla="val 9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5063490"/>
              <a:ext cx="47625" cy="11658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5335" y="51339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5543" y="5169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76744" y="5174456"/>
              <a:ext cx="4059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原课件这页写于 Flash 和 Applet 还流行的年代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8096" y="5525929"/>
              <a:ext cx="102577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在浏览器里跑 Java 小程序这条路已经走不通。今天学 Swing，一是为了写桌面工具，二是为了掌握组件、布局、事件这套模型，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同样的思路在 JavaFX 和 Android 的界面编程里也能见到。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92498" cy="909257"/>
            <a:chOff x="520446" y="342900"/>
            <a:chExt cx="81924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32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1897" y="407194"/>
              <a:ext cx="2456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5.1 GUI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924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GUI 组件类层次：Swing 顶层容器是 AWT 窗口的子类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ree-1"/>
          <p:cNvGrpSpPr/>
          <p:nvPr/>
        </p:nvGrpSpPr>
        <p:grpSpPr>
          <a:xfrm>
            <a:off x="533400" y="1633538"/>
            <a:ext cx="11125200" cy="1885950"/>
            <a:chOff x="533400" y="1633538"/>
            <a:chExt cx="11125200" cy="1885950"/>
          </a:xfrm>
        </p:grpSpPr>
        <p:sp>
          <p:nvSpPr>
            <p:cNvPr id="7" name="Freeform 7"/>
            <p:cNvSpPr/>
            <p:nvPr/>
          </p:nvSpPr>
          <p:spPr>
            <a:xfrm>
              <a:off x="9927908" y="178689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927908" y="231362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558088" y="1786890"/>
              <a:ext cx="419100" cy="262890"/>
            </a:xfrm>
            <a:custGeom>
              <a:avLst/>
              <a:gdLst/>
              <a:ahLst/>
              <a:cxnLst/>
              <a:rect l="l" t="t" r="r" b="b"/>
              <a:pathLst>
                <a:path w="419100" h="262890">
                  <a:moveTo>
                    <a:pt x="0" y="262890"/>
                  </a:moveTo>
                  <a:lnTo>
                    <a:pt x="209550" y="26289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558088" y="2049780"/>
              <a:ext cx="419100" cy="263843"/>
            </a:xfrm>
            <a:custGeom>
              <a:avLst/>
              <a:gdLst/>
              <a:ahLst/>
              <a:cxnLst/>
              <a:rect l="l" t="t" r="r" b="b"/>
              <a:pathLst>
                <a:path w="419100" h="263843">
                  <a:moveTo>
                    <a:pt x="0" y="0"/>
                  </a:moveTo>
                  <a:lnTo>
                    <a:pt x="209550" y="0"/>
                  </a:lnTo>
                  <a:lnTo>
                    <a:pt x="209550" y="263843"/>
                  </a:lnTo>
                  <a:lnTo>
                    <a:pt x="419100" y="26384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927908" y="283940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558088" y="283940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558088" y="336613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587365" y="2049780"/>
              <a:ext cx="419100" cy="658178"/>
            </a:xfrm>
            <a:custGeom>
              <a:avLst/>
              <a:gdLst/>
              <a:ahLst/>
              <a:cxnLst/>
              <a:rect l="l" t="t" r="r" b="b"/>
              <a:pathLst>
                <a:path w="419100" h="658178">
                  <a:moveTo>
                    <a:pt x="0" y="658178"/>
                  </a:moveTo>
                  <a:lnTo>
                    <a:pt x="209550" y="65817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587365" y="2707958"/>
              <a:ext cx="419100" cy="131445"/>
            </a:xfrm>
            <a:custGeom>
              <a:avLst/>
              <a:gdLst/>
              <a:ahLst/>
              <a:cxnLst/>
              <a:rect l="l" t="t" r="r" b="b"/>
              <a:pathLst>
                <a:path w="419100" h="131445">
                  <a:moveTo>
                    <a:pt x="0" y="0"/>
                  </a:moveTo>
                  <a:lnTo>
                    <a:pt x="209550" y="0"/>
                  </a:lnTo>
                  <a:lnTo>
                    <a:pt x="209550" y="131445"/>
                  </a:lnTo>
                  <a:lnTo>
                    <a:pt x="419100" y="13144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587365" y="2707958"/>
              <a:ext cx="419100" cy="658177"/>
            </a:xfrm>
            <a:custGeom>
              <a:avLst/>
              <a:gdLst/>
              <a:ahLst/>
              <a:cxnLst/>
              <a:rect l="l" t="t" r="r" b="b"/>
              <a:pathLst>
                <a:path w="419100" h="658177">
                  <a:moveTo>
                    <a:pt x="0" y="0"/>
                  </a:moveTo>
                  <a:lnTo>
                    <a:pt x="209550" y="0"/>
                  </a:lnTo>
                  <a:lnTo>
                    <a:pt x="209550" y="658177"/>
                  </a:lnTo>
                  <a:lnTo>
                    <a:pt x="419100" y="65817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730942" y="270795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23085" y="270795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347008" y="1633538"/>
              <a:ext cx="1311592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977188" y="1633538"/>
              <a:ext cx="1951672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347008" y="2159318"/>
              <a:ext cx="1311592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977188" y="2159318"/>
              <a:ext cx="1951672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06465" y="1896428"/>
              <a:ext cx="1551622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347008" y="2686050"/>
              <a:ext cx="1311592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977188" y="2686050"/>
              <a:ext cx="1951672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06465" y="2686050"/>
              <a:ext cx="1551622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977188" y="3211830"/>
              <a:ext cx="1951672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06465" y="3211830"/>
              <a:ext cx="1551622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150042" y="2554605"/>
              <a:ext cx="1437322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242185" y="2554605"/>
              <a:ext cx="1488758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2554605"/>
              <a:ext cx="1289685" cy="307658"/>
            </a:xfrm>
            <a:prstGeom prst="roundRect">
              <a:avLst>
                <a:gd name="adj" fmla="val 3096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437495" y="1724025"/>
              <a:ext cx="441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67675" y="1724025"/>
              <a:ext cx="3890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Frame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37495" y="2250758"/>
              <a:ext cx="421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JDialog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67675" y="2250758"/>
              <a:ext cx="3690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Dialog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96952" y="1986915"/>
              <a:ext cx="4525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Window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37495" y="2776538"/>
              <a:ext cx="4527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JApplet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67675" y="2776538"/>
              <a:ext cx="4011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Applet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96952" y="2776538"/>
              <a:ext cx="331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Panel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67675" y="3303270"/>
              <a:ext cx="11392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JPanel、JButton 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96952" y="3303270"/>
              <a:ext cx="7428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JComponent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40530" y="2645092"/>
              <a:ext cx="6112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Container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32672" y="2645092"/>
              <a:ext cx="6688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3888" y="2645092"/>
              <a:ext cx="4268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</p:grpSp>
      <p:grpSp>
        <p:nvGrpSpPr>
          <p:cNvPr id="65" name="c1-table-2"/>
          <p:cNvGrpSpPr/>
          <p:nvPr/>
        </p:nvGrpSpPr>
        <p:grpSpPr>
          <a:xfrm>
            <a:off x="533400" y="3793808"/>
            <a:ext cx="11125200" cy="1906905"/>
            <a:chOff x="533400" y="3793808"/>
            <a:chExt cx="11125200" cy="1906905"/>
          </a:xfrm>
        </p:grpSpPr>
        <p:sp>
          <p:nvSpPr>
            <p:cNvPr id="46" name="Rectangle 46"/>
            <p:cNvSpPr/>
            <p:nvPr/>
          </p:nvSpPr>
          <p:spPr>
            <a:xfrm>
              <a:off x="533400" y="3793808"/>
              <a:ext cx="11125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387792" y="39109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0392" y="39109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42925" y="4184332"/>
              <a:ext cx="198310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8078" y="429291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重量级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30234" y="4292918"/>
              <a:ext cx="60483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JFrame、JDialog、JApplet 继承 AWT 的 Frame、Dialog、Applet，是依赖本地窗口的顶层容器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5519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4556760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8078" y="467391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轻量级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30234" y="4673918"/>
              <a:ext cx="42858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 Swing 组件都继承 JComponent，由 Java 自己画在顶层容器里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49329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8078" y="5054918"/>
              <a:ext cx="712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Container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30234" y="5054918"/>
              <a:ext cx="5877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容器本身也是 Component，所以容器里能装容器；每个容器配一个 LayoutManager 摆放组件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53149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3400" y="531971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8078" y="54368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辅助类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630234" y="5436870"/>
              <a:ext cx="5462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Color、Font、Graphics、Dimension、FontMetrics 直接继承 Object，不在这棵树上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3793808"/>
              <a:ext cx="11125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2530792" y="379380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6" name="Rectangle 6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87562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 Swing 类是不是重量级，看它是否继承 AWT 的 Window 或 Applet。其中 JApplet、Applet 已标记为待删除。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32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1897" y="407194"/>
              <a:ext cx="2456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5.1 GUI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按用途分，组件有容器类、控件类、辅助类三种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6059805" cy="2928938"/>
            <a:chOff x="533400" y="1524000"/>
            <a:chExt cx="6059805" cy="29289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94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358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809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10868" y="222170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用来包含其他组件的容器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34028" y="2108359"/>
              <a:ext cx="21993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JFrame、JApplet、JDialog、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059805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01037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控件类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0868" y="2897029"/>
              <a:ext cx="20124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都是抽象类 JComponent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子类，直接和用户交互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34028" y="2783681"/>
              <a:ext cx="225628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JButton、JTextField、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JTextArea、JComboBox、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JList、JRadioButton、JMenu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61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91239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辅助类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10868" y="3685699"/>
              <a:ext cx="19636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描述和绘制组件的属性与摆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放：图形环境、颜色、字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体、大小、位置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34028" y="3685699"/>
              <a:ext cx="206933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Graphics、Color、Font、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FontMetrics、Dimension、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LayoutManager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059805" cy="29289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498282" y="1524000"/>
              <a:ext cx="9525" cy="29289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921442" y="1524000"/>
              <a:ext cx="9525" cy="29289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643438"/>
            <a:ext cx="6059805" cy="782955"/>
            <a:chOff x="533400" y="4643438"/>
            <a:chExt cx="6059805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4643438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934903"/>
              <a:ext cx="200026" cy="200026"/>
              <a:chOff x="738188" y="4934903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9349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0015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0349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792028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 按用途归容器类，按继承却和 JButton 一样是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JComponent 的子类。两种分法看的角度不同，不矛盾。</a:t>
              </a:r>
            </a:p>
          </p:txBody>
        </p:sp>
      </p:grpSp>
      <p:grpSp>
        <p:nvGrpSpPr>
          <p:cNvPr id="60" name="c2-tree-1"/>
          <p:cNvGrpSpPr/>
          <p:nvPr/>
        </p:nvGrpSpPr>
        <p:grpSpPr>
          <a:xfrm>
            <a:off x="6898005" y="1742122"/>
            <a:ext cx="4760595" cy="2590800"/>
            <a:chOff x="6898005" y="1742122"/>
            <a:chExt cx="4760595" cy="2590800"/>
          </a:xfrm>
        </p:grpSpPr>
        <p:sp>
          <p:nvSpPr>
            <p:cNvPr id="34" name="Freeform 34"/>
            <p:cNvSpPr/>
            <p:nvPr/>
          </p:nvSpPr>
          <p:spPr>
            <a:xfrm>
              <a:off x="9098280" y="190214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98280" y="265938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98280" y="341566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098280" y="417290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788592" y="1902142"/>
              <a:ext cx="419100" cy="1135380"/>
            </a:xfrm>
            <a:custGeom>
              <a:avLst/>
              <a:gdLst/>
              <a:ahLst/>
              <a:cxnLst/>
              <a:rect l="l" t="t" r="r" b="b"/>
              <a:pathLst>
                <a:path w="419100" h="1135380">
                  <a:moveTo>
                    <a:pt x="0" y="1135380"/>
                  </a:moveTo>
                  <a:lnTo>
                    <a:pt x="209550" y="113538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788592" y="2659380"/>
              <a:ext cx="419100" cy="378142"/>
            </a:xfrm>
            <a:custGeom>
              <a:avLst/>
              <a:gdLst/>
              <a:ahLst/>
              <a:cxnLst/>
              <a:rect l="l" t="t" r="r" b="b"/>
              <a:pathLst>
                <a:path w="419100" h="378142">
                  <a:moveTo>
                    <a:pt x="0" y="378142"/>
                  </a:moveTo>
                  <a:lnTo>
                    <a:pt x="209550" y="37814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788592" y="3037522"/>
              <a:ext cx="419100" cy="378143"/>
            </a:xfrm>
            <a:custGeom>
              <a:avLst/>
              <a:gdLst/>
              <a:ahLst/>
              <a:cxnLst/>
              <a:rect l="l" t="t" r="r" b="b"/>
              <a:pathLst>
                <a:path w="419100" h="378143">
                  <a:moveTo>
                    <a:pt x="0" y="0"/>
                  </a:moveTo>
                  <a:lnTo>
                    <a:pt x="209550" y="0"/>
                  </a:lnTo>
                  <a:lnTo>
                    <a:pt x="209550" y="378143"/>
                  </a:lnTo>
                  <a:lnTo>
                    <a:pt x="419100" y="37814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788592" y="3037522"/>
              <a:ext cx="419100" cy="1135380"/>
            </a:xfrm>
            <a:custGeom>
              <a:avLst/>
              <a:gdLst/>
              <a:ahLst/>
              <a:cxnLst/>
              <a:rect l="l" t="t" r="r" b="b"/>
              <a:pathLst>
                <a:path w="419100" h="1135380">
                  <a:moveTo>
                    <a:pt x="0" y="0"/>
                  </a:moveTo>
                  <a:lnTo>
                    <a:pt x="209550" y="0"/>
                  </a:lnTo>
                  <a:lnTo>
                    <a:pt x="209550" y="1135380"/>
                  </a:lnTo>
                  <a:lnTo>
                    <a:pt x="419100" y="113538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517380" y="1742122"/>
              <a:ext cx="2141220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207692" y="1742122"/>
              <a:ext cx="890588" cy="320992"/>
            </a:xfrm>
            <a:prstGeom prst="roundRect">
              <a:avLst>
                <a:gd name="adj" fmla="val 29674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517380" y="2498408"/>
              <a:ext cx="2141220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207692" y="2498408"/>
              <a:ext cx="890588" cy="320992"/>
            </a:xfrm>
            <a:prstGeom prst="roundRect">
              <a:avLst>
                <a:gd name="adj" fmla="val 29674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517380" y="3255645"/>
              <a:ext cx="2141220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207692" y="3255645"/>
              <a:ext cx="890588" cy="320992"/>
            </a:xfrm>
            <a:prstGeom prst="roundRect">
              <a:avLst>
                <a:gd name="adj" fmla="val 29674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517380" y="4011930"/>
              <a:ext cx="2141220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207692" y="4011930"/>
              <a:ext cx="890588" cy="320992"/>
            </a:xfrm>
            <a:prstGeom prst="roundRect">
              <a:avLst>
                <a:gd name="adj" fmla="val 29674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98005" y="2877502"/>
              <a:ext cx="890588" cy="320992"/>
            </a:xfrm>
            <a:prstGeom prst="roundRect">
              <a:avLst>
                <a:gd name="adj" fmla="val 2967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607677" y="1834039"/>
              <a:ext cx="10613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JFrame、JDialog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97990" y="18340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顶层容器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07677" y="2591276"/>
              <a:ext cx="12953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JPanel、JScrollPane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97990" y="25912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中间容器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07677" y="3347561"/>
              <a:ext cx="1870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JButton、JLabel、JTextField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97990" y="334756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基本控件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07677" y="4104799"/>
              <a:ext cx="1879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Color、Font、LayoutManager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97990" y="41047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辅助类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88302" y="296941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一个窗口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898005" y="4741545"/>
            <a:ext cx="4760595" cy="1621155"/>
            <a:chOff x="6898005" y="4741545"/>
            <a:chExt cx="4760595" cy="1621155"/>
          </a:xfrm>
        </p:grpSpPr>
        <p:sp>
          <p:nvSpPr>
            <p:cNvPr id="61" name="Rectangle 61"/>
            <p:cNvSpPr/>
            <p:nvPr/>
          </p:nvSpPr>
          <p:spPr>
            <a:xfrm>
              <a:off x="6898005" y="4741545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07530" y="487489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45655" y="495109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19112" y="49868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怎么用这三类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15325" y="498633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从外往里搭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38035" y="5347335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从顶层容器开始，往里放中间容器分组，再把控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件放进各组。辅助类不出现在界面上，只管颜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色、字体和摆放。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32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1897" y="407194"/>
              <a:ext cx="2456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5.1 GUI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控件类的继承树：同一支上的组件用法相同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ree-1"/>
          <p:cNvGrpSpPr/>
          <p:nvPr/>
        </p:nvGrpSpPr>
        <p:grpSpPr>
          <a:xfrm>
            <a:off x="533400" y="1532572"/>
            <a:ext cx="11125200" cy="2583181"/>
            <a:chOff x="533400" y="1532572"/>
            <a:chExt cx="11125200" cy="2583181"/>
          </a:xfrm>
        </p:grpSpPr>
        <p:sp>
          <p:nvSpPr>
            <p:cNvPr id="7" name="Freeform 7"/>
            <p:cNvSpPr/>
            <p:nvPr/>
          </p:nvSpPr>
          <p:spPr>
            <a:xfrm>
              <a:off x="8383905" y="201168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383905" y="233648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879658" y="1686878"/>
              <a:ext cx="419100" cy="324802"/>
            </a:xfrm>
            <a:custGeom>
              <a:avLst/>
              <a:gdLst/>
              <a:ahLst/>
              <a:cxnLst/>
              <a:rect l="l" t="t" r="r" b="b"/>
              <a:pathLst>
                <a:path w="419100" h="324802">
                  <a:moveTo>
                    <a:pt x="0" y="324802"/>
                  </a:moveTo>
                  <a:lnTo>
                    <a:pt x="209550" y="32480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879658" y="201168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879658" y="2011680"/>
              <a:ext cx="419100" cy="324803"/>
            </a:xfrm>
            <a:custGeom>
              <a:avLst/>
              <a:gdLst/>
              <a:ahLst/>
              <a:cxnLst/>
              <a:rect l="l" t="t" r="r" b="b"/>
              <a:pathLst>
                <a:path w="419100" h="324803">
                  <a:moveTo>
                    <a:pt x="0" y="0"/>
                  </a:moveTo>
                  <a:lnTo>
                    <a:pt x="209550" y="0"/>
                  </a:lnTo>
                  <a:lnTo>
                    <a:pt x="209550" y="324803"/>
                  </a:lnTo>
                  <a:lnTo>
                    <a:pt x="419100" y="32480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383905" y="266128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8383905" y="331184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879658" y="2661285"/>
              <a:ext cx="419100" cy="325755"/>
            </a:xfrm>
            <a:custGeom>
              <a:avLst/>
              <a:gdLst/>
              <a:ahLst/>
              <a:cxnLst/>
              <a:rect l="l" t="t" r="r" b="b"/>
              <a:pathLst>
                <a:path w="419100" h="325755">
                  <a:moveTo>
                    <a:pt x="0" y="325755"/>
                  </a:moveTo>
                  <a:lnTo>
                    <a:pt x="209550" y="3257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879658" y="298704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79658" y="2987040"/>
              <a:ext cx="419100" cy="324802"/>
            </a:xfrm>
            <a:custGeom>
              <a:avLst/>
              <a:gdLst/>
              <a:ahLst/>
              <a:cxnLst/>
              <a:rect l="l" t="t" r="r" b="b"/>
              <a:pathLst>
                <a:path w="419100" h="324802">
                  <a:moveTo>
                    <a:pt x="0" y="0"/>
                  </a:moveTo>
                  <a:lnTo>
                    <a:pt x="209550" y="0"/>
                  </a:lnTo>
                  <a:lnTo>
                    <a:pt x="209550" y="324802"/>
                  </a:lnTo>
                  <a:lnTo>
                    <a:pt x="419100" y="32480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879658" y="3636645"/>
              <a:ext cx="419100" cy="162877"/>
            </a:xfrm>
            <a:custGeom>
              <a:avLst/>
              <a:gdLst/>
              <a:ahLst/>
              <a:cxnLst/>
              <a:rect l="l" t="t" r="r" b="b"/>
              <a:pathLst>
                <a:path w="419100" h="162877">
                  <a:moveTo>
                    <a:pt x="0" y="162877"/>
                  </a:moveTo>
                  <a:lnTo>
                    <a:pt x="209550" y="16287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879658" y="3799522"/>
              <a:ext cx="419100" cy="161925"/>
            </a:xfrm>
            <a:custGeom>
              <a:avLst/>
              <a:gdLst/>
              <a:ahLst/>
              <a:cxnLst/>
              <a:rect l="l" t="t" r="r" b="b"/>
              <a:pathLst>
                <a:path w="419100" h="161925">
                  <a:moveTo>
                    <a:pt x="0" y="0"/>
                  </a:moveTo>
                  <a:lnTo>
                    <a:pt x="209550" y="0"/>
                  </a:lnTo>
                  <a:lnTo>
                    <a:pt x="209550" y="161925"/>
                  </a:lnTo>
                  <a:lnTo>
                    <a:pt x="419100" y="1619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387918" y="2011680"/>
              <a:ext cx="419100" cy="893445"/>
            </a:xfrm>
            <a:custGeom>
              <a:avLst/>
              <a:gdLst/>
              <a:ahLst/>
              <a:cxnLst/>
              <a:rect l="l" t="t" r="r" b="b"/>
              <a:pathLst>
                <a:path w="419100" h="893445">
                  <a:moveTo>
                    <a:pt x="0" y="893445"/>
                  </a:moveTo>
                  <a:lnTo>
                    <a:pt x="209550" y="89344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387918" y="2905125"/>
              <a:ext cx="419100" cy="81915"/>
            </a:xfrm>
            <a:custGeom>
              <a:avLst/>
              <a:gdLst/>
              <a:ahLst/>
              <a:cxnLst/>
              <a:rect l="l" t="t" r="r" b="b"/>
              <a:pathLst>
                <a:path w="419100" h="81915">
                  <a:moveTo>
                    <a:pt x="0" y="0"/>
                  </a:moveTo>
                  <a:lnTo>
                    <a:pt x="209550" y="0"/>
                  </a:lnTo>
                  <a:lnTo>
                    <a:pt x="209550" y="81915"/>
                  </a:lnTo>
                  <a:lnTo>
                    <a:pt x="419100" y="819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387918" y="2905125"/>
              <a:ext cx="419100" cy="894397"/>
            </a:xfrm>
            <a:custGeom>
              <a:avLst/>
              <a:gdLst/>
              <a:ahLst/>
              <a:cxnLst/>
              <a:rect l="l" t="t" r="r" b="b"/>
              <a:pathLst>
                <a:path w="419100" h="894397">
                  <a:moveTo>
                    <a:pt x="0" y="0"/>
                  </a:moveTo>
                  <a:lnTo>
                    <a:pt x="209550" y="0"/>
                  </a:lnTo>
                  <a:lnTo>
                    <a:pt x="209550" y="894397"/>
                  </a:lnTo>
                  <a:lnTo>
                    <a:pt x="419100" y="89439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298758" y="1532572"/>
              <a:ext cx="30841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803005" y="1857375"/>
              <a:ext cx="28555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298758" y="1857375"/>
              <a:ext cx="3084195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803005" y="2183130"/>
              <a:ext cx="28555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298758" y="2183130"/>
              <a:ext cx="3084195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807018" y="1857375"/>
              <a:ext cx="2072640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803005" y="2507932"/>
              <a:ext cx="28555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298758" y="2507932"/>
              <a:ext cx="3084195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298758" y="2832735"/>
              <a:ext cx="30841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803005" y="3157538"/>
              <a:ext cx="28555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298758" y="3157538"/>
              <a:ext cx="3084195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807018" y="2832735"/>
              <a:ext cx="2072640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298758" y="3483292"/>
              <a:ext cx="30841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298758" y="3808095"/>
              <a:ext cx="30841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07018" y="3645218"/>
              <a:ext cx="2072640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2751772"/>
              <a:ext cx="1854518" cy="307658"/>
            </a:xfrm>
            <a:prstGeom prst="roundRect">
              <a:avLst>
                <a:gd name="adj" fmla="val 3096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89245" y="1624012"/>
              <a:ext cx="483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JButton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93492" y="1948815"/>
              <a:ext cx="15219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JCheckBox、JRadioButton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89245" y="1948815"/>
              <a:ext cx="8987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JToggleButton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93492" y="2273618"/>
              <a:ext cx="18244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JMenu、JCheckBoxMenuItem 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89245" y="2273618"/>
              <a:ext cx="6705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JMenuItem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97505" y="1948815"/>
              <a:ext cx="997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AbstractButton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93492" y="2598420"/>
              <a:ext cx="916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JPasswordField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89245" y="2598420"/>
              <a:ext cx="6564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JTextField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89245" y="2924175"/>
              <a:ext cx="620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JTextArea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93492" y="3248978"/>
              <a:ext cx="620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JTextPane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89245" y="3248978"/>
              <a:ext cx="7587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JEditorPane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897505" y="2924175"/>
              <a:ext cx="10267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JTextComponent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89245" y="3573780"/>
              <a:ext cx="20714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JLabel、JList、JComboBox、JPanel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89245" y="3898582"/>
              <a:ext cx="19482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JScrollPane、JMenuBar、JTable…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897505" y="3736658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其他直接子类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3888" y="2842260"/>
              <a:ext cx="7428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JComponent</a:t>
              </a:r>
            </a:p>
          </p:txBody>
        </p:sp>
      </p:grpSp>
      <p:grpSp>
        <p:nvGrpSpPr>
          <p:cNvPr id="70" name="c1-compare-2"/>
          <p:cNvGrpSpPr/>
          <p:nvPr/>
        </p:nvGrpSpPr>
        <p:grpSpPr>
          <a:xfrm>
            <a:off x="533400" y="4299585"/>
            <a:ext cx="11125200" cy="2063115"/>
            <a:chOff x="533400" y="4299585"/>
            <a:chExt cx="11125200" cy="2063115"/>
          </a:xfrm>
        </p:grpSpPr>
        <p:sp>
          <p:nvSpPr>
            <p:cNvPr id="55" name="Rectangle 55"/>
            <p:cNvSpPr/>
            <p:nvPr/>
          </p:nvSpPr>
          <p:spPr>
            <a:xfrm>
              <a:off x="533400" y="4299585"/>
              <a:ext cx="5353050" cy="2063115"/>
            </a:xfrm>
            <a:prstGeom prst="roundRect">
              <a:avLst>
                <a:gd name="adj" fmla="val 646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8947" y="451389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看继承树能省事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34378" y="489013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90397" y="4833937"/>
              <a:ext cx="37170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addActionListener、setText、setIcon 定义在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AbstractButton 里，JButton、JCheckBox、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JRadioButton、JMenuItem 用法几乎一样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4378" y="570738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90397" y="5651183"/>
              <a:ext cx="31941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getText、setText、setEditable 定义在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JTextComponent 里，三种文本组件共用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305550" y="4299585"/>
              <a:ext cx="5353050" cy="2063115"/>
            </a:xfrm>
            <a:prstGeom prst="roundRect">
              <a:avLst>
                <a:gd name="adj" fmla="val 64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315075" y="4432935"/>
              <a:ext cx="47625" cy="17964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29197" y="451389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原课件图里没画的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544628" y="489013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00647" y="4833937"/>
              <a:ext cx="44199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JTextPane 继承 JEditorPane（JDK 21 反射核对），原课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件的图只画到 JEditorPane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544628" y="54502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00647" y="5394008"/>
              <a:ext cx="42913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JMenu 是 JMenuItem 的子类，所以菜单能放进另一个菜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单，成为子菜单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934075" y="516921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10546" y="527065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469130" cy="2643187"/>
            <a:chOff x="667512" y="1835468"/>
            <a:chExt cx="4469130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673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 常用组件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先有窗口，再往里放标签、面板和按钮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2298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 是顶层容器，组件放在它的内容面板上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412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JLabel 只负责显示，JPanel 负责分组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47046" cy="909257"/>
            <a:chOff x="520446" y="342900"/>
            <a:chExt cx="71470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 常用组件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470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JFrame：顶层窗口，关闭按钮的行为要自己定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613535"/>
            <a:chOff x="533400" y="1524000"/>
            <a:chExt cx="5410200" cy="16135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1916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820" y="1763554"/>
              <a:ext cx="775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JFrame 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1559" y="176736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顶层容器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4959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继承链：Object → Component → Container → Window →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Frame →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JFrame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40266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构造方法：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JFrame()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JFrame(String title)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3322320"/>
            <a:ext cx="5410200" cy="3011805"/>
            <a:chOff x="533400" y="3322320"/>
            <a:chExt cx="5410200" cy="3011805"/>
          </a:xfrm>
        </p:grpSpPr>
        <p:sp>
          <p:nvSpPr>
            <p:cNvPr id="15" name="Rectangle 15"/>
            <p:cNvSpPr/>
            <p:nvPr/>
          </p:nvSpPr>
          <p:spPr>
            <a:xfrm>
              <a:off x="533400" y="3322320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11058" y="34537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7702" y="34537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8746" y="3884295"/>
              <a:ext cx="1388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setTitle(String)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52432" y="38842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设置标题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1786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18338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4313872"/>
              <a:ext cx="1757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setSize(int w, int h)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52432" y="431387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设置宽和高（像素）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6081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4744402"/>
              <a:ext cx="2096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setLocation(int x, int y)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52432" y="474440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窗口左上角在屏幕上的位置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0387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504348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5174932"/>
              <a:ext cx="1620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setVisible(boolean)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52432" y="517493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显示或隐藏窗口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4683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5604510"/>
              <a:ext cx="15169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getContentPane()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52432" y="56045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取得内容面板，组件放在它上面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898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90359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8746" y="6035040"/>
              <a:ext cx="25981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setDefaultCloseOperation(int)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52432" y="603504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点关闭按钮时做什么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322320"/>
              <a:ext cx="5410200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342322" y="332232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table-1"/>
          <p:cNvGrpSpPr/>
          <p:nvPr/>
        </p:nvGrpSpPr>
        <p:grpSpPr>
          <a:xfrm>
            <a:off x="6248400" y="1524000"/>
            <a:ext cx="5410200" cy="2577465"/>
            <a:chOff x="6248400" y="1524000"/>
            <a:chExt cx="5410200" cy="2577465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7138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58047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69614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点关闭按钮后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53747" y="2191702"/>
              <a:ext cx="1983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DO_NOTHING_ON_CLOSE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34044" y="219170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67432" y="2085022"/>
              <a:ext cx="18257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什么也不做，可用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WindowListener 自行处理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5927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2597468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53747" y="2835592"/>
              <a:ext cx="13205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HIDE_ON_CLOSE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34044" y="283559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071610" y="2606992"/>
              <a:ext cx="2577465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67432" y="2728912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隐藏窗口，程序继续运行（默认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2365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53747" y="3372802"/>
              <a:ext cx="1652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DISPOSE_ON_CLOSE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34044" y="337280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67432" y="337280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隐藏并释放窗口占用的资源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36661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367093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53747" y="3802380"/>
              <a:ext cx="13205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EXIT_ON_CLOSE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34044" y="38023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071610" y="3680460"/>
              <a:ext cx="257746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67432" y="3802380"/>
              <a:ext cx="2321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System.exit(0) 结束程序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1524000"/>
              <a:ext cx="5410200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623935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057322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rd-2"/>
          <p:cNvGrpSpPr/>
          <p:nvPr/>
        </p:nvGrpSpPr>
        <p:grpSpPr>
          <a:xfrm>
            <a:off x="6248400" y="4287202"/>
            <a:ext cx="5410200" cy="2046922"/>
            <a:chOff x="6248400" y="4287202"/>
            <a:chExt cx="5410200" cy="2046922"/>
          </a:xfrm>
        </p:grpSpPr>
        <p:sp>
          <p:nvSpPr>
            <p:cNvPr id="68" name="Rectangle 68"/>
            <p:cNvSpPr/>
            <p:nvPr/>
          </p:nvSpPr>
          <p:spPr>
            <a:xfrm>
              <a:off x="6248400" y="4287202"/>
              <a:ext cx="5410200" cy="2046922"/>
            </a:xfrm>
            <a:prstGeom prst="roundRect">
              <a:avLst>
                <a:gd name="adj" fmla="val 65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57925" y="4420552"/>
              <a:ext cx="47625" cy="178022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90335" y="449103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72644" y="45267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常见现象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75588" y="453056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关掉窗口，命令行却不返回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83096" y="4882039"/>
              <a:ext cx="474840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没调 setDefaultCloseOperation 时，关窗只是把窗口隐藏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了，程序还在运行。实测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JFrame()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的默认值是 1，即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HIDE_ON_CLOSE。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84239" y="5741670"/>
              <a:ext cx="3894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写桌面小程序时，主窗口一般设为 EXIT_ON_CLOSE。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91429" cy="909257"/>
            <a:chOff x="520446" y="342900"/>
            <a:chExt cx="51914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 常用组件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914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　四行代码弹出第一个窗口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304098"/>
            <a:chOff x="533400" y="1524000"/>
            <a:chExt cx="6059805" cy="23040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304098"/>
            </a:xfrm>
            <a:prstGeom prst="roundRect">
              <a:avLst>
                <a:gd name="adj" fmla="val 41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502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HelloSwing.java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503422" cy="18068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HelloSwing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设置窗口标题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JFrame frame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 Swing"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关闭窗口时结束程序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frame.setDefaultCloseOperation(JFrame.EXIT_ON_CLOSE);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frame.setSize(300, 100);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窗口大小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frame.setVisible(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窗口可见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graph-2"/>
          <p:cNvGrpSpPr/>
          <p:nvPr/>
        </p:nvGrpSpPr>
        <p:grpSpPr>
          <a:xfrm>
            <a:off x="1863090" y="4138612"/>
            <a:ext cx="3400425" cy="1068229"/>
            <a:chOff x="1863090" y="4138612"/>
            <a:chExt cx="3400425" cy="1068229"/>
          </a:xfrm>
        </p:grpSpPr>
        <p:sp>
          <p:nvSpPr>
            <p:cNvPr id="11" name="Rectangle 11"/>
            <p:cNvSpPr/>
            <p:nvPr/>
          </p:nvSpPr>
          <p:spPr>
            <a:xfrm>
              <a:off x="1863090" y="4138612"/>
              <a:ext cx="3400425" cy="291465"/>
            </a:xfrm>
            <a:prstGeom prst="roundRect">
              <a:avLst>
                <a:gd name="adj" fmla="val 3268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863090" y="4453890"/>
              <a:ext cx="3400425" cy="582930"/>
            </a:xfrm>
            <a:prstGeom prst="roundRect">
              <a:avLst>
                <a:gd name="adj" fmla="val 1634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70654" y="4228148"/>
              <a:ext cx="1985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 Swing　　　　　　　—　□　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34487" y="4689158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内容面板（空）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91183" y="5044916"/>
              <a:ext cx="2344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运行效果示意：300×100 像素，含标题栏和边框</a:t>
              </a:r>
            </a:p>
          </p:txBody>
        </p:sp>
      </p:grpSp>
      <p:grpSp>
        <p:nvGrpSpPr>
          <p:cNvPr id="22" name="c1-callout-3"/>
          <p:cNvGrpSpPr/>
          <p:nvPr/>
        </p:nvGrpSpPr>
        <p:grpSpPr>
          <a:xfrm>
            <a:off x="533400" y="5372100"/>
            <a:ext cx="6059805" cy="894398"/>
            <a:chOff x="533400" y="5372100"/>
            <a:chExt cx="6059805" cy="894398"/>
          </a:xfrm>
        </p:grpSpPr>
        <p:sp>
          <p:nvSpPr>
            <p:cNvPr id="17" name="Rectangle 17"/>
            <p:cNvSpPr/>
            <p:nvPr/>
          </p:nvSpPr>
          <p:spPr>
            <a:xfrm>
              <a:off x="533400" y="5372100"/>
              <a:ext cx="6059805" cy="894398"/>
            </a:xfrm>
            <a:prstGeom prst="roundRect">
              <a:avLst>
                <a:gd name="adj" fmla="val 1278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718812"/>
              <a:ext cx="200023" cy="200023"/>
              <a:chOff x="738188" y="5718812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7188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57854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1273" y="5612606"/>
              <a:ext cx="51254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main 执行完就返回了，程序却没有结束：窗口显示后，事件分派线程一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直在等待用户操作。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6898005" y="1533525"/>
            <a:ext cx="2827401" cy="2149412"/>
            <a:chOff x="6898005" y="1533525"/>
            <a:chExt cx="2827401" cy="2149412"/>
          </a:xfrm>
        </p:grpSpPr>
        <p:sp>
          <p:nvSpPr>
            <p:cNvPr id="23" name="Rectangle 23"/>
            <p:cNvSpPr/>
            <p:nvPr/>
          </p:nvSpPr>
          <p:spPr>
            <a:xfrm>
              <a:off x="703135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898005" y="208692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9162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898005" y="263937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9162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898005" y="319278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162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10628" y="1564481"/>
              <a:ext cx="2411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JFrame("Hello Swing")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11771" y="181832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创建窗口并设置标题，屏幕上还看不见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10628" y="2116931"/>
              <a:ext cx="23179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setDefaultCloseOperation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11771" y="237172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点关闭按钮时结束程序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10628" y="2670334"/>
              <a:ext cx="162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setSize(300, 100)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1771" y="2925128"/>
              <a:ext cx="1311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 300、高 100 像素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0628" y="3222784"/>
              <a:ext cx="14753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setVisible(true)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11771" y="3477578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窗口显示出来（实测大小 300×100）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898005" y="3844290"/>
            <a:ext cx="4760595" cy="2421255"/>
            <a:chOff x="6898005" y="3844290"/>
            <a:chExt cx="4760595" cy="2421255"/>
          </a:xfrm>
        </p:grpSpPr>
        <p:sp>
          <p:nvSpPr>
            <p:cNvPr id="41" name="Rectangle 41"/>
            <p:cNvSpPr/>
            <p:nvPr/>
          </p:nvSpPr>
          <p:spPr>
            <a:xfrm>
              <a:off x="6898005" y="3844290"/>
              <a:ext cx="4760595" cy="2421255"/>
            </a:xfrm>
            <a:prstGeom prst="roundRect">
              <a:avLst>
                <a:gd name="adj" fmla="val 55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07530" y="3977640"/>
              <a:ext cx="47625" cy="21545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17080" y="40252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08799" y="40581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83056" y="406574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更规范的启动写法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10603" y="4381976"/>
              <a:ext cx="40769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 组件不是线程安全的，官方建议在事件分派线程里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建界面（课堂示例直接在 main 里建，小程序一般也能运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行）：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117080" y="5132070"/>
              <a:ext cx="4360545" cy="937260"/>
            </a:xfrm>
            <a:prstGeom prst="roundRect">
              <a:avLst>
                <a:gd name="adj" fmla="val 1016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45477" y="528399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45668" y="5541407"/>
              <a:ext cx="3114739" cy="438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SwingUtilities.invokeLater(() -&gt;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JFrame frame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 Swing"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其余不变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});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7219" cy="909257"/>
            <a:chOff x="520446" y="342900"/>
            <a:chExt cx="72572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 常用组件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72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 的内部分层：组件其实放在内容面板上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ree-1"/>
          <p:cNvGrpSpPr/>
          <p:nvPr/>
        </p:nvGrpSpPr>
        <p:grpSpPr>
          <a:xfrm>
            <a:off x="602932" y="1702118"/>
            <a:ext cx="4743450" cy="2692718"/>
            <a:chOff x="602932" y="1702118"/>
            <a:chExt cx="4743450" cy="2692718"/>
          </a:xfrm>
        </p:grpSpPr>
        <p:sp>
          <p:nvSpPr>
            <p:cNvPr id="7" name="Freeform 7"/>
            <p:cNvSpPr/>
            <p:nvPr/>
          </p:nvSpPr>
          <p:spPr>
            <a:xfrm>
              <a:off x="3022282" y="3429952"/>
              <a:ext cx="829627" cy="762000"/>
            </a:xfrm>
            <a:custGeom>
              <a:avLst/>
              <a:gdLst/>
              <a:ahLst/>
              <a:cxnLst/>
              <a:rect l="l" t="t" r="r" b="b"/>
              <a:pathLst>
                <a:path w="829627" h="762000">
                  <a:moveTo>
                    <a:pt x="829627" y="0"/>
                  </a:moveTo>
                  <a:lnTo>
                    <a:pt x="0" y="762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51910" y="3429952"/>
              <a:ext cx="829628" cy="762000"/>
            </a:xfrm>
            <a:custGeom>
              <a:avLst/>
              <a:gdLst/>
              <a:ahLst/>
              <a:cxnLst/>
              <a:rect l="l" t="t" r="r" b="b"/>
              <a:pathLst>
                <a:path w="829628" h="762000">
                  <a:moveTo>
                    <a:pt x="0" y="0"/>
                  </a:moveTo>
                  <a:lnTo>
                    <a:pt x="829628" y="762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63028" y="2667000"/>
              <a:ext cx="1659255" cy="762953"/>
            </a:xfrm>
            <a:custGeom>
              <a:avLst/>
              <a:gdLst/>
              <a:ahLst/>
              <a:cxnLst/>
              <a:rect l="l" t="t" r="r" b="b"/>
              <a:pathLst>
                <a:path w="1659255" h="762953">
                  <a:moveTo>
                    <a:pt x="1659255" y="0"/>
                  </a:moveTo>
                  <a:lnTo>
                    <a:pt x="0" y="762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22282" y="2667000"/>
              <a:ext cx="829627" cy="762953"/>
            </a:xfrm>
            <a:custGeom>
              <a:avLst/>
              <a:gdLst/>
              <a:ahLst/>
              <a:cxnLst/>
              <a:rect l="l" t="t" r="r" b="b"/>
              <a:pathLst>
                <a:path w="829627" h="762953">
                  <a:moveTo>
                    <a:pt x="0" y="0"/>
                  </a:moveTo>
                  <a:lnTo>
                    <a:pt x="829627" y="762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19050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2932" y="3226118"/>
              <a:ext cx="1520190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167890" y="3988118"/>
              <a:ext cx="1708785" cy="406718"/>
            </a:xfrm>
            <a:prstGeom prst="roundRect">
              <a:avLst>
                <a:gd name="adj" fmla="val 18735"/>
              </a:avLst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015740" y="3988118"/>
              <a:ext cx="1330642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285172" y="3226118"/>
              <a:ext cx="1133475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570798" y="2464118"/>
              <a:ext cx="902970" cy="406718"/>
            </a:xfrm>
            <a:prstGeom prst="roundRect">
              <a:avLst>
                <a:gd name="adj" fmla="val 1873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72715" y="1702118"/>
              <a:ext cx="70008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6735" y="3364230"/>
              <a:ext cx="1372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Glass Pane 玻璃面板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35676" y="4126230"/>
              <a:ext cx="1573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Content Pane 内容面板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92833" y="4126230"/>
              <a:ext cx="1177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JMenuBar 菜单栏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49864" y="3364230"/>
              <a:ext cx="1004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JLayeredPane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42682" y="2602230"/>
              <a:ext cx="759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JRootPane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52315" y="1840230"/>
              <a:ext cx="539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758690"/>
            <a:ext cx="4977765" cy="1265872"/>
            <a:chOff x="533400" y="4758690"/>
            <a:chExt cx="4977765" cy="1265872"/>
          </a:xfrm>
        </p:grpSpPr>
        <p:sp>
          <p:nvSpPr>
            <p:cNvPr id="25" name="Rectangle 25"/>
            <p:cNvSpPr/>
            <p:nvPr/>
          </p:nvSpPr>
          <p:spPr>
            <a:xfrm>
              <a:off x="533400" y="4758690"/>
              <a:ext cx="4977765" cy="1265872"/>
            </a:xfrm>
            <a:prstGeom prst="roundRect">
              <a:avLst>
                <a:gd name="adj" fmla="val 90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291138"/>
              <a:ext cx="200026" cy="200026"/>
              <a:chOff x="738188" y="529113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2911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3578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3911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5028724"/>
              <a:ext cx="404507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原课件用一张叠放图表示：最底下是 Frame，往上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依次是 Root Pane、Layered Pane，最上层是透明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Glass Pane。</a:t>
              </a:r>
            </a:p>
          </p:txBody>
        </p:sp>
      </p:grpSp>
      <p:grpSp>
        <p:nvGrpSpPr>
          <p:cNvPr id="46" name="c2-kv-1"/>
          <p:cNvGrpSpPr/>
          <p:nvPr/>
        </p:nvGrpSpPr>
        <p:grpSpPr>
          <a:xfrm>
            <a:off x="5808726" y="1547336"/>
            <a:ext cx="5849874" cy="2500885"/>
            <a:chOff x="5808726" y="1547336"/>
            <a:chExt cx="5849874" cy="2500885"/>
          </a:xfrm>
        </p:grpSpPr>
        <p:sp>
          <p:nvSpPr>
            <p:cNvPr id="32" name="TextBox 32"/>
            <p:cNvSpPr txBox="1"/>
            <p:nvPr/>
          </p:nvSpPr>
          <p:spPr>
            <a:xfrm>
              <a:off x="5808726" y="1547336"/>
              <a:ext cx="10267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JRootPane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7491" y="1547336"/>
              <a:ext cx="3239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根面板，JFrame 里唯一的直接子组件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185356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8726" y="1969294"/>
              <a:ext cx="10306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Glass Pane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57491" y="1969294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盖在最上层的透明面板，默认不可见，可用来拦截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鼠标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25431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08726" y="2658904"/>
              <a:ext cx="13579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JLayeredPane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57491" y="265890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分层面板，管理内容面板和菜单栏的叠放次序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29641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08726" y="3079909"/>
              <a:ext cx="13021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Content Pane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57491" y="3079909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内容面板，我们的组件都放在这里；默认布局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6537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08726" y="3769519"/>
              <a:ext cx="9573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JMenuBar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57491" y="3769519"/>
              <a:ext cx="42339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菜单栏，用 setJMenuBar() 挂上去；默认为 null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5815965" y="4177665"/>
            <a:ext cx="5842635" cy="1845945"/>
            <a:chOff x="5815965" y="4177665"/>
            <a:chExt cx="5842635" cy="1845945"/>
          </a:xfrm>
        </p:grpSpPr>
        <p:sp>
          <p:nvSpPr>
            <p:cNvPr id="47" name="Rectangle 47"/>
            <p:cNvSpPr/>
            <p:nvPr/>
          </p:nvSpPr>
          <p:spPr>
            <a:xfrm>
              <a:off x="5815965" y="4177665"/>
              <a:ext cx="5842635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25490" y="4311015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57900" y="43815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48108" y="44172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58356" y="4421981"/>
              <a:ext cx="21263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会自动转给内容面板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50661" y="4773454"/>
              <a:ext cx="512711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5 起，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frame.add(c)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frame.setLayout(m)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都会转交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给内容面板。实测给 JFrame add 一个按钮后，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getContentPane().getComponentCount()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为 1。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51804" y="5632132"/>
              <a:ext cx="4881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原课件多写成 getContentPane().add(...)，两种写法效果相同。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8347" cy="909257"/>
            <a:chOff x="520446" y="342900"/>
            <a:chExt cx="76683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 常用组件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83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JLabel：显示一段文字或一个图标，用户不能编辑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6923" y="1545431"/>
            <a:ext cx="5632895" cy="622744"/>
            <a:chOff x="526923" y="1545431"/>
            <a:chExt cx="5632895" cy="62274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继承链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2256" y="1545431"/>
              <a:ext cx="4615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 → Component → Container → JComponent → JLabel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173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19188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82256" y="191881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显示不可编辑的文字、图标或两者组合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283142"/>
            <a:ext cx="5626418" cy="1257300"/>
            <a:chOff x="533400" y="2283142"/>
            <a:chExt cx="5626418" cy="1257300"/>
          </a:xfrm>
        </p:grpSpPr>
        <p:sp>
          <p:nvSpPr>
            <p:cNvPr id="13" name="Rectangle 13"/>
            <p:cNvSpPr/>
            <p:nvPr/>
          </p:nvSpPr>
          <p:spPr>
            <a:xfrm>
              <a:off x="533400" y="2283142"/>
              <a:ext cx="5626418" cy="1257300"/>
            </a:xfrm>
            <a:prstGeom prst="roundRect">
              <a:avLst>
                <a:gd name="adj" fmla="val 7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24350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构造方法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88" y="2694146"/>
              <a:ext cx="3159760" cy="760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JLabel(String text)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JLabel(Icon icon)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JLabel(String text,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horizontalAlignment)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JLabel(Icon icon,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horizontalAlignment)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JLabel(String text, Icon icon,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horizontalAlignment)</a:t>
              </a:r>
            </a:p>
          </p:txBody>
        </p:sp>
      </p:grpSp>
      <p:grpSp>
        <p:nvGrpSpPr>
          <p:cNvPr id="38" name="c1-table-3"/>
          <p:cNvGrpSpPr/>
          <p:nvPr/>
        </p:nvGrpSpPr>
        <p:grpSpPr>
          <a:xfrm>
            <a:off x="533400" y="3705225"/>
            <a:ext cx="5626418" cy="2287905"/>
            <a:chOff x="533400" y="3705225"/>
            <a:chExt cx="5626418" cy="2287905"/>
          </a:xfrm>
        </p:grpSpPr>
        <p:sp>
          <p:nvSpPr>
            <p:cNvPr id="17" name="Rectangle 17"/>
            <p:cNvSpPr/>
            <p:nvPr/>
          </p:nvSpPr>
          <p:spPr>
            <a:xfrm>
              <a:off x="533400" y="3705225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33194" y="382238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成员方法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88230" y="38223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078" y="4204335"/>
              <a:ext cx="1913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setText(String text)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03738" y="42043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改文字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4634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468178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4585335"/>
              <a:ext cx="12532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getText()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03738" y="45853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取文字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8444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4967288"/>
              <a:ext cx="16753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setIcon(Icon icon)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03738" y="49672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改图标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2263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231130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5348288"/>
              <a:ext cx="26217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setHorizontalTextPosition(int)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03738" y="534828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文字在图标的左侧还是右侧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6073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5729288"/>
              <a:ext cx="24585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setVerticalTextPosition(int)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03738" y="572928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文字在图标的上方还是下方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705225"/>
              <a:ext cx="5626418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904298" y="370522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kv-1"/>
          <p:cNvGrpSpPr/>
          <p:nvPr/>
        </p:nvGrpSpPr>
        <p:grpSpPr>
          <a:xfrm>
            <a:off x="6458141" y="1545431"/>
            <a:ext cx="5200459" cy="1102804"/>
            <a:chOff x="6458141" y="1545431"/>
            <a:chExt cx="5200459" cy="1102804"/>
          </a:xfrm>
        </p:grpSpPr>
        <p:sp>
          <p:nvSpPr>
            <p:cNvPr id="39" name="TextBox 39"/>
            <p:cNvSpPr txBox="1"/>
            <p:nvPr/>
          </p:nvSpPr>
          <p:spPr>
            <a:xfrm>
              <a:off x="6458141" y="15454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水平对齐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83018" y="1545431"/>
              <a:ext cx="3800602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SwingConstants.LEFT（2）、CENTER（0）、RIGHT</a:t>
              </a:r>
            </a:p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（4）、LEADING（10，JLabel(String) 的默认值）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05644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58141" y="21588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垂直位置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83018" y="2158841"/>
              <a:ext cx="397129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SwingConstants.TOP（1）、CENTER（0）、BOTTOM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（3）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464618" y="2762250"/>
            <a:ext cx="5193982" cy="3230880"/>
            <a:chOff x="6464618" y="2762250"/>
            <a:chExt cx="5193982" cy="3230880"/>
          </a:xfrm>
        </p:grpSpPr>
        <p:sp>
          <p:nvSpPr>
            <p:cNvPr id="45" name="Rectangle 45"/>
            <p:cNvSpPr/>
            <p:nvPr/>
          </p:nvSpPr>
          <p:spPr>
            <a:xfrm>
              <a:off x="6464618" y="2762250"/>
              <a:ext cx="5193982" cy="3230880"/>
            </a:xfrm>
            <a:prstGeom prst="roundRect">
              <a:avLst>
                <a:gd name="adj" fmla="val 41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4142" y="2895600"/>
              <a:ext cx="47625" cy="29641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3692" y="294322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76364" y="29760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50620" y="298275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原课件这页有三处错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3692" y="3288982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5599" y="332365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4393" y="3299936"/>
              <a:ext cx="42801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pubic void setText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pubic void setIcon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 public 拼成了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pubic。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683692" y="381666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35599" y="38513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54393" y="3827621"/>
              <a:ext cx="3938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 void getText(String text)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签名不对，实际是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 String getText()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（反射核对）。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683692" y="4344352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35599" y="43799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54393" y="4355306"/>
              <a:ext cx="424764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BOTTOM 被列进「对齐属性」，它只能用于垂直方向：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JLabel("x", SwingConstants.BOTTOM)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实测抛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IllegalArgumentException。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10801" cy="909257"/>
            <a:chOff x="520446" y="342900"/>
            <a:chExt cx="93108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 常用组件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108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5.2　三个标签：纯文字、文字加图标、图标在上文字在下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783205"/>
            <a:chOff x="533400" y="1524000"/>
            <a:chExt cx="5626418" cy="2783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783205"/>
            </a:xfrm>
            <a:prstGeom prst="roundRect">
              <a:avLst>
                <a:gd name="adj" fmla="val 34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117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LabelTest.java（上）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3044508" cy="22836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LabelTest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 label1, label2, label3;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LabelTest()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"Testing JLabel"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 container = getContentPane();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container.setLayout(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FlowLayout());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label1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"Label with text"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label1.setToolTipText(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"This is label1"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container.add(label1);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Icon bug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ImageIcon(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"bug1.gif"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label2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"Label with text and icon"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bug, SwingConstants.LEFT);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label2.setToolTipText(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"This is label2"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container.add(label2);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472940"/>
            <a:ext cx="5626418" cy="1733550"/>
            <a:chOff x="533400" y="4472940"/>
            <a:chExt cx="5626418" cy="1733550"/>
          </a:xfrm>
        </p:grpSpPr>
        <p:sp>
          <p:nvSpPr>
            <p:cNvPr id="11" name="Rectangle 11"/>
            <p:cNvSpPr/>
            <p:nvPr/>
          </p:nvSpPr>
          <p:spPr>
            <a:xfrm>
              <a:off x="533400" y="4472940"/>
              <a:ext cx="5626418" cy="17335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606290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46539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044" y="46867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对照着读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8006" y="46934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三个标签三种建法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506253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5009674"/>
              <a:ext cx="1873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label1：构造时只给文字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534733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5294471"/>
              <a:ext cx="37076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label2：构造时给出文字、图标和水平对齐 LEFT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563213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48" y="5579269"/>
              <a:ext cx="50186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label3：先建空标签，再 set 文字、图标，文字居中放在图标下方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7141" y="5860733"/>
              <a:ext cx="29212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setToolTipText 设置鼠标悬停时的提示文字。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464618" y="1524000"/>
            <a:ext cx="5193982" cy="2641282"/>
            <a:chOff x="6464618" y="1524000"/>
            <a:chExt cx="5193982" cy="2641282"/>
          </a:xfrm>
        </p:grpSpPr>
        <p:sp>
          <p:nvSpPr>
            <p:cNvPr id="24" name="Rectangle 24"/>
            <p:cNvSpPr/>
            <p:nvPr/>
          </p:nvSpPr>
          <p:spPr>
            <a:xfrm>
              <a:off x="6464618" y="1524000"/>
              <a:ext cx="5193982" cy="2641282"/>
            </a:xfrm>
            <a:prstGeom prst="roundRect">
              <a:avLst>
                <a:gd name="adj" fmla="val 36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93015" y="1675924"/>
              <a:ext cx="14117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LabelTest.java（下）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93205" y="1934289"/>
              <a:ext cx="3706686" cy="2141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label3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label3.setText(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"Label with icon and text at bottom"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label3.setIcon(bug);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label3.setHorizontalTextPosition(SwingConstants.CENTER);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label3.setVerticalTextPosition(SwingConstants.BOTTOM);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label3.setToolTipText(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"This is label3"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container.add(label3);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setSize(275, 200);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setVisible(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 args[])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LabelTest application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LabelTest();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application.setDefaultCloseOperation(JFrame.EXIT_ON_CLOSE);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464618" y="4330065"/>
            <a:ext cx="5193982" cy="1875472"/>
            <a:chOff x="6464618" y="4330065"/>
            <a:chExt cx="5193982" cy="1875472"/>
          </a:xfrm>
        </p:grpSpPr>
        <p:sp>
          <p:nvSpPr>
            <p:cNvPr id="28" name="Rectangle 28"/>
            <p:cNvSpPr/>
            <p:nvPr/>
          </p:nvSpPr>
          <p:spPr>
            <a:xfrm>
              <a:off x="6464618" y="4330065"/>
              <a:ext cx="5193982" cy="1875472"/>
            </a:xfrm>
            <a:prstGeom prst="roundRect">
              <a:avLst>
                <a:gd name="adj" fmla="val 71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4463415"/>
              <a:ext cx="47625" cy="16087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83692" y="45110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6364" y="45439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50620" y="455152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找不到图片也不报错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693218" y="491966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48666" y="4867751"/>
              <a:ext cx="44183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当前目录没有 bug1.gif 时，ImageIcon 宽度为 -1，标签只显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示文字，程序照常运行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93218" y="544830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48666" y="5395436"/>
              <a:ext cx="42476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三个标签按 FlowLayout 排：前两个在第一行，第三个放不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下，换到第二行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11628" cy="909257"/>
            <a:chOff x="520446" y="342900"/>
            <a:chExt cx="80116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 常用组件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116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JPanel：把几个组件打包成一组，整体参与外层布局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687830"/>
            <a:chOff x="533400" y="1524000"/>
            <a:chExt cx="5626418" cy="16878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0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面板容器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8006" y="1744504"/>
              <a:ext cx="802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 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面板是分组放置组件的、位于框架更低一级的普通容器。它不能单独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显示，要放进 JFrame 等顶层容器。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589371"/>
              <a:ext cx="44183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继承链：Object → Component → Container → JComponent 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33400" y="3376612"/>
            <a:ext cx="5626418" cy="1906906"/>
            <a:chOff x="533400" y="3376612"/>
            <a:chExt cx="5626418" cy="1906906"/>
          </a:xfrm>
        </p:grpSpPr>
        <p:sp>
          <p:nvSpPr>
            <p:cNvPr id="15" name="Rectangle 15"/>
            <p:cNvSpPr/>
            <p:nvPr/>
          </p:nvSpPr>
          <p:spPr>
            <a:xfrm>
              <a:off x="533400" y="3376612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93557" y="34947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6290" y="34947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8078" y="3875723"/>
              <a:ext cx="638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41763" y="3875723"/>
              <a:ext cx="2670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创建面板，默认布局 FlowLayout（实测）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1348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1395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4256722"/>
              <a:ext cx="24035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 add(Component comp)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41763" y="425672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往面板里加组件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5167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4638675"/>
              <a:ext cx="2504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setLayout(LayoutManager m)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41763" y="46386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换一种布局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8977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902518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5019675"/>
              <a:ext cx="24769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paintComponents(Graphics g)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41763" y="5019675"/>
              <a:ext cx="2418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继承自 Container，画面板里的子组件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376612"/>
              <a:ext cx="562641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342322" y="33766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3"/>
          <p:cNvGrpSpPr/>
          <p:nvPr/>
        </p:nvGrpSpPr>
        <p:grpSpPr>
          <a:xfrm>
            <a:off x="533400" y="5448300"/>
            <a:ext cx="5626418" cy="777240"/>
            <a:chOff x="533400" y="5448300"/>
            <a:chExt cx="5626418" cy="777240"/>
          </a:xfrm>
        </p:grpSpPr>
        <p:sp>
          <p:nvSpPr>
            <p:cNvPr id="34" name="Rectangle 34"/>
            <p:cNvSpPr/>
            <p:nvPr/>
          </p:nvSpPr>
          <p:spPr>
            <a:xfrm>
              <a:off x="533400" y="5448300"/>
              <a:ext cx="5626418" cy="777240"/>
            </a:xfrm>
            <a:prstGeom prst="roundRect">
              <a:avLst>
                <a:gd name="adj" fmla="val 1470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737860"/>
              <a:ext cx="200026" cy="200025"/>
              <a:chOff x="738188" y="5737860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7378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57823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58934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1273" y="5630704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面板可以层层嵌套，复杂界面一般先拆成几个面板，每个面板用最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合适的布局。</a:t>
              </a:r>
            </a:p>
          </p:txBody>
        </p:sp>
      </p:grpSp>
      <p:grpSp>
        <p:nvGrpSpPr>
          <p:cNvPr id="55" name="c2-tree-1"/>
          <p:cNvGrpSpPr/>
          <p:nvPr/>
        </p:nvGrpSpPr>
        <p:grpSpPr>
          <a:xfrm>
            <a:off x="6499860" y="1683068"/>
            <a:ext cx="4566284" cy="1705927"/>
            <a:chOff x="6499860" y="1683068"/>
            <a:chExt cx="4566284" cy="1705927"/>
          </a:xfrm>
        </p:grpSpPr>
        <p:sp>
          <p:nvSpPr>
            <p:cNvPr id="41" name="Freeform 41"/>
            <p:cNvSpPr/>
            <p:nvPr/>
          </p:nvSpPr>
          <p:spPr>
            <a:xfrm>
              <a:off x="9062085" y="2535555"/>
              <a:ext cx="864870" cy="675323"/>
            </a:xfrm>
            <a:custGeom>
              <a:avLst/>
              <a:gdLst/>
              <a:ahLst/>
              <a:cxnLst/>
              <a:rect l="l" t="t" r="r" b="b"/>
              <a:pathLst>
                <a:path w="864870" h="675323">
                  <a:moveTo>
                    <a:pt x="864870" y="0"/>
                  </a:moveTo>
                  <a:lnTo>
                    <a:pt x="0" y="67532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926955" y="2535555"/>
              <a:ext cx="865822" cy="675323"/>
            </a:xfrm>
            <a:custGeom>
              <a:avLst/>
              <a:gdLst/>
              <a:ahLst/>
              <a:cxnLst/>
              <a:rect l="l" t="t" r="r" b="b"/>
              <a:pathLst>
                <a:path w="865822" h="675323">
                  <a:moveTo>
                    <a:pt x="0" y="0"/>
                  </a:moveTo>
                  <a:lnTo>
                    <a:pt x="865822" y="67532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330440" y="1861185"/>
              <a:ext cx="1731645" cy="674370"/>
            </a:xfrm>
            <a:custGeom>
              <a:avLst/>
              <a:gdLst/>
              <a:ahLst/>
              <a:cxnLst/>
              <a:rect l="l" t="t" r="r" b="b"/>
              <a:pathLst>
                <a:path w="1731645" h="674370">
                  <a:moveTo>
                    <a:pt x="1731645" y="0"/>
                  </a:moveTo>
                  <a:lnTo>
                    <a:pt x="0" y="6743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062085" y="1861185"/>
              <a:ext cx="864870" cy="674370"/>
            </a:xfrm>
            <a:custGeom>
              <a:avLst/>
              <a:gdLst/>
              <a:ahLst/>
              <a:cxnLst/>
              <a:rect l="l" t="t" r="r" b="b"/>
              <a:pathLst>
                <a:path w="864870" h="674370">
                  <a:moveTo>
                    <a:pt x="0" y="0"/>
                  </a:moveTo>
                  <a:lnTo>
                    <a:pt x="864870" y="6743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99860" y="2358390"/>
              <a:ext cx="1662112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788718" y="3032760"/>
              <a:ext cx="545782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520362" y="3032760"/>
              <a:ext cx="545782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279255" y="2358390"/>
              <a:ext cx="1295400" cy="356235"/>
            </a:xfrm>
            <a:prstGeom prst="roundRect">
              <a:avLst>
                <a:gd name="adj" fmla="val 2139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368665" y="1683068"/>
              <a:ext cx="1386840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5523" y="2480310"/>
              <a:ext cx="15298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label1 Label with JFrame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79220" y="3154680"/>
              <a:ext cx="3657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label2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09913" y="3154680"/>
              <a:ext cx="3657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label3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58218" y="2480310"/>
              <a:ext cx="11374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panel1 FlowLayout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45120" y="1804988"/>
              <a:ext cx="12339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内容面板 FlowLayout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464618" y="3712845"/>
            <a:ext cx="5193982" cy="702945"/>
            <a:chOff x="6464618" y="3712845"/>
            <a:chExt cx="5193982" cy="702945"/>
          </a:xfrm>
        </p:grpSpPr>
        <p:sp>
          <p:nvSpPr>
            <p:cNvPr id="56" name="Rectangle 56"/>
            <p:cNvSpPr/>
            <p:nvPr/>
          </p:nvSpPr>
          <p:spPr>
            <a:xfrm>
              <a:off x="6464618" y="3712845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69405" y="3964307"/>
              <a:ext cx="200023" cy="200023"/>
              <a:chOff x="6669405" y="3964307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669405" y="39643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802755" y="40309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72491" y="3858101"/>
              <a:ext cx="4198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外层的 FlowLayout 把 panel1 当成一个组件来排；panel1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里面的两个标签由 panel1 自己的布局管理。</a:t>
              </a:r>
            </a:p>
          </p:txBody>
        </p:sp>
      </p:grpSp>
      <p:grpSp>
        <p:nvGrpSpPr>
          <p:cNvPr id="68" name="c2-card-3"/>
          <p:cNvGrpSpPr/>
          <p:nvPr/>
        </p:nvGrpSpPr>
        <p:grpSpPr>
          <a:xfrm>
            <a:off x="6464618" y="4580572"/>
            <a:ext cx="5193982" cy="1645920"/>
            <a:chOff x="6464618" y="4580572"/>
            <a:chExt cx="5193982" cy="1645920"/>
          </a:xfrm>
        </p:grpSpPr>
        <p:sp>
          <p:nvSpPr>
            <p:cNvPr id="62" name="Rectangle 62"/>
            <p:cNvSpPr/>
            <p:nvPr/>
          </p:nvSpPr>
          <p:spPr>
            <a:xfrm>
              <a:off x="6464618" y="4580572"/>
              <a:ext cx="5193982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74142" y="4713922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683692" y="47615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76364" y="47944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50620" y="4801076"/>
              <a:ext cx="34357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paintComponents 不是 JPanel 自己的方法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77216" y="5117306"/>
              <a:ext cx="459714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它定义在 java.awt.Container 里（反射核对）。自己画图时要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重写的是 JComponent 的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protected void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paintComponent(Graphics g)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，少一个 s，见本章「绘图」一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53078" cy="909257"/>
            <a:chOff x="520446" y="342900"/>
            <a:chExt cx="96530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 常用组件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530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5.3　PanelTest：一个标签直接放窗口，两个标签放进面板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ode-1"/>
          <p:cNvGrpSpPr/>
          <p:nvPr/>
        </p:nvGrpSpPr>
        <p:grpSpPr>
          <a:xfrm>
            <a:off x="533400" y="1524000"/>
            <a:ext cx="6059805" cy="4552950"/>
            <a:chOff x="533400" y="1524000"/>
            <a:chExt cx="6059805" cy="45529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552950"/>
            </a:xfrm>
            <a:prstGeom prst="roundRect">
              <a:avLst>
                <a:gd name="adj" fmla="val 2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159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PanelTest.java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612832"/>
              <a:ext cx="6021705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769042"/>
              <a:ext cx="6021705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234815"/>
              <a:ext cx="6021705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391025"/>
              <a:ext cx="6021705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4546282"/>
              <a:ext cx="6021705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88" y="1934766"/>
              <a:ext cx="4034282" cy="40505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PanelTest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 label1, label2, label3;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JPanel panel1;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PanelTest()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"test panel"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 container = getContentPane();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container.setLayout(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label1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"Label with JFrame"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container.add(label1);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panel1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JPanel();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panel1.setLayout(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label2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"Label with JPanel"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label3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"Label with JPanel 2"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panel1.add(label2);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panel1.add(label3);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container.add(panel1);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setSize(275, 200);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setVisible(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PanelTest application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PanelTest();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application.setDefaultCloseOperation(JFrame.EXIT_ON_CLOSE);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898005" y="1524000"/>
            <a:ext cx="4760595" cy="2244090"/>
            <a:chOff x="6898005" y="1524000"/>
            <a:chExt cx="4760595" cy="2244090"/>
          </a:xfrm>
        </p:grpSpPr>
        <p:sp>
          <p:nvSpPr>
            <p:cNvPr id="16" name="Rectangle 16"/>
            <p:cNvSpPr/>
            <p:nvPr/>
          </p:nvSpPr>
          <p:spPr>
            <a:xfrm>
              <a:off x="6898005" y="1524000"/>
              <a:ext cx="476059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076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34580" y="1659731"/>
              <a:ext cx="963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 (x, y)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654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05828" y="2108359"/>
              <a:ext cx="519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label1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09876" y="2108359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(77, 5)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7673" y="210835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104×16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98005" y="24164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98005" y="242125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07530" y="2430780"/>
              <a:ext cx="18849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05828" y="2556986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panel1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09876" y="2556986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(17, 26)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37673" y="255698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225×26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98005" y="28660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05828" y="3005614"/>
              <a:ext cx="673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└ label2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09876" y="3005614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(5, 5)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37673" y="30056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100×16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98005" y="33147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98005" y="3319462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05828" y="3454241"/>
              <a:ext cx="673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└ label3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09876" y="3454241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(110, 5)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37673" y="345424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110×16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98005" y="1524000"/>
              <a:ext cx="476059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79729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22508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2"/>
          <p:cNvGrpSpPr/>
          <p:nvPr/>
        </p:nvGrpSpPr>
        <p:grpSpPr>
          <a:xfrm>
            <a:off x="6898005" y="3958590"/>
            <a:ext cx="4760595" cy="2252662"/>
            <a:chOff x="6898005" y="3958590"/>
            <a:chExt cx="4760595" cy="2252662"/>
          </a:xfrm>
        </p:grpSpPr>
        <p:sp>
          <p:nvSpPr>
            <p:cNvPr id="42" name="Rectangle 42"/>
            <p:cNvSpPr/>
            <p:nvPr/>
          </p:nvSpPr>
          <p:spPr>
            <a:xfrm>
              <a:off x="6898005" y="3958590"/>
              <a:ext cx="4760595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07530" y="409194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45655" y="416814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23061" y="420385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读实测结果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72450" y="420338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坐标是相对父容器的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8035" y="4564380"/>
              <a:ext cx="395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内容面板宽 259 像素，放不下 label1 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panel1，于是 panel1 整体换到第二行并居中。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8035" y="5185410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label2、label3 的坐标 (5, 5)、(110, 5) 相对的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panel1 的左上角，不是窗口。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39178" y="5803106"/>
              <a:ext cx="40795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panel1 的高度 26 = 上下各 5 像素间距 + 标签高 16。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248722" cy="2643187"/>
            <a:chOff x="667512" y="1835468"/>
            <a:chExt cx="4248722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673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 布局管理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组件放在哪里、多大，交给布局管理器算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009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FlowLayout 按行排，BorderLayout 分五区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640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GridLayout 把容器等分成网格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5.3 布局管理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布局管理器：用规则代替坐标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193030" cy="2667952"/>
            <a:chOff x="533400" y="1524000"/>
            <a:chExt cx="5193030" cy="2667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386965" cy="2667952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01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5998" y="17264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硬编码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2000" y="207930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7448" y="2027396"/>
              <a:ext cx="1638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按屏幕绝对位置摆放，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与机器有关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60794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555081"/>
              <a:ext cx="164668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setLayout(null) 后给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每个组件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setBounds(x, y, w,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362140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3568541"/>
              <a:ext cx="1638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换字体、换分辨率或拉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伸窗口就可能错位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339465" y="1524000"/>
              <a:ext cx="2386965" cy="2667952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48990" y="1657350"/>
              <a:ext cx="47625" cy="2401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52063" y="17264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软编码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568065" y="207930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23513" y="2027396"/>
              <a:ext cx="1638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交给布局管理器按规则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计算，与机器无关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568065" y="260794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23513" y="2555081"/>
              <a:ext cx="16385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Container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setLayout(...) 选择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布局方式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568065" y="337851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23513" y="3325654"/>
              <a:ext cx="1638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窗口大小一变，组件自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动重排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2967990" y="26955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51223" y="28022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356735"/>
            <a:ext cx="5193982" cy="1687830"/>
            <a:chOff x="533400" y="4356735"/>
            <a:chExt cx="5193982" cy="1687830"/>
          </a:xfrm>
        </p:grpSpPr>
        <p:sp>
          <p:nvSpPr>
            <p:cNvPr id="28" name="Rectangle 28"/>
            <p:cNvSpPr/>
            <p:nvPr/>
          </p:nvSpPr>
          <p:spPr>
            <a:xfrm>
              <a:off x="533400" y="4356735"/>
              <a:ext cx="5193982" cy="1687830"/>
            </a:xfrm>
            <a:prstGeom prst="roundRect">
              <a:avLst>
                <a:gd name="adj" fmla="val 790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4375" y="45377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7047" y="45705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80350" y="45772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先定策略，再放组件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7898" y="4893469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往窗口里放组件之前，先指定放置策略。每个容器同一时刻只有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一个布局管理器。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7898" y="5422106"/>
              <a:ext cx="43451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界面的不同区域想用不同排法，就用几个 JPanel 各设各的布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局，再嵌套起来。本章末尾的计算器就是这样搭的。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6032182" y="1524000"/>
            <a:ext cx="5626418" cy="3034665"/>
            <a:chOff x="6032182" y="1524000"/>
            <a:chExt cx="5626418" cy="3034665"/>
          </a:xfrm>
        </p:grpSpPr>
        <p:sp>
          <p:nvSpPr>
            <p:cNvPr id="35" name="Rectangle 35"/>
            <p:cNvSpPr/>
            <p:nvPr/>
          </p:nvSpPr>
          <p:spPr>
            <a:xfrm>
              <a:off x="6032182" y="1524000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082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布局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625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2862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所在包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24566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谁默认用它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26861" y="2116455"/>
              <a:ext cx="828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FlowLayout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77506" y="2023110"/>
              <a:ext cx="14775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顺序布局：按行排，排满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77731" y="2116455"/>
              <a:ext cx="625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java.awt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02634" y="2116455"/>
              <a:ext cx="4499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24688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2182" y="2473642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6861" y="2684145"/>
              <a:ext cx="999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77506" y="2590800"/>
              <a:ext cx="14775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边界布局：东南西北中五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77731" y="2684145"/>
              <a:ext cx="625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java.awt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02634" y="2590800"/>
              <a:ext cx="105746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JFrame、JDialog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内容面板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30365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26861" y="3251835"/>
              <a:ext cx="798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GridLayout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77506" y="3158490"/>
              <a:ext cx="14775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网格布局：大小相同的格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77731" y="3251835"/>
              <a:ext cx="625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java.awt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02634" y="325183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36052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32182" y="3609975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26861" y="3820478"/>
              <a:ext cx="1048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GridBagLayout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77506" y="3727132"/>
              <a:ext cx="14775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网格块布局：格子可跨行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77731" y="3820478"/>
              <a:ext cx="625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java.awt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02634" y="38204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41729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26861" y="4294822"/>
              <a:ext cx="754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BoxLayout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77506" y="429482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盒式布局：单行或单列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92578" y="4187190"/>
              <a:ext cx="110585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277731" y="4294822"/>
              <a:ext cx="864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javax.swing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402634" y="4294822"/>
              <a:ext cx="248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Box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032182" y="1524000"/>
              <a:ext cx="5626418" cy="3034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378065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178290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0303192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ard-2"/>
          <p:cNvGrpSpPr/>
          <p:nvPr/>
        </p:nvGrpSpPr>
        <p:grpSpPr>
          <a:xfrm>
            <a:off x="6032182" y="4723448"/>
            <a:ext cx="5626418" cy="1321118"/>
            <a:chOff x="6032182" y="4723448"/>
            <a:chExt cx="5626418" cy="1321118"/>
          </a:xfrm>
        </p:grpSpPr>
        <p:sp>
          <p:nvSpPr>
            <p:cNvPr id="72" name="Rectangle 72"/>
            <p:cNvSpPr/>
            <p:nvPr/>
          </p:nvSpPr>
          <p:spPr>
            <a:xfrm>
              <a:off x="6032182" y="4723448"/>
              <a:ext cx="5626418" cy="1321118"/>
            </a:xfrm>
            <a:prstGeom prst="roundRect">
              <a:avLst>
                <a:gd name="adj" fmla="val 10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041708" y="4856798"/>
              <a:ext cx="47625" cy="10544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51258" y="49044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2977" y="49372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17233" y="4944904"/>
              <a:ext cx="24593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布局管理器不全在 java.awt 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44780" y="5261134"/>
              <a:ext cx="5011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 Java 布局管理器类存在于 java.awt 包中。前四种确实在，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BoxLayout 在 javax.swing 包（JDK 21 实测 getPackageName）。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1787" cy="909257"/>
            <a:chOff x="520446" y="342900"/>
            <a:chExt cx="71617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5.3 布局管理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17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FlowLayout：从左到右排，一行满了换下一行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5417820" cy="2177415"/>
            <a:chOff x="525780" y="1548765"/>
            <a:chExt cx="5417820" cy="217741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继承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862" y="1548765"/>
              <a:ext cx="40252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java.lang.Object → java.awt.FlowLayout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构造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198882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FlowLayout()、FlowLayout(int align)、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FlowLayout(int align, int hGap, int vGap)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对齐常量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6862" y="2710815"/>
              <a:ext cx="36707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LEFT（0）、CENTER（1）、RIGHT（2）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308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1508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默认值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6862" y="3150870"/>
              <a:ext cx="39395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无参构造：CENTER 对齐，水平、垂直间距都是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像素（实测）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857625"/>
            <a:ext cx="5410200" cy="2194560"/>
            <a:chOff x="533400" y="3857625"/>
            <a:chExt cx="5410200" cy="2194560"/>
          </a:xfrm>
        </p:grpSpPr>
        <p:sp>
          <p:nvSpPr>
            <p:cNvPr id="19" name="Rectangle 19"/>
            <p:cNvSpPr/>
            <p:nvPr/>
          </p:nvSpPr>
          <p:spPr>
            <a:xfrm>
              <a:off x="533400" y="3857625"/>
              <a:ext cx="5410200" cy="2194560"/>
            </a:xfrm>
            <a:prstGeom prst="roundRect">
              <a:avLst>
                <a:gd name="adj" fmla="val 6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990975"/>
              <a:ext cx="47625" cy="19278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40671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1258" y="4102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2078" y="410241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用的是首选尺寸，不是最小尺寸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4463415"/>
              <a:ext cx="47301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原课件说所有组件会被压缩到最小尺寸。FlowLayout 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每个组件的首选尺寸（preferred size）摆放：实测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Left、Center、Right 三个按钮宽 56、72、63 像素，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正好是各自文字需要的宽度。</a:t>
              </a:r>
            </a:p>
          </p:txBody>
        </p:sp>
      </p:grpSp>
      <p:grpSp>
        <p:nvGrpSpPr>
          <p:cNvPr id="38" name="c2-graph-1"/>
          <p:cNvGrpSpPr/>
          <p:nvPr/>
        </p:nvGrpSpPr>
        <p:grpSpPr>
          <a:xfrm>
            <a:off x="6669498" y="1762125"/>
            <a:ext cx="4568005" cy="1990439"/>
            <a:chOff x="6669498" y="1762125"/>
            <a:chExt cx="4568005" cy="1990439"/>
          </a:xfrm>
        </p:grpSpPr>
        <p:sp>
          <p:nvSpPr>
            <p:cNvPr id="26" name="Rectangle 26"/>
            <p:cNvSpPr/>
            <p:nvPr/>
          </p:nvSpPr>
          <p:spPr>
            <a:xfrm>
              <a:off x="6715125" y="1762125"/>
              <a:ext cx="4476750" cy="1619250"/>
            </a:xfrm>
            <a:prstGeom prst="roundRect">
              <a:avLst>
                <a:gd name="adj" fmla="val 58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22758" y="1857375"/>
              <a:ext cx="112395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391525" y="1857375"/>
              <a:ext cx="112395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960292" y="1857375"/>
              <a:ext cx="112395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79995" y="2667000"/>
              <a:ext cx="1123950" cy="3810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148762" y="2667000"/>
              <a:ext cx="1123950" cy="3810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10605" y="1987391"/>
              <a:ext cx="5482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Button1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79373" y="1987391"/>
              <a:ext cx="5482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Button2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48140" y="1987391"/>
              <a:ext cx="5482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Button3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7843" y="2797016"/>
              <a:ext cx="5482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Button4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36610" y="2797016"/>
              <a:ext cx="5482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Button5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9498" y="3561874"/>
              <a:ext cx="45680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面板宽 260 像素时（实测）：第一行放 3 个，剩下 2 个换到第二行，仍然居中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248400" y="4095750"/>
            <a:ext cx="5410200" cy="1956435"/>
            <a:chOff x="6248400" y="4095750"/>
            <a:chExt cx="5410200" cy="1956435"/>
          </a:xfrm>
        </p:grpSpPr>
        <p:sp>
          <p:nvSpPr>
            <p:cNvPr id="39" name="Rectangle 39"/>
            <p:cNvSpPr/>
            <p:nvPr/>
          </p:nvSpPr>
          <p:spPr>
            <a:xfrm>
              <a:off x="6248400" y="409575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422910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96050" y="430530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9507" y="43410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什么时候用它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65720" y="434054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一排按钮、几个短小的组件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8430" y="47015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窗口拉窄时，放不下的组件自动换到下一行，组件本身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的大小不变。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8430" y="5322570"/>
              <a:ext cx="4653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 默认就是 FlowLayout，所以往面板里 add 几个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按钮、不设布局，它们也会居中排成一行。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52436" cy="909257"/>
            <a:chOff x="520446" y="342900"/>
            <a:chExt cx="69524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5.3 布局管理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524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5.4　FlowLayoutTest：三个按钮左对齐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4204335"/>
            <a:chOff x="533400" y="1524000"/>
            <a:chExt cx="6059805" cy="42043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04335"/>
            </a:xfrm>
            <a:prstGeom prst="roundRect">
              <a:avLst>
                <a:gd name="adj" fmla="val 22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29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FlowLayoutTest.java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82302"/>
              <a:ext cx="6021705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88" y="1934289"/>
              <a:ext cx="3706686" cy="3702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FlowLayoutTest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 leftButton, centerButton, rightButton;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Container container;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 layout;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FlowLayoutTest()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"FlowLayout Demo"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layout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layout.setAlignment(FlowLayout.LEFT);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 = getContentPane();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container.setLayout(layout);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leftButton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"Left"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container.add(leftButton);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centerButton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"Center"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container.add(centerButton);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rightButton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"Right"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container.add(rightButton);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setSize(300, 75);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setVisible(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FlowLayoutTest application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FlowLayoutTest();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application.setDefaultCloseOperation(JFrame.EXIT_ON_CLOSE);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1" name="c2-table-1"/>
          <p:cNvGrpSpPr/>
          <p:nvPr/>
        </p:nvGrpSpPr>
        <p:grpSpPr>
          <a:xfrm>
            <a:off x="6898005" y="1524000"/>
            <a:ext cx="4760595" cy="1525905"/>
            <a:chOff x="6898005" y="1524000"/>
            <a:chExt cx="4760595" cy="1525905"/>
          </a:xfrm>
        </p:grpSpPr>
        <p:sp>
          <p:nvSpPr>
            <p:cNvPr id="12" name="Rectangle 12"/>
            <p:cNvSpPr/>
            <p:nvPr/>
          </p:nvSpPr>
          <p:spPr>
            <a:xfrm>
              <a:off x="6898005" y="1524000"/>
              <a:ext cx="4760595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028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7027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68216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92684" y="2023110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96731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24528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98005" y="2282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98005" y="2286952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92684" y="2404110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Center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96731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24528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8005" y="2663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2684" y="278511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96731" y="2785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24528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98005" y="1524000"/>
              <a:ext cx="476059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79729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0225088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2-card-2"/>
          <p:cNvGrpSpPr/>
          <p:nvPr/>
        </p:nvGrpSpPr>
        <p:grpSpPr>
          <a:xfrm>
            <a:off x="6898005" y="3214688"/>
            <a:ext cx="4760595" cy="2127885"/>
            <a:chOff x="6898005" y="3214688"/>
            <a:chExt cx="4760595" cy="2127885"/>
          </a:xfrm>
        </p:grpSpPr>
        <p:sp>
          <p:nvSpPr>
            <p:cNvPr id="32" name="Rectangle 32"/>
            <p:cNvSpPr/>
            <p:nvPr/>
          </p:nvSpPr>
          <p:spPr>
            <a:xfrm>
              <a:off x="6898005" y="3214688"/>
              <a:ext cx="4760595" cy="2127885"/>
            </a:xfrm>
            <a:prstGeom prst="roundRect">
              <a:avLst>
                <a:gd name="adj" fmla="val 62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07530" y="3348038"/>
              <a:ext cx="47625" cy="18611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17080" y="339566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05701" y="34285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07833" y="34351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坐标怎么来的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10603" y="3751421"/>
              <a:ext cx="40444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内容面板宽 284。左对齐时第一个按钮从 x = 5 开始（水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平间距 5）。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10603" y="4279106"/>
              <a:ext cx="4109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Center 的 x = 5 + 56 + 5 = 66，Right 的 x = 66 + 72 + 5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143。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11746" y="4803458"/>
              <a:ext cx="407784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三个按钮加间距共占 5 + 56 + 5 + 72 + 5 + 63 = 206 像素，右边剩 78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像素空着。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898005" y="5506402"/>
            <a:ext cx="4760595" cy="702945"/>
            <a:chOff x="6898005" y="5506402"/>
            <a:chExt cx="4760595" cy="702945"/>
          </a:xfrm>
        </p:grpSpPr>
        <p:sp>
          <p:nvSpPr>
            <p:cNvPr id="41" name="Rectangle 41"/>
            <p:cNvSpPr/>
            <p:nvPr/>
          </p:nvSpPr>
          <p:spPr>
            <a:xfrm>
              <a:off x="6898005" y="5506402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102793" y="5757863"/>
              <a:ext cx="200026" cy="200026"/>
              <a:chOff x="7102793" y="5757863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102793" y="57578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02805" y="58245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191693" y="58578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405878" y="5651659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原课件同时给出了左、中、右三种对齐的运行截图，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改对齐方式的办法见例 5.7。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49627" cy="909257"/>
            <a:chOff x="520446" y="342900"/>
            <a:chExt cx="89496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5.3 布局管理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496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BorderLayout：北南东西中五个区，中间的吃掉剩余空间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161" y="1547336"/>
            <a:ext cx="5417439" cy="1811275"/>
            <a:chOff x="526161" y="1547336"/>
            <a:chExt cx="5417439" cy="1811275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继承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25334" y="1547336"/>
              <a:ext cx="40302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java.lang.Object → java.awt.BorderLayout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53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196929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构造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5334" y="1969294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BorderLayout()、BorderLayout(int hGap, int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vGap)；无参时间距为 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431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6589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区域常量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25334" y="2658904"/>
              <a:ext cx="35664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NORTH、SOUTH、EAST、WEST、CENTER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9641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30799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默认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25334" y="3079909"/>
              <a:ext cx="24750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 内容面板的默认布局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33400" y="3488055"/>
            <a:ext cx="5410200" cy="2794635"/>
            <a:chOff x="533400" y="3488055"/>
            <a:chExt cx="5410200" cy="2794635"/>
          </a:xfrm>
        </p:grpSpPr>
        <p:sp>
          <p:nvSpPr>
            <p:cNvPr id="19" name="Rectangle 19"/>
            <p:cNvSpPr/>
            <p:nvPr/>
          </p:nvSpPr>
          <p:spPr>
            <a:xfrm>
              <a:off x="533400" y="3488055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6812" y="3619500"/>
              <a:ext cx="13372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add() 的区域参数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25152" y="36195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63580" y="36195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组件被拉伸的方向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8746" y="4050030"/>
              <a:ext cx="1765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BorderLayout.NORTH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02826" y="4050030"/>
              <a:ext cx="494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 Top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93452" y="40500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横向铺满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3434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34816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4479608"/>
              <a:ext cx="1765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BorderLayout.SOUTH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02826" y="4479608"/>
              <a:ext cx="7933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 Bottom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93452" y="447960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横向铺满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7739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4910138"/>
              <a:ext cx="1631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BorderLayout.EAST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02826" y="4910138"/>
              <a:ext cx="631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 Right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93452" y="491013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纵向铺满中间一段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2044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20922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8746" y="5339715"/>
              <a:ext cx="16664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BorderLayout.WEST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02826" y="5339715"/>
              <a:ext cx="583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Left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93452" y="533971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纵向铺满中间一段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6340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5648325"/>
              <a:ext cx="2145030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8746" y="5876925"/>
              <a:ext cx="1829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BorderLayout.CENTER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02826" y="58769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93452" y="5770245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两个方向都拉伸，直到其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他组件或边框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488055"/>
              <a:ext cx="5410200" cy="27946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692718" y="3488055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883342" y="3488055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graph-1"/>
          <p:cNvGrpSpPr/>
          <p:nvPr/>
        </p:nvGrpSpPr>
        <p:grpSpPr>
          <a:xfrm>
            <a:off x="6464618" y="1634490"/>
            <a:ext cx="4977765" cy="2549843"/>
            <a:chOff x="6464618" y="1634490"/>
            <a:chExt cx="4977765" cy="2549843"/>
          </a:xfrm>
        </p:grpSpPr>
        <p:sp>
          <p:nvSpPr>
            <p:cNvPr id="49" name="Rectangle 49"/>
            <p:cNvSpPr/>
            <p:nvPr/>
          </p:nvSpPr>
          <p:spPr>
            <a:xfrm>
              <a:off x="6781800" y="1634490"/>
              <a:ext cx="4342448" cy="387668"/>
            </a:xfrm>
            <a:prstGeom prst="roundRect">
              <a:avLst>
                <a:gd name="adj" fmla="val 2457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4618" y="2125028"/>
              <a:ext cx="757238" cy="1570672"/>
            </a:xfrm>
            <a:prstGeom prst="roundRect">
              <a:avLst>
                <a:gd name="adj" fmla="val 12579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614285" y="2125028"/>
              <a:ext cx="2679382" cy="1570672"/>
            </a:xfrm>
            <a:prstGeom prst="roundRect">
              <a:avLst>
                <a:gd name="adj" fmla="val 606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685145" y="2125028"/>
              <a:ext cx="757238" cy="1570672"/>
            </a:xfrm>
            <a:prstGeom prst="roundRect">
              <a:avLst>
                <a:gd name="adj" fmla="val 12579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81800" y="3796665"/>
              <a:ext cx="4342448" cy="387668"/>
            </a:xfrm>
            <a:prstGeom prst="roundRect">
              <a:avLst>
                <a:gd name="adj" fmla="val 2457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727640" y="1758791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North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45333" y="2839879"/>
              <a:ext cx="39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West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84104" y="2839879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Center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80964" y="2839879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East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27640" y="3920966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South</a:t>
              </a:r>
            </a:p>
          </p:txBody>
        </p:sp>
      </p:grpSp>
      <p:grpSp>
        <p:nvGrpSpPr>
          <p:cNvPr id="67" name="c2-bullets-2"/>
          <p:cNvGrpSpPr/>
          <p:nvPr/>
        </p:nvGrpSpPr>
        <p:grpSpPr>
          <a:xfrm>
            <a:off x="6241161" y="4504849"/>
            <a:ext cx="4919586" cy="1150525"/>
            <a:chOff x="6241161" y="4504849"/>
            <a:chExt cx="4919586" cy="1150525"/>
          </a:xfrm>
        </p:grpSpPr>
        <p:sp>
          <p:nvSpPr>
            <p:cNvPr id="60" name="TextBox 60"/>
            <p:cNvSpPr txBox="1"/>
            <p:nvPr/>
          </p:nvSpPr>
          <p:spPr>
            <a:xfrm>
              <a:off x="6241161" y="450484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实测补充的三条规则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6248400" y="4864418"/>
              <a:ext cx="115253" cy="93345"/>
            </a:xfrm>
            <a:custGeom>
              <a:avLst/>
              <a:gdLst/>
              <a:ahLst/>
              <a:cxnLst/>
              <a:rect l="l" t="t" r="r" b="b"/>
              <a:pathLst>
                <a:path w="115253" h="93345">
                  <a:moveTo>
                    <a:pt x="0" y="49530"/>
                  </a:moveTo>
                  <a:lnTo>
                    <a:pt x="43815" y="93345"/>
                  </a:lnTo>
                  <a:lnTo>
                    <a:pt x="11525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71856" y="4839652"/>
              <a:ext cx="25005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add(c) 不写区域时，放进 CENTER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6248400" y="5154930"/>
              <a:ext cx="115253" cy="93345"/>
            </a:xfrm>
            <a:custGeom>
              <a:avLst/>
              <a:gdLst/>
              <a:ahLst/>
              <a:cxnLst/>
              <a:rect l="l" t="t" r="r" b="b"/>
              <a:pathLst>
                <a:path w="115253" h="93345">
                  <a:moveTo>
                    <a:pt x="0" y="49530"/>
                  </a:moveTo>
                  <a:lnTo>
                    <a:pt x="43815" y="93345"/>
                  </a:lnTo>
                  <a:lnTo>
                    <a:pt x="11525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71856" y="5130165"/>
              <a:ext cx="4688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同一区域先后加两个组件，只显示后加的那个，前一个大小为 0×0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6248400" y="5445442"/>
              <a:ext cx="115253" cy="93345"/>
            </a:xfrm>
            <a:custGeom>
              <a:avLst/>
              <a:gdLst/>
              <a:ahLst/>
              <a:cxnLst/>
              <a:rect l="l" t="t" r="r" b="b"/>
              <a:pathLst>
                <a:path w="115253" h="93345">
                  <a:moveTo>
                    <a:pt x="0" y="49530"/>
                  </a:moveTo>
                  <a:lnTo>
                    <a:pt x="43815" y="93345"/>
                  </a:lnTo>
                  <a:lnTo>
                    <a:pt x="11525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71856" y="5420678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某个区域没放组件，相邻区域会占用它的空间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10447" cy="909257"/>
            <a:chOff x="520446" y="342900"/>
            <a:chExt cx="77104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5.3 布局管理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104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5.5　BorderLayoutTest：五个按钮各占一区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200400"/>
            <a:chOff x="533400" y="1524000"/>
            <a:chExt cx="5842635" cy="3200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200400"/>
            </a:xfrm>
            <a:prstGeom prst="roundRect">
              <a:avLst>
                <a:gd name="adj" fmla="val 29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88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BorderLayoutTest.java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847084" cy="27041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BorderLayoutTest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BorderLayoutTest()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"BorderLayoutTest"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add(BorderLayout.NORTH,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"North"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add(BorderLayout.SOUTH,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"South"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add(BorderLayout.EAST,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"East"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add(BorderLayout.WEST,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"West"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add(BorderLayout.CENTER,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"Center"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setSize(275, 170);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setVisible(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BorderLayoutTest application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BorderLayoutTest();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application.setDefaultCloseOperation(JFrame.EXIT_ON_CLOSE);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889182"/>
            <a:ext cx="5842635" cy="1450658"/>
            <a:chOff x="533400" y="4889182"/>
            <a:chExt cx="5842635" cy="1450658"/>
          </a:xfrm>
        </p:grpSpPr>
        <p:sp>
          <p:nvSpPr>
            <p:cNvPr id="11" name="Rectangle 11"/>
            <p:cNvSpPr/>
            <p:nvPr/>
          </p:nvSpPr>
          <p:spPr>
            <a:xfrm>
              <a:off x="533400" y="4889182"/>
              <a:ext cx="5842635" cy="1450658"/>
            </a:xfrm>
            <a:prstGeom prst="roundRect">
              <a:avLst>
                <a:gd name="adj" fmla="val 91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5022532"/>
              <a:ext cx="47625" cy="11839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507015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044" y="510301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写法提示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8006" y="510968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组件在前、区域在后更常见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98" y="5426869"/>
              <a:ext cx="52148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原课件用的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add(String name, Component comp)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 JDK 1.1 起就不再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推荐的老重载，Java 文档建议写成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add(comp,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BorderLayout.NORTH)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，效果相同。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680835" y="1524000"/>
            <a:ext cx="4977765" cy="2287905"/>
            <a:chOff x="6680835" y="1524000"/>
            <a:chExt cx="4977765" cy="2287905"/>
          </a:xfrm>
        </p:grpSpPr>
        <p:sp>
          <p:nvSpPr>
            <p:cNvPr id="18" name="Rectangle 18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8091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75371" y="1641157"/>
              <a:ext cx="790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 (x, 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609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75514" y="2023110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North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69034" y="2023110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60686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259×26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5514" y="2404110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South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9034" y="240411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(0, 105)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60686" y="2404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259×26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5514" y="2785110"/>
              <a:ext cx="371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69034" y="2785110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(0, 26)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60686" y="2785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64×79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80835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5514" y="3167062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East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69034" y="3167062"/>
              <a:ext cx="675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(200, 26)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60686" y="316706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59×79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80835" y="3426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5514" y="3548062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Center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69034" y="3548062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(64, 26)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975532" y="3440430"/>
              <a:ext cx="167354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060686" y="354806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136×79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680835" y="1524000"/>
              <a:ext cx="497776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6959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96124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6680835" y="3976688"/>
            <a:ext cx="4977765" cy="1730692"/>
            <a:chOff x="6680835" y="3976688"/>
            <a:chExt cx="4977765" cy="1730692"/>
          </a:xfrm>
        </p:grpSpPr>
        <p:sp>
          <p:nvSpPr>
            <p:cNvPr id="48" name="Rectangle 48"/>
            <p:cNvSpPr/>
            <p:nvPr/>
          </p:nvSpPr>
          <p:spPr>
            <a:xfrm>
              <a:off x="6680835" y="3976688"/>
              <a:ext cx="4977765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0360" y="4110038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99910" y="415766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81380" y="41905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读实测结果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40218" y="4198144"/>
              <a:ext cx="2368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内容面板 259×131 是怎么分的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93433" y="4514374"/>
              <a:ext cx="3691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北、南只取按钮的首选高度 26，宽度铺满 259。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93433" y="4799171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东、西只取首选宽度（64、59），高度是中间那一段 131 −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26 − 26 = 79。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93433" y="5326856"/>
              <a:ext cx="34909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剩下的宽 259 − 64 − 59 = 136 全给 Center。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680835" y="5872162"/>
            <a:ext cx="4977765" cy="467678"/>
            <a:chOff x="6680835" y="5872162"/>
            <a:chExt cx="4977765" cy="467678"/>
          </a:xfrm>
        </p:grpSpPr>
        <p:sp>
          <p:nvSpPr>
            <p:cNvPr id="57" name="Rectangle 57"/>
            <p:cNvSpPr/>
            <p:nvPr/>
          </p:nvSpPr>
          <p:spPr>
            <a:xfrm>
              <a:off x="6680835" y="5872162"/>
              <a:ext cx="4977765" cy="467678"/>
            </a:xfrm>
            <a:prstGeom prst="roundRect">
              <a:avLst>
                <a:gd name="adj" fmla="val 2444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885623" y="6006467"/>
              <a:ext cx="200023" cy="200023"/>
              <a:chOff x="6885623" y="6006467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885623" y="60064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018973" y="60731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188708" y="6017419"/>
              <a:ext cx="3965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拉大窗口时，只有 Center 在两个方向上一起变大。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5601" cy="909257"/>
            <a:chOff x="520446" y="342900"/>
            <a:chExt cx="67456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5.3 布局管理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56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GridLayout：把容器等分成行列相同的格子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161" y="1547336"/>
            <a:ext cx="5633657" cy="1390270"/>
            <a:chOff x="526161" y="1547336"/>
            <a:chExt cx="5633657" cy="1390270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继承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49096" y="1547336"/>
              <a:ext cx="37721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java.lang.Object → java.awt.GridLayout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535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196929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构造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9096" y="1969294"/>
              <a:ext cx="442379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GridLayout()、GridLayout(int rows, int cols)、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GridLayout(int rows, int cols, int hGap, int vGap)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431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65890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排法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9096" y="2658904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在网格里从左到右、从上到下放，每格大小相同</a:t>
              </a:r>
            </a:p>
          </p:txBody>
        </p:sp>
      </p:grpSp>
      <p:grpSp>
        <p:nvGrpSpPr>
          <p:cNvPr id="23" name="c1-bullets-2"/>
          <p:cNvGrpSpPr/>
          <p:nvPr/>
        </p:nvGrpSpPr>
        <p:grpSpPr>
          <a:xfrm>
            <a:off x="526161" y="3090386"/>
            <a:ext cx="5297424" cy="1818894"/>
            <a:chOff x="526161" y="3090386"/>
            <a:chExt cx="5297424" cy="1818894"/>
          </a:xfrm>
        </p:grpSpPr>
        <p:sp>
          <p:nvSpPr>
            <p:cNvPr id="16" name="TextBox 16"/>
            <p:cNvSpPr txBox="1"/>
            <p:nvPr/>
          </p:nvSpPr>
          <p:spPr>
            <a:xfrm>
              <a:off x="526161" y="30903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实测的三条规则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3400" y="3458528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7621" y="3428524"/>
              <a:ext cx="38138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GridLayout() 是 1 行，每放一个组件多一列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3400" y="378809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7621" y="3758089"/>
              <a:ext cx="504596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行数、列数都不为 0 时以行数为准：GridLayout(2, 3) 放 7 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按钮，排成 2 行 4 列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33400" y="438912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7621" y="4359116"/>
              <a:ext cx="491972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行、列都写 0 抛 IllegalArgumentException：rows and cols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cannot both be zero</a:t>
              </a:r>
            </a:p>
          </p:txBody>
        </p:sp>
      </p:grpSp>
      <p:grpSp>
        <p:nvGrpSpPr>
          <p:cNvPr id="27" name="c1-code-3"/>
          <p:cNvGrpSpPr/>
          <p:nvPr/>
        </p:nvGrpSpPr>
        <p:grpSpPr>
          <a:xfrm>
            <a:off x="533400" y="5037772"/>
            <a:ext cx="5626418" cy="1189672"/>
            <a:chOff x="533400" y="5037772"/>
            <a:chExt cx="5626418" cy="1189672"/>
          </a:xfrm>
        </p:grpSpPr>
        <p:sp>
          <p:nvSpPr>
            <p:cNvPr id="24" name="Rectangle 24"/>
            <p:cNvSpPr/>
            <p:nvPr/>
          </p:nvSpPr>
          <p:spPr>
            <a:xfrm>
              <a:off x="533400" y="5037772"/>
              <a:ext cx="5626418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1797" y="518969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原课件给出的片段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949" y="5450110"/>
              <a:ext cx="3029915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GridLayout grid1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GridLayout(2, 3, 5, 5);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GridLayout grid2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GridLayout(3, 2);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container = getContentPane();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container.setLayout(grid1);</a:t>
              </a:r>
            </a:p>
          </p:txBody>
        </p:sp>
      </p:grpSp>
      <p:grpSp>
        <p:nvGrpSpPr>
          <p:cNvPr id="29" name="c2-text-1"/>
          <p:cNvGrpSpPr/>
          <p:nvPr/>
        </p:nvGrpSpPr>
        <p:grpSpPr>
          <a:xfrm>
            <a:off x="6458522" y="1544002"/>
            <a:ext cx="4005442" cy="234696"/>
            <a:chOff x="6458522" y="1544002"/>
            <a:chExt cx="400544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458522" y="1544002"/>
              <a:ext cx="4005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grid1 = GridLayout(2, 3, 5, 5)：2 行 3 列，格间距 5</a:t>
              </a:r>
            </a:p>
          </p:txBody>
        </p:sp>
      </p:grpSp>
      <p:grpSp>
        <p:nvGrpSpPr>
          <p:cNvPr id="42" name="c2-cells-2"/>
          <p:cNvGrpSpPr/>
          <p:nvPr/>
        </p:nvGrpSpPr>
        <p:grpSpPr>
          <a:xfrm>
            <a:off x="6464618" y="1916430"/>
            <a:ext cx="4538662" cy="980123"/>
            <a:chOff x="6464618" y="1916430"/>
            <a:chExt cx="4538662" cy="980123"/>
          </a:xfrm>
        </p:grpSpPr>
        <p:sp>
          <p:nvSpPr>
            <p:cNvPr id="30" name="Rectangle 30"/>
            <p:cNvSpPr/>
            <p:nvPr/>
          </p:nvSpPr>
          <p:spPr>
            <a:xfrm>
              <a:off x="6464618" y="1916430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74869" y="204501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one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978140" y="1916430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71429" y="2045018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two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490710" y="1916430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007670" y="204501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489835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28223" y="2618422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four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978140" y="2489835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62948" y="2618422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five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490710" y="2489835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122164" y="2618422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six</a:t>
              </a:r>
            </a:p>
          </p:txBody>
        </p:sp>
      </p:grpSp>
      <p:grpSp>
        <p:nvGrpSpPr>
          <p:cNvPr id="44" name="c2-text-3"/>
          <p:cNvGrpSpPr/>
          <p:nvPr/>
        </p:nvGrpSpPr>
        <p:grpSpPr>
          <a:xfrm>
            <a:off x="6458522" y="3101340"/>
            <a:ext cx="3412149" cy="234696"/>
            <a:chOff x="6458522" y="3101340"/>
            <a:chExt cx="3412149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458522" y="3101340"/>
              <a:ext cx="3412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grid2 = GridLayout(3, 2)：3 行 2 列，无间距</a:t>
              </a:r>
            </a:p>
          </p:txBody>
        </p:sp>
      </p:grpSp>
      <p:grpSp>
        <p:nvGrpSpPr>
          <p:cNvPr id="57" name="c2-cells-4"/>
          <p:cNvGrpSpPr/>
          <p:nvPr/>
        </p:nvGrpSpPr>
        <p:grpSpPr>
          <a:xfrm>
            <a:off x="6464618" y="3473768"/>
            <a:ext cx="3026092" cy="1552575"/>
            <a:chOff x="6464618" y="3473768"/>
            <a:chExt cx="3026092" cy="1552575"/>
          </a:xfrm>
        </p:grpSpPr>
        <p:sp>
          <p:nvSpPr>
            <p:cNvPr id="45" name="Rectangle 45"/>
            <p:cNvSpPr/>
            <p:nvPr/>
          </p:nvSpPr>
          <p:spPr>
            <a:xfrm>
              <a:off x="6464618" y="3473768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74869" y="360235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one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978140" y="3473768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71429" y="3602355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two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4047172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81577" y="417576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three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978140" y="4047172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41746" y="417576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four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4619625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49426" y="4748212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five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978140" y="4619625"/>
              <a:ext cx="15125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09594" y="4748212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six</a:t>
              </a:r>
            </a:p>
          </p:txBody>
        </p:sp>
      </p:grpSp>
      <p:grpSp>
        <p:nvGrpSpPr>
          <p:cNvPr id="64" name="c2-callout-5"/>
          <p:cNvGrpSpPr/>
          <p:nvPr/>
        </p:nvGrpSpPr>
        <p:grpSpPr>
          <a:xfrm>
            <a:off x="6464618" y="5211128"/>
            <a:ext cx="5193982" cy="1016318"/>
            <a:chOff x="6464618" y="5211128"/>
            <a:chExt cx="5193982" cy="1016318"/>
          </a:xfrm>
        </p:grpSpPr>
        <p:sp>
          <p:nvSpPr>
            <p:cNvPr id="58" name="Rectangle 58"/>
            <p:cNvSpPr/>
            <p:nvPr/>
          </p:nvSpPr>
          <p:spPr>
            <a:xfrm>
              <a:off x="6464618" y="5211128"/>
              <a:ext cx="5193982" cy="1016318"/>
            </a:xfrm>
            <a:prstGeom prst="roundRect">
              <a:avLst>
                <a:gd name="adj" fmla="val 1124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669405" y="5619750"/>
              <a:ext cx="200026" cy="200025"/>
              <a:chOff x="6669405" y="5619750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69405" y="56197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09144" y="56642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43859" y="57753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971729" y="5488781"/>
              <a:ext cx="418934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格子大小 = 容器大小按行列等分，组件被拉伸到填满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格子，首选尺寸不起作用。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25560" cy="909257"/>
            <a:chOff x="520446" y="342900"/>
            <a:chExt cx="83255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5.3 布局管理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255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5.6　GridLayoutDemo：点一下按钮就换一种网格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4772025"/>
            <a:chOff x="533400" y="1524000"/>
            <a:chExt cx="6276022" cy="47720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772025"/>
            </a:xfrm>
            <a:prstGeom prst="roundRect">
              <a:avLst>
                <a:gd name="adj" fmla="val 199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29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GridLayoutDemo.java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4203319" cy="4270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java.awt.event.*;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GridLayoutDemo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ActionListener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String[] names = {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"one"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"two"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"three"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"four"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"five"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"six"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toggle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Container container;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GridLayout grid1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GridLayout(2, 3, 5, 5);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GridLayout grid2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GridLayout(3, 2);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GridLayoutDemo()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"GridLayout Demo"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 = getContentPane();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container.setLayout(grid1);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(String name : names)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JButton b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JButton(name);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b.addActionListener(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container.add(b);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setSize(300, 150);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setVisible(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actionPerformed(ActionEvent e) {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点任一按钮就换布局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container.setLayout(toggle ? grid2 : grid1);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toggle = !toggle;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container.validate();      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让新布局立即生效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GridLayoutDemo().setDefaultCloseOperation(JFrame.EXIT_ON_CLOSE);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5" name="c2-table-1"/>
          <p:cNvGrpSpPr/>
          <p:nvPr/>
        </p:nvGrpSpPr>
        <p:grpSpPr>
          <a:xfrm>
            <a:off x="7114222" y="1524000"/>
            <a:ext cx="4544378" cy="1525905"/>
            <a:chOff x="7114222" y="1524000"/>
            <a:chExt cx="4544378" cy="1525905"/>
          </a:xfrm>
        </p:grpSpPr>
        <p:sp>
          <p:nvSpPr>
            <p:cNvPr id="11" name="Rectangle 11"/>
            <p:cNvSpPr/>
            <p:nvPr/>
          </p:nvSpPr>
          <p:spPr>
            <a:xfrm>
              <a:off x="7114222" y="1524000"/>
              <a:ext cx="454437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0380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8490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7988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每个按钮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01185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08901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81441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行 3 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72054" y="2023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91×53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5315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14222" y="22821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14222" y="2286952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08901" y="2404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点一次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81441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行 2 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72054" y="2404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142×37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5315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14222" y="26631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08901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再点一次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81441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行 3 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72054" y="2785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91×53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53154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8200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472612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653712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ard-2"/>
          <p:cNvGrpSpPr/>
          <p:nvPr/>
        </p:nvGrpSpPr>
        <p:grpSpPr>
          <a:xfrm>
            <a:off x="7114222" y="3214688"/>
            <a:ext cx="4544378" cy="1444942"/>
            <a:chOff x="7114222" y="3214688"/>
            <a:chExt cx="4544378" cy="1444942"/>
          </a:xfrm>
        </p:grpSpPr>
        <p:sp>
          <p:nvSpPr>
            <p:cNvPr id="36" name="Rectangle 36"/>
            <p:cNvSpPr/>
            <p:nvPr/>
          </p:nvSpPr>
          <p:spPr>
            <a:xfrm>
              <a:off x="7114222" y="3214688"/>
              <a:ext cx="4544378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23748" y="3348038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33298" y="339566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21918" y="34285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24051" y="3435191"/>
              <a:ext cx="1426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91×53 是怎么来的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6820" y="3751421"/>
              <a:ext cx="3800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内容面板 284×111。3 列之间有 2 个 5 像素的间距：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(284 − 10) ÷ 3 ≈ 91。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26820" y="4279106"/>
              <a:ext cx="31835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行之间 1 个间距：(111 − 5) ÷ 2 = 53。</a:t>
              </a:r>
            </a:p>
          </p:txBody>
        </p:sp>
      </p:grpSp>
      <p:grpSp>
        <p:nvGrpSpPr>
          <p:cNvPr id="50" name="c2-card-3"/>
          <p:cNvGrpSpPr/>
          <p:nvPr/>
        </p:nvGrpSpPr>
        <p:grpSpPr>
          <a:xfrm>
            <a:off x="7114222" y="4824412"/>
            <a:ext cx="4544378" cy="1471612"/>
            <a:chOff x="7114222" y="4824412"/>
            <a:chExt cx="4544378" cy="1471612"/>
          </a:xfrm>
        </p:grpSpPr>
        <p:sp>
          <p:nvSpPr>
            <p:cNvPr id="44" name="Rectangle 44"/>
            <p:cNvSpPr/>
            <p:nvPr/>
          </p:nvSpPr>
          <p:spPr>
            <a:xfrm>
              <a:off x="7114222" y="4824412"/>
              <a:ext cx="4544378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23748" y="4957762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33298" y="50053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25017" y="50382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99273" y="50449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按原课件截图补全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26820" y="5362099"/>
              <a:ext cx="39712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原课件只给了 grid1、grid2 的定义和两张运行截图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（按钮 one～six）。这里补成可运行的程序，换布局后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 validate() 让容器马上重排。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6503" cy="909257"/>
            <a:chOff x="520446" y="342900"/>
            <a:chExt cx="75765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5.3 布局管理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65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JButton（5.2.4）：会产生点击事件的基本控件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6923" y="1545431"/>
            <a:ext cx="5416677" cy="1102804"/>
            <a:chOff x="526923" y="1545431"/>
            <a:chExt cx="5416677" cy="110280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继承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13663" y="1545431"/>
              <a:ext cx="3694938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…→ Container → JComponent → AbstractButton 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JButton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564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21588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构造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3663" y="2158841"/>
              <a:ext cx="449961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JButton()、JButton(String text)、JButton(Icon icon)、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JButton(String text, Icon icon)</a:t>
              </a:r>
            </a:p>
          </p:txBody>
        </p:sp>
      </p:grpSp>
      <p:grpSp>
        <p:nvGrpSpPr>
          <p:cNvPr id="27" name="c1-table-2"/>
          <p:cNvGrpSpPr/>
          <p:nvPr/>
        </p:nvGrpSpPr>
        <p:grpSpPr>
          <a:xfrm>
            <a:off x="533400" y="2762250"/>
            <a:ext cx="5410200" cy="1712595"/>
            <a:chOff x="533400" y="2762250"/>
            <a:chExt cx="5410200" cy="1712595"/>
          </a:xfrm>
        </p:grpSpPr>
        <p:sp>
          <p:nvSpPr>
            <p:cNvPr id="13" name="Rectangle 13"/>
            <p:cNvSpPr/>
            <p:nvPr/>
          </p:nvSpPr>
          <p:spPr>
            <a:xfrm>
              <a:off x="533400" y="276225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77009" y="28794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成员方法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23460" y="28794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078" y="3261360"/>
              <a:ext cx="16753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setIcon(Icon icon)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0416" y="32613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设置图标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5204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525202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3642360"/>
              <a:ext cx="2895029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setBounds(int x, int y, int width, int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height)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90416" y="373570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不用布局时定位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0881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4211002"/>
              <a:ext cx="2997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addActionListener(ActionListener l)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90416" y="42110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注册点击监听器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62250"/>
              <a:ext cx="5410200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990975" y="276225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3"/>
          <p:cNvGrpSpPr/>
          <p:nvPr/>
        </p:nvGrpSpPr>
        <p:grpSpPr>
          <a:xfrm>
            <a:off x="533400" y="4639628"/>
            <a:ext cx="5410200" cy="1543050"/>
            <a:chOff x="533400" y="4639628"/>
            <a:chExt cx="5410200" cy="1543050"/>
          </a:xfrm>
        </p:grpSpPr>
        <p:sp>
          <p:nvSpPr>
            <p:cNvPr id="28" name="Rectangle 28"/>
            <p:cNvSpPr/>
            <p:nvPr/>
          </p:nvSpPr>
          <p:spPr>
            <a:xfrm>
              <a:off x="533400" y="4639628"/>
              <a:ext cx="5410200" cy="1543050"/>
            </a:xfrm>
            <a:prstGeom prst="roundRect">
              <a:avLst>
                <a:gd name="adj" fmla="val 8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772978"/>
              <a:ext cx="47625" cy="12763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2475" y="48206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5147" y="48534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8450" y="48601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原课件两处签名写错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98" y="5176361"/>
              <a:ext cx="46215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 setIcon(Icon icon)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漏了 void；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setBounds(int height,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width, int x, int y)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顺序不对，它继承自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java.awt.Component，顺序是 x、y、宽、高。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6248400" y="1524000"/>
            <a:ext cx="5410200" cy="3209925"/>
            <a:chOff x="6248400" y="1524000"/>
            <a:chExt cx="5410200" cy="3209925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3209925"/>
            </a:xfrm>
            <a:prstGeom prst="roundRect">
              <a:avLst>
                <a:gd name="adj" fmla="val 296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797" y="1675924"/>
              <a:ext cx="20964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Button：两个按钮居中排成一行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988" y="1934289"/>
              <a:ext cx="3706686" cy="2709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 b1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"Button 1"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),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b2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"Button 2"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Button()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"Testing JButton"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 container = getContentPane();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container.setLayout(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FlowLayout());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container.add(b1);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container.add(b2);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setSize(275, 170);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setVisible(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Button application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application.setDefaultCloseOperation(JFrame.EXIT_ON_CLOSE);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0" name="c2-text-2"/>
          <p:cNvGrpSpPr/>
          <p:nvPr/>
        </p:nvGrpSpPr>
        <p:grpSpPr>
          <a:xfrm>
            <a:off x="6243066" y="4915852"/>
            <a:ext cx="5172113" cy="205359"/>
            <a:chOff x="6243066" y="4915852"/>
            <a:chExt cx="5172113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6243066" y="4915852"/>
              <a:ext cx="5172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实测：两个按钮都是 81×26，位于 (46, 5) 和 (132, 5)，FlowLayout 默认居中。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248400" y="5244465"/>
            <a:ext cx="5410200" cy="937260"/>
            <a:chOff x="6248400" y="5244465"/>
            <a:chExt cx="5410200" cy="937260"/>
          </a:xfrm>
        </p:grpSpPr>
        <p:sp>
          <p:nvSpPr>
            <p:cNvPr id="41" name="Rectangle 41"/>
            <p:cNvSpPr/>
            <p:nvPr/>
          </p:nvSpPr>
          <p:spPr>
            <a:xfrm>
              <a:off x="6248400" y="5244465"/>
              <a:ext cx="5410200" cy="937260"/>
            </a:xfrm>
            <a:prstGeom prst="roundRect">
              <a:avLst>
                <a:gd name="adj" fmla="val 121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41129" y="5609391"/>
              <a:ext cx="224134" cy="192560"/>
              <a:chOff x="6441129" y="5609391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53200" y="56797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41129" y="56093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53200" y="57575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6273" y="5389721"/>
              <a:ext cx="445084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类名 Button 与 java.awt.Button 重名。本文件里的 Button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指自己（同一编译单元的类优先于 import java.awt.*），能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编译，但容易看混，自己写程序时换个名字。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78910" cy="909257"/>
            <a:chOff x="520446" y="342900"/>
            <a:chExt cx="87789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5.3 布局管理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789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5.7　JButtonTest：点哪个按钮，就按哪种方式对齐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4204335"/>
            <a:chOff x="533400" y="1524000"/>
            <a:chExt cx="6059805" cy="42043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04335"/>
            </a:xfrm>
            <a:prstGeom prst="roundRect">
              <a:avLst>
                <a:gd name="adj" fmla="val 22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146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JButtonTest.java（import 同例 5.4，另加 java.awt.event.*）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891915"/>
              <a:ext cx="6021705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033838"/>
              <a:ext cx="6021705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4289"/>
              <a:ext cx="3541141" cy="3702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JButtonTest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 leftButton, centerButton, rightButton;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Container container;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 layout;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JButtonTest()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"JButton Test"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layout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layout.setAlignment(FlowLayout.LEFT);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 = getContentPane();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container.setLayout(layout);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leftButton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"Left"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leftButton.addActionListener(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ActionListener()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actionPerformed(ActionEvent event)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layout.setAlignment(FlowLayout.LEFT);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layout.layoutContainer(container);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container.add(leftButton);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centerButton、rightButton 写法相同，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只把 LEFT 换成 CENTER、RIGHT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setSize(300, 75);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setVisible(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main 与例 5.4 相同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6898005" y="1524000"/>
            <a:ext cx="4760595" cy="2000250"/>
            <a:chOff x="6898005" y="1524000"/>
            <a:chExt cx="4760595" cy="2000250"/>
          </a:xfrm>
        </p:grpSpPr>
        <p:sp>
          <p:nvSpPr>
            <p:cNvPr id="13" name="Rectangle 13"/>
            <p:cNvSpPr/>
            <p:nvPr/>
          </p:nvSpPr>
          <p:spPr>
            <a:xfrm>
              <a:off x="6898005" y="1524000"/>
              <a:ext cx="476059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9941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依次点击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1866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对齐方式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96749" y="1645444"/>
              <a:ext cx="999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Left 按钮的 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95160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（启动）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13458" y="2045494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32708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98005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98005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5160" y="2445544"/>
              <a:ext cx="411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13458" y="2445544"/>
              <a:ext cx="409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32708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98005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95160" y="2845594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Center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13458" y="2845594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CENTER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32708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98005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98005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5160" y="3245644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13458" y="3245644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32708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98005" y="1524000"/>
              <a:ext cx="476059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51154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13079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ard-2"/>
          <p:cNvGrpSpPr/>
          <p:nvPr/>
        </p:nvGrpSpPr>
        <p:grpSpPr>
          <a:xfrm>
            <a:off x="6898005" y="3693795"/>
            <a:ext cx="4760595" cy="1716405"/>
            <a:chOff x="6898005" y="3693795"/>
            <a:chExt cx="4760595" cy="1716405"/>
          </a:xfrm>
        </p:grpSpPr>
        <p:sp>
          <p:nvSpPr>
            <p:cNvPr id="38" name="Rectangle 38"/>
            <p:cNvSpPr/>
            <p:nvPr/>
          </p:nvSpPr>
          <p:spPr>
            <a:xfrm>
              <a:off x="6898005" y="3693795"/>
              <a:ext cx="4760595" cy="1716405"/>
            </a:xfrm>
            <a:prstGeom prst="roundRect">
              <a:avLst>
                <a:gd name="adj" fmla="val 7769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084695" y="388048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73316" y="39133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读代码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75067" y="3915727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监听器里改的是布局对象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77837" y="4241482"/>
              <a:ext cx="410279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setAlignment 只改对齐方式，</a:t>
              </a:r>
              <a:br/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layoutContainer(container)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让布局按新方式立刻重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排。匿名内部类能直接用 layout 和 container，因为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它们是外部类的字段。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6898005" y="5580698"/>
            <a:ext cx="4760595" cy="729615"/>
            <a:chOff x="6898005" y="5580698"/>
            <a:chExt cx="4760595" cy="729615"/>
          </a:xfrm>
        </p:grpSpPr>
        <p:sp>
          <p:nvSpPr>
            <p:cNvPr id="44" name="Rectangle 44"/>
            <p:cNvSpPr/>
            <p:nvPr/>
          </p:nvSpPr>
          <p:spPr>
            <a:xfrm>
              <a:off x="6898005" y="558069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102793" y="5845493"/>
              <a:ext cx="200026" cy="200026"/>
              <a:chOff x="7102793" y="5845493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102793" y="58454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02805" y="59121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191693" y="59455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405497" y="5727383"/>
              <a:ext cx="386276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更正：原课件配的截图标题是 FlowLayout Demo，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沿用自例 5.4，本程序的标题是 JButton Test。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091178" cy="2643187"/>
            <a:chOff x="667512" y="1835468"/>
            <a:chExt cx="4091178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673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5.4 事件处理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用户点一下，程序怎么知道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事件源产生事件对象，交给登记过的监听器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监听器是实现了某个接口的对象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事件处理涉及三类对象：事件、事件源、事件处理者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161" y="1547336"/>
            <a:ext cx="5849874" cy="1915097"/>
            <a:chOff x="526161" y="1547336"/>
            <a:chExt cx="5849874" cy="1915097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159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事件 Event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62556" y="1547336"/>
              <a:ext cx="3945890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用户对界面操作在 Java 语言上的描述，以类的形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式出现，例如键盘操作对应 KeyEvent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183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2231231"/>
              <a:ext cx="1133037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事件源 Event</a:t>
              </a:r>
              <a:br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Source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62556" y="223123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事件发生的场所，通常就是各个组件，例如按钮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022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916079"/>
              <a:ext cx="127370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事件处理者</a:t>
              </a:r>
              <a:br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Event handler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62556" y="2916079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接收事件对象并对其进行处理的对象，即事件监听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</a:t>
              </a:r>
            </a:p>
          </p:txBody>
        </p:sp>
      </p:grpSp>
      <p:grpSp>
        <p:nvGrpSpPr>
          <p:cNvPr id="27" name="c1-graph-2"/>
          <p:cNvGrpSpPr/>
          <p:nvPr/>
        </p:nvGrpSpPr>
        <p:grpSpPr>
          <a:xfrm>
            <a:off x="931545" y="3663791"/>
            <a:ext cx="5127308" cy="1046322"/>
            <a:chOff x="931545" y="3663791"/>
            <a:chExt cx="5127308" cy="1046322"/>
          </a:xfrm>
        </p:grpSpPr>
        <p:sp>
          <p:nvSpPr>
            <p:cNvPr id="16" name="Freeform 16"/>
            <p:cNvSpPr/>
            <p:nvPr/>
          </p:nvSpPr>
          <p:spPr>
            <a:xfrm>
              <a:off x="2005965" y="4423410"/>
              <a:ext cx="2256472" cy="9525"/>
            </a:xfrm>
            <a:custGeom>
              <a:avLst/>
              <a:gdLst/>
              <a:ahLst/>
              <a:cxnLst/>
              <a:rect l="l" t="t" r="r" b="b"/>
              <a:pathLst>
                <a:path w="2256472" h="9525">
                  <a:moveTo>
                    <a:pt x="0" y="0"/>
                  </a:moveTo>
                  <a:lnTo>
                    <a:pt x="22564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262438" y="43757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931545" y="4226242"/>
              <a:ext cx="1074420" cy="394335"/>
            </a:xfrm>
            <a:prstGeom prst="roundRect">
              <a:avLst>
                <a:gd name="adj" fmla="val 24155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57688" y="4136708"/>
              <a:ext cx="1701165" cy="573405"/>
            </a:xfrm>
            <a:prstGeom prst="roundRect">
              <a:avLst>
                <a:gd name="adj" fmla="val 1661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73653" y="4362926"/>
              <a:ext cx="590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Button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00598" y="4285774"/>
              <a:ext cx="10153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ActionListener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61919" y="4440079"/>
              <a:ext cx="10927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接收事件 e 并处理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4598" y="4345305"/>
              <a:ext cx="13725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505119" y="4374356"/>
              <a:ext cx="13524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点击 → 触发 ActionEvent 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65911" y="366379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事件源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73498" y="366379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事件监听器</a:t>
              </a:r>
            </a:p>
          </p:txBody>
        </p:sp>
      </p:grpSp>
      <p:grpSp>
        <p:nvGrpSpPr>
          <p:cNvPr id="31" name="c1-code-3"/>
          <p:cNvGrpSpPr/>
          <p:nvPr/>
        </p:nvGrpSpPr>
        <p:grpSpPr>
          <a:xfrm>
            <a:off x="533400" y="5288280"/>
            <a:ext cx="5842635" cy="1003935"/>
            <a:chOff x="533400" y="5288280"/>
            <a:chExt cx="5842635" cy="1003935"/>
          </a:xfrm>
        </p:grpSpPr>
        <p:sp>
          <p:nvSpPr>
            <p:cNvPr id="28" name="Rectangle 28"/>
            <p:cNvSpPr/>
            <p:nvPr/>
          </p:nvSpPr>
          <p:spPr>
            <a:xfrm>
              <a:off x="533400" y="5288280"/>
              <a:ext cx="5842635" cy="1003935"/>
            </a:xfrm>
            <a:prstGeom prst="roundRect">
              <a:avLst>
                <a:gd name="adj" fmla="val 94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797" y="544020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代码里对应的那一行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988" y="5700046"/>
              <a:ext cx="4285869" cy="510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JButton b1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"Button 1"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事件源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b1.addActionListener(listener);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登记监听器</a:t>
              </a:r>
              <a:br/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用户点击 b1 → 生成 ActionEvent → 调用 listener.actionPerformed(e)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7678102" y="1524000"/>
            <a:ext cx="2984182" cy="2537079"/>
            <a:chOff x="7678102" y="1524000"/>
            <a:chExt cx="2984182" cy="2537079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5560" t="0" r="5561" b="0"/>
            <a:stretch>
              <a:fillRect/>
            </a:stretch>
          </p:blipFill>
          <p:spPr>
            <a:xfrm>
              <a:off x="7678102" y="1524000"/>
              <a:ext cx="2984182" cy="2238375"/>
            </a:xfrm>
            <a:prstGeom prst="roundRect">
              <a:avLst>
                <a:gd name="adj" fmla="val 5957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750874" y="385572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门铃是事件源，听到铃声去开门的人是监听器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680835" y="4219575"/>
            <a:ext cx="4977765" cy="2072640"/>
            <a:chOff x="6680835" y="4219575"/>
            <a:chExt cx="4977765" cy="2072640"/>
          </a:xfrm>
        </p:grpSpPr>
        <p:sp>
          <p:nvSpPr>
            <p:cNvPr id="35" name="Rectangle 35"/>
            <p:cNvSpPr/>
            <p:nvPr/>
          </p:nvSpPr>
          <p:spPr>
            <a:xfrm>
              <a:off x="6680835" y="4219575"/>
              <a:ext cx="4977765" cy="2072640"/>
            </a:xfrm>
            <a:prstGeom prst="roundRect">
              <a:avLst>
                <a:gd name="adj" fmla="val 5515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885623" y="5155885"/>
              <a:ext cx="200023" cy="200023"/>
              <a:chOff x="6885623" y="5155885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885623" y="51558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018973" y="52225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87946" y="4893469"/>
              <a:ext cx="398195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按钮不处理点击，它只负责生成事件对象，通知所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有登记过的监听器。一个按钮可以登记多个监听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器，就像门铃一响，几方同时有反应。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委托事件模型：先注册，事件发生时再通知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graph-1"/>
          <p:cNvGrpSpPr/>
          <p:nvPr/>
        </p:nvGrpSpPr>
        <p:grpSpPr>
          <a:xfrm>
            <a:off x="883920" y="1676400"/>
            <a:ext cx="5479732" cy="2343150"/>
            <a:chOff x="883920" y="1676400"/>
            <a:chExt cx="5479732" cy="2343150"/>
          </a:xfrm>
        </p:grpSpPr>
        <p:sp>
          <p:nvSpPr>
            <p:cNvPr id="7" name="Freeform 7"/>
            <p:cNvSpPr/>
            <p:nvPr/>
          </p:nvSpPr>
          <p:spPr>
            <a:xfrm>
              <a:off x="2217420" y="3752850"/>
              <a:ext cx="2907982" cy="9525"/>
            </a:xfrm>
            <a:custGeom>
              <a:avLst/>
              <a:gdLst/>
              <a:ahLst/>
              <a:cxnLst/>
              <a:rect l="l" t="t" r="r" b="b"/>
              <a:pathLst>
                <a:path w="2907982" h="9525">
                  <a:moveTo>
                    <a:pt x="290798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22170" y="3705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03045" y="20574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55420" y="33909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38350" y="2919412"/>
              <a:ext cx="1140142" cy="566738"/>
            </a:xfrm>
            <a:custGeom>
              <a:avLst/>
              <a:gdLst/>
              <a:ahLst/>
              <a:cxnLst/>
              <a:rect l="l" t="t" r="r" b="b"/>
              <a:pathLst>
                <a:path w="1140142" h="566738">
                  <a:moveTo>
                    <a:pt x="0" y="566738"/>
                  </a:moveTo>
                  <a:lnTo>
                    <a:pt x="11401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56585" y="2876550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106680" y="0"/>
                  </a:moveTo>
                  <a:lnTo>
                    <a:pt x="42862" y="84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081462" y="2876550"/>
              <a:ext cx="1072515" cy="564833"/>
            </a:xfrm>
            <a:custGeom>
              <a:avLst/>
              <a:gdLst/>
              <a:ahLst/>
              <a:cxnLst/>
              <a:rect l="l" t="t" r="r" b="b"/>
              <a:pathLst>
                <a:path w="1072515" h="564833">
                  <a:moveTo>
                    <a:pt x="0" y="0"/>
                  </a:moveTo>
                  <a:lnTo>
                    <a:pt x="1072515" y="5648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32070" y="3399472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6678"/>
                  </a:moveTo>
                  <a:lnTo>
                    <a:pt x="0" y="84773"/>
                  </a:lnTo>
                  <a:lnTo>
                    <a:pt x="4476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79170" y="1676400"/>
              <a:ext cx="1047750" cy="381000"/>
            </a:xfrm>
            <a:prstGeom prst="roundRect">
              <a:avLst>
                <a:gd name="adj" fmla="val 25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83920" y="3486150"/>
              <a:ext cx="123825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160395" y="2457450"/>
              <a:ext cx="1047750" cy="419100"/>
            </a:xfrm>
            <a:prstGeom prst="roundRect">
              <a:avLst>
                <a:gd name="adj" fmla="val 2272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125402" y="3486150"/>
              <a:ext cx="123825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15009" y="18011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外部作用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56360" y="36042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4334" y="377094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（事件源）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96234" y="2601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事件对象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85816" y="36871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事件处理器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176588" y="3674745"/>
              <a:ext cx="89344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185273" y="3703796"/>
              <a:ext cx="8760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 事件监听器注册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316355" y="2693670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40979" y="272272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 点击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256472" y="3103245"/>
              <a:ext cx="78962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67965" y="3132296"/>
              <a:ext cx="7656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 生成事件对象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317682" y="3103245"/>
              <a:ext cx="6858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32934" y="3132296"/>
              <a:ext cx="655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④ 传入处理器</a:t>
              </a:r>
            </a:p>
          </p:txBody>
        </p:sp>
      </p:grpSp>
      <p:grpSp>
        <p:nvGrpSpPr>
          <p:cNvPr id="39" name="c1-callout-2"/>
          <p:cNvGrpSpPr/>
          <p:nvPr/>
        </p:nvGrpSpPr>
        <p:grpSpPr>
          <a:xfrm>
            <a:off x="533400" y="4572000"/>
            <a:ext cx="6059805" cy="1109662"/>
            <a:chOff x="533400" y="4572000"/>
            <a:chExt cx="6059805" cy="1109662"/>
          </a:xfrm>
        </p:grpSpPr>
        <p:sp>
          <p:nvSpPr>
            <p:cNvPr id="33" name="Rectangle 33"/>
            <p:cNvSpPr/>
            <p:nvPr/>
          </p:nvSpPr>
          <p:spPr>
            <a:xfrm>
              <a:off x="533400" y="4572000"/>
              <a:ext cx="6059805" cy="1109662"/>
            </a:xfrm>
            <a:prstGeom prst="roundRect">
              <a:avLst>
                <a:gd name="adj" fmla="val 1030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026343"/>
              <a:ext cx="200026" cy="200026"/>
              <a:chOff x="738188" y="5026343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0263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0930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1263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4883468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原课件还用男生向女生发出约会邀请作比方：男生是事件发送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者，邀请是事件，女生是事件接收者。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6898005" y="1533525"/>
            <a:ext cx="4570857" cy="2347246"/>
            <a:chOff x="6898005" y="1533525"/>
            <a:chExt cx="4570857" cy="2347246"/>
          </a:xfrm>
        </p:grpSpPr>
        <p:sp>
          <p:nvSpPr>
            <p:cNvPr id="40" name="Rectangle 40"/>
            <p:cNvSpPr/>
            <p:nvPr/>
          </p:nvSpPr>
          <p:spPr>
            <a:xfrm>
              <a:off x="7031355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898005" y="2419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9162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898005" y="306990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9162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09485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定义监听器类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10628" y="1861661"/>
              <a:ext cx="41582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按需要选监听器类型（点击用 ActionListener），在类里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写好处理方法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09485" y="24536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创建监听器对象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10628" y="274653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new 创建监听器对象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09485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10628" y="3397091"/>
              <a:ext cx="41257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调用组件 C 的 addXXXListener() 方法，把监听器对象登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记到 C 上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898005" y="4060508"/>
            <a:ext cx="4760595" cy="1621155"/>
            <a:chOff x="6898005" y="4060508"/>
            <a:chExt cx="4760595" cy="1621155"/>
          </a:xfrm>
        </p:grpSpPr>
        <p:sp>
          <p:nvSpPr>
            <p:cNvPr id="54" name="Rectangle 54"/>
            <p:cNvSpPr/>
            <p:nvPr/>
          </p:nvSpPr>
          <p:spPr>
            <a:xfrm>
              <a:off x="6898005" y="4060508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07530" y="4193858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45655" y="427005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19112" y="430577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最常漏的一步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15325" y="430530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忘了注册，编译运行都没问题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38035" y="4666298"/>
              <a:ext cx="3987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监听器类写好了、对象也 new 了，唯独没调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addActionListener，点按钮就什么也不发生，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而且没有任何报错。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监听器的三种写法：内部类、匿名内部类、主类自己实现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3505200" cy="2088832"/>
            <a:chOff x="533400" y="1524000"/>
            <a:chExt cx="3505200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776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方法1：内部类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474214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b1.addActionListener(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B1());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add(b1);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……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B1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ActionListener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actionPerformed(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ActionEvent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who.setText(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"Button 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803332"/>
            <a:ext cx="3505200" cy="1235392"/>
            <a:chOff x="533400" y="3803332"/>
            <a:chExt cx="3505200" cy="1235392"/>
          </a:xfrm>
        </p:grpSpPr>
        <p:sp>
          <p:nvSpPr>
            <p:cNvPr id="11" name="Rectangle 11"/>
            <p:cNvSpPr/>
            <p:nvPr/>
          </p:nvSpPr>
          <p:spPr>
            <a:xfrm>
              <a:off x="533400" y="3803332"/>
              <a:ext cx="3505200" cy="1235392"/>
            </a:xfrm>
            <a:prstGeom prst="roundRect">
              <a:avLst>
                <a:gd name="adj" fmla="val 925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320540"/>
              <a:ext cx="200026" cy="200026"/>
              <a:chOff x="738188" y="4320540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3205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3872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44205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177665"/>
              <a:ext cx="2682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监听器是有名字的内部类，能直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接访问外部类的 who。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4343400" y="1524000"/>
            <a:ext cx="3505200" cy="1912620"/>
            <a:chOff x="4343400" y="1524000"/>
            <a:chExt cx="3505200" cy="1912620"/>
          </a:xfrm>
        </p:grpSpPr>
        <p:sp>
          <p:nvSpPr>
            <p:cNvPr id="18" name="Rectangle 18"/>
            <p:cNvSpPr/>
            <p:nvPr/>
          </p:nvSpPr>
          <p:spPr>
            <a:xfrm>
              <a:off x="4343400" y="1524000"/>
              <a:ext cx="3505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71797" y="1675924"/>
              <a:ext cx="11415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方法2：匿名内部类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71797" y="1935956"/>
              <a:ext cx="2474214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b1.addActionListener(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ActionListener()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actionPerformed(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ActionEvent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who.setText(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"Button 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add(b1);</a:t>
              </a:r>
            </a:p>
          </p:txBody>
        </p:sp>
      </p:grpSp>
      <p:grpSp>
        <p:nvGrpSpPr>
          <p:cNvPr id="28" name="c2-callout-2"/>
          <p:cNvGrpSpPr/>
          <p:nvPr/>
        </p:nvGrpSpPr>
        <p:grpSpPr>
          <a:xfrm>
            <a:off x="4343400" y="3627120"/>
            <a:ext cx="3505200" cy="1410652"/>
            <a:chOff x="4343400" y="3627120"/>
            <a:chExt cx="3505200" cy="1410652"/>
          </a:xfrm>
        </p:grpSpPr>
        <p:sp>
          <p:nvSpPr>
            <p:cNvPr id="22" name="Rectangle 22"/>
            <p:cNvSpPr/>
            <p:nvPr/>
          </p:nvSpPr>
          <p:spPr>
            <a:xfrm>
              <a:off x="4343400" y="3627120"/>
              <a:ext cx="3505200" cy="1410652"/>
            </a:xfrm>
            <a:prstGeom prst="roundRect">
              <a:avLst>
                <a:gd name="adj" fmla="val 810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548188" y="4232910"/>
              <a:ext cx="200026" cy="200026"/>
              <a:chOff x="4548188" y="4232910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548188" y="42329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648200" y="42995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637088" y="43329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850130" y="4090035"/>
              <a:ext cx="2577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类的定义和 new 写在一处，只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用一次时最省事。</a:t>
              </a:r>
            </a:p>
          </p:txBody>
        </p:sp>
      </p:grpSp>
      <p:grpSp>
        <p:nvGrpSpPr>
          <p:cNvPr id="32" name="c3-code-1"/>
          <p:cNvGrpSpPr/>
          <p:nvPr/>
        </p:nvGrpSpPr>
        <p:grpSpPr>
          <a:xfrm>
            <a:off x="8153400" y="1524000"/>
            <a:ext cx="3505200" cy="2264092"/>
            <a:chOff x="8153400" y="1524000"/>
            <a:chExt cx="3505200" cy="2264092"/>
          </a:xfrm>
        </p:grpSpPr>
        <p:sp>
          <p:nvSpPr>
            <p:cNvPr id="29" name="Rectangle 29"/>
            <p:cNvSpPr/>
            <p:nvPr/>
          </p:nvSpPr>
          <p:spPr>
            <a:xfrm>
              <a:off x="8153400" y="1524000"/>
              <a:ext cx="350520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81797" y="1675924"/>
              <a:ext cx="15372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方法3：主类直接实现接口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81797" y="1935956"/>
              <a:ext cx="2611120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ButtonAct3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ActionListener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……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b1.addActionListener(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……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actionPerformed(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ActionEvent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who.setText(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"Button 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9" name="c3-callout-2"/>
          <p:cNvGrpSpPr/>
          <p:nvPr/>
        </p:nvGrpSpPr>
        <p:grpSpPr>
          <a:xfrm>
            <a:off x="8153400" y="3978592"/>
            <a:ext cx="3505200" cy="1059180"/>
            <a:chOff x="8153400" y="3978592"/>
            <a:chExt cx="3505200" cy="1059180"/>
          </a:xfrm>
        </p:grpSpPr>
        <p:sp>
          <p:nvSpPr>
            <p:cNvPr id="33" name="Rectangle 33"/>
            <p:cNvSpPr/>
            <p:nvPr/>
          </p:nvSpPr>
          <p:spPr>
            <a:xfrm>
              <a:off x="8153400" y="3978592"/>
              <a:ext cx="3505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358188" y="4408170"/>
              <a:ext cx="200026" cy="200026"/>
              <a:chOff x="8358188" y="4408170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58188" y="44081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458200" y="44748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447088" y="45081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660130" y="4127182"/>
              <a:ext cx="2682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窗口自己就是监听器。多个按钮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共用这一个方法时，要用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e.getSource() 区分。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8516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三种写法补成完整程序后都在 JDK 21 上跑过：点 b1，标签 who 都从 nobody 变成 Button 1。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3797" cy="909257"/>
            <a:chOff x="520446" y="342900"/>
            <a:chExt cx="75537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37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三种写法怎么选，以及 Java 8 起的 lambda 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059805" cy="2790825"/>
            <a:chOff x="533400" y="1524000"/>
            <a:chExt cx="6059805" cy="2790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251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87752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监听器类在哪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70716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适合的场合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1917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93214" y="219170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有名字的内部类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74439" y="2085022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处理逻辑较长，或几个按钮要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复用同一个类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927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9746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7289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匿名内部类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3214" y="272891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没有名字，写在注册处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74439" y="272891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逻辑短，只给一个按钮用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232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37280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主类实现接口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3214" y="33728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窗口类本身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74439" y="3159442"/>
              <a:ext cx="16123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按钮少；在一个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actionPerformed 里用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e.getSource() 分支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879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88429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893820"/>
              <a:ext cx="143541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4015740"/>
              <a:ext cx="1209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lambda（补充）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93214" y="401574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由编译器生成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74439" y="401574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逻辑只有一两行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6059805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983105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64330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4500562"/>
            <a:ext cx="6059805" cy="1564958"/>
            <a:chOff x="533400" y="4500562"/>
            <a:chExt cx="6059805" cy="1564958"/>
          </a:xfrm>
        </p:grpSpPr>
        <p:sp>
          <p:nvSpPr>
            <p:cNvPr id="33" name="Rectangle 33"/>
            <p:cNvSpPr/>
            <p:nvPr/>
          </p:nvSpPr>
          <p:spPr>
            <a:xfrm>
              <a:off x="533400" y="4500562"/>
              <a:ext cx="605980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63391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75335" y="47043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5543" y="4740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76744" y="474392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原课件的三段代码是片段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8096" y="5095399"/>
              <a:ext cx="523532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三段都写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extends Frame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（AWT 的窗口）却往里加 Swing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JButton，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who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也没有声明。补全时改为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extends JFrame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，并加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上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JLabel who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6898005" y="1524000"/>
            <a:ext cx="4760595" cy="2471738"/>
            <a:chOff x="6898005" y="1524000"/>
            <a:chExt cx="4760595" cy="2471738"/>
          </a:xfrm>
        </p:grpSpPr>
        <p:sp>
          <p:nvSpPr>
            <p:cNvPr id="40" name="Rectangle 40"/>
            <p:cNvSpPr/>
            <p:nvPr/>
          </p:nvSpPr>
          <p:spPr>
            <a:xfrm>
              <a:off x="6898005" y="1524000"/>
              <a:ext cx="4760595" cy="2471738"/>
            </a:xfrm>
            <a:prstGeom prst="roundRect">
              <a:avLst>
                <a:gd name="adj" fmla="val 385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26402" y="1675924"/>
              <a:ext cx="2592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补充：lambda 写法（ButtonAct4，实测）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917055" y="3109912"/>
              <a:ext cx="4722495" cy="15049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26592" y="1934337"/>
              <a:ext cx="3471291" cy="19707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ButtonAct4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 b1 =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"b1"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 who =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JLabel(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"nobody"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ButtonAct4()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"ButtonAct4"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setLayout(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FlowLayout());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b1.addActionListener(e -&gt; who.setText(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"Button 1"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add(b1);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add(who);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898005" y="4180522"/>
            <a:ext cx="4760595" cy="1884045"/>
            <a:chOff x="6898005" y="4180522"/>
            <a:chExt cx="4760595" cy="1884045"/>
          </a:xfrm>
        </p:grpSpPr>
        <p:sp>
          <p:nvSpPr>
            <p:cNvPr id="45" name="Rectangle 45"/>
            <p:cNvSpPr/>
            <p:nvPr/>
          </p:nvSpPr>
          <p:spPr>
            <a:xfrm>
              <a:off x="6898005" y="4180522"/>
              <a:ext cx="4760595" cy="1884045"/>
            </a:xfrm>
            <a:prstGeom prst="roundRect">
              <a:avLst>
                <a:gd name="adj" fmla="val 6067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102793" y="5022535"/>
              <a:ext cx="200023" cy="200023"/>
              <a:chOff x="7102793" y="5022535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102793" y="50225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36143" y="50892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405116" y="4629626"/>
              <a:ext cx="3900805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lambda 只能代替只有一个抽象方法的接口。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ActionListener 只有 actionPerformed 一个方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法，可以；MouseListener 有 5 个，不行，要用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本节后面的适配器。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7677" cy="909257"/>
            <a:chOff x="520446" y="342900"/>
            <a:chExt cx="79376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76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5.8　中英文切换（上）：两个面板装进边界布局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492240" cy="4242435"/>
            <a:chOff x="533400" y="1524000"/>
            <a:chExt cx="6492240" cy="4242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42435"/>
            </a:xfrm>
            <a:prstGeom prst="roundRect">
              <a:avLst>
                <a:gd name="adj" fmla="val 224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75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JButtonEvent.java（构造方法）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5013008"/>
              <a:ext cx="6454140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5168265"/>
              <a:ext cx="6454140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5324475"/>
              <a:ext cx="6454140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88" y="1934766"/>
              <a:ext cx="4094353" cy="3739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java.awt.event.ActionEvent;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java.awt.event.ActionListener;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JButtonEvent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ActionListener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 message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"Hello,Java World!"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 JBcn, JBen;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JPanel JPButtons, JPMessage;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JButtonEvent()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setTitle(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"测试事件"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JPButtons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JPanel();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JPMessage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JPanel();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JPButtons.setLayout(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JPMessage.setLayout(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JPMessage.add(message);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JPButtons.add(JBcn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"中文"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JPButtons.add(JBen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"English"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getContentPane().setLayout(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BorderLayout());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getContentPane().add(JPMessage, BorderLayout.CENTER);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getContentPane().add(JPButtons, BorderLayout.SOUTH);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JBcn.addActionListener(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JBen.addActionListener(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JBen.setEnabled(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7" name="c2-code-1"/>
          <p:cNvGrpSpPr/>
          <p:nvPr/>
        </p:nvGrpSpPr>
        <p:grpSpPr>
          <a:xfrm>
            <a:off x="7330440" y="1524000"/>
            <a:ext cx="4328160" cy="2065020"/>
            <a:chOff x="7330440" y="1524000"/>
            <a:chExt cx="4328160" cy="2065020"/>
          </a:xfrm>
        </p:grpSpPr>
        <p:sp>
          <p:nvSpPr>
            <p:cNvPr id="14" name="Rectangle 14"/>
            <p:cNvSpPr/>
            <p:nvPr/>
          </p:nvSpPr>
          <p:spPr>
            <a:xfrm>
              <a:off x="7330440" y="1524000"/>
              <a:ext cx="4328160" cy="2065020"/>
            </a:xfrm>
            <a:prstGeom prst="roundRect">
              <a:avLst>
                <a:gd name="adj" fmla="val 461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8837" y="1675924"/>
              <a:ext cx="16209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JButtonEventDemo.java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028" y="1934766"/>
              <a:ext cx="3673856" cy="1566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JButtonEventDemo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JButtonEvent frame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JButtonEvent();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frame.setDefaultCloseOperation(JFrame.EXIT_ON_CLOSE);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frame.setSize(300, 200);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frame.setLocation(100, 100);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frame.setVisible(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5" name="c2-tree-2"/>
          <p:cNvGrpSpPr/>
          <p:nvPr/>
        </p:nvGrpSpPr>
        <p:grpSpPr>
          <a:xfrm>
            <a:off x="7359015" y="4000500"/>
            <a:ext cx="3902393" cy="2141220"/>
            <a:chOff x="7359015" y="4000500"/>
            <a:chExt cx="3902393" cy="2141220"/>
          </a:xfrm>
        </p:grpSpPr>
        <p:sp>
          <p:nvSpPr>
            <p:cNvPr id="18" name="Freeform 18"/>
            <p:cNvSpPr/>
            <p:nvPr/>
          </p:nvSpPr>
          <p:spPr>
            <a:xfrm>
              <a:off x="8051482" y="5071110"/>
              <a:ext cx="9525" cy="861060"/>
            </a:xfrm>
            <a:custGeom>
              <a:avLst/>
              <a:gdLst/>
              <a:ahLst/>
              <a:cxnLst/>
              <a:rect l="l" t="t" r="r" b="b"/>
              <a:pathLst>
                <a:path w="9525" h="861060">
                  <a:moveTo>
                    <a:pt x="0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494520" y="5071110"/>
              <a:ext cx="721043" cy="861060"/>
            </a:xfrm>
            <a:custGeom>
              <a:avLst/>
              <a:gdLst/>
              <a:ahLst/>
              <a:cxnLst/>
              <a:rect l="l" t="t" r="r" b="b"/>
              <a:pathLst>
                <a:path w="721043" h="861060">
                  <a:moveTo>
                    <a:pt x="721043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215562" y="5071110"/>
              <a:ext cx="721995" cy="861060"/>
            </a:xfrm>
            <a:custGeom>
              <a:avLst/>
              <a:gdLst/>
              <a:ahLst/>
              <a:cxnLst/>
              <a:rect l="l" t="t" r="r" b="b"/>
              <a:pathLst>
                <a:path w="721995" h="861060">
                  <a:moveTo>
                    <a:pt x="0" y="0"/>
                  </a:moveTo>
                  <a:lnTo>
                    <a:pt x="721995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051482" y="4210050"/>
              <a:ext cx="1443038" cy="861060"/>
            </a:xfrm>
            <a:custGeom>
              <a:avLst/>
              <a:gdLst/>
              <a:ahLst/>
              <a:cxnLst/>
              <a:rect l="l" t="t" r="r" b="b"/>
              <a:pathLst>
                <a:path w="1443038" h="861060">
                  <a:moveTo>
                    <a:pt x="1443038" y="0"/>
                  </a:moveTo>
                  <a:lnTo>
                    <a:pt x="0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494520" y="4210050"/>
              <a:ext cx="721043" cy="861060"/>
            </a:xfrm>
            <a:custGeom>
              <a:avLst/>
              <a:gdLst/>
              <a:ahLst/>
              <a:cxnLst/>
              <a:rect l="l" t="t" r="r" b="b"/>
              <a:pathLst>
                <a:path w="721043" h="861060">
                  <a:moveTo>
                    <a:pt x="0" y="0"/>
                  </a:moveTo>
                  <a:lnTo>
                    <a:pt x="721043" y="861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82865" y="5722620"/>
              <a:ext cx="73914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359015" y="4861560"/>
              <a:ext cx="138588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264968" y="5722620"/>
              <a:ext cx="458152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613708" y="5722620"/>
              <a:ext cx="6477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559290" y="4861560"/>
              <a:ext cx="1313498" cy="419100"/>
            </a:xfrm>
            <a:prstGeom prst="roundRect">
              <a:avLst>
                <a:gd name="adj" fmla="val 1818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673465" y="4000500"/>
              <a:ext cx="164211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66018" y="5871686"/>
              <a:ext cx="5709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message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19905" y="5010626"/>
              <a:ext cx="12631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CENTER JPMessage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57639" y="58716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98701" y="5871686"/>
              <a:ext cx="4777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English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24291" y="5010626"/>
              <a:ext cx="11825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SOUTH JPButtons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43296" y="4149566"/>
              <a:ext cx="1502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内容面板 BorderLayout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80958" cy="909257"/>
            <a:chOff x="520446" y="342900"/>
            <a:chExt cx="82809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809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5.8　中英文切换（下）：一个监听器分辨两个按钮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951220" cy="3235642"/>
            <a:chOff x="533400" y="1524000"/>
            <a:chExt cx="5951220" cy="32356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235642"/>
            </a:xfrm>
            <a:prstGeom prst="roundRect">
              <a:avLst>
                <a:gd name="adj" fmla="val 29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75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JButtonEvent.java（事件处理）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70735"/>
              <a:ext cx="5913120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093720"/>
              <a:ext cx="5913120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49" y="1936337"/>
              <a:ext cx="3226892" cy="2742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actionPerformed(ActionEvent e)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(e.getSource() == JBcn)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message.setText(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"Java世界，您好！"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JPMessage.updateUI();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JBcn.setEnabled(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JBen.setEnabled(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JPButtons.updateUI();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(e.getSource() == JBen)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message.setText(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"Hello,Java World!"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JPMessage.updateUI();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JBcn.setEnabled(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JBen.setEnabled(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JPButtons.updateUI();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945380"/>
            <a:ext cx="5951220" cy="1293495"/>
            <a:chOff x="533400" y="4945380"/>
            <a:chExt cx="5951220" cy="1293495"/>
          </a:xfrm>
        </p:grpSpPr>
        <p:sp>
          <p:nvSpPr>
            <p:cNvPr id="13" name="Rectangle 13"/>
            <p:cNvSpPr/>
            <p:nvPr/>
          </p:nvSpPr>
          <p:spPr>
            <a:xfrm>
              <a:off x="533400" y="4945380"/>
              <a:ext cx="595122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507873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51492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4842" y="51849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可以删掉的几行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7309" y="5188744"/>
              <a:ext cx="20672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updateUI 在这里用不着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096" y="5540216"/>
              <a:ext cx="52082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updateUI() 是换了外观（LookAndFeel）之后重设 UI 委托用的。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setText、setEnabled 修改属性后会自己安排重绘。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789420" y="1524000"/>
            <a:ext cx="4869180" cy="1720215"/>
            <a:chOff x="6789420" y="1524000"/>
            <a:chExt cx="4869180" cy="1720215"/>
          </a:xfrm>
        </p:grpSpPr>
        <p:sp>
          <p:nvSpPr>
            <p:cNvPr id="20" name="Rectangle 20"/>
            <p:cNvSpPr/>
            <p:nvPr/>
          </p:nvSpPr>
          <p:spPr>
            <a:xfrm>
              <a:off x="6789420" y="1524000"/>
              <a:ext cx="486918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5708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84859" y="1655445"/>
              <a:ext cx="699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message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0316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03176" y="1655445"/>
              <a:ext cx="585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English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94766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66329" y="2085022"/>
              <a:ext cx="13692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Hello,Java World!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13239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39069" y="2085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89420" y="237934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89420" y="2384108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94766" y="2515552"/>
              <a:ext cx="547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 中文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66329" y="2515552"/>
              <a:ext cx="1341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Java世界，您好！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13239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39069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89420" y="28098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94766" y="2946082"/>
              <a:ext cx="797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 English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66329" y="2946082"/>
              <a:ext cx="13692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Hello,Java World!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13239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39069" y="29460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789420" y="1524000"/>
              <a:ext cx="486918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85622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80313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72896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rd-2"/>
          <p:cNvGrpSpPr/>
          <p:nvPr/>
        </p:nvGrpSpPr>
        <p:grpSpPr>
          <a:xfrm>
            <a:off x="6789420" y="3429952"/>
            <a:ext cx="4869180" cy="2808922"/>
            <a:chOff x="6789420" y="3429952"/>
            <a:chExt cx="4869180" cy="2808922"/>
          </a:xfrm>
        </p:grpSpPr>
        <p:sp>
          <p:nvSpPr>
            <p:cNvPr id="45" name="Rectangle 45"/>
            <p:cNvSpPr/>
            <p:nvPr/>
          </p:nvSpPr>
          <p:spPr>
            <a:xfrm>
              <a:off x="6789420" y="3429952"/>
              <a:ext cx="4869180" cy="2808922"/>
            </a:xfrm>
            <a:prstGeom prst="roundRect">
              <a:avLst>
                <a:gd name="adj" fmla="val 474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93255" y="363378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79513" y="36695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读代码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36586" y="3673316"/>
              <a:ext cx="23134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 getSource() 认出是谁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86016" y="4025741"/>
              <a:ext cx="370243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两个按钮注册的是同一个监听器 this，</a:t>
              </a:r>
              <a:br/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e.getSource()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返回触发事件的那个组件，和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JBcn、JBen 比较引用即可。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86016" y="4888706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每次只让一个按钮可用；实测对已禁用的按钮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doClick 不会触发事件。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17426" cy="909257"/>
            <a:chOff x="520446" y="342900"/>
            <a:chExt cx="79174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174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事件类的层次：都从 java.util.EventObject 派生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317861" cy="512636"/>
            <a:chOff x="526542" y="1545907"/>
            <a:chExt cx="10317861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3178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1.0 用一个 java.awt.Event 类表示所有事件，Java 9 起它已标为过时（实测）；现在用 AWTEvent 的各个子类，继承链 Object →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EventObject → AWTEvent。</a:t>
              </a:r>
            </a:p>
          </p:txBody>
        </p:sp>
      </p:grpSp>
      <p:grpSp>
        <p:nvGrpSpPr>
          <p:cNvPr id="32" name="c1-tree-1"/>
          <p:cNvGrpSpPr/>
          <p:nvPr/>
        </p:nvGrpSpPr>
        <p:grpSpPr>
          <a:xfrm>
            <a:off x="533400" y="2255520"/>
            <a:ext cx="11125200" cy="2191702"/>
            <a:chOff x="533400" y="2255520"/>
            <a:chExt cx="11125200" cy="2191702"/>
          </a:xfrm>
        </p:grpSpPr>
        <p:sp>
          <p:nvSpPr>
            <p:cNvPr id="9" name="Freeform 9"/>
            <p:cNvSpPr/>
            <p:nvPr/>
          </p:nvSpPr>
          <p:spPr>
            <a:xfrm>
              <a:off x="9295448" y="3644265"/>
              <a:ext cx="419100" cy="294322"/>
            </a:xfrm>
            <a:custGeom>
              <a:avLst/>
              <a:gdLst/>
              <a:ahLst/>
              <a:cxnLst/>
              <a:rect l="l" t="t" r="r" b="b"/>
              <a:pathLst>
                <a:path w="419100" h="294322">
                  <a:moveTo>
                    <a:pt x="0" y="294322"/>
                  </a:moveTo>
                  <a:lnTo>
                    <a:pt x="209550" y="29432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295448" y="3938588"/>
              <a:ext cx="419100" cy="293370"/>
            </a:xfrm>
            <a:custGeom>
              <a:avLst/>
              <a:gdLst/>
              <a:ahLst/>
              <a:cxnLst/>
              <a:rect l="l" t="t" r="r" b="b"/>
              <a:pathLst>
                <a:path w="419100" h="293370">
                  <a:moveTo>
                    <a:pt x="0" y="0"/>
                  </a:moveTo>
                  <a:lnTo>
                    <a:pt x="209550" y="0"/>
                  </a:lnTo>
                  <a:lnTo>
                    <a:pt x="209550" y="293370"/>
                  </a:lnTo>
                  <a:lnTo>
                    <a:pt x="419100" y="2933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066472" y="3057525"/>
              <a:ext cx="419100" cy="440055"/>
            </a:xfrm>
            <a:custGeom>
              <a:avLst/>
              <a:gdLst/>
              <a:ahLst/>
              <a:cxnLst/>
              <a:rect l="l" t="t" r="r" b="b"/>
              <a:pathLst>
                <a:path w="419100" h="440055">
                  <a:moveTo>
                    <a:pt x="0" y="440055"/>
                  </a:moveTo>
                  <a:lnTo>
                    <a:pt x="209550" y="4400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066472" y="3497580"/>
              <a:ext cx="419100" cy="441008"/>
            </a:xfrm>
            <a:custGeom>
              <a:avLst/>
              <a:gdLst/>
              <a:ahLst/>
              <a:cxnLst/>
              <a:rect l="l" t="t" r="r" b="b"/>
              <a:pathLst>
                <a:path w="419100" h="441008">
                  <a:moveTo>
                    <a:pt x="0" y="0"/>
                  </a:moveTo>
                  <a:lnTo>
                    <a:pt x="209550" y="0"/>
                  </a:lnTo>
                  <a:lnTo>
                    <a:pt x="209550" y="441008"/>
                  </a:lnTo>
                  <a:lnTo>
                    <a:pt x="419100" y="4410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885122" y="2470785"/>
              <a:ext cx="419100" cy="513398"/>
            </a:xfrm>
            <a:custGeom>
              <a:avLst/>
              <a:gdLst/>
              <a:ahLst/>
              <a:cxnLst/>
              <a:rect l="l" t="t" r="r" b="b"/>
              <a:pathLst>
                <a:path w="419100" h="513398">
                  <a:moveTo>
                    <a:pt x="0" y="513398"/>
                  </a:moveTo>
                  <a:lnTo>
                    <a:pt x="209550" y="51339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85122" y="2984182"/>
              <a:ext cx="419100" cy="513397"/>
            </a:xfrm>
            <a:custGeom>
              <a:avLst/>
              <a:gdLst/>
              <a:ahLst/>
              <a:cxnLst/>
              <a:rect l="l" t="t" r="r" b="b"/>
              <a:pathLst>
                <a:path w="419100" h="513397">
                  <a:moveTo>
                    <a:pt x="0" y="0"/>
                  </a:moveTo>
                  <a:lnTo>
                    <a:pt x="209550" y="0"/>
                  </a:lnTo>
                  <a:lnTo>
                    <a:pt x="209550" y="513397"/>
                  </a:lnTo>
                  <a:lnTo>
                    <a:pt x="419100" y="51339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587818" y="298418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304222" y="2255520"/>
              <a:ext cx="2762250" cy="431482"/>
            </a:xfrm>
            <a:prstGeom prst="roundRect">
              <a:avLst>
                <a:gd name="adj" fmla="val 220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85572" y="2842260"/>
              <a:ext cx="2809875" cy="431482"/>
            </a:xfrm>
            <a:prstGeom prst="roundRect">
              <a:avLst>
                <a:gd name="adj" fmla="val 220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714548" y="3497580"/>
              <a:ext cx="1944052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714548" y="4015740"/>
              <a:ext cx="1944052" cy="431482"/>
            </a:xfrm>
            <a:prstGeom prst="roundRect">
              <a:avLst>
                <a:gd name="adj" fmla="val 220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85572" y="3790950"/>
              <a:ext cx="2809875" cy="295275"/>
            </a:xfrm>
            <a:prstGeom prst="roundRect">
              <a:avLst>
                <a:gd name="adj" fmla="val 32258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04222" y="3350895"/>
              <a:ext cx="2762250" cy="295275"/>
            </a:xfrm>
            <a:prstGeom prst="roundRect">
              <a:avLst>
                <a:gd name="adj" fmla="val 32258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006918" y="2768918"/>
              <a:ext cx="878205" cy="431482"/>
            </a:xfrm>
            <a:prstGeom prst="roundRect">
              <a:avLst>
                <a:gd name="adj" fmla="val 22075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768918"/>
              <a:ext cx="1054418" cy="431482"/>
            </a:xfrm>
            <a:prstGeom prst="roundRect">
              <a:avLst>
                <a:gd name="adj" fmla="val 22075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94710" y="2344579"/>
              <a:ext cx="1571625" cy="2981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72"/>
                </a:lnSpc>
              </a:pPr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ActionEvent　AdjustmentEvent</a:t>
              </a:r>
              <a:br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ItemEvent　TextEvent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76060" y="2932271"/>
              <a:ext cx="1462278" cy="2981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72"/>
                </a:lnSpc>
              </a:pPr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ContainerEvent　FocusEvent</a:t>
              </a:r>
              <a:br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PaintEvent　WindowEvent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05035" y="3586639"/>
              <a:ext cx="5021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KeyEvent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05035" y="4105751"/>
              <a:ext cx="1123823" cy="2981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72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MouseEvent</a:t>
              </a:r>
              <a:br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 MouseWheelEvent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76060" y="3880961"/>
              <a:ext cx="6249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InputEvent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94710" y="3439954"/>
              <a:ext cx="9326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ComponentEvent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97405" y="2858929"/>
              <a:ext cx="512521" cy="2981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72"/>
                </a:lnSpc>
              </a:pPr>
              <a:r>
                <a:rPr lang="en-US" sz="8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AWTEvent</a:t>
              </a:r>
              <a:br/>
              <a:r>
                <a:rPr lang="zh-CN" sz="8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3888" y="2858929"/>
              <a:ext cx="665607" cy="2981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72"/>
                </a:lnSpc>
              </a:pPr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EventObject</a:t>
              </a:r>
              <a:br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</a:p>
          </p:txBody>
        </p:sp>
      </p:grpSp>
      <p:grpSp>
        <p:nvGrpSpPr>
          <p:cNvPr id="49" name="c1-compare-2"/>
          <p:cNvGrpSpPr/>
          <p:nvPr/>
        </p:nvGrpSpPr>
        <p:grpSpPr>
          <a:xfrm>
            <a:off x="533400" y="4690110"/>
            <a:ext cx="11125200" cy="1672590"/>
            <a:chOff x="533400" y="4690110"/>
            <a:chExt cx="11125200" cy="1672590"/>
          </a:xfrm>
        </p:grpSpPr>
        <p:sp>
          <p:nvSpPr>
            <p:cNvPr id="33" name="Rectangle 33"/>
            <p:cNvSpPr/>
            <p:nvPr/>
          </p:nvSpPr>
          <p:spPr>
            <a:xfrm>
              <a:off x="533400" y="4690110"/>
              <a:ext cx="5353050" cy="1672590"/>
            </a:xfrm>
            <a:prstGeom prst="roundRect">
              <a:avLst>
                <a:gd name="adj" fmla="val 7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823460"/>
              <a:ext cx="47625" cy="14058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5998" y="48915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低级事件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2000" y="524541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7448" y="5193506"/>
              <a:ext cx="4597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ComponentEvent 一支，对应鼠标、键盘、窗口、焦点这些底层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62000" y="577310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7448" y="5721191"/>
              <a:ext cx="44589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图中继承关系用 JDK 21 反射核对过；MouseWheelEvent 是补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充的，原课件未画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05550" y="4690110"/>
              <a:ext cx="5353050" cy="1672590"/>
            </a:xfrm>
            <a:prstGeom prst="roundRect">
              <a:avLst>
                <a:gd name="adj" fmla="val 7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315075" y="4823460"/>
              <a:ext cx="47625" cy="14058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18148" y="48915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语义事件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34150" y="524541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89598" y="519350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ActionEvent、ItemEvent 等，表示「按钮被按下」「选项变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了」这类含义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34150" y="577310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89598" y="5721191"/>
              <a:ext cx="47574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一次鼠标点击按钮，会同时产生 MouseEvent 和 ActionEvent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934075" y="536448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17308" y="54702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事件类、监听接口与接口方法（一）：动作、选项、鼠标、键盘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able-1"/>
          <p:cNvGrpSpPr/>
          <p:nvPr/>
        </p:nvGrpSpPr>
        <p:grpSpPr>
          <a:xfrm>
            <a:off x="533400" y="1524000"/>
            <a:ext cx="11125200" cy="3237548"/>
            <a:chOff x="533400" y="1524000"/>
            <a:chExt cx="11125200" cy="32375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187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9335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描述信息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7458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监听接口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3408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接口方法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023110"/>
              <a:ext cx="88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ActionEvent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19744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激活组件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33341" y="2023110"/>
              <a:ext cx="1036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ActionListener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80314" y="2023110"/>
              <a:ext cx="2159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actionPerformed(ActionEvent)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404110"/>
              <a:ext cx="747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ItemEvent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19744" y="2404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选择了某些项目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33341" y="2404110"/>
              <a:ext cx="909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ItemListener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80314" y="2404110"/>
              <a:ext cx="21144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itemStateChanged(ItemEvent)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2785110"/>
              <a:ext cx="866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MouseEvent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19744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鼠标移动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3341" y="2785110"/>
              <a:ext cx="14867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MouseMotionListener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80314" y="2785110"/>
              <a:ext cx="1956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mouseDragged、mouseMoved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049905"/>
              <a:ext cx="11125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260408"/>
              <a:ext cx="866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MouseEvent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19744" y="326040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鼠标点击等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548188" y="3059430"/>
              <a:ext cx="2428875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33341" y="3260408"/>
              <a:ext cx="1023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MouseListener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80314" y="3167062"/>
              <a:ext cx="410451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mousePressed、mouseReleased、mouseEntered、mouseExited、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mouseClicked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6128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3734752"/>
              <a:ext cx="6729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KeyEvent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19744" y="3734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键盘输入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33341" y="3734752"/>
              <a:ext cx="838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KeyListener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80314" y="3734752"/>
              <a:ext cx="25256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keyPressed、keyReleased、keyTyped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9938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99859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8078" y="4116705"/>
              <a:ext cx="836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FocusEvent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19744" y="411670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组件收到或失去焦点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33341" y="4116705"/>
              <a:ext cx="9944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FocusListener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80314" y="4116705"/>
              <a:ext cx="16801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focusGained、focusLost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3757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8078" y="4497705"/>
              <a:ext cx="12368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AdjustmentEvent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19744" y="449770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移动了滚动条等组件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33341" y="4497705"/>
              <a:ext cx="13761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AdjustmentListener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80314" y="4497705"/>
              <a:ext cx="3011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adjustmentValueChanged(AdjustmentEvent)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11125200" cy="3237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420302" y="1524000"/>
              <a:ext cx="9525" cy="3237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533900" y="1524000"/>
              <a:ext cx="9525" cy="3237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80872" y="1524000"/>
              <a:ext cx="9525" cy="3237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1-callout-2"/>
          <p:cNvGrpSpPr/>
          <p:nvPr/>
        </p:nvGrpSpPr>
        <p:grpSpPr>
          <a:xfrm>
            <a:off x="533400" y="4926330"/>
            <a:ext cx="11125200" cy="797242"/>
            <a:chOff x="533400" y="4926330"/>
            <a:chExt cx="11125200" cy="797242"/>
          </a:xfrm>
        </p:grpSpPr>
        <p:sp>
          <p:nvSpPr>
            <p:cNvPr id="55" name="Rectangle 55"/>
            <p:cNvSpPr/>
            <p:nvPr/>
          </p:nvSpPr>
          <p:spPr>
            <a:xfrm>
              <a:off x="533400" y="4926330"/>
              <a:ext cx="11125200" cy="797242"/>
            </a:xfrm>
            <a:prstGeom prst="roundRect">
              <a:avLst>
                <a:gd name="adj" fmla="val 14337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225417"/>
              <a:ext cx="200023" cy="200023"/>
              <a:chOff x="738188" y="5225417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2254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52920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5118259"/>
              <a:ext cx="996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命名规律：XxxEvent 由 XxxListener 接收，用组件的 addXxxListener() 注册。唯一的例外是 MouseEvent，它按移动和点击分给两个接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1" name="Rectangle 6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1273" y="6039326"/>
              <a:ext cx="86485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表中省略了参数的方法，参数都是同一行的事件类，例如 mouseMoved(MouseEvent)、keyTyped(KeyEvent)。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事件类、监听接口与接口方法（二）：组件、窗口、容器、文本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25200" cy="3034665"/>
            <a:chOff x="533400" y="1524000"/>
            <a:chExt cx="11125200" cy="3034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187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9335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描述信息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7458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监听接口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3408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接口方法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116455"/>
              <a:ext cx="1192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ComponentEvent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19744" y="211645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对象移动、缩放、显示、隐藏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33341" y="2116455"/>
              <a:ext cx="1333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ComponentListener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80314" y="2023110"/>
              <a:ext cx="375113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componentMoved、componentHidden、componentResized、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componentShown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688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73642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777490"/>
              <a:ext cx="9403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WindowEvent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19744" y="277749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窗口收到窗口级事件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33341" y="2777490"/>
              <a:ext cx="1093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WindowListener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80314" y="2590800"/>
              <a:ext cx="3531108" cy="578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windowClosing、windowOpened、windowIconified、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windowDeiconified、windowClosed、windowActivated、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windowDeactivated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22326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345180"/>
              <a:ext cx="11253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ContainerEvent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19744" y="334518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容器中增加、删除了组件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3341" y="3345180"/>
              <a:ext cx="1269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ContainerListener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80314" y="3345180"/>
              <a:ext cx="25782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componentAdded、componentRemoved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052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60997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727132"/>
              <a:ext cx="754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TextEvent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19744" y="372713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文本字段或文本区发生改变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33341" y="3727132"/>
              <a:ext cx="9167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TextListener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80314" y="3727132"/>
              <a:ext cx="2093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textValueChanged(TextEvent)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862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4108132"/>
              <a:ext cx="1453515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MouseWheelEvent（补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19744" y="42014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滚动鼠标滚轮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33341" y="4201478"/>
              <a:ext cx="14089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MouseWheelListener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80314" y="4201478"/>
              <a:ext cx="2593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mouseWheelMoved(MouseWheelEvent)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3034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420302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533900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80872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1-compare-2"/>
          <p:cNvGrpSpPr/>
          <p:nvPr/>
        </p:nvGrpSpPr>
        <p:grpSpPr>
          <a:xfrm>
            <a:off x="533400" y="4723448"/>
            <a:ext cx="11125200" cy="1639252"/>
            <a:chOff x="533400" y="4723448"/>
            <a:chExt cx="11125200" cy="1639252"/>
          </a:xfrm>
        </p:grpSpPr>
        <p:sp>
          <p:nvSpPr>
            <p:cNvPr id="43" name="Rectangle 43"/>
            <p:cNvSpPr/>
            <p:nvPr/>
          </p:nvSpPr>
          <p:spPr>
            <a:xfrm>
              <a:off x="533400" y="4723448"/>
              <a:ext cx="5353050" cy="1639252"/>
            </a:xfrm>
            <a:prstGeom prst="roundRect">
              <a:avLst>
                <a:gd name="adj" fmla="val 8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2925" y="4856798"/>
              <a:ext cx="47625" cy="13725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5998" y="4925854"/>
              <a:ext cx="23765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方法个数（JDK 21 反射核对）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62000" y="527970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17448" y="5226844"/>
              <a:ext cx="39631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MouseListener 5 个，MouseMotionListener 2 个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62000" y="556450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7448" y="5511641"/>
              <a:ext cx="386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WindowListener 7 个，ComponentListener 4 个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62000" y="584930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7448" y="579739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实现接口就得把这些方法全写出来，哪怕只用其中一个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305550" y="4723448"/>
              <a:ext cx="5353050" cy="1639252"/>
            </a:xfrm>
            <a:prstGeom prst="roundRect">
              <a:avLst>
                <a:gd name="adj" fmla="val 8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315075" y="4856798"/>
              <a:ext cx="47625" cy="13725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18148" y="492585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容易踩的坑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534150" y="527970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89598" y="5226844"/>
              <a:ext cx="4059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TextEvent 只由 AWT 的 TextField、TextArea 产生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534150" y="556450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89598" y="5511641"/>
              <a:ext cx="43983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 文本组件的内容变化要用 DocumentListener 监听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934075" y="538162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17308" y="5487352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38702" cy="909257"/>
            <a:chOff x="520446" y="342900"/>
            <a:chExt cx="90387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387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5.9　MouseTracker：一个窗口同时实现两个鼠标接口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410200" cy="3813810"/>
            <a:chOff x="533400" y="1524000"/>
            <a:chExt cx="5410200" cy="3813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3810"/>
            </a:xfrm>
            <a:prstGeom prst="roundRect">
              <a:avLst>
                <a:gd name="adj" fmla="val 24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030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MouseTracker.java（上）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718560"/>
              <a:ext cx="5372100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884295"/>
              <a:ext cx="5372100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5766"/>
              <a:ext cx="4315079" cy="3328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java.awt.event.*;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MouseTracker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MouseListener, MouseMotionListener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 statusBar;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MouseTracker()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"Demonstrating Mouse Events"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statusBar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JLabel();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getContentPane().setLayout(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BorderLayout());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getContentPane().add(statusBar, BorderLayout.SOUTH);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addMouseListener(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addMouseMotionListener(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setSize(275, 100);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setVisible(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 args[])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MouseTracker application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MouseTracker();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application.setDefaultCloseOperation(JFrame.EXIT_ON_CLOSE);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248400" y="1524000"/>
            <a:ext cx="5410200" cy="2557462"/>
            <a:chOff x="6248400" y="1524000"/>
            <a:chExt cx="5410200" cy="2557462"/>
          </a:xfrm>
        </p:grpSpPr>
        <p:sp>
          <p:nvSpPr>
            <p:cNvPr id="13" name="Rectangle 13"/>
            <p:cNvSpPr/>
            <p:nvPr/>
          </p:nvSpPr>
          <p:spPr>
            <a:xfrm>
              <a:off x="6248400" y="1524000"/>
              <a:ext cx="5410200" cy="2557462"/>
            </a:xfrm>
            <a:prstGeom prst="roundRect">
              <a:avLst>
                <a:gd name="adj" fmla="val 372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6797" y="1675924"/>
              <a:ext cx="26265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MouseTracker.java（下：七个接口方法）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6988" y="1934718"/>
              <a:ext cx="3743706" cy="2065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55"/>
                </a:lnSpc>
              </a:pPr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1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1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mouseClicked(MouseEvent event) {</a:t>
              </a:r>
              <a:br/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statusBar.setText(</a:t>
              </a:r>
              <a:r>
                <a:rPr lang="en-US" sz="81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"Clicked at ["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event.getX() +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81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"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event.getY() + </a:t>
              </a:r>
              <a:r>
                <a:rPr lang="zh-CN" sz="81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"]"</a:t>
              </a:r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8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mousePressed、mouseReleased、mouseDragged、mouseMoved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8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写法相同，只把 Clicked 换成 Pressed、Released、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8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Dragged、Moved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1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1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mouseEntered(MouseEvent event) {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1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JOptionPane.showMessageDialog(null, "Mouse in window");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1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1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mouseExited(MouseEvent event) {</a:t>
              </a:r>
              <a:br/>
              <a:r>
                <a:rPr lang="en-US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statusBar.setText(</a:t>
              </a:r>
              <a:r>
                <a:rPr lang="en-US" sz="81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"Mouse outside window"</a:t>
              </a:r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callout-2"/>
          <p:cNvGrpSpPr/>
          <p:nvPr/>
        </p:nvGrpSpPr>
        <p:grpSpPr>
          <a:xfrm>
            <a:off x="6248400" y="4261485"/>
            <a:ext cx="5410200" cy="1075372"/>
            <a:chOff x="6248400" y="4261485"/>
            <a:chExt cx="5410200" cy="1075372"/>
          </a:xfrm>
        </p:grpSpPr>
        <p:sp>
          <p:nvSpPr>
            <p:cNvPr id="17" name="Rectangle 17"/>
            <p:cNvSpPr/>
            <p:nvPr/>
          </p:nvSpPr>
          <p:spPr>
            <a:xfrm>
              <a:off x="6248400" y="4261485"/>
              <a:ext cx="5410200" cy="1075372"/>
            </a:xfrm>
            <a:prstGeom prst="roundRect">
              <a:avLst>
                <a:gd name="adj" fmla="val 106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453188" y="4699635"/>
              <a:ext cx="200026" cy="200026"/>
              <a:chOff x="6453188" y="4699635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453188" y="46996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53200" y="47663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542088" y="47996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755511" y="4438174"/>
              <a:ext cx="444182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类声明里同时写了两个接口，所以 5 + 2 = 7 个方法一个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都不能少，用不到的 mouseEntered 也要留一个空方法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体。</a:t>
              </a:r>
            </a:p>
          </p:txBody>
        </p:sp>
      </p:grpSp>
      <p:grpSp>
        <p:nvGrpSpPr>
          <p:cNvPr id="30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24" name="Rectangle 24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26129" y="5880853"/>
              <a:ext cx="224134" cy="192560"/>
              <a:chOff x="726129" y="5880853"/>
              <a:chExt cx="224134" cy="1925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3820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612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5753576"/>
              <a:ext cx="944626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反过来，类声明里只写 MouseListener 却调用 addMouseMotionListener(this)，编译就会报类型不兼容：this 不是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MouseMotionListener。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7677" cy="909257"/>
            <a:chOff x="520446" y="342900"/>
            <a:chExt cx="79376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76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5.9　实测：一次单击依次触发按下、松开、点击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33400" y="1524000"/>
            <a:ext cx="5410200" cy="2581275"/>
            <a:chOff x="533400" y="1524000"/>
            <a:chExt cx="5410200" cy="2581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0158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依次派发的事件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26802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状态栏显示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085022"/>
              <a:ext cx="22614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MOUSE_PRESSED (100, 50)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35262" y="2085022"/>
              <a:ext cx="1678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Pressed at [100, 50]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23600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MOUSE_RELEASED (100, 50)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5262" y="2515552"/>
              <a:ext cx="1726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Released at [100, 50]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946082"/>
              <a:ext cx="2216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MOUSE_CLICKED (100, 50)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39440" y="2824162"/>
              <a:ext cx="279463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35262" y="2946082"/>
              <a:ext cx="1597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Clicked at [100, 50]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3375660"/>
              <a:ext cx="21359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MOUSE_MOVED (120, 60)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35262" y="3375660"/>
              <a:ext cx="1534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Moved at [120, 60]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806190"/>
              <a:ext cx="12219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MOUSE_EXITED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35262" y="3806190"/>
              <a:ext cx="17299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 outside window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41020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125152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290060"/>
            <a:ext cx="5410200" cy="1884998"/>
            <a:chOff x="533400" y="4290060"/>
            <a:chExt cx="5410200" cy="1884998"/>
          </a:xfrm>
        </p:grpSpPr>
        <p:sp>
          <p:nvSpPr>
            <p:cNvPr id="30" name="Rectangle 30"/>
            <p:cNvSpPr/>
            <p:nvPr/>
          </p:nvSpPr>
          <p:spPr>
            <a:xfrm>
              <a:off x="533400" y="4290060"/>
              <a:ext cx="541020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42341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75335" y="449389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7644" y="45296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怎么测的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60588" y="453437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用程序代替手去点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8096" y="4885849"/>
              <a:ext cx="46131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程序运行后，用 dispatchEvent 把构造好的 MouseEvent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依次发给窗口，每发一个就读一次状态栏的文字。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8096" y="5477351"/>
              <a:ext cx="47393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dispatchEvent 走的是和真实点击相同的分派路径，监听器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分不出事件是谁造的，所以结果和手动操作一致。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248400" y="1524000"/>
            <a:ext cx="5410200" cy="2747962"/>
            <a:chOff x="6248400" y="1524000"/>
            <a:chExt cx="5410200" cy="2747962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2747962"/>
            </a:xfrm>
            <a:prstGeom prst="roundRect">
              <a:avLst>
                <a:gd name="adj" fmla="val 485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522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424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53644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三件容易想错的事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52235" y="2106930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10580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43129" y="2119789"/>
              <a:ext cx="445985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真实单击会依次产生 pressed、released、clicked，状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态栏最后停在 Clicked，前两条一闪而过。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52235" y="2698432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10580" y="27387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43129" y="2711291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监听器注册在 JFrame 上，getX()、getY() 以整个窗口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的左上角为原点，包括标题栏：实测窗口上边框高 31 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素，内容区从 y = 31 起。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52235" y="3561398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10580" y="36017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43129" y="3574256"/>
              <a:ext cx="44688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mouseEntered 里的 JOptionPane 若不注释掉，鼠标每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次进入窗口都会弹框。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248400" y="4456748"/>
            <a:ext cx="5410200" cy="1718310"/>
            <a:chOff x="6248400" y="4456748"/>
            <a:chExt cx="5410200" cy="1718310"/>
          </a:xfrm>
        </p:grpSpPr>
        <p:sp>
          <p:nvSpPr>
            <p:cNvPr id="52" name="Rectangle 52"/>
            <p:cNvSpPr/>
            <p:nvPr/>
          </p:nvSpPr>
          <p:spPr>
            <a:xfrm>
              <a:off x="6248400" y="4456748"/>
              <a:ext cx="5410200" cy="1718310"/>
            </a:xfrm>
            <a:prstGeom prst="roundRect">
              <a:avLst>
                <a:gd name="adj" fmla="val 7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4590098"/>
              <a:ext cx="47625" cy="14516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90335" y="466058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7742" y="4696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注册要成对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18464" y="470106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两类鼠标事件分开注册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83096" y="5052536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拖动、移动属于 MouseMotionListener。只写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addMouseListener(this)，mouseMoved 写得再对也收不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到事件。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适配器类：替你把不用的方法写成空方法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389288" cy="264033"/>
            <a:chOff x="526542" y="1545907"/>
            <a:chExt cx="938928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389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多方法的 AWT 监听接口大多配有适配器类：它实现了接口的全部方法，方法体都是空的，继承它只重写需要的方法。</a:t>
              </a:r>
            </a:p>
          </p:txBody>
        </p:sp>
      </p:grpSp>
      <p:grpSp>
        <p:nvGrpSpPr>
          <p:cNvPr id="41" name="c1-table-1"/>
          <p:cNvGrpSpPr/>
          <p:nvPr/>
        </p:nvGrpSpPr>
        <p:grpSpPr>
          <a:xfrm>
            <a:off x="533400" y="1928812"/>
            <a:ext cx="5626418" cy="3806190"/>
            <a:chOff x="533400" y="1928812"/>
            <a:chExt cx="5626418" cy="380619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238" y="2045970"/>
              <a:ext cx="18528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适配器（java.awt.event）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25671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实现的接口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426970"/>
              <a:ext cx="13558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ComponentAdapter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03626" y="2426970"/>
              <a:ext cx="1333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ComponentListener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87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91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808923"/>
              <a:ext cx="1288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ContainerAdapter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03626" y="2808923"/>
              <a:ext cx="1269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ContainerListener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68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8078" y="3189923"/>
              <a:ext cx="999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FocusAdapter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03626" y="3189923"/>
              <a:ext cx="9944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FocusListener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449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453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571875"/>
              <a:ext cx="17830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HierarchyBoundsAdapter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03626" y="3571875"/>
              <a:ext cx="1740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HierarchyBoundsListener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830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952875"/>
              <a:ext cx="836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KeyAdapter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03626" y="3952875"/>
              <a:ext cx="838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KeyListener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1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216718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4427220"/>
              <a:ext cx="1029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MouseAdapter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03626" y="4333875"/>
              <a:ext cx="253098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MouseListener、MouseWheelListener、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MouseMotionListener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7805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4902518"/>
              <a:ext cx="15163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MouseMotionAdapter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03626" y="4902518"/>
              <a:ext cx="14867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MouseMotionListener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1615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166360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5376862"/>
              <a:ext cx="1103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WindowAdapter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03626" y="5283518"/>
              <a:ext cx="267100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WindowListener、WindowStateListener、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WindowFocusListener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928812"/>
              <a:ext cx="5626418" cy="38061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004185" y="1928812"/>
              <a:ext cx="9525" cy="38061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ode-1"/>
          <p:cNvGrpSpPr/>
          <p:nvPr/>
        </p:nvGrpSpPr>
        <p:grpSpPr>
          <a:xfrm>
            <a:off x="6464618" y="1928812"/>
            <a:ext cx="5193982" cy="2215515"/>
            <a:chOff x="6464618" y="1928812"/>
            <a:chExt cx="5193982" cy="2215515"/>
          </a:xfrm>
        </p:grpSpPr>
        <p:sp>
          <p:nvSpPr>
            <p:cNvPr id="42" name="Rectangle 42"/>
            <p:cNvSpPr/>
            <p:nvPr/>
          </p:nvSpPr>
          <p:spPr>
            <a:xfrm>
              <a:off x="6464618" y="1928812"/>
              <a:ext cx="5193982" cy="2215515"/>
            </a:xfrm>
            <a:prstGeom prst="roundRect">
              <a:avLst>
                <a:gd name="adj" fmla="val 42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93015" y="2080736"/>
              <a:ext cx="23726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MouseAdapter 的真实声明（JDK 21）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83668" y="2308860"/>
              <a:ext cx="5155882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93205" y="2339102"/>
              <a:ext cx="2934144" cy="1715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MouseAdapter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MouseListener, MouseWheelListener,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MouseMotionListener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mouseClicked(MouseEvent e) {}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mousePressed(MouseEvent e) {}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mouseReleased(MouseEvent e) {}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mouseEntered(MouseEvent e) {}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mouseExited(MouseEvent e) {}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mouseWheelMoved(MouseWheelEvent e) {}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mouseDragged(MouseEvent e) {}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mouseMoved(MouseEvent e) {}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464618" y="4309110"/>
            <a:ext cx="5193982" cy="1973580"/>
            <a:chOff x="6464618" y="4309110"/>
            <a:chExt cx="5193982" cy="1973580"/>
          </a:xfrm>
        </p:grpSpPr>
        <p:sp>
          <p:nvSpPr>
            <p:cNvPr id="47" name="Rectangle 47"/>
            <p:cNvSpPr/>
            <p:nvPr/>
          </p:nvSpPr>
          <p:spPr>
            <a:xfrm>
              <a:off x="6464618" y="4309110"/>
              <a:ext cx="5193982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4442460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83692" y="44900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76364" y="45229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50620" y="45296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原课件这两页有三处不准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3692" y="4834890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5599" y="487051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4393" y="4845844"/>
              <a:ext cx="42476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 java.awt.event 里有 7 个适配器，扫描 JDK 21 的包实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际有 8 个，漏了 HierarchyBoundsAdapter。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83692" y="5362575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35599" y="539819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54393" y="5374481"/>
              <a:ext cx="4470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MouseAdapter 的声明漏了 abstract，方法也漏了参数。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683692" y="5648325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35599" y="56829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54393" y="5659279"/>
              <a:ext cx="3686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「每个多方法接口都有适配器」说得太满：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InputMethodListener 有 2 个方法，没有适配器。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75038" cy="909257"/>
            <a:chOff x="520446" y="342900"/>
            <a:chExt cx="85750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5.4 事件处理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75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5.10　用适配器改写：只写 mouseClicked 一个方法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4130992"/>
            <a:chOff x="533400" y="1524000"/>
            <a:chExt cx="6059805" cy="41309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130992"/>
            </a:xfrm>
            <a:prstGeom prst="roundRect">
              <a:avLst>
                <a:gd name="adj" fmla="val 23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84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MouseTracker1.java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411855"/>
              <a:ext cx="6021705" cy="15049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562350"/>
              <a:ext cx="6021705" cy="15049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4337"/>
              <a:ext cx="3940683" cy="3626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java.awt.event.*;</a:t>
              </a:r>
              <a:br/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MouseTracker1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 statusBar;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MouseTracker1()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"Demonstrating Mouse Events"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statusBar =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JLabel();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getContentPane().setLayout(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BorderLayout());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getContentPane().add(statusBar, BorderLayout.SOUTH);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addMouseListener(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MouseAdapter()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mouseClicked(MouseEvent event) {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statusBar.setText(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"Clicked at ["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event.getX()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+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"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event.getY() +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"]"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setSize(275, 100);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setVisible(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 args[]) {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MouseTracker1 application =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MouseTracker1();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application.setDefaultCloseOperation(JFrame.EXIT_ON_CLOSE);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table-1"/>
          <p:cNvGrpSpPr/>
          <p:nvPr/>
        </p:nvGrpSpPr>
        <p:grpSpPr>
          <a:xfrm>
            <a:off x="6898005" y="1524000"/>
            <a:ext cx="4760595" cy="1290638"/>
            <a:chOff x="6898005" y="1524000"/>
            <a:chExt cx="4760595" cy="1290638"/>
          </a:xfrm>
        </p:grpSpPr>
        <p:sp>
          <p:nvSpPr>
            <p:cNvPr id="13" name="Rectangle 13"/>
            <p:cNvSpPr/>
            <p:nvPr/>
          </p:nvSpPr>
          <p:spPr>
            <a:xfrm>
              <a:off x="6898005" y="1524000"/>
              <a:ext cx="4760595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77722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派发的事件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1956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03352" y="2085022"/>
              <a:ext cx="1365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MOUSE_PRESSED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83649" y="20850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（不变，空白）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98005" y="23793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98005" y="2384108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03352" y="2515552"/>
              <a:ext cx="2216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MOUSE_CLICKED (171, 61)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83649" y="2515552"/>
              <a:ext cx="1597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Clicked at [171, 61]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898005" y="1524000"/>
              <a:ext cx="476059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9273540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2-card-2"/>
          <p:cNvGrpSpPr/>
          <p:nvPr/>
        </p:nvGrpSpPr>
        <p:grpSpPr>
          <a:xfrm>
            <a:off x="6898005" y="2999422"/>
            <a:ext cx="4760595" cy="2156460"/>
            <a:chOff x="6898005" y="2999422"/>
            <a:chExt cx="4760595" cy="2156460"/>
          </a:xfrm>
        </p:grpSpPr>
        <p:sp>
          <p:nvSpPr>
            <p:cNvPr id="25" name="Rectangle 25"/>
            <p:cNvSpPr/>
            <p:nvPr/>
          </p:nvSpPr>
          <p:spPr>
            <a:xfrm>
              <a:off x="6898005" y="2999422"/>
              <a:ext cx="4760595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07530" y="3132772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39940" y="320325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13397" y="323897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适配器的陷阱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9991" y="324373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方法名拼错，编译器不吭声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32701" y="3595211"/>
              <a:ext cx="406311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把方法写成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mouseclicked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（小写 c）照样能编译，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只是多了一个没人调用的新方法，点击毫无反应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（实测）。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2701" y="4458176"/>
              <a:ext cx="40901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加上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@Override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 javac 立刻报：方法不会覆盖或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实现超类型的方法。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6898005" y="5341620"/>
            <a:ext cx="4760595" cy="1018222"/>
            <a:chOff x="6898005" y="5341620"/>
            <a:chExt cx="4760595" cy="1018222"/>
          </a:xfrm>
        </p:grpSpPr>
        <p:sp>
          <p:nvSpPr>
            <p:cNvPr id="33" name="Rectangle 33"/>
            <p:cNvSpPr/>
            <p:nvPr/>
          </p:nvSpPr>
          <p:spPr>
            <a:xfrm>
              <a:off x="6898005" y="5341620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102793" y="5751195"/>
              <a:ext cx="200026" cy="200025"/>
              <a:chOff x="7102793" y="57511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102793" y="57511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142531" y="57956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77247" y="59067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405116" y="5488781"/>
              <a:ext cx="388277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MouseTracker1 已经继承了 JFrame，不能再继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承 MouseAdapter，所以适配器通常和匿名内部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类一起用。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207153" cy="2643187"/>
            <a:chOff x="667512" y="1835468"/>
            <a:chExt cx="6207153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2071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5.2（续）文本框与其他组件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学完事件，再看会产生事件的输入组件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77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文本框里按回车产生 ActionEvent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3299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单选按钮要放进同一个 ButtonGroup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85738" cy="909257"/>
            <a:chOff x="520446" y="342900"/>
            <a:chExt cx="86857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1472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769" y="407194"/>
              <a:ext cx="3453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5.2（续）文本框与其他组件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857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JTextField（5.2.5）：单行文本框，回车时通知监听器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148715"/>
            <a:chOff x="533400" y="1524000"/>
            <a:chExt cx="4977765" cy="1148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148715"/>
            </a:xfrm>
            <a:prstGeom prst="roundRect">
              <a:avLst>
                <a:gd name="adj" fmla="val 82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构造方法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2222373" cy="653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JTextField()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JTextField(String text)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JTextField(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columns)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JTextField(String text,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columns)</a:t>
              </a:r>
            </a:p>
          </p:txBody>
        </p:sp>
      </p:grpSp>
      <p:grpSp>
        <p:nvGrpSpPr>
          <p:cNvPr id="25" name="c1-table-2"/>
          <p:cNvGrpSpPr/>
          <p:nvPr/>
        </p:nvGrpSpPr>
        <p:grpSpPr>
          <a:xfrm>
            <a:off x="533400" y="2847975"/>
            <a:ext cx="4977765" cy="2023110"/>
            <a:chOff x="533400" y="2847975"/>
            <a:chExt cx="4977765" cy="2023110"/>
          </a:xfrm>
        </p:grpSpPr>
        <p:sp>
          <p:nvSpPr>
            <p:cNvPr id="11" name="Rectangle 11"/>
            <p:cNvSpPr/>
            <p:nvPr/>
          </p:nvSpPr>
          <p:spPr>
            <a:xfrm>
              <a:off x="533400" y="2847975"/>
              <a:ext cx="497776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8139" y="2972276"/>
              <a:ext cx="20261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成员方法（返回值都是 void）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33608" y="29722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3478054"/>
              <a:ext cx="2841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addActionListener(ActionListener l)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69042" y="3378041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在框里按回车时通知监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听器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854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859530"/>
              <a:ext cx="497776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4083844"/>
              <a:ext cx="1924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setColumns(int columns)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69042" y="3983831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设置列数，决定首选宽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4605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4589621"/>
              <a:ext cx="1684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setText(String text)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69042" y="45896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改文字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847975"/>
              <a:ext cx="4977765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64268" y="284797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3"/>
          <p:cNvGrpSpPr/>
          <p:nvPr/>
        </p:nvGrpSpPr>
        <p:grpSpPr>
          <a:xfrm>
            <a:off x="533400" y="5046345"/>
            <a:ext cx="4977765" cy="1226820"/>
            <a:chOff x="533400" y="5046345"/>
            <a:chExt cx="4977765" cy="1226820"/>
          </a:xfrm>
        </p:grpSpPr>
        <p:sp>
          <p:nvSpPr>
            <p:cNvPr id="26" name="Rectangle 26"/>
            <p:cNvSpPr/>
            <p:nvPr/>
          </p:nvSpPr>
          <p:spPr>
            <a:xfrm>
              <a:off x="533400" y="5046345"/>
              <a:ext cx="497776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517969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3905" y="52387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5345" y="52730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47597" y="5277802"/>
              <a:ext cx="1901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setColums 少了一个 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047" y="5612130"/>
              <a:ext cx="42228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原课件写成 setColums，JDK 21 里没有这个方法（反射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核对），正确名字是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setColumns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5815965" y="1524000"/>
            <a:ext cx="5842635" cy="3919538"/>
            <a:chOff x="5815965" y="1524000"/>
            <a:chExt cx="5842635" cy="3919538"/>
          </a:xfrm>
        </p:grpSpPr>
        <p:sp>
          <p:nvSpPr>
            <p:cNvPr id="33" name="Rectangle 33"/>
            <p:cNvSpPr/>
            <p:nvPr/>
          </p:nvSpPr>
          <p:spPr>
            <a:xfrm>
              <a:off x="5815965" y="1524000"/>
              <a:ext cx="5842635" cy="3919538"/>
            </a:xfrm>
            <a:prstGeom prst="roundRect">
              <a:avLst>
                <a:gd name="adj" fmla="val 24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44362" y="1675924"/>
              <a:ext cx="26917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5.11　TextFieldTest.java（构造方法）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35015" y="4176712"/>
              <a:ext cx="5804535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35015" y="4318635"/>
              <a:ext cx="5804535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44552" y="1934289"/>
              <a:ext cx="4133088" cy="3418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TextFieldTest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JTextField textField1, textField2, textField3;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JPasswordField passwordField;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TextFieldTest()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"Testing JTextField and JPasswordField"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 container = getContentPane();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container.setLayout(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FlowLayout());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textField1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JTextField(10);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container.add(textField1);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textField2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JTextField(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"Enter text here"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container.add(textField2);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textField3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JTextField(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"Uneditable text field"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20);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textField3.setEditable(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container.add(textField3);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passwordField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JPasswordField(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"Hidden text"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container.add(passwordField);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TextFieldHandler handler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TextFieldHandler();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创建监听器对象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textField1.addActionListener(handler);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注册监听器对象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textField2.addActionListener(handler);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textField3.addActionListener(handler);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passwordField.addActionListener(handler);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setSize(325, 100);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setVisible(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47786" cy="909257"/>
            <a:chOff x="520446" y="342900"/>
            <a:chExt cx="88477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1472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769" y="407194"/>
              <a:ext cx="3453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5.2（续）文本框与其他组件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477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5.11　TextFieldTest（续）：四个框共用一个处理器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3829050"/>
            <a:chOff x="533400" y="1524000"/>
            <a:chExt cx="6059805" cy="38290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29050"/>
            </a:xfrm>
            <a:prstGeom prst="roundRect">
              <a:avLst>
                <a:gd name="adj" fmla="val 24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5529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TextFieldTest.java（main 与监听器类）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337"/>
              <a:ext cx="4116705" cy="3325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 args[]) {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TextFieldTest application =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TextFieldTest();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application.setDefaultCloseOperation(JFrame.EXIT_ON_CLOSE);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TextFieldHandler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ActionListener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actionPerformed(ActionEvent event) {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String string =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(event.getSource() == textField1)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string = 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"textField1: "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event.getActionCommand();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(event.getSource() == textField2)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string = 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"textField2: "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event.getActionCommand();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(event.getSource() == textField3)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string = 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"textField3: "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event.getActionCommand();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(event.getSource() == passwordField) {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string = 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"passwordField: "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event.getActionCommand();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string = "passwordField: " +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         new String(passwordField.getPassword());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JOptionPane.showMessageDialog(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string);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538788"/>
            <a:ext cx="6059805" cy="759142"/>
            <a:chOff x="533400" y="5538788"/>
            <a:chExt cx="6059805" cy="759142"/>
          </a:xfrm>
        </p:grpSpPr>
        <p:sp>
          <p:nvSpPr>
            <p:cNvPr id="11" name="Rectangle 11"/>
            <p:cNvSpPr/>
            <p:nvPr/>
          </p:nvSpPr>
          <p:spPr>
            <a:xfrm>
              <a:off x="533400" y="5538788"/>
              <a:ext cx="6059805" cy="759142"/>
            </a:xfrm>
            <a:prstGeom prst="roundRect">
              <a:avLst>
                <a:gd name="adj" fmla="val 1505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817870"/>
              <a:ext cx="200026" cy="200026"/>
              <a:chOff x="738188" y="5817870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8178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8845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9178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5686901"/>
              <a:ext cx="512711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对文本框来说，getActionCommand() 默认就是框里的文字。右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表由程序逐个触发回车事件、读取弹出的对话框得到。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6898005" y="1524000"/>
            <a:ext cx="4760595" cy="2150745"/>
            <a:chOff x="6898005" y="1524000"/>
            <a:chExt cx="4760595" cy="2150745"/>
          </a:xfrm>
        </p:grpSpPr>
        <p:sp>
          <p:nvSpPr>
            <p:cNvPr id="18" name="Rectangle 18"/>
            <p:cNvSpPr/>
            <p:nvPr/>
          </p:nvSpPr>
          <p:spPr>
            <a:xfrm>
              <a:off x="6898005" y="1524000"/>
              <a:ext cx="4760595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78052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在哪个框按回车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19894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对话框显示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03352" y="2085022"/>
              <a:ext cx="1350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textField1（空）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07399" y="2085022"/>
              <a:ext cx="914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textField1: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98005" y="23793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98005" y="2384108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03352" y="2515552"/>
              <a:ext cx="865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textField2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07399" y="2515552"/>
              <a:ext cx="2220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textField2: Enter text here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98005" y="28098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03352" y="2946082"/>
              <a:ext cx="1511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textField3（只读）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07399" y="2946082"/>
              <a:ext cx="2591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textField3: Uneditable text field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98005" y="323945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98005" y="3244215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03352" y="3375660"/>
              <a:ext cx="1179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passwordField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811578" y="3253740"/>
              <a:ext cx="283749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907399" y="3375660"/>
              <a:ext cx="21631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passwordField: Hidden text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797290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rd-2"/>
          <p:cNvGrpSpPr/>
          <p:nvPr/>
        </p:nvGrpSpPr>
        <p:grpSpPr>
          <a:xfrm>
            <a:off x="6898005" y="3860482"/>
            <a:ext cx="4760595" cy="2437448"/>
            <a:chOff x="6898005" y="3860482"/>
            <a:chExt cx="4760595" cy="2437448"/>
          </a:xfrm>
        </p:grpSpPr>
        <p:sp>
          <p:nvSpPr>
            <p:cNvPr id="38" name="Rectangle 38"/>
            <p:cNvSpPr/>
            <p:nvPr/>
          </p:nvSpPr>
          <p:spPr>
            <a:xfrm>
              <a:off x="6898005" y="3860482"/>
              <a:ext cx="4760595" cy="2437448"/>
            </a:xfrm>
            <a:prstGeom prst="roundRect">
              <a:avLst>
                <a:gd name="adj" fmla="val 54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07530" y="3993832"/>
              <a:ext cx="47625" cy="21707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39940" y="406431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17346" y="410003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密码框的坑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67116" y="4103846"/>
              <a:ext cx="32535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getActionCommand() 拿到的是明文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2701" y="4455319"/>
              <a:ext cx="407212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密码框里显示的是圆点，但实测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getActionCommand() 返回 Hidden text 原文，原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课件注释掉的 getPassword() 写法结果一样。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32701" y="5318284"/>
              <a:ext cx="40811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读密码应当用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getPassword()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拿 char[]，用完清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零，更不要像示例这样弹框显示出来。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33844" y="5906452"/>
              <a:ext cx="4129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JPasswordField 是 JTextField 的子类，其余用法相同。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1472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769" y="407194"/>
              <a:ext cx="3453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5.2（续）文本框与其他组件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复选框、单选按钮、组合框：三种让用户做选择的组件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4087178"/>
            <a:chOff x="533400" y="1524000"/>
            <a:chExt cx="6059805" cy="40871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87178"/>
            </a:xfrm>
            <a:prstGeom prst="roundRect">
              <a:avLst>
                <a:gd name="adj" fmla="val 23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494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ChoiceDemo.java（补充示例，按原课件截图的选项编写）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769042"/>
              <a:ext cx="6021705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24300"/>
              <a:ext cx="6021705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4766"/>
              <a:ext cx="5328539" cy="3584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ChoiceDemo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JLabel out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JLabel(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"-"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JCheckBox bold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JCheckBox(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"粗体"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JCheckBox italic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JCheckBox(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"斜体"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JRadioButton r1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JRadioButton(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"one"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),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r2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JRadioButton(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"two"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),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r3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JRadioButton(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"three"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JComboBox&lt;String&gt; box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JComboBox&lt;&gt;(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String[] {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"Ebullient"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"Obtuse"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"Recalcitrant"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"Brilliant"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ChoiceDemo()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"ChoiceDemo"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setLayout(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FlowLayout());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ButtonGroup group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ButtonGroup();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同组单选按钮互斥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group.add(r1); group.add(r2); group.add(r3);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bold.addItemListener(e -&gt; out.setText(bold.isSelected() ?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"粗体开"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: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"粗体关"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box.addItemListener(e -&gt;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(e.getStateChange() == ItemEvent.SELECTED)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换选项会先来一个 DESELECTED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out.setText(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"选中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e.getItem());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r1.addActionListener(e -&gt; out.setText(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"单选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e.getActionCommand()));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(Component c :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Component[] {bold, italic, r1, r2, r3, box, out}) add(c);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kv-1"/>
          <p:cNvGrpSpPr/>
          <p:nvPr/>
        </p:nvGrpSpPr>
        <p:grpSpPr>
          <a:xfrm>
            <a:off x="6890385" y="1548765"/>
            <a:ext cx="4768215" cy="1737360"/>
            <a:chOff x="6890385" y="1548765"/>
            <a:chExt cx="4768215" cy="1737360"/>
          </a:xfrm>
        </p:grpSpPr>
        <p:sp>
          <p:nvSpPr>
            <p:cNvPr id="13" name="TextBox 13"/>
            <p:cNvSpPr txBox="1"/>
            <p:nvPr/>
          </p:nvSpPr>
          <p:spPr>
            <a:xfrm>
              <a:off x="6890385" y="1548765"/>
              <a:ext cx="1084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JCheckBox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61058" y="15487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复选框，各自独立地开和关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898005" y="18688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90385" y="1988820"/>
              <a:ext cx="13806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JRadioButton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61058" y="1988820"/>
              <a:ext cx="1920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单选按钮，加入同一个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ButtonGroup 才互斥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98005" y="25908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90385" y="2710815"/>
              <a:ext cx="1127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JComboBox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61058" y="2710815"/>
              <a:ext cx="25584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组合框（下拉列表），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getSelectedItem() 取当前项</a:t>
              </a:r>
            </a:p>
          </p:txBody>
        </p:sp>
      </p:grpSp>
      <p:grpSp>
        <p:nvGrpSpPr>
          <p:cNvPr id="44" name="c2-table-2"/>
          <p:cNvGrpSpPr/>
          <p:nvPr/>
        </p:nvGrpSpPr>
        <p:grpSpPr>
          <a:xfrm>
            <a:off x="6898005" y="3417570"/>
            <a:ext cx="4760595" cy="2919412"/>
            <a:chOff x="6898005" y="3417570"/>
            <a:chExt cx="4760595" cy="2919412"/>
          </a:xfrm>
        </p:grpSpPr>
        <p:sp>
          <p:nvSpPr>
            <p:cNvPr id="22" name="Rectangle 22"/>
            <p:cNvSpPr/>
            <p:nvPr/>
          </p:nvSpPr>
          <p:spPr>
            <a:xfrm>
              <a:off x="6898005" y="3417570"/>
              <a:ext cx="476059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27887" y="35533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36823" y="35533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实测结果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05828" y="40019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24126" y="4001929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two 选中，one、three 未选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98005" y="431006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98005" y="431482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05828" y="4450556"/>
              <a:ext cx="5380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 one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24126" y="4450556"/>
              <a:ext cx="1925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one 选中，two 自动取消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98005" y="47596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05828" y="4899184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再点 one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24126" y="489918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仍然选中，单选按钮点不掉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98005" y="520827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98005" y="5213032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05828" y="534781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点粗体、斜体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24126" y="534781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两个都选中，互不影响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98005" y="565689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05828" y="5910739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组合框选第 3 项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25828" y="5671185"/>
              <a:ext cx="3123248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24126" y="5797391"/>
              <a:ext cx="27114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先收到 Ebullient 的 DESELECTED，再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 Recalcitrant 的 SELECTED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98005" y="3417570"/>
              <a:ext cx="4760595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511540" y="3417570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1472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769" y="407194"/>
              <a:ext cx="3453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5.2（续）文本框与其他组件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文本区、文本面板、对话框和文件对话框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410200" cy="2028825"/>
            <a:chOff x="533400" y="1524000"/>
            <a:chExt cx="5410200" cy="2028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414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3924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809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JTextArea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47888" y="2054066"/>
              <a:ext cx="3529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很像 JTextField，但支持多行，常放进 JScrollPane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809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JTextPane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47888" y="2459831"/>
              <a:ext cx="2754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带格式的文本编辑，继承自 JEditorPane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65596"/>
              <a:ext cx="550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JDialog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47888" y="2865596"/>
              <a:ext cx="3021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对话框，默认 BorderLayout，可以设置模式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271361"/>
              <a:ext cx="99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JFileChooser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47888" y="3271361"/>
              <a:ext cx="34707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showOpenDialog() 打开，showSaveDialog() 保存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4311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kv-2"/>
          <p:cNvGrpSpPr/>
          <p:nvPr/>
        </p:nvGrpSpPr>
        <p:grpSpPr>
          <a:xfrm>
            <a:off x="526542" y="3749992"/>
            <a:ext cx="5417058" cy="1168908"/>
            <a:chOff x="526542" y="3749992"/>
            <a:chExt cx="5417058" cy="1168908"/>
          </a:xfrm>
        </p:grpSpPr>
        <p:sp>
          <p:nvSpPr>
            <p:cNvPr id="26" name="TextBox 26"/>
            <p:cNvSpPr txBox="1"/>
            <p:nvPr/>
          </p:nvSpPr>
          <p:spPr>
            <a:xfrm>
              <a:off x="526542" y="37499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模式对话框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45754" y="3749992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应用程序只能响应对话框内的事件，关掉它才能操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作别的窗口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929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542" y="440150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非模式对话框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45754" y="4401502"/>
              <a:ext cx="376847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可以同时响应其他窗口的事件。new JDialog() 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认非模式（实测 isModal() 为 false）</a:t>
              </a:r>
            </a:p>
          </p:txBody>
        </p:sp>
      </p:grpSp>
      <p:grpSp>
        <p:nvGrpSpPr>
          <p:cNvPr id="35" name="c1-code-3"/>
          <p:cNvGrpSpPr/>
          <p:nvPr/>
        </p:nvGrpSpPr>
        <p:grpSpPr>
          <a:xfrm>
            <a:off x="533400" y="5041582"/>
            <a:ext cx="5410200" cy="1221105"/>
            <a:chOff x="533400" y="5041582"/>
            <a:chExt cx="5410200" cy="1221105"/>
          </a:xfrm>
        </p:grpSpPr>
        <p:sp>
          <p:nvSpPr>
            <p:cNvPr id="32" name="Rectangle 32"/>
            <p:cNvSpPr/>
            <p:nvPr/>
          </p:nvSpPr>
          <p:spPr>
            <a:xfrm>
              <a:off x="533400" y="5041582"/>
              <a:ext cx="5410200" cy="1221105"/>
            </a:xfrm>
            <a:prstGeom prst="roundRect">
              <a:avLst>
                <a:gd name="adj" fmla="val 780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1797" y="5193506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对话框与文件对话框（编译通过）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988" y="5451872"/>
              <a:ext cx="3892296" cy="722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JDialog dlg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JDialog(frame,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"模式对话框"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true 表示模式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JFileChooser fc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JFileChooser();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(fc.showOpenDialog(frame) == JFileChooser.APPROVE_OPTION)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File f = fc.getSelectedFile();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9" name="c2-code-1"/>
          <p:cNvGrpSpPr/>
          <p:nvPr/>
        </p:nvGrpSpPr>
        <p:grpSpPr>
          <a:xfrm>
            <a:off x="6248400" y="1524000"/>
            <a:ext cx="5410200" cy="2215515"/>
            <a:chOff x="6248400" y="1524000"/>
            <a:chExt cx="5410200" cy="2215515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2215515"/>
            </a:xfrm>
            <a:prstGeom prst="roundRect">
              <a:avLst>
                <a:gd name="adj" fmla="val 42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76797" y="1675924"/>
              <a:ext cx="33344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文本区复制示例（按原课件 TextArea Demo 截图补写）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988" y="1934289"/>
              <a:ext cx="3541141" cy="1715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JTextArea t1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JTextArea(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"This is a demo string to\n"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+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"illustrate copying text\n"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"from one TextArea to\n"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+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"another TextArea using an\n"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"external event"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10, 15);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JTextArea t2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JTextArea(10, 15);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JButton copy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"Copy &gt;&gt;&gt;"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copy.addActionListener(e -&gt; t2.setText(t1.getSelectedText()));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Box box = Box.createHorizontalBox();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box.add(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JScrollPane(t1));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box.add(copy);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t2.setEditable(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box.add(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JScrollPane(t2));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add(box);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248400" y="3914775"/>
            <a:ext cx="5410200" cy="2347912"/>
            <a:chOff x="6248400" y="3914775"/>
            <a:chExt cx="5410200" cy="2347912"/>
          </a:xfrm>
        </p:grpSpPr>
        <p:sp>
          <p:nvSpPr>
            <p:cNvPr id="40" name="Rectangle 40"/>
            <p:cNvSpPr/>
            <p:nvPr/>
          </p:nvSpPr>
          <p:spPr>
            <a:xfrm>
              <a:off x="6248400" y="3914775"/>
              <a:ext cx="5410200" cy="2347912"/>
            </a:xfrm>
            <a:prstGeom prst="roundRect">
              <a:avLst>
                <a:gd name="adj" fmla="val 56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4048125"/>
              <a:ext cx="47625" cy="20812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8905" y="41071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70345" y="41414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62597" y="4147185"/>
              <a:ext cx="19653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选中一段再点 Copy &gt;&gt;&gt;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2047" y="4481512"/>
              <a:ext cx="467715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选中 t1 的第 10～25 个字符后点按钮，t2 得到同样的文字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（demo string to 加换行和 i）。t1 共 5 行，append 一行后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getLineCount() 为 6。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3190" y="5294471"/>
              <a:ext cx="46555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原课件这几页只有运行截图，本页代码是补充的，都在 JDK 21 上编译运行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50295" cy="909257"/>
            <a:chOff x="520446" y="342900"/>
            <a:chExt cx="70502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1472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769" y="407194"/>
              <a:ext cx="3453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5.2（续）文本框与其他组件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502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菜单：菜单栏 → 菜单 → 菜单项，三层逐级 add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951220" cy="3829050"/>
            <a:chOff x="533400" y="1524000"/>
            <a:chExt cx="5951220" cy="38290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829050"/>
            </a:xfrm>
            <a:prstGeom prst="roundRect">
              <a:avLst>
                <a:gd name="adj" fmla="val 24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405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MenuDemo.java（补充示例，按原课件的菜单结构编写）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562350"/>
              <a:ext cx="5913120" cy="15049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864292"/>
              <a:ext cx="5913120" cy="15049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769168"/>
              <a:ext cx="5913120" cy="15049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88" y="1934337"/>
              <a:ext cx="5034153" cy="3325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MenuDemo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MenuDemo()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"学生信息管理系统"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String[][] menus =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{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"文件"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"连接"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"导入数据"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"导出数据"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"退出"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},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{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"数据操作"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"添加"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"删除"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"修改"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},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{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"数据查询"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"表格"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"卡片"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},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{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"帮助"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"关于系统"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}};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JMenuBar bar =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JMenuBar();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(String[] m : menus) {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JMenu menu =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JMenu(m[0]);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 m.length; i++) {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JMenuItem item =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JMenuItem(m[i]);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item.addActionListener(e -&gt; setTitle(</a:t>
              </a:r>
              <a:r>
                <a:rPr lang="zh-CN" sz="8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"点了 "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e.getActionCommand()));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menu.add(item);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bar.add(menu);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setJMenuBar(bar);   </a:t>
              </a:r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菜单栏挂在窗口上，不占内容面板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5538788"/>
            <a:ext cx="5951220" cy="756285"/>
            <a:chOff x="533400" y="5538788"/>
            <a:chExt cx="5951220" cy="756285"/>
          </a:xfrm>
        </p:grpSpPr>
        <p:sp>
          <p:nvSpPr>
            <p:cNvPr id="14" name="Rectangle 14"/>
            <p:cNvSpPr/>
            <p:nvPr/>
          </p:nvSpPr>
          <p:spPr>
            <a:xfrm>
              <a:off x="533400" y="5538788"/>
              <a:ext cx="595122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816918"/>
              <a:ext cx="200026" cy="200026"/>
              <a:chOff x="738188" y="5816918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8169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589470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5685949"/>
              <a:ext cx="500087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实测：四个菜单各有 4、3、2、1 项；内容面板的组件数为 0；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点「退出」后窗口标题变为「点了 退出」。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789420" y="1524000"/>
            <a:ext cx="4869180" cy="2150745"/>
            <a:chOff x="6789420" y="1524000"/>
            <a:chExt cx="4869180" cy="2150745"/>
          </a:xfrm>
        </p:grpSpPr>
        <p:sp>
          <p:nvSpPr>
            <p:cNvPr id="20" name="Rectangle 20"/>
            <p:cNvSpPr/>
            <p:nvPr/>
          </p:nvSpPr>
          <p:spPr>
            <a:xfrm>
              <a:off x="6789420" y="1524000"/>
              <a:ext cx="486918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3042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86179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数据操作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0347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数据查询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8231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帮助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94766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12062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添加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29356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46652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关于系统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89420" y="237934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89420" y="2384108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9476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导入数据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12062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9356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卡片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89420" y="28098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9476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导出数据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12062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789420" y="323945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89420" y="3244215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94766" y="3375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退出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789420" y="1524000"/>
              <a:ext cx="486918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0195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1924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43654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kv-2"/>
          <p:cNvGrpSpPr/>
          <p:nvPr/>
        </p:nvGrpSpPr>
        <p:grpSpPr>
          <a:xfrm>
            <a:off x="6782181" y="3883819"/>
            <a:ext cx="4913918" cy="1389316"/>
            <a:chOff x="6782181" y="3883819"/>
            <a:chExt cx="4913918" cy="1389316"/>
          </a:xfrm>
        </p:grpSpPr>
        <p:sp>
          <p:nvSpPr>
            <p:cNvPr id="45" name="TextBox 45"/>
            <p:cNvSpPr txBox="1"/>
            <p:nvPr/>
          </p:nvSpPr>
          <p:spPr>
            <a:xfrm>
              <a:off x="6782181" y="3883819"/>
              <a:ext cx="9573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JMenuBar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35671" y="3883819"/>
              <a:ext cx="36604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菜单栏，用 setJMenuBar() 挂到窗口顶部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9420" y="418909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82181" y="4304824"/>
              <a:ext cx="6200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JMenu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35671" y="4304824"/>
              <a:ext cx="19165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菜单，add 到菜单栏上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461105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2181" y="4726781"/>
              <a:ext cx="10574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JMenuItem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35671" y="4726781"/>
              <a:ext cx="271056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菜单项，add 到菜单里；点击产生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ActionEvent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789420" y="5402580"/>
            <a:ext cx="4869180" cy="892492"/>
            <a:chOff x="6789420" y="5402580"/>
            <a:chExt cx="4869180" cy="892492"/>
          </a:xfrm>
        </p:grpSpPr>
        <p:sp>
          <p:nvSpPr>
            <p:cNvPr id="54" name="Rectangle 54"/>
            <p:cNvSpPr/>
            <p:nvPr/>
          </p:nvSpPr>
          <p:spPr>
            <a:xfrm>
              <a:off x="6789420" y="5402580"/>
              <a:ext cx="4869180" cy="892492"/>
            </a:xfrm>
            <a:prstGeom prst="roundRect">
              <a:avLst>
                <a:gd name="adj" fmla="val 1280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994208" y="5748338"/>
              <a:ext cx="200026" cy="200025"/>
              <a:chOff x="6994208" y="574833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994208" y="57483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033946" y="57927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068662" y="59039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296531" y="5618321"/>
              <a:ext cx="325158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菜单项之间要分组时，用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menu.addSeparator() 加一条分隔线。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9554" cy="909257"/>
            <a:chOff x="520446" y="342900"/>
            <a:chExt cx="68795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1472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769" y="407194"/>
              <a:ext cx="3453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5.2（续）文本框与其他组件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95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绘图：继承 JPanel，重写 paintComponent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842635" cy="3919538"/>
            <a:chOff x="533400" y="1524000"/>
            <a:chExt cx="5842635" cy="39195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919538"/>
            </a:xfrm>
            <a:prstGeom prst="roundRect">
              <a:avLst>
                <a:gd name="adj" fmla="val 24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222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DrawDemo.java（补充示例）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471738"/>
              <a:ext cx="5804535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613660"/>
              <a:ext cx="5804535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4289"/>
              <a:ext cx="3932428" cy="3418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LinePanel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JPanel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paintComponent(Graphics g)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.paintComponent(g);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先让 JPanel 画好背景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g.setColor(Color.RED);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g.drawLine(10, 10, 190, 90);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起点 (10,10)，终点 (190,90)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g.setColor(Color.BLUE);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g.drawRect(20, 50, 60, 30);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左上角 (20,50)，宽 60 高 30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g.drawString(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120, 30);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基线左端在 (120,30)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DrawDemo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SwingUtilities.invokeLater(() -&gt;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JFrame f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"Drawing"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f.add(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LinePanel());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f.setSize(220, 140);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f.setDefaultCloseOperation(JFrame.EXIT_ON_CLOSE);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f.setVisible(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5614035"/>
            <a:ext cx="5842635" cy="747712"/>
            <a:chOff x="533400" y="5614035"/>
            <a:chExt cx="5842635" cy="747712"/>
          </a:xfrm>
        </p:grpSpPr>
        <p:sp>
          <p:nvSpPr>
            <p:cNvPr id="13" name="Rectangle 13"/>
            <p:cNvSpPr/>
            <p:nvPr/>
          </p:nvSpPr>
          <p:spPr>
            <a:xfrm>
              <a:off x="533400" y="5614035"/>
              <a:ext cx="5842635" cy="747712"/>
            </a:xfrm>
            <a:prstGeom prst="roundRect">
              <a:avLst>
                <a:gd name="adj" fmla="val 1528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887403"/>
              <a:ext cx="200026" cy="200026"/>
              <a:chOff x="738188" y="5887403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8874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5954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59874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5769292"/>
              <a:ext cx="48314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(100, 50) 在线上：线段从 (10, 10) 到 (190, 90)，x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每走 9 像素 y 走 4 像素，x = 100 时 y = 10 + 90 × 4 ÷ 9 = 50。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680835" y="1524000"/>
            <a:ext cx="4977765" cy="1760220"/>
            <a:chOff x="6680835" y="1524000"/>
            <a:chExt cx="4977765" cy="1760220"/>
          </a:xfrm>
        </p:grpSpPr>
        <p:sp>
          <p:nvSpPr>
            <p:cNvPr id="20" name="Rectangle 20"/>
            <p:cNvSpPr/>
            <p:nvPr/>
          </p:nvSpPr>
          <p:spPr>
            <a:xfrm>
              <a:off x="6680835" y="1524000"/>
              <a:ext cx="4977765" cy="1760220"/>
            </a:xfrm>
            <a:prstGeom prst="roundRect">
              <a:avLst>
                <a:gd name="adj" fmla="val 7576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67525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44944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原课件的要点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31277" y="174593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画图的基本做法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60667" y="2071688"/>
              <a:ext cx="4025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继承 JPanel，重写 </a:t>
              </a: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paintComponent(Graphics g)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Swing 需要重画时把图形对象 g 传进来。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60667" y="2628900"/>
              <a:ext cx="43514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常用方法：setColor() 选颜色，drawLine() 画线，另有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drawRect、drawString 等。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680835" y="3453765"/>
            <a:ext cx="4977765" cy="1760220"/>
            <a:chOff x="6680835" y="3453765"/>
            <a:chExt cx="4977765" cy="1760220"/>
          </a:xfrm>
        </p:grpSpPr>
        <p:sp>
          <p:nvSpPr>
            <p:cNvPr id="27" name="Rectangle 27"/>
            <p:cNvSpPr/>
            <p:nvPr/>
          </p:nvSpPr>
          <p:spPr>
            <a:xfrm>
              <a:off x="6680835" y="3453765"/>
              <a:ext cx="4977765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90360" y="3587115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05625" y="36404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98297" y="36733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72172" y="367569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两条习惯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98767" y="4001452"/>
              <a:ext cx="43342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第一行先调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super.paintComponent(g)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画背景，否则可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能留下残影。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8767" y="4558665"/>
              <a:ext cx="34941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数据变了调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repaint()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请求重画，不要直接调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paintComponent。</a:t>
              </a:r>
            </a:p>
          </p:txBody>
        </p:sp>
      </p:grpSp>
      <p:grpSp>
        <p:nvGrpSpPr>
          <p:cNvPr id="40" name="c2-callout-3"/>
          <p:cNvGrpSpPr/>
          <p:nvPr/>
        </p:nvGrpSpPr>
        <p:grpSpPr>
          <a:xfrm>
            <a:off x="6680835" y="5383530"/>
            <a:ext cx="4977765" cy="978218"/>
            <a:chOff x="6680835" y="5383530"/>
            <a:chExt cx="4977765" cy="978218"/>
          </a:xfrm>
        </p:grpSpPr>
        <p:sp>
          <p:nvSpPr>
            <p:cNvPr id="35" name="Rectangle 35"/>
            <p:cNvSpPr/>
            <p:nvPr/>
          </p:nvSpPr>
          <p:spPr>
            <a:xfrm>
              <a:off x="6680835" y="5383530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885623" y="5772150"/>
              <a:ext cx="200026" cy="200026"/>
              <a:chOff x="6885623" y="5772150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885623" y="57721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52298" y="58499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88327" y="5529262"/>
              <a:ext cx="410279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实测：画到 200×100 的图像上，(10,10)、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(100,50) 是红色，(20,65) 在矩形左边上是蓝色。原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点在左上角，y 向下增大。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198849" cy="2643187"/>
            <a:chOff x="667512" y="1835468"/>
            <a:chExt cx="4198849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综合例：计算器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原课件用二十多页一步步写出的程序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626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 里套 GridLayout 搭界面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9595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actionPerformed 分派全部 17 个按钮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72686" cy="909257"/>
            <a:chOff x="520446" y="342900"/>
            <a:chExt cx="6672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综合例：计算器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72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先拆界面：北边一行显示框，中间 4×4 按钮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graph-1"/>
          <p:cNvGrpSpPr/>
          <p:nvPr/>
        </p:nvGrpSpPr>
        <p:grpSpPr>
          <a:xfrm>
            <a:off x="849630" y="1736408"/>
            <a:ext cx="4914900" cy="406718"/>
            <a:chOff x="849630" y="1736408"/>
            <a:chExt cx="4914900" cy="406718"/>
          </a:xfrm>
        </p:grpSpPr>
        <p:sp>
          <p:nvSpPr>
            <p:cNvPr id="7" name="Rectangle 7"/>
            <p:cNvSpPr/>
            <p:nvPr/>
          </p:nvSpPr>
          <p:spPr>
            <a:xfrm>
              <a:off x="849630" y="1736408"/>
              <a:ext cx="3695700" cy="406718"/>
            </a:xfrm>
            <a:prstGeom prst="roundRect">
              <a:avLst>
                <a:gd name="adj" fmla="val 23419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932998" y="1736408"/>
              <a:ext cx="831532" cy="406718"/>
            </a:xfrm>
            <a:prstGeom prst="roundRect">
              <a:avLst>
                <a:gd name="adj" fmla="val 2341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87981" y="1874520"/>
              <a:ext cx="1818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display：JTextField("0")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56703" y="187452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</a:t>
              </a:r>
            </a:p>
          </p:txBody>
        </p:sp>
      </p:grpSp>
      <p:grpSp>
        <p:nvGrpSpPr>
          <p:cNvPr id="44" name="c1-cells-2"/>
          <p:cNvGrpSpPr/>
          <p:nvPr/>
        </p:nvGrpSpPr>
        <p:grpSpPr>
          <a:xfrm>
            <a:off x="533400" y="2541270"/>
            <a:ext cx="3688080" cy="2125028"/>
            <a:chOff x="533400" y="2541270"/>
            <a:chExt cx="3688080" cy="2125028"/>
          </a:xfrm>
        </p:grpSpPr>
        <p:sp>
          <p:nvSpPr>
            <p:cNvPr id="12" name="Rectangle 12"/>
            <p:cNvSpPr/>
            <p:nvPr/>
          </p:nvSpPr>
          <p:spPr>
            <a:xfrm>
              <a:off x="533400" y="254127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1668" y="26698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455420" y="254127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63688" y="26698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77440" y="254127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85708" y="26698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99460" y="254127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07728" y="26698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113722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1668" y="32423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455420" y="3113722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863688" y="32423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377440" y="3113722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785708" y="32423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299460" y="3113722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707728" y="32423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86175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1668" y="38147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55420" y="3686175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63688" y="38147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377440" y="3686175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85708" y="38147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299460" y="3686175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07728" y="38147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25958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1668" y="4388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455420" y="425958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863688" y="4388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377440" y="4259580"/>
              <a:ext cx="92202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85708" y="4388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299460" y="425958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707728" y="4388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</p:grpSp>
      <p:grpSp>
        <p:nvGrpSpPr>
          <p:cNvPr id="46" name="c1-text-3"/>
          <p:cNvGrpSpPr/>
          <p:nvPr/>
        </p:nvGrpSpPr>
        <p:grpSpPr>
          <a:xfrm>
            <a:off x="527304" y="4871085"/>
            <a:ext cx="5102352" cy="470916"/>
            <a:chOff x="527304" y="4871085"/>
            <a:chExt cx="5102352" cy="470916"/>
          </a:xfrm>
        </p:grpSpPr>
        <p:sp>
          <p:nvSpPr>
            <p:cNvPr id="45" name="TextBox 45"/>
            <p:cNvSpPr txBox="1"/>
            <p:nvPr/>
          </p:nvSpPr>
          <p:spPr>
            <a:xfrm>
              <a:off x="527304" y="4871085"/>
              <a:ext cx="510235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按钮顺序与原课件 buttonNames 数组一致，GridLayout 从左到右、从上到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下依次填入。</a:t>
              </a:r>
            </a:p>
          </p:txBody>
        </p:sp>
      </p:grpSp>
      <p:grpSp>
        <p:nvGrpSpPr>
          <p:cNvPr id="64" name="c2-tree-1"/>
          <p:cNvGrpSpPr/>
          <p:nvPr/>
        </p:nvGrpSpPr>
        <p:grpSpPr>
          <a:xfrm>
            <a:off x="6575108" y="1705928"/>
            <a:ext cx="5270182" cy="1945958"/>
            <a:chOff x="6575108" y="1705928"/>
            <a:chExt cx="5270182" cy="1945958"/>
          </a:xfrm>
        </p:grpSpPr>
        <p:sp>
          <p:nvSpPr>
            <p:cNvPr id="47" name="Freeform 47"/>
            <p:cNvSpPr/>
            <p:nvPr/>
          </p:nvSpPr>
          <p:spPr>
            <a:xfrm>
              <a:off x="7150418" y="2678430"/>
              <a:ext cx="901065" cy="770573"/>
            </a:xfrm>
            <a:custGeom>
              <a:avLst/>
              <a:gdLst/>
              <a:ahLst/>
              <a:cxnLst/>
              <a:rect l="l" t="t" r="r" b="b"/>
              <a:pathLst>
                <a:path w="901065" h="770573">
                  <a:moveTo>
                    <a:pt x="901065" y="0"/>
                  </a:moveTo>
                  <a:lnTo>
                    <a:pt x="0" y="7705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051482" y="2678430"/>
              <a:ext cx="902018" cy="770573"/>
            </a:xfrm>
            <a:custGeom>
              <a:avLst/>
              <a:gdLst/>
              <a:ahLst/>
              <a:cxnLst/>
              <a:rect l="l" t="t" r="r" b="b"/>
              <a:pathLst>
                <a:path w="902018" h="770573">
                  <a:moveTo>
                    <a:pt x="0" y="0"/>
                  </a:moveTo>
                  <a:lnTo>
                    <a:pt x="902018" y="7705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756582" y="2678430"/>
              <a:ext cx="9525" cy="770573"/>
            </a:xfrm>
            <a:custGeom>
              <a:avLst/>
              <a:gdLst/>
              <a:ahLst/>
              <a:cxnLst/>
              <a:rect l="l" t="t" r="r" b="b"/>
              <a:pathLst>
                <a:path w="9525" h="770573">
                  <a:moveTo>
                    <a:pt x="0" y="0"/>
                  </a:moveTo>
                  <a:lnTo>
                    <a:pt x="0" y="7705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051482" y="1908810"/>
              <a:ext cx="902018" cy="769620"/>
            </a:xfrm>
            <a:custGeom>
              <a:avLst/>
              <a:gdLst/>
              <a:ahLst/>
              <a:cxnLst/>
              <a:rect l="l" t="t" r="r" b="b"/>
              <a:pathLst>
                <a:path w="902018" h="769620">
                  <a:moveTo>
                    <a:pt x="902018" y="0"/>
                  </a:moveTo>
                  <a:lnTo>
                    <a:pt x="0" y="7696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953500" y="1908810"/>
              <a:ext cx="1803082" cy="769620"/>
            </a:xfrm>
            <a:custGeom>
              <a:avLst/>
              <a:gdLst/>
              <a:ahLst/>
              <a:cxnLst/>
              <a:rect l="l" t="t" r="r" b="b"/>
              <a:pathLst>
                <a:path w="1803082" h="769620">
                  <a:moveTo>
                    <a:pt x="0" y="0"/>
                  </a:moveTo>
                  <a:lnTo>
                    <a:pt x="1803082" y="7696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575108" y="3245168"/>
              <a:ext cx="1150620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309610" y="3245168"/>
              <a:ext cx="1288732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447598" y="2475548"/>
              <a:ext cx="1209675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668828" y="3245168"/>
              <a:ext cx="2176462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008870" y="2475548"/>
              <a:ext cx="1496378" cy="406718"/>
            </a:xfrm>
            <a:prstGeom prst="roundRect">
              <a:avLst>
                <a:gd name="adj" fmla="val 1873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132445" y="1705928"/>
              <a:ext cx="1642110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1518" y="3388519"/>
              <a:ext cx="9977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CENTER display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81097" y="3388519"/>
              <a:ext cx="11448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EAST clear（CE）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20601" y="2617946"/>
              <a:ext cx="10617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NORTH topPanel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14133" y="3388519"/>
              <a:ext cx="2084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GridLayout(4,4) 16 个 JButton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71217" y="2617946"/>
              <a:ext cx="1370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CENTER bottomPanel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02276" y="1848326"/>
              <a:ext cx="1502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内容面板 BorderLayout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6248400" y="4019550"/>
            <a:ext cx="5410200" cy="1275398"/>
            <a:chOff x="6248400" y="4019550"/>
            <a:chExt cx="5410200" cy="1275398"/>
          </a:xfrm>
        </p:grpSpPr>
        <p:sp>
          <p:nvSpPr>
            <p:cNvPr id="65" name="Rectangle 65"/>
            <p:cNvSpPr/>
            <p:nvPr/>
          </p:nvSpPr>
          <p:spPr>
            <a:xfrm>
              <a:off x="6248400" y="4019550"/>
              <a:ext cx="5410200" cy="1275398"/>
            </a:xfrm>
            <a:prstGeom prst="roundRect">
              <a:avLst>
                <a:gd name="adj" fmla="val 896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453188" y="4556762"/>
              <a:ext cx="200023" cy="200023"/>
              <a:chOff x="6453188" y="4556762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453188" y="45567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586538" y="46234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755511" y="4425791"/>
              <a:ext cx="450494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 display 宽 235、CE 宽 49：EAST 只给 CE 按钮它需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要的宽度，其余全给 CENTER 的文本框。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71" name="Rectangle 71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511" y="5753576"/>
              <a:ext cx="98790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两层布局嵌套：外层 BorderLayout 分上下，topPanel 再用 BorderLayout 分左右，bottomPanel 用 GridLayout 把 16 个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按钮等分成格。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综合例：计算器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原课件的搭建步骤：每一步都能运行看效果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570174" cy="3414046"/>
            <a:chOff x="533400" y="1533525"/>
            <a:chExt cx="5570174" cy="341404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3670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建类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24394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 Calculator 类，只有 main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218372"/>
              <a:ext cx="1536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继承 JFrame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512219"/>
              <a:ext cx="4440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构造方法里 super("Calculator")、setSize、setVisible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868930"/>
              <a:ext cx="1948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先用 FlowLayout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162776"/>
              <a:ext cx="3162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放入 display 和 CE，再试着加一个按钮 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520440"/>
              <a:ext cx="2192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 改用 BorderLayout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813334"/>
              <a:ext cx="51575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topPanel 放 display（CENTER）和 CE（EAST），整体放到 NORTH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170998"/>
              <a:ext cx="1119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 按钮网格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463891"/>
              <a:ext cx="45483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bottomPanel 设为 GridLayout(4, 4)，用字符串数组循环创建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个按钮</a:t>
              </a:r>
            </a:p>
          </p:txBody>
        </p:sp>
      </p:grpSp>
      <p:grpSp>
        <p:nvGrpSpPr>
          <p:cNvPr id="50" name="c2-steps-1"/>
          <p:cNvGrpSpPr/>
          <p:nvPr/>
        </p:nvGrpSpPr>
        <p:grpSpPr>
          <a:xfrm>
            <a:off x="6248400" y="1533525"/>
            <a:ext cx="5204841" cy="3649313"/>
            <a:chOff x="6248400" y="1533525"/>
            <a:chExt cx="5204841" cy="3649313"/>
          </a:xfrm>
        </p:grpSpPr>
        <p:sp>
          <p:nvSpPr>
            <p:cNvPr id="29" name="Rectangle 29"/>
            <p:cNvSpPr/>
            <p:nvPr/>
          </p:nvSpPr>
          <p:spPr>
            <a:xfrm>
              <a:off x="6381750" y="1676400"/>
              <a:ext cx="19050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248400" y="37204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2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48400" y="460629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4680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9880" y="1567815"/>
              <a:ext cx="917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 调外观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023" y="1861661"/>
              <a:ext cx="34733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display.setEditable(false)，背景设为白色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9880" y="2218372"/>
              <a:ext cx="13217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 注册监听器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023" y="2512219"/>
              <a:ext cx="47872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implements ActionListener，给 16 个按钮和 CE 都注册 this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9880" y="2868930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 分派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023" y="3162776"/>
              <a:ext cx="4198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按钮上的文字是数字或小数点交给 dealNumber，否则交给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dealOperator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9880" y="3754755"/>
              <a:ext cx="13217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 修编译错误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023" y="4048601"/>
              <a:ext cx="4792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dealNumber 要用 display，报错：它是构造方法的局部变量。改成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59880" y="4640580"/>
              <a:ext cx="10344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 写运算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1023" y="4933474"/>
              <a:ext cx="3960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dealOperator：CE 清零，= 计算，其余记下运算符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8728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9 步是原课件特意演示的错误：局部变量只在构造方法里可见，其他方法要用就得定义成字段。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72257" cy="909257"/>
            <a:chOff x="520446" y="342900"/>
            <a:chExt cx="61722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综合例：计算器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722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5.12　Calculator：字段与构造方法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410200" cy="2998470"/>
            <a:chOff x="533400" y="1524000"/>
            <a:chExt cx="5410200" cy="29984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98470"/>
            </a:xfrm>
            <a:prstGeom prst="roundRect">
              <a:avLst>
                <a:gd name="adj" fmla="val 317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48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Calculator.java（一）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524125"/>
              <a:ext cx="5372100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679382"/>
              <a:ext cx="5372100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2835592"/>
              <a:ext cx="5372100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88" y="1934766"/>
              <a:ext cx="3974211" cy="24979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javax.swing.*;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java.awt.event.*;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Calculator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JFrame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ActionListener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JTextField display;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JButton clear;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JButton[] buttons;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Calculator()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"Calculator"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display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JTextField(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"0"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clear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"CE"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JPanel topPanel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JPanel();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JPanel bottomPanel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JPanel();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topPanel.setLayout(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BorderLayout());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topPanel.add(BorderLayout.CENTER, display);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topPanel.add(BorderLayout.EAST, clear);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4712970"/>
            <a:ext cx="5410200" cy="1404938"/>
            <a:chOff x="533400" y="4712970"/>
            <a:chExt cx="5410200" cy="1404938"/>
          </a:xfrm>
        </p:grpSpPr>
        <p:sp>
          <p:nvSpPr>
            <p:cNvPr id="14" name="Rectangle 14"/>
            <p:cNvSpPr/>
            <p:nvPr/>
          </p:nvSpPr>
          <p:spPr>
            <a:xfrm>
              <a:off x="533400" y="4712970"/>
              <a:ext cx="5410200" cy="1404938"/>
            </a:xfrm>
            <a:prstGeom prst="roundRect">
              <a:avLst>
                <a:gd name="adj" fmla="val 813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314950"/>
              <a:ext cx="200026" cy="200026"/>
              <a:chOff x="738188" y="5314950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3149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381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54149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5033962"/>
              <a:ext cx="4425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display、clear、buttons 是字段（第 9 步从局部变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量提升上来），dealNumber 和 dealOperator 才能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用。</a:t>
              </a:r>
            </a:p>
          </p:txBody>
        </p:sp>
      </p:grpSp>
      <p:grpSp>
        <p:nvGrpSpPr>
          <p:cNvPr id="26" name="c2-code-1"/>
          <p:cNvGrpSpPr/>
          <p:nvPr/>
        </p:nvGrpSpPr>
        <p:grpSpPr>
          <a:xfrm>
            <a:off x="6248400" y="1524000"/>
            <a:ext cx="5410200" cy="3620452"/>
            <a:chOff x="6248400" y="1524000"/>
            <a:chExt cx="5410200" cy="3620452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3620452"/>
            </a:xfrm>
            <a:prstGeom prst="roundRect">
              <a:avLst>
                <a:gd name="adj" fmla="val 26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6797" y="1675924"/>
              <a:ext cx="1448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Calculator.java（二）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67450" y="2990850"/>
              <a:ext cx="5372100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67450" y="3302318"/>
              <a:ext cx="5372100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988" y="1934766"/>
              <a:ext cx="4334637" cy="3118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bottomPanel.setLayout(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GridLayout(4, 4));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String[] buttonNames = {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"7"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"8"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"9"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"/"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"4"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"5"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"6"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"*"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   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"2"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"3"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"-"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"."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"0"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"="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"+"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buttons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JButton[buttonNames.length];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buttonNames.length; i++)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buttons[i]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JButton(buttonNames[i]);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bottomPanel.add(buttons[i]);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buttons[i].addActionListener(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clear.addActionListener(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display.setEditable(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display.setBackground(Color.WHITE);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 container = getContentPane();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container.setLayout(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BorderLayout());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container.add(BorderLayout.NORTH, topPanel);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container.add(BorderLayout.CENTER, bottomPanel);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.setSize(300, 200);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.setVisible(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.setDefaultCloseOperation(JFrame.EXIT_ON_CLOSE);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32" name="c2-callout-2"/>
          <p:cNvGrpSpPr/>
          <p:nvPr/>
        </p:nvGrpSpPr>
        <p:grpSpPr>
          <a:xfrm>
            <a:off x="6248400" y="5334952"/>
            <a:ext cx="5410200" cy="782955"/>
            <a:chOff x="6248400" y="5334952"/>
            <a:chExt cx="5410200" cy="782955"/>
          </a:xfrm>
        </p:grpSpPr>
        <p:sp>
          <p:nvSpPr>
            <p:cNvPr id="27" name="Rectangle 27"/>
            <p:cNvSpPr/>
            <p:nvPr/>
          </p:nvSpPr>
          <p:spPr>
            <a:xfrm>
              <a:off x="6248400" y="533495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453188" y="5626420"/>
              <a:ext cx="200023" cy="200023"/>
              <a:chOff x="6453188" y="5626420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453188" y="56264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586538" y="56930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755130" y="5483542"/>
              <a:ext cx="4434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循环里每个按钮都 addActionListener(this)，再加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 CE，17 个按钮共用窗口自己这一个监听器。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8662" cy="909257"/>
            <a:chOff x="520446" y="342900"/>
            <a:chExt cx="78886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综合例：计算器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8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5.12　Calculator：按文字分派，数字逐位拼接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2842260"/>
            <a:chOff x="533400" y="1524000"/>
            <a:chExt cx="5626418" cy="28422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842260"/>
            </a:xfrm>
            <a:prstGeom prst="roundRect">
              <a:avLst>
                <a:gd name="adj" fmla="val 335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48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Calculator.java（三）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57400"/>
              <a:ext cx="5588318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88" y="1934766"/>
              <a:ext cx="4274566" cy="23426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actionPerformed(ActionEvent e)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eventResourceName = ((JButton) e.getSource()).getText();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isNumber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String[] numberNames = {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"2"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"3"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"4"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"5"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"6"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   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"7"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"8"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"9"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"0"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"."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(String name : numberNames)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(name.equals(eventResourceName))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isNumber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(isNumber)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dealNumber(eventResourceName);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dealOperator(eventResourceName);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556760"/>
            <a:ext cx="5626418" cy="1267778"/>
            <a:chOff x="533400" y="4556760"/>
            <a:chExt cx="5626418" cy="1267778"/>
          </a:xfrm>
        </p:grpSpPr>
        <p:sp>
          <p:nvSpPr>
            <p:cNvPr id="12" name="Rectangle 12"/>
            <p:cNvSpPr/>
            <p:nvPr/>
          </p:nvSpPr>
          <p:spPr>
            <a:xfrm>
              <a:off x="533400" y="4556760"/>
              <a:ext cx="5626418" cy="1267778"/>
            </a:xfrm>
            <a:prstGeom prst="roundRect">
              <a:avLst>
                <a:gd name="adj" fmla="val 901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091113"/>
              <a:ext cx="200026" cy="200025"/>
              <a:chOff x="738188" y="5091113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0911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51355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52466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130" y="4948238"/>
              <a:ext cx="4558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先把事件源转成 JButton 再取按钮上的文字，所以 17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个按钮共用一个监听器也能分清。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464618" y="1524000"/>
            <a:ext cx="5193982" cy="2531745"/>
            <a:chOff x="6464618" y="1524000"/>
            <a:chExt cx="5193982" cy="2531745"/>
          </a:xfrm>
        </p:grpSpPr>
        <p:sp>
          <p:nvSpPr>
            <p:cNvPr id="19" name="Rectangle 19"/>
            <p:cNvSpPr/>
            <p:nvPr/>
          </p:nvSpPr>
          <p:spPr>
            <a:xfrm>
              <a:off x="6464618" y="1524000"/>
              <a:ext cx="5193982" cy="2531745"/>
            </a:xfrm>
            <a:prstGeom prst="roundRect">
              <a:avLst>
                <a:gd name="adj" fmla="val 376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3015" y="1675924"/>
              <a:ext cx="1448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Calculator.java（四）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93205" y="1934766"/>
              <a:ext cx="2592578" cy="2032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firstNumber 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secondNumber 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isFirst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operator 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dealNumber(String number)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(isFirst)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firstNumber += number;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display.setText(firstNumber);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secondNumber += number;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display.setText(secondNumber);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34" name="c2-kv-2"/>
          <p:cNvGrpSpPr/>
          <p:nvPr/>
        </p:nvGrpSpPr>
        <p:grpSpPr>
          <a:xfrm>
            <a:off x="6456998" y="4271010"/>
            <a:ext cx="5201602" cy="1613535"/>
            <a:chOff x="6456998" y="4271010"/>
            <a:chExt cx="5201602" cy="1613535"/>
          </a:xfrm>
        </p:grpSpPr>
        <p:sp>
          <p:nvSpPr>
            <p:cNvPr id="23" name="TextBox 23"/>
            <p:cNvSpPr txBox="1"/>
            <p:nvPr/>
          </p:nvSpPr>
          <p:spPr>
            <a:xfrm>
              <a:off x="6456998" y="4271010"/>
              <a:ext cx="12939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firstNumber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1968" y="427101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第一个操作数，字符串形式，逐位拼接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64618" y="45910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56998" y="4711065"/>
              <a:ext cx="14638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secondNumber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21968" y="47110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第二个操作数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64618" y="50311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56998" y="5151120"/>
              <a:ext cx="7312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isFirst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21968" y="5151120"/>
              <a:ext cx="2539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 表示正在输入第一个数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64618" y="54711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56998" y="55911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operator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21968" y="55911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记下的运算符，空串表示还没按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66390" cy="909257"/>
            <a:chOff x="520446" y="342900"/>
            <a:chExt cx="79663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综合例：计算器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663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5.12　Calculator：dealOperator 的三个分支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ode-1"/>
          <p:cNvGrpSpPr/>
          <p:nvPr/>
        </p:nvGrpSpPr>
        <p:grpSpPr>
          <a:xfrm>
            <a:off x="533400" y="1524000"/>
            <a:ext cx="6924675" cy="4261485"/>
            <a:chOff x="533400" y="1524000"/>
            <a:chExt cx="6924675" cy="4261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24675" cy="4261485"/>
            </a:xfrm>
            <a:prstGeom prst="roundRect">
              <a:avLst>
                <a:gd name="adj" fmla="val 223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48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Calculator.java（五）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810828"/>
              <a:ext cx="6886575" cy="1295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749165"/>
              <a:ext cx="6886575" cy="1295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878705"/>
              <a:ext cx="6886575" cy="1295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5007292"/>
              <a:ext cx="6886575" cy="1295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988" y="1933004"/>
              <a:ext cx="4988433" cy="37690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20"/>
                </a:lnSpc>
              </a:pP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dealOperator(String operatorName) {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(operatorName.equals(</a:t>
              </a:r>
              <a:r>
                <a:rPr lang="en-US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"CE"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display.setText(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"0"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isFirst =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firstNumber = 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secondNumber = 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operator = 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(operatorName.equals(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"="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&amp; !firstNumber.equals(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&amp; !secondNumber.equals(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result = 0;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(operator.equals(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"+"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result = Double.valueOf(firstNumber) + Double.valueOf(secondNumber);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(operator.equals(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"-"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result = Double.valueOf(firstNumber) - Double.valueOf(secondNumber);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(operator.equals(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"*"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result = Double.valueOf(firstNumber) * Double.valueOf(secondNumber);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(operator.equals(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"/"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result = Double.valueOf(firstNumber) / Double.valueOf(secondNumber);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display.setText(String.valueOf(result));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isFirst =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operator = 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firstNumber = String.valueOf(result);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secondNumber = </a:t>
              </a:r>
              <a:r>
                <a:rPr lang="zh-CN" sz="7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operator = operatorName;</a:t>
              </a:r>
              <a:br/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isFirst =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 </a:t>
              </a:r>
              <a:r>
                <a:rPr lang="en-US" sz="7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Calculator(); }</a:t>
              </a:r>
              <a:br/>
              <a:r>
                <a:rPr lang="zh-CN" sz="7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steps-1"/>
          <p:cNvGrpSpPr/>
          <p:nvPr/>
        </p:nvGrpSpPr>
        <p:grpSpPr>
          <a:xfrm>
            <a:off x="7762875" y="1533525"/>
            <a:ext cx="3360556" cy="1900714"/>
            <a:chOff x="7762875" y="1533525"/>
            <a:chExt cx="3360556" cy="1900714"/>
          </a:xfrm>
        </p:grpSpPr>
        <p:sp>
          <p:nvSpPr>
            <p:cNvPr id="15" name="Rectangle 15"/>
            <p:cNvSpPr/>
            <p:nvPr/>
          </p:nvSpPr>
          <p:spPr>
            <a:xfrm>
              <a:off x="7896225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762875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5649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62875" y="21202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5649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62875" y="29146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56499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75117" y="1564957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76260" y="183308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四个状态变量全部复位，显示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75117" y="2152650"/>
              <a:ext cx="1390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=（两个数都有）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76260" y="2419826"/>
              <a:ext cx="25717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operator 计算，结果显示出来并存进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firstNumber，供下一次运算接着用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75117" y="2946082"/>
              <a:ext cx="2948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其他（+ − × ÷，或条件不满足的 =）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76260" y="321421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只记下运算符，切换到输入第二个数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7762875" y="3602355"/>
            <a:ext cx="3895725" cy="1483995"/>
            <a:chOff x="7762875" y="3602355"/>
            <a:chExt cx="3895725" cy="1483995"/>
          </a:xfrm>
        </p:grpSpPr>
        <p:sp>
          <p:nvSpPr>
            <p:cNvPr id="29" name="Rectangle 29"/>
            <p:cNvSpPr/>
            <p:nvPr/>
          </p:nvSpPr>
          <p:spPr>
            <a:xfrm>
              <a:off x="7762875" y="3602355"/>
              <a:ext cx="3895725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72400" y="373570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93380" y="379476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56817" y="38290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为什么用字符串存数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10522" y="383476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逐位拼接最方便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6522" y="4169092"/>
              <a:ext cx="32884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1 再按 2，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"1" + "2"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得到 "12"；到按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时才用 Double.valueOf 转成 double 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算。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7762875" y="5261610"/>
            <a:ext cx="3895725" cy="978218"/>
            <a:chOff x="7762875" y="5261610"/>
            <a:chExt cx="3895725" cy="978218"/>
          </a:xfrm>
        </p:grpSpPr>
        <p:sp>
          <p:nvSpPr>
            <p:cNvPr id="36" name="Rectangle 36"/>
            <p:cNvSpPr/>
            <p:nvPr/>
          </p:nvSpPr>
          <p:spPr>
            <a:xfrm>
              <a:off x="7762875" y="5261610"/>
              <a:ext cx="3895725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955604" y="5647491"/>
              <a:ext cx="224134" cy="192560"/>
              <a:chOff x="7955604" y="5647491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067675" y="57178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955604" y="56474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067675" y="57956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270367" y="5408295"/>
              <a:ext cx="304838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最后一个 else 会把条件不满足的 = 也当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成运算符记下来，后面两页的缺陷就出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在这里。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48441" cy="909257"/>
            <a:chOff x="520446" y="342900"/>
            <a:chExt cx="55484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综合例：计算器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484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5.12　走一遍：依次按 1 2 + 3 =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table-1"/>
          <p:cNvGrpSpPr/>
          <p:nvPr/>
        </p:nvGrpSpPr>
        <p:grpSpPr>
          <a:xfrm>
            <a:off x="533400" y="1524000"/>
            <a:ext cx="6924675" cy="3141346"/>
            <a:chOff x="533400" y="1524000"/>
            <a:chExt cx="6924675" cy="314134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2467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13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01156" y="1659731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display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05455" y="1659731"/>
              <a:ext cx="11041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firstNumber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25554" y="1659731"/>
              <a:ext cx="1249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secondNumber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30506" y="1659731"/>
              <a:ext cx="80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operator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1268" y="1659731"/>
              <a:ext cx="623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isFirst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33690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0333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2638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849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97206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1649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421255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33690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03336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"1"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2638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""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8849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""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7206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86607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33690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03336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"12"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2638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""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88496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""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97206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31470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319462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33690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03336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"12"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26383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""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88496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"+"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97206" y="3454241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76332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1223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33690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03336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"12"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26383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"3"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88496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"+"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97206" y="3903821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21195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216718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1223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235392" y="4226242"/>
              <a:ext cx="95059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33690" y="435244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303336" y="435244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"15.0"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826383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""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88496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""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97206" y="4352449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1524000"/>
              <a:ext cx="692467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221105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219075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71379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7591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8462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1-callout-2"/>
          <p:cNvGrpSpPr/>
          <p:nvPr/>
        </p:nvGrpSpPr>
        <p:grpSpPr>
          <a:xfrm>
            <a:off x="533400" y="4855845"/>
            <a:ext cx="6924675" cy="1059180"/>
            <a:chOff x="533400" y="4855845"/>
            <a:chExt cx="6924675" cy="1059180"/>
          </a:xfrm>
        </p:grpSpPr>
        <p:sp>
          <p:nvSpPr>
            <p:cNvPr id="66" name="Rectangle 66"/>
            <p:cNvSpPr/>
            <p:nvPr/>
          </p:nvSpPr>
          <p:spPr>
            <a:xfrm>
              <a:off x="533400" y="4855845"/>
              <a:ext cx="692467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285423"/>
              <a:ext cx="200026" cy="200026"/>
              <a:chOff x="738188" y="5285423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2854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53520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53854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004435"/>
              <a:ext cx="58445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display 一列是用 doClick 逐键实测的结果，其余几列按代码推出。接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着按 * 2 = 显示 30.0（实测），因为 firstNumber 已是上次的结果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15.0。</a:t>
              </a:r>
            </a:p>
          </p:txBody>
        </p:sp>
      </p:grpSp>
      <p:grpSp>
        <p:nvGrpSpPr>
          <p:cNvPr id="80" name="c2-card-1"/>
          <p:cNvGrpSpPr/>
          <p:nvPr/>
        </p:nvGrpSpPr>
        <p:grpSpPr>
          <a:xfrm>
            <a:off x="7762875" y="1524000"/>
            <a:ext cx="3895725" cy="1956435"/>
            <a:chOff x="7762875" y="1524000"/>
            <a:chExt cx="3895725" cy="1956435"/>
          </a:xfrm>
        </p:grpSpPr>
        <p:sp>
          <p:nvSpPr>
            <p:cNvPr id="73" name="Rectangle 73"/>
            <p:cNvSpPr/>
            <p:nvPr/>
          </p:nvSpPr>
          <p:spPr>
            <a:xfrm>
              <a:off x="7762875" y="1524000"/>
              <a:ext cx="389572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772400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010525" y="1733550"/>
              <a:ext cx="11515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081632" y="1769269"/>
              <a:ext cx="1010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为什么是 15.0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269730" y="1768792"/>
              <a:ext cx="1596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结果用 double 存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002905" y="2129790"/>
              <a:ext cx="2815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String.valueOf(15.0)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得到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"15.0"，所以整数结果也带 .0。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002905" y="2750820"/>
              <a:ext cx="3139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想显示成 15，可以在结果是整数时转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long 再显示。</a:t>
              </a:r>
            </a:p>
          </p:txBody>
        </p:sp>
      </p:grpSp>
      <p:grpSp>
        <p:nvGrpSpPr>
          <p:cNvPr id="87" name="c2-card-2"/>
          <p:cNvGrpSpPr/>
          <p:nvPr/>
        </p:nvGrpSpPr>
        <p:grpSpPr>
          <a:xfrm>
            <a:off x="7762875" y="3670935"/>
            <a:ext cx="3895725" cy="2244090"/>
            <a:chOff x="7762875" y="3670935"/>
            <a:chExt cx="3895725" cy="2244090"/>
          </a:xfrm>
        </p:grpSpPr>
        <p:sp>
          <p:nvSpPr>
            <p:cNvPr id="81" name="Rectangle 81"/>
            <p:cNvSpPr/>
            <p:nvPr/>
          </p:nvSpPr>
          <p:spPr>
            <a:xfrm>
              <a:off x="7762875" y="3670935"/>
              <a:ext cx="3895725" cy="2244090"/>
            </a:xfrm>
            <a:prstGeom prst="roundRect">
              <a:avLst>
                <a:gd name="adj" fmla="val 59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772400" y="3804285"/>
              <a:ext cx="47625" cy="19773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010525" y="388048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096783" y="39162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浮点数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002905" y="4257675"/>
              <a:ext cx="2105501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+ 0.2 显示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0.30000000000000004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002905" y="4869180"/>
              <a:ext cx="3310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实测按 0 . 1 + 0 . 2 = 得到这个结果。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 是二进制浮点数，0.1 无法精确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表示。做金额计算要用 BigDecimal。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9517" cy="909257"/>
            <a:chOff x="520446" y="342900"/>
            <a:chExt cx="64195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综合例：计算器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9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5.12　原程序的四个缺陷，以及怎么改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5951220" cy="3150870"/>
            <a:chOff x="533400" y="1524000"/>
            <a:chExt cx="5951220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713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按键序列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6485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原程序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5734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修正版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475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221706"/>
              <a:ext cx="881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+ 2 + 3 =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0903" y="222170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24.0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83395" y="222170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75888" y="2108359"/>
              <a:ext cx="24269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 + 只换运算符，3 被拼到 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后面成了 23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897029"/>
              <a:ext cx="881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+ 2 = 5 =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90903" y="2897029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83395" y="289702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75888" y="2783681"/>
              <a:ext cx="2467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后按的 5 进了 secondNumber，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运算符却已清空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194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685699"/>
              <a:ext cx="10352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. . 2 + 1 =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0903" y="368569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抛异常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83395" y="368569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75888" y="3459004"/>
              <a:ext cx="214249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允许两个小数点，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Double.valueOf("1..2") 抛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NumberFormatException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2148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22624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361021"/>
              <a:ext cx="5738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/ 0 =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90903" y="4361021"/>
              <a:ext cx="6463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Infinity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83395" y="4361021"/>
              <a:ext cx="6463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Infinity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75888" y="4361021"/>
              <a:ext cx="2683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 除以 0 不抛异常，两版相同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951220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778318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670810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56330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rd-2"/>
          <p:cNvGrpSpPr/>
          <p:nvPr/>
        </p:nvGrpSpPr>
        <p:grpSpPr>
          <a:xfrm>
            <a:off x="533400" y="4865370"/>
            <a:ext cx="5951220" cy="1335405"/>
            <a:chOff x="533400" y="4865370"/>
            <a:chExt cx="5951220" cy="1335405"/>
          </a:xfrm>
        </p:grpSpPr>
        <p:sp>
          <p:nvSpPr>
            <p:cNvPr id="38" name="Rectangle 38"/>
            <p:cNvSpPr/>
            <p:nvPr/>
          </p:nvSpPr>
          <p:spPr>
            <a:xfrm>
              <a:off x="533400" y="4865370"/>
              <a:ext cx="595122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99872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" y="507492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3359" y="51106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顺带一改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65922" y="5110162"/>
              <a:ext cx="896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 换成 &amp;&amp;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3430" y="5471160"/>
              <a:ext cx="5225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条件里的 </a:t>
              </a:r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&amp;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是不短路的与，对 boolean 结果也正确，但惯例写</a:t>
              </a:r>
              <a:br/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&amp;&amp;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。修正版已改。</a:t>
              </a:r>
            </a:p>
          </p:txBody>
        </p:sp>
      </p:grpSp>
      <p:grpSp>
        <p:nvGrpSpPr>
          <p:cNvPr id="48" name="c2-code-1"/>
          <p:cNvGrpSpPr/>
          <p:nvPr/>
        </p:nvGrpSpPr>
        <p:grpSpPr>
          <a:xfrm>
            <a:off x="6789420" y="1524000"/>
            <a:ext cx="4869180" cy="3153728"/>
            <a:chOff x="6789420" y="1524000"/>
            <a:chExt cx="4869180" cy="3153728"/>
          </a:xfrm>
        </p:grpSpPr>
        <p:sp>
          <p:nvSpPr>
            <p:cNvPr id="45" name="Rectangle 45"/>
            <p:cNvSpPr/>
            <p:nvPr/>
          </p:nvSpPr>
          <p:spPr>
            <a:xfrm>
              <a:off x="6789420" y="1524000"/>
              <a:ext cx="4869180" cy="3153728"/>
            </a:xfrm>
            <a:prstGeom prst="roundRect">
              <a:avLst>
                <a:gd name="adj" fmla="val 30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17817" y="1675924"/>
              <a:ext cx="19220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修正版 Calculator2 改动的部分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18008" y="1934766"/>
              <a:ext cx="3788537" cy="26531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dealNumber(String number)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(!isFirst &amp;&amp; operator.equals(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 {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刚按过 =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firstNumber 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开始新的一题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isFirst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current = isFirst ? firstNumber : secondNumber;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(number.equals(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"."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&amp;&amp; current.contains(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"."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一个数只允许一个小数点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……后面的拼接代码不变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dealOperator 最后的 else 改成：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(!operatorName.equals(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"="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(!secondNumber.equals(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dealOperator(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"="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1+2+ 时先算出 1+2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operator = operatorName;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isFirst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789420" y="4868228"/>
            <a:ext cx="4869180" cy="1332548"/>
            <a:chOff x="6789420" y="4868228"/>
            <a:chExt cx="4869180" cy="1332548"/>
          </a:xfrm>
        </p:grpSpPr>
        <p:sp>
          <p:nvSpPr>
            <p:cNvPr id="49" name="Rectangle 49"/>
            <p:cNvSpPr/>
            <p:nvPr/>
          </p:nvSpPr>
          <p:spPr>
            <a:xfrm>
              <a:off x="6789420" y="4868228"/>
              <a:ext cx="4869180" cy="1332548"/>
            </a:xfrm>
            <a:prstGeom prst="roundRect">
              <a:avLst>
                <a:gd name="adj" fmla="val 857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994208" y="5434013"/>
              <a:ext cx="200026" cy="200026"/>
              <a:chOff x="6994208" y="5434013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94208" y="54340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060883" y="55118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296150" y="5291138"/>
              <a:ext cx="3939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表中两版的结果都是在 JDK 21 上用 doClick 逐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键实测的。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29693" cy="909257"/>
            <a:chOff x="520446" y="342900"/>
            <a:chExt cx="91296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 · 综合例：计算器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296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可视化设计工具 WindowBuilder：拖放组件，自动生成代码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647654" cy="3468338"/>
            <a:chOff x="533400" y="1533525"/>
            <a:chExt cx="5647654" cy="346833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891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6536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7274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53949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6133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42531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499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安装插件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77596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Eclipse 菜单 Help → Install New Software，填入 WindowBuilder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的更新站点，勾选 Swing Designer、SWT Designer 和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WindowBuilder Engine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6879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建工程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98180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→ Project → WindowBuilder，原课件截图选的是 SWT/JFace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Project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5737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建窗口类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866674"/>
              <a:ext cx="49547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Java Class 时把 Superclass 设为 javax.swing.JFrame，勾选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main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445960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切到设计视图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752499"/>
              <a:ext cx="5235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编辑器底部有 Source 和 Design 两个标签页，在 Design 里拖放组件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5180648"/>
            <a:ext cx="5626418" cy="1059180"/>
            <a:chOff x="533400" y="5180648"/>
            <a:chExt cx="5626418" cy="1059180"/>
          </a:xfrm>
        </p:grpSpPr>
        <p:sp>
          <p:nvSpPr>
            <p:cNvPr id="25" name="Rectangle 25"/>
            <p:cNvSpPr/>
            <p:nvPr/>
          </p:nvSpPr>
          <p:spPr>
            <a:xfrm>
              <a:off x="533400" y="5180648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5606533"/>
              <a:ext cx="224134" cy="192560"/>
              <a:chOff x="726129" y="5606533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56769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56065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7546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329238"/>
              <a:ext cx="4587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设计器生成的仍是本章讲的 JFrame、JPanel、布局和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监听器代码。先能手写，再用设计器提速，出了问题才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看得懂它生成了什么。</a:t>
              </a:r>
            </a:p>
          </p:txBody>
        </p:sp>
      </p:grpSp>
      <p:grpSp>
        <p:nvGrpSpPr>
          <p:cNvPr id="40" name="c2-kv-1"/>
          <p:cNvGrpSpPr/>
          <p:nvPr/>
        </p:nvGrpSpPr>
        <p:grpSpPr>
          <a:xfrm>
            <a:off x="6456998" y="1548765"/>
            <a:ext cx="5201602" cy="2019300"/>
            <a:chOff x="6456998" y="1548765"/>
            <a:chExt cx="5201602" cy="2019300"/>
          </a:xfrm>
        </p:grpSpPr>
        <p:sp>
          <p:nvSpPr>
            <p:cNvPr id="32" name="TextBox 32"/>
            <p:cNvSpPr txBox="1"/>
            <p:nvPr/>
          </p:nvSpPr>
          <p:spPr>
            <a:xfrm>
              <a:off x="6456998" y="1548765"/>
              <a:ext cx="1071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Structure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99070" y="1548765"/>
              <a:ext cx="35013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组件树：JFrame → getContentPane() 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面板、按钮……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21507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56998" y="2270760"/>
              <a:ext cx="784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Palette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99070" y="2270760"/>
              <a:ext cx="33299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组件面板，分 Containers、Layouts、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Components 等组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8727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56998" y="2992755"/>
              <a:ext cx="1134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Properties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99070" y="2992755"/>
              <a:ext cx="35775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选中组件的属性表：background、font、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text……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3699510"/>
            <a:ext cx="5193982" cy="2540318"/>
            <a:chOff x="6464618" y="3699510"/>
            <a:chExt cx="5193982" cy="2540318"/>
          </a:xfrm>
        </p:grpSpPr>
        <p:sp>
          <p:nvSpPr>
            <p:cNvPr id="41" name="Rectangle 41"/>
            <p:cNvSpPr/>
            <p:nvPr/>
          </p:nvSpPr>
          <p:spPr>
            <a:xfrm>
              <a:off x="6464618" y="3699510"/>
              <a:ext cx="5193982" cy="2540318"/>
            </a:xfrm>
            <a:prstGeom prst="roundRect">
              <a:avLst>
                <a:gd name="adj" fmla="val 52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3832860"/>
              <a:ext cx="47625" cy="22736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12268" y="39090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3428" y="39447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现状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3295" y="394430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原课件的下载页已经很旧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4648" y="4305300"/>
              <a:ext cx="44634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原课件截图里的版本表只列到 Eclipse 4.5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（Mars）。现在按所用 Eclipse 版本选更新站点，或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者直接在 Eclipse Marketplace 里搜索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WindowBuilder 安装。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自测（一）：组件与布局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649974" cy="293370"/>
            <a:chOff x="525780" y="1548765"/>
            <a:chExt cx="664997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6499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先自己写答案，再对照。涉及默认值和位置的题目都在 JDK 21 上实测过。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54530"/>
            <a:ext cx="3505200" cy="1865948"/>
            <a:chOff x="533400" y="1954530"/>
            <a:chExt cx="3505200" cy="186594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37235" y="215836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4722" y="219408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2531269"/>
              <a:ext cx="2535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 组件为什么叫轻量级？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9996" y="2851309"/>
              <a:ext cx="283679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它不用本地方法实现，组件由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自己绘制。AWT 组件依靠本地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方法，称为重量级。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6215"/>
            <a:ext cx="3505200" cy="2137410"/>
            <a:chOff x="533400" y="4006215"/>
            <a:chExt cx="3505200" cy="2137410"/>
          </a:xfrm>
        </p:grpSpPr>
        <p:sp>
          <p:nvSpPr>
            <p:cNvPr id="15" name="Rectangle 15"/>
            <p:cNvSpPr/>
            <p:nvPr/>
          </p:nvSpPr>
          <p:spPr>
            <a:xfrm>
              <a:off x="533400" y="4006215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7235" y="42100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4722" y="42457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996" y="4582954"/>
              <a:ext cx="29084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 的 NORTH 区先后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了两个按钮，界面上显示几个？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9996" y="5174456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只显示后加的那个，前一个大小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0×0。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54530"/>
            <a:ext cx="3505200" cy="2137410"/>
            <a:chOff x="4343400" y="1954530"/>
            <a:chExt cx="3505200" cy="2137410"/>
          </a:xfrm>
        </p:grpSpPr>
        <p:sp>
          <p:nvSpPr>
            <p:cNvPr id="21" name="Rectangle 21"/>
            <p:cNvSpPr/>
            <p:nvPr/>
          </p:nvSpPr>
          <p:spPr>
            <a:xfrm>
              <a:off x="4343400" y="195453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47235" y="215836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34722" y="219408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39996" y="2531269"/>
              <a:ext cx="295086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不调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setDefaultCloseOperation，点窗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口的关闭按钮会怎样？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39996" y="3394234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默认值是 HIDE_ON_CLOSE：窗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口隐藏，程序继续运行，不会退出。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277678"/>
            <a:ext cx="3505200" cy="1865948"/>
            <a:chOff x="4343400" y="4277678"/>
            <a:chExt cx="3505200" cy="1865948"/>
          </a:xfrm>
        </p:grpSpPr>
        <p:sp>
          <p:nvSpPr>
            <p:cNvPr id="27" name="Rectangle 27"/>
            <p:cNvSpPr/>
            <p:nvPr/>
          </p:nvSpPr>
          <p:spPr>
            <a:xfrm>
              <a:off x="4343400" y="4277678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47235" y="448151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34722" y="451723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39996" y="4854416"/>
              <a:ext cx="28088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GridLayout(2, 3) 放 7 个按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钮，排成几行几列？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39996" y="5445919"/>
              <a:ext cx="29269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行 4 列。行数不为 0 时以行数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为准，列数按个数算出来。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54530"/>
            <a:ext cx="3505200" cy="1865948"/>
            <a:chOff x="8153400" y="1954530"/>
            <a:chExt cx="3505200" cy="1865948"/>
          </a:xfrm>
        </p:grpSpPr>
        <p:sp>
          <p:nvSpPr>
            <p:cNvPr id="33" name="Rectangle 33"/>
            <p:cNvSpPr/>
            <p:nvPr/>
          </p:nvSpPr>
          <p:spPr>
            <a:xfrm>
              <a:off x="8153400" y="195453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57235" y="215836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44722" y="219408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49996" y="2531269"/>
              <a:ext cx="286790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 内容面板和 JPanel 的默认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布局分别是什么？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49996" y="3122771"/>
              <a:ext cx="27015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内容面板是 BorderLayout，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 是 FlowLayout。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06215"/>
            <a:ext cx="3505200" cy="2137410"/>
            <a:chOff x="8153400" y="4006215"/>
            <a:chExt cx="3505200" cy="2137410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6215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57235" y="42100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44722" y="42457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49996" y="4582954"/>
              <a:ext cx="29066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FlowLayout 按什么尺寸摆放组件？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默认怎么对齐？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49996" y="5174456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按首选尺寸摆放，一行放不下就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换行；默认居中，水平、垂直间距都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5 像素。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自测（二）：事件处理与计算器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2552700" cy="1511618"/>
            <a:chOff x="533400" y="1524000"/>
            <a:chExt cx="2552700" cy="1511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5527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事件处理涉及哪三类对象？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事件、事件源、事件处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理者（监听器）。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210878"/>
            <a:ext cx="2552700" cy="2283142"/>
            <a:chOff x="533400" y="3210878"/>
            <a:chExt cx="2552700" cy="2283142"/>
          </a:xfrm>
        </p:grpSpPr>
        <p:sp>
          <p:nvSpPr>
            <p:cNvPr id="13" name="Rectangle 13"/>
            <p:cNvSpPr/>
            <p:nvPr/>
          </p:nvSpPr>
          <p:spPr>
            <a:xfrm>
              <a:off x="533400" y="3210878"/>
              <a:ext cx="25527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40328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43757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760470"/>
              <a:ext cx="203168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MouseListener 为什么不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能写成 lambda？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4319588"/>
              <a:ext cx="19682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它有 5 个抽象方法。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 MouseAdapter 的匿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名子类。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3390900" y="1524000"/>
            <a:ext cx="2552700" cy="2025968"/>
            <a:chOff x="3390900" y="1524000"/>
            <a:chExt cx="2552700" cy="2025968"/>
          </a:xfrm>
        </p:grpSpPr>
        <p:sp>
          <p:nvSpPr>
            <p:cNvPr id="19" name="Rectangle 19"/>
            <p:cNvSpPr/>
            <p:nvPr/>
          </p:nvSpPr>
          <p:spPr>
            <a:xfrm>
              <a:off x="3390900" y="1524000"/>
              <a:ext cx="25527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833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722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76447" y="2072640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监听器写好了，点按钮没反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应，先查什么？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76447" y="2632710"/>
              <a:ext cx="17539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有没有用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addActionListener 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册。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3390900" y="3725228"/>
            <a:ext cx="2552700" cy="1768792"/>
            <a:chOff x="3390900" y="3725228"/>
            <a:chExt cx="2552700" cy="1768792"/>
          </a:xfrm>
        </p:grpSpPr>
        <p:sp>
          <p:nvSpPr>
            <p:cNvPr id="25" name="Rectangle 25"/>
            <p:cNvSpPr/>
            <p:nvPr/>
          </p:nvSpPr>
          <p:spPr>
            <a:xfrm>
              <a:off x="3390900" y="3725228"/>
              <a:ext cx="25527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833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722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76447" y="4274820"/>
              <a:ext cx="18876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mouseClicked 拼成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mouseclicked 会怎样？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76447" y="4833937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能编译，点击无反应；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@Override 会报错。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6248400" y="1524000"/>
            <a:ext cx="2552700" cy="1768792"/>
            <a:chOff x="6248400" y="1524000"/>
            <a:chExt cx="2552700" cy="1768792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25527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2072640"/>
              <a:ext cx="196181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两个按钮都注册 this，怎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么区分？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2632710"/>
              <a:ext cx="19853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actionPerformed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里比较 e.getSource()。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6248400" y="3468052"/>
            <a:ext cx="2552700" cy="2025968"/>
            <a:chOff x="6248400" y="3468052"/>
            <a:chExt cx="2552700" cy="2025968"/>
          </a:xfrm>
        </p:grpSpPr>
        <p:sp>
          <p:nvSpPr>
            <p:cNvPr id="37" name="Rectangle 37"/>
            <p:cNvSpPr/>
            <p:nvPr/>
          </p:nvSpPr>
          <p:spPr>
            <a:xfrm>
              <a:off x="6248400" y="3468052"/>
              <a:ext cx="25527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36604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36947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017645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三个单选按钮怎样才能互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斥？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4576762"/>
              <a:ext cx="1222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加进同一个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ButtonGroup。</a:t>
              </a:r>
            </a:p>
          </p:txBody>
        </p:sp>
      </p:grpSp>
      <p:grpSp>
        <p:nvGrpSpPr>
          <p:cNvPr id="48" name="c4-card-1"/>
          <p:cNvGrpSpPr/>
          <p:nvPr/>
        </p:nvGrpSpPr>
        <p:grpSpPr>
          <a:xfrm>
            <a:off x="9105900" y="1524000"/>
            <a:ext cx="2552700" cy="1768792"/>
            <a:chOff x="9105900" y="1524000"/>
            <a:chExt cx="2552700" cy="1768792"/>
          </a:xfrm>
        </p:grpSpPr>
        <p:sp>
          <p:nvSpPr>
            <p:cNvPr id="43" name="Rectangle 43"/>
            <p:cNvSpPr/>
            <p:nvPr/>
          </p:nvSpPr>
          <p:spPr>
            <a:xfrm>
              <a:off x="9105900" y="1524000"/>
              <a:ext cx="25527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2983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872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91447" y="2072640"/>
              <a:ext cx="203168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MouseListener 有几个方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91447" y="2632710"/>
              <a:ext cx="20453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个：按下、松开、单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击、进入、离开各一个。</a:t>
              </a:r>
            </a:p>
          </p:txBody>
        </p:sp>
      </p:grpSp>
      <p:grpSp>
        <p:nvGrpSpPr>
          <p:cNvPr id="54" name="c4-card-2"/>
          <p:cNvGrpSpPr/>
          <p:nvPr/>
        </p:nvGrpSpPr>
        <p:grpSpPr>
          <a:xfrm>
            <a:off x="9105900" y="3468052"/>
            <a:ext cx="2552700" cy="2025968"/>
            <a:chOff x="9105900" y="3468052"/>
            <a:chExt cx="2552700" cy="2025968"/>
          </a:xfrm>
        </p:grpSpPr>
        <p:sp>
          <p:nvSpPr>
            <p:cNvPr id="49" name="Rectangle 49"/>
            <p:cNvSpPr/>
            <p:nvPr/>
          </p:nvSpPr>
          <p:spPr>
            <a:xfrm>
              <a:off x="9105900" y="3468052"/>
              <a:ext cx="25527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298305" y="36604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87253" y="36947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91447" y="4017645"/>
              <a:ext cx="1960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计算器按 1 + 2 + 3 =，原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程序显示多少？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91447" y="4576762"/>
              <a:ext cx="19682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24.0。第二个 + 不计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算，3 拼到 2 后成了 23。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5" name="Rectangle 5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3610"/>
              <a:ext cx="8609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答错的题回到对应页：注册与三类对象看第 29～31 页，适配器看第 40～41 页，计算器的缺陷看第 56 页。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544574" cy="909257"/>
            <a:chOff x="520446" y="342900"/>
            <a:chExt cx="15445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第5章 图形用户界面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6542" y="1545907"/>
            <a:ext cx="5273421" cy="2546223"/>
            <a:chOff x="526542" y="1545907"/>
            <a:chExt cx="5273421" cy="254622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四节各自的落点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53565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9078" y="18929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4197" y="1865947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 Swing 建在 AWT 之上：顶层容器 JFrame、JDialog 继承 AWT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窗口类，其余组件继承 JComponent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422208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9078" y="24605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4197" y="2434590"/>
              <a:ext cx="489146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 窗口 = JFrame + 内容面板；JLabel 显示，JPanel 分组，按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钮、文本框、选择框产生事件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990850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9078" y="30292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197" y="3003232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 布局管理器决定位置和大小：FlowLayout 按行，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 分五区，GridLayout 等分网格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559492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9078" y="35978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197" y="3570922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5.4 事件源产生事件对象，交给 addXxxListener 注册的监听器；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多方法接口用适配器省掉空方法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214812"/>
            <a:ext cx="5626418" cy="1808798"/>
            <a:chOff x="533400" y="4214812"/>
            <a:chExt cx="5626418" cy="1808798"/>
          </a:xfrm>
        </p:grpSpPr>
        <p:sp>
          <p:nvSpPr>
            <p:cNvPr id="21" name="Rectangle 21"/>
            <p:cNvSpPr/>
            <p:nvPr/>
          </p:nvSpPr>
          <p:spPr>
            <a:xfrm>
              <a:off x="533400" y="4214812"/>
              <a:ext cx="5626418" cy="1808798"/>
            </a:xfrm>
            <a:prstGeom prst="roundRect">
              <a:avLst>
                <a:gd name="adj" fmla="val 73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348162"/>
              <a:ext cx="47625" cy="154209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3905" y="440721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5342" y="444150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原课件的一句话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14347" y="44462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047" y="4780598"/>
              <a:ext cx="4847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 → 组件 → 动作事件对象 → 事件监听器 → 事件处理方法。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047" y="5083492"/>
              <a:ext cx="40856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拿例 5.8 走一遍：用户点「中文」→ 按钮 JBcn → 生成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ActionEvent → 交给注册的监听器 this → 执行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actionPerformed。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464618" y="1524000"/>
            <a:ext cx="5193982" cy="2840355"/>
            <a:chOff x="6464618" y="1524000"/>
            <a:chExt cx="5193982" cy="284035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32611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默认值速查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0451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4630" y="2054066"/>
              <a:ext cx="12274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 关闭操作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175432" y="1939290"/>
              <a:ext cx="247364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65920" y="2054066"/>
              <a:ext cx="1558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HIDE_ON_CLOSE（1）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4630" y="2459831"/>
              <a:ext cx="15290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 内容面板布局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65920" y="2459831"/>
              <a:ext cx="10159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4630" y="2865596"/>
              <a:ext cx="853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JPanel 布局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65920" y="2865596"/>
              <a:ext cx="842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FlowLayout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3142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4618" y="31470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64630" y="3271361"/>
              <a:ext cx="1685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FlowLayout 对齐与间距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65920" y="3271361"/>
              <a:ext cx="1117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CENTER，5 像素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35480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4630" y="3677126"/>
              <a:ext cx="1415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 间距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65920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39538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4618" y="395859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4630" y="4082891"/>
              <a:ext cx="550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JDialog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65920" y="40828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非模式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1524000"/>
              <a:ext cx="5193982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16114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6464618" y="4539615"/>
            <a:ext cx="5193982" cy="1483995"/>
            <a:chOff x="6464618" y="4539615"/>
            <a:chExt cx="5193982" cy="1483995"/>
          </a:xfrm>
        </p:grpSpPr>
        <p:sp>
          <p:nvSpPr>
            <p:cNvPr id="56" name="Rectangle 56"/>
            <p:cNvSpPr/>
            <p:nvPr/>
          </p:nvSpPr>
          <p:spPr>
            <a:xfrm>
              <a:off x="6464618" y="4539615"/>
              <a:ext cx="5193982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467296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95122" y="47320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8562" y="47663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45514" y="477202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原课件的错误已在各页注明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88264" y="5105400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API 笔误（pubic、setColums、getText 与 setBounds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签名），适配器个数，BoxLayout 所在包，FlowLayout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尺寸说法，以及 Applet、Flash 的现状。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51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第5章 图形用户界面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ava_ch5">
  <a:themeElements>
    <a:clrScheme name="java_ch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ava_ch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va_ch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2026-09-23T09:04:59Z</dcterms:created>
  <dcterms:modified xsi:type="dcterms:W3CDTF">2026-09-23T09:04:59Z</dcterms:modified>
  <cp:category/>
  <cp:contentStatus/>
</cp:coreProperties>
</file>