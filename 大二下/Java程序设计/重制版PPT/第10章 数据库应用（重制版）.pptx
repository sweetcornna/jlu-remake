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va_ch1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va_ch1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3264a3f8c5bfd2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d5edfd328038357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d8c3d60b6dc7249.png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280154" cy="3437763"/>
            <a:chOff x="666750" y="1619250"/>
            <a:chExt cx="428015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969770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9909" y="1718310"/>
              <a:ext cx="1741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Java程序设计 · 第10章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数据库应用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270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SQL 描述数据，用 JDBC 操作数据库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80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关系数据库与常用 SQL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311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JDBC 的两层接口与四类驱动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四个核心类型与编程八步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完整示例与 ORM 简介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60558" cy="205359"/>
            <a:chOff x="680466" y="6192202"/>
            <a:chExt cx="446055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60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自学复习版｜据吉林大学《Java程序设计》第10章课件整理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4394167"/>
            <a:chOff x="521970" y="1515428"/>
            <a:chExt cx="6287453" cy="439416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8981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数据库系统概述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2392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数据库系统的组成与数据模型；关系表；SQL 四类命令；建表、删表、查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询、插入、修改、删除六种常用句型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14220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JDBC 概述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52230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JDBC 是什么、为什么需要它；JDBC API 与 Driver API 两层接口；四类驱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动；DriverManager、Connection、Statement、ResultSet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42328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52806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564255"/>
              <a:ext cx="18663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JDBC 编程步骤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881914"/>
              <a:ext cx="5483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八个步骤；以 Java DB（Derby）为库的完整示例，逐段读代码和输出；运行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配置；改进写法与 SQL 注入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443007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5348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571048"/>
              <a:ext cx="2255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 对象关系映射 ORM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887754"/>
              <a:ext cx="46708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表映射成类、行映射成对象；Hibernate 等框架的由来与现状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52016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530733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53435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两轮自测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660231"/>
              <a:ext cx="4835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 道题，一页概念辨析、一页写 SQL 与读程序，答案紧跟题目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335780"/>
            <a:chOff x="7114222" y="1524000"/>
            <a:chExt cx="4544378" cy="433578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33578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406908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按给定的表写出建表、查询、插入、修改、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删除语句，并说出每条影响几行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JDBC 两层接口结构图，说出四类驱动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各把调用转换成什么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DriverManager、Connection、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Statement、ResultSet 由谁创建、各负责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32244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4259580"/>
              <a:ext cx="3749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默写 JDBC 编程八步，给一段 JDBC 程序能写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出它的输出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94347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88061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 Statement 拼接 SQL 的注入风险，会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 PreparedStatement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488381" cy="2997517"/>
            <a:chOff x="667512" y="1835468"/>
            <a:chExt cx="548838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数据库系统概述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478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先弄清数据存在哪、长什么样，再学怎样用 SQL 操作它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关系数据库把数据存成一张张二维表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9067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按用途分查询、操纵、定义、控制四类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增删改查各有固定句型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数据库系统概述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数据库系统：管理大量共享数据的工具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483995"/>
            <a:chOff x="533400" y="1524000"/>
            <a:chExt cx="5626418" cy="1483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数据库系统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管理系统中大量的、持久的、可靠的、共享的数据的工具。数据冗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余度小，数据与程序相互独立；数据库要保证数据安全，维护数据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一致。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542" y="3205162"/>
            <a:ext cx="5633276" cy="2363344"/>
            <a:chOff x="526542" y="3205162"/>
            <a:chExt cx="5633276" cy="2363344"/>
          </a:xfrm>
        </p:grpSpPr>
        <p:sp>
          <p:nvSpPr>
            <p:cNvPr id="14" name="TextBox 14"/>
            <p:cNvSpPr txBox="1"/>
            <p:nvPr/>
          </p:nvSpPr>
          <p:spPr>
            <a:xfrm>
              <a:off x="526542" y="3205162"/>
              <a:ext cx="841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数据库 DB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30602" y="320516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按一定结构长期存放的数据集合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4947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542" y="3603308"/>
              <a:ext cx="1830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数据库管理系统 DBMS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30602" y="3603308"/>
              <a:ext cx="334841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建库、存取、维护数据的软件，如 MySQL、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1462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4254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应用系统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30602" y="4254818"/>
              <a:ext cx="335699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DBMS 完成业务的程序，本章写的 Java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程序就是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7977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4906328"/>
              <a:ext cx="1497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数据库管理员 DBA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30602" y="490632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负责设计库结构、备份、授权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1949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542" y="5304473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数据库用户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30602" y="5304473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通过应用系统使用数据的人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464618" y="1524000"/>
            <a:ext cx="5193982" cy="2223135"/>
            <a:chOff x="6464618" y="1524000"/>
            <a:chExt cx="5193982" cy="222313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3267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数据模型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44014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数据怎样组织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1598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代表产品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64630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层次模型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5275" y="2054066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树：每个结点只有一个父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88855" y="2154079"/>
              <a:ext cx="5690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IBM IMS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5307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2535555"/>
              <a:ext cx="519398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4630" y="27598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网状模型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15275" y="2659856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图：一个结点可以有多个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88855" y="2759869"/>
              <a:ext cx="353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IDMS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31365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3150870"/>
              <a:ext cx="1331595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4630" y="33656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关系模型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15275" y="3265646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二维表：行是记录，列是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88855" y="3265646"/>
              <a:ext cx="1256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Oracle、DB2、SQL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Server、MySQL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1524000"/>
              <a:ext cx="5193982" cy="22231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810500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784080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6464618" y="3922395"/>
            <a:ext cx="5193982" cy="1741170"/>
            <a:chOff x="6464618" y="3922395"/>
            <a:chExt cx="5193982" cy="1741170"/>
          </a:xfrm>
        </p:grpSpPr>
        <p:sp>
          <p:nvSpPr>
            <p:cNvPr id="50" name="Rectangle 50"/>
            <p:cNvSpPr/>
            <p:nvPr/>
          </p:nvSpPr>
          <p:spPr>
            <a:xfrm>
              <a:off x="6464618" y="3922395"/>
              <a:ext cx="5193982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4142" y="4055745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95122" y="41148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86562" y="41490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78814" y="4154805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 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88264" y="4488180"/>
              <a:ext cx="452285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产品名写作 Oracal，应为 Oracle。所列的 FoxPro、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Access 是桌面数据库，Visual FoxPro 早已停止开发；现在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常见的还有 PostgreSQL，以及嵌入在程序里运行的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SQLite、Derby（第三部分的示例用的就是 Derby）。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7" name="Rectangle 5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3610"/>
              <a:ext cx="9745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数据模型是数据库系统的核心和基础。现在商用的数据库几乎都是关系数据库，本章的 SQL 和 JDBC 都针对关系数据库。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数据库系统概述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关系模型：三张表存下学生、课程和选课成绩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8447" y="1524000"/>
            <a:ext cx="3510153" cy="1408461"/>
            <a:chOff x="528447" y="1524000"/>
            <a:chExt cx="3510153" cy="14084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2987" y="1641157"/>
              <a:ext cx="3495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S_No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37863" y="1641157"/>
              <a:ext cx="541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S_Name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77545" y="1641157"/>
              <a:ext cx="430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S_Sex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08125" y="1641157"/>
              <a:ext cx="430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S_Age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35811" y="2023110"/>
              <a:ext cx="5100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Edward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72118" y="2023110"/>
              <a:ext cx="122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02698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350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404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35811" y="2404110"/>
              <a:ext cx="403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Catty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72118" y="2404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02698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1524000"/>
              <a:ext cx="3505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436370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372678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203258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447" y="2741771"/>
              <a:ext cx="95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学生表 Student</a:t>
              </a:r>
            </a:p>
          </p:txBody>
        </p:sp>
      </p:grpSp>
      <p:grpSp>
        <p:nvGrpSpPr>
          <p:cNvPr id="36" name="c1-kv-2"/>
          <p:cNvGrpSpPr/>
          <p:nvPr/>
        </p:nvGrpSpPr>
        <p:grpSpPr>
          <a:xfrm>
            <a:off x="526923" y="3079909"/>
            <a:ext cx="3511677" cy="1477136"/>
            <a:chOff x="526923" y="3079909"/>
            <a:chExt cx="3511677" cy="1477136"/>
          </a:xfrm>
        </p:grpSpPr>
        <p:sp>
          <p:nvSpPr>
            <p:cNvPr id="28" name="TextBox 28"/>
            <p:cNvSpPr txBox="1"/>
            <p:nvPr/>
          </p:nvSpPr>
          <p:spPr>
            <a:xfrm>
              <a:off x="526923" y="30799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表（关系）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21346" y="3079909"/>
              <a:ext cx="21262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一张二维表，存一类实体，如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全部学生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590925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6923" y="369331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行（记录）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21346" y="3693319"/>
              <a:ext cx="2052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一个实体，如学生 Edward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65258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6923" y="40676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列（字段）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21346" y="4067651"/>
              <a:ext cx="21262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实体的一个属性，同一列类型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</p:grpSp>
      <p:grpSp>
        <p:nvGrpSpPr>
          <p:cNvPr id="43" name="c1-card-3"/>
          <p:cNvGrpSpPr/>
          <p:nvPr/>
        </p:nvGrpSpPr>
        <p:grpSpPr>
          <a:xfrm>
            <a:off x="533400" y="4671060"/>
            <a:ext cx="3505200" cy="1403032"/>
            <a:chOff x="533400" y="4671060"/>
            <a:chExt cx="3505200" cy="1403032"/>
          </a:xfrm>
        </p:grpSpPr>
        <p:sp>
          <p:nvSpPr>
            <p:cNvPr id="37" name="Rectangle 37"/>
            <p:cNvSpPr/>
            <p:nvPr/>
          </p:nvSpPr>
          <p:spPr>
            <a:xfrm>
              <a:off x="533400" y="4671060"/>
              <a:ext cx="3505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80441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52475" y="48520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5147" y="48848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18450" y="48915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选课为什么单独成表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5998" y="5207794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一个学生可以选多门课，一门课也有多个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学生。选课关系单独放进 SC，学生选多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少门课都不用改 Student 表的结构。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4338447" y="1524000"/>
            <a:ext cx="3510153" cy="1408461"/>
            <a:chOff x="4338447" y="1524000"/>
            <a:chExt cx="3510153" cy="1408461"/>
          </a:xfrm>
        </p:grpSpPr>
        <p:sp>
          <p:nvSpPr>
            <p:cNvPr id="44" name="Rectangle 44"/>
            <p:cNvSpPr/>
            <p:nvPr/>
          </p:nvSpPr>
          <p:spPr>
            <a:xfrm>
              <a:off x="4343400" y="1524000"/>
              <a:ext cx="3505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591555" y="1641157"/>
              <a:ext cx="3495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C_No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88845" y="1641157"/>
              <a:ext cx="541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C_Name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70247" y="1641157"/>
              <a:ext cx="636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C_Credit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38078" y="2023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84851" y="2023110"/>
              <a:ext cx="6414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24091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343400" y="2282190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343400" y="2286952"/>
              <a:ext cx="350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438078" y="2404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84851" y="2404110"/>
              <a:ext cx="1030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DataStructure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24091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343400" y="1524000"/>
              <a:ext cx="3505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185410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24650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338447" y="2741771"/>
              <a:ext cx="885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课程表 Course</a:t>
              </a:r>
            </a:p>
          </p:txBody>
        </p:sp>
      </p:grpSp>
      <p:grpSp>
        <p:nvGrpSpPr>
          <p:cNvPr id="66" name="c2-kv-2"/>
          <p:cNvGrpSpPr/>
          <p:nvPr/>
        </p:nvGrpSpPr>
        <p:grpSpPr>
          <a:xfrm>
            <a:off x="4336923" y="3079909"/>
            <a:ext cx="3511677" cy="862774"/>
            <a:chOff x="4336923" y="3079909"/>
            <a:chExt cx="3511677" cy="862774"/>
          </a:xfrm>
        </p:grpSpPr>
        <p:sp>
          <p:nvSpPr>
            <p:cNvPr id="61" name="TextBox 61"/>
            <p:cNvSpPr txBox="1"/>
            <p:nvPr/>
          </p:nvSpPr>
          <p:spPr>
            <a:xfrm>
              <a:off x="4336923" y="30799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主键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923663" y="3079909"/>
              <a:ext cx="29211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能唯一确定一行的列，如 S_No、C_No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343400" y="3351848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336923" y="34532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外键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23663" y="3453289"/>
              <a:ext cx="254889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引用别的表主键的列，SC_Sno 引用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S_No，SC_Cno 引用 C_No</a:t>
              </a:r>
            </a:p>
          </p:txBody>
        </p:sp>
      </p:grpSp>
      <p:grpSp>
        <p:nvGrpSpPr>
          <p:cNvPr id="70" name="c2-code-3"/>
          <p:cNvGrpSpPr/>
          <p:nvPr/>
        </p:nvGrpSpPr>
        <p:grpSpPr>
          <a:xfrm>
            <a:off x="4343400" y="4057650"/>
            <a:ext cx="3505200" cy="1556385"/>
            <a:chOff x="4343400" y="4057650"/>
            <a:chExt cx="3505200" cy="1556385"/>
          </a:xfrm>
        </p:grpSpPr>
        <p:sp>
          <p:nvSpPr>
            <p:cNvPr id="67" name="Rectangle 67"/>
            <p:cNvSpPr/>
            <p:nvPr/>
          </p:nvSpPr>
          <p:spPr>
            <a:xfrm>
              <a:off x="4343400" y="4057650"/>
              <a:ext cx="3505200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471797" y="4209574"/>
              <a:ext cx="19157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连起三张表（Derby 实测 4 行）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471988" y="4467701"/>
              <a:ext cx="1785112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S_Name, C_Name, SC_Score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Student, Course, SC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S_No = SC_Sno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and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C_No = SC_Cno</a:t>
              </a:r>
              <a:br/>
              <a:r>
                <a:rPr lang="en-US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-- Edward DataBase 98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-- ……</a:t>
              </a:r>
              <a:br/>
              <a:r>
                <a:rPr lang="en-US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-- Catty DataStructure 86</a:t>
              </a:r>
            </a:p>
          </p:txBody>
        </p:sp>
      </p:grpSp>
      <p:grpSp>
        <p:nvGrpSpPr>
          <p:cNvPr id="97" name="c3-table-1"/>
          <p:cNvGrpSpPr/>
          <p:nvPr/>
        </p:nvGrpSpPr>
        <p:grpSpPr>
          <a:xfrm>
            <a:off x="8148447" y="1524000"/>
            <a:ext cx="3510153" cy="2170461"/>
            <a:chOff x="8148447" y="1524000"/>
            <a:chExt cx="3510153" cy="2170461"/>
          </a:xfrm>
        </p:grpSpPr>
        <p:sp>
          <p:nvSpPr>
            <p:cNvPr id="71" name="Rectangle 71"/>
            <p:cNvSpPr/>
            <p:nvPr/>
          </p:nvSpPr>
          <p:spPr>
            <a:xfrm>
              <a:off x="8153400" y="1524000"/>
              <a:ext cx="3505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453023" y="1641157"/>
              <a:ext cx="517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SC_Sno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570306" y="1641157"/>
              <a:ext cx="517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SC_Cno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683507" y="1641157"/>
              <a:ext cx="6795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SC_Score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48079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201201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365361" y="2023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397490" y="1914525"/>
              <a:ext cx="125158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482644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153400" y="2282190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8153400" y="2286952"/>
              <a:ext cx="350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248079" y="2404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201201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365361" y="2404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482644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153400" y="2663190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248079" y="2785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201202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365361" y="2785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482644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8153400" y="3045142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153400" y="3049905"/>
              <a:ext cx="350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248079" y="316706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201202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365361" y="3167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482644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153400" y="1524000"/>
              <a:ext cx="3505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926592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38320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148447" y="3503771"/>
              <a:ext cx="6008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选课表 SC</a:t>
              </a:r>
            </a:p>
          </p:txBody>
        </p:sp>
      </p:grpSp>
      <p:grpSp>
        <p:nvGrpSpPr>
          <p:cNvPr id="104" name="c3-card-2"/>
          <p:cNvGrpSpPr/>
          <p:nvPr/>
        </p:nvGrpSpPr>
        <p:grpSpPr>
          <a:xfrm>
            <a:off x="8153400" y="3821430"/>
            <a:ext cx="3505200" cy="2252662"/>
            <a:chOff x="8153400" y="3821430"/>
            <a:chExt cx="3505200" cy="2252662"/>
          </a:xfrm>
        </p:grpSpPr>
        <p:sp>
          <p:nvSpPr>
            <p:cNvPr id="98" name="Rectangle 98"/>
            <p:cNvSpPr/>
            <p:nvPr/>
          </p:nvSpPr>
          <p:spPr>
            <a:xfrm>
              <a:off x="8153400" y="3821430"/>
              <a:ext cx="3505200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8162925" y="395478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372475" y="40024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465147" y="40352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365998" y="4341971"/>
              <a:ext cx="26583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Edward 的 DataBase 考了多少分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365998" y="4643914"/>
              <a:ext cx="2971546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Student 里查到 Edward 的学号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201201，在 Course 里查到 DataBase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课号 1001，再到 SC 里找 SC_Sno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201201 且 SC_Cno = 1001 的行，成绩是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98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90978" cy="909257"/>
            <a:chOff x="520446" y="342900"/>
            <a:chExt cx="35909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数据库系统概述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5909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命令按用途分四类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328160" cy="3354705"/>
            <a:chOff x="533400" y="1524000"/>
            <a:chExt cx="4328160" cy="33547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3354705"/>
            </a:xfrm>
            <a:prstGeom prst="roundRect">
              <a:avLst>
                <a:gd name="adj" fmla="val 39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8800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35087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SQL（Structured Query Language）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418874"/>
              <a:ext cx="36212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结构化查询语言，关系数据库的标准语言。写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只说要什么数据，由 DBMS 决定怎样去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333946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3278981"/>
              <a:ext cx="34860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关键字不区分大小写，SELECT 与 select 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92811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868579"/>
              <a:ext cx="27098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字符串常量用英文单引号：'男'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424624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4185761"/>
              <a:ext cx="34409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表名、列名在多数数据库里也不区分大小写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（Derby 实测）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5058728"/>
            <a:ext cx="4328160" cy="1281112"/>
            <a:chOff x="533400" y="5058728"/>
            <a:chExt cx="4328160" cy="1281112"/>
          </a:xfrm>
        </p:grpSpPr>
        <p:sp>
          <p:nvSpPr>
            <p:cNvPr id="20" name="Rectangle 20"/>
            <p:cNvSpPr/>
            <p:nvPr/>
          </p:nvSpPr>
          <p:spPr>
            <a:xfrm>
              <a:off x="533400" y="5058728"/>
              <a:ext cx="4328160" cy="1281112"/>
            </a:xfrm>
            <a:prstGeom prst="roundRect">
              <a:avLst>
                <a:gd name="adj" fmla="val 892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598795"/>
              <a:ext cx="200026" cy="200025"/>
              <a:chOff x="738188" y="5598795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5987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6432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7543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5205889"/>
              <a:ext cx="3404870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JDBC 执行 SQL 时，查询类用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executeQuery()，其余三类一般用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executeUpdate() 或 execute()，第二部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分细讲。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5166360" y="1524000"/>
            <a:ext cx="6492240" cy="3076575"/>
            <a:chOff x="5166360" y="1524000"/>
            <a:chExt cx="6492240" cy="3076575"/>
          </a:xfrm>
        </p:grpSpPr>
        <p:sp>
          <p:nvSpPr>
            <p:cNvPr id="27" name="Rectangle 27"/>
            <p:cNvSpPr/>
            <p:nvPr/>
          </p:nvSpPr>
          <p:spPr>
            <a:xfrm>
              <a:off x="5166360" y="1524000"/>
              <a:ext cx="6492240" cy="4629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5184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2625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53730" y="1655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2102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67706" y="211978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查询语言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6424" y="2119789"/>
              <a:ext cx="388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DQL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23748" y="1996440"/>
              <a:ext cx="2447925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15568" y="2119789"/>
              <a:ext cx="19356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select…from…where…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82544" y="211978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从表中取出数据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66360" y="244602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66360" y="2450782"/>
              <a:ext cx="649224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7706" y="2709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操纵语言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6424" y="2709386"/>
              <a:ext cx="388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15568" y="2709386"/>
              <a:ext cx="21937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insert、update、delete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82544" y="2582704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增加、修改、删除表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中的行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31623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67706" y="34256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定义语言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36424" y="3425666"/>
              <a:ext cx="3477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DDL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15568" y="342566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create、alter、drop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82544" y="3298984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建立、修改、删除表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等对象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166360" y="38795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166360" y="3884295"/>
              <a:ext cx="649224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67706" y="414289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控制语言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36424" y="4142899"/>
              <a:ext cx="3477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15568" y="4016216"/>
              <a:ext cx="152031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grant、revoke、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commit、rollback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82544" y="4016216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授权收权、提交回滚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166360" y="1524000"/>
              <a:ext cx="6492240" cy="3076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330315" y="1524000"/>
              <a:ext cx="9525" cy="3076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09460" y="1524000"/>
              <a:ext cx="9525" cy="3076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576435" y="1524000"/>
              <a:ext cx="9525" cy="3076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5166360" y="4780598"/>
            <a:ext cx="6492240" cy="1559242"/>
            <a:chOff x="5166360" y="4780598"/>
            <a:chExt cx="6492240" cy="1559242"/>
          </a:xfrm>
        </p:grpSpPr>
        <p:sp>
          <p:nvSpPr>
            <p:cNvPr id="59" name="Rectangle 59"/>
            <p:cNvSpPr/>
            <p:nvPr/>
          </p:nvSpPr>
          <p:spPr>
            <a:xfrm>
              <a:off x="5166360" y="4780598"/>
              <a:ext cx="6492240" cy="1559242"/>
            </a:xfrm>
            <a:prstGeom prst="roundRect">
              <a:avLst>
                <a:gd name="adj" fmla="val 85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175885" y="4913948"/>
              <a:ext cx="47625" cy="12925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02580" y="497871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494020" y="50130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985891" y="5014436"/>
              <a:ext cx="3270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commit、rollback 常被单独归为一类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395341" y="5357336"/>
              <a:ext cx="577634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原课件把它们放在控制语言里。不少教材把 commit、rollback 另称事务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控制语言（TCL），控制语言只留 grant、revoke。JDBC 里它们对应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Connection 的 commit() 和 rollback() 方法。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59520" cy="909257"/>
            <a:chOff x="520446" y="342900"/>
            <a:chExt cx="59595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数据库系统概述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595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建表 create table，删表 drop table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397442"/>
            <a:chOff x="533400" y="1524000"/>
            <a:chExt cx="5842635" cy="2397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523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句型与例子（原课件第 7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4371213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&lt;表名&gt; (字段1 类型1(长度), 字段2 类型2(长度), ……)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例：创建学生表 students，含学号、姓名、性别、生日、系名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students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(sno varchar(10), name varchar(20), sex varchar(5),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birthday date, department varchar(50))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drop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&lt;表名&gt;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例：删除表 students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drop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students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096702"/>
            <a:ext cx="5842635" cy="2228850"/>
            <a:chOff x="533400" y="4096702"/>
            <a:chExt cx="5842635" cy="2228850"/>
          </a:xfrm>
        </p:grpSpPr>
        <p:sp>
          <p:nvSpPr>
            <p:cNvPr id="11" name="Rectangle 11"/>
            <p:cNvSpPr/>
            <p:nvPr/>
          </p:nvSpPr>
          <p:spPr>
            <a:xfrm>
              <a:off x="533400" y="4096702"/>
              <a:ext cx="5842635" cy="2228850"/>
            </a:xfrm>
            <a:prstGeom prst="roundRect">
              <a:avLst>
                <a:gd name="adj" fmla="val 59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230052"/>
              <a:ext cx="47625" cy="1962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428910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5345" y="43233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7597" y="4329112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7 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4663440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birthday 的类型原写 datetime。SQL Server、MySQL 有这个类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型，标准 SQL 和 Derby 没有：Derby 实测报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TYPE 'DATETIME'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does not exist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。只存日期写 date，要带时分秒写 timestamp。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680835" y="1524000"/>
            <a:ext cx="4977765" cy="2840355"/>
            <a:chOff x="6680835" y="1524000"/>
            <a:chExt cx="4977765" cy="2840355"/>
          </a:xfrm>
        </p:grpSpPr>
        <p:sp>
          <p:nvSpPr>
            <p:cNvPr id="18" name="Rectangle 18"/>
            <p:cNvSpPr/>
            <p:nvPr/>
          </p:nvSpPr>
          <p:spPr>
            <a:xfrm>
              <a:off x="6680835" y="1524000"/>
              <a:ext cx="497776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6987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常用类型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34143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存什么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0848" y="2054066"/>
              <a:ext cx="882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varchar(n)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73452" y="205406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变长字符串，最多 n 个字符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680835" y="2330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80835" y="233553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0848" y="2459831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char(n)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452" y="2459831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定长字符串，不足 n 个补空格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80835" y="2736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0848" y="2865596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73452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80835" y="31422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80835" y="314706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0848" y="3271361"/>
              <a:ext cx="1056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decimal(p, s)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73452" y="3271361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定点小数，共 p 位，其中小数 s 位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35480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80848" y="367712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73452" y="3677126"/>
              <a:ext cx="1654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日期，如 '2003-07-02'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80835" y="39538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80835" y="395859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80848" y="4082891"/>
              <a:ext cx="818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timestamp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73452" y="40828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日期加时间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80835" y="1524000"/>
              <a:ext cx="497776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46867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rd-2"/>
          <p:cNvGrpSpPr/>
          <p:nvPr/>
        </p:nvGrpSpPr>
        <p:grpSpPr>
          <a:xfrm>
            <a:off x="6680835" y="4539615"/>
            <a:ext cx="4977765" cy="1786890"/>
            <a:chOff x="6680835" y="4539615"/>
            <a:chExt cx="4977765" cy="1786890"/>
          </a:xfrm>
        </p:grpSpPr>
        <p:sp>
          <p:nvSpPr>
            <p:cNvPr id="44" name="Rectangle 44"/>
            <p:cNvSpPr/>
            <p:nvPr/>
          </p:nvSpPr>
          <p:spPr>
            <a:xfrm>
              <a:off x="6680835" y="4539615"/>
              <a:ext cx="497776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0360" y="467296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11340" y="47320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02780" y="47663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5032" y="4772025"/>
              <a:ext cx="1581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drop 删的是整张表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04482" y="5105400"/>
              <a:ext cx="43514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drop table 把表结构连同全部数据一起删掉，不能撤销。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只想清空数据、保留表，用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delete from students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04482" y="5665470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表已存在时再 create 会报错，Derby 实测 SQLState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X0Y32：Table/View already exists。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数据库系统概述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查询语句的结构：子句顺序是固定的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209675"/>
            <a:chOff x="533400" y="1524000"/>
            <a:chExt cx="5626418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613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select 句型（顺序已更正）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044827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&lt;输出结果列表&gt;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&lt;表&gt;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&lt;选择条件&gt;]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group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&lt;分组条件&gt;]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order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&lt;排序条件&gt;]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6923" y="2918936"/>
            <a:ext cx="5632895" cy="998029"/>
            <a:chOff x="526923" y="2918936"/>
            <a:chExt cx="5632895" cy="998029"/>
          </a:xfrm>
        </p:grpSpPr>
        <p:sp>
          <p:nvSpPr>
            <p:cNvPr id="11" name="TextBox 11"/>
            <p:cNvSpPr txBox="1"/>
            <p:nvPr/>
          </p:nvSpPr>
          <p:spPr>
            <a:xfrm>
              <a:off x="526923" y="2918936"/>
              <a:ext cx="5466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where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2760" y="291893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逐行筛选，只留下满足条件的行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190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923" y="3293269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group 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2760" y="3293269"/>
              <a:ext cx="4243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把某列取值相同的行归成一组，常配 count、sum、avg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5652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923" y="3667601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order by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2760" y="3667601"/>
              <a:ext cx="3019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按列排序，默认升序 asc，降序写 desc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030980"/>
            <a:ext cx="5626418" cy="1403032"/>
            <a:chOff x="533400" y="4030980"/>
            <a:chExt cx="5626418" cy="1403032"/>
          </a:xfrm>
        </p:grpSpPr>
        <p:sp>
          <p:nvSpPr>
            <p:cNvPr id="20" name="Rectangle 20"/>
            <p:cNvSpPr/>
            <p:nvPr/>
          </p:nvSpPr>
          <p:spPr>
            <a:xfrm>
              <a:off x="533400" y="4030980"/>
              <a:ext cx="562641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16433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42119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5147" y="42448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8450" y="4252436"/>
              <a:ext cx="1082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8 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4568666"/>
              <a:ext cx="486537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句型把 order by 写在 group by 前面。标准 SQL 要求 group by 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前、order by 放最后；Derby 实测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… order by department group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by department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报语法错误 42X01。</a:t>
              </a:r>
            </a:p>
          </p:txBody>
        </p:sp>
      </p:grpSp>
      <p:grpSp>
        <p:nvGrpSpPr>
          <p:cNvPr id="45" name="c2-flow-1"/>
          <p:cNvGrpSpPr/>
          <p:nvPr/>
        </p:nvGrpSpPr>
        <p:grpSpPr>
          <a:xfrm>
            <a:off x="6828472" y="1580198"/>
            <a:ext cx="4466272" cy="2315528"/>
            <a:chOff x="6828472" y="1580198"/>
            <a:chExt cx="4466272" cy="2315528"/>
          </a:xfrm>
        </p:grpSpPr>
        <p:sp>
          <p:nvSpPr>
            <p:cNvPr id="27" name="Freeform 27"/>
            <p:cNvSpPr/>
            <p:nvPr/>
          </p:nvSpPr>
          <p:spPr>
            <a:xfrm>
              <a:off x="9062085" y="19526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85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009698" y="19611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062085" y="243935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6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009698" y="24469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062085" y="2925128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6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009698" y="29327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062085" y="341090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6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009698" y="34185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28472" y="1580198"/>
              <a:ext cx="4466272" cy="37242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28472" y="2065972"/>
              <a:ext cx="44662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28472" y="2551748"/>
              <a:ext cx="44662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28472" y="3037522"/>
              <a:ext cx="4466272" cy="372428"/>
            </a:xfrm>
            <a:prstGeom prst="roundRect">
              <a:avLst>
                <a:gd name="adj" fmla="val 25575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28472" y="3523298"/>
              <a:ext cx="4466272" cy="37242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95947" y="1693545"/>
              <a:ext cx="932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from：取出表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41503" y="2179320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where：筛掉不满足条件的行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51421" y="2665095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group by：分组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75787" y="3150870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select：算出要输出的列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4730" y="3636645"/>
              <a:ext cx="14747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order by：排序后输出</a:t>
              </a:r>
            </a:p>
          </p:txBody>
        </p:sp>
      </p:grpSp>
      <p:grpSp>
        <p:nvGrpSpPr>
          <p:cNvPr id="49" name="c2-code-2"/>
          <p:cNvGrpSpPr/>
          <p:nvPr/>
        </p:nvGrpSpPr>
        <p:grpSpPr>
          <a:xfrm>
            <a:off x="6464618" y="4117658"/>
            <a:ext cx="5193982" cy="958215"/>
            <a:chOff x="6464618" y="4117658"/>
            <a:chExt cx="5193982" cy="958215"/>
          </a:xfrm>
        </p:grpSpPr>
        <p:sp>
          <p:nvSpPr>
            <p:cNvPr id="46" name="Rectangle 46"/>
            <p:cNvSpPr/>
            <p:nvPr/>
          </p:nvSpPr>
          <p:spPr>
            <a:xfrm>
              <a:off x="6464618" y="4117658"/>
              <a:ext cx="5193982" cy="958215"/>
            </a:xfrm>
            <a:prstGeom prst="roundRect">
              <a:avLst>
                <a:gd name="adj" fmla="val 99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3015" y="4269581"/>
              <a:ext cx="27129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分组例（下页 students 数据，Derby 实测）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93205" y="4528661"/>
              <a:ext cx="2357882" cy="461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department,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count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(*)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students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group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department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order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department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法学院 1 / 计算机学院 1 / 软件学院 2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50" name="Rectangle 50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911215"/>
              <a:ext cx="200026" cy="200025"/>
              <a:chOff x="738188" y="591121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11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77926" y="5955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2642" y="6066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5805011"/>
              <a:ext cx="99128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右图是 DBMS 处理各子句的逻辑顺序，和书写顺序不同：select 写在最前，实际在分组之后才计算，所以 where 里不能用 count(*) 这类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分组结果。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数据库系统概述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例：三条查询语句和它们的结果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28447" y="1524000"/>
            <a:ext cx="4765548" cy="2170461"/>
            <a:chOff x="528447" y="1524000"/>
            <a:chExt cx="4765548" cy="21704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8996" y="164115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sno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50089" y="1641157"/>
              <a:ext cx="366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00106" y="1641157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19458" y="1641157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birthday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56996" y="1641157"/>
              <a:ext cx="856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department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023110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94828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赵一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61578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4501" y="202311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2004-03-15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70376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计算机学院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282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286952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404110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94828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钱二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61578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84501" y="240411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2003-07-02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70376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软件学院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663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2785110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94828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赵三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61578" y="2785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84501" y="278511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2002-11-30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70376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软件学院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045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04990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316706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S104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94828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孙四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61578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84501" y="316706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2003-01-20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70376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法学院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476059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19538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86213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38506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67093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447" y="3503771"/>
              <a:ext cx="31761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 students 中的数据（本讲义补充，用于核对结果）</a:t>
              </a:r>
            </a:p>
          </p:txBody>
        </p:sp>
      </p:grpSp>
      <p:grpSp>
        <p:nvGrpSpPr>
          <p:cNvPr id="51" name="c1-card-2"/>
          <p:cNvGrpSpPr/>
          <p:nvPr/>
        </p:nvGrpSpPr>
        <p:grpSpPr>
          <a:xfrm>
            <a:off x="533400" y="3821430"/>
            <a:ext cx="4760595" cy="1160145"/>
            <a:chOff x="533400" y="3821430"/>
            <a:chExt cx="4760595" cy="1160145"/>
          </a:xfrm>
        </p:grpSpPr>
        <p:sp>
          <p:nvSpPr>
            <p:cNvPr id="45" name="Rectangle 45"/>
            <p:cNvSpPr/>
            <p:nvPr/>
          </p:nvSpPr>
          <p:spPr>
            <a:xfrm>
              <a:off x="533400" y="3821430"/>
              <a:ext cx="476059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395478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2475" y="40024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5147" y="40352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18450" y="4041934"/>
              <a:ext cx="1082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8 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5998" y="4358164"/>
              <a:ext cx="40688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'男'、'赵%' 的引号在原课件里是中文单引号，DBMS 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认，要写英文单引号。</a:t>
              </a:r>
            </a:p>
          </p:txBody>
        </p:sp>
      </p:grpSp>
      <p:grpSp>
        <p:nvGrpSpPr>
          <p:cNvPr id="58" name="c1-card-3"/>
          <p:cNvGrpSpPr/>
          <p:nvPr/>
        </p:nvGrpSpPr>
        <p:grpSpPr>
          <a:xfrm>
            <a:off x="533400" y="5146358"/>
            <a:ext cx="4760595" cy="1160145"/>
            <a:chOff x="533400" y="5146358"/>
            <a:chExt cx="4760595" cy="1160145"/>
          </a:xfrm>
        </p:grpSpPr>
        <p:sp>
          <p:nvSpPr>
            <p:cNvPr id="52" name="Rectangle 52"/>
            <p:cNvSpPr/>
            <p:nvPr/>
          </p:nvSpPr>
          <p:spPr>
            <a:xfrm>
              <a:off x="533400" y="5146358"/>
              <a:ext cx="476059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42925" y="5279708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2475" y="532733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1096" y="536019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通配符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43228" y="5366861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like 的两个通配符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5998" y="5684044"/>
              <a:ext cx="41744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% 匹配任意多个字符（含 0 个），_ 恰好匹配一个字符。'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赵%' 是姓赵，'_uth%' 匹配 Ruth（实测）。</a:t>
              </a:r>
            </a:p>
          </p:txBody>
        </p:sp>
      </p:grpSp>
      <p:grpSp>
        <p:nvGrpSpPr>
          <p:cNvPr id="62" name="c2-code-1"/>
          <p:cNvGrpSpPr/>
          <p:nvPr/>
        </p:nvGrpSpPr>
        <p:grpSpPr>
          <a:xfrm>
            <a:off x="5598795" y="1524000"/>
            <a:ext cx="6059805" cy="809625"/>
            <a:chOff x="5598795" y="1524000"/>
            <a:chExt cx="6059805" cy="809625"/>
          </a:xfrm>
        </p:grpSpPr>
        <p:sp>
          <p:nvSpPr>
            <p:cNvPr id="59" name="Rectangle 59"/>
            <p:cNvSpPr/>
            <p:nvPr/>
          </p:nvSpPr>
          <p:spPr>
            <a:xfrm>
              <a:off x="5598795" y="1524000"/>
              <a:ext cx="6059805" cy="809625"/>
            </a:xfrm>
            <a:prstGeom prst="roundRect">
              <a:avLst>
                <a:gd name="adj" fmla="val 117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27192" y="1675924"/>
              <a:ext cx="1974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1：查询所有同学的学号和姓名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727382" y="1935004"/>
              <a:ext cx="2675509" cy="311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sno, name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students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S101 赵一 / S102 钱二 / S103 赵三 / S104 孙四</a:t>
              </a:r>
            </a:p>
          </p:txBody>
        </p:sp>
      </p:grpSp>
      <p:grpSp>
        <p:nvGrpSpPr>
          <p:cNvPr id="66" name="c2-code-2"/>
          <p:cNvGrpSpPr/>
          <p:nvPr/>
        </p:nvGrpSpPr>
        <p:grpSpPr>
          <a:xfrm>
            <a:off x="5598795" y="2498408"/>
            <a:ext cx="6059805" cy="958215"/>
            <a:chOff x="5598795" y="2498408"/>
            <a:chExt cx="6059805" cy="958215"/>
          </a:xfrm>
        </p:grpSpPr>
        <p:sp>
          <p:nvSpPr>
            <p:cNvPr id="63" name="Rectangle 63"/>
            <p:cNvSpPr/>
            <p:nvPr/>
          </p:nvSpPr>
          <p:spPr>
            <a:xfrm>
              <a:off x="5598795" y="2498408"/>
              <a:ext cx="6059805" cy="958215"/>
            </a:xfrm>
            <a:prstGeom prst="roundRect">
              <a:avLst>
                <a:gd name="adj" fmla="val 99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727192" y="2650331"/>
              <a:ext cx="27662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2：按年龄从大到小列出男同学的学号和姓名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727382" y="2908459"/>
              <a:ext cx="2175637" cy="461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sno, name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students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sex =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'男'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order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birthday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S103 赵三 / S104 孙四 / S101 赵一</a:t>
              </a:r>
            </a:p>
          </p:txBody>
        </p:sp>
      </p:grpSp>
      <p:grpSp>
        <p:nvGrpSpPr>
          <p:cNvPr id="70" name="c2-code-3"/>
          <p:cNvGrpSpPr/>
          <p:nvPr/>
        </p:nvGrpSpPr>
        <p:grpSpPr>
          <a:xfrm>
            <a:off x="5598795" y="3621405"/>
            <a:ext cx="6059805" cy="958215"/>
            <a:chOff x="5598795" y="3621405"/>
            <a:chExt cx="6059805" cy="958215"/>
          </a:xfrm>
        </p:grpSpPr>
        <p:sp>
          <p:nvSpPr>
            <p:cNvPr id="67" name="Rectangle 67"/>
            <p:cNvSpPr/>
            <p:nvPr/>
          </p:nvSpPr>
          <p:spPr>
            <a:xfrm>
              <a:off x="5598795" y="3621405"/>
              <a:ext cx="6059805" cy="958215"/>
            </a:xfrm>
            <a:prstGeom prst="roundRect">
              <a:avLst>
                <a:gd name="adj" fmla="val 99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727192" y="3773329"/>
              <a:ext cx="2502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3：查询姓赵的同学的姓名、院系和生日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27382" y="4032409"/>
              <a:ext cx="3081655" cy="461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name, department, birthday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students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name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like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'赵%'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赵一 计算机学院 2004-03-15 / 赵三 软件学院 2002-11-30</a:t>
              </a:r>
            </a:p>
          </p:txBody>
        </p:sp>
      </p:grpSp>
      <p:grpSp>
        <p:nvGrpSpPr>
          <p:cNvPr id="76" name="c2-card-4"/>
          <p:cNvGrpSpPr/>
          <p:nvPr/>
        </p:nvGrpSpPr>
        <p:grpSpPr>
          <a:xfrm>
            <a:off x="5598795" y="4744402"/>
            <a:ext cx="6059805" cy="1562100"/>
            <a:chOff x="5598795" y="4744402"/>
            <a:chExt cx="6059805" cy="1562100"/>
          </a:xfrm>
        </p:grpSpPr>
        <p:sp>
          <p:nvSpPr>
            <p:cNvPr id="71" name="Rectangle 71"/>
            <p:cNvSpPr/>
            <p:nvPr/>
          </p:nvSpPr>
          <p:spPr>
            <a:xfrm>
              <a:off x="5598795" y="4744402"/>
              <a:ext cx="6059805" cy="1562100"/>
            </a:xfrm>
            <a:prstGeom prst="roundRect">
              <a:avLst>
                <a:gd name="adj" fmla="val 853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779770" y="4925378"/>
              <a:ext cx="1480185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41584" y="4958239"/>
              <a:ext cx="1356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 2 为什么按生日升序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67778" y="49658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生日越早，年龄越大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773293" y="5282089"/>
              <a:ext cx="5198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order by birthday 默认升序，最早出生的排在最前，正好是年龄从大到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小。写 order by birthday desc 就变成从小到大。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0182" cy="909257"/>
            <a:chOff x="520446" y="342900"/>
            <a:chExt cx="71901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数据库系统概述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01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插入、修改、删除：insert、update、delete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616518"/>
            <a:chOff x="533400" y="1524000"/>
            <a:chExt cx="6059805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8392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三种句型与例子（原课件第 9 页，Derby 实测）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583811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insert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into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&lt;表名&gt; [(&lt;列名表&gt;)]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values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(&lt;对应列的值表&gt;)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update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&lt;表名&gt;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set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&lt;列&gt;=&lt;值&gt; [, &lt;列&gt;=&lt;值&gt;] 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&lt;定位条件&gt;]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delete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&lt;表名&gt; 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&lt;条件&gt;]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插入学号 S200、姓名何十、男、1993 年 11 月 19 日生的法学院学生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insert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into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students (sno, name, sex, birthday, department)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values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'S200'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'何十'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'男'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'1993-11-19'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'法学院'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-- 1 行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把 S200 从法学院调到信息学院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update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students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set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department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'信息学院'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sno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'S200'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-- 1 行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删除 S200 的记录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delete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students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sno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'S200'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-- 1 行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310062"/>
            <a:ext cx="6059805" cy="2026920"/>
            <a:chOff x="533400" y="4310062"/>
            <a:chExt cx="6059805" cy="2026920"/>
          </a:xfrm>
        </p:grpSpPr>
        <p:sp>
          <p:nvSpPr>
            <p:cNvPr id="11" name="Rectangle 11"/>
            <p:cNvSpPr/>
            <p:nvPr/>
          </p:nvSpPr>
          <p:spPr>
            <a:xfrm>
              <a:off x="533400" y="4310062"/>
              <a:ext cx="6059805" cy="2026920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443412"/>
              <a:ext cx="47625" cy="17602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44967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0862" y="45296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3784" y="4531995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9 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4857750"/>
              <a:ext cx="53286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日期原写 '1993/11/19'，Derby 实测报 22007（日期格式不对）；日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期写成 '1993-11-19' 各数据库都认。原文 values 里的引号也混着中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文引号，已全部改成英文单引号。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893052" y="1524000"/>
            <a:ext cx="4765548" cy="2663856"/>
            <a:chOff x="6893052" y="1524000"/>
            <a:chExt cx="4765548" cy="2663856"/>
          </a:xfrm>
        </p:grpSpPr>
        <p:sp>
          <p:nvSpPr>
            <p:cNvPr id="18" name="Rectangle 18"/>
            <p:cNvSpPr/>
            <p:nvPr/>
          </p:nvSpPr>
          <p:spPr>
            <a:xfrm>
              <a:off x="6898005" y="1524000"/>
              <a:ext cx="476059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6456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92537" y="16454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影响行数（实测）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95160" y="2045494"/>
              <a:ext cx="994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上面的 insert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42208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98005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98005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5160" y="2445544"/>
              <a:ext cx="10336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上面的 update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42208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98005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5160" y="2845594"/>
              <a:ext cx="994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上面的 delete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42208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98005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98005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95160" y="3245644"/>
              <a:ext cx="1747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再执行一次同一条 delete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954578" y="3133725"/>
              <a:ext cx="169449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42208" y="3245644"/>
              <a:ext cx="697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0，不报错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898005" y="35194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95160" y="3645694"/>
              <a:ext cx="19986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 … where sex = '男'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42208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98005" y="1524000"/>
              <a:ext cx="476059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94029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93052" y="3997166"/>
              <a:ext cx="35517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JDBC 里用 executeUpdate() 执行，返回值就是影响行数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898005" y="4319588"/>
            <a:ext cx="4760595" cy="2017395"/>
            <a:chOff x="6898005" y="4319588"/>
            <a:chExt cx="4760595" cy="2017395"/>
          </a:xfrm>
        </p:grpSpPr>
        <p:sp>
          <p:nvSpPr>
            <p:cNvPr id="42" name="Rectangle 42"/>
            <p:cNvSpPr/>
            <p:nvPr/>
          </p:nvSpPr>
          <p:spPr>
            <a:xfrm>
              <a:off x="6898005" y="4319588"/>
              <a:ext cx="4760595" cy="2017395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07530" y="4452938"/>
              <a:ext cx="47625" cy="17506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22795" y="45062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14514" y="45391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88389" y="4541520"/>
              <a:ext cx="24480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update、delete 忘写 where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15937" y="4867275"/>
              <a:ext cx="41027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where 是可选的。不写 where 就作用于全表：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delete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from students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删掉全部行，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update students set</a:t>
              </a:r>
              <a:br/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department = '软件学院'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把每个人都改了。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15937" y="5681662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 省略列名表时，values 必须按建表时的列顺序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给出全部列的值。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3387" cy="2997517"/>
            <a:chOff x="667512" y="1835468"/>
            <a:chExt cx="535338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35000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022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程序通过一套统一的接口访问各种关系数据库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114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API 给程序员用，JDBC Driver API 给驱动开发者用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651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驱动程序把 JDBC 调用翻译成具体数据库能懂的协议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连接、语句、结果集三个接口由驱动实现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83030" cy="909257"/>
            <a:chOff x="520446" y="342900"/>
            <a:chExt cx="7283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124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726" y="407194"/>
              <a:ext cx="2200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83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JDBC：让 Java 与 SQL 数据库对话的一套接口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293495"/>
            <a:chOff x="533400" y="1524000"/>
            <a:chExt cx="5842635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35581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JDBC（Java DataBase Connectivity）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518121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SQL 语句的 Java API，为多种关系数据库提供统一的访问方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式，由一组用 Java 编写的类和接口组成，放在 java.sql 包里。</a:t>
              </a:r>
            </a:p>
          </p:txBody>
        </p:sp>
      </p:grpSp>
      <p:grpSp>
        <p:nvGrpSpPr>
          <p:cNvPr id="37" name="c1-steps-2"/>
          <p:cNvGrpSpPr/>
          <p:nvPr/>
        </p:nvGrpSpPr>
        <p:grpSpPr>
          <a:xfrm>
            <a:off x="533400" y="3002280"/>
            <a:ext cx="5843587" cy="1398270"/>
            <a:chOff x="533400" y="3002280"/>
            <a:chExt cx="5843587" cy="1398270"/>
          </a:xfrm>
        </p:grpSpPr>
        <p:sp>
          <p:nvSpPr>
            <p:cNvPr id="14" name="Rectangle 14"/>
            <p:cNvSpPr/>
            <p:nvPr/>
          </p:nvSpPr>
          <p:spPr>
            <a:xfrm>
              <a:off x="533400" y="3002280"/>
              <a:ext cx="1246822" cy="1398270"/>
            </a:xfrm>
            <a:prstGeom prst="roundRect">
              <a:avLst>
                <a:gd name="adj" fmla="val 91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66750" y="313563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6883" y="32061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9511" y="354091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加载驱动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0654" y="3840480"/>
              <a:ext cx="92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登记数据库的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56422" y="361569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065972" y="3002280"/>
              <a:ext cx="1246822" cy="1398270"/>
            </a:xfrm>
            <a:prstGeom prst="roundRect">
              <a:avLst>
                <a:gd name="adj" fmla="val 91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199322" y="313563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289456" y="32061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92084" y="354091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建立连接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93226" y="3840480"/>
              <a:ext cx="918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凭 URL、用户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名、密码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388042" y="361569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97592" y="3002280"/>
              <a:ext cx="1246822" cy="1398270"/>
            </a:xfrm>
            <a:prstGeom prst="roundRect">
              <a:avLst>
                <a:gd name="adj" fmla="val 91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730942" y="313563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21076" y="32061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23704" y="3540919"/>
              <a:ext cx="8527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SQL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24846" y="3840480"/>
              <a:ext cx="92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发送语句，处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理结果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4920615" y="361569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130165" y="3002280"/>
              <a:ext cx="1246822" cy="1398270"/>
            </a:xfrm>
            <a:prstGeom prst="roundRect">
              <a:avLst>
                <a:gd name="adj" fmla="val 91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263515" y="313563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53648" y="32061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56276" y="354091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关闭连接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57419" y="3840480"/>
              <a:ext cx="92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释放结果集、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语句、连接</a:t>
              </a:r>
            </a:p>
          </p:txBody>
        </p:sp>
      </p:grpSp>
      <p:grpSp>
        <p:nvGrpSpPr>
          <p:cNvPr id="44" name="c1-card-3"/>
          <p:cNvGrpSpPr/>
          <p:nvPr/>
        </p:nvGrpSpPr>
        <p:grpSpPr>
          <a:xfrm>
            <a:off x="533400" y="4586288"/>
            <a:ext cx="5842635" cy="1564958"/>
            <a:chOff x="533400" y="4586288"/>
            <a:chExt cx="5842635" cy="1564958"/>
          </a:xfrm>
        </p:grpSpPr>
        <p:sp>
          <p:nvSpPr>
            <p:cNvPr id="38" name="Rectangle 38"/>
            <p:cNvSpPr/>
            <p:nvPr/>
          </p:nvSpPr>
          <p:spPr>
            <a:xfrm>
              <a:off x="533400" y="4586288"/>
              <a:ext cx="584263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719638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75335" y="479012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5543" y="48258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76744" y="4829651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步现在可以省略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8096" y="5182076"/>
              <a:ext cx="503694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4.0（Java 6）起，驱动 jar 在 META-INF/services 里登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记自己，DriverManager 会自动加载，不必再写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Class.forName（JDK 21 加 Derby 实测）。</a:t>
              </a:r>
            </a:p>
          </p:txBody>
        </p:sp>
      </p:grpSp>
      <p:grpSp>
        <p:nvGrpSpPr>
          <p:cNvPr id="47" name="c2-image-1"/>
          <p:cNvGrpSpPr/>
          <p:nvPr/>
        </p:nvGrpSpPr>
        <p:grpSpPr>
          <a:xfrm>
            <a:off x="6986588" y="1524000"/>
            <a:ext cx="4365308" cy="3589497"/>
            <a:chOff x="6986588" y="1524000"/>
            <a:chExt cx="4365308" cy="3589497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rcRect l="5566" t="0" r="5565" b="0"/>
            <a:stretch>
              <a:fillRect/>
            </a:stretch>
          </p:blipFill>
          <p:spPr>
            <a:xfrm>
              <a:off x="6986588" y="1524000"/>
              <a:ext cx="4365308" cy="3274695"/>
            </a:xfrm>
            <a:prstGeom prst="roundRect">
              <a:avLst>
                <a:gd name="adj" fmla="val 4072"/>
              </a:avLst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7354710" y="4893469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插头只有一种，换上不同的转换头就能插进不同的插座</a:t>
              </a:r>
            </a:p>
          </p:txBody>
        </p:sp>
      </p:grpSp>
      <p:grpSp>
        <p:nvGrpSpPr>
          <p:cNvPr id="56" name="c2-kv-2"/>
          <p:cNvGrpSpPr/>
          <p:nvPr/>
        </p:nvGrpSpPr>
        <p:grpSpPr>
          <a:xfrm>
            <a:off x="6673596" y="5296376"/>
            <a:ext cx="4985004" cy="1122617"/>
            <a:chOff x="6673596" y="5296376"/>
            <a:chExt cx="4985004" cy="1122617"/>
          </a:xfrm>
        </p:grpSpPr>
        <p:sp>
          <p:nvSpPr>
            <p:cNvPr id="48" name="TextBox 48"/>
            <p:cNvSpPr txBox="1"/>
            <p:nvPr/>
          </p:nvSpPr>
          <p:spPr>
            <a:xfrm>
              <a:off x="6673596" y="52963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插头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85126" y="5296376"/>
              <a:ext cx="29049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API：程序只按这一套接口写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80835" y="56026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73596" y="571833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转换头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85126" y="571833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驱动：每种数据库一个，由厂商提供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680835" y="60245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73596" y="61402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插座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85126" y="614029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具体的数据库及其访问协议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27242" cy="909257"/>
            <a:chOff x="520446" y="342900"/>
            <a:chExt cx="61272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124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726" y="407194"/>
              <a:ext cx="2200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272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为什么需要 JDBC：换数据库不用改程序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666750" y="1876425"/>
            <a:ext cx="5143500" cy="1475422"/>
            <a:chOff x="666750" y="1876425"/>
            <a:chExt cx="5143500" cy="1475422"/>
          </a:xfrm>
        </p:grpSpPr>
        <p:sp>
          <p:nvSpPr>
            <p:cNvPr id="7" name="Freeform 7"/>
            <p:cNvSpPr/>
            <p:nvPr/>
          </p:nvSpPr>
          <p:spPr>
            <a:xfrm>
              <a:off x="1435418" y="2261235"/>
              <a:ext cx="1803082" cy="600075"/>
            </a:xfrm>
            <a:custGeom>
              <a:avLst/>
              <a:gdLst/>
              <a:ahLst/>
              <a:cxnLst/>
              <a:rect l="l" t="t" r="r" b="b"/>
              <a:pathLst>
                <a:path w="1803082" h="600075">
                  <a:moveTo>
                    <a:pt x="1803082" y="0"/>
                  </a:moveTo>
                  <a:lnTo>
                    <a:pt x="1803082" y="352425"/>
                  </a:lnTo>
                  <a:lnTo>
                    <a:pt x="0" y="352425"/>
                  </a:lnTo>
                  <a:lnTo>
                    <a:pt x="0" y="6000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83030" y="2861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2261235"/>
              <a:ext cx="9525" cy="600075"/>
            </a:xfrm>
            <a:custGeom>
              <a:avLst/>
              <a:gdLst/>
              <a:ahLst/>
              <a:cxnLst/>
              <a:rect l="l" t="t" r="r" b="b"/>
              <a:pathLst>
                <a:path w="9525" h="600075">
                  <a:moveTo>
                    <a:pt x="0" y="0"/>
                  </a:moveTo>
                  <a:lnTo>
                    <a:pt x="0" y="6000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6112" y="2861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2261235"/>
              <a:ext cx="1803082" cy="600075"/>
            </a:xfrm>
            <a:custGeom>
              <a:avLst/>
              <a:gdLst/>
              <a:ahLst/>
              <a:cxnLst/>
              <a:rect l="l" t="t" r="r" b="b"/>
              <a:pathLst>
                <a:path w="1803082" h="600075">
                  <a:moveTo>
                    <a:pt x="0" y="0"/>
                  </a:moveTo>
                  <a:lnTo>
                    <a:pt x="0" y="352425"/>
                  </a:lnTo>
                  <a:lnTo>
                    <a:pt x="1803082" y="352425"/>
                  </a:lnTo>
                  <a:lnTo>
                    <a:pt x="1803082" y="6000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989195" y="2861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12495" y="1876425"/>
              <a:ext cx="4652962" cy="385762"/>
            </a:xfrm>
            <a:prstGeom prst="roundRect">
              <a:avLst>
                <a:gd name="adj" fmla="val 4987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66750" y="2966085"/>
              <a:ext cx="1536382" cy="385762"/>
            </a:xfrm>
            <a:prstGeom prst="roundRect">
              <a:avLst>
                <a:gd name="adj" fmla="val 24691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69832" y="2966085"/>
              <a:ext cx="1536382" cy="385762"/>
            </a:xfrm>
            <a:prstGeom prst="roundRect">
              <a:avLst>
                <a:gd name="adj" fmla="val 24691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273868" y="2966085"/>
              <a:ext cx="1536382" cy="385762"/>
            </a:xfrm>
            <a:prstGeom prst="roundRect">
              <a:avLst>
                <a:gd name="adj" fmla="val 24691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31236" y="19902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5966" y="3079909"/>
              <a:ext cx="7789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MySQL API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50231" y="3079909"/>
              <a:ext cx="776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API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79051" y="3079909"/>
              <a:ext cx="1125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Server API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872865"/>
            <a:ext cx="5410200" cy="1788795"/>
            <a:chOff x="533400" y="3872865"/>
            <a:chExt cx="5410200" cy="1788795"/>
          </a:xfrm>
        </p:grpSpPr>
        <p:sp>
          <p:nvSpPr>
            <p:cNvPr id="22" name="Rectangle 22"/>
            <p:cNvSpPr/>
            <p:nvPr/>
          </p:nvSpPr>
          <p:spPr>
            <a:xfrm>
              <a:off x="533400" y="3872865"/>
              <a:ext cx="5410200" cy="1788795"/>
            </a:xfrm>
            <a:prstGeom prst="roundRect">
              <a:avLst>
                <a:gd name="adj" fmla="val 74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006215"/>
              <a:ext cx="47625" cy="15220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8190" y="4059555"/>
              <a:ext cx="78486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0783" y="4092416"/>
              <a:ext cx="6396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没有 JDBC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50492" y="4094798"/>
              <a:ext cx="16286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每种数据库一套 API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332" y="4420552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程序直接调用各数据库自己的 API，函数名、参数、返回值都不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一样。换一种数据库，访问数据的代码几乎要全部重写。</a:t>
              </a:r>
            </a:p>
          </p:txBody>
        </p:sp>
      </p:grpSp>
      <p:grpSp>
        <p:nvGrpSpPr>
          <p:cNvPr id="59" name="c2-flow-1"/>
          <p:cNvGrpSpPr/>
          <p:nvPr/>
        </p:nvGrpSpPr>
        <p:grpSpPr>
          <a:xfrm>
            <a:off x="6381750" y="1677352"/>
            <a:ext cx="5143500" cy="2459356"/>
            <a:chOff x="6381750" y="1677352"/>
            <a:chExt cx="5143500" cy="2459356"/>
          </a:xfrm>
        </p:grpSpPr>
        <p:sp>
          <p:nvSpPr>
            <p:cNvPr id="29" name="Freeform 29"/>
            <p:cNvSpPr/>
            <p:nvPr/>
          </p:nvSpPr>
          <p:spPr>
            <a:xfrm>
              <a:off x="8953500" y="2062162"/>
              <a:ext cx="9525" cy="201930"/>
            </a:xfrm>
            <a:custGeom>
              <a:avLst/>
              <a:gdLst/>
              <a:ahLst/>
              <a:cxnLst/>
              <a:rect l="l" t="t" r="r" b="b"/>
              <a:pathLst>
                <a:path w="9525" h="201930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901112" y="22640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150418" y="2753678"/>
              <a:ext cx="1803082" cy="201930"/>
            </a:xfrm>
            <a:custGeom>
              <a:avLst/>
              <a:gdLst/>
              <a:ahLst/>
              <a:cxnLst/>
              <a:rect l="l" t="t" r="r" b="b"/>
              <a:pathLst>
                <a:path w="1803082" h="201930">
                  <a:moveTo>
                    <a:pt x="1803082" y="0"/>
                  </a:moveTo>
                  <a:lnTo>
                    <a:pt x="1803082" y="153352"/>
                  </a:lnTo>
                  <a:lnTo>
                    <a:pt x="0" y="153352"/>
                  </a:ln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098030" y="29556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953500" y="2753678"/>
              <a:ext cx="9525" cy="201930"/>
            </a:xfrm>
            <a:custGeom>
              <a:avLst/>
              <a:gdLst/>
              <a:ahLst/>
              <a:cxnLst/>
              <a:rect l="l" t="t" r="r" b="b"/>
              <a:pathLst>
                <a:path w="9525" h="201930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901112" y="29556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953500" y="2753678"/>
              <a:ext cx="1803082" cy="105727"/>
            </a:xfrm>
            <a:custGeom>
              <a:avLst/>
              <a:gdLst/>
              <a:ahLst/>
              <a:cxnLst/>
              <a:rect l="l" t="t" r="r" b="b"/>
              <a:pathLst>
                <a:path w="1803082" h="105727">
                  <a:moveTo>
                    <a:pt x="0" y="0"/>
                  </a:moveTo>
                  <a:lnTo>
                    <a:pt x="0" y="105727"/>
                  </a:lnTo>
                  <a:lnTo>
                    <a:pt x="1803082" y="105727"/>
                  </a:lnTo>
                  <a:lnTo>
                    <a:pt x="1803082" y="1057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704195" y="28594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150418" y="3445192"/>
              <a:ext cx="9525" cy="201930"/>
            </a:xfrm>
            <a:custGeom>
              <a:avLst/>
              <a:gdLst/>
              <a:ahLst/>
              <a:cxnLst/>
              <a:rect l="l" t="t" r="r" b="b"/>
              <a:pathLst>
                <a:path w="9525" h="201930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098030" y="36471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953500" y="3445192"/>
              <a:ext cx="9525" cy="201930"/>
            </a:xfrm>
            <a:custGeom>
              <a:avLst/>
              <a:gdLst/>
              <a:ahLst/>
              <a:cxnLst/>
              <a:rect l="l" t="t" r="r" b="b"/>
              <a:pathLst>
                <a:path w="9525" h="201930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901112" y="36471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0756582" y="3541395"/>
              <a:ext cx="9525" cy="105727"/>
            </a:xfrm>
            <a:custGeom>
              <a:avLst/>
              <a:gdLst/>
              <a:ahLst/>
              <a:cxnLst/>
              <a:rect l="l" t="t" r="r" b="b"/>
              <a:pathLst>
                <a:path w="9525" h="105727">
                  <a:moveTo>
                    <a:pt x="0" y="0"/>
                  </a:moveTo>
                  <a:lnTo>
                    <a:pt x="0" y="1057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704195" y="36471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27495" y="1677352"/>
              <a:ext cx="4652962" cy="385762"/>
            </a:xfrm>
            <a:prstGeom prst="roundRect">
              <a:avLst>
                <a:gd name="adj" fmla="val 4987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27495" y="2368868"/>
              <a:ext cx="4652962" cy="385762"/>
            </a:xfrm>
            <a:prstGeom prst="roundRect">
              <a:avLst>
                <a:gd name="adj" fmla="val 24691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381750" y="3060382"/>
              <a:ext cx="153638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84832" y="3060382"/>
              <a:ext cx="153638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988868" y="2964180"/>
              <a:ext cx="1536382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381750" y="3751898"/>
              <a:ext cx="1536382" cy="384810"/>
            </a:xfrm>
            <a:custGeom>
              <a:avLst/>
              <a:gdLst/>
              <a:ahLst/>
              <a:cxnLst/>
              <a:rect l="l" t="t" r="r" b="b"/>
              <a:pathLst>
                <a:path w="1536382" h="384810">
                  <a:moveTo>
                    <a:pt x="133350" y="0"/>
                  </a:moveTo>
                  <a:lnTo>
                    <a:pt x="1536382" y="0"/>
                  </a:lnTo>
                  <a:lnTo>
                    <a:pt x="1403032" y="384810"/>
                  </a:lnTo>
                  <a:lnTo>
                    <a:pt x="0" y="38481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184832" y="3751898"/>
              <a:ext cx="1537335" cy="384810"/>
            </a:xfrm>
            <a:custGeom>
              <a:avLst/>
              <a:gdLst/>
              <a:ahLst/>
              <a:cxnLst/>
              <a:rect l="l" t="t" r="r" b="b"/>
              <a:pathLst>
                <a:path w="1537335" h="384810">
                  <a:moveTo>
                    <a:pt x="133350" y="0"/>
                  </a:moveTo>
                  <a:lnTo>
                    <a:pt x="1537335" y="0"/>
                  </a:lnTo>
                  <a:lnTo>
                    <a:pt x="1403985" y="384810"/>
                  </a:lnTo>
                  <a:lnTo>
                    <a:pt x="0" y="38481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988868" y="3751898"/>
              <a:ext cx="1536382" cy="384810"/>
            </a:xfrm>
            <a:custGeom>
              <a:avLst/>
              <a:gdLst/>
              <a:ahLst/>
              <a:cxnLst/>
              <a:rect l="l" t="t" r="r" b="b"/>
              <a:pathLst>
                <a:path w="1536382" h="384810">
                  <a:moveTo>
                    <a:pt x="133350" y="0"/>
                  </a:moveTo>
                  <a:lnTo>
                    <a:pt x="1536382" y="0"/>
                  </a:lnTo>
                  <a:lnTo>
                    <a:pt x="1403032" y="384810"/>
                  </a:lnTo>
                  <a:lnTo>
                    <a:pt x="0" y="38481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46236" y="17911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72545" y="2482691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42078" y="3174206"/>
              <a:ext cx="10166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MySQL Driver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45536" y="3174206"/>
              <a:ext cx="10159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Driver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63264" y="3078004"/>
              <a:ext cx="786638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Server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96479" y="3865721"/>
              <a:ext cx="5078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MySQL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00465" y="3865721"/>
              <a:ext cx="506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29671" y="3865721"/>
              <a:ext cx="8538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Server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248400" y="4459605"/>
            <a:ext cx="5410200" cy="1202055"/>
            <a:chOff x="6248400" y="4459605"/>
            <a:chExt cx="5410200" cy="1202055"/>
          </a:xfrm>
        </p:grpSpPr>
        <p:sp>
          <p:nvSpPr>
            <p:cNvPr id="60" name="Rectangle 60"/>
            <p:cNvSpPr/>
            <p:nvPr/>
          </p:nvSpPr>
          <p:spPr>
            <a:xfrm>
              <a:off x="6248400" y="4459605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7925" y="4592955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3190" y="4646295"/>
              <a:ext cx="78486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45783" y="4679156"/>
              <a:ext cx="6396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有了 JDBC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65492" y="4681538"/>
              <a:ext cx="1668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程序只对 JDBC 编程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6332" y="5007292"/>
              <a:ext cx="47714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换数据库时换驱动 jar、改连接 URL 就行，调用 JDBC 的代码不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变（前提是 SQL 本身没用某一家的专有语法）。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7" name="Rectangle 6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8373"/>
              <a:ext cx="7039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 11 页的两张图：上层应用只面向 JDBC 这一层，各数据库的差异由驱动吸收。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43647" cy="909257"/>
            <a:chOff x="520446" y="342900"/>
            <a:chExt cx="78436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124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726" y="407194"/>
              <a:ext cx="2200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436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的两层接口：一层给程序员，一层给驱动厂商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flow-1"/>
          <p:cNvGrpSpPr/>
          <p:nvPr/>
        </p:nvGrpSpPr>
        <p:grpSpPr>
          <a:xfrm>
            <a:off x="666750" y="1804988"/>
            <a:ext cx="6009323" cy="4330065"/>
            <a:chOff x="666750" y="1804988"/>
            <a:chExt cx="6009323" cy="4330065"/>
          </a:xfrm>
        </p:grpSpPr>
        <p:sp>
          <p:nvSpPr>
            <p:cNvPr id="7" name="Freeform 7"/>
            <p:cNvSpPr/>
            <p:nvPr/>
          </p:nvSpPr>
          <p:spPr>
            <a:xfrm>
              <a:off x="3670935" y="2203132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18548" y="26603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18260" y="3164205"/>
              <a:ext cx="2352675" cy="367665"/>
            </a:xfrm>
            <a:custGeom>
              <a:avLst/>
              <a:gdLst/>
              <a:ahLst/>
              <a:cxnLst/>
              <a:rect l="l" t="t" r="r" b="b"/>
              <a:pathLst>
                <a:path w="2352675" h="367665">
                  <a:moveTo>
                    <a:pt x="2352675" y="0"/>
                  </a:moveTo>
                  <a:lnTo>
                    <a:pt x="2352675" y="236220"/>
                  </a:lnTo>
                  <a:lnTo>
                    <a:pt x="0" y="236220"/>
                  </a:lnTo>
                  <a:lnTo>
                    <a:pt x="0" y="3676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65872" y="35318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87028" y="3164205"/>
              <a:ext cx="783907" cy="367665"/>
            </a:xfrm>
            <a:custGeom>
              <a:avLst/>
              <a:gdLst/>
              <a:ahLst/>
              <a:cxnLst/>
              <a:rect l="l" t="t" r="r" b="b"/>
              <a:pathLst>
                <a:path w="783907" h="367665">
                  <a:moveTo>
                    <a:pt x="783907" y="0"/>
                  </a:moveTo>
                  <a:lnTo>
                    <a:pt x="783907" y="236220"/>
                  </a:lnTo>
                  <a:lnTo>
                    <a:pt x="0" y="236220"/>
                  </a:lnTo>
                  <a:lnTo>
                    <a:pt x="0" y="3676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34640" y="35318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670935" y="3164205"/>
              <a:ext cx="784860" cy="456248"/>
            </a:xfrm>
            <a:custGeom>
              <a:avLst/>
              <a:gdLst/>
              <a:ahLst/>
              <a:cxnLst/>
              <a:rect l="l" t="t" r="r" b="b"/>
              <a:pathLst>
                <a:path w="784860" h="456248">
                  <a:moveTo>
                    <a:pt x="0" y="0"/>
                  </a:moveTo>
                  <a:lnTo>
                    <a:pt x="0" y="280988"/>
                  </a:lnTo>
                  <a:lnTo>
                    <a:pt x="784860" y="280988"/>
                  </a:lnTo>
                  <a:lnTo>
                    <a:pt x="784860" y="4562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03408" y="36204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670935" y="3164205"/>
              <a:ext cx="2353628" cy="456248"/>
            </a:xfrm>
            <a:custGeom>
              <a:avLst/>
              <a:gdLst/>
              <a:ahLst/>
              <a:cxnLst/>
              <a:rect l="l" t="t" r="r" b="b"/>
              <a:pathLst>
                <a:path w="2353628" h="456248">
                  <a:moveTo>
                    <a:pt x="0" y="0"/>
                  </a:moveTo>
                  <a:lnTo>
                    <a:pt x="0" y="280988"/>
                  </a:lnTo>
                  <a:lnTo>
                    <a:pt x="2353628" y="280988"/>
                  </a:lnTo>
                  <a:lnTo>
                    <a:pt x="2353628" y="4562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972175" y="36204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887028" y="4213860"/>
              <a:ext cx="9525" cy="367665"/>
            </a:xfrm>
            <a:custGeom>
              <a:avLst/>
              <a:gdLst/>
              <a:ahLst/>
              <a:cxnLst/>
              <a:rect l="l" t="t" r="r" b="b"/>
              <a:pathLst>
                <a:path w="9525" h="367665">
                  <a:moveTo>
                    <a:pt x="0" y="0"/>
                  </a:moveTo>
                  <a:lnTo>
                    <a:pt x="0" y="3676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34640" y="4581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318260" y="4213860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65872" y="54521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887028" y="5084445"/>
              <a:ext cx="2353628" cy="457200"/>
            </a:xfrm>
            <a:custGeom>
              <a:avLst/>
              <a:gdLst/>
              <a:ahLst/>
              <a:cxnLst/>
              <a:rect l="l" t="t" r="r" b="b"/>
              <a:pathLst>
                <a:path w="2353628" h="457200">
                  <a:moveTo>
                    <a:pt x="0" y="0"/>
                  </a:moveTo>
                  <a:lnTo>
                    <a:pt x="0" y="280988"/>
                  </a:lnTo>
                  <a:lnTo>
                    <a:pt x="2353628" y="280988"/>
                  </a:lnTo>
                  <a:lnTo>
                    <a:pt x="2353628" y="4572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188268" y="55416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455795" y="4124325"/>
              <a:ext cx="784860" cy="1417320"/>
            </a:xfrm>
            <a:custGeom>
              <a:avLst/>
              <a:gdLst/>
              <a:ahLst/>
              <a:cxnLst/>
              <a:rect l="l" t="t" r="r" b="b"/>
              <a:pathLst>
                <a:path w="784860" h="1417320">
                  <a:moveTo>
                    <a:pt x="0" y="0"/>
                  </a:moveTo>
                  <a:lnTo>
                    <a:pt x="0" y="761047"/>
                  </a:lnTo>
                  <a:lnTo>
                    <a:pt x="784860" y="761047"/>
                  </a:lnTo>
                  <a:lnTo>
                    <a:pt x="784860" y="14173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188268" y="55416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240655" y="4124325"/>
              <a:ext cx="783907" cy="1417320"/>
            </a:xfrm>
            <a:custGeom>
              <a:avLst/>
              <a:gdLst/>
              <a:ahLst/>
              <a:cxnLst/>
              <a:rect l="l" t="t" r="r" b="b"/>
              <a:pathLst>
                <a:path w="783907" h="1417320">
                  <a:moveTo>
                    <a:pt x="783907" y="0"/>
                  </a:moveTo>
                  <a:lnTo>
                    <a:pt x="783907" y="761047"/>
                  </a:lnTo>
                  <a:lnTo>
                    <a:pt x="0" y="761047"/>
                  </a:lnTo>
                  <a:lnTo>
                    <a:pt x="0" y="14173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188268" y="55416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72502" y="1804988"/>
              <a:ext cx="5396865" cy="399098"/>
            </a:xfrm>
            <a:prstGeom prst="roundRect">
              <a:avLst>
                <a:gd name="adj" fmla="val 4988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72502" y="2765108"/>
              <a:ext cx="5396865" cy="399098"/>
            </a:xfrm>
            <a:prstGeom prst="roundRect">
              <a:avLst>
                <a:gd name="adj" fmla="val 23866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6750" y="3636645"/>
              <a:ext cx="130206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235518" y="3636645"/>
              <a:ext cx="130206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04285" y="3725228"/>
              <a:ext cx="13020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74005" y="3725228"/>
              <a:ext cx="13020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235518" y="4686300"/>
              <a:ext cx="13020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66750" y="5556885"/>
              <a:ext cx="1302068" cy="578168"/>
            </a:xfrm>
            <a:custGeom>
              <a:avLst/>
              <a:gdLst/>
              <a:ahLst/>
              <a:cxnLst/>
              <a:rect l="l" t="t" r="r" b="b"/>
              <a:pathLst>
                <a:path w="1302068" h="578168">
                  <a:moveTo>
                    <a:pt x="133350" y="0"/>
                  </a:moveTo>
                  <a:lnTo>
                    <a:pt x="1302068" y="0"/>
                  </a:lnTo>
                  <a:lnTo>
                    <a:pt x="1168718" y="578168"/>
                  </a:lnTo>
                  <a:lnTo>
                    <a:pt x="0" y="578168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3890962" y="5646420"/>
              <a:ext cx="2698432" cy="399098"/>
            </a:xfrm>
            <a:custGeom>
              <a:avLst/>
              <a:gdLst/>
              <a:ahLst/>
              <a:cxnLst/>
              <a:rect l="l" t="t" r="r" b="b"/>
              <a:pathLst>
                <a:path w="2698432" h="399098">
                  <a:moveTo>
                    <a:pt x="133350" y="0"/>
                  </a:moveTo>
                  <a:lnTo>
                    <a:pt x="2698432" y="0"/>
                  </a:lnTo>
                  <a:lnTo>
                    <a:pt x="2565082" y="399098"/>
                  </a:lnTo>
                  <a:lnTo>
                    <a:pt x="0" y="399098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62979" y="1925479"/>
              <a:ext cx="1015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应用程序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47689" y="2885599"/>
              <a:ext cx="28464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驱动程序管理器（DriverManager）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9617" y="3750469"/>
              <a:ext cx="637286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JDBC-Net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驱动程序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15044" y="3750469"/>
              <a:ext cx="743966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JDBC-ODBC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驱动程序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0825" y="3846671"/>
              <a:ext cx="74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驱动程序 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49592" y="3846671"/>
              <a:ext cx="74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驱动程序 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35568" y="4806791"/>
              <a:ext cx="9029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ODBC Driver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0265" y="5670709"/>
              <a:ext cx="9359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中间件协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56455" y="576691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数据库专用访问协议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699510" y="2399348"/>
              <a:ext cx="581025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723132" y="2423636"/>
              <a:ext cx="5535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JDBC API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720465" y="3238500"/>
              <a:ext cx="6867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37201" y="3263741"/>
              <a:ext cx="652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Driver API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7114222" y="1524000"/>
            <a:ext cx="4544378" cy="1483995"/>
            <a:chOff x="7114222" y="1524000"/>
            <a:chExt cx="4544378" cy="1483995"/>
          </a:xfrm>
        </p:grpSpPr>
        <p:sp>
          <p:nvSpPr>
            <p:cNvPr id="50" name="Rectangle 50"/>
            <p:cNvSpPr/>
            <p:nvPr/>
          </p:nvSpPr>
          <p:spPr>
            <a:xfrm>
              <a:off x="7114222" y="1524000"/>
              <a:ext cx="454437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23748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44728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32167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第一层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61770" y="1756410"/>
              <a:ext cx="2253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API（应用程序接口）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37870" y="2090738"/>
              <a:ext cx="384562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面向程序开发人员。一组抽象的接口和类，定义在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java.sql 包中，用它们打开连接、执行 SQL、处理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结果。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7114222" y="3183255"/>
            <a:ext cx="4544378" cy="1483995"/>
            <a:chOff x="7114222" y="3183255"/>
            <a:chExt cx="4544378" cy="1483995"/>
          </a:xfrm>
        </p:grpSpPr>
        <p:sp>
          <p:nvSpPr>
            <p:cNvPr id="57" name="Rectangle 57"/>
            <p:cNvSpPr/>
            <p:nvPr/>
          </p:nvSpPr>
          <p:spPr>
            <a:xfrm>
              <a:off x="7114222" y="3183255"/>
              <a:ext cx="454437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23748" y="331660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44728" y="337566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32167" y="34099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第二层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61770" y="3415665"/>
              <a:ext cx="2899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Driver API（驱动程序接口）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37870" y="3749040"/>
              <a:ext cx="39570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面向系统底层、面向驱动开发者。驱动厂商按它实现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Driver、Connection、Statement、ResultSet 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接口，把调用翻译成数据库能懂的协议。</a:t>
              </a:r>
            </a:p>
          </p:txBody>
        </p:sp>
      </p:grpSp>
      <p:grpSp>
        <p:nvGrpSpPr>
          <p:cNvPr id="70" name="c2-card-3"/>
          <p:cNvGrpSpPr/>
          <p:nvPr/>
        </p:nvGrpSpPr>
        <p:grpSpPr>
          <a:xfrm>
            <a:off x="7114222" y="4842510"/>
            <a:ext cx="4544378" cy="1483995"/>
            <a:chOff x="7114222" y="4842510"/>
            <a:chExt cx="4544378" cy="1483995"/>
          </a:xfrm>
        </p:grpSpPr>
        <p:sp>
          <p:nvSpPr>
            <p:cNvPr id="64" name="Rectangle 64"/>
            <p:cNvSpPr/>
            <p:nvPr/>
          </p:nvSpPr>
          <p:spPr>
            <a:xfrm>
              <a:off x="7114222" y="4842510"/>
              <a:ext cx="454437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123748" y="497586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344728" y="50349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36168" y="50692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28420" y="5073968"/>
              <a:ext cx="2155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12 页结构示意图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37870" y="5408295"/>
              <a:ext cx="39570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应用程序只和上面两层打交道；下面四种驱动对应下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一页的四类驱动，最终走中间件协议或数据库专用协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议到达数据库。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54934" cy="909257"/>
            <a:chOff x="520446" y="342900"/>
            <a:chExt cx="55549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124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726" y="407194"/>
              <a:ext cx="2200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549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 JDBC 驱动：把调用翻译成什么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33400" y="1524000"/>
            <a:ext cx="11125200" cy="2653665"/>
            <a:chOff x="533400" y="1524000"/>
            <a:chExt cx="11125200" cy="2653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53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346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0441" y="1641157"/>
              <a:ext cx="1297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怎样转换 JDBC 调用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13142" y="1641157"/>
              <a:ext cx="528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纯 Java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9939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1164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7714" y="2023110"/>
              <a:ext cx="249097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JDBC-ODBC 桥加 ODBC 驱动（JDBC-ODBC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bridge plus ODBC driver）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33341" y="2116455"/>
              <a:ext cx="3027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转换成 ODBC 调用，再由 ODBC 驱动访问数据库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15718" y="211645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443085" y="1914525"/>
              <a:ext cx="2205990" cy="5486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28238" y="2116455"/>
              <a:ext cx="10562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8 起已移除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4688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473642"/>
              <a:ext cx="11125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2684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17714" y="2590800"/>
              <a:ext cx="261099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 API、部分是 Java 的驱动（Native-API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partly-Java driver）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33341" y="2684145"/>
              <a:ext cx="2288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转换成数据库客户端 API 的本机调用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15718" y="26841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28238" y="268414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需装数据库客户端，少用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0365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2518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7714" y="3158490"/>
              <a:ext cx="259765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JDBC-Net 的纯 Java 驱动（JDBC-Net pure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driver）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33341" y="3158490"/>
              <a:ext cx="33444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转换成与数据库无关的网络协议，由中间件服务器再连到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各种数据库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15718" y="32518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28238" y="325183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依赖中间件，少用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6052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609975"/>
              <a:ext cx="11125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8204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7714" y="3727132"/>
              <a:ext cx="261766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本地协议的纯 Java 驱动（Native-protocol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pure Java driver）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33341" y="3727132"/>
              <a:ext cx="33444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直接转换成某种数据库专用的网络协议，客户机直连数据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15718" y="38204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443085" y="3619500"/>
              <a:ext cx="2205990" cy="5486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528238" y="3727132"/>
              <a:ext cx="185756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主流：MySQL、PostgreSQL、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thin 驱动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524000"/>
              <a:ext cx="11125200" cy="2653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418272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33900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316278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428798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compare-2"/>
          <p:cNvGrpSpPr/>
          <p:nvPr/>
        </p:nvGrpSpPr>
        <p:grpSpPr>
          <a:xfrm>
            <a:off x="533400" y="4342448"/>
            <a:ext cx="11125200" cy="1125855"/>
            <a:chOff x="533400" y="4342448"/>
            <a:chExt cx="11125200" cy="1125855"/>
          </a:xfrm>
        </p:grpSpPr>
        <p:sp>
          <p:nvSpPr>
            <p:cNvPr id="46" name="Rectangle 46"/>
            <p:cNvSpPr/>
            <p:nvPr/>
          </p:nvSpPr>
          <p:spPr>
            <a:xfrm>
              <a:off x="533400" y="4342448"/>
              <a:ext cx="5353050" cy="1125855"/>
            </a:xfrm>
            <a:prstGeom prst="roundRect">
              <a:avLst>
                <a:gd name="adj" fmla="val 118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475798"/>
              <a:ext cx="47625" cy="8591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5998" y="4544854"/>
              <a:ext cx="1871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 1、2 要装本机组件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62000" y="489775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17448" y="4845844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客户机上要配 ODBC 数据源或数据库客户端库，换平台可能用不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305550" y="4342448"/>
              <a:ext cx="5353050" cy="1125855"/>
            </a:xfrm>
            <a:prstGeom prst="roundRect">
              <a:avLst>
                <a:gd name="adj" fmla="val 118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315075" y="4475798"/>
              <a:ext cx="47625" cy="8591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18148" y="4544854"/>
              <a:ext cx="1640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 3、4 是纯 Java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34150" y="489775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89598" y="4845844"/>
              <a:ext cx="44672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驱动就是一个 jar，放进类路径即可；类型 4 少一层中间件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934075" y="474345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17308" y="484917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5" name="c1-callout-3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9" name="Rectangle 59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5908834"/>
              <a:ext cx="10565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更正（版本）：原课件 ODBC 示例用的 sun.jdbc.odbc.JdbcOdbcDriver 已在 Java 8 移除，JDK 21 实测报 ClassNotFoundException。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59149" cy="909257"/>
            <a:chOff x="520446" y="342900"/>
            <a:chExt cx="56591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124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726" y="407194"/>
              <a:ext cx="2200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591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java.sql 的四个核心类型：谁创建谁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flow-1"/>
          <p:cNvGrpSpPr/>
          <p:nvPr/>
        </p:nvGrpSpPr>
        <p:grpSpPr>
          <a:xfrm>
            <a:off x="882015" y="1765935"/>
            <a:ext cx="4327946" cy="3925253"/>
            <a:chOff x="882015" y="1765935"/>
            <a:chExt cx="4327946" cy="3925253"/>
          </a:xfrm>
        </p:grpSpPr>
        <p:sp>
          <p:nvSpPr>
            <p:cNvPr id="7" name="Freeform 7"/>
            <p:cNvSpPr/>
            <p:nvPr/>
          </p:nvSpPr>
          <p:spPr>
            <a:xfrm>
              <a:off x="3022282" y="2164080"/>
              <a:ext cx="9525" cy="378142"/>
            </a:xfrm>
            <a:custGeom>
              <a:avLst/>
              <a:gdLst/>
              <a:ahLst/>
              <a:cxnLst/>
              <a:rect l="l" t="t" r="r" b="b"/>
              <a:pathLst>
                <a:path w="9525" h="378142">
                  <a:moveTo>
                    <a:pt x="0" y="0"/>
                  </a:moveTo>
                  <a:lnTo>
                    <a:pt x="0" y="3781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69895" y="25422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022282" y="3046095"/>
              <a:ext cx="9525" cy="378142"/>
            </a:xfrm>
            <a:custGeom>
              <a:avLst/>
              <a:gdLst/>
              <a:ahLst/>
              <a:cxnLst/>
              <a:rect l="l" t="t" r="r" b="b"/>
              <a:pathLst>
                <a:path w="9525" h="378142">
                  <a:moveTo>
                    <a:pt x="0" y="0"/>
                  </a:moveTo>
                  <a:lnTo>
                    <a:pt x="0" y="3781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69895" y="3424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3928110"/>
              <a:ext cx="9525" cy="378143"/>
            </a:xfrm>
            <a:custGeom>
              <a:avLst/>
              <a:gdLst/>
              <a:ahLst/>
              <a:cxnLst/>
              <a:rect l="l" t="t" r="r" b="b"/>
              <a:pathLst>
                <a:path w="9525" h="378143">
                  <a:moveTo>
                    <a:pt x="0" y="0"/>
                  </a:moveTo>
                  <a:lnTo>
                    <a:pt x="0" y="3781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69895" y="43062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22282" y="4809172"/>
              <a:ext cx="9525" cy="378143"/>
            </a:xfrm>
            <a:custGeom>
              <a:avLst/>
              <a:gdLst/>
              <a:ahLst/>
              <a:cxnLst/>
              <a:rect l="l" t="t" r="r" b="b"/>
              <a:pathLst>
                <a:path w="9525" h="378143">
                  <a:moveTo>
                    <a:pt x="0" y="0"/>
                  </a:moveTo>
                  <a:lnTo>
                    <a:pt x="0" y="3781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69895" y="51873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82015" y="1765935"/>
              <a:ext cx="4280535" cy="399098"/>
            </a:xfrm>
            <a:prstGeom prst="roundRect">
              <a:avLst>
                <a:gd name="adj" fmla="val 4988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82015" y="2646998"/>
              <a:ext cx="4280535" cy="399098"/>
            </a:xfrm>
            <a:prstGeom prst="roundRect">
              <a:avLst>
                <a:gd name="adj" fmla="val 23866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2015" y="3529012"/>
              <a:ext cx="4280535" cy="399098"/>
            </a:xfrm>
            <a:prstGeom prst="roundRect">
              <a:avLst>
                <a:gd name="adj" fmla="val 23866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82015" y="4411028"/>
              <a:ext cx="428053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82015" y="5292090"/>
              <a:ext cx="4280535" cy="399098"/>
            </a:xfrm>
            <a:prstGeom prst="roundRect">
              <a:avLst>
                <a:gd name="adj" fmla="val 4988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23500" y="1886426"/>
              <a:ext cx="1597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DriverManager（类）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82919" y="2768441"/>
              <a:ext cx="1078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Driver（驱动）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16996" y="3649504"/>
              <a:ext cx="1410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Connection（接口）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24333" y="4531519"/>
              <a:ext cx="1395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Statement（接口）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38303" y="5413534"/>
              <a:ext cx="13679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ResultSet（接口）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50858" y="2320290"/>
              <a:ext cx="208026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74480" y="2345531"/>
              <a:ext cx="21354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getConnection(url) 按 URL 选驱动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050858" y="3202305"/>
              <a:ext cx="124682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74480" y="3226594"/>
              <a:ext cx="12302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connect() 建立连接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050858" y="4083368"/>
              <a:ext cx="128397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74480" y="4108609"/>
              <a:ext cx="1274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createStatement()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50858" y="4965382"/>
              <a:ext cx="125253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074480" y="4990624"/>
              <a:ext cx="124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executeQuery(sql)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5815965" y="1524000"/>
            <a:ext cx="5842635" cy="2228850"/>
            <a:chOff x="5815965" y="1524000"/>
            <a:chExt cx="5842635" cy="2228850"/>
          </a:xfrm>
        </p:grpSpPr>
        <p:sp>
          <p:nvSpPr>
            <p:cNvPr id="34" name="Rectangle 34"/>
            <p:cNvSpPr/>
            <p:nvPr/>
          </p:nvSpPr>
          <p:spPr>
            <a:xfrm>
              <a:off x="5815965" y="1524000"/>
              <a:ext cx="584263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9387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6442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负责什么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25490" y="1939290"/>
              <a:ext cx="1850708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5978" y="2154079"/>
              <a:ext cx="1145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DriverManager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85735" y="2054066"/>
              <a:ext cx="3531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的管理层：管理已加载的驱动，按 URL 挑出合适的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驱动建立连接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25307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15965" y="253555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15978" y="2659856"/>
              <a:ext cx="847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Connection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85735" y="265985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与一个数据库的连接（会话）；生成语句对象，控制事务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29365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15978" y="3065621"/>
              <a:ext cx="831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Statement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85735" y="3065621"/>
              <a:ext cx="2964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执行静态 SQL 语句，返回结果集或影响行数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33423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15965" y="334708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15978" y="3471386"/>
              <a:ext cx="764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ResultSet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85735" y="347138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查询结果表，用游标一行行访问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15965" y="1524000"/>
              <a:ext cx="5842635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80960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5815965" y="3928110"/>
            <a:ext cx="5842635" cy="2005012"/>
            <a:chOff x="5815965" y="3928110"/>
            <a:chExt cx="5842635" cy="2005012"/>
          </a:xfrm>
        </p:grpSpPr>
        <p:sp>
          <p:nvSpPr>
            <p:cNvPr id="54" name="Rectangle 54"/>
            <p:cNvSpPr/>
            <p:nvPr/>
          </p:nvSpPr>
          <p:spPr>
            <a:xfrm>
              <a:off x="5815965" y="3928110"/>
              <a:ext cx="5842635" cy="2005012"/>
            </a:xfrm>
            <a:prstGeom prst="roundRect">
              <a:avLst>
                <a:gd name="adj" fmla="val 66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25490" y="4061460"/>
              <a:ext cx="47625" cy="17383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46470" y="41205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37910" y="41548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30162" y="4160520"/>
              <a:ext cx="16384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13、15 页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39612" y="4493895"/>
              <a:ext cx="512292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 JDBC API「被描述成一组抽象的接口」，第 15 页标题又写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「DriverManager 接口」。DriverManager 是类，直接调它的静态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方法；Connection、Statement、ResultSet 才是接口，由驱动厂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商实现，程序里拿到的是驱动类的对象。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40755" y="5564981"/>
              <a:ext cx="5370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左图据原课件第 22 页：程序只调用 DriverManager，Driver 由它在幕后使用。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40352" cy="909257"/>
            <a:chOff x="520446" y="342900"/>
            <a:chExt cx="72403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124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726" y="407194"/>
              <a:ext cx="2200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403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DriverManager：管理驱动，按 URL 建立连接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5842635" cy="3240405"/>
            <a:chOff x="533400" y="1524000"/>
            <a:chExt cx="5842635" cy="3240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2821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0030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1692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getDriver(String url)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38525" y="205406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 url 找到能处理它的驱动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10224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getDrivers()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38525" y="24598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返回当前已加载的全部驱动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65596"/>
              <a:ext cx="2040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getConnection(String url)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38525" y="2865596"/>
              <a:ext cx="2255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建立连接，返回 Connection 对象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47060"/>
              <a:ext cx="584263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156585"/>
              <a:ext cx="2786062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71361"/>
              <a:ext cx="2415997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getConnection(String url, String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user, String password)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38525" y="337137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同上，带用户名和密码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7480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877151"/>
              <a:ext cx="191566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getConnection(String url,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Properties info)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38525" y="3977164"/>
              <a:ext cx="270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用户名、密码等放在 Properties 里传入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3538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35864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4482941"/>
              <a:ext cx="2348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registerDriver(Driver driver)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38525" y="448294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登记驱动；一般由驱动类自己调用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5842635" cy="32404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333750" y="1524000"/>
              <a:ext cx="9525" cy="32404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ode-2"/>
          <p:cNvGrpSpPr/>
          <p:nvPr/>
        </p:nvGrpSpPr>
        <p:grpSpPr>
          <a:xfrm>
            <a:off x="533400" y="4939665"/>
            <a:ext cx="5842635" cy="1308735"/>
            <a:chOff x="533400" y="4939665"/>
            <a:chExt cx="5842635" cy="1308735"/>
          </a:xfrm>
        </p:grpSpPr>
        <p:sp>
          <p:nvSpPr>
            <p:cNvPr id="34" name="Rectangle 34"/>
            <p:cNvSpPr/>
            <p:nvPr/>
          </p:nvSpPr>
          <p:spPr>
            <a:xfrm>
              <a:off x="533400" y="4939665"/>
              <a:ext cx="5842635" cy="1308735"/>
            </a:xfrm>
            <a:prstGeom prst="roundRect">
              <a:avLst>
                <a:gd name="adj" fmla="val 72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1797" y="5091589"/>
              <a:ext cx="29403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调用方式与 URL 没有驱动认领时（JDK 21 实测）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988" y="5350859"/>
              <a:ext cx="3367913" cy="813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Connection cn = DriverManager.getConnection(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"jdbc:derby:helloDB"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"user"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"pwd"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正常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DriverManager.getConnection(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"jdbc:nosuch:db"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java.sql.SQLException:</a:t>
              </a:r>
              <a:br/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    No suitable driver found for jdbc:nosuch:db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680835" y="1524000"/>
            <a:ext cx="4977765" cy="2044065"/>
            <a:chOff x="6680835" y="1524000"/>
            <a:chExt cx="4977765" cy="2044065"/>
          </a:xfrm>
        </p:grpSpPr>
        <p:sp>
          <p:nvSpPr>
            <p:cNvPr id="38" name="Rectangle 38"/>
            <p:cNvSpPr/>
            <p:nvPr/>
          </p:nvSpPr>
          <p:spPr>
            <a:xfrm>
              <a:off x="6680835" y="1524000"/>
              <a:ext cx="4977765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90360" y="1657350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1134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0278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95032" y="1756410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14 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04482" y="2090738"/>
              <a:ext cx="425710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所列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setCatalog(String database)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DriverManager 的方法，它属于 Connection。写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DriverManager.setCatalog("helloDB")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编译报「找不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到符号」（实测）。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04482" y="3164205"/>
              <a:ext cx="4417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registerDriver 的参数名原写 dirver，应为 driver。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680835" y="3742372"/>
            <a:ext cx="4977765" cy="2505075"/>
            <a:chOff x="6680835" y="3742372"/>
            <a:chExt cx="4977765" cy="2505075"/>
          </a:xfrm>
        </p:grpSpPr>
        <p:sp>
          <p:nvSpPr>
            <p:cNvPr id="46" name="Rectangle 46"/>
            <p:cNvSpPr/>
            <p:nvPr/>
          </p:nvSpPr>
          <p:spPr>
            <a:xfrm>
              <a:off x="6680835" y="3742372"/>
              <a:ext cx="4977765" cy="2505075"/>
            </a:xfrm>
            <a:prstGeom prst="roundRect">
              <a:avLst>
                <a:gd name="adj" fmla="val 532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73240" y="3934778"/>
              <a:ext cx="882968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44940" y="3969068"/>
              <a:ext cx="740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URL 的格式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63649" y="3974782"/>
              <a:ext cx="1686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jdbc:子协议:数据源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66382" y="430911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子协议标出数据库种类，决定由哪个驱动接手；数据源的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写法由驱动自己规定。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881812" y="492537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37832" y="4869180"/>
              <a:ext cx="2888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jdbc:derby:helloDB;create=true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81812" y="522732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37832" y="5171123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jdbc:mysql://主机:3306/库名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81812" y="553021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37832" y="5474018"/>
              <a:ext cx="3134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jdbc:oracle:thin:@主机:1521:ORCL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7933" cy="909257"/>
            <a:chOff x="520446" y="342900"/>
            <a:chExt cx="488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124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726" y="407194"/>
              <a:ext cx="2200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常用数据库的驱动类与连接 URL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761695" cy="264033"/>
            <a:chOff x="526542" y="1545907"/>
            <a:chExt cx="876169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761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15 页的列表来自早期版本，不少驱动类名已改。连接语句都是 getConnection(url, 用户, 密码)。</a:t>
              </a:r>
            </a:p>
          </p:txBody>
        </p:sp>
      </p:grpSp>
      <p:grpSp>
        <p:nvGrpSpPr>
          <p:cNvPr id="63" name="c1-table-1"/>
          <p:cNvGrpSpPr/>
          <p:nvPr/>
        </p:nvGrpSpPr>
        <p:grpSpPr>
          <a:xfrm>
            <a:off x="533400" y="1928812"/>
            <a:ext cx="11125200" cy="3619500"/>
            <a:chOff x="533400" y="1928812"/>
            <a:chExt cx="11125200" cy="36195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7544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14638" y="2045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原课件的驱动类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316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现在的驱动类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56923" y="2045970"/>
              <a:ext cx="599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URL 形式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4993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MySQL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52041" y="2426970"/>
              <a:ext cx="1782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org.gjt.mm.mysql.Driver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66716" y="2426970"/>
              <a:ext cx="17967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com.mysql.cj.jdbc.Driver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9094" y="242697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jdbc:mysql://主机:3306/库名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08923"/>
              <a:ext cx="875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PostgreSQL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52041" y="2808923"/>
              <a:ext cx="15772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org.postgresql.Driver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66716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49094" y="2808923"/>
              <a:ext cx="1982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jdbc:postgresql://主机/库名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68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89923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52041" y="3189923"/>
              <a:ext cx="2281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oracle.jdbc.driver.OracleDriver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66716" y="3189923"/>
              <a:ext cx="1772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oracle.jdbc.OracleDriver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49094" y="3189923"/>
              <a:ext cx="2438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jdbc:oracle:thin:@主机:1521:ORCL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49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453765"/>
              <a:ext cx="11125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3665220"/>
              <a:ext cx="8398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Server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52041" y="3571875"/>
              <a:ext cx="265766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net.sourceforge.jtds.jdbc.Driver（开源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jTDS）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66716" y="3665220"/>
              <a:ext cx="3398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com.microsoft.sqlserver.jdbc.SQLServerDriver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49094" y="3571875"/>
              <a:ext cx="183089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jdbc:sqlserver://主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机:1433;databaseName=库名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0176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4139565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Sybase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52041" y="4139565"/>
              <a:ext cx="23531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com.sybase.jdbc2.jdbc.SybDriver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66716" y="4139565"/>
              <a:ext cx="23531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com.sybase.jdbc4.jdbc.SybDriver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49094" y="4139565"/>
              <a:ext cx="1867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jdbc:sybase:Tds:主机:端口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3986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40340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8078" y="4520565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52041" y="4520565"/>
              <a:ext cx="2310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com.ibm.db2.jdbc.net.DB2Driver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66716" y="4520565"/>
              <a:ext cx="1921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com.ibm.db2.jcc.DB2Driver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49094" y="4520565"/>
              <a:ext cx="18340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jdbc:db2://主机:端口/库名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780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794885"/>
              <a:ext cx="120491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8078" y="4902518"/>
              <a:ext cx="560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DB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52041" y="4902518"/>
              <a:ext cx="27767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org.apache.derby.jdbc.EmbeddedDriver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966716" y="4902518"/>
              <a:ext cx="2790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不变（Derby 10.15 起在 derbytools.jar）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49094" y="4902518"/>
              <a:ext cx="2246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jdbc:derby:helloDB;create=true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161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5166360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8078" y="5283518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ODBC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52041" y="5283518"/>
              <a:ext cx="2159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sun.jdbc.odbc.JdbcOdbcDriver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881562" y="5175885"/>
              <a:ext cx="376332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966716" y="5283518"/>
              <a:ext cx="10562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8 起已移除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49094" y="5283518"/>
              <a:ext cx="1318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jdbc:odbc:数据源名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1928812"/>
              <a:ext cx="11125200" cy="3619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752600" y="1928812"/>
              <a:ext cx="9525" cy="3619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867275" y="1928812"/>
              <a:ext cx="9525" cy="3619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649652" y="1928812"/>
              <a:ext cx="9525" cy="3619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1-callout-2"/>
          <p:cNvGrpSpPr/>
          <p:nvPr/>
        </p:nvGrpSpPr>
        <p:grpSpPr>
          <a:xfrm>
            <a:off x="533400" y="5712142"/>
            <a:ext cx="11125200" cy="650558"/>
            <a:chOff x="533400" y="5712142"/>
            <a:chExt cx="11125200" cy="650558"/>
          </a:xfrm>
        </p:grpSpPr>
        <p:sp>
          <p:nvSpPr>
            <p:cNvPr id="64" name="Rectangle 64"/>
            <p:cNvSpPr/>
            <p:nvPr/>
          </p:nvSpPr>
          <p:spPr>
            <a:xfrm>
              <a:off x="533400" y="5712142"/>
              <a:ext cx="11125200" cy="650558"/>
            </a:xfrm>
            <a:prstGeom prst="roundRect">
              <a:avLst>
                <a:gd name="adj" fmla="val 1757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937885"/>
              <a:ext cx="200026" cy="200025"/>
              <a:chOff x="738188" y="5937885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9378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59823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0934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5948839"/>
              <a:ext cx="90542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现在的驱动都支持自动加载，Class.forName 那一行可以不写；真要写时用新类名，旧类名在新版驱动里不一定还在。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61766" cy="909257"/>
            <a:chOff x="520446" y="342900"/>
            <a:chExt cx="53617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124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726" y="407194"/>
              <a:ext cx="2200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617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Connection：一次与数据库的会话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5410200" cy="3240405"/>
            <a:chOff x="533400" y="1524000"/>
            <a:chExt cx="5410200" cy="3240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2087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2597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154079"/>
              <a:ext cx="1529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createStatement()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22295" y="2054066"/>
              <a:ext cx="24935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在本连接上生成 Statement，用它向数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据库发送 SQL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355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545080"/>
              <a:ext cx="246983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3412" y="2659856"/>
              <a:ext cx="1921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setAutoCommit(boolean)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22295" y="26598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设置是否每条语句执行完自动提交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9365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3165634"/>
              <a:ext cx="1352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getAutoCommit()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22295" y="3065621"/>
              <a:ext cx="2358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获得自动提交状态，新连接默认 true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（实测）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5423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54711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671411"/>
              <a:ext cx="731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commit()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22295" y="367141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提交上次提交以来的全部改动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9481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407717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rollback()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22295" y="407717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撤销上次提交以来的全部改动（补充）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3538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35864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448294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22295" y="44829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关闭连接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5410200" cy="32404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17520" y="1524000"/>
              <a:ext cx="9525" cy="32404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2"/>
          <p:cNvGrpSpPr/>
          <p:nvPr/>
        </p:nvGrpSpPr>
        <p:grpSpPr>
          <a:xfrm>
            <a:off x="533400" y="4939665"/>
            <a:ext cx="5410200" cy="1226820"/>
            <a:chOff x="533400" y="4939665"/>
            <a:chExt cx="5410200" cy="1226820"/>
          </a:xfrm>
        </p:grpSpPr>
        <p:sp>
          <p:nvSpPr>
            <p:cNvPr id="34" name="Rectangle 34"/>
            <p:cNvSpPr/>
            <p:nvPr/>
          </p:nvSpPr>
          <p:spPr>
            <a:xfrm>
              <a:off x="533400" y="4939665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507301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51320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5345" y="51663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47597" y="5172075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16 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7047" y="5505450"/>
              <a:ext cx="47714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参数写作 Boolean autoCommit，实际是基本类型 boolean。原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课件没列 rollback()，它和 commit() 成对使用。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6248400" y="1524000"/>
            <a:ext cx="5410200" cy="1788795"/>
            <a:chOff x="6248400" y="1524000"/>
            <a:chExt cx="5410200" cy="1788795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6797" y="1675924"/>
              <a:ext cx="2443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事务实验（Derby 实测，表里原有 4 行）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76988" y="1935194"/>
              <a:ext cx="3574669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c.setAutoCommit(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关掉自动提交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s.executeUpdate(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"insert into students values('S900', …)"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c.rollback();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撤销</a:t>
              </a:r>
              <a:br/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select count(*)  -&gt;  4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s.executeUpdate(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"insert into students values('S901', …)"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c.commit();  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提交</a:t>
              </a:r>
              <a:br/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select count(*)  -&gt;  5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c.setAutoCommit(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488055"/>
            <a:ext cx="5410200" cy="1483995"/>
            <a:chOff x="6248400" y="3488055"/>
            <a:chExt cx="5410200" cy="1483995"/>
          </a:xfrm>
        </p:grpSpPr>
        <p:sp>
          <p:nvSpPr>
            <p:cNvPr id="45" name="Rectangle 45"/>
            <p:cNvSpPr/>
            <p:nvPr/>
          </p:nvSpPr>
          <p:spPr>
            <a:xfrm>
              <a:off x="6248400" y="3488055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362140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8905" y="36804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0345" y="37147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62597" y="371951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几条语句要么全成，要么全不成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2047" y="4053840"/>
              <a:ext cx="473716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转账要扣一个账户、加另一个账户。先关自动提交，两条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 都成功再 commit，中途出异常就 rollback，不会只扣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不加。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248400" y="5146358"/>
            <a:ext cx="5410200" cy="1019175"/>
            <a:chOff x="6248400" y="5146358"/>
            <a:chExt cx="5410200" cy="1019175"/>
          </a:xfrm>
        </p:grpSpPr>
        <p:sp>
          <p:nvSpPr>
            <p:cNvPr id="52" name="Rectangle 52"/>
            <p:cNvSpPr/>
            <p:nvPr/>
          </p:nvSpPr>
          <p:spPr>
            <a:xfrm>
              <a:off x="6248400" y="5146358"/>
              <a:ext cx="5410200" cy="1019175"/>
            </a:xfrm>
            <a:prstGeom prst="roundRect">
              <a:avLst>
                <a:gd name="adj" fmla="val 1121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53188" y="5556885"/>
              <a:ext cx="200026" cy="200026"/>
              <a:chOff x="6453188" y="5556885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53188" y="55568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53200" y="56235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42088" y="56568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755892" y="5313998"/>
              <a:ext cx="451427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17 页：Connection 代表与特定数据库的连接，还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能通过 getMetaData() 查到库里的表、支持的 SQL 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法、存储过程等信息。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6323" cy="909257"/>
            <a:chOff x="520446" y="342900"/>
            <a:chExt cx="69463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124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726" y="407194"/>
              <a:ext cx="2200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63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Statement：三个执行方法，按 SQL 种类选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626418" cy="1899285"/>
            <a:chOff x="533400" y="1524000"/>
            <a:chExt cx="5626418" cy="18992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161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8138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6921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用于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" y="1914525"/>
              <a:ext cx="223170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8078" y="2023110"/>
              <a:ext cx="1898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executeQuery(String sql)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78836" y="2023110"/>
              <a:ext cx="11503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ResultSet 结果集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66666" y="2023110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286952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2296478"/>
              <a:ext cx="2231708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497455"/>
              <a:ext cx="1950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executeUpdate(String sql)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78836" y="2404110"/>
              <a:ext cx="139750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int：影响的行数；建表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删表返回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6666" y="2404110"/>
              <a:ext cx="141751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insert、update、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delete、create、drop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8498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065145"/>
              <a:ext cx="1455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execute(String sql)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78836" y="2971800"/>
              <a:ext cx="142417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boolean：结果是结果集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时为 true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6666" y="3065145"/>
              <a:ext cx="614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 SQL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524000"/>
              <a:ext cx="5626418" cy="1899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779395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67225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ode-2"/>
          <p:cNvGrpSpPr/>
          <p:nvPr/>
        </p:nvGrpSpPr>
        <p:grpSpPr>
          <a:xfrm>
            <a:off x="533400" y="3588068"/>
            <a:ext cx="5626418" cy="1257300"/>
            <a:chOff x="533400" y="3588068"/>
            <a:chExt cx="5626418" cy="1257300"/>
          </a:xfrm>
        </p:grpSpPr>
        <p:sp>
          <p:nvSpPr>
            <p:cNvPr id="29" name="Rectangle 29"/>
            <p:cNvSpPr/>
            <p:nvPr/>
          </p:nvSpPr>
          <p:spPr>
            <a:xfrm>
              <a:off x="533400" y="3588068"/>
              <a:ext cx="5626418" cy="1257300"/>
            </a:xfrm>
            <a:prstGeom prst="roundRect">
              <a:avLst>
                <a:gd name="adj" fmla="val 7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1797" y="3739991"/>
              <a:ext cx="2284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各方法的返回值与误用（Derby 实测）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988" y="3999071"/>
              <a:ext cx="3784600" cy="760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execute(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"insert …"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            -&gt; false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execute(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"select …"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)             -&gt; true，再调 getResultSet() 取结果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executeUpdate(插入两行的 insert) -&gt; 2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executeQuery(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"delete …"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   -&gt; SQLException X0Y78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executeUpdate(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"select …"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  -&gt; SQLException X0Y79</a:t>
              </a:r>
            </a:p>
          </p:txBody>
        </p:sp>
      </p:grpSp>
      <p:grpSp>
        <p:nvGrpSpPr>
          <p:cNvPr id="39" name="c1-card-3"/>
          <p:cNvGrpSpPr/>
          <p:nvPr/>
        </p:nvGrpSpPr>
        <p:grpSpPr>
          <a:xfrm>
            <a:off x="533400" y="5010150"/>
            <a:ext cx="5626418" cy="1160145"/>
            <a:chOff x="533400" y="5010150"/>
            <a:chExt cx="5626418" cy="1160145"/>
          </a:xfrm>
        </p:grpSpPr>
        <p:sp>
          <p:nvSpPr>
            <p:cNvPr id="33" name="Rectangle 33"/>
            <p:cNvSpPr/>
            <p:nvPr/>
          </p:nvSpPr>
          <p:spPr>
            <a:xfrm>
              <a:off x="533400" y="5010150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514350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2475" y="519112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1096" y="522398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43228" y="5230654"/>
              <a:ext cx="3154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事先不知道是哪种 SQL 时用 execute()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5998" y="5546884"/>
              <a:ext cx="4881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比如逐条执行从文件读入的 SQL：execute(sql) 返回 true 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getResultSet()，返回 false 就 getUpdateCount() 取影响行数。</a:t>
              </a:r>
            </a:p>
          </p:txBody>
        </p:sp>
      </p:grpSp>
      <p:grpSp>
        <p:nvGrpSpPr>
          <p:cNvPr id="66" name="c2-flow-1"/>
          <p:cNvGrpSpPr/>
          <p:nvPr/>
        </p:nvGrpSpPr>
        <p:grpSpPr>
          <a:xfrm>
            <a:off x="6597968" y="1563052"/>
            <a:ext cx="4927282" cy="2170748"/>
            <a:chOff x="6597968" y="1563052"/>
            <a:chExt cx="4927282" cy="2170748"/>
          </a:xfrm>
        </p:grpSpPr>
        <p:sp>
          <p:nvSpPr>
            <p:cNvPr id="40" name="Freeform 40"/>
            <p:cNvSpPr/>
            <p:nvPr/>
          </p:nvSpPr>
          <p:spPr>
            <a:xfrm>
              <a:off x="7330440" y="2294572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278052" y="24469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062912" y="27384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224838" y="26860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898380" y="27384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793605" y="26860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7330440" y="2925128"/>
              <a:ext cx="9525" cy="331470"/>
            </a:xfrm>
            <a:custGeom>
              <a:avLst/>
              <a:gdLst/>
              <a:ahLst/>
              <a:cxnLst/>
              <a:rect l="l" t="t" r="r" b="b"/>
              <a:pathLst>
                <a:path w="9525" h="331470">
                  <a:moveTo>
                    <a:pt x="0" y="0"/>
                  </a:moveTo>
                  <a:lnTo>
                    <a:pt x="0" y="3314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278052" y="32565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6597968" y="1563052"/>
              <a:ext cx="1464945" cy="731520"/>
            </a:xfrm>
            <a:custGeom>
              <a:avLst/>
              <a:gdLst/>
              <a:ahLst/>
              <a:cxnLst/>
              <a:rect l="l" t="t" r="r" b="b"/>
              <a:pathLst>
                <a:path w="1464945" h="731520">
                  <a:moveTo>
                    <a:pt x="133350" y="0"/>
                  </a:moveTo>
                  <a:lnTo>
                    <a:pt x="1464945" y="0"/>
                  </a:lnTo>
                  <a:lnTo>
                    <a:pt x="1331595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597968" y="2551748"/>
              <a:ext cx="1464945" cy="372428"/>
            </a:xfrm>
            <a:prstGeom prst="roundRect">
              <a:avLst>
                <a:gd name="adj" fmla="val 25575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29612" y="2551748"/>
              <a:ext cx="146494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060305" y="2551748"/>
              <a:ext cx="1464945" cy="373380"/>
            </a:xfrm>
            <a:custGeom>
              <a:avLst/>
              <a:gdLst/>
              <a:ahLst/>
              <a:cxnLst/>
              <a:rect l="l" t="t" r="r" b="b"/>
              <a:pathLst>
                <a:path w="1464945" h="373380">
                  <a:moveTo>
                    <a:pt x="133350" y="0"/>
                  </a:moveTo>
                  <a:lnTo>
                    <a:pt x="1464945" y="0"/>
                  </a:lnTo>
                  <a:lnTo>
                    <a:pt x="1331595" y="373380"/>
                  </a:lnTo>
                  <a:lnTo>
                    <a:pt x="0" y="37338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597968" y="3361372"/>
              <a:ext cx="1464945" cy="37242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85038" y="1675448"/>
              <a:ext cx="1090803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语句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 / update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 delete / insert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8838" y="2665095"/>
              <a:ext cx="7432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Statement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83604" y="2665095"/>
              <a:ext cx="756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Connection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74271" y="2665095"/>
              <a:ext cx="6370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71935" y="3474720"/>
              <a:ext cx="717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ResultSet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359015" y="2345055"/>
              <a:ext cx="42100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82828" y="2367915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① 传入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985760" y="2338388"/>
              <a:ext cx="42100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18850" y="2361248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② 请求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602152" y="2338388"/>
              <a:ext cx="64960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628384" y="2361248"/>
              <a:ext cx="5971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③ 返回结果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359015" y="3064192"/>
              <a:ext cx="76390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82828" y="3087052"/>
              <a:ext cx="7182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④ 得到结果集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464618" y="4117658"/>
            <a:ext cx="5193982" cy="2052638"/>
            <a:chOff x="6464618" y="4117658"/>
            <a:chExt cx="5193982" cy="2052638"/>
          </a:xfrm>
        </p:grpSpPr>
        <p:sp>
          <p:nvSpPr>
            <p:cNvPr id="67" name="Rectangle 67"/>
            <p:cNvSpPr/>
            <p:nvPr/>
          </p:nvSpPr>
          <p:spPr>
            <a:xfrm>
              <a:off x="6464618" y="4117658"/>
              <a:ext cx="5193982" cy="2052638"/>
            </a:xfrm>
            <a:prstGeom prst="roundRect">
              <a:avLst>
                <a:gd name="adj" fmla="val 64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74142" y="4251008"/>
              <a:ext cx="47625" cy="17859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683692" y="42986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76364" y="43314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250620" y="4338161"/>
              <a:ext cx="32082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19 页：Statement 的工作模式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77216" y="4655344"/>
              <a:ext cx="45565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Statement 把 SQL 交给所属的 Connection，经通信通道发给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数据库（②）；数据库把结果经 Connection 送回（③）；查询语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句最后得到 ResultSet（④）。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77216" y="5425916"/>
              <a:ext cx="45727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Statement 再执行新语句时，它上一次的 ResultSet 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动关闭（实测再调 next() 报 XCL16）。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3962" cy="909257"/>
            <a:chOff x="520446" y="342900"/>
            <a:chExt cx="62039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124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726" y="407194"/>
              <a:ext cx="2200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39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ResultSet：游标开始时停在第一行之前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ells-1"/>
          <p:cNvGrpSpPr/>
          <p:nvPr/>
        </p:nvGrpSpPr>
        <p:grpSpPr>
          <a:xfrm>
            <a:off x="527304" y="1571149"/>
            <a:ext cx="5416296" cy="1006982"/>
            <a:chOff x="527304" y="1571149"/>
            <a:chExt cx="5416296" cy="1006982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9573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游标位置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76350" y="1828800"/>
              <a:ext cx="7781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16558" y="19573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首行前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054542" y="1828800"/>
              <a:ext cx="7781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39922" y="1957388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S101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31782" y="1828800"/>
              <a:ext cx="7781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18114" y="1957388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S102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09975" y="1828800"/>
              <a:ext cx="7781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95354" y="1957388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S103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88168" y="1828800"/>
              <a:ext cx="77819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73547" y="1957388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S104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165408" y="1828800"/>
              <a:ext cx="778192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06568" y="19573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末行后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28089" y="15711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626870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405062" y="225456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77287" y="2387441"/>
              <a:ext cx="931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 次 next()</a:t>
              </a:r>
            </a:p>
          </p:txBody>
        </p:sp>
      </p:grpSp>
      <p:grpSp>
        <p:nvGrpSpPr>
          <p:cNvPr id="50" name="c1-table-2"/>
          <p:cNvGrpSpPr/>
          <p:nvPr/>
        </p:nvGrpSpPr>
        <p:grpSpPr>
          <a:xfrm>
            <a:off x="533400" y="2733675"/>
            <a:ext cx="5410200" cy="3438525"/>
            <a:chOff x="533400" y="2733675"/>
            <a:chExt cx="5410200" cy="3438525"/>
          </a:xfrm>
        </p:grpSpPr>
        <p:sp>
          <p:nvSpPr>
            <p:cNvPr id="25" name="Rectangle 25"/>
            <p:cNvSpPr/>
            <p:nvPr/>
          </p:nvSpPr>
          <p:spPr>
            <a:xfrm>
              <a:off x="533400" y="2733675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85875" y="28651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0975" y="28651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8746" y="3401377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78024" y="3294698"/>
              <a:ext cx="3136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游标下移一行；移到有效行返回 true，已过末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行返回 false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8023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80714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3938588"/>
              <a:ext cx="90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previous()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78024" y="3938588"/>
              <a:ext cx="2193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游标上移一行，成功返回 true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2329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4368165"/>
              <a:ext cx="1335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first() / last()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78024" y="4368165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移到第一行 / 最后一行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662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66725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746" y="4798695"/>
              <a:ext cx="1375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getXxx(int 列号)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78024" y="4798695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取当前行第几列的值，列号从 1 开始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0930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8746" y="5229225"/>
              <a:ext cx="1316736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getXxx(String 列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478024" y="5229225"/>
              <a:ext cx="29230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按列名取值；Xxx 按列类型选：varchar 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String，int 用 Int，date 用 Date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735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574167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8746" y="5872162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78024" y="587216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关闭结果集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2733675"/>
              <a:ext cx="5410200" cy="343757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2367915" y="2733675"/>
              <a:ext cx="9525" cy="3437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image-1"/>
          <p:cNvGrpSpPr/>
          <p:nvPr/>
        </p:nvGrpSpPr>
        <p:grpSpPr>
          <a:xfrm>
            <a:off x="7590815" y="1524000"/>
            <a:ext cx="2725369" cy="2251234"/>
            <a:chOff x="7590815" y="1524000"/>
            <a:chExt cx="2725369" cy="2251234"/>
          </a:xfrm>
        </p:grpSpPr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rcRect l="5566" t="0" r="5567" b="0"/>
            <a:stretch>
              <a:fillRect/>
            </a:stretch>
          </p:blipFill>
          <p:spPr>
            <a:xfrm>
              <a:off x="7662862" y="1524000"/>
              <a:ext cx="2581275" cy="1936432"/>
            </a:xfrm>
            <a:prstGeom prst="roundRect">
              <a:avLst>
                <a:gd name="adj" fmla="val 6886"/>
              </a:avLst>
            </a:prstGeom>
          </p:spPr>
        </p:pic>
        <p:sp>
          <p:nvSpPr>
            <p:cNvPr id="52" name="TextBox 52"/>
            <p:cNvSpPr txBox="1"/>
            <p:nvPr/>
          </p:nvSpPr>
          <p:spPr>
            <a:xfrm>
              <a:off x="7590815" y="355520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透明尺一次只压住一行，读完往下挪一格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248400" y="3934778"/>
            <a:ext cx="5410200" cy="2427922"/>
            <a:chOff x="6248400" y="3934778"/>
            <a:chExt cx="5410200" cy="2427922"/>
          </a:xfrm>
        </p:grpSpPr>
        <p:sp>
          <p:nvSpPr>
            <p:cNvPr id="54" name="Rectangle 54"/>
            <p:cNvSpPr/>
            <p:nvPr/>
          </p:nvSpPr>
          <p:spPr>
            <a:xfrm>
              <a:off x="6248400" y="3934778"/>
              <a:ext cx="5410200" cy="2427922"/>
            </a:xfrm>
            <a:prstGeom prst="roundRect">
              <a:avLst>
                <a:gd name="adj" fmla="val 54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4068128"/>
              <a:ext cx="47625" cy="21612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90335" y="41386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80543" y="41743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91744" y="4179094"/>
              <a:ext cx="1311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20 页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83096" y="4530566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「第一条指向 null」应为：游标初始位于第一行之前，第一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 next() 才指到第一行，所以读循环写成 while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(rs.next())。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83096" y="5393531"/>
              <a:ext cx="473938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previous()、first()、last() 只能用在可滚动结果集上。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默认的只进结果集调用它们，Derby 实测报 XJ061：only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allowed on scroll cursors。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07558" cy="909257"/>
            <a:chOff x="520446" y="342900"/>
            <a:chExt cx="59075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124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726" y="407194"/>
              <a:ext cx="2200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075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可滚动结果集与 getXxx 的三个易错点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788795"/>
            <a:chOff x="533400" y="1524000"/>
            <a:chExt cx="5626418" cy="17887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073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创建可滚动结果集（Derby 实测，表里 4 行）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4373753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Statement ss = c.createStatement(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ResultSet.TYPE_SCROLL_INSENSITIVE,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ResultSet.CONCUR_READ_ONLY);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ResultSet r = ss.executeQuery(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"select sno from students order by sno"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r.last();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getRow() = 4, S104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r.previous();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getRow() = 3, S103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r.first();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getRow() = 1, S101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r.previous();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返回 false，已到第一行之前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6542" y="3509962"/>
            <a:ext cx="5633276" cy="1059371"/>
            <a:chOff x="526542" y="3509962"/>
            <a:chExt cx="5633276" cy="1059371"/>
          </a:xfrm>
        </p:grpSpPr>
        <p:sp>
          <p:nvSpPr>
            <p:cNvPr id="11" name="TextBox 11"/>
            <p:cNvSpPr txBox="1"/>
            <p:nvPr/>
          </p:nvSpPr>
          <p:spPr>
            <a:xfrm>
              <a:off x="526542" y="3509962"/>
              <a:ext cx="20198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TYPE_FORWARD_ONLY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3047" y="3509962"/>
              <a:ext cx="2176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默认，只能 next() 往前走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7985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542" y="3908108"/>
              <a:ext cx="2453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TYPE_SCROLL_INSENSITIVE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3047" y="390810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可前后移动，看不到别人后来的修改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1967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542" y="4305300"/>
              <a:ext cx="1868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CONCUR_READ_ONLY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43047" y="43053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结果集只读，不能通过它改表</a:t>
              </a:r>
            </a:p>
          </p:txBody>
        </p:sp>
      </p:grpSp>
      <p:grpSp>
        <p:nvGrpSpPr>
          <p:cNvPr id="34" name="c1-table-3"/>
          <p:cNvGrpSpPr/>
          <p:nvPr/>
        </p:nvGrpSpPr>
        <p:grpSpPr>
          <a:xfrm>
            <a:off x="533400" y="4692015"/>
            <a:ext cx="5626418" cy="1623060"/>
            <a:chOff x="533400" y="4692015"/>
            <a:chExt cx="5626418" cy="1623060"/>
          </a:xfrm>
        </p:grpSpPr>
        <p:sp>
          <p:nvSpPr>
            <p:cNvPr id="20" name="Rectangle 20"/>
            <p:cNvSpPr/>
            <p:nvPr/>
          </p:nvSpPr>
          <p:spPr>
            <a:xfrm>
              <a:off x="533400" y="4692015"/>
              <a:ext cx="5626418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21993" y="4816316"/>
              <a:ext cx="672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SQL 类型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52459" y="4816316"/>
              <a:ext cx="1039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对应的 getXxx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3412" y="5222081"/>
              <a:ext cx="111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varchar、char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4170" y="5222081"/>
              <a:ext cx="724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getString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4987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550354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5627846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/ decimal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84170" y="5627846"/>
              <a:ext cx="1654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getInt / getBigDecimal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9045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603361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84170" y="6033611"/>
              <a:ext cx="21022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getDate，返回 java.sql.Date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692015"/>
              <a:ext cx="562641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79395" y="46920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table-1"/>
          <p:cNvGrpSpPr/>
          <p:nvPr/>
        </p:nvGrpSpPr>
        <p:grpSpPr>
          <a:xfrm>
            <a:off x="6464618" y="1524000"/>
            <a:ext cx="5193982" cy="2223135"/>
            <a:chOff x="6464618" y="1524000"/>
            <a:chExt cx="5193982" cy="2223135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5112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52708" y="1648301"/>
              <a:ext cx="1102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Derby 实测结果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64630" y="2054066"/>
              <a:ext cx="1020623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没调 next() 就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getString(1)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759190" y="1939290"/>
              <a:ext cx="2889885" cy="5867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49678" y="2054066"/>
              <a:ext cx="21948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SQLState 24000：Invalid cursor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 - no current row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5307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4618" y="2535555"/>
              <a:ext cx="519398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4630" y="2759869"/>
              <a:ext cx="1023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getString(0)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759190" y="2545080"/>
              <a:ext cx="2889885" cy="5867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49678" y="2659856"/>
              <a:ext cx="25646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S0022：Column '0' not found；列号从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起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31365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4630" y="3265646"/>
              <a:ext cx="1475435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getString("sno") 与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getString("SNO")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759190" y="3150870"/>
              <a:ext cx="2889885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49678" y="336565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都能取到，列名不区分大小写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1524000"/>
              <a:ext cx="5193982" cy="22231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744902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ode-2"/>
          <p:cNvGrpSpPr/>
          <p:nvPr/>
        </p:nvGrpSpPr>
        <p:grpSpPr>
          <a:xfrm>
            <a:off x="6464618" y="3922395"/>
            <a:ext cx="5193982" cy="1148715"/>
            <a:chOff x="6464618" y="3922395"/>
            <a:chExt cx="5193982" cy="1148715"/>
          </a:xfrm>
        </p:grpSpPr>
        <p:sp>
          <p:nvSpPr>
            <p:cNvPr id="53" name="Rectangle 53"/>
            <p:cNvSpPr/>
            <p:nvPr/>
          </p:nvSpPr>
          <p:spPr>
            <a:xfrm>
              <a:off x="6464618" y="3922395"/>
              <a:ext cx="5193982" cy="1148715"/>
            </a:xfrm>
            <a:prstGeom prst="roundRect">
              <a:avLst>
                <a:gd name="adj" fmla="val 82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93015" y="407431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标准读法：先移再读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93205" y="4333589"/>
              <a:ext cx="2864993" cy="653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(rs.next())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 = rs.getString(1);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按列号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 = rs.getInt(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"score"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按列名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464618" y="5246370"/>
            <a:ext cx="5193982" cy="1068705"/>
            <a:chOff x="6464618" y="5246370"/>
            <a:chExt cx="5193982" cy="1068705"/>
          </a:xfrm>
        </p:grpSpPr>
        <p:sp>
          <p:nvSpPr>
            <p:cNvPr id="57" name="Rectangle 57"/>
            <p:cNvSpPr/>
            <p:nvPr/>
          </p:nvSpPr>
          <p:spPr>
            <a:xfrm>
              <a:off x="6464618" y="5246370"/>
              <a:ext cx="5193982" cy="1068705"/>
            </a:xfrm>
            <a:prstGeom prst="roundRect">
              <a:avLst>
                <a:gd name="adj" fmla="val 106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669405" y="5680710"/>
              <a:ext cx="200026" cy="200025"/>
              <a:chOff x="6669405" y="5680710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669405" y="56807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09144" y="57251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43859" y="58362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72110" y="5561648"/>
              <a:ext cx="406850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按列名取值更易读，改了 select 里列的顺序也不受影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响；按列号取值略快，适合列很多的循环。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47082" cy="2997517"/>
            <a:chOff x="667512" y="1835468"/>
            <a:chExt cx="484708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3192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编程步骤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5300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八个固定步骤，配一个 Java DB 上的完整例子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607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导入、加载、URL、连接、语句、执行、处理、关闭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158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DB 是纯 Java 的嵌入式数据库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程序要自己保证关闭资源、不吞异常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98992" cy="909257"/>
            <a:chOff x="520446" y="342900"/>
            <a:chExt cx="25989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860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74" y="407194"/>
              <a:ext cx="2502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编程步骤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3511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编程八步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33400" y="1524000"/>
            <a:ext cx="6492240" cy="4481513"/>
            <a:chOff x="533400" y="1524000"/>
            <a:chExt cx="6492240" cy="448151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68484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3234" y="1651635"/>
              <a:ext cx="1851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  <a:br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09382" y="1771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81347" y="1771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用到的代码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270" y="233648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6152" y="2336482"/>
              <a:ext cx="1376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导入 java.sql 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59277" y="2336482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import java.sql.*;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89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53665"/>
              <a:ext cx="649224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2663190"/>
              <a:ext cx="564832" cy="425768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2270" y="27813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6152" y="2781300"/>
              <a:ext cx="1278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加载 JDBC 驱动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59277" y="2781300"/>
              <a:ext cx="2244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Class.forName(驱动类名)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092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2270" y="32261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16152" y="3226118"/>
              <a:ext cx="1296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定义数据库 URL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59277" y="3226118"/>
              <a:ext cx="3069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url = "jdbc:derby:helloDB";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375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542348"/>
              <a:ext cx="649224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2270" y="367093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16152" y="367093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连接数据库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59277" y="3670935"/>
              <a:ext cx="3130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DriverManager.getConnection(url)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824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2270" y="41148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16152" y="4114800"/>
              <a:ext cx="15745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 SQL 语句对象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59277" y="4114800"/>
              <a:ext cx="225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conn.createStatement()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42722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431982"/>
              <a:ext cx="649224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2270" y="467963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16152" y="4679632"/>
              <a:ext cx="1211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SQL 语句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59277" y="4559618"/>
              <a:ext cx="255974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executeQuery()、execute()、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executeUpdate()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1120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2270" y="524446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16152" y="524446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处理结果集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59277" y="5244465"/>
              <a:ext cx="1804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next()、getXxx()……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5559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5560695"/>
              <a:ext cx="649224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2270" y="5689283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16152" y="5689283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关闭连接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359277" y="5689283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commit()、close()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524000"/>
              <a:ext cx="6492240" cy="44815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112520" y="1524000"/>
              <a:ext cx="9525" cy="44815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255645" y="1524000"/>
              <a:ext cx="9525" cy="44815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1"/>
          <p:cNvGrpSpPr/>
          <p:nvPr/>
        </p:nvGrpSpPr>
        <p:grpSpPr>
          <a:xfrm>
            <a:off x="7330440" y="1524000"/>
            <a:ext cx="4328160" cy="1226820"/>
            <a:chOff x="7330440" y="1524000"/>
            <a:chExt cx="4328160" cy="1226820"/>
          </a:xfrm>
        </p:grpSpPr>
        <p:sp>
          <p:nvSpPr>
            <p:cNvPr id="51" name="Rectangle 51"/>
            <p:cNvSpPr/>
            <p:nvPr/>
          </p:nvSpPr>
          <p:spPr>
            <a:xfrm>
              <a:off x="7330440" y="1524000"/>
              <a:ext cx="432816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3996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6094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5238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44637" y="1756410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25 页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54087" y="2090738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③ 步原写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“jdbc:derby:helloDB ”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：中文引号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编译不过，字符串末尾还多一个空格，已去掉。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7330440" y="2926080"/>
            <a:ext cx="4328160" cy="1483995"/>
            <a:chOff x="7330440" y="2926080"/>
            <a:chExt cx="4328160" cy="1483995"/>
          </a:xfrm>
        </p:grpSpPr>
        <p:sp>
          <p:nvSpPr>
            <p:cNvPr id="58" name="Rectangle 58"/>
            <p:cNvSpPr/>
            <p:nvPr/>
          </p:nvSpPr>
          <p:spPr>
            <a:xfrm>
              <a:off x="7330440" y="2926080"/>
              <a:ext cx="432816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39965" y="305943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560945" y="31184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52385" y="31527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44637" y="3158490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② 步可省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54087" y="3491865"/>
              <a:ext cx="36656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4.0 起驱动自动加载，② 可以不写；写上也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没错，还能在驱动 jar 缺失时尽早报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ClassNotFoundException。</a:t>
              </a:r>
            </a:p>
          </p:txBody>
        </p:sp>
      </p:grpSp>
      <p:grpSp>
        <p:nvGrpSpPr>
          <p:cNvPr id="70" name="c2-card-3"/>
          <p:cNvGrpSpPr/>
          <p:nvPr/>
        </p:nvGrpSpPr>
        <p:grpSpPr>
          <a:xfrm>
            <a:off x="7330440" y="4585335"/>
            <a:ext cx="4328160" cy="1741170"/>
            <a:chOff x="7330440" y="4585335"/>
            <a:chExt cx="4328160" cy="1741170"/>
          </a:xfrm>
        </p:grpSpPr>
        <p:sp>
          <p:nvSpPr>
            <p:cNvPr id="65" name="Rectangle 65"/>
            <p:cNvSpPr/>
            <p:nvPr/>
          </p:nvSpPr>
          <p:spPr>
            <a:xfrm>
              <a:off x="7330440" y="4585335"/>
              <a:ext cx="4328160" cy="1741170"/>
            </a:xfrm>
            <a:prstGeom prst="roundRect">
              <a:avLst>
                <a:gd name="adj" fmla="val 7659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522845" y="4777740"/>
              <a:ext cx="637222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09907" y="4812030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⑧ 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67510" y="4816792"/>
              <a:ext cx="1637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什么时候要 commit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15987" y="5151120"/>
              <a:ext cx="378561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自动提交开着（默认）时每条语句已经提交，不用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commit。关了自动提交才需要 commit()。关闭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顺序：ResultSet、Statement、Connection，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与创建顺序相反。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2299" cy="909257"/>
            <a:chOff x="520446" y="342900"/>
            <a:chExt cx="71622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860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74" y="407194"/>
              <a:ext cx="2502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编程步骤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22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DB（Derby）：纯 Java 的嵌入式数据库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836420"/>
            <a:chOff x="533400" y="1524000"/>
            <a:chExt cx="5410200" cy="18364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简介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757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DB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64921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 Java 实现、开源的数据库管理系统，源自 Apache 软件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基金会的 Derby 项目。完全支持事务、SQL 和 JDBC API，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可以嵌入在 Java 程序里运行，不用单独安装数据库服务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545205"/>
            <a:ext cx="5410200" cy="2760345"/>
            <a:chOff x="533400" y="3545205"/>
            <a:chExt cx="5410200" cy="2760345"/>
          </a:xfrm>
        </p:grpSpPr>
        <p:sp>
          <p:nvSpPr>
            <p:cNvPr id="14" name="Rectangle 14"/>
            <p:cNvSpPr/>
            <p:nvPr/>
          </p:nvSpPr>
          <p:spPr>
            <a:xfrm>
              <a:off x="533400" y="3545205"/>
              <a:ext cx="5410200" cy="2760345"/>
            </a:xfrm>
            <a:prstGeom prst="roundRect">
              <a:avLst>
                <a:gd name="adj" fmla="val 48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78555"/>
              <a:ext cx="47625" cy="24936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74904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8792" y="378475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更正（版本）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5386" y="3789521"/>
              <a:ext cx="1311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26 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096" y="4140994"/>
              <a:ext cx="478447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「装了 JDK 6 以后的版本会看到 db 目录」只对 JDK 6～8 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立。JDK 9 起不再附带 Java DB，要从 Apache 官网或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Maven 仓库单独下载 Derby。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5003959"/>
              <a:ext cx="450494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本讲义用 Derby 10.16.1.1 和 JDK 21 实测，类路径放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derby.jar、derbyshared.jar、derbytools.jar；少了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derbytools.jar，原程序的 Class.forName 就找不到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EmbeddedDriver。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6248400" y="1533525"/>
            <a:ext cx="3559150" cy="3031236"/>
            <a:chOff x="6248400" y="1533525"/>
            <a:chExt cx="3559150" cy="3031236"/>
          </a:xfrm>
        </p:grpSpPr>
        <p:sp>
          <p:nvSpPr>
            <p:cNvPr id="22" name="Rectangle 22"/>
            <p:cNvSpPr/>
            <p:nvPr/>
          </p:nvSpPr>
          <p:spPr>
            <a:xfrm>
              <a:off x="6381750" y="1676400"/>
              <a:ext cx="19050" cy="24831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48400" y="215455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48400" y="277558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2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339566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2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48400" y="401669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2024" y="40905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0261" y="1566386"/>
              <a:ext cx="889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（1）建库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404" y="1846898"/>
              <a:ext cx="27881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DBMS 中创建名为 helloDB 的数据库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0261" y="2187416"/>
              <a:ext cx="889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（2）建表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404" y="2467927"/>
              <a:ext cx="31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创建表 hellotable，有 name 和 score 两列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0261" y="2808446"/>
              <a:ext cx="889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（3）插入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404" y="3088957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向表内插入两条数据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0261" y="3429476"/>
              <a:ext cx="889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（4）查询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404" y="3709988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查询数据并把结果打印在控制台上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0261" y="4049554"/>
              <a:ext cx="889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（5）清理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1404" y="433006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删除表，关闭连接并关闭数据库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248400" y="4741545"/>
            <a:ext cx="5410200" cy="1564958"/>
            <a:chOff x="6248400" y="4741545"/>
            <a:chExt cx="5410200" cy="1564958"/>
          </a:xfrm>
        </p:grpSpPr>
        <p:sp>
          <p:nvSpPr>
            <p:cNvPr id="44" name="Rectangle 44"/>
            <p:cNvSpPr/>
            <p:nvPr/>
          </p:nvSpPr>
          <p:spPr>
            <a:xfrm>
              <a:off x="6248400" y="4741545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4874895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90335" y="49453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0543" y="49810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1744" y="4984909"/>
              <a:ext cx="1311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27 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3096" y="5336381"/>
              <a:ext cx="471233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(5) 步原写「删除表和数据库」。程序只 drop 了表，数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据库没删：运行后目录里留下 helloDB 文件夹（原课件第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页截图也能看到），最后那步只是关闭了数据库。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00252" cy="909257"/>
            <a:chOff x="520446" y="342900"/>
            <a:chExt cx="87002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860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74" y="407194"/>
              <a:ext cx="2502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编程步骤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002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示例 HelloJavaDB（一）：加载驱动、建库、建表、插入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708458" cy="3549015"/>
            <a:chOff x="533400" y="1524000"/>
            <a:chExt cx="6708458" cy="35490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3549015"/>
            </a:xfrm>
            <a:prstGeom prst="roundRect">
              <a:avLst>
                <a:gd name="adj" fmla="val 26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0504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HelloJavaDB.java 第 1～18 行（原课件第 28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4966081" cy="3053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java.sql.*;                 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第1步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HelloJavaDB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load the driver                        第2步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Class.forName(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"org.apache.derby.jdbc.EmbeddedDriver"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.newInstance();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"Load the embedded driver"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Connection conn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create and connect the database named helloDB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conn = DriverManager.getConnection(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第3、4步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"jdbc:derby:helloDB;create=true"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"username"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"password"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"create and connect to helloDB"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create a table and insert two records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Statement s = conn.createStatement();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第5步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s.execute(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"create table hellotable(name varchar(40), score int)"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"Created table hellotable"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s.execute(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"insert into hellotable values('Ruth Cao', 86)"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第6步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s.execute(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"insert into hellotable values ('Flora Shi', 92)"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6542" y="5270183"/>
            <a:ext cx="6715316" cy="1059370"/>
            <a:chOff x="526542" y="5270183"/>
            <a:chExt cx="6715316" cy="1059370"/>
          </a:xfrm>
        </p:grpSpPr>
        <p:sp>
          <p:nvSpPr>
            <p:cNvPr id="11" name="TextBox 11"/>
            <p:cNvSpPr txBox="1"/>
            <p:nvPr/>
          </p:nvSpPr>
          <p:spPr>
            <a:xfrm>
              <a:off x="526542" y="5270183"/>
              <a:ext cx="1273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;create=true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02917" y="5270183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库不存在就新建；已存在则直接连上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555879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542" y="5668328"/>
              <a:ext cx="1130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username 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02917" y="5668328"/>
              <a:ext cx="3718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嵌入式 Derby 默认不验证身份，随便填都能连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595693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542" y="6065520"/>
              <a:ext cx="1063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execute(…)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02917" y="6065520"/>
              <a:ext cx="2885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建表、插入返回 false，没有结果集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7546658" y="1524000"/>
            <a:ext cx="4111942" cy="1483995"/>
            <a:chOff x="7546658" y="1524000"/>
            <a:chExt cx="4111942" cy="1483995"/>
          </a:xfrm>
        </p:grpSpPr>
        <p:sp>
          <p:nvSpPr>
            <p:cNvPr id="20" name="Rectangle 20"/>
            <p:cNvSpPr/>
            <p:nvPr/>
          </p:nvSpPr>
          <p:spPr>
            <a:xfrm>
              <a:off x="7546658" y="1524000"/>
              <a:ext cx="4111942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56182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77162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68602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60854" y="1756410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28 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70304" y="2090738"/>
              <a:ext cx="34855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行末尾是中文分号「；」，驱动类名和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“username”,”password”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用了中文引号，照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抄编译不过，已改成英文标点。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7546658" y="3183255"/>
            <a:ext cx="4111942" cy="3093720"/>
            <a:chOff x="7546658" y="3183255"/>
            <a:chExt cx="4111942" cy="3093720"/>
          </a:xfrm>
        </p:grpSpPr>
        <p:sp>
          <p:nvSpPr>
            <p:cNvPr id="27" name="Rectangle 27"/>
            <p:cNvSpPr/>
            <p:nvPr/>
          </p:nvSpPr>
          <p:spPr>
            <a:xfrm>
              <a:off x="7546658" y="3183255"/>
              <a:ext cx="4111942" cy="3093720"/>
            </a:xfrm>
            <a:prstGeom prst="roundRect">
              <a:avLst>
                <a:gd name="adj" fmla="val 43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56182" y="3316605"/>
              <a:ext cx="47625" cy="28270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777162" y="33756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68602" y="34099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过时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60854" y="3415665"/>
              <a:ext cx="25671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Class.newInstance() 已弃用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70304" y="3749040"/>
              <a:ext cx="260261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9 起弃用，JDK 21 编译给出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deprecation 警告。加载驱动只要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Class.forName(…)，不需要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newInstance()。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70304" y="4823460"/>
              <a:ext cx="34684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4.0 起连 Class.forName 这一行也可以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不写（第 12 页），这里保留是为了和原课件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的八步对应。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13690" cy="909257"/>
            <a:chOff x="520446" y="342900"/>
            <a:chExt cx="80136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860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74" y="407194"/>
              <a:ext cx="2502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编程步骤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136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示例 HelloJavaDB（二）：查询、打印、删表、关闭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747135"/>
            <a:chOff x="533400" y="1524000"/>
            <a:chExt cx="6276022" cy="3747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747135"/>
            </a:xfrm>
            <a:prstGeom prst="roundRect">
              <a:avLst>
                <a:gd name="adj" fmla="val 254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525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20～38 行（原课件第 29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4146118" cy="32537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ResultSet rs = s.executeQuery(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第6步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"SELECT name, score FROM hellotable ORDER BY score"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"name\t\t score 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(rs.next()) {          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第7步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StringBuilder builder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StringBuilder(rs.getString(1));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builder.append(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builder.append(rs.getInt(2));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System.out.println(builder.toString());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delete the table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s.execute(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"drop table hellotable"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"Dropped table hellotable"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rs.close();                  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第8步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s.close();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"Closed result set and statement"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conn.close();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"Closed connection"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7114222" y="1524000"/>
            <a:ext cx="4544378" cy="2383155"/>
            <a:chOff x="7114222" y="1524000"/>
            <a:chExt cx="4544378" cy="2383155"/>
          </a:xfrm>
        </p:grpSpPr>
        <p:sp>
          <p:nvSpPr>
            <p:cNvPr id="11" name="Rectangle 11"/>
            <p:cNvSpPr/>
            <p:nvPr/>
          </p:nvSpPr>
          <p:spPr>
            <a:xfrm>
              <a:off x="7114222" y="1524000"/>
              <a:ext cx="4544378" cy="2383155"/>
            </a:xfrm>
            <a:prstGeom prst="roundRect">
              <a:avLst>
                <a:gd name="adj" fmla="val 399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242620" y="1675924"/>
              <a:ext cx="22686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+ Derby 10.16 实测）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42772" y="1936337"/>
              <a:ext cx="2045030" cy="18897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Load the embedded driver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create and connect to helloDB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Created table hellotable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name             score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Ruth Cao        86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Flora Shi       92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Dropped table hellotable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Closed result set and statement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Closed connection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Database shut down normally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SimpleApp finished</a:t>
              </a:r>
            </a:p>
          </p:txBody>
        </p:sp>
      </p:grpSp>
      <p:grpSp>
        <p:nvGrpSpPr>
          <p:cNvPr id="22" name="c2-card-2"/>
          <p:cNvGrpSpPr/>
          <p:nvPr/>
        </p:nvGrpSpPr>
        <p:grpSpPr>
          <a:xfrm>
            <a:off x="7114222" y="4092892"/>
            <a:ext cx="4544378" cy="2156460"/>
            <a:chOff x="7114222" y="4092892"/>
            <a:chExt cx="4544378" cy="2156460"/>
          </a:xfrm>
        </p:grpSpPr>
        <p:sp>
          <p:nvSpPr>
            <p:cNvPr id="15" name="Rectangle 15"/>
            <p:cNvSpPr/>
            <p:nvPr/>
          </p:nvSpPr>
          <p:spPr>
            <a:xfrm>
              <a:off x="7114222" y="4092892"/>
              <a:ext cx="4544378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3748" y="4226242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56158" y="429672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42416" y="43324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99488" y="4336256"/>
              <a:ext cx="193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Ruth Cao 在前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8918" y="4687729"/>
              <a:ext cx="355815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 BY score 默认升序，86 在 92 前。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rs.getString(1)、rs.getInt(2) 按列号取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 和 score。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48918" y="5550694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drop table 执行时 rs 已被自动关闭，后面的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rs.close() 什么也不做，不会报错。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3" name="TextBox 23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0409" cy="909257"/>
            <a:chOff x="520446" y="342900"/>
            <a:chExt cx="76704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860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74" y="407194"/>
              <a:ext cx="2502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编程步骤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04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示例 HelloJavaDB（三）：关闭数据库与异常处理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264092"/>
            <a:chOff x="533400" y="1524000"/>
            <a:chExt cx="5410200" cy="2264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935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40～49 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733163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perform a clean shutdown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DriverManager.getConnection(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"jdbc:derby:;shutdown=true"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(SQLException se)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"Database shut down normally"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(Throwable 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handle the exception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"SimpleApp finished"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3978592"/>
            <a:ext cx="5410200" cy="2203132"/>
            <a:chOff x="533400" y="3978592"/>
            <a:chExt cx="5410200" cy="2203132"/>
          </a:xfrm>
        </p:grpSpPr>
        <p:sp>
          <p:nvSpPr>
            <p:cNvPr id="11" name="Rectangle 11"/>
            <p:cNvSpPr/>
            <p:nvPr/>
          </p:nvSpPr>
          <p:spPr>
            <a:xfrm>
              <a:off x="533400" y="3978592"/>
              <a:ext cx="5410200" cy="2203132"/>
            </a:xfrm>
            <a:prstGeom prst="roundRect">
              <a:avLst>
                <a:gd name="adj" fmla="val 605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42950" y="418814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0356" y="42238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反常的约定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0697" y="4223385"/>
              <a:ext cx="2706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关库成功也抛 SQLException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5330" y="4584382"/>
              <a:ext cx="46920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Derby 用 </a:t>
              </a: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;shutdown=true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关闭数据库，成功时一定抛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 SQLException（实测 SQLState XJ015：Derby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system shutdown），所以「正常关闭」的提示写在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catch 里。这是 Derby 特有的约定，别的数据库没有。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527935"/>
            <a:chOff x="6248400" y="1524000"/>
            <a:chExt cx="5410200" cy="2527935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2527935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57925" y="1657350"/>
              <a:ext cx="47625" cy="22612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97078" y="1768792"/>
              <a:ext cx="3685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空的 catch (Throwable) 把错误全吞了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8430" y="2129790"/>
              <a:ext cx="4768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类路径上不放 Derby 的 jar 运行，Class.forName 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ClassNotFoundException，被外层 catch 接住却什么也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不做，屏幕上只有一行 SimpleApp finished。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430" y="3036570"/>
              <a:ext cx="4549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只放 derby.jar、漏掉 derbytools.jar 时也一样：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10.15 起 EmbeddedDriver 这个类在 derbytools.jar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里。</a:t>
              </a:r>
            </a:p>
          </p:txBody>
        </p:sp>
      </p:grpSp>
      <p:grpSp>
        <p:nvGrpSpPr>
          <p:cNvPr id="41" name="c2-compare-2"/>
          <p:cNvGrpSpPr/>
          <p:nvPr/>
        </p:nvGrpSpPr>
        <p:grpSpPr>
          <a:xfrm>
            <a:off x="6248400" y="4242435"/>
            <a:ext cx="5410200" cy="1939290"/>
            <a:chOff x="6248400" y="4242435"/>
            <a:chExt cx="5410200" cy="1939290"/>
          </a:xfrm>
        </p:grpSpPr>
        <p:sp>
          <p:nvSpPr>
            <p:cNvPr id="25" name="Rectangle 25"/>
            <p:cNvSpPr/>
            <p:nvPr/>
          </p:nvSpPr>
          <p:spPr>
            <a:xfrm>
              <a:off x="6248400" y="4242435"/>
              <a:ext cx="2495550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4375785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88430" y="44767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原写法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501765" y="489394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9880" y="4831080"/>
              <a:ext cx="1236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块空着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522922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516636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出错时看不到任何原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163050" y="4242435"/>
              <a:ext cx="2495550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172575" y="4375785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03080" y="44767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至少这样写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9416415" y="489394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74530" y="4831080"/>
              <a:ext cx="1748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里调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printStackTrace()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9416415" y="551497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74530" y="5452110"/>
              <a:ext cx="1634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 main 声明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throws Exception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791575" y="505015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61915" y="51463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82431" cy="909257"/>
            <a:chOff x="520446" y="342900"/>
            <a:chExt cx="58824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860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74" y="407194"/>
              <a:ext cx="2502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编程步骤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824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运行配置：让 JVM 找到 Derby 的 jar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468755"/>
            <a:chOff x="533400" y="1524000"/>
            <a:chExt cx="5626418" cy="14687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68755"/>
            </a:xfrm>
            <a:prstGeom prst="roundRect">
              <a:avLst>
                <a:gd name="adj" fmla="val 64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命令行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513201" cy="97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原课件（JDK 6～8）：环境变量 classpath 加入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%JAVA_HOME%\db\lib\derby.jar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现在（JDK 9 起）：jar 放在程序旁边，运行时用 -cp 指定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javac HelloJavaDB.java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java -cp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".;derby.jar;derbyshared.jar;derbytools.jar"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HelloJavaDB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3168015"/>
            <a:ext cx="5626418" cy="1483995"/>
            <a:chOff x="533400" y="3168015"/>
            <a:chExt cx="5626418" cy="1483995"/>
          </a:xfrm>
        </p:grpSpPr>
        <p:sp>
          <p:nvSpPr>
            <p:cNvPr id="11" name="Rectangle 11"/>
            <p:cNvSpPr/>
            <p:nvPr/>
          </p:nvSpPr>
          <p:spPr>
            <a:xfrm>
              <a:off x="533400" y="3168015"/>
              <a:ext cx="562641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30136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3360420"/>
              <a:ext cx="67818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7050" y="3394710"/>
              <a:ext cx="511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Eclipse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49527" y="3399472"/>
              <a:ext cx="2155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31 页的配置路径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733800"/>
              <a:ext cx="48571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右击工程名，Build Path，Configure Build Path，在 Libraries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页点 Add External JARs 选中 jar。原课件选 derby.jar 一个，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Derby 10.15 以后把三个 jar 都加进去。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826318"/>
            <a:ext cx="5626418" cy="1483995"/>
            <a:chOff x="533400" y="4826318"/>
            <a:chExt cx="5626418" cy="1483995"/>
          </a:xfrm>
        </p:grpSpPr>
        <p:sp>
          <p:nvSpPr>
            <p:cNvPr id="18" name="Rectangle 18"/>
            <p:cNvSpPr/>
            <p:nvPr/>
          </p:nvSpPr>
          <p:spPr>
            <a:xfrm>
              <a:off x="533400" y="4826318"/>
              <a:ext cx="562641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959668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501872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5345" y="50530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7597" y="5058728"/>
              <a:ext cx="16384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30、32 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5393055"/>
              <a:ext cx="48486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30 页在命令行 javac、java 运行，第 32 页是 Eclipse 的输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出，都与前面的输出相同。Linux、macOS 上 -cp 的分隔符是冒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1483995"/>
            <a:chOff x="6464618" y="1524000"/>
            <a:chExt cx="5193982" cy="1483995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1483995"/>
            </a:xfrm>
            <a:prstGeom prst="roundRect">
              <a:avLst>
                <a:gd name="adj" fmla="val 8986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57022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48462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40714" y="17564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数据库就是一个文件夹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0164" y="2090738"/>
              <a:ext cx="46342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运行结束后，当前工作目录里多出 helloDB 文件夹，数据都存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在里面。再运行一次照常输出，因为表在上次运行时已经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drop 了。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464618" y="3183255"/>
            <a:ext cx="5193982" cy="1483995"/>
            <a:chOff x="6464618" y="3183255"/>
            <a:chExt cx="5193982" cy="1483995"/>
          </a:xfrm>
        </p:grpSpPr>
        <p:sp>
          <p:nvSpPr>
            <p:cNvPr id="31" name="Rectangle 31"/>
            <p:cNvSpPr/>
            <p:nvPr/>
          </p:nvSpPr>
          <p:spPr>
            <a:xfrm>
              <a:off x="6464618" y="3183255"/>
              <a:ext cx="5193982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331660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5122" y="33756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86562" y="34099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78814" y="341566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中途出错后再运行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88264" y="3749040"/>
              <a:ext cx="45399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如果某次运行在 drop 之前就异常退出，hellotable 会留在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helloDB 里，下次 create table 报 X0Y32（表已存在）。删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 helloDB 文件夹或先 drop 再建即可。</a:t>
              </a:r>
            </a:p>
          </p:txBody>
        </p:sp>
      </p:grpSp>
      <p:grpSp>
        <p:nvGrpSpPr>
          <p:cNvPr id="44" name="c2-callout-3"/>
          <p:cNvGrpSpPr/>
          <p:nvPr/>
        </p:nvGrpSpPr>
        <p:grpSpPr>
          <a:xfrm>
            <a:off x="6464618" y="4842510"/>
            <a:ext cx="5193982" cy="1468755"/>
            <a:chOff x="6464618" y="4842510"/>
            <a:chExt cx="5193982" cy="1468755"/>
          </a:xfrm>
        </p:grpSpPr>
        <p:sp>
          <p:nvSpPr>
            <p:cNvPr id="38" name="Rectangle 38"/>
            <p:cNvSpPr/>
            <p:nvPr/>
          </p:nvSpPr>
          <p:spPr>
            <a:xfrm>
              <a:off x="6464618" y="4842510"/>
              <a:ext cx="5193982" cy="1468755"/>
            </a:xfrm>
            <a:prstGeom prst="roundRect">
              <a:avLst>
                <a:gd name="adj" fmla="val 778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69405" y="5476875"/>
              <a:ext cx="200026" cy="200025"/>
              <a:chOff x="6669405" y="5476875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669405" y="54768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09144" y="55213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43859" y="56324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972110" y="5233988"/>
              <a:ext cx="42999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只想做实验不留文件，URL 写成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jdbc:derby:memory:helloDB;create=true，数据库建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在内存里，程序结束就没了。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691262" cy="909257"/>
            <a:chOff x="520446" y="342900"/>
            <a:chExt cx="106912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8603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74" y="407194"/>
              <a:ext cx="2502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JDBC 编程步骤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6912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改进写法：try-with-resources 与 PreparedStatement（补充）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499485"/>
            <a:chOff x="533400" y="1524000"/>
            <a:chExt cx="6276022" cy="3499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499485"/>
            </a:xfrm>
            <a:prstGeom prst="roundRect">
              <a:avLst>
                <a:gd name="adj" fmla="val 27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4705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HelloDB2.java（JDK 21 + Derby 实测）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5107178" cy="30032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java.sql.*;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HelloDB2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SQLException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url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"jdbc:derby:memory:helloDB;create=true"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(Connection conn = DriverManager.getConnection(url);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Statement s = conn.createStatement())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s.executeUpdate(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"create table hellotable(name varchar(40), score int)"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String sql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"insert into hellotable values(?, ?)"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? 是占位符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(PreparedStatement ps = conn.prepareStatement(sql))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ps.setString(1,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"Ruth Cao"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 ps.setInt(2, 86);  ps.executeUpdate();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ps.setString(1,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"Flora Shi"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ps.setInt(2, 92);  ps.executeUpdate();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(ResultSet rs = s.executeQuery(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"select name, score from hellotable where score &gt; 90"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(rs.next())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System.out.println(rs.getString(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"name"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+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"\t"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rs.getInt(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"score"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离开 try 时依次关闭 rs、ps、s、conn，出异常也会关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5188268"/>
            <a:ext cx="6276022" cy="660082"/>
            <a:chOff x="533400" y="5188268"/>
            <a:chExt cx="6276022" cy="660082"/>
          </a:xfrm>
        </p:grpSpPr>
        <p:sp>
          <p:nvSpPr>
            <p:cNvPr id="11" name="Rectangle 11"/>
            <p:cNvSpPr/>
            <p:nvPr/>
          </p:nvSpPr>
          <p:spPr>
            <a:xfrm>
              <a:off x="533400" y="5188268"/>
              <a:ext cx="6276022" cy="660082"/>
            </a:xfrm>
            <a:prstGeom prst="roundRect">
              <a:avLst>
                <a:gd name="adj" fmla="val 144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53401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5599271"/>
              <a:ext cx="8715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Flora Shi   92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7114222" y="1524000"/>
            <a:ext cx="4544378" cy="1930718"/>
            <a:chOff x="7114222" y="1524000"/>
            <a:chExt cx="4544378" cy="1930718"/>
          </a:xfrm>
        </p:grpSpPr>
        <p:sp>
          <p:nvSpPr>
            <p:cNvPr id="15" name="Rectangle 15"/>
            <p:cNvSpPr/>
            <p:nvPr/>
          </p:nvSpPr>
          <p:spPr>
            <a:xfrm>
              <a:off x="7114222" y="1524000"/>
              <a:ext cx="4544378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3748" y="1657350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33298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2501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99273" y="1744504"/>
              <a:ext cx="1515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拼接 SQL 会被注入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26820" y="2061686"/>
              <a:ext cx="38331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用户在姓名框输入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x' or '1'='1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，拼成 where name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'x' or '1'='1'，条件恒真，Statement 返回了全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 5 行。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26820" y="2832259"/>
              <a:ext cx="3938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同样的输入交给 PreparedStatement 的 setString，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整串被当成一个姓名，查到 0 行。</a:t>
              </a:r>
            </a:p>
          </p:txBody>
        </p:sp>
      </p:grpSp>
      <p:grpSp>
        <p:nvGrpSpPr>
          <p:cNvPr id="28" name="c2-kv-2"/>
          <p:cNvGrpSpPr/>
          <p:nvPr/>
        </p:nvGrpSpPr>
        <p:grpSpPr>
          <a:xfrm>
            <a:off x="7107746" y="3640931"/>
            <a:ext cx="4550854" cy="1822895"/>
            <a:chOff x="7107746" y="3640931"/>
            <a:chExt cx="4550854" cy="1822895"/>
          </a:xfrm>
        </p:grpSpPr>
        <p:sp>
          <p:nvSpPr>
            <p:cNvPr id="23" name="TextBox 23"/>
            <p:cNvSpPr txBox="1"/>
            <p:nvPr/>
          </p:nvSpPr>
          <p:spPr>
            <a:xfrm>
              <a:off x="7107746" y="3640931"/>
              <a:ext cx="17523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PreparedStatement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06090" y="3640931"/>
              <a:ext cx="2329434" cy="969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conn.prepareStatement(sql)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创建；? 占位，setXxx(序号,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值) 填值，序号从 1 起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114222" y="463200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07746" y="4734401"/>
              <a:ext cx="17951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try-with-resources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06090" y="4734401"/>
              <a:ext cx="2313178" cy="729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7 起可用；Connection、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Statement、ResultSet 都实现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 AutoCloseable</a:t>
              </a:r>
            </a:p>
          </p:txBody>
        </p:sp>
      </p:grpSp>
      <p:grpSp>
        <p:nvGrpSpPr>
          <p:cNvPr id="34" name="c2-callout-3"/>
          <p:cNvGrpSpPr/>
          <p:nvPr/>
        </p:nvGrpSpPr>
        <p:grpSpPr>
          <a:xfrm>
            <a:off x="7114222" y="5576888"/>
            <a:ext cx="4544378" cy="702945"/>
            <a:chOff x="7114222" y="5576888"/>
            <a:chExt cx="4544378" cy="702945"/>
          </a:xfrm>
        </p:grpSpPr>
        <p:sp>
          <p:nvSpPr>
            <p:cNvPr id="29" name="Rectangle 29"/>
            <p:cNvSpPr/>
            <p:nvPr/>
          </p:nvSpPr>
          <p:spPr>
            <a:xfrm>
              <a:off x="7114222" y="5576888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19010" y="5828350"/>
              <a:ext cx="200023" cy="200023"/>
              <a:chOff x="7319010" y="582835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19010" y="58283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452360" y="58950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622096" y="5722144"/>
              <a:ext cx="31910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SQL 里的值来自用户输入时，一律用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PreparedStatement，不要自己拼字符串。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77752" cy="2997517"/>
            <a:chOff x="667512" y="1835468"/>
            <a:chExt cx="487775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20788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对象关系映射 ORM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457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把表映射成类，把查询结果直接变成 Java 对象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6384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 JDBC 时，每一列都要自己 getXxx 再装进对象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343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ORM 框架按映射信息自动完成这一步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4140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Hibernate 是最有代表性的 ORM 框架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42423" cy="909257"/>
            <a:chOff x="520446" y="342900"/>
            <a:chExt cx="66424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242" y="407194"/>
              <a:ext cx="2768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对象关系映射 ORM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424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ORM：表对应类，行对应对象，列对应属性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906905"/>
            <a:chOff x="533400" y="1524000"/>
            <a:chExt cx="5410200" cy="1906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42792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对象关系映射（Object Relational Mapping）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解决面向对象程序与关系数据库「互不匹配」的技术：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用描述对象和表之间映射的元数据，把程序里的对象自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动持久化到关系数据库。说得直白些，就是把数据库中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的表映射成类，把查询结果赋给 Java 对象。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33400" y="3621405"/>
            <a:ext cx="5410200" cy="2244091"/>
            <a:chOff x="533400" y="3621405"/>
            <a:chExt cx="5410200" cy="2244091"/>
          </a:xfrm>
        </p:grpSpPr>
        <p:sp>
          <p:nvSpPr>
            <p:cNvPr id="14" name="Rectangle 14"/>
            <p:cNvSpPr/>
            <p:nvPr/>
          </p:nvSpPr>
          <p:spPr>
            <a:xfrm>
              <a:off x="533400" y="3621405"/>
              <a:ext cx="5410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48689" y="37571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关系数据库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2897" y="3757136"/>
              <a:ext cx="816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程序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" y="4205764"/>
              <a:ext cx="10989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 hellotable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46323" y="4205764"/>
              <a:ext cx="9061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 Student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5138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51866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6543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一行记录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248025" y="4528185"/>
              <a:ext cx="268605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46323" y="4654391"/>
              <a:ext cx="14752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Student 对象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9634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5103019"/>
              <a:ext cx="1343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 name、score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46323" y="5103019"/>
              <a:ext cx="14690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 name、score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121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541686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5551646"/>
              <a:ext cx="963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 一行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46323" y="55516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保存一个对象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621405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233738" y="362140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2-code-1"/>
          <p:cNvGrpSpPr/>
          <p:nvPr/>
        </p:nvGrpSpPr>
        <p:grpSpPr>
          <a:xfrm>
            <a:off x="6248400" y="1524000"/>
            <a:ext cx="5410200" cy="1912620"/>
            <a:chOff x="6248400" y="1524000"/>
            <a:chExt cx="5410200" cy="1912620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76797" y="1675924"/>
              <a:ext cx="2955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不用 ORM：自己一列列装进对象（JDK 21 实测）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76797" y="1935956"/>
              <a:ext cx="4938522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record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Student(String name,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score) {}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List&lt;Student&gt; list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ResultSet rs = s.executeQuery(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"select name, score from hellotable"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(rs.next())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list.add(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Student(rs.getString(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"name"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), rs.getInt(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"score"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System.out.println(list);</a:t>
              </a:r>
              <a:br/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[Student[name=Ruth Cao, score=86], Student[name=Flora Shi, score=92]]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3627120"/>
            <a:ext cx="5410200" cy="2238375"/>
            <a:chOff x="6248400" y="3627120"/>
            <a:chExt cx="5410200" cy="2238375"/>
          </a:xfrm>
        </p:grpSpPr>
        <p:sp>
          <p:nvSpPr>
            <p:cNvPr id="38" name="Rectangle 38"/>
            <p:cNvSpPr/>
            <p:nvPr/>
          </p:nvSpPr>
          <p:spPr>
            <a:xfrm>
              <a:off x="6248400" y="3627120"/>
              <a:ext cx="5410200" cy="2238375"/>
            </a:xfrm>
            <a:prstGeom prst="roundRect">
              <a:avLst>
                <a:gd name="adj" fmla="val 59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3760470"/>
              <a:ext cx="47625" cy="19716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6050" y="3836670"/>
              <a:ext cx="9867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1021" y="3872389"/>
              <a:ext cx="8568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ORM 省掉的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89520" y="3871912"/>
              <a:ext cx="2667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这些循环和 getXxx 都不用写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4232910"/>
              <a:ext cx="4653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表多、列多时，手写映射代码又长又容易漏。ORM 框架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读映射配置（注解或 XML）后，查询直接返回对象列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表，保存对象时自动生成 insert 或 update 语句。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47057" cy="909257"/>
            <a:chOff x="520446" y="342900"/>
            <a:chExt cx="6047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242" y="407194"/>
              <a:ext cx="2768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 · 对象关系映射 ORM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47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流行的 ORM 框架与 Hibernate 的由来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842635" cy="3150870"/>
            <a:chOff x="533400" y="1524000"/>
            <a:chExt cx="5842635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6386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原课件列出的框架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446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1512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传统的 Entity EJB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78658" y="2108359"/>
              <a:ext cx="31097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EJB 3.0 起改由 JPA（Java 持久化 API）规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范取代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657475"/>
              <a:ext cx="231838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1223" y="2897029"/>
              <a:ext cx="868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Hibernate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78658" y="2783681"/>
              <a:ext cx="30365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至今最常用的 ORM 框架之一，同时是 JPA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的实现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319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572351"/>
              <a:ext cx="5482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IBATIS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78658" y="3459004"/>
              <a:ext cx="2370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2010 年停止维护，后续项目改名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MyBatis，国内用得很多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9947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999548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4247674"/>
              <a:ext cx="1550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的 TopLink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78658" y="4134326"/>
              <a:ext cx="24432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代码捐给 Eclipse 基金会，发展为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EclipseLink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84263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86607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2"/>
          <p:cNvGrpSpPr/>
          <p:nvPr/>
        </p:nvGrpSpPr>
        <p:grpSpPr>
          <a:xfrm>
            <a:off x="533400" y="4865370"/>
            <a:ext cx="5842635" cy="1335405"/>
            <a:chOff x="533400" y="4865370"/>
            <a:chExt cx="5842635" cy="1335405"/>
          </a:xfrm>
        </p:grpSpPr>
        <p:sp>
          <p:nvSpPr>
            <p:cNvPr id="27" name="Rectangle 27"/>
            <p:cNvSpPr/>
            <p:nvPr/>
          </p:nvSpPr>
          <p:spPr>
            <a:xfrm>
              <a:off x="533400" y="4865370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99872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" y="50749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1258" y="51106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2078" y="5110162"/>
              <a:ext cx="1786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J2EE 已经两次改名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3430" y="5471160"/>
              <a:ext cx="5177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35 页的 j2ee 后来改称 Java EE，移交 Eclipse 基金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会后又改名 Jakarta EE。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680835" y="1524000"/>
            <a:ext cx="4977765" cy="2192655"/>
            <a:chOff x="6680835" y="1524000"/>
            <a:chExt cx="4977765" cy="2192655"/>
          </a:xfrm>
        </p:grpSpPr>
        <p:sp>
          <p:nvSpPr>
            <p:cNvPr id="34" name="Rectangle 34"/>
            <p:cNvSpPr/>
            <p:nvPr/>
          </p:nvSpPr>
          <p:spPr>
            <a:xfrm>
              <a:off x="6680835" y="1524000"/>
              <a:ext cx="4977765" cy="2192655"/>
            </a:xfrm>
            <a:prstGeom prst="roundRect">
              <a:avLst>
                <a:gd name="adj" fmla="val 60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0360" y="1657350"/>
              <a:ext cx="47625" cy="19259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由来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9512" y="1768792"/>
              <a:ext cx="2368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Gavin King 与 Hibernate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0865" y="2129790"/>
              <a:ext cx="422529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2001 年 Gavin King 和 Cirrus Technologies 的同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事开始写 Hibernate。他说用 EJB 的 Entity Bean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 时觉得，大量时间花在处理 Entity Bean 的体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系架构上，没花在核心业务逻辑上，容器管理持久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化（CMP）的限制也太多。</a:t>
              </a:r>
            </a:p>
          </p:txBody>
        </p:sp>
      </p:grpSp>
      <p:grpSp>
        <p:nvGrpSpPr>
          <p:cNvPr id="48" name="c2-bullets-2"/>
          <p:cNvGrpSpPr/>
          <p:nvPr/>
        </p:nvGrpSpPr>
        <p:grpSpPr>
          <a:xfrm>
            <a:off x="6673215" y="3931920"/>
            <a:ext cx="4693920" cy="1623060"/>
            <a:chOff x="6673215" y="3931920"/>
            <a:chExt cx="4693920" cy="1623060"/>
          </a:xfrm>
        </p:grpSpPr>
        <p:sp>
          <p:nvSpPr>
            <p:cNvPr id="41" name="TextBox 41"/>
            <p:cNvSpPr txBox="1"/>
            <p:nvPr/>
          </p:nvSpPr>
          <p:spPr>
            <a:xfrm>
              <a:off x="6673215" y="3931920"/>
              <a:ext cx="23949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原课件第 35 页列出的特点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680835" y="4317682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32295" y="4286250"/>
              <a:ext cx="28338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可以用在任何使用 JDBC 的场合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680835" y="4662488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32295" y="4631055"/>
              <a:ext cx="4202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客户端程序、Servlet/JSP 的 Web 应用都能用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680835" y="5007292"/>
              <a:ext cx="144780" cy="117157"/>
            </a:xfrm>
            <a:custGeom>
              <a:avLst/>
              <a:gdLst/>
              <a:ahLst/>
              <a:cxnLst/>
              <a:rect l="l" t="t" r="r" b="b"/>
              <a:pathLst>
                <a:path w="144780" h="117157">
                  <a:moveTo>
                    <a:pt x="0" y="61912"/>
                  </a:moveTo>
                  <a:lnTo>
                    <a:pt x="55245" y="117157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32295" y="4975860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在使用 EJB 的 J2EE 框架中可以取代 CMP，完成数据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持久化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012823" cy="264033"/>
            <a:chOff x="526542" y="1545907"/>
            <a:chExt cx="201282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257425"/>
            <a:chOff x="533400" y="1928812"/>
            <a:chExt cx="3505200" cy="22574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296179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命令分哪四类？commit 属于哪一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016568"/>
              <a:ext cx="297122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 DQL、操纵 DML、定义 DDL、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 DCL。原课件把 commit、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rollback 归入控制语言，也有教材单列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为事务控制 TCL。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355782"/>
            <a:ext cx="3505200" cy="2000250"/>
            <a:chOff x="533400" y="4355782"/>
            <a:chExt cx="3505200" cy="2000250"/>
          </a:xfrm>
        </p:grpSpPr>
        <p:sp>
          <p:nvSpPr>
            <p:cNvPr id="15" name="Rectangle 15"/>
            <p:cNvSpPr/>
            <p:nvPr/>
          </p:nvSpPr>
          <p:spPr>
            <a:xfrm>
              <a:off x="53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887278"/>
              <a:ext cx="26981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DriverManager、Connection、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Statement、ResultSet 中哪个是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类？其余由谁实现？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5701665"/>
              <a:ext cx="29969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DriverManager 是类；另外三个是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接口，由驱动厂商实现。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743075"/>
            <a:chOff x="4343400" y="1928812"/>
            <a:chExt cx="3505200" cy="174307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3351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的两层接口各面向谁？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2759392"/>
              <a:ext cx="285121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API 面向写应用的程序员；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Driver API 面向驱动开发者，由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驱动实现。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3841432"/>
            <a:ext cx="3505200" cy="2514600"/>
            <a:chOff x="4343400" y="3841432"/>
            <a:chExt cx="3505200" cy="2514600"/>
          </a:xfrm>
        </p:grpSpPr>
        <p:sp>
          <p:nvSpPr>
            <p:cNvPr id="27" name="Rectangle 27"/>
            <p:cNvSpPr/>
            <p:nvPr/>
          </p:nvSpPr>
          <p:spPr>
            <a:xfrm>
              <a:off x="4343400" y="3841432"/>
              <a:ext cx="3505200" cy="2514600"/>
            </a:xfrm>
            <a:prstGeom prst="roundRect">
              <a:avLst>
                <a:gd name="adj" fmla="val 53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02812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06098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372928"/>
              <a:ext cx="29712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新建的 ResultSet，游标停在哪？默认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结果集能调 previous() 吗？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4930140"/>
              <a:ext cx="290264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停在第一行之前，要先 next()。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默认是只进结果集，调 previous() 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SQLException，要可滚动结果集才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000250"/>
            <a:chOff x="8153400" y="1928812"/>
            <a:chExt cx="35052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291807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四类驱动中哪两类是纯 Java 的？现在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主流用哪一类？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016568"/>
              <a:ext cx="29883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 3（JDBC-Net）和类型 4（本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地协议）是纯 Java；主流是类型 4，客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户机直连数据库。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98608"/>
            <a:ext cx="3505200" cy="2257425"/>
            <a:chOff x="8153400" y="4098608"/>
            <a:chExt cx="3505200" cy="22574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630102"/>
              <a:ext cx="27569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为什么查询条件来自用户输入时要用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PreparedStatement？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187315"/>
              <a:ext cx="290264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拼接字符串会被注入，如输入 x'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 '1'='1 使条件恒真；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PreparedStatement 把输入当作一个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值，不会改变 SQL 结构。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20821" cy="909257"/>
            <a:chOff x="520446" y="342900"/>
            <a:chExt cx="46208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20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自测（二）：写 SQL、读程序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83142"/>
            <a:chOff x="533400" y="1524000"/>
            <a:chExt cx="3505200" cy="22831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8353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用第 9 页的 students 表，写出按生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日从晚到早列出所有女同学姓名的语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889885"/>
              <a:ext cx="293693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 name from students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where sex = '女' order by birthday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desc（结果只有钱二）。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82402"/>
            <a:ext cx="3505200" cy="2025968"/>
            <a:chOff x="533400" y="3982402"/>
            <a:chExt cx="3505200" cy="2025968"/>
          </a:xfrm>
        </p:grpSpPr>
        <p:sp>
          <p:nvSpPr>
            <p:cNvPr id="13" name="Rectangle 13"/>
            <p:cNvSpPr/>
            <p:nvPr/>
          </p:nvSpPr>
          <p:spPr>
            <a:xfrm>
              <a:off x="533400" y="3982402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531995"/>
              <a:ext cx="284092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execute("select * from t") 返回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什么？怎样拿到结果？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5091112"/>
              <a:ext cx="28426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true，表示结果是结果集；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再调 getResultSet() 取得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ResultSet。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83142"/>
            <a:chOff x="4343400" y="1524000"/>
            <a:chExt cx="3505200" cy="228314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921079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 department, count(*)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from students order by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department group by department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能执行吗？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3147060"/>
              <a:ext cx="30055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不能，语法错误。group by 要写在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 by 前面。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82402"/>
            <a:ext cx="3505200" cy="2025968"/>
            <a:chOff x="4343400" y="3982402"/>
            <a:chExt cx="3505200" cy="2025968"/>
          </a:xfrm>
        </p:grpSpPr>
        <p:sp>
          <p:nvSpPr>
            <p:cNvPr id="25" name="Rectangle 25"/>
            <p:cNvSpPr/>
            <p:nvPr/>
          </p:nvSpPr>
          <p:spPr>
            <a:xfrm>
              <a:off x="4343400" y="3982402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531995"/>
              <a:ext cx="28872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HelloJavaDB 缺了 Derby 的 jar 就运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行，输出什么？为什么？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5091112"/>
              <a:ext cx="26111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只输出 SimpleApp finished。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ClassNotFoundException 被空的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(Throwable) 吞掉了。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025968"/>
            <a:chOff x="8153400" y="1524000"/>
            <a:chExt cx="3505200" cy="2025968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939082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对第 9 页的 students 表执行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executeUpdate("update students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 sex = '男'")，返回几？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889885"/>
              <a:ext cx="29197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4。没有 where，全表 4 行都被更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新，已经是男的行也算在内。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725228"/>
            <a:ext cx="3505200" cy="2283142"/>
            <a:chOff x="8153400" y="3725228"/>
            <a:chExt cx="3505200" cy="2283142"/>
          </a:xfrm>
        </p:grpSpPr>
        <p:sp>
          <p:nvSpPr>
            <p:cNvPr id="37" name="Rectangle 37"/>
            <p:cNvSpPr/>
            <p:nvPr/>
          </p:nvSpPr>
          <p:spPr>
            <a:xfrm>
              <a:off x="8153400" y="3725228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274820"/>
              <a:ext cx="299308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Derby 执行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getConnection("jdbc:derby:;shut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down=true") 成功时会怎样？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5091112"/>
              <a:ext cx="29112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抛出 SQLState 为 XJ015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SQLException，这是 Derby 表示关闭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成功的约定。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84566" cy="909257"/>
            <a:chOff x="520446" y="342900"/>
            <a:chExt cx="1484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第10章 数据库应用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6923" y="1545431"/>
            <a:ext cx="5190363" cy="2643950"/>
            <a:chOff x="526923" y="1545431"/>
            <a:chExt cx="5190363" cy="2643950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四部分各自的落点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3546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5307" y="18701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3148" y="1846421"/>
              <a:ext cx="45321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关系数据库把数据存成二维表；SQL 用 create/drop 建删表，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 查询（子句顺序 where、group by、order by），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insert/update/delete 增改删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613660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5307" y="26492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3148" y="2625566"/>
              <a:ext cx="48653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是 java.sql 里的一套统一接口，分 JDBC API 和 Driver API 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层，驱动有四类，现在主流是纯 Java 的类型 4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4991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5307" y="31855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3148" y="3160871"/>
              <a:ext cx="48409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DriverManager 建连接，Connection 生成 Statement 并管事务，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Statement 执行 SQL，ResultSet 用游标逐行读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86175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307" y="37208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148" y="3697129"/>
              <a:ext cx="49141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ORM 把表映射成类、行映射成对象，Hibernate、MyBatis 是常用框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304348"/>
            <a:ext cx="5410200" cy="1644968"/>
            <a:chOff x="533400" y="4304348"/>
            <a:chExt cx="5410200" cy="1644968"/>
          </a:xfrm>
        </p:grpSpPr>
        <p:sp>
          <p:nvSpPr>
            <p:cNvPr id="21" name="Rectangle 21"/>
            <p:cNvSpPr/>
            <p:nvPr/>
          </p:nvSpPr>
          <p:spPr>
            <a:xfrm>
              <a:off x="533400" y="4304348"/>
              <a:ext cx="5410200" cy="1644968"/>
            </a:xfrm>
            <a:prstGeom prst="roundRect">
              <a:avLst>
                <a:gd name="adj" fmla="val 81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437698"/>
              <a:ext cx="47625" cy="137826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48532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044" y="451818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复习顺序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68006" y="452485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先背八步，再逐行对照示例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4841081"/>
              <a:ext cx="47840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导入、加载、URL、连接、语句、执行、处理、关闭。拿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HelloJavaDB 对照每一步在哪一行，再看改进版 HelloDB2 省掉了哪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些、加了哪些。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248400" y="1524000"/>
            <a:ext cx="5410200" cy="2856548"/>
            <a:chOff x="6248400" y="1524000"/>
            <a:chExt cx="5410200" cy="2856548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21665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易混点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974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43079" y="2023110"/>
              <a:ext cx="1138142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executeQuery 与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executeUpdate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23376" y="2023110"/>
              <a:ext cx="263099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前者用于 select 返回结果集，后者返回影响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行数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24736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3079" y="25908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游标初始位置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638222" y="2483168"/>
              <a:ext cx="301085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23376" y="2590800"/>
              <a:ext cx="2206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第一行之前，先 next() 再 getXxx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3079" y="29718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列号从几开始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23376" y="2971800"/>
              <a:ext cx="1458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1，getString(0) 报错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3236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3079" y="3353752"/>
              <a:ext cx="18443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update/delete 不写 where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23376" y="3353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作用于全表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612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3734752"/>
              <a:ext cx="10736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DriverManager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23376" y="3734752"/>
              <a:ext cx="2860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是类不是接口；setCatalog 属于 Connection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3993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3998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3079" y="4116705"/>
              <a:ext cx="1033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Derby 关闭成功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23376" y="4116705"/>
              <a:ext cx="17802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 XJ015 的 SQLException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1524000"/>
              <a:ext cx="5410200" cy="2856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623935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6248400" y="4545330"/>
            <a:ext cx="5410200" cy="1403032"/>
            <a:chOff x="6248400" y="4545330"/>
            <a:chExt cx="5410200" cy="1403032"/>
          </a:xfrm>
        </p:grpSpPr>
        <p:sp>
          <p:nvSpPr>
            <p:cNvPr id="55" name="Rectangle 55"/>
            <p:cNvSpPr/>
            <p:nvPr/>
          </p:nvSpPr>
          <p:spPr>
            <a:xfrm>
              <a:off x="6248400" y="454533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467868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67475" y="472630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52044" y="47591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版本差异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83006" y="4765834"/>
              <a:ext cx="1572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JDK 21 实测订正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0998" y="5082064"/>
              <a:ext cx="47759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4.0（Java 6）起驱动自动加载；JDBC-ODBC 桥 Java 8 起移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除；Java DB 只随 JDK 6～8 附带；Class.newInstance() Java 9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起弃用；MySQL 驱动类现为 com.mysql.cj.jdbc.Driver。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091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第10章 数据库应用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ava_ch10">
  <a:themeElements>
    <a:clrScheme name="java_ch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ava_ch1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va_ch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2026-09-23T10:03:32Z</dcterms:created>
  <dcterms:modified xsi:type="dcterms:W3CDTF">2026-09-23T10:03:32Z</dcterms:modified>
  <cp:category/>
  <cp:contentStatus/>
</cp:coreProperties>
</file>