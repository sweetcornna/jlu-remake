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e97d9210d1ee30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c4a5c4021efd196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edffd91df982aa6.png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4077843"/>
            <a:chOff x="666750" y="1619250"/>
            <a:chExt cx="5116830" cy="407784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81188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740" y="1718310"/>
              <a:ext cx="164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第3章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832032" cy="14592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类与对象 Class and</a:t>
              </a:r>
              <a:br/>
              <a:r>
                <a:rPr lang="en-US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78714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410718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类怎么写、对象怎么来、包怎么组织、库怎么用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461676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456152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面向对象的基本概念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90728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852035"/>
              <a:ext cx="1717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类与 Java 对象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519779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51425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包与命名空间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548830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543306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标准类库常用类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82814" cy="205359"/>
            <a:chOff x="680466" y="6192202"/>
            <a:chExt cx="438281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8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自学复习版｜据吉林大学《Java程序设计》第3章课件整理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364942" cy="3689317"/>
            <a:chOff x="521970" y="1515428"/>
            <a:chExt cx="6364942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面向对象概要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面向过程与面向对象的差别，封装、继承、多态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29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 Java 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819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类的定义、变量成员与方法成员、static、访问控制符、构造方法、finalize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1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Java 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对象的创建与使用、内存分配、引用、初始化与初始化次序、垃圾回收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82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包：库单元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786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命名空间、package 语句、编译单元、import 语句与名字冲突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957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 Java 标准类库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73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常用包、Object、System、Math、String 与 StringBuilder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7114222" y="1524000"/>
            <a:ext cx="4544378" cy="4421505"/>
            <a:chOff x="7114222" y="1524000"/>
            <a:chExt cx="4544378" cy="442150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421505"/>
            </a:xfrm>
            <a:prstGeom prst="roundRect">
              <a:avLst>
                <a:gd name="adj" fmla="val 3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415480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照着语法格式写出一个含变量成员、方法成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员和构造方法的类，并用对象调用它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判断一处访问在四种访问权限下能否通过编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译，说得出理由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说出类变量与实例变量、类方法与实例方法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在存储和访问上的区别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给出一段含成员初始化和构造方法的程序的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完整输出顺序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package 与 import 语句，判断一个同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名类引用是否真的冲突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527875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521589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String、StringBuilder、Math、Object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的常用方法写出正确结果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882896" cy="2643187"/>
            <a:chOff x="667512" y="1835468"/>
            <a:chExt cx="4882896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面向对象程序设计概要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先弄清对象、类、消息这三个词各指什么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面向过程按步骤拆，面向对象按角色拆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封装、继承、多态是三块基石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面向对象程序设计概要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同一个下棋程序，两种拆法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面向过程拆出的是「先做什么再做什么」，面向对象拆出的是「场上有哪几类东西」。</a:t>
              </a:r>
            </a:p>
          </p:txBody>
        </p:sp>
      </p:grpSp>
      <p:grpSp>
        <p:nvGrpSpPr>
          <p:cNvPr id="42" name="c1-table-1"/>
          <p:cNvGrpSpPr/>
          <p:nvPr/>
        </p:nvGrpSpPr>
        <p:grpSpPr>
          <a:xfrm>
            <a:off x="528447" y="1928812"/>
            <a:ext cx="5631371" cy="3696367"/>
            <a:chOff x="528447" y="1928812"/>
            <a:chExt cx="5631371" cy="369636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55026" y="204597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面向过程：拆成步骤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67759" y="204597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面向对象：拆成角色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426970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开始游戏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54158" y="2426970"/>
              <a:ext cx="1293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Player：落子、认输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87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91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808923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黑子先走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54158" y="2808923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棋盘系统：记录棋局、绘制画面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68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8078" y="3189923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绘制画面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4158" y="3189923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规则系统：判断输赢、决定轮到谁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49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453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571875"/>
              <a:ext cx="1535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判断输赢，赢则跳到 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54158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30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952875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轮到白子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4158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19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21671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4333875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绘制画面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4158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5939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4715828"/>
              <a:ext cx="18178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判断输赢，未分胜负跳到 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54158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9749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97967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5096828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输出结果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54158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928812"/>
              <a:ext cx="5626418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454718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8447" y="5434489"/>
              <a:ext cx="42315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步骤列里黑子、白子的动作几乎完全重复；角色列里落子这件事只写一次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464618" y="1928812"/>
            <a:ext cx="5193982" cy="2258378"/>
            <a:chOff x="6464618" y="1928812"/>
            <a:chExt cx="5193982" cy="2258378"/>
          </a:xfrm>
        </p:grpSpPr>
        <p:sp>
          <p:nvSpPr>
            <p:cNvPr id="43" name="Rectangle 43"/>
            <p:cNvSpPr/>
            <p:nvPr/>
          </p:nvSpPr>
          <p:spPr>
            <a:xfrm>
              <a:off x="6464618" y="1928812"/>
              <a:ext cx="5193982" cy="2258378"/>
            </a:xfrm>
            <a:prstGeom prst="roundRect">
              <a:avLst>
                <a:gd name="adj" fmla="val 5905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45592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111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差别在哪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61123" y="21493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改需求的时候就看出来了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39116" y="246554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改成五子棋：步骤写法要改判断输赢的那几步；角色写法只改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则系统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55118" y="30460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10566" y="299418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面向过程把数据和处理它的函数分开，面向对象把两者封装在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一起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55118" y="357378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10566" y="352186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化大程序为小程序，一类一职责，改起来好定位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55118" y="385953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10566" y="380666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类能被别的程序直接拿去用，不必重复开发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464618" y="4351972"/>
            <a:ext cx="5193982" cy="1235392"/>
            <a:chOff x="6464618" y="4351972"/>
            <a:chExt cx="5193982" cy="1235392"/>
          </a:xfrm>
        </p:grpSpPr>
        <p:sp>
          <p:nvSpPr>
            <p:cNvPr id="55" name="Rectangle 55"/>
            <p:cNvSpPr/>
            <p:nvPr/>
          </p:nvSpPr>
          <p:spPr>
            <a:xfrm>
              <a:off x="6464618" y="4351972"/>
              <a:ext cx="5193982" cy="1235392"/>
            </a:xfrm>
            <a:prstGeom prst="roundRect">
              <a:avLst>
                <a:gd name="adj" fmla="val 107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4485322"/>
              <a:ext cx="47625" cy="9686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83692" y="453294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49910" y="456580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拿到需求怎么找出类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77216" y="487251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挑名词当候选类，挑动词当方法。棋盘、棋子、玩家、规则适合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做类，颜色、坐标、步数更像属性。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1" name="Rectangle 6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1273" y="6039326"/>
              <a:ext cx="57251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面向对象不是取代循环和判断，类的方法体里写的仍然是第 2 章那些语句。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面向对象程序设计概要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面向对象的三大特性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原课件这一页把三个英文词留空，这里补全并各配一句话和一个例子。</a:t>
              </a:r>
            </a:p>
          </p:txBody>
        </p:sp>
      </p:grpSp>
      <p:grpSp>
        <p:nvGrpSpPr>
          <p:cNvPr id="36" name="c1-table-1"/>
          <p:cNvGrpSpPr/>
          <p:nvPr/>
        </p:nvGrpSpPr>
        <p:grpSpPr>
          <a:xfrm>
            <a:off x="533400" y="1928812"/>
            <a:ext cx="11125200" cy="1712595"/>
            <a:chOff x="533400" y="1928812"/>
            <a:chExt cx="11125200" cy="171259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441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3464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4873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一句话解释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89758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本课程里的例子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42925" y="2319338"/>
              <a:ext cx="131635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8078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63483" y="2426970"/>
              <a:ext cx="954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Encapsulation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8524" y="242697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把数据和操作数据的方法包在一个类里，只留必要的接口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15718" y="2426970"/>
              <a:ext cx="31628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SoftwareNumber 把 serialNumber 设为 private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87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691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2701290"/>
              <a:ext cx="131635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2808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3483" y="2808923"/>
              <a:ext cx="79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Inheritance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8524" y="2808923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子类自动获得父类的成员，只写新增和修改的部分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15718" y="2808923"/>
              <a:ext cx="31448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任何类都隐式继承 Object，因此都有 toString()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068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082290"/>
              <a:ext cx="1316355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2832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63483" y="3283268"/>
              <a:ext cx="9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Polymorphism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88524" y="328326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同一个调用作用在不同类型的对象上，行为不同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5718" y="3189923"/>
              <a:ext cx="291103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 obj 引用不同对象，obj.toString() 结果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928812"/>
              <a:ext cx="11125200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64042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89082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16278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ode-2"/>
          <p:cNvGrpSpPr/>
          <p:nvPr/>
        </p:nvGrpSpPr>
        <p:grpSpPr>
          <a:xfrm>
            <a:off x="533400" y="3805238"/>
            <a:ext cx="11125200" cy="1737360"/>
            <a:chOff x="533400" y="3805238"/>
            <a:chExt cx="11125200" cy="1737360"/>
          </a:xfrm>
        </p:grpSpPr>
        <p:sp>
          <p:nvSpPr>
            <p:cNvPr id="37" name="Rectangle 37"/>
            <p:cNvSpPr/>
            <p:nvPr/>
          </p:nvSpPr>
          <p:spPr>
            <a:xfrm>
              <a:off x="533400" y="3805238"/>
              <a:ext cx="11125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1797" y="3957161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封装的最小例子：数据藏起来，只留规则化的入口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1797" y="4218146"/>
              <a:ext cx="4316222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Account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balance;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外面看不到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getBalance()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balance;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deposit(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amount) {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只能按规则改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(amount &gt; 0) balance += amount;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7" name="c1-callout-3"/>
          <p:cNvGrpSpPr/>
          <p:nvPr/>
        </p:nvGrpSpPr>
        <p:grpSpPr>
          <a:xfrm>
            <a:off x="533400" y="5707380"/>
            <a:ext cx="11125200" cy="655320"/>
            <a:chOff x="533400" y="5707380"/>
            <a:chExt cx="11125200" cy="655320"/>
          </a:xfrm>
        </p:grpSpPr>
        <p:sp>
          <p:nvSpPr>
            <p:cNvPr id="41" name="Rectangle 41"/>
            <p:cNvSpPr/>
            <p:nvPr/>
          </p:nvSpPr>
          <p:spPr>
            <a:xfrm>
              <a:off x="533400" y="5707380"/>
              <a:ext cx="11125200" cy="655320"/>
            </a:xfrm>
            <a:prstGeom prst="roundRect">
              <a:avLst>
                <a:gd name="adj" fmla="val 1744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935028"/>
              <a:ext cx="200026" cy="200025"/>
              <a:chOff x="738188" y="5935028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350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9794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60906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5945981"/>
              <a:ext cx="7773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本章只把封装讲透，继承与多态是第 4 章的内容；但 Object 类已经用到了继承，这一章先建立印象。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面向对象程序设计概要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封装：对象、类和消息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923" y="1545431"/>
            <a:ext cx="4984242" cy="1476184"/>
            <a:chOff x="526923" y="1545431"/>
            <a:chExt cx="4984242" cy="147618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3663" y="1545431"/>
              <a:ext cx="40769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变量和相关方法的集合。封装带来模块化和信息隐藏，程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序更好移植也更安全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5644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21588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3663" y="2158841"/>
              <a:ext cx="40769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若干对象共有的部分。类里写清所有对象共有的内容，实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例化就生成对象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7081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7722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消息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3663" y="277225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对象之间的交互方式。一条消息包含三样东西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26923" y="3157061"/>
            <a:ext cx="2942272" cy="1011650"/>
            <a:chOff x="526923" y="3157061"/>
            <a:chExt cx="2942272" cy="1011650"/>
          </a:xfrm>
        </p:grpSpPr>
        <p:sp>
          <p:nvSpPr>
            <p:cNvPr id="16" name="TextBox 16"/>
            <p:cNvSpPr txBox="1"/>
            <p:nvPr/>
          </p:nvSpPr>
          <p:spPr>
            <a:xfrm>
              <a:off x="526923" y="315706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一条消息包含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446145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5334" y="347495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858" y="345471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消息的接收者（哪个对象）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700462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5334" y="372927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858" y="3709035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接收对象应采用的应对方法（调哪个方法）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3954780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5334" y="398359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858" y="39633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方法所需要的参数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291965"/>
            <a:ext cx="4977765" cy="1386840"/>
            <a:chOff x="533400" y="4291965"/>
            <a:chExt cx="4977765" cy="1386840"/>
          </a:xfrm>
        </p:grpSpPr>
        <p:sp>
          <p:nvSpPr>
            <p:cNvPr id="27" name="Rectangle 27"/>
            <p:cNvSpPr/>
            <p:nvPr/>
          </p:nvSpPr>
          <p:spPr>
            <a:xfrm>
              <a:off x="533400" y="4291965"/>
              <a:ext cx="497776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42531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47294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4642" y="450580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图里的「抽象」指什么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813459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把一批对象的共同点提取出来写成类，丢掉各自不同的细节。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棋子有黑有白、位置各不相同，但都有颜色和坐标、都能落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子，于是写成一个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Piece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类。</a:t>
              </a:r>
            </a:p>
          </p:txBody>
        </p:sp>
      </p:grpSp>
      <p:grpSp>
        <p:nvGrpSpPr>
          <p:cNvPr id="54" name="c2-graph-1"/>
          <p:cNvGrpSpPr/>
          <p:nvPr/>
        </p:nvGrpSpPr>
        <p:grpSpPr>
          <a:xfrm>
            <a:off x="6376988" y="2037398"/>
            <a:ext cx="4720590" cy="2712719"/>
            <a:chOff x="6376988" y="2037398"/>
            <a:chExt cx="4720590" cy="2712719"/>
          </a:xfrm>
        </p:grpSpPr>
        <p:sp>
          <p:nvSpPr>
            <p:cNvPr id="33" name="Freeform 33"/>
            <p:cNvSpPr/>
            <p:nvPr/>
          </p:nvSpPr>
          <p:spPr>
            <a:xfrm>
              <a:off x="7686675" y="4515802"/>
              <a:ext cx="2101215" cy="9525"/>
            </a:xfrm>
            <a:custGeom>
              <a:avLst/>
              <a:gdLst/>
              <a:ahLst/>
              <a:cxnLst/>
              <a:rect l="l" t="t" r="r" b="b"/>
              <a:pathLst>
                <a:path w="2101215" h="9525">
                  <a:moveTo>
                    <a:pt x="0" y="0"/>
                  </a:moveTo>
                  <a:lnTo>
                    <a:pt x="21012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787890" y="44681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591425" y="44681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167562" y="2582228"/>
              <a:ext cx="1327785" cy="1698307"/>
            </a:xfrm>
            <a:custGeom>
              <a:avLst/>
              <a:gdLst/>
              <a:ahLst/>
              <a:cxnLst/>
              <a:rect l="l" t="t" r="r" b="b"/>
              <a:pathLst>
                <a:path w="1327785" h="1698307">
                  <a:moveTo>
                    <a:pt x="0" y="1698307"/>
                  </a:moveTo>
                  <a:lnTo>
                    <a:pt x="13277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8457248" y="2506980"/>
              <a:ext cx="96203" cy="103823"/>
            </a:xfrm>
            <a:custGeom>
              <a:avLst/>
              <a:gdLst/>
              <a:ahLst/>
              <a:cxnLst/>
              <a:rect l="l" t="t" r="r" b="b"/>
              <a:pathLst>
                <a:path w="96203" h="103823">
                  <a:moveTo>
                    <a:pt x="96203" y="0"/>
                  </a:moveTo>
                  <a:lnTo>
                    <a:pt x="75247" y="103823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979218" y="2582228"/>
              <a:ext cx="1327785" cy="1698307"/>
            </a:xfrm>
            <a:custGeom>
              <a:avLst/>
              <a:gdLst/>
              <a:ahLst/>
              <a:cxnLst/>
              <a:rect l="l" t="t" r="r" b="b"/>
              <a:pathLst>
                <a:path w="1327785" h="1698307">
                  <a:moveTo>
                    <a:pt x="1327785" y="169830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8920162" y="2506980"/>
              <a:ext cx="96203" cy="103823"/>
            </a:xfrm>
            <a:custGeom>
              <a:avLst/>
              <a:gdLst/>
              <a:ahLst/>
              <a:cxnLst/>
              <a:rect l="l" t="t" r="r" b="b"/>
              <a:pathLst>
                <a:path w="96203" h="103823">
                  <a:moveTo>
                    <a:pt x="0" y="0"/>
                  </a:moveTo>
                  <a:lnTo>
                    <a:pt x="96203" y="45720"/>
                  </a:lnTo>
                  <a:lnTo>
                    <a:pt x="21907" y="1038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05738" y="2037398"/>
              <a:ext cx="1862138" cy="469582"/>
            </a:xfrm>
            <a:prstGeom prst="roundRect">
              <a:avLst>
                <a:gd name="adj" fmla="val 2028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76988" y="4280535"/>
              <a:ext cx="1214438" cy="469582"/>
            </a:xfrm>
            <a:prstGeom prst="roundRect">
              <a:avLst>
                <a:gd name="adj" fmla="val 20284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883140" y="4280535"/>
              <a:ext cx="1214438" cy="469582"/>
            </a:xfrm>
            <a:prstGeom prst="roundRect">
              <a:avLst>
                <a:gd name="adj" fmla="val 20284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61273" y="21231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81204" y="2289810"/>
              <a:ext cx="1312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变量成员 + 方法成员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3967" y="436721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0353" y="4533900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 + 操作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80120" y="436721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16506" y="4533900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 + 操作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594408" y="443674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622132" y="446674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消息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718108" y="331565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45832" y="334470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95869" y="32385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反过来看就是实例化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5" name="Rectangle 5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类是写在源文件里的静态描述，对象是运行时真实占内存的东西，一个类可以有任意多个对象。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6197" cy="909257"/>
            <a:chOff x="520446" y="342900"/>
            <a:chExt cx="62761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面向对象程序设计概要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61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回看第 1 章那段程序，它其实就是一个类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842635" cy="1737360"/>
            <a:chOff x="533400" y="1524000"/>
            <a:chExt cx="5842635" cy="17373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748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SimpleApp.java（例 1.1）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50758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426970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554" y="1935956"/>
              <a:ext cx="78359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307" y="1935956"/>
              <a:ext cx="3843274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Example 1 of Chapter 1</a:t>
              </a:r>
              <a:br/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This is a simple instance of java application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SimpleApp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"this is a simple program!"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426142"/>
            <a:ext cx="5842635" cy="1428750"/>
            <a:chOff x="533400" y="3426142"/>
            <a:chExt cx="5842635" cy="1428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426142"/>
              <a:ext cx="5842635" cy="1428750"/>
            </a:xfrm>
            <a:prstGeom prst="roundRect">
              <a:avLst>
                <a:gd name="adj" fmla="val 933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4375" y="3607118"/>
              <a:ext cx="1898332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3771" y="3639979"/>
              <a:ext cx="18004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main 的签名为什么必须是这样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946684"/>
              <a:ext cx="5076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public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让 JVM 在类外调得到它；</a:t>
              </a:r>
              <a:r>
                <a:rPr lang="en-US" sz="128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让它不必先有对象；</a:t>
              </a:r>
              <a:r>
                <a:rPr lang="en-US" sz="128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void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不向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JVM 返回值；</a:t>
              </a:r>
              <a:r>
                <a:rPr lang="en-US" sz="128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String[] args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接命令行参数。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474369"/>
              <a:ext cx="4540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String args[]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28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String[] args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等价，后者是推荐写法。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5019675"/>
            <a:ext cx="5842635" cy="702945"/>
            <a:chOff x="533400" y="5019675"/>
            <a:chExt cx="5842635" cy="702945"/>
          </a:xfrm>
        </p:grpSpPr>
        <p:sp>
          <p:nvSpPr>
            <p:cNvPr id="20" name="Rectangle 20"/>
            <p:cNvSpPr/>
            <p:nvPr/>
          </p:nvSpPr>
          <p:spPr>
            <a:xfrm>
              <a:off x="533400" y="5019675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271135"/>
              <a:ext cx="200026" cy="200025"/>
              <a:chOff x="738188" y="5271135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2711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3155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4267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5164931"/>
              <a:ext cx="48572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编译写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javac SimpleApp.java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得到 SimpleApp.class，运行写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SimpleApp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，不带 .class 后缀。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680835" y="1524000"/>
            <a:ext cx="4977765" cy="2287905"/>
            <a:chOff x="6680835" y="1524000"/>
            <a:chExt cx="4977765" cy="2287905"/>
          </a:xfrm>
        </p:grpSpPr>
        <p:sp>
          <p:nvSpPr>
            <p:cNvPr id="27" name="Rectangle 27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8091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6979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身份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5514" y="2023110"/>
              <a:ext cx="62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1—2 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69034" y="2023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注释行，编译器忽略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5514" y="240411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69034" y="2404110"/>
              <a:ext cx="2427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主类（应用类），public 且与文件同名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5514" y="278511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9034" y="2785110"/>
              <a:ext cx="2194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主方法 main，程序入口，签名固定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75514" y="3167062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9034" y="316706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方法体中的一条语句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5514" y="3548062"/>
              <a:ext cx="62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6—7 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69034" y="354806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分别结束主方法和主类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1524000"/>
              <a:ext cx="497776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6959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2"/>
          <p:cNvGrpSpPr/>
          <p:nvPr/>
        </p:nvGrpSpPr>
        <p:grpSpPr>
          <a:xfrm>
            <a:off x="6680835" y="3976688"/>
            <a:ext cx="4977765" cy="1744980"/>
            <a:chOff x="6680835" y="3976688"/>
            <a:chExt cx="4977765" cy="1744980"/>
          </a:xfrm>
        </p:grpSpPr>
        <p:sp>
          <p:nvSpPr>
            <p:cNvPr id="49" name="Rectangle 49"/>
            <p:cNvSpPr/>
            <p:nvPr/>
          </p:nvSpPr>
          <p:spPr>
            <a:xfrm>
              <a:off x="6680835" y="3976688"/>
              <a:ext cx="4977765" cy="1744980"/>
            </a:xfrm>
            <a:prstGeom prst="roundRect">
              <a:avLst>
                <a:gd name="adj" fmla="val 7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4110038"/>
              <a:ext cx="47625" cy="14782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9910" y="4157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2582" y="4190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3433" y="4498181"/>
              <a:ext cx="41663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原课件标题漏了一个 i，写成「this s a simple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program!」；程序输出的是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this is a simple program!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5" name="Rectangle 5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1273" y="6039326"/>
              <a:ext cx="6810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整章都在把这个骨架填满：类里加变量成员、方法成员、构造方法，再用 new 生成对象。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81769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 Java 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类的定义、成员、访问控制符与构造方法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类是组织代码的基本单位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成员分变量成员和方法成员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105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成员属于类本身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84951" cy="909257"/>
            <a:chOff x="520446" y="342900"/>
            <a:chExt cx="31849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849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3.1.1 类的声明形式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333492" cy="308039"/>
            <a:chOff x="525399" y="1550194"/>
            <a:chExt cx="533349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333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方括号里的部分可写可不写，竖线表示只能选其中一个。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842635" cy="1516380"/>
            <a:chOff x="533400" y="1967865"/>
            <a:chExt cx="5842635" cy="151638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语法格式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3162046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[public] [abstract | final] class 类名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[extends 父类] [implements 接口, ...]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类体 classbody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674745"/>
            <a:ext cx="5842635" cy="1110615"/>
            <a:chOff x="533400" y="3674745"/>
            <a:chExt cx="5842635" cy="1110615"/>
          </a:xfrm>
        </p:grpSpPr>
        <p:sp>
          <p:nvSpPr>
            <p:cNvPr id="13" name="Rectangle 13"/>
            <p:cNvSpPr/>
            <p:nvPr/>
          </p:nvSpPr>
          <p:spPr>
            <a:xfrm>
              <a:off x="533400" y="3674745"/>
              <a:ext cx="584263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82666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最小的类和它的对象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4088606"/>
              <a:ext cx="304114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ATypeName {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类主体置于这里 */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ATypeName a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ATypeName();</a:t>
              </a:r>
            </a:p>
          </p:txBody>
        </p:sp>
      </p:grpSp>
      <p:grpSp>
        <p:nvGrpSpPr>
          <p:cNvPr id="25" name="c2-bullets-1"/>
          <p:cNvGrpSpPr/>
          <p:nvPr/>
        </p:nvGrpSpPr>
        <p:grpSpPr>
          <a:xfrm>
            <a:off x="6690360" y="1988344"/>
            <a:ext cx="4769175" cy="1410461"/>
            <a:chOff x="6690360" y="1988344"/>
            <a:chExt cx="4769175" cy="1410461"/>
          </a:xfrm>
        </p:grpSpPr>
        <p:sp>
          <p:nvSpPr>
            <p:cNvPr id="17" name="Ellipse 17"/>
            <p:cNvSpPr/>
            <p:nvPr/>
          </p:nvSpPr>
          <p:spPr>
            <a:xfrm>
              <a:off x="6690360" y="20412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45808" y="1988344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：本包之外也能用。一个源文件里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至多一个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public 类，且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类名与文件名完全相同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690360" y="258984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45808" y="2536984"/>
              <a:ext cx="4613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abstract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：抽象类，不能被 new，留给子类实现（第 4 章）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690360" y="289560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45808" y="2843689"/>
              <a:ext cx="2296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：终态类，不能再被继承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690360" y="320135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45808" y="3149441"/>
              <a:ext cx="3209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abstract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互相矛盾，不能同时写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680835" y="3538538"/>
            <a:ext cx="4977765" cy="1887855"/>
            <a:chOff x="6680835" y="3538538"/>
            <a:chExt cx="4977765" cy="1887855"/>
          </a:xfrm>
        </p:grpSpPr>
        <p:sp>
          <p:nvSpPr>
            <p:cNvPr id="26" name="Rectangle 26"/>
            <p:cNvSpPr/>
            <p:nvPr/>
          </p:nvSpPr>
          <p:spPr>
            <a:xfrm>
              <a:off x="6680835" y="3538538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90360" y="3671888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28485" y="37480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19646" y="37838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20865" y="4125278"/>
              <a:ext cx="42252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原课件只列了 public、abstract、final。JDK 17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起还可以写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sealed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/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non-sealed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限定谁能继承；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strictfp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仍能写但 JDK 17 起已无实际作用（浮点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运算一律严格）。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10219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类是组织程序代码的基本单位，也是面向对象程序设计的主体，Java 程序里的每一行可执行代码都写在某个类里。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7918" cy="909257"/>
            <a:chOff x="520446" y="342900"/>
            <a:chExt cx="55879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79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3.1.2 变量成员的声明格式与作用域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072515"/>
            <a:chOff x="533400" y="1524000"/>
            <a:chExt cx="5410200" cy="1072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变量成员声明格式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87102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[public | protected | private]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[static] [final] [transient] [volatile]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类型 变量名;</a:t>
              </a:r>
            </a:p>
          </p:txBody>
        </p:sp>
      </p:grpSp>
      <p:grpSp>
        <p:nvGrpSpPr>
          <p:cNvPr id="17" name="c1-bullets-2"/>
          <p:cNvGrpSpPr/>
          <p:nvPr/>
        </p:nvGrpSpPr>
        <p:grpSpPr>
          <a:xfrm>
            <a:off x="542925" y="2789396"/>
            <a:ext cx="5293970" cy="764858"/>
            <a:chOff x="542925" y="2789396"/>
            <a:chExt cx="5293970" cy="764858"/>
          </a:xfrm>
        </p:grpSpPr>
        <p:sp>
          <p:nvSpPr>
            <p:cNvPr id="11" name="Ellipse 11"/>
            <p:cNvSpPr/>
            <p:nvPr/>
          </p:nvSpPr>
          <p:spPr>
            <a:xfrm>
              <a:off x="542925" y="283273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9135" y="278939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类型可以是基本数据类型，也可以是引用数据类型（类、接口、数组）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310515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9135" y="3061811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名字在类成员中必须唯一，不能与别的变量同名；但</a:t>
              </a: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可以和类里某个方法同名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2925" y="337756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9135" y="333422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变量成员的作用域是整个类，写在方法前面还是后面都一样能用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3685222"/>
            <a:ext cx="5410200" cy="2031682"/>
            <a:chOff x="533400" y="3685222"/>
            <a:chExt cx="5410200" cy="2031682"/>
          </a:xfrm>
        </p:grpSpPr>
        <p:sp>
          <p:nvSpPr>
            <p:cNvPr id="18" name="Rectangle 18"/>
            <p:cNvSpPr/>
            <p:nvPr/>
          </p:nvSpPr>
          <p:spPr>
            <a:xfrm>
              <a:off x="533400" y="3685222"/>
              <a:ext cx="5410200" cy="2031682"/>
            </a:xfrm>
            <a:prstGeom prst="roundRect">
              <a:avLst>
                <a:gd name="adj" fmla="val 65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818572"/>
              <a:ext cx="47625" cy="176498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387762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9343" y="391191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数据类型回顾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233862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基本数据类型：byte、short、int、long、float、double、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char、boolean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4793932"/>
              <a:ext cx="3975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引用数据类型：类 class、接口 interface、数组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248400" y="1524000"/>
            <a:ext cx="5410200" cy="2228850"/>
            <a:chOff x="6248400" y="1524000"/>
            <a:chExt cx="5410200" cy="222885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247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作用域级别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663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声明位置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1500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有效范围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57925" y="1939290"/>
              <a:ext cx="95440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8412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1867" y="205406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类体中的变量成员和方法成员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85948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233553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8412" y="25598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21867" y="2459831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方法的参数、方法内语句之外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声明的变量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85948" y="25598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整个方法体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8412" y="30656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语句块级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1867" y="3065621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} 语句块内声明的局部变量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85948" y="30656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该语句块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3423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3470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34713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21867" y="3471386"/>
              <a:ext cx="1813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初始化部分声明的变量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85948" y="34713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该条语句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217092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381172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ode-2"/>
          <p:cNvGrpSpPr/>
          <p:nvPr/>
        </p:nvGrpSpPr>
        <p:grpSpPr>
          <a:xfrm>
            <a:off x="6248400" y="3928110"/>
            <a:ext cx="5410200" cy="1788795"/>
            <a:chOff x="6248400" y="3928110"/>
            <a:chExt cx="5410200" cy="1788795"/>
          </a:xfrm>
        </p:grpSpPr>
        <p:sp>
          <p:nvSpPr>
            <p:cNvPr id="51" name="Rectangle 51"/>
            <p:cNvSpPr/>
            <p:nvPr/>
          </p:nvSpPr>
          <p:spPr>
            <a:xfrm>
              <a:off x="6248400" y="3928110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76797" y="408003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四级作用域各出现一次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76988" y="4339304"/>
              <a:ext cx="2485009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Scope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field;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类级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para) {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方法级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local = 1;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 = 2; }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语句块级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3; i++) 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 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 是语句级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变量成员可以是引用类型，取值用点运算符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264092"/>
            <a:chOff x="533400" y="1524000"/>
            <a:chExt cx="5410200" cy="2264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两个只含变量成员的类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841371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DataOnly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DataReference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DataOnly d;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变量成员是引用类型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958590"/>
            <a:ext cx="5410200" cy="2088832"/>
            <a:chOff x="533400" y="3958590"/>
            <a:chExt cx="5410200" cy="2088832"/>
          </a:xfrm>
        </p:grpSpPr>
        <p:sp>
          <p:nvSpPr>
            <p:cNvPr id="11" name="Rectangle 11"/>
            <p:cNvSpPr/>
            <p:nvPr/>
          </p:nvSpPr>
          <p:spPr>
            <a:xfrm>
              <a:off x="533400" y="3958590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110514"/>
              <a:ext cx="1578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访问格式 对象引用.变量名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4370546"/>
              <a:ext cx="2797810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DataOnly d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DataOnly();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d.i = 47;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d.f = 1.1f;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d.b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DataReference dr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DataReference();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dr.j = 23;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dr.d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DataOnly();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先建对象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dr.d.i = 100;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再一层层点进去</a:t>
              </a:r>
            </a:p>
          </p:txBody>
        </p:sp>
      </p:grpSp>
      <p:grpSp>
        <p:nvGrpSpPr>
          <p:cNvPr id="31" name="c2-graph-1"/>
          <p:cNvGrpSpPr/>
          <p:nvPr/>
        </p:nvGrpSpPr>
        <p:grpSpPr>
          <a:xfrm>
            <a:off x="6622986" y="1850708"/>
            <a:ext cx="3944049" cy="1784985"/>
            <a:chOff x="6622986" y="1850708"/>
            <a:chExt cx="3944049" cy="1784985"/>
          </a:xfrm>
        </p:grpSpPr>
        <p:sp>
          <p:nvSpPr>
            <p:cNvPr id="15" name="Freeform 15"/>
            <p:cNvSpPr/>
            <p:nvPr/>
          </p:nvSpPr>
          <p:spPr>
            <a:xfrm>
              <a:off x="7299008" y="2077402"/>
              <a:ext cx="1328738" cy="9525"/>
            </a:xfrm>
            <a:custGeom>
              <a:avLst/>
              <a:gdLst/>
              <a:ahLst/>
              <a:cxnLst/>
              <a:rect l="l" t="t" r="r" b="b"/>
              <a:pathLst>
                <a:path w="1328738" h="9525">
                  <a:moveTo>
                    <a:pt x="0" y="0"/>
                  </a:moveTo>
                  <a:lnTo>
                    <a:pt x="13287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627745" y="20297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603105" y="2312670"/>
              <a:ext cx="9525" cy="765810"/>
            </a:xfrm>
            <a:custGeom>
              <a:avLst/>
              <a:gdLst/>
              <a:ahLst/>
              <a:cxnLst/>
              <a:rect l="l" t="t" r="r" b="b"/>
              <a:pathLst>
                <a:path w="9525" h="765810">
                  <a:moveTo>
                    <a:pt x="0" y="0"/>
                  </a:moveTo>
                  <a:lnTo>
                    <a:pt x="0" y="7658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555480" y="30784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12268" y="1909762"/>
              <a:ext cx="586740" cy="335280"/>
            </a:xfrm>
            <a:prstGeom prst="roundRect">
              <a:avLst>
                <a:gd name="adj" fmla="val 2840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722995" y="1850708"/>
              <a:ext cx="1760220" cy="452438"/>
            </a:xfrm>
            <a:prstGeom prst="roundRect">
              <a:avLst>
                <a:gd name="adj" fmla="val 2105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39175" y="3183255"/>
              <a:ext cx="1927860" cy="452438"/>
            </a:xfrm>
            <a:prstGeom prst="roundRect">
              <a:avLst>
                <a:gd name="adj" fmla="val 2105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18673" y="20116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98746" y="1928812"/>
              <a:ext cx="1408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DataReference 对象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19304" y="2095500"/>
              <a:ext cx="7676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23 d = 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06464" y="3261360"/>
              <a:ext cx="9932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DataOnly 对象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62917" y="3428048"/>
              <a:ext cx="1680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100 f = 0.0 b = false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449752" y="266509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76915" y="269414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dr.d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2986" y="25341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栈上的引用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35090" y="33637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堆上的两个对象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248400" y="4208145"/>
            <a:ext cx="5410200" cy="729615"/>
            <a:chOff x="6248400" y="4208145"/>
            <a:chExt cx="5410200" cy="729615"/>
          </a:xfrm>
        </p:grpSpPr>
        <p:sp>
          <p:nvSpPr>
            <p:cNvPr id="32" name="Rectangle 32"/>
            <p:cNvSpPr/>
            <p:nvPr/>
          </p:nvSpPr>
          <p:spPr>
            <a:xfrm>
              <a:off x="6248400" y="420814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41129" y="4469248"/>
              <a:ext cx="224134" cy="192560"/>
              <a:chOff x="6441129" y="4469248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553200" y="45396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41129" y="44692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53200" y="46174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5892" y="4354830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dr.d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的默认值是 null，不先 new 就写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dr.d.i = 100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会在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运行时抛 NullPointerException。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248400" y="5108258"/>
            <a:ext cx="5410200" cy="1185862"/>
            <a:chOff x="6248400" y="5108258"/>
            <a:chExt cx="5410200" cy="1185862"/>
          </a:xfrm>
        </p:grpSpPr>
        <p:sp>
          <p:nvSpPr>
            <p:cNvPr id="39" name="Rectangle 39"/>
            <p:cNvSpPr/>
            <p:nvPr/>
          </p:nvSpPr>
          <p:spPr>
            <a:xfrm>
              <a:off x="6248400" y="5108258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524160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3190" y="529494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39408" y="532780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点运算符可以串起来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6332" y="5638800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dr.d.i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的读法：先取 dr 指向的对象的 d 字段，再取那个对象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i 字段。链条上任何一环是 null，运行到那一环就抛异常。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59287" cy="909257"/>
            <a:chOff x="520446" y="342900"/>
            <a:chExt cx="71592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592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方法成员：怎么声明、怎么 return、怎么调用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450658"/>
            <a:chOff x="533400" y="1524000"/>
            <a:chExt cx="5410200" cy="1450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方法成员声明格式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871026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[public | protected | private] [static]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返回类型 方法名([参数列表])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方法体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bullets-2"/>
          <p:cNvGrpSpPr/>
          <p:nvPr/>
        </p:nvGrpSpPr>
        <p:grpSpPr>
          <a:xfrm>
            <a:off x="542925" y="3174682"/>
            <a:ext cx="5136261" cy="1268159"/>
            <a:chOff x="542925" y="3174682"/>
            <a:chExt cx="5136261" cy="1268159"/>
          </a:xfrm>
        </p:grpSpPr>
        <p:sp>
          <p:nvSpPr>
            <p:cNvPr id="11" name="Ellipse 11"/>
            <p:cNvSpPr/>
            <p:nvPr/>
          </p:nvSpPr>
          <p:spPr>
            <a:xfrm>
              <a:off x="542925" y="322230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754" y="3174682"/>
              <a:ext cx="4091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返回类型可以是基本类型、引用类型，无返回值时写 </a:t>
              </a:r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void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350996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754" y="3462338"/>
              <a:ext cx="49347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返回类型不是 void 时，</a:t>
              </a: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每条执行路径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都必须以 </a:t>
              </a:r>
              <a:r>
                <a:rPr lang="zh-CN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return 表达式;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结束，返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回值类型要与声明相符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2925" y="402717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8754" y="3979545"/>
              <a:ext cx="49804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返回类型是 void 时可以不写 return；写 </a:t>
              </a:r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return;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只交回控制，用来提前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结束方法</a:t>
              </a:r>
            </a:p>
          </p:txBody>
        </p:sp>
      </p:grpSp>
      <p:grpSp>
        <p:nvGrpSpPr>
          <p:cNvPr id="23" name="c1-card-3"/>
          <p:cNvGrpSpPr/>
          <p:nvPr/>
        </p:nvGrpSpPr>
        <p:grpSpPr>
          <a:xfrm>
            <a:off x="533400" y="4575810"/>
            <a:ext cx="5410200" cy="1663065"/>
            <a:chOff x="533400" y="4575810"/>
            <a:chExt cx="5410200" cy="1663065"/>
          </a:xfrm>
        </p:grpSpPr>
        <p:sp>
          <p:nvSpPr>
            <p:cNvPr id="18" name="Rectangle 18"/>
            <p:cNvSpPr/>
            <p:nvPr/>
          </p:nvSpPr>
          <p:spPr>
            <a:xfrm>
              <a:off x="533400" y="4575810"/>
              <a:ext cx="5410200" cy="1663065"/>
            </a:xfrm>
            <a:prstGeom prst="roundRect">
              <a:avLst>
                <a:gd name="adj" fmla="val 80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709160"/>
              <a:ext cx="47625" cy="1396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9620" y="47739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1060" y="48082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381" y="5134451"/>
              <a:ext cx="463118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原课件说「return 语句必须被执行一次并且只能执行一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次」。准确说法是：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一次调用最多执行一条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return；方法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体里可以写多条 return，走到哪条算哪条。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248400" y="1524000"/>
            <a:ext cx="5410200" cy="2966085"/>
            <a:chOff x="6248400" y="1524000"/>
            <a:chExt cx="5410200" cy="296608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正例与反例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67450" y="284416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67450" y="3033712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67450" y="322326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416" y="1937385"/>
              <a:ext cx="3317748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 {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两条路径都 return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&gt; b)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bad(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a) {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编译错误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&gt; 0)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missing return statement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&lt;= 0)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提前结束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System.out.println(n);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4670108"/>
            <a:ext cx="5410200" cy="1568768"/>
            <a:chOff x="6248400" y="4670108"/>
            <a:chExt cx="5410200" cy="1568768"/>
          </a:xfrm>
        </p:grpSpPr>
        <p:sp>
          <p:nvSpPr>
            <p:cNvPr id="31" name="Rectangle 31"/>
            <p:cNvSpPr/>
            <p:nvPr/>
          </p:nvSpPr>
          <p:spPr>
            <a:xfrm>
              <a:off x="6248400" y="4670108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6520" y="4868228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9956" y="490251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调用方法就是发消息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9281" y="5228749"/>
              <a:ext cx="45258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对象名.方法名(实参1, 实参2)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，例如 </a:t>
              </a:r>
              <a:r>
                <a:rPr lang="en-US" sz="142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int x = a.f();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9281" y="554688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方法只能作为类的一部分创建，必须通过一个能执行它的对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象来调用。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09490" cy="909257"/>
            <a:chOff x="520446" y="342900"/>
            <a:chExt cx="50094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094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成员：类变量和实例变量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162397" cy="308039"/>
            <a:chOff x="525399" y="1550194"/>
            <a:chExt cx="816239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162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原课件这里留了两个空，答案是：有 static 的叫类变量，没有 static 的叫实例变量。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410200" cy="907732"/>
            <a:chOff x="533400" y="1967865"/>
            <a:chExt cx="5410200" cy="90773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声明格式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3282950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static 类型 类变量名;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static 返回类型 类方法名([参数列表]) { ... }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33400" y="3066098"/>
            <a:ext cx="5410200" cy="2470785"/>
            <a:chOff x="533400" y="3066098"/>
            <a:chExt cx="5410200" cy="2470785"/>
          </a:xfrm>
        </p:grpSpPr>
        <p:sp>
          <p:nvSpPr>
            <p:cNvPr id="13" name="Rectangle 13"/>
            <p:cNvSpPr/>
            <p:nvPr/>
          </p:nvSpPr>
          <p:spPr>
            <a:xfrm>
              <a:off x="533400" y="3066098"/>
              <a:ext cx="5410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8058" y="32008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46227" y="3200876"/>
              <a:ext cx="1426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类变量（static）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4748" y="32008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实例变量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" y="3762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841182" y="3524250"/>
              <a:ext cx="203644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39480" y="3649504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多个对象共享一个内存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95928" y="37628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每个对象各有一份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1852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19004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3257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39480" y="43257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所有对象看到同一个值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95928" y="432577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不同对象可以不同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6339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7744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出生时间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39480" y="47744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类被加载时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5928" y="4774406"/>
              <a:ext cx="14690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对象被 new 出来时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825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08730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52230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访问方式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841182" y="5096828"/>
              <a:ext cx="203644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39480" y="52230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类名或对象名都行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95928" y="52230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只能用对象名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066098"/>
              <a:ext cx="5410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826895" y="3066098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83342" y="3066098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image-1"/>
          <p:cNvGrpSpPr/>
          <p:nvPr/>
        </p:nvGrpSpPr>
        <p:grpSpPr>
          <a:xfrm>
            <a:off x="6761556" y="1967865"/>
            <a:ext cx="4383888" cy="2696052"/>
            <a:chOff x="6761556" y="1967865"/>
            <a:chExt cx="4383888" cy="2696052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5" t="0" r="5" b="0"/>
            <a:stretch>
              <a:fillRect/>
            </a:stretch>
          </p:blipFill>
          <p:spPr>
            <a:xfrm>
              <a:off x="7365682" y="1967865"/>
              <a:ext cx="3174682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6761556" y="4443889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类变量像墙上那块公共白板，实例变量像每张课桌上各自的笔记本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4829175"/>
            <a:ext cx="5410200" cy="782955"/>
            <a:chOff x="6248400" y="4829175"/>
            <a:chExt cx="5410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6248400" y="482917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120640"/>
              <a:ext cx="200026" cy="200025"/>
              <a:chOff x="6453188" y="5120640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1206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92926" y="51650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27642" y="52762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4977765"/>
              <a:ext cx="4520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需要 static 的两种情形：某个数据只要一份、不管建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几个对象；某个方法不依赖任何具体对象。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65528" cy="909257"/>
            <a:chOff x="520446" y="342900"/>
            <a:chExt cx="5965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65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3.1：改 s1 的类变量，s2 也跟着变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384935"/>
            <a:chOff x="533400" y="1524000"/>
            <a:chExt cx="5626418" cy="1384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5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StaticVarTest.java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492883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StaticVarTest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 = 100;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类变量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 = 1;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实例变量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StaticVarTest()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073718"/>
            <a:ext cx="5626418" cy="2215515"/>
            <a:chOff x="533400" y="3073718"/>
            <a:chExt cx="5626418" cy="2215515"/>
          </a:xfrm>
        </p:grpSpPr>
        <p:sp>
          <p:nvSpPr>
            <p:cNvPr id="11" name="Rectangle 11"/>
            <p:cNvSpPr/>
            <p:nvPr/>
          </p:nvSpPr>
          <p:spPr>
            <a:xfrm>
              <a:off x="533400" y="3073718"/>
              <a:ext cx="5626418" cy="2215515"/>
            </a:xfrm>
            <a:prstGeom prst="roundRect">
              <a:avLst>
                <a:gd name="adj" fmla="val 42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225641"/>
              <a:ext cx="1662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StaticVarTestDemo.java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3484007"/>
              <a:ext cx="3766884" cy="1715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StaticVarTestDemo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StaticVarTest s1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StaticVarTest();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StaticVarTest s2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StaticVarTest();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"修改x之前，s1.x="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s1.x +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s2.x="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s2.x);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s1.x++;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"修改x之后，s1.x="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s1.x +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s2.x="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s2.x);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"修改y之前，s1.y="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s1.y +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s2.y="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s2.y);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s1.y++;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"修改y之后，s1.y="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s1.y +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s2.y="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s2.y);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464618" y="1524000"/>
            <a:ext cx="5193982" cy="1209675"/>
            <a:chOff x="6464618" y="1524000"/>
            <a:chExt cx="5193982" cy="1209675"/>
          </a:xfrm>
        </p:grpSpPr>
        <p:sp>
          <p:nvSpPr>
            <p:cNvPr id="15" name="Rectangle 15"/>
            <p:cNvSpPr/>
            <p:nvPr/>
          </p:nvSpPr>
          <p:spPr>
            <a:xfrm>
              <a:off x="6464618" y="1524000"/>
              <a:ext cx="5193982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93015" y="1675924"/>
              <a:ext cx="18195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实际运行结果（JDK 25 实测）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93015" y="1935956"/>
              <a:ext cx="1932813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修改x之前，s1.x=100  s2.x=100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修改x之后，s1.x=101  s2.x=101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修改y之前，s1.y=1  s2.y=1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修改y之后，s1.y=2  s2.y=1</a:t>
              </a:r>
            </a:p>
          </p:txBody>
        </p:sp>
      </p:grpSp>
      <p:grpSp>
        <p:nvGrpSpPr>
          <p:cNvPr id="28" name="c2-steps-2"/>
          <p:cNvGrpSpPr/>
          <p:nvPr/>
        </p:nvGrpSpPr>
        <p:grpSpPr>
          <a:xfrm>
            <a:off x="6464618" y="2907982"/>
            <a:ext cx="5103152" cy="1043559"/>
            <a:chOff x="6464618" y="2907982"/>
            <a:chExt cx="5103152" cy="1043559"/>
          </a:xfrm>
        </p:grpSpPr>
        <p:sp>
          <p:nvSpPr>
            <p:cNvPr id="19" name="Rectangle 19"/>
            <p:cNvSpPr/>
            <p:nvPr/>
          </p:nvSpPr>
          <p:spPr>
            <a:xfrm>
              <a:off x="6597968" y="3050858"/>
              <a:ext cx="19050" cy="5534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464618" y="290798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58241" y="29818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464618" y="346043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58241" y="35342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77241" y="2937986"/>
              <a:ext cx="1353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s1.x++ 改的是谁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8384" y="3192780"/>
              <a:ext cx="4689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只有一份，存在静态区。s1.x 和 s2.x 是同一个格子，所以两边都变 101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77241" y="3491389"/>
              <a:ext cx="13535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s1.y++ 改的是谁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8384" y="3746182"/>
              <a:ext cx="3212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每个对象一份。只有 s1 那一份加到 2，s2 仍是 1</a:t>
              </a:r>
            </a:p>
          </p:txBody>
        </p:sp>
      </p:grpSp>
      <p:grpSp>
        <p:nvGrpSpPr>
          <p:cNvPr id="34" name="c2-card-3"/>
          <p:cNvGrpSpPr/>
          <p:nvPr/>
        </p:nvGrpSpPr>
        <p:grpSpPr>
          <a:xfrm>
            <a:off x="6464618" y="4112895"/>
            <a:ext cx="5193982" cy="1386840"/>
            <a:chOff x="6464618" y="4112895"/>
            <a:chExt cx="5193982" cy="1386840"/>
          </a:xfrm>
        </p:grpSpPr>
        <p:sp>
          <p:nvSpPr>
            <p:cNvPr id="29" name="Rectangle 29"/>
            <p:cNvSpPr/>
            <p:nvPr/>
          </p:nvSpPr>
          <p:spPr>
            <a:xfrm>
              <a:off x="6464618" y="4112895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424624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83692" y="42938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6364" y="43267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77216" y="4634389"/>
              <a:ext cx="45321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原课件把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StaticVarTest s1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写成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Static VarTest s1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（中间多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一个空格），并用 </a:t>
              </a:r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\\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当注释；Java 的行注释是 </a:t>
              </a:r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//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，两处都编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译不过。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5" name="Rectangle 3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1273" y="6039326"/>
              <a:ext cx="7060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用对象名访问类变量（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s1.x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）合法但容易误导，写成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StaticVarTest.x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更能说明它属于类。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22928" cy="909257"/>
            <a:chOff x="520446" y="342900"/>
            <a:chExt cx="43229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229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成员在内存里的样子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graph-1"/>
          <p:cNvGrpSpPr/>
          <p:nvPr/>
        </p:nvGrpSpPr>
        <p:grpSpPr>
          <a:xfrm>
            <a:off x="616534" y="1754505"/>
            <a:ext cx="5583288" cy="2331148"/>
            <a:chOff x="616534" y="1754505"/>
            <a:chExt cx="5583288" cy="2331148"/>
          </a:xfrm>
        </p:grpSpPr>
        <p:sp>
          <p:nvSpPr>
            <p:cNvPr id="7" name="Freeform 7"/>
            <p:cNvSpPr/>
            <p:nvPr/>
          </p:nvSpPr>
          <p:spPr>
            <a:xfrm>
              <a:off x="2525078" y="2115502"/>
              <a:ext cx="700088" cy="9525"/>
            </a:xfrm>
            <a:custGeom>
              <a:avLst/>
              <a:gdLst/>
              <a:ahLst/>
              <a:cxnLst/>
              <a:rect l="l" t="t" r="r" b="b"/>
              <a:pathLst>
                <a:path w="700088" h="9525">
                  <a:moveTo>
                    <a:pt x="0" y="0"/>
                  </a:moveTo>
                  <a:lnTo>
                    <a:pt x="7000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225165" y="20678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57512" y="2456498"/>
              <a:ext cx="1262062" cy="1123950"/>
            </a:xfrm>
            <a:custGeom>
              <a:avLst/>
              <a:gdLst/>
              <a:ahLst/>
              <a:cxnLst/>
              <a:rect l="l" t="t" r="r" b="b"/>
              <a:pathLst>
                <a:path w="1262062" h="1123950">
                  <a:moveTo>
                    <a:pt x="0" y="1123950"/>
                  </a:moveTo>
                  <a:lnTo>
                    <a:pt x="12620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187190" y="2392680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0"/>
                  </a:moveTo>
                  <a:lnTo>
                    <a:pt x="63817" y="99060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90060" y="2487930"/>
              <a:ext cx="9525" cy="1092518"/>
            </a:xfrm>
            <a:custGeom>
              <a:avLst/>
              <a:gdLst/>
              <a:ahLst/>
              <a:cxnLst/>
              <a:rect l="l" t="t" r="r" b="b"/>
              <a:pathLst>
                <a:path w="9525" h="1092518">
                  <a:moveTo>
                    <a:pt x="0" y="109251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242435" y="2392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361498" y="2456498"/>
              <a:ext cx="1262062" cy="1123950"/>
            </a:xfrm>
            <a:custGeom>
              <a:avLst/>
              <a:gdLst/>
              <a:ahLst/>
              <a:cxnLst/>
              <a:rect l="l" t="t" r="r" b="b"/>
              <a:pathLst>
                <a:path w="1262062" h="1123950">
                  <a:moveTo>
                    <a:pt x="1262062" y="11239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290060" y="2392680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0" y="0"/>
                  </a:moveTo>
                  <a:lnTo>
                    <a:pt x="102870" y="27623"/>
                  </a:lnTo>
                  <a:lnTo>
                    <a:pt x="40005" y="990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2948" y="1754505"/>
              <a:ext cx="1802130" cy="721042"/>
            </a:xfrm>
            <a:prstGeom prst="roundRect">
              <a:avLst>
                <a:gd name="adj" fmla="val 13210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320415" y="1846898"/>
              <a:ext cx="1940242" cy="536258"/>
            </a:xfrm>
            <a:prstGeom prst="roundRect">
              <a:avLst>
                <a:gd name="adj" fmla="val 17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379345" y="3589972"/>
              <a:ext cx="1154430" cy="480060"/>
            </a:xfrm>
            <a:prstGeom prst="roundRect">
              <a:avLst>
                <a:gd name="adj" fmla="val 19841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712845" y="3589972"/>
              <a:ext cx="1154430" cy="480060"/>
            </a:xfrm>
            <a:prstGeom prst="roundRect">
              <a:avLst>
                <a:gd name="adj" fmla="val 19841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045392" y="3589972"/>
              <a:ext cx="1154430" cy="480060"/>
            </a:xfrm>
            <a:prstGeom prst="roundRect">
              <a:avLst>
                <a:gd name="adj" fmla="val 19841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3284" y="184975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程序存储空间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5752" y="2040255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类变量 / 类方法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4208" y="2230755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实例变量 / 实例方法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80104" y="194500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静态存储区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15216" y="2135505"/>
              <a:ext cx="15496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101（全类一份）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71138" y="3660457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 s1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60593" y="3850957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03685" y="3660457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 s2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93140" y="3850957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24172" y="366045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83831" y="3850957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 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415540" y="2022158"/>
              <a:ext cx="82296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426284" y="2056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类加载时建立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6534" y="3700462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new 一次建一份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4666298"/>
            <a:ext cx="6059805" cy="1545908"/>
            <a:chOff x="533400" y="4666298"/>
            <a:chExt cx="6059805" cy="1545908"/>
          </a:xfrm>
        </p:grpSpPr>
        <p:sp>
          <p:nvSpPr>
            <p:cNvPr id="35" name="Rectangle 35"/>
            <p:cNvSpPr/>
            <p:nvPr/>
          </p:nvSpPr>
          <p:spPr>
            <a:xfrm>
              <a:off x="533400" y="4666298"/>
              <a:ext cx="605980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479964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75335" y="4870132"/>
              <a:ext cx="184785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5273" y="4905851"/>
              <a:ext cx="174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怎么判断该不该加 static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8096" y="5243036"/>
              <a:ext cx="530745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问一句：这个数据是在描述某一个对象，还是在描述这一类东西？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「已创建对象的总数」「圆周率」属于类，加 static；「这个对象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的序号」属于对象，不加。</a:t>
              </a:r>
            </a:p>
          </p:txBody>
        </p:sp>
      </p:grpSp>
      <p:grpSp>
        <p:nvGrpSpPr>
          <p:cNvPr id="64" name="c2-tree-1"/>
          <p:cNvGrpSpPr/>
          <p:nvPr/>
        </p:nvGrpSpPr>
        <p:grpSpPr>
          <a:xfrm>
            <a:off x="6898005" y="1627822"/>
            <a:ext cx="4760595" cy="2564130"/>
            <a:chOff x="6898005" y="1627822"/>
            <a:chExt cx="4760595" cy="2564130"/>
          </a:xfrm>
        </p:grpSpPr>
        <p:sp>
          <p:nvSpPr>
            <p:cNvPr id="41" name="Freeform 41"/>
            <p:cNvSpPr/>
            <p:nvPr/>
          </p:nvSpPr>
          <p:spPr>
            <a:xfrm>
              <a:off x="9282112" y="1801178"/>
              <a:ext cx="419100" cy="277177"/>
            </a:xfrm>
            <a:custGeom>
              <a:avLst/>
              <a:gdLst/>
              <a:ahLst/>
              <a:cxnLst/>
              <a:rect l="l" t="t" r="r" b="b"/>
              <a:pathLst>
                <a:path w="419100" h="277177">
                  <a:moveTo>
                    <a:pt x="0" y="277177"/>
                  </a:moveTo>
                  <a:lnTo>
                    <a:pt x="209550" y="27717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282112" y="2078355"/>
              <a:ext cx="419100" cy="277178"/>
            </a:xfrm>
            <a:custGeom>
              <a:avLst/>
              <a:gdLst/>
              <a:ahLst/>
              <a:cxnLst/>
              <a:rect l="l" t="t" r="r" b="b"/>
              <a:pathLst>
                <a:path w="419100" h="277178">
                  <a:moveTo>
                    <a:pt x="0" y="0"/>
                  </a:moveTo>
                  <a:lnTo>
                    <a:pt x="209550" y="0"/>
                  </a:lnTo>
                  <a:lnTo>
                    <a:pt x="209550" y="277178"/>
                  </a:lnTo>
                  <a:lnTo>
                    <a:pt x="419100" y="27717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282112" y="2909888"/>
              <a:ext cx="419100" cy="554355"/>
            </a:xfrm>
            <a:custGeom>
              <a:avLst/>
              <a:gdLst/>
              <a:ahLst/>
              <a:cxnLst/>
              <a:rect l="l" t="t" r="r" b="b"/>
              <a:pathLst>
                <a:path w="419100" h="554355">
                  <a:moveTo>
                    <a:pt x="0" y="554355"/>
                  </a:moveTo>
                  <a:lnTo>
                    <a:pt x="209550" y="55435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282112" y="346424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282112" y="3464242"/>
              <a:ext cx="419100" cy="554355"/>
            </a:xfrm>
            <a:custGeom>
              <a:avLst/>
              <a:gdLst/>
              <a:ahLst/>
              <a:cxnLst/>
              <a:rect l="l" t="t" r="r" b="b"/>
              <a:pathLst>
                <a:path w="419100" h="554355">
                  <a:moveTo>
                    <a:pt x="0" y="0"/>
                  </a:moveTo>
                  <a:lnTo>
                    <a:pt x="209550" y="0"/>
                  </a:lnTo>
                  <a:lnTo>
                    <a:pt x="209550" y="554355"/>
                  </a:lnTo>
                  <a:lnTo>
                    <a:pt x="419100" y="5543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666672" y="2078355"/>
              <a:ext cx="419100" cy="693420"/>
            </a:xfrm>
            <a:custGeom>
              <a:avLst/>
              <a:gdLst/>
              <a:ahLst/>
              <a:cxnLst/>
              <a:rect l="l" t="t" r="r" b="b"/>
              <a:pathLst>
                <a:path w="419100" h="693420">
                  <a:moveTo>
                    <a:pt x="0" y="693420"/>
                  </a:moveTo>
                  <a:lnTo>
                    <a:pt x="209550" y="69342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666672" y="2771775"/>
              <a:ext cx="419100" cy="692467"/>
            </a:xfrm>
            <a:custGeom>
              <a:avLst/>
              <a:gdLst/>
              <a:ahLst/>
              <a:cxnLst/>
              <a:rect l="l" t="t" r="r" b="b"/>
              <a:pathLst>
                <a:path w="419100" h="692467">
                  <a:moveTo>
                    <a:pt x="0" y="0"/>
                  </a:moveTo>
                  <a:lnTo>
                    <a:pt x="209550" y="0"/>
                  </a:lnTo>
                  <a:lnTo>
                    <a:pt x="209550" y="692467"/>
                  </a:lnTo>
                  <a:lnTo>
                    <a:pt x="419100" y="69246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01212" y="1627822"/>
              <a:ext cx="195738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701212" y="2182178"/>
              <a:ext cx="195738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85772" y="1905000"/>
              <a:ext cx="1196340" cy="346710"/>
            </a:xfrm>
            <a:prstGeom prst="roundRect">
              <a:avLst>
                <a:gd name="adj" fmla="val 27473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701212" y="2736532"/>
              <a:ext cx="195738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701212" y="3290888"/>
              <a:ext cx="195738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701212" y="3845242"/>
              <a:ext cx="1957388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85772" y="3290888"/>
              <a:ext cx="1196340" cy="346710"/>
            </a:xfrm>
            <a:prstGeom prst="roundRect">
              <a:avLst>
                <a:gd name="adj" fmla="val 27473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98005" y="2598420"/>
              <a:ext cx="769620" cy="346710"/>
            </a:xfrm>
            <a:prstGeom prst="roundRect">
              <a:avLst>
                <a:gd name="adj" fmla="val 2747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90748" y="1722596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static：类变量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90748" y="2276951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 static：实例变量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175308" y="19997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变量成员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90748" y="2831306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static：类方法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90748" y="3385661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 static：实例方法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90748" y="39400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5308" y="33856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方法成员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87540" y="26931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6898005" y="4481512"/>
            <a:ext cx="4760595" cy="1730692"/>
            <a:chOff x="6898005" y="4481512"/>
            <a:chExt cx="4760595" cy="1730692"/>
          </a:xfrm>
        </p:grpSpPr>
        <p:sp>
          <p:nvSpPr>
            <p:cNvPr id="65" name="Rectangle 65"/>
            <p:cNvSpPr/>
            <p:nvPr/>
          </p:nvSpPr>
          <p:spPr>
            <a:xfrm>
              <a:off x="6898005" y="4481512"/>
              <a:ext cx="4760595" cy="1730692"/>
            </a:xfrm>
            <a:prstGeom prst="roundRect">
              <a:avLst>
                <a:gd name="adj" fmla="val 6604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102793" y="5246372"/>
              <a:ext cx="200023" cy="200023"/>
              <a:chOff x="7102793" y="5246372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102793" y="52463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36143" y="53130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405116" y="5116354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类变量在静态存储区，只随类存在一份；实例变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量跟着对象走，new 几次就有几份。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类方法里为什么不能直接用实例变量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类方法在没有任何对象时就能被调用，此时实例变量根本还不存在。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1561148"/>
            <a:chOff x="533400" y="1928812"/>
            <a:chExt cx="5410200" cy="156114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类方法的三条限制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2654681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Incrementable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increment() { i++;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Incrementable.increment();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不必 new</a:t>
              </a:r>
            </a:p>
          </p:txBody>
        </p:sp>
      </p:grpSp>
      <p:grpSp>
        <p:nvGrpSpPr>
          <p:cNvPr id="22" name="c1-bullets-2"/>
          <p:cNvGrpSpPr/>
          <p:nvPr/>
        </p:nvGrpSpPr>
        <p:grpSpPr>
          <a:xfrm>
            <a:off x="533400" y="3663315"/>
            <a:ext cx="5282222" cy="722567"/>
            <a:chOff x="533400" y="3663315"/>
            <a:chExt cx="5282222" cy="722567"/>
          </a:xfrm>
        </p:grpSpPr>
        <p:sp>
          <p:nvSpPr>
            <p:cNvPr id="13" name="Ellipse 13"/>
            <p:cNvSpPr/>
            <p:nvPr/>
          </p:nvSpPr>
          <p:spPr>
            <a:xfrm>
              <a:off x="533400" y="3663315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369212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3671888"/>
              <a:ext cx="3629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类方法中不能使用 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this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super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，因为没有「当前对象」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17632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394644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3926205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类方法中不能直接访问实例变量和实例方法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170998"/>
              <a:ext cx="148590" cy="14859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420076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4180523"/>
              <a:ext cx="50427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可以不生成对象而直接用 </a:t>
              </a: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访问类变量和类方法，这正是叫「类」成员的原因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509135"/>
            <a:ext cx="5410200" cy="1143952"/>
            <a:chOff x="533400" y="4509135"/>
            <a:chExt cx="5410200" cy="1143952"/>
          </a:xfrm>
        </p:grpSpPr>
        <p:sp>
          <p:nvSpPr>
            <p:cNvPr id="23" name="Rectangle 23"/>
            <p:cNvSpPr/>
            <p:nvPr/>
          </p:nvSpPr>
          <p:spPr>
            <a:xfrm>
              <a:off x="533400" y="4509135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64248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469011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946" y="472297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反过来可以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998" y="503062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实例方法里访问类变量、调用类方法都合法：对象一定属于某个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类，类成员一定已经存在。</a:t>
              </a:r>
            </a:p>
          </p:txBody>
        </p:sp>
      </p:grpSp>
      <p:grpSp>
        <p:nvGrpSpPr>
          <p:cNvPr id="34" name="c2-code-1"/>
          <p:cNvGrpSpPr/>
          <p:nvPr/>
        </p:nvGrpSpPr>
        <p:grpSpPr>
          <a:xfrm>
            <a:off x="6248400" y="1928812"/>
            <a:ext cx="5410200" cy="2088832"/>
            <a:chOff x="6248400" y="1928812"/>
            <a:chExt cx="5410200" cy="2088832"/>
          </a:xfrm>
        </p:grpSpPr>
        <p:sp>
          <p:nvSpPr>
            <p:cNvPr id="29" name="Rectangle 29"/>
            <p:cNvSpPr/>
            <p:nvPr/>
          </p:nvSpPr>
          <p:spPr>
            <a:xfrm>
              <a:off x="6248400" y="1928812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797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反例：这段编译不过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67450" y="2831782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67450" y="335851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76797" y="2340769"/>
              <a:ext cx="2268855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BadStatic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serialNumber =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wrong()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serialNumber;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wrong2()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c2-code-2"/>
          <p:cNvGrpSpPr/>
          <p:nvPr/>
        </p:nvGrpSpPr>
        <p:grpSpPr>
          <a:xfrm>
            <a:off x="6248400" y="4182428"/>
            <a:ext cx="5410200" cy="809625"/>
            <a:chOff x="6248400" y="4182428"/>
            <a:chExt cx="5410200" cy="809625"/>
          </a:xfrm>
        </p:grpSpPr>
        <p:sp>
          <p:nvSpPr>
            <p:cNvPr id="35" name="Rectangle 35"/>
            <p:cNvSpPr/>
            <p:nvPr/>
          </p:nvSpPr>
          <p:spPr>
            <a:xfrm>
              <a:off x="6248400" y="4182428"/>
              <a:ext cx="5410200" cy="809625"/>
            </a:xfrm>
            <a:prstGeom prst="roundRect">
              <a:avLst>
                <a:gd name="adj" fmla="val 117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797" y="4334351"/>
              <a:ext cx="15152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javac 25 的报错（实测）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988" y="4593431"/>
              <a:ext cx="2800477" cy="311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无法从静态上下文中引用非静态 变量 serialNumber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无法从静态上下文中引用非静态 变量 this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9" name="Rectangle 3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6039326"/>
              <a:ext cx="73621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main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本身就是类方法，所以在 main 里直接写实例变量名同样报这个错，必须先 new 一个对象。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3.2：用类变量给每个对象编序号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830830"/>
            <a:chOff x="533400" y="1524000"/>
            <a:chExt cx="5410200" cy="28308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30830"/>
            </a:xfrm>
            <a:prstGeom prst="roundRect">
              <a:avLst>
                <a:gd name="adj" fmla="val 33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874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SoftwareNumber.java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384423" cy="2327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SoftwareNumber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serialNumber;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实例变量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counter = 0;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类变量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SoftwareNumber() {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构造方法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counter++;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实例上下文访问类变量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serialNumber = counter;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getTotalNumber()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counter;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类方法访问类变量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getSerialNumber()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serialNumber;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实例方法访问实例变量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524375"/>
            <a:ext cx="5410200" cy="1185862"/>
            <a:chOff x="533400" y="4524375"/>
            <a:chExt cx="5410200" cy="1185862"/>
          </a:xfrm>
        </p:grpSpPr>
        <p:sp>
          <p:nvSpPr>
            <p:cNvPr id="11" name="Rectangle 11"/>
            <p:cNvSpPr/>
            <p:nvPr/>
          </p:nvSpPr>
          <p:spPr>
            <a:xfrm>
              <a:off x="533400" y="452437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65772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7110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862" y="47439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5054918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原课件把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SoftwareNumber()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注释成「实例方法」，它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248400" y="1524000"/>
            <a:ext cx="5410200" cy="1647825"/>
            <a:chOff x="6248400" y="1524000"/>
            <a:chExt cx="5410200" cy="164782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1647825"/>
            </a:xfrm>
            <a:prstGeom prst="roundRect">
              <a:avLst>
                <a:gd name="adj" fmla="val 57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测试与实测输出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6988" y="1934289"/>
              <a:ext cx="3044508" cy="11482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SoftwareNumber a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SoftwareNumber();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SoftwareNumber b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SoftwareNumber();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SoftwareNumber c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SoftwareNumber();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System.out.println(a.getSerialNumber() +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+ b.getSerialNumber() +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c.getSerialNumber());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System.out.println(SoftwareNumber.getTotalNumber());</a:t>
              </a:r>
              <a:br/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输出： 1 2 3</a:t>
              </a:r>
              <a:br/>
              <a:r>
                <a:rPr lang="zh-CN" sz="79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       3</a:t>
              </a:r>
            </a:p>
          </p:txBody>
        </p:sp>
      </p:grpSp>
      <p:grpSp>
        <p:nvGrpSpPr>
          <p:cNvPr id="42" name="c2-table-2"/>
          <p:cNvGrpSpPr/>
          <p:nvPr/>
        </p:nvGrpSpPr>
        <p:grpSpPr>
          <a:xfrm>
            <a:off x="6248400" y="3341370"/>
            <a:ext cx="5410200" cy="1600200"/>
            <a:chOff x="6248400" y="3341370"/>
            <a:chExt cx="5410200" cy="1600200"/>
          </a:xfrm>
        </p:grpSpPr>
        <p:sp>
          <p:nvSpPr>
            <p:cNvPr id="21" name="Rectangle 21"/>
            <p:cNvSpPr/>
            <p:nvPr/>
          </p:nvSpPr>
          <p:spPr>
            <a:xfrm>
              <a:off x="6248400" y="3341370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12026" y="34628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80793" y="34628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种类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39617" y="34628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谁能访问它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45555" y="3862864"/>
              <a:ext cx="1013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serialNumber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4832" y="38628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实例变量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395460" y="3750945"/>
              <a:ext cx="225361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83090" y="386286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只能实例方法和构造方法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41367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414147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5555" y="4262914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4832" y="42629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类变量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395460" y="4150995"/>
              <a:ext cx="225361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83090" y="426291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实例方法、类方法都行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45367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5555" y="4662964"/>
              <a:ext cx="14549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getSerialNumber()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84832" y="46629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实例方法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83090" y="466296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必须先有对象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34137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082915" y="33413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381172" y="33413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3" name="Rectangle 4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8373"/>
              <a:ext cx="8296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记住那句红字：不允许类方法访问实例变量。counter 是类变量，所以 getTotalNumber() 能返回它。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4480" cy="909257"/>
            <a:chOff x="520446" y="342900"/>
            <a:chExt cx="62744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44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3.1.3 访问控制符：四种权限管四种距离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访问控制符管的是「别人能不能碰这个成员」，包是划分远近的单位。</a:t>
              </a:r>
            </a:p>
          </p:txBody>
        </p:sp>
      </p:grpSp>
      <p:grpSp>
        <p:nvGrpSpPr>
          <p:cNvPr id="45" name="c1-table-1"/>
          <p:cNvGrpSpPr/>
          <p:nvPr/>
        </p:nvGrpSpPr>
        <p:grpSpPr>
          <a:xfrm>
            <a:off x="533400" y="1928812"/>
            <a:ext cx="11125200" cy="2194560"/>
            <a:chOff x="533400" y="1928812"/>
            <a:chExt cx="11125200" cy="219456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439102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96162" y="20535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访问控制符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21202" y="20535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同一个类中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23357" y="20535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同一个包中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1415" y="205359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不同包中的子类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57029" y="205359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不同包中的非子类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9412" y="2492692"/>
              <a:ext cx="54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84676" y="249269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6831" y="249269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56626" y="249269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3109" y="249269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13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0606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9412" y="2931795"/>
              <a:ext cx="9582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84676" y="293179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86831" y="293179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56626" y="293179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3109" y="293179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9412" y="337089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默认（包访问权限）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84676" y="337089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86831" y="337089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56626" y="337089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93109" y="337089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795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84270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9412" y="3809048"/>
              <a:ext cx="700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84676" y="380904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86831" y="380904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56626" y="380904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93109" y="380904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28812"/>
              <a:ext cx="11125200" cy="21945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976562" y="1928812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978718" y="1928812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80872" y="1928812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317355" y="1928812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1-kv-2"/>
          <p:cNvGrpSpPr/>
          <p:nvPr/>
        </p:nvGrpSpPr>
        <p:grpSpPr>
          <a:xfrm>
            <a:off x="526542" y="4315778"/>
            <a:ext cx="11132058" cy="1441323"/>
            <a:chOff x="526542" y="4315778"/>
            <a:chExt cx="11132058" cy="1441323"/>
          </a:xfrm>
        </p:grpSpPr>
        <p:sp>
          <p:nvSpPr>
            <p:cNvPr id="46" name="TextBox 46"/>
            <p:cNvSpPr txBox="1"/>
            <p:nvPr/>
          </p:nvSpPr>
          <p:spPr>
            <a:xfrm>
              <a:off x="526542" y="4315778"/>
              <a:ext cx="54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public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02880" y="431577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对每个人都可用，任何其他类的对象都能访问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6015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542" y="4708208"/>
              <a:ext cx="9582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protected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02880" y="470820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自己的类中、同一包中的类、以及不同包中的子类可以访问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993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6542" y="51006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默认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702880" y="5100638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不写任何控制符即是。同一个包中的任何类都能访问，包外一律不行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386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6542" y="5493068"/>
              <a:ext cx="700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private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702880" y="54930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只能在它自己的类中被访问</a:t>
              </a:r>
            </a:p>
          </p:txBody>
        </p:sp>
      </p:grpSp>
      <p:grpSp>
        <p:nvGrpSpPr>
          <p:cNvPr id="64" name="c1-callout-3"/>
          <p:cNvGrpSpPr/>
          <p:nvPr/>
        </p:nvGrpSpPr>
        <p:grpSpPr>
          <a:xfrm>
            <a:off x="533400" y="5873115"/>
            <a:ext cx="11125200" cy="489585"/>
            <a:chOff x="533400" y="5873115"/>
            <a:chExt cx="11125200" cy="489585"/>
          </a:xfrm>
        </p:grpSpPr>
        <p:sp>
          <p:nvSpPr>
            <p:cNvPr id="58" name="Rectangle 58"/>
            <p:cNvSpPr/>
            <p:nvPr/>
          </p:nvSpPr>
          <p:spPr>
            <a:xfrm>
              <a:off x="533400" y="5873115"/>
              <a:ext cx="11125200" cy="489585"/>
            </a:xfrm>
            <a:prstGeom prst="roundRect">
              <a:avLst>
                <a:gd name="adj" fmla="val 2334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10289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「默认」这一档常被叫作 friendly（友元），但 Java 里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没有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friendly 这个关键字，写上去编译不过；正式名字是包访问权限。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访问控制实例：同包能看到什么，跨包能看到什么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328160" cy="2453640"/>
            <a:chOff x="533400" y="1524000"/>
            <a:chExt cx="4328160" cy="2453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440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p1/C1.java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1764284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C1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y;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默认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z;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m1() {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m2() {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m3() {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m4() {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142422"/>
            <a:ext cx="4328160" cy="1551622"/>
            <a:chOff x="533400" y="4142422"/>
            <a:chExt cx="4328160" cy="1551622"/>
          </a:xfrm>
        </p:grpSpPr>
        <p:sp>
          <p:nvSpPr>
            <p:cNvPr id="11" name="Rectangle 11"/>
            <p:cNvSpPr/>
            <p:nvPr/>
          </p:nvSpPr>
          <p:spPr>
            <a:xfrm>
              <a:off x="533400" y="4142422"/>
              <a:ext cx="4328160" cy="1551622"/>
            </a:xfrm>
            <a:prstGeom prst="roundRect">
              <a:avLst>
                <a:gd name="adj" fmla="val 85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275772"/>
              <a:ext cx="47625" cy="12849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432339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147" y="43562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4662964"/>
              <a:ext cx="37355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原课件里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protected m3(){ }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漏了返回类型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void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编译不过；类名写成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c3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（按惯例类名首字母大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写）；p2 里用 C1 还需要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import p1.C1;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5166360" y="1524000"/>
            <a:ext cx="6492240" cy="1931670"/>
            <a:chOff x="5166360" y="1524000"/>
            <a:chExt cx="6492240" cy="1931670"/>
          </a:xfrm>
        </p:grpSpPr>
        <p:sp>
          <p:nvSpPr>
            <p:cNvPr id="17" name="Rectangle 17"/>
            <p:cNvSpPr/>
            <p:nvPr/>
          </p:nvSpPr>
          <p:spPr>
            <a:xfrm>
              <a:off x="5166360" y="1524000"/>
              <a:ext cx="6492240" cy="1931670"/>
            </a:xfrm>
            <a:prstGeom prst="roundRect">
              <a:avLst>
                <a:gd name="adj" fmla="val 49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94757" y="1675924"/>
              <a:ext cx="15355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p1/C2.java（同一个包）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85410" y="2898458"/>
              <a:ext cx="6454140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94948" y="1934289"/>
              <a:ext cx="2643188" cy="14320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p1;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C2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aMethod()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C1 o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C1();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o.x;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public，可以访问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o.y;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包访问权限，可以访问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= o.z;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protected，同包可以访问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= o.w;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private，编译错误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ode-2"/>
          <p:cNvGrpSpPr/>
          <p:nvPr/>
        </p:nvGrpSpPr>
        <p:grpSpPr>
          <a:xfrm>
            <a:off x="5166360" y="3620452"/>
            <a:ext cx="6492240" cy="2073592"/>
            <a:chOff x="5166360" y="3620452"/>
            <a:chExt cx="6492240" cy="2073592"/>
          </a:xfrm>
        </p:grpSpPr>
        <p:sp>
          <p:nvSpPr>
            <p:cNvPr id="22" name="Rectangle 22"/>
            <p:cNvSpPr/>
            <p:nvPr/>
          </p:nvSpPr>
          <p:spPr>
            <a:xfrm>
              <a:off x="5166360" y="3620452"/>
              <a:ext cx="6492240" cy="2073592"/>
            </a:xfrm>
            <a:prstGeom prst="roundRect">
              <a:avLst>
                <a:gd name="adj" fmla="val 45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94757" y="3772376"/>
              <a:ext cx="19313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p2/C3.java（不同包，非子类）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185410" y="4852035"/>
              <a:ext cx="6454140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85410" y="4994910"/>
              <a:ext cx="6454140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85410" y="5136832"/>
              <a:ext cx="6454140" cy="14192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94948" y="4030742"/>
              <a:ext cx="2447544" cy="15740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p2;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p1.C1;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C3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aMethod()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C1 o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C1();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= o.x;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public，可以访问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= o.y;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包访问权限，编译错误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= o.z;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protected，编译错误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= o.w;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private，编译错误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9" name="Rectangle 2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6039326"/>
              <a:ext cx="7742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javac 25 实测：C2 报 1 个错（w 是 private），C3 报 3 个错（y、z、w），与表里的 ✗ 一一对应。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40584" cy="909257"/>
            <a:chOff x="520446" y="342900"/>
            <a:chExt cx="84405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405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跨包的真正规则：只能通过子类自己的引用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151762" cy="308039"/>
            <a:chOff x="525399" y="1550194"/>
            <a:chExt cx="815176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1517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表格里「不同包中的子类可以访问 protected」这一格有附加条件，源课件没有展开。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67865"/>
            <a:ext cx="5626418" cy="2936558"/>
            <a:chOff x="533400" y="1967865"/>
            <a:chExt cx="5626418" cy="293655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819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p2/Sub.java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165282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381726"/>
              <a:ext cx="3787902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p2;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p1.C1;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C1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.z);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合法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 s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System.out.println(s.z);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合法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C1 other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C1();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System.out.println(other.z);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编译错误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5094922"/>
            <a:ext cx="5626418" cy="1033462"/>
            <a:chOff x="533400" y="5094922"/>
            <a:chExt cx="5626418" cy="1033462"/>
          </a:xfrm>
        </p:grpSpPr>
        <p:sp>
          <p:nvSpPr>
            <p:cNvPr id="14" name="Rectangle 14"/>
            <p:cNvSpPr/>
            <p:nvPr/>
          </p:nvSpPr>
          <p:spPr>
            <a:xfrm>
              <a:off x="533400" y="5094922"/>
              <a:ext cx="5626418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5246846"/>
              <a:ext cx="15152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javac 25 的报错（实测）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797" y="5506879"/>
              <a:ext cx="2430653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z 在 C1 中是 protected 访问控制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System.out.println(other.z);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^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967865"/>
            <a:ext cx="5193982" cy="2587942"/>
            <a:chOff x="6464618" y="1967865"/>
            <a:chExt cx="5193982" cy="2587942"/>
          </a:xfrm>
        </p:grpSpPr>
        <p:sp>
          <p:nvSpPr>
            <p:cNvPr id="18" name="Rectangle 18"/>
            <p:cNvSpPr/>
            <p:nvPr/>
          </p:nvSpPr>
          <p:spPr>
            <a:xfrm>
              <a:off x="6464618" y="1967865"/>
              <a:ext cx="5193982" cy="2587942"/>
            </a:xfrm>
            <a:prstGeom prst="roundRect">
              <a:avLst>
                <a:gd name="adj" fmla="val 515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7416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6532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75195" y="2212658"/>
              <a:ext cx="3009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跨包访问 protected 成员的条件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6548" y="2573655"/>
              <a:ext cx="4491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在子类 Sub 的代码里访问父类 C1 的 protected 成员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时，访问的目标必须是 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Sub 或 Sub 的子类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类型的对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象。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679883" y="354330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37998" y="348043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this.z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子类引用.z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可以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679883" y="387858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37998" y="3815715"/>
              <a:ext cx="45975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父类引用.z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不可以，哪怕它实际指向一个 Sub 对象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7691" y="4146709"/>
              <a:ext cx="2802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这条写在 Java 语言规范 6.6.2 节。</a:t>
              </a:r>
            </a:p>
          </p:txBody>
        </p:sp>
      </p:grpSp>
      <p:grpSp>
        <p:nvGrpSpPr>
          <p:cNvPr id="36" name="c2-bullets-2"/>
          <p:cNvGrpSpPr/>
          <p:nvPr/>
        </p:nvGrpSpPr>
        <p:grpSpPr>
          <a:xfrm>
            <a:off x="6456998" y="4771072"/>
            <a:ext cx="4968240" cy="1623060"/>
            <a:chOff x="6456998" y="4771072"/>
            <a:chExt cx="4968240" cy="1623060"/>
          </a:xfrm>
        </p:grpSpPr>
        <p:sp>
          <p:nvSpPr>
            <p:cNvPr id="29" name="TextBox 29"/>
            <p:cNvSpPr txBox="1"/>
            <p:nvPr/>
          </p:nvSpPr>
          <p:spPr>
            <a:xfrm>
              <a:off x="6456998" y="477107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选访问控制符的顺序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464618" y="515683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15125" y="5125402"/>
              <a:ext cx="3629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先一律写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，需要外面用了再放开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464618" y="5501640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5125" y="5470208"/>
              <a:ext cx="4710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只给同包用就不写控制符，只给子类用写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protected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464618" y="584644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5125" y="5815012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一旦发布就很难收回，方法可以 public，变量成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员尽量不要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7761" cy="909257"/>
            <a:chOff x="520446" y="342900"/>
            <a:chExt cx="66177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77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3.1.4 构造方法：保证每个对象都被初始化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341245"/>
            <a:chOff x="533400" y="1524000"/>
            <a:chExt cx="5410200" cy="2341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176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 Constructor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用来初始化类对象的特殊方法。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6507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方法名与类名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完全相同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800350"/>
              <a:ext cx="2751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没有返回类型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，连 void 都不写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1984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135630"/>
              <a:ext cx="4349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只能用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关键字调用，不能像普通方法那样写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对</a:t>
              </a:r>
              <a:br/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象.类名()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33400" y="4077176"/>
            <a:ext cx="5136706" cy="1346645"/>
            <a:chOff x="533400" y="4077176"/>
            <a:chExt cx="5136706" cy="1346645"/>
          </a:xfrm>
        </p:grpSpPr>
        <p:sp>
          <p:nvSpPr>
            <p:cNvPr id="20" name="Freeform 20"/>
            <p:cNvSpPr/>
            <p:nvPr/>
          </p:nvSpPr>
          <p:spPr>
            <a:xfrm>
              <a:off x="533400" y="4103370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4096" y="4077176"/>
              <a:ext cx="4808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类里一个构造方法都不写时，Java 自动提供一个无参的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默认构造方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，所以任何类都有构造方法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3400" y="4652962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4096" y="462581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构造方法可以重载，参数列表不同就是不同的构造方法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33400" y="4958715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4096" y="4931569"/>
              <a:ext cx="4906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构造方法第一条语句若不是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this(...)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super(...)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，编译器自动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插入一句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super();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248400" y="1524000"/>
            <a:ext cx="5410200" cy="2125028"/>
            <a:chOff x="6248400" y="1524000"/>
            <a:chExt cx="5410200" cy="2125028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6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重载的构造方法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035" y="1937861"/>
              <a:ext cx="4043934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Point3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y;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Point3() {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(0, 0); }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调另一个构造方法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Point3(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.x = x;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.y = y;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839528"/>
            <a:ext cx="5410200" cy="1887855"/>
            <a:chOff x="6248400" y="3839528"/>
            <a:chExt cx="5410200" cy="1887855"/>
          </a:xfrm>
        </p:grpSpPr>
        <p:sp>
          <p:nvSpPr>
            <p:cNvPr id="31" name="Rectangle 31"/>
            <p:cNvSpPr/>
            <p:nvPr/>
          </p:nvSpPr>
          <p:spPr>
            <a:xfrm>
              <a:off x="6248400" y="3839528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3972878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40490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86258" y="40847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4426268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原课件写「若构造方法体定义为空，则自动调用其父类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的构造方法」。与方法体是否为空无关：只要第一条语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句不是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this(...)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super(...)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，编译器就插入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super()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，父类没有无参构造方法时直接编译报错。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91429" cy="909257"/>
            <a:chOff x="520446" y="342900"/>
            <a:chExt cx="51914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914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3.3：构造方法什么时候被调用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936558"/>
            <a:chOff x="533400" y="1524000"/>
            <a:chExt cx="5410200" cy="2936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无参构造方法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453638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Rock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Rock()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"Rock 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SimpleConstructor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10; i++)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Rock();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651058"/>
            <a:ext cx="5410200" cy="681990"/>
            <a:chOff x="533400" y="4651058"/>
            <a:chExt cx="5410200" cy="681990"/>
          </a:xfrm>
        </p:grpSpPr>
        <p:sp>
          <p:nvSpPr>
            <p:cNvPr id="11" name="Rectangle 11"/>
            <p:cNvSpPr/>
            <p:nvPr/>
          </p:nvSpPr>
          <p:spPr>
            <a:xfrm>
              <a:off x="533400" y="4651058"/>
              <a:ext cx="5410200" cy="681990"/>
            </a:xfrm>
            <a:prstGeom prst="roundRect">
              <a:avLst>
                <a:gd name="adj" fmla="val 139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80298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5063014"/>
              <a:ext cx="36156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Rock Rock Rock Rock Rock Rock Rock Rock Rock Rock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248400" y="1524000"/>
            <a:ext cx="5410200" cy="1442085"/>
            <a:chOff x="6248400" y="1524000"/>
            <a:chExt cx="5410200" cy="1442085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1442085"/>
            </a:xfrm>
            <a:prstGeom prst="roundRect">
              <a:avLst>
                <a:gd name="adj" fmla="val 66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带参构造方法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988" y="1934766"/>
              <a:ext cx="2592578" cy="945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Rock2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Rock2(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"Rock"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main 里同样循环十次：new Rock2(i);</a:t>
              </a:r>
            </a:p>
          </p:txBody>
        </p:sp>
      </p:grpSp>
      <p:grpSp>
        <p:nvGrpSpPr>
          <p:cNvPr id="22" name="c2-code-2"/>
          <p:cNvGrpSpPr/>
          <p:nvPr/>
        </p:nvGrpSpPr>
        <p:grpSpPr>
          <a:xfrm>
            <a:off x="6248400" y="3156585"/>
            <a:ext cx="5410200" cy="664845"/>
            <a:chOff x="6248400" y="3156585"/>
            <a:chExt cx="5410200" cy="664845"/>
          </a:xfrm>
        </p:grpSpPr>
        <p:sp>
          <p:nvSpPr>
            <p:cNvPr id="19" name="Rectangle 19"/>
            <p:cNvSpPr/>
            <p:nvPr/>
          </p:nvSpPr>
          <p:spPr>
            <a:xfrm>
              <a:off x="6248400" y="3156585"/>
              <a:ext cx="5410200" cy="664845"/>
            </a:xfrm>
            <a:prstGeom prst="roundRect">
              <a:avLst>
                <a:gd name="adj" fmla="val 1432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33085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988" y="3568303"/>
              <a:ext cx="381952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Rock0 Rock1 Rock2 Rock3 Rock4 Rock5 Rock6 Rock7 Rock8 Rock9</a:t>
              </a:r>
            </a:p>
          </p:txBody>
        </p:sp>
      </p:grpSp>
      <p:grpSp>
        <p:nvGrpSpPr>
          <p:cNvPr id="28" name="c2-card-3"/>
          <p:cNvGrpSpPr/>
          <p:nvPr/>
        </p:nvGrpSpPr>
        <p:grpSpPr>
          <a:xfrm>
            <a:off x="6248400" y="4011930"/>
            <a:ext cx="5410200" cy="1320165"/>
            <a:chOff x="6248400" y="4011930"/>
            <a:chExt cx="5410200" cy="1320165"/>
          </a:xfrm>
        </p:grpSpPr>
        <p:sp>
          <p:nvSpPr>
            <p:cNvPr id="23" name="Rectangle 23"/>
            <p:cNvSpPr/>
            <p:nvPr/>
          </p:nvSpPr>
          <p:spPr>
            <a:xfrm>
              <a:off x="6248400" y="4011930"/>
              <a:ext cx="5410200" cy="1320165"/>
            </a:xfrm>
            <a:prstGeom prst="roundRect">
              <a:avLst>
                <a:gd name="adj" fmla="val 101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4145280"/>
              <a:ext cx="47625" cy="1053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42214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6258" y="4258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430" y="4599622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"Rock" + i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中间没有空格，输出应为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Rock0 Rock1 …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原课件还把循环条件写成大写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 &lt; 10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9" name="Rectangle 2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991225"/>
              <a:ext cx="6567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 new 一次，对应的构造方法就执行一次；打印的次数就是对象的个数。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构造方法的三个坑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2207895"/>
            <a:chOff x="533400" y="1524000"/>
            <a:chExt cx="5410200" cy="2207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坑一：写了返回类型就不是构造方法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7647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416" y="1937385"/>
              <a:ext cx="3191066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Dog(String n) { name = n;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Dog d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调的是默认构造方法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System.out.println(d.name);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null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d.Dog(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"Rex"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这是普通方法调用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System.out.println(d.name);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Rex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3907155"/>
            <a:ext cx="5410200" cy="729615"/>
            <a:chOff x="533400" y="3907155"/>
            <a:chExt cx="5410200" cy="729615"/>
          </a:xfrm>
        </p:grpSpPr>
        <p:sp>
          <p:nvSpPr>
            <p:cNvPr id="12" name="Rectangle 12"/>
            <p:cNvSpPr/>
            <p:nvPr/>
          </p:nvSpPr>
          <p:spPr>
            <a:xfrm>
              <a:off x="533400" y="390715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26129" y="4168258"/>
              <a:ext cx="224134" cy="192560"/>
              <a:chOff x="726129" y="4168258"/>
              <a:chExt cx="224134" cy="19256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38200" y="42386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26129" y="41682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43164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4053840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加了 void 之后编译器不报错，只是把它当成一个名字恰好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与类名相同的普通方法，错误只在运行时暴露。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812030"/>
            <a:ext cx="5410200" cy="1511618"/>
            <a:chOff x="533400" y="4812030"/>
            <a:chExt cx="5410200" cy="1511618"/>
          </a:xfrm>
        </p:grpSpPr>
        <p:sp>
          <p:nvSpPr>
            <p:cNvPr id="19" name="Rectangle 19"/>
            <p:cNvSpPr/>
            <p:nvPr/>
          </p:nvSpPr>
          <p:spPr>
            <a:xfrm>
              <a:off x="533400" y="4812030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94538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500443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3341" y="503872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怎么一眼认出构造方法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536067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看两点：名字与类名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逐字符相同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，并且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没有返回类型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。两条都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满足才是构造方法，少一条就是普通方法。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7047" y="59207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编译器不会替你提醒，只能自己看。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248400" y="1524000"/>
            <a:ext cx="5410200" cy="1640205"/>
            <a:chOff x="6248400" y="1524000"/>
            <a:chExt cx="5410200" cy="164020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797" y="1675924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坑二：自己写了构造方法，默认的就没了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67450" y="284416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416" y="1937385"/>
              <a:ext cx="2744343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Point3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Point3(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{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.x = x;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Point3 p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Point3();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编译错误</a:t>
              </a:r>
            </a:p>
          </p:txBody>
        </p:sp>
      </p:grpSp>
      <p:grpSp>
        <p:nvGrpSpPr>
          <p:cNvPr id="34" name="c2-code-2"/>
          <p:cNvGrpSpPr/>
          <p:nvPr/>
        </p:nvGrpSpPr>
        <p:grpSpPr>
          <a:xfrm>
            <a:off x="6248400" y="3339465"/>
            <a:ext cx="5410200" cy="1148715"/>
            <a:chOff x="6248400" y="3339465"/>
            <a:chExt cx="5410200" cy="1148715"/>
          </a:xfrm>
        </p:grpSpPr>
        <p:sp>
          <p:nvSpPr>
            <p:cNvPr id="31" name="Rectangle 31"/>
            <p:cNvSpPr/>
            <p:nvPr/>
          </p:nvSpPr>
          <p:spPr>
            <a:xfrm>
              <a:off x="6248400" y="3339465"/>
              <a:ext cx="5410200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797" y="3491389"/>
              <a:ext cx="15152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javac 25 的报错（实测）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988" y="3750659"/>
              <a:ext cx="2222373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无法将类 Point3中的构造器 Point3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应用到给定类型;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需要: int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找到:    没有参数</a:t>
              </a:r>
            </a:p>
          </p:txBody>
        </p:sp>
      </p:grpSp>
      <p:grpSp>
        <p:nvGrpSpPr>
          <p:cNvPr id="40" name="c2-card-3"/>
          <p:cNvGrpSpPr/>
          <p:nvPr/>
        </p:nvGrpSpPr>
        <p:grpSpPr>
          <a:xfrm>
            <a:off x="6248400" y="4663440"/>
            <a:ext cx="5410200" cy="1661160"/>
            <a:chOff x="6248400" y="4663440"/>
            <a:chExt cx="5410200" cy="1661160"/>
          </a:xfrm>
        </p:grpSpPr>
        <p:sp>
          <p:nvSpPr>
            <p:cNvPr id="35" name="Rectangle 35"/>
            <p:cNvSpPr/>
            <p:nvPr/>
          </p:nvSpPr>
          <p:spPr>
            <a:xfrm>
              <a:off x="6248400" y="4663440"/>
              <a:ext cx="5410200" cy="1661160"/>
            </a:xfrm>
            <a:prstGeom prst="roundRect">
              <a:avLst>
                <a:gd name="adj" fmla="val 80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4796790"/>
              <a:ext cx="47625" cy="139446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8905" y="48558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0345" y="48901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坑三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2047" y="521208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构造方法不能被继承。子类不会自动拥有父类的构造方法，只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能在自己的构造方法里用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super(...)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去调。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0189" cy="909257"/>
            <a:chOff x="520446" y="342900"/>
            <a:chExt cx="62701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0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3.1.5 finalize()：今天已经不该再用它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2508885"/>
            <a:chOff x="533400" y="1524000"/>
            <a:chExt cx="5626418" cy="2508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08885"/>
            </a:xfrm>
            <a:prstGeom prst="roundRect">
              <a:avLst>
                <a:gd name="adj" fmla="val 5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4218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源课件的说法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777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finalize()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负责回收无用对象占据的特殊内存资源。有些内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存不是由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分配的（例如用类似 C 语言的方式、通过本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地方法拿到的一块区域），垃圾回收器不认识它，需要在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finalize() 里自己释放。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303270"/>
              <a:ext cx="4834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finalize()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不是 C++ 中的析构函数，不能把它当成通用的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清理方法。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25780" y="4248150"/>
            <a:ext cx="3976446" cy="1211865"/>
            <a:chOff x="525780" y="4248150"/>
            <a:chExt cx="3976446" cy="1211865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42481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为什么不能当析构函数用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2925" y="465105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8373" y="459914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调用时机不确定，对象可能到程序结束都没被回收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42925" y="495681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8373" y="490489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不保证一定被调用，也不保证调用顺序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42925" y="526256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373" y="521065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里面抛出的异常会被直接忽略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2202180"/>
            <a:chOff x="6464618" y="1524000"/>
            <a:chExt cx="5193982" cy="2202180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2202180"/>
            </a:xfrm>
            <a:prstGeom prst="roundRect">
              <a:avLst>
                <a:gd name="adj" fmla="val 6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1657350"/>
              <a:ext cx="47625" cy="193548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122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945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版本更正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98092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整个终结机制已被标记为待移除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17983" y="219265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76098" y="2129790"/>
              <a:ext cx="4564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JDK 9 起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Object.finalize()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被标注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@Deprecated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17983" y="25279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76098" y="2465070"/>
              <a:ext cx="4196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18 起（JEP 421）整个终结机制被标记为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待移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，可以用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--finalization=disabled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直接关掉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791" y="3082766"/>
              <a:ext cx="44102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 JDK 25 实测：该方法的 @Deprecated 注解 forRemoval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 true。</a:t>
              </a:r>
            </a:p>
          </p:txBody>
        </p:sp>
      </p:grpSp>
      <p:grpSp>
        <p:nvGrpSpPr>
          <p:cNvPr id="36" name="c2-code-2"/>
          <p:cNvGrpSpPr/>
          <p:nvPr/>
        </p:nvGrpSpPr>
        <p:grpSpPr>
          <a:xfrm>
            <a:off x="6464618" y="3916680"/>
            <a:ext cx="5193982" cy="1033462"/>
            <a:chOff x="6464618" y="3916680"/>
            <a:chExt cx="5193982" cy="1033462"/>
          </a:xfrm>
        </p:grpSpPr>
        <p:sp>
          <p:nvSpPr>
            <p:cNvPr id="33" name="Rectangle 33"/>
            <p:cNvSpPr/>
            <p:nvPr/>
          </p:nvSpPr>
          <p:spPr>
            <a:xfrm>
              <a:off x="6464618" y="3916680"/>
              <a:ext cx="5193982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93015" y="4068604"/>
              <a:ext cx="21659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今天的写法：try-with-resources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93015" y="4328636"/>
              <a:ext cx="3090291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"a.txt"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用 in 读文件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离开 try 块自动 close()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464618" y="5140642"/>
            <a:ext cx="5193982" cy="1059180"/>
            <a:chOff x="6464618" y="5140642"/>
            <a:chExt cx="5193982" cy="1059180"/>
          </a:xfrm>
        </p:grpSpPr>
        <p:sp>
          <p:nvSpPr>
            <p:cNvPr id="37" name="Rectangle 37"/>
            <p:cNvSpPr/>
            <p:nvPr/>
          </p:nvSpPr>
          <p:spPr>
            <a:xfrm>
              <a:off x="6464618" y="5140642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5570222"/>
              <a:ext cx="200023" cy="200023"/>
              <a:chOff x="6669405" y="5570222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669405" y="55702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02755" y="56368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348" y="5289232"/>
              <a:ext cx="4225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需要释放文件、网络连接这类资源时，实现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AutoCloseable 并用 try-with-resources，不要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指望 finalize()。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48148" cy="909257"/>
            <a:chOff x="520446" y="342900"/>
            <a:chExt cx="48481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2599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662" y="407194"/>
              <a:ext cx="21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3.1 Java 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481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 小结：一个类里能写些什么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533400" y="1629728"/>
            <a:ext cx="6059805" cy="3602355"/>
            <a:chOff x="533400" y="1629728"/>
            <a:chExt cx="6059805" cy="3602355"/>
          </a:xfrm>
        </p:grpSpPr>
        <p:sp>
          <p:nvSpPr>
            <p:cNvPr id="7" name="Freeform 7"/>
            <p:cNvSpPr/>
            <p:nvPr/>
          </p:nvSpPr>
          <p:spPr>
            <a:xfrm>
              <a:off x="3604260" y="1796415"/>
              <a:ext cx="419100" cy="272415"/>
            </a:xfrm>
            <a:custGeom>
              <a:avLst/>
              <a:gdLst/>
              <a:ahLst/>
              <a:cxnLst/>
              <a:rect l="l" t="t" r="r" b="b"/>
              <a:pathLst>
                <a:path w="419100" h="272415">
                  <a:moveTo>
                    <a:pt x="0" y="272415"/>
                  </a:moveTo>
                  <a:lnTo>
                    <a:pt x="209550" y="2724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04260" y="2068830"/>
              <a:ext cx="419100" cy="272415"/>
            </a:xfrm>
            <a:custGeom>
              <a:avLst/>
              <a:gdLst/>
              <a:ahLst/>
              <a:cxnLst/>
              <a:rect l="l" t="t" r="r" b="b"/>
              <a:pathLst>
                <a:path w="419100" h="272415">
                  <a:moveTo>
                    <a:pt x="0" y="0"/>
                  </a:moveTo>
                  <a:lnTo>
                    <a:pt x="209550" y="0"/>
                  </a:lnTo>
                  <a:lnTo>
                    <a:pt x="209550" y="272415"/>
                  </a:lnTo>
                  <a:lnTo>
                    <a:pt x="419100" y="2724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604260" y="2886075"/>
              <a:ext cx="419100" cy="817245"/>
            </a:xfrm>
            <a:custGeom>
              <a:avLst/>
              <a:gdLst/>
              <a:ahLst/>
              <a:cxnLst/>
              <a:rect l="l" t="t" r="r" b="b"/>
              <a:pathLst>
                <a:path w="419100" h="817245">
                  <a:moveTo>
                    <a:pt x="0" y="817245"/>
                  </a:moveTo>
                  <a:lnTo>
                    <a:pt x="209550" y="81724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04260" y="3430905"/>
              <a:ext cx="419100" cy="272415"/>
            </a:xfrm>
            <a:custGeom>
              <a:avLst/>
              <a:gdLst/>
              <a:ahLst/>
              <a:cxnLst/>
              <a:rect l="l" t="t" r="r" b="b"/>
              <a:pathLst>
                <a:path w="419100" h="272415">
                  <a:moveTo>
                    <a:pt x="0" y="272415"/>
                  </a:moveTo>
                  <a:lnTo>
                    <a:pt x="209550" y="2724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604260" y="3703320"/>
              <a:ext cx="419100" cy="272415"/>
            </a:xfrm>
            <a:custGeom>
              <a:avLst/>
              <a:gdLst/>
              <a:ahLst/>
              <a:cxnLst/>
              <a:rect l="l" t="t" r="r" b="b"/>
              <a:pathLst>
                <a:path w="419100" h="272415">
                  <a:moveTo>
                    <a:pt x="0" y="0"/>
                  </a:moveTo>
                  <a:lnTo>
                    <a:pt x="209550" y="0"/>
                  </a:lnTo>
                  <a:lnTo>
                    <a:pt x="209550" y="272415"/>
                  </a:lnTo>
                  <a:lnTo>
                    <a:pt x="419100" y="2724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04260" y="3703320"/>
              <a:ext cx="419100" cy="817245"/>
            </a:xfrm>
            <a:custGeom>
              <a:avLst/>
              <a:gdLst/>
              <a:ahLst/>
              <a:cxnLst/>
              <a:rect l="l" t="t" r="r" b="b"/>
              <a:pathLst>
                <a:path w="419100" h="817245">
                  <a:moveTo>
                    <a:pt x="0" y="0"/>
                  </a:moveTo>
                  <a:lnTo>
                    <a:pt x="209550" y="0"/>
                  </a:lnTo>
                  <a:lnTo>
                    <a:pt x="209550" y="817245"/>
                  </a:lnTo>
                  <a:lnTo>
                    <a:pt x="419100" y="81724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04260" y="506539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88745" y="2068830"/>
              <a:ext cx="419100" cy="1498282"/>
            </a:xfrm>
            <a:custGeom>
              <a:avLst/>
              <a:gdLst/>
              <a:ahLst/>
              <a:cxnLst/>
              <a:rect l="l" t="t" r="r" b="b"/>
              <a:pathLst>
                <a:path w="419100" h="1498282">
                  <a:moveTo>
                    <a:pt x="0" y="1498282"/>
                  </a:moveTo>
                  <a:lnTo>
                    <a:pt x="209550" y="149828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388745" y="3567112"/>
              <a:ext cx="419100" cy="136208"/>
            </a:xfrm>
            <a:custGeom>
              <a:avLst/>
              <a:gdLst/>
              <a:ahLst/>
              <a:cxnLst/>
              <a:rect l="l" t="t" r="r" b="b"/>
              <a:pathLst>
                <a:path w="419100" h="136208">
                  <a:moveTo>
                    <a:pt x="0" y="0"/>
                  </a:moveTo>
                  <a:lnTo>
                    <a:pt x="209550" y="0"/>
                  </a:lnTo>
                  <a:lnTo>
                    <a:pt x="209550" y="136208"/>
                  </a:lnTo>
                  <a:lnTo>
                    <a:pt x="419100" y="1362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88745" y="3567112"/>
              <a:ext cx="419100" cy="1498282"/>
            </a:xfrm>
            <a:custGeom>
              <a:avLst/>
              <a:gdLst/>
              <a:ahLst/>
              <a:cxnLst/>
              <a:rect l="l" t="t" r="r" b="b"/>
              <a:pathLst>
                <a:path w="419100" h="1498282">
                  <a:moveTo>
                    <a:pt x="0" y="0"/>
                  </a:moveTo>
                  <a:lnTo>
                    <a:pt x="209550" y="0"/>
                  </a:lnTo>
                  <a:lnTo>
                    <a:pt x="209550" y="1498282"/>
                  </a:lnTo>
                  <a:lnTo>
                    <a:pt x="419100" y="149828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23360" y="1629728"/>
              <a:ext cx="256984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023360" y="2174558"/>
              <a:ext cx="256984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807845" y="1902142"/>
              <a:ext cx="1796415" cy="333375"/>
            </a:xfrm>
            <a:prstGeom prst="roundRect">
              <a:avLst>
                <a:gd name="adj" fmla="val 28571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023360" y="2719388"/>
              <a:ext cx="256984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23360" y="3264218"/>
              <a:ext cx="256984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23360" y="3809048"/>
              <a:ext cx="256984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023360" y="4353878"/>
              <a:ext cx="256984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07845" y="3536632"/>
              <a:ext cx="1796415" cy="333375"/>
            </a:xfrm>
            <a:prstGeom prst="roundRect">
              <a:avLst>
                <a:gd name="adj" fmla="val 28571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23360" y="4898708"/>
              <a:ext cx="256984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807845" y="4898708"/>
              <a:ext cx="1796415" cy="333375"/>
            </a:xfrm>
            <a:prstGeom prst="roundRect">
              <a:avLst>
                <a:gd name="adj" fmla="val 28571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400425"/>
              <a:ext cx="855345" cy="333375"/>
            </a:xfrm>
            <a:prstGeom prst="roundRect">
              <a:avLst>
                <a:gd name="adj" fmla="val 2857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13276" y="1723072"/>
              <a:ext cx="908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类变量 static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13276" y="2267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实例变量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7761" y="19954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变量成员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13276" y="2812732"/>
              <a:ext cx="908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类方法 static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13276" y="33575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实例方法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13276" y="3902393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构造方法（名同类名、无返回类型）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13276" y="4447222"/>
              <a:ext cx="1530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finalize()（已不推荐）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97761" y="36299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方法成员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13276" y="4992052"/>
              <a:ext cx="2385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 / protected / 默认 / private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97761" y="49920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每个成员都带访问控制符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3316" y="3493770"/>
              <a:ext cx="567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 class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891147" y="1545907"/>
            <a:ext cx="4471035" cy="1567340"/>
            <a:chOff x="6891147" y="1545907"/>
            <a:chExt cx="4471035" cy="1567340"/>
          </a:xfrm>
        </p:grpSpPr>
        <p:sp>
          <p:nvSpPr>
            <p:cNvPr id="40" name="TextBox 40"/>
            <p:cNvSpPr txBox="1"/>
            <p:nvPr/>
          </p:nvSpPr>
          <p:spPr>
            <a:xfrm>
              <a:off x="6891147" y="154590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本节要能做到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898005" y="1852612"/>
              <a:ext cx="160020" cy="16002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43710" y="188433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47560" y="1862614"/>
              <a:ext cx="4210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照格式写出类声明，说出 abstract 与 final 不能同时写的理由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98005" y="2125028"/>
              <a:ext cx="160020" cy="16002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43710" y="215674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47560" y="213502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区分类变量与实例变量在内存中的份数和访问方式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898005" y="2397442"/>
              <a:ext cx="160020" cy="16002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43710" y="242916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47560" y="2407444"/>
              <a:ext cx="4214622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判断一处访问在四种权限下能否编译，跨包 protected 要看引用的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898005" y="2883218"/>
              <a:ext cx="160020" cy="16002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43710" y="291588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47560" y="289321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说出默认构造方法什么时候在、什么时候消失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898005" y="3244215"/>
            <a:ext cx="4760595" cy="1860232"/>
            <a:chOff x="6898005" y="3244215"/>
            <a:chExt cx="4760595" cy="1860232"/>
          </a:xfrm>
        </p:grpSpPr>
        <p:sp>
          <p:nvSpPr>
            <p:cNvPr id="54" name="Rectangle 54"/>
            <p:cNvSpPr/>
            <p:nvPr/>
          </p:nvSpPr>
          <p:spPr>
            <a:xfrm>
              <a:off x="6898005" y="3244215"/>
              <a:ext cx="4760595" cy="1860232"/>
            </a:xfrm>
            <a:prstGeom prst="roundRect">
              <a:avLst>
                <a:gd name="adj" fmla="val 7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7530" y="3377565"/>
              <a:ext cx="47625" cy="15935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28510" y="34366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95947" y="34709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这几处最容易写错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37082" y="385000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93102" y="379380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构造方法前面加了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void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37082" y="4151948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93102" y="4095750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类方法里用实例变量或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this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37082" y="445484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93102" y="4398645"/>
              <a:ext cx="320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跨包时用父类引用访问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protected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成员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137082" y="475678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93102" y="4700588"/>
              <a:ext cx="3021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写了带参构造方法后还调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类名()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898005" y="5279708"/>
            <a:ext cx="4760595" cy="729615"/>
            <a:chOff x="6898005" y="5279708"/>
            <a:chExt cx="4760595" cy="729615"/>
          </a:xfrm>
        </p:grpSpPr>
        <p:sp>
          <p:nvSpPr>
            <p:cNvPr id="67" name="Rectangle 67"/>
            <p:cNvSpPr/>
            <p:nvPr/>
          </p:nvSpPr>
          <p:spPr>
            <a:xfrm>
              <a:off x="6898005" y="527970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102793" y="5544505"/>
              <a:ext cx="200023" cy="200023"/>
              <a:chOff x="7102793" y="5544505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102793" y="55445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236143" y="56111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405497" y="5425440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写类之前先问两句：这个数据是每个对象各一份还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是全类共用一份？这个成员要不要给类外面看见？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913376" cy="2643187"/>
            <a:chOff x="667512" y="1835468"/>
            <a:chExt cx="4913376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3023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Java 对象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对象怎么生成、放在哪、怎么初始化、怎么被回收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声明、实例化、初始化是三件事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变量里装的是引用不是对象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7761" cy="909257"/>
            <a:chOff x="520446" y="342900"/>
            <a:chExt cx="66177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77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3.2.1 对象的创建：声明、实例化、初始化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704850"/>
            <a:chOff x="533400" y="1524000"/>
            <a:chExt cx="5193982" cy="704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一般格式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类型 对象名 = new 类型([参数列表]);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419350"/>
            <a:ext cx="5193982" cy="1313498"/>
            <a:chOff x="533400" y="2419350"/>
            <a:chExt cx="5193982" cy="1313498"/>
          </a:xfrm>
        </p:grpSpPr>
        <p:sp>
          <p:nvSpPr>
            <p:cNvPr id="11" name="Rectangle 11"/>
            <p:cNvSpPr/>
            <p:nvPr/>
          </p:nvSpPr>
          <p:spPr>
            <a:xfrm>
              <a:off x="533400" y="2419350"/>
              <a:ext cx="519398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5712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拆成两步看得更清楚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2833211"/>
              <a:ext cx="3994150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Television tv;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只是声明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tv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Television();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实例化 + 初始化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Television tv2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Television();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合起来写</a:t>
              </a:r>
            </a:p>
          </p:txBody>
        </p:sp>
      </p:grpSp>
      <p:grpSp>
        <p:nvGrpSpPr>
          <p:cNvPr id="28" name="c1-steps-3"/>
          <p:cNvGrpSpPr/>
          <p:nvPr/>
        </p:nvGrpSpPr>
        <p:grpSpPr>
          <a:xfrm>
            <a:off x="533400" y="3932872"/>
            <a:ext cx="4839081" cy="2112931"/>
            <a:chOff x="533400" y="3932872"/>
            <a:chExt cx="4839081" cy="2112931"/>
          </a:xfrm>
        </p:grpSpPr>
        <p:sp>
          <p:nvSpPr>
            <p:cNvPr id="15" name="Rectangle 15"/>
            <p:cNvSpPr/>
            <p:nvPr/>
          </p:nvSpPr>
          <p:spPr>
            <a:xfrm>
              <a:off x="666750" y="4075748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93287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66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81869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892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4692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543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6716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61009"/>
              <a:ext cx="4426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Television tv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在栈上开一个能装引用的位置，此时 tv 的值是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85298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5145881"/>
              <a:ext cx="40020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在堆上按类的描述划一块内存，成员先取默认值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55035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5796439"/>
              <a:ext cx="4389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执行构造方法，把成员改成该有的值，最后把地址交给 tv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032182" y="1524000"/>
            <a:ext cx="5626418" cy="1701165"/>
            <a:chOff x="6032182" y="1524000"/>
            <a:chExt cx="5626418" cy="1701165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1701165"/>
            </a:xfrm>
            <a:prstGeom prst="roundRect">
              <a:avLst>
                <a:gd name="adj" fmla="val 7839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173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1913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对象的使用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34112" y="2110740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都通过取成员运算符 </a:t>
              </a:r>
              <a:r>
                <a:rPr lang="zh-CN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.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完成：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47448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5562" y="2446020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对象引用.变量名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引用变量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7448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05562" y="2781300"/>
              <a:ext cx="3660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对象引用.方法名([参数列表])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调用方法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032182" y="3415665"/>
            <a:ext cx="5626418" cy="1937385"/>
            <a:chOff x="6032182" y="3415665"/>
            <a:chExt cx="5626418" cy="1937385"/>
          </a:xfrm>
        </p:grpSpPr>
        <p:sp>
          <p:nvSpPr>
            <p:cNvPr id="38" name="Rectangle 38"/>
            <p:cNvSpPr/>
            <p:nvPr/>
          </p:nvSpPr>
          <p:spPr>
            <a:xfrm>
              <a:off x="6032182" y="3415665"/>
              <a:ext cx="5626418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41708" y="354901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79832" y="362521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7239" y="36609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对象的清除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2212" y="4002405"/>
              <a:ext cx="4872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运行时系统通过自动垃圾回收机制周期性地清除无用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对象、释放内存，不需要写代码去删对象。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2212" y="462343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把引用置为 null，或者让引用离开作用域，对象就成了垃圾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回收的候选。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032182" y="5543550"/>
            <a:ext cx="5626418" cy="782955"/>
            <a:chOff x="6032182" y="5543550"/>
            <a:chExt cx="5626418" cy="782955"/>
          </a:xfrm>
        </p:grpSpPr>
        <p:sp>
          <p:nvSpPr>
            <p:cNvPr id="45" name="Rectangle 45"/>
            <p:cNvSpPr/>
            <p:nvPr/>
          </p:nvSpPr>
          <p:spPr>
            <a:xfrm>
              <a:off x="6032182" y="554355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224912" y="5831323"/>
              <a:ext cx="224134" cy="192560"/>
              <a:chOff x="6224912" y="5831323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336983" y="59016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224912" y="58313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336983" y="59794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538912" y="5692140"/>
              <a:ext cx="4558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只写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Television tv;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没有 new，tv 是 null，调它的方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法会抛 NullPointerException。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48148" cy="909257"/>
            <a:chOff x="520446" y="342900"/>
            <a:chExt cx="48481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481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3.4：用两个类算三角形面积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228975"/>
            <a:chOff x="533400" y="1524000"/>
            <a:chExt cx="5842635" cy="3228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228975"/>
            </a:xfrm>
            <a:prstGeom prst="roundRect">
              <a:avLst>
                <a:gd name="adj" fmla="val 29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289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TriangleTest.java（整理后可直接运行）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205861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java.awt.Point;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java.text.DecimalFormat;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Triangle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 p1, p2, p3;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Triangle(Point a, Point b, Point c)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p1 = a; p2 = b; p3 = c;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getTriangleArea()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Math.abs(p1.x * (p2.y - p3.y)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+ p2.x * (p3.y - p1.y)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+ p3.x * (p1.y - p2.y)) / 2.0;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toString()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p1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p2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p3;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928235"/>
            <a:ext cx="5842635" cy="1426845"/>
            <a:chOff x="533400" y="4928235"/>
            <a:chExt cx="5842635" cy="1426845"/>
          </a:xfrm>
        </p:grpSpPr>
        <p:sp>
          <p:nvSpPr>
            <p:cNvPr id="11" name="Rectangle 11"/>
            <p:cNvSpPr/>
            <p:nvPr/>
          </p:nvSpPr>
          <p:spPr>
            <a:xfrm>
              <a:off x="533400" y="4928235"/>
              <a:ext cx="5842635" cy="1426845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5061585"/>
              <a:ext cx="47625" cy="11601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512064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1342" y="515493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这个例子的类设计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5476875"/>
              <a:ext cx="502862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Triangle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把三个顶点设成 private，对外只给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getTriangleArea()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和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toString()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。外面拿不到也改不了顶点，这就是封装。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680835" y="1524000"/>
            <a:ext cx="4977765" cy="1628775"/>
            <a:chOff x="6680835" y="1524000"/>
            <a:chExt cx="4977765" cy="1628775"/>
          </a:xfrm>
        </p:grpSpPr>
        <p:sp>
          <p:nvSpPr>
            <p:cNvPr id="17" name="Rectangle 17"/>
            <p:cNvSpPr/>
            <p:nvPr/>
          </p:nvSpPr>
          <p:spPr>
            <a:xfrm>
              <a:off x="6680835" y="1524000"/>
              <a:ext cx="4977765" cy="1628775"/>
            </a:xfrm>
            <a:prstGeom prst="roundRect">
              <a:avLst>
                <a:gd name="adj" fmla="val 5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9232" y="1675924"/>
              <a:ext cx="877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main 里的对象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09422" y="1935194"/>
              <a:ext cx="3205861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Point a1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Point(0, 0);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Point a2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Point(30, 0);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Point a3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Point(30, 40);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Triangle t1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Triangle(a1, a2, a3);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DecimalFormat twoDigits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DecimalFormat(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"0.00"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output +=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"第一个三角形的面积为："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+ twoDigits.format(t1.getTriangleArea());</a:t>
              </a:r>
            </a:p>
          </p:txBody>
        </p:sp>
      </p:grpSp>
      <p:grpSp>
        <p:nvGrpSpPr>
          <p:cNvPr id="39" name="c2-table-2"/>
          <p:cNvGrpSpPr/>
          <p:nvPr/>
        </p:nvGrpSpPr>
        <p:grpSpPr>
          <a:xfrm>
            <a:off x="6675501" y="3328035"/>
            <a:ext cx="4983099" cy="1683639"/>
            <a:chOff x="6675501" y="3328035"/>
            <a:chExt cx="4983099" cy="1683639"/>
          </a:xfrm>
        </p:grpSpPr>
        <p:sp>
          <p:nvSpPr>
            <p:cNvPr id="21" name="Rectangle 21"/>
            <p:cNvSpPr/>
            <p:nvPr/>
          </p:nvSpPr>
          <p:spPr>
            <a:xfrm>
              <a:off x="6680835" y="3328035"/>
              <a:ext cx="497776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47103" y="34523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三角形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13839" y="34523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三个顶点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755351" y="34523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0848" y="38581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7138" y="3858101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 (30,0) (30,40)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174605" y="3743325"/>
              <a:ext cx="147447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65092" y="385810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600.00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41348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0835" y="413956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0848" y="42638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7138" y="426386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(10,10) (40,50) (0,100)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174605" y="4149090"/>
              <a:ext cx="147447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65092" y="426386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1550.00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80835" y="3328035"/>
              <a:ext cx="497776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472362" y="332803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160318" y="332803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75501" y="4619625"/>
              <a:ext cx="477793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用鞋带公式 S = |x₁(y₂−y₃) + x₂(y₃−y₁) + x₃(y₁−y₂)| / 2 手算，与程序实测结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果一致</a:t>
              </a:r>
            </a:p>
          </p:txBody>
        </p:sp>
      </p:grpSp>
      <p:grpSp>
        <p:nvGrpSpPr>
          <p:cNvPr id="45" name="c2-card-3"/>
          <p:cNvGrpSpPr/>
          <p:nvPr/>
        </p:nvGrpSpPr>
        <p:grpSpPr>
          <a:xfrm>
            <a:off x="6680835" y="5145405"/>
            <a:ext cx="4977765" cy="1209675"/>
            <a:chOff x="6680835" y="5145405"/>
            <a:chExt cx="4977765" cy="1209675"/>
          </a:xfrm>
        </p:grpSpPr>
        <p:sp>
          <p:nvSpPr>
            <p:cNvPr id="40" name="Rectangle 40"/>
            <p:cNvSpPr/>
            <p:nvPr/>
          </p:nvSpPr>
          <p:spPr>
            <a:xfrm>
              <a:off x="6680835" y="5145405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90360" y="527875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11340" y="533781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02780" y="53721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4482" y="5694045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原课件把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import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写成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Import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class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写成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Class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，两处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都编译不过。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对象放在哪里：六个存储区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152697" cy="308039"/>
            <a:chOff x="525399" y="1550194"/>
            <a:chExt cx="515269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1526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new 出来的对象一律在堆上，别的东西各有各的地方。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808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8072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7694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9017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速度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21446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处理器内部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14188" y="255127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编译器分配，程序里无法直接控制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86200" y="25512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最快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1446" y="3000851"/>
              <a:ext cx="19006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RAM，靠栈指针直接支持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4188" y="300085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局部变量、方法参数、对象引用本身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86200" y="3000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很快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21446" y="3449479"/>
              <a:ext cx="16105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RAM 中的通用内存池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215890" y="3323272"/>
              <a:ext cx="46539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14188" y="3449479"/>
              <a:ext cx="2130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new 出来的 Java 对象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86200" y="34494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较慢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38981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21446" y="38981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固定区域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14188" y="3898106"/>
              <a:ext cx="1624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修饰的类变量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86200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43467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常量存储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21446" y="43467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通常直接在代码内部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14188" y="434673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常量值，永远不会被改变，因此安全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86200" y="43467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4795361"/>
              <a:ext cx="9982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 RAM 存储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21446" y="47953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程序之外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14188" y="479536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持久化到磁盘的对象、通过网络传输的数据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86200" y="47953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看介质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30886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0160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87361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callout-2"/>
          <p:cNvGrpSpPr/>
          <p:nvPr/>
        </p:nvGrpSpPr>
        <p:grpSpPr>
          <a:xfrm>
            <a:off x="533400" y="5299710"/>
            <a:ext cx="11125200" cy="1062990"/>
            <a:chOff x="533400" y="5299710"/>
            <a:chExt cx="11125200" cy="1062990"/>
          </a:xfrm>
        </p:grpSpPr>
        <p:sp>
          <p:nvSpPr>
            <p:cNvPr id="52" name="Rectangle 52"/>
            <p:cNvSpPr/>
            <p:nvPr/>
          </p:nvSpPr>
          <p:spPr>
            <a:xfrm>
              <a:off x="533400" y="5299710"/>
              <a:ext cx="11125200" cy="1062990"/>
            </a:xfrm>
            <a:prstGeom prst="roundRect">
              <a:avLst>
                <a:gd name="adj" fmla="val 1075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731193"/>
              <a:ext cx="200026" cy="200025"/>
              <a:chOff x="738188" y="573119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7311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57756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58867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588318"/>
              <a:ext cx="9940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编译期就知道大小和生命周期的东西放栈，运行期才知道要建几个、活多久的放堆，这也是 Java 比 C 灵活、也比 C 慢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一点的原因。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2770" cy="909257"/>
            <a:chOff x="520446" y="342900"/>
            <a:chExt cx="55727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27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只有引用，没有 C++ 那种别名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453035" cy="264033"/>
            <a:chOff x="526542" y="1545907"/>
            <a:chExt cx="64530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453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源课件这几页讲的是 C 与 C++ 的指针和引用语法，用来对照理解 Java 的引用。</a:t>
              </a:r>
            </a:p>
          </p:txBody>
        </p:sp>
      </p:grpSp>
      <p:grpSp>
        <p:nvGrpSpPr>
          <p:cNvPr id="29" name="c1-compare-1"/>
          <p:cNvGrpSpPr/>
          <p:nvPr/>
        </p:nvGrpSpPr>
        <p:grpSpPr>
          <a:xfrm>
            <a:off x="533400" y="1928812"/>
            <a:ext cx="5410200" cy="2809875"/>
            <a:chOff x="533400" y="1928812"/>
            <a:chExt cx="5410200" cy="28098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2476500" cy="2809875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25431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332" y="2137410"/>
              <a:ext cx="1497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的指针与引用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51079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454592"/>
              <a:ext cx="1728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指针是变量，存的是地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址，可以为空、可以改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指向、可以多级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332517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3268980"/>
              <a:ext cx="1728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引用是别名，声明时必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须初始化，之后不能改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指向，不占独立存储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413956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408336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写法上要用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&amp;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*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序员自己管内存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67100" y="1928812"/>
              <a:ext cx="2476500" cy="2809875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76625" y="2062162"/>
              <a:ext cx="47625" cy="254317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85032" y="2137410"/>
              <a:ext cx="1042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的引用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700462" y="251079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56482" y="245459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只有一种：引用。变量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里存的是对象的地址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700462" y="306800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6482" y="3011805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可以是 null，可以重新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指向别的对象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700462" y="3625215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56482" y="3569018"/>
              <a:ext cx="1728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没有取地址和解引用的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写法，内存由垃圾回收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器管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057525" y="3152775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12579" y="327755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908232"/>
            <a:ext cx="5410200" cy="1443038"/>
            <a:chOff x="533400" y="4908232"/>
            <a:chExt cx="5410200" cy="1443038"/>
          </a:xfrm>
        </p:grpSpPr>
        <p:sp>
          <p:nvSpPr>
            <p:cNvPr id="30" name="Rectangle 30"/>
            <p:cNvSpPr/>
            <p:nvPr/>
          </p:nvSpPr>
          <p:spPr>
            <a:xfrm>
              <a:off x="533400" y="4908232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504158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8190" y="50949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0862" y="51277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332" y="5439728"/>
              <a:ext cx="47800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原课件这几页标题是「Java 的引用」，正文却在讲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类型标识符</a:t>
              </a:r>
              <a:br/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&amp;引用名 = 目标变量名;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。这是 C++ 的引用声明语法，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没有这种写法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，写上去编译不过。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248400" y="1928812"/>
            <a:ext cx="5410200" cy="2400300"/>
            <a:chOff x="6248400" y="1928812"/>
            <a:chExt cx="5410200" cy="2400300"/>
          </a:xfrm>
        </p:grpSpPr>
        <p:sp>
          <p:nvSpPr>
            <p:cNvPr id="36" name="Rectangle 36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1202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55409" y="2050256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指针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54033" y="2050256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C++ 引用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06106" y="2050256"/>
              <a:ext cx="714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引用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45555" y="2450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能否为空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01888" y="24503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92513" y="24503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82185" y="24503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5555" y="28503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能否改指向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01888" y="28503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92513" y="28503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82185" y="28503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5555" y="3250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能否多级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01888" y="32504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92513" y="32504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82185" y="32504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5555" y="36504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能否做算术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01888" y="3650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92513" y="3650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82185" y="3650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924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5555" y="40505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谁释放内存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51113" y="40505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17126" y="4050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80637" y="40505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垃圾回收器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1928812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08291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273540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46321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llout-2"/>
          <p:cNvGrpSpPr/>
          <p:nvPr/>
        </p:nvGrpSpPr>
        <p:grpSpPr>
          <a:xfrm>
            <a:off x="6248400" y="4498658"/>
            <a:ext cx="5410200" cy="1852612"/>
            <a:chOff x="6248400" y="4498658"/>
            <a:chExt cx="5410200" cy="1852612"/>
          </a:xfrm>
        </p:grpSpPr>
        <p:sp>
          <p:nvSpPr>
            <p:cNvPr id="72" name="Rectangle 72"/>
            <p:cNvSpPr/>
            <p:nvPr/>
          </p:nvSpPr>
          <p:spPr>
            <a:xfrm>
              <a:off x="6248400" y="4498658"/>
              <a:ext cx="5410200" cy="1852612"/>
            </a:xfrm>
            <a:prstGeom prst="roundRect">
              <a:avLst>
                <a:gd name="adj" fmla="val 617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453188" y="5325430"/>
              <a:ext cx="200023" cy="200023"/>
              <a:chOff x="6453188" y="5325430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453188" y="53254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586538" y="5392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755892" y="520636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变量名在本质上都是地址的助记符。区别在于语言让你看到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多少：C 让你直接算地址，Java 只让你通过引用用对象。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3.5：方法里给参数重新赋值，改不到调用方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349942"/>
            <a:chOff x="533400" y="1524000"/>
            <a:chExt cx="5410200" cy="3349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349942"/>
            </a:xfrm>
            <a:prstGeom prst="roundRect">
              <a:avLst>
                <a:gd name="adj" fmla="val 284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36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test/TestReference.java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2753614" cy="2853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TestReference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test(Reference p)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Reference a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Reference();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a;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只改了局部的 p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System.out.println(p);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System.out.println(a);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Reference p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TestReference t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TestReference();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t.test(p);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"p为null"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Reference { 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5038725"/>
            <a:ext cx="5410200" cy="958215"/>
            <a:chOff x="533400" y="5038725"/>
            <a:chExt cx="5410200" cy="958215"/>
          </a:xfrm>
        </p:grpSpPr>
        <p:sp>
          <p:nvSpPr>
            <p:cNvPr id="11" name="Rectangle 11"/>
            <p:cNvSpPr/>
            <p:nvPr/>
          </p:nvSpPr>
          <p:spPr>
            <a:xfrm>
              <a:off x="533400" y="5038725"/>
              <a:ext cx="5410200" cy="958215"/>
            </a:xfrm>
            <a:prstGeom prst="roundRect">
              <a:avLst>
                <a:gd name="adj" fmla="val 99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519064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实测输出（哈希值每次运行不同）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5449729"/>
              <a:ext cx="1326896" cy="4610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test.Reference@41975e01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test.Reference@41975e01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p为null</a:t>
              </a:r>
            </a:p>
          </p:txBody>
        </p:sp>
      </p:grpSp>
      <p:grpSp>
        <p:nvGrpSpPr>
          <p:cNvPr id="30" name="c2-graph-1"/>
          <p:cNvGrpSpPr/>
          <p:nvPr/>
        </p:nvGrpSpPr>
        <p:grpSpPr>
          <a:xfrm>
            <a:off x="6844665" y="1678305"/>
            <a:ext cx="4014788" cy="1222057"/>
            <a:chOff x="6844665" y="1678305"/>
            <a:chExt cx="4014788" cy="1222057"/>
          </a:xfrm>
        </p:grpSpPr>
        <p:sp>
          <p:nvSpPr>
            <p:cNvPr id="15" name="Freeform 15"/>
            <p:cNvSpPr/>
            <p:nvPr/>
          </p:nvSpPr>
          <p:spPr>
            <a:xfrm>
              <a:off x="7330440" y="2083118"/>
              <a:ext cx="9525" cy="398145"/>
            </a:xfrm>
            <a:custGeom>
              <a:avLst/>
              <a:gdLst/>
              <a:ahLst/>
              <a:cxnLst/>
              <a:rect l="l" t="t" r="r" b="b"/>
              <a:pathLst>
                <a:path w="9525" h="398145">
                  <a:moveTo>
                    <a:pt x="0" y="0"/>
                  </a:moveTo>
                  <a:lnTo>
                    <a:pt x="0" y="39814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7282815" y="24812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816215" y="2738438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549765" y="2690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44665" y="1678305"/>
              <a:ext cx="971550" cy="404812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44665" y="2576512"/>
              <a:ext cx="9715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645015" y="2576512"/>
              <a:ext cx="1214438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09540" y="1731645"/>
              <a:ext cx="641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的 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98950" y="1898332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05829" y="2672715"/>
              <a:ext cx="6492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 的 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13024" y="2672715"/>
              <a:ext cx="1077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Reference 对象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83742" y="225075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04901" y="228076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传值复制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575358" y="2659380"/>
              <a:ext cx="31051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01666" y="2689384"/>
              <a:ext cx="2578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 = a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308032"/>
            <a:ext cx="5410200" cy="1471612"/>
            <a:chOff x="6248400" y="3308032"/>
            <a:chExt cx="5410200" cy="1471612"/>
          </a:xfrm>
        </p:grpSpPr>
        <p:sp>
          <p:nvSpPr>
            <p:cNvPr id="31" name="Rectangle 31"/>
            <p:cNvSpPr/>
            <p:nvPr/>
          </p:nvSpPr>
          <p:spPr>
            <a:xfrm>
              <a:off x="6248400" y="3308032"/>
              <a:ext cx="5410200" cy="1471612"/>
            </a:xfrm>
            <a:prstGeom prst="roundRect">
              <a:avLst>
                <a:gd name="adj" fmla="val 9061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34890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2047" y="35218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3829526"/>
              <a:ext cx="44130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只有值传递，传对象时复制的是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引用的值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（地址）。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38900" y="416623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94348" y="411432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给参数重新赋值：调用方看不到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38900" y="44519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94348" y="439912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调参数的方法改对象内容：调用方看得到</a:t>
              </a:r>
            </a:p>
          </p:txBody>
        </p:sp>
      </p:grpSp>
      <p:grpSp>
        <p:nvGrpSpPr>
          <p:cNvPr id="43" name="c2-code-3"/>
          <p:cNvGrpSpPr/>
          <p:nvPr/>
        </p:nvGrpSpPr>
        <p:grpSpPr>
          <a:xfrm>
            <a:off x="6248400" y="4944428"/>
            <a:ext cx="5410200" cy="1363980"/>
            <a:chOff x="6248400" y="4944428"/>
            <a:chExt cx="5410200" cy="1363980"/>
          </a:xfrm>
        </p:grpSpPr>
        <p:sp>
          <p:nvSpPr>
            <p:cNvPr id="40" name="Rectangle 40"/>
            <p:cNvSpPr/>
            <p:nvPr/>
          </p:nvSpPr>
          <p:spPr>
            <a:xfrm>
              <a:off x="6248400" y="4944428"/>
              <a:ext cx="5410200" cy="1363980"/>
            </a:xfrm>
            <a:prstGeom prst="roundRect">
              <a:avLst>
                <a:gd name="adj" fmla="val 69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6797" y="50963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对照：改内容就能看到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76988" y="5353764"/>
              <a:ext cx="2472627" cy="864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fill(StringBuilder sb)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sb.append(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"改到了原对象"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StringBuilder sb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"原始"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fill(sb);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System.out.println(sb);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原始改到了原对象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47604" cy="909257"/>
            <a:chOff x="520446" y="342900"/>
            <a:chExt cx="76476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476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3.2.2 对象初始化：局部变量和成员变量待遇不同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局部变量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：编译器不给初值。没赋值就使用，直接编译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报错，Java 用这种方式强制你自己负责。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变量成员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：不赋值也能用，基本类型取各自的默认值，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引用类型取 null。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651885"/>
            <a:ext cx="5410200" cy="1313498"/>
            <a:chOff x="533400" y="3651885"/>
            <a:chExt cx="5410200" cy="1313498"/>
          </a:xfrm>
        </p:grpSpPr>
        <p:sp>
          <p:nvSpPr>
            <p:cNvPr id="14" name="Rectangle 14"/>
            <p:cNvSpPr/>
            <p:nvPr/>
          </p:nvSpPr>
          <p:spPr>
            <a:xfrm>
              <a:off x="533400" y="3651885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80380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局部变量：编译期就拦住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2450" y="4429125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035" y="4065746"/>
              <a:ext cx="2970022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i++;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错误：可能尚未初始化变量 i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155882"/>
            <a:ext cx="5410200" cy="782955"/>
            <a:chOff x="533400" y="5155882"/>
            <a:chExt cx="5410200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515588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447348"/>
              <a:ext cx="200026" cy="200025"/>
              <a:chOff x="738188" y="5447348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4473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4917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6029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30447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这条检查按「确定赋值」分析做，只要有一条路径没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赋值就报错，哪怕那条路径实际走不到。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6248400" y="1524000"/>
            <a:ext cx="5410200" cy="2125028"/>
            <a:chOff x="6248400" y="1524000"/>
            <a:chExt cx="5410200" cy="2125028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变量成员：编译器给默认值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035" y="1937861"/>
              <a:ext cx="3375406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n;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自动为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自动为 null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show()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System.out.println(n +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Counter().show();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输出：0 null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248400" y="3839528"/>
            <a:ext cx="5410200" cy="2099310"/>
            <a:chOff x="6248400" y="3839528"/>
            <a:chExt cx="5410200" cy="2099310"/>
          </a:xfrm>
        </p:grpSpPr>
        <p:sp>
          <p:nvSpPr>
            <p:cNvPr id="30" name="Rectangle 30"/>
            <p:cNvSpPr/>
            <p:nvPr/>
          </p:nvSpPr>
          <p:spPr>
            <a:xfrm>
              <a:off x="6248400" y="3839528"/>
              <a:ext cx="5410200" cy="2099310"/>
            </a:xfrm>
            <a:prstGeom prst="roundRect">
              <a:avLst>
                <a:gd name="adj" fmla="val 6352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57950" y="404907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22555" y="40847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为什么两边不一样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50330" y="4426268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变量成员随对象一起在堆上分配，JVM 会把那块内存清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零，所以有确定的默认值。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0330" y="5047298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局部变量在栈帧里，那块空间上一次可能存着别的数据，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清零要额外开销，Java 选择让编译器强制赋值。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3.6：打印全部基本类型的默认值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869055"/>
            <a:chOff x="533400" y="1524000"/>
            <a:chExt cx="5626418" cy="3869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69055"/>
            </a:xfrm>
            <a:prstGeom prst="roundRect">
              <a:avLst>
                <a:gd name="adj" fmla="val 246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812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InitialValues.java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021457" cy="33737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InitialValues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t;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c;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b;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short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l;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f;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InitialValues reference;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printInitialValues()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"boolean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t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"char ["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c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"]\n"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"byte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b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"short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"int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"long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l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"float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f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"double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"reference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reference);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InitialValues().printInitialValues();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464618" y="1524000"/>
            <a:ext cx="5193982" cy="2840355"/>
            <a:chOff x="6464618" y="1524000"/>
            <a:chExt cx="5193982" cy="2840355"/>
          </a:xfrm>
        </p:grpSpPr>
        <p:sp>
          <p:nvSpPr>
            <p:cNvPr id="11" name="Rectangle 11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3649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基本类型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6635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68640" y="1648301"/>
              <a:ext cx="1493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println 打出来的样子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4630" y="2054066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22920" y="205406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3565" y="205406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64630" y="245983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22920" y="245983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'\u0000'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383078" y="2345055"/>
              <a:ext cx="226599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73565" y="2459831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一个不可见字符，(int) c 为 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4630" y="2865596"/>
              <a:ext cx="111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 short int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2292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356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64618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4630" y="3271361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22920" y="327136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7356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3548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4630" y="367712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 double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2920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3565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39538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395859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4630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引用类型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032432" y="3968115"/>
              <a:ext cx="133159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22920" y="4082891"/>
              <a:ext cx="26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3565" y="4082891"/>
              <a:ext cx="26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1814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36879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464618" y="4539615"/>
            <a:ext cx="5193982" cy="1768792"/>
            <a:chOff x="6464618" y="4539615"/>
            <a:chExt cx="5193982" cy="1768792"/>
          </a:xfrm>
        </p:grpSpPr>
        <p:sp>
          <p:nvSpPr>
            <p:cNvPr id="47" name="Rectangle 47"/>
            <p:cNvSpPr/>
            <p:nvPr/>
          </p:nvSpPr>
          <p:spPr>
            <a:xfrm>
              <a:off x="6464618" y="4539615"/>
              <a:ext cx="519398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467296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5122" y="4732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86562" y="4766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88264" y="5088255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原课件默认值表把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false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拼成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flase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；char 标注「(null)」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易误解，它是编码为 0 的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空字符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88264" y="5648325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原课件源码里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+ d + "reference "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少了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"\n"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，实际打成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double 0.0reference null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给变量成员赋初值的四种方式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440305"/>
            <a:chOff x="533400" y="1524000"/>
            <a:chExt cx="5410200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四种写法各出现一次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401441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id;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1 默认值 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"未命名"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2 声明时设定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grade = readGrade();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3 方法返回值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Student(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score) {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4 构造方法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.score = score;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readGrade()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129088"/>
            <a:ext cx="5410200" cy="1143952"/>
            <a:chOff x="533400" y="4129088"/>
            <a:chExt cx="5410200" cy="1143952"/>
          </a:xfrm>
        </p:grpSpPr>
        <p:sp>
          <p:nvSpPr>
            <p:cNvPr id="11" name="Rectangle 11"/>
            <p:cNvSpPr/>
            <p:nvPr/>
          </p:nvSpPr>
          <p:spPr>
            <a:xfrm>
              <a:off x="533400" y="4129088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26243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4310062"/>
              <a:ext cx="170307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7491" y="4342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声明时调方法赋初值的陷阱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4650581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grade = readGrade();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里的 readGrade() 如果读了写在它后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面的变量成员，读到的是默认值 0，因为那一行还没轮到执行。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5437822"/>
            <a:ext cx="5410200" cy="814388"/>
            <a:chOff x="533400" y="5437822"/>
            <a:chExt cx="5410200" cy="814388"/>
          </a:xfrm>
        </p:grpSpPr>
        <p:sp>
          <p:nvSpPr>
            <p:cNvPr id="17" name="Rectangle 17"/>
            <p:cNvSpPr/>
            <p:nvPr/>
          </p:nvSpPr>
          <p:spPr>
            <a:xfrm>
              <a:off x="533400" y="5437822"/>
              <a:ext cx="5410200" cy="814388"/>
            </a:xfrm>
            <a:prstGeom prst="roundRect">
              <a:avLst>
                <a:gd name="adj" fmla="val 1403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745480"/>
              <a:ext cx="200026" cy="200025"/>
              <a:chOff x="738188" y="5745480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7454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7899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9010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1273" y="5639276"/>
              <a:ext cx="44914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变量成员必须在声明处或每个构造方法里赋值，漏掉一处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就编译报错。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248400" y="1524000"/>
            <a:ext cx="5410200" cy="2093595"/>
            <a:chOff x="6248400" y="1524000"/>
            <a:chExt cx="5410200" cy="209359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46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99311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72141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适合的场合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43079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9921" y="2023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对象分配内存时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97784" y="2023110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就该是 0 或 null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286952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3079" y="249745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声明时设定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9921" y="2404110"/>
              <a:ext cx="16108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按书写顺序，早于构造方法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97784" y="24974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所有对象初值相同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3079" y="29718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方法返回值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921" y="29718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同上，也早于构造方法体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97784" y="29718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初值需要算一下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3079" y="3353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64768" y="3246120"/>
              <a:ext cx="192881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749921" y="33537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构造方法体执行时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97784" y="33537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不同对象初值不同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50480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598342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steps-2"/>
          <p:cNvGrpSpPr/>
          <p:nvPr/>
        </p:nvGrpSpPr>
        <p:grpSpPr>
          <a:xfrm>
            <a:off x="6248400" y="3791902"/>
            <a:ext cx="2544699" cy="1596962"/>
            <a:chOff x="6248400" y="3791902"/>
            <a:chExt cx="2544699" cy="1596962"/>
          </a:xfrm>
        </p:grpSpPr>
        <p:sp>
          <p:nvSpPr>
            <p:cNvPr id="50" name="Rectangle 50"/>
            <p:cNvSpPr/>
            <p:nvPr/>
          </p:nvSpPr>
          <p:spPr>
            <a:xfrm>
              <a:off x="6381750" y="3934778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248400" y="379190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2024" y="38657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48400" y="43453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2024" y="4419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248400" y="48977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2024" y="49715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1023" y="3822859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分配内存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62166" y="40767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所有变量成员先取各自的默认值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1023" y="4375309"/>
              <a:ext cx="1545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执行声明处的初值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2166" y="46301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按书写顺序，都在构造方法体之前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61023" y="4928711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执行构造方法体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62166" y="518350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这里的赋值会覆盖前面设定的值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6248400" y="5550218"/>
            <a:ext cx="5410200" cy="702945"/>
            <a:chOff x="6248400" y="5550218"/>
            <a:chExt cx="5410200" cy="702945"/>
          </a:xfrm>
        </p:grpSpPr>
        <p:sp>
          <p:nvSpPr>
            <p:cNvPr id="64" name="Rectangle 64"/>
            <p:cNvSpPr/>
            <p:nvPr/>
          </p:nvSpPr>
          <p:spPr>
            <a:xfrm>
              <a:off x="6248400" y="555021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441129" y="5797986"/>
              <a:ext cx="224134" cy="192560"/>
              <a:chOff x="6441129" y="5797986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553200" y="58683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441129" y="57979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53200" y="59461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756273" y="5694521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构造方法里的赋值会覆盖声明时设定的初值，下一页的输出次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序就是这么来的。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3.7：成员初始化次序看书写顺序，不看位置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948112"/>
            <a:chOff x="533400" y="1524000"/>
            <a:chExt cx="5410200" cy="3948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948112"/>
            </a:xfrm>
            <a:prstGeom prst="roundRect">
              <a:avLst>
                <a:gd name="adj" fmla="val 241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316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OrderInitialization.java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045206" cy="345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Window(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marker)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"Window("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marker +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House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Window w1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Window(1);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House()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"House()"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w3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Window(33);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Window w2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Window(2);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"f()"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Window w3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Window(3);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OrderInitialization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House h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House();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h.f();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steps-1"/>
          <p:cNvGrpSpPr/>
          <p:nvPr/>
        </p:nvGrpSpPr>
        <p:grpSpPr>
          <a:xfrm>
            <a:off x="6248400" y="1533525"/>
            <a:ext cx="3569200" cy="1596962"/>
            <a:chOff x="6248400" y="1533525"/>
            <a:chExt cx="3569200" cy="1596962"/>
          </a:xfrm>
        </p:grpSpPr>
        <p:sp>
          <p:nvSpPr>
            <p:cNvPr id="11" name="Rectangle 11"/>
            <p:cNvSpPr/>
            <p:nvPr/>
          </p:nvSpPr>
          <p:spPr>
            <a:xfrm>
              <a:off x="6381750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248400" y="208692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42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248400" y="263937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42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1023" y="1564481"/>
              <a:ext cx="2234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变量成员按书写顺序初始化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2166" y="1818322"/>
              <a:ext cx="1473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w1、w2、w3 依次 new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61023" y="2116931"/>
              <a:ext cx="1545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再执行构造方法体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2166" y="2371725"/>
              <a:ext cx="3155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先打印 House()，再把 w3 换成 new Window(33)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023" y="2670334"/>
              <a:ext cx="1545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最后才是方法调用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2166" y="29251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h.f() 打印 f()</a:t>
              </a:r>
            </a:p>
          </p:txBody>
        </p:sp>
      </p:grpSp>
      <p:grpSp>
        <p:nvGrpSpPr>
          <p:cNvPr id="28" name="c2-code-2"/>
          <p:cNvGrpSpPr/>
          <p:nvPr/>
        </p:nvGrpSpPr>
        <p:grpSpPr>
          <a:xfrm>
            <a:off x="6248400" y="3291840"/>
            <a:ext cx="5410200" cy="1363980"/>
            <a:chOff x="6248400" y="3291840"/>
            <a:chExt cx="5410200" cy="1363980"/>
          </a:xfrm>
        </p:grpSpPr>
        <p:sp>
          <p:nvSpPr>
            <p:cNvPr id="25" name="Rectangle 25"/>
            <p:cNvSpPr/>
            <p:nvPr/>
          </p:nvSpPr>
          <p:spPr>
            <a:xfrm>
              <a:off x="6248400" y="3291840"/>
              <a:ext cx="5410200" cy="1363980"/>
            </a:xfrm>
            <a:prstGeom prst="roundRect">
              <a:avLst>
                <a:gd name="adj" fmla="val 69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34437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实测输出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988" y="3702129"/>
              <a:ext cx="561340" cy="864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Window(1)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Window(2)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Window(3)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House()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Window(33)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f()</a:t>
              </a:r>
            </a:p>
          </p:txBody>
        </p:sp>
      </p:grpSp>
      <p:grpSp>
        <p:nvGrpSpPr>
          <p:cNvPr id="34" name="c2-card-3"/>
          <p:cNvGrpSpPr/>
          <p:nvPr/>
        </p:nvGrpSpPr>
        <p:grpSpPr>
          <a:xfrm>
            <a:off x="6248400" y="4819650"/>
            <a:ext cx="5410200" cy="901065"/>
            <a:chOff x="6248400" y="4819650"/>
            <a:chExt cx="5410200" cy="901065"/>
          </a:xfrm>
        </p:grpSpPr>
        <p:sp>
          <p:nvSpPr>
            <p:cNvPr id="29" name="Rectangle 29"/>
            <p:cNvSpPr/>
            <p:nvPr/>
          </p:nvSpPr>
          <p:spPr>
            <a:xfrm>
              <a:off x="6248400" y="4819650"/>
              <a:ext cx="5410200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4953000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7475" y="50006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0147" y="50334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0998" y="5341144"/>
              <a:ext cx="3269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原课件写成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W3 = 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，大写 W 找不到符号。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5" name="Rectangle 3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6039326"/>
              <a:ext cx="10240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即使变量定义散布在方法定义之间，它们仍旧在任何方法被调用之前完成初始化；w3 被建了两次，第一个 Window(3) 立刻成了垃圾。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84951" cy="909257"/>
            <a:chOff x="520446" y="342900"/>
            <a:chExt cx="31849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12" y="407194"/>
              <a:ext cx="2251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3.2 Java 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849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3.2.4 垃圾回收机制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bullets-1"/>
          <p:cNvGrpSpPr/>
          <p:nvPr/>
        </p:nvGrpSpPr>
        <p:grpSpPr>
          <a:xfrm>
            <a:off x="526161" y="1547336"/>
            <a:ext cx="4914492" cy="1731550"/>
            <a:chOff x="526161" y="1547336"/>
            <a:chExt cx="4914492" cy="173155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源课件的要点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42925" y="192976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8754" y="1882140"/>
              <a:ext cx="4741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垃圾回收 GC（Garbage Collection）是 Java 语言的核心技术之一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2925" y="222027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8754" y="2172652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不需要程序员手动释放对象占用的内存资源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42925" y="251079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8754" y="2463165"/>
              <a:ext cx="4451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GC 通过确定对象是否被活动对象引用，来决定是否收集该对象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42925" y="280130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8754" y="2753677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让堆上的内存分配可以做得很快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2925" y="309181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8754" y="304419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缺点是回收本身的开销会影响程序性能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16618"/>
            <a:ext cx="5410200" cy="1858328"/>
            <a:chOff x="533400" y="3416618"/>
            <a:chExt cx="5410200" cy="1858328"/>
          </a:xfrm>
        </p:grpSpPr>
        <p:sp>
          <p:nvSpPr>
            <p:cNvPr id="19" name="Rectangle 19"/>
            <p:cNvSpPr/>
            <p:nvPr/>
          </p:nvSpPr>
          <p:spPr>
            <a:xfrm>
              <a:off x="533400" y="3416618"/>
              <a:ext cx="5410200" cy="1858328"/>
            </a:xfrm>
            <a:prstGeom prst="roundRect">
              <a:avLst>
                <a:gd name="adj" fmla="val 717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7235" y="3620452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7890" y="365617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为什么分配反而更快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9996" y="3993356"/>
              <a:ext cx="47754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GC 会把存活对象搬到一起、压紧空闲区。堆顶指针往前一挪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就是一次分配，接近栈上分配的速度，不必像 C 那样遍历空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闲链表找合适的块。</a:t>
              </a:r>
            </a:p>
          </p:txBody>
        </p:sp>
      </p:grpSp>
      <p:grpSp>
        <p:nvGrpSpPr>
          <p:cNvPr id="54" name="c2-cells-1"/>
          <p:cNvGrpSpPr/>
          <p:nvPr/>
        </p:nvGrpSpPr>
        <p:grpSpPr>
          <a:xfrm>
            <a:off x="6242304" y="1524000"/>
            <a:ext cx="3530346" cy="979170"/>
            <a:chOff x="6242304" y="1524000"/>
            <a:chExt cx="3530346" cy="979170"/>
          </a:xfrm>
        </p:grpSpPr>
        <p:sp>
          <p:nvSpPr>
            <p:cNvPr id="24" name="TextBox 24"/>
            <p:cNvSpPr txBox="1"/>
            <p:nvPr/>
          </p:nvSpPr>
          <p:spPr>
            <a:xfrm>
              <a:off x="6242304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回收前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38950" y="152400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61632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58050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80732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77150" y="152400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99832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0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18932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515350" y="152400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38032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934450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57132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353550" y="152400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76232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42304" y="22250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回收后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38950" y="20964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61632" y="22250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258050" y="20964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80732" y="22250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77150" y="20964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99832" y="22250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096250" y="20964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18932" y="22250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15350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38032" y="22250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34450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57132" y="22250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53550" y="20964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76232" y="222504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</p:grpSp>
      <p:grpSp>
        <p:nvGrpSpPr>
          <p:cNvPr id="62" name="c2-bullets-2"/>
          <p:cNvGrpSpPr/>
          <p:nvPr/>
        </p:nvGrpSpPr>
        <p:grpSpPr>
          <a:xfrm>
            <a:off x="6241161" y="2712244"/>
            <a:ext cx="5213071" cy="1150524"/>
            <a:chOff x="6241161" y="2712244"/>
            <a:chExt cx="5213071" cy="1150524"/>
          </a:xfrm>
        </p:grpSpPr>
        <p:sp>
          <p:nvSpPr>
            <p:cNvPr id="55" name="TextBox 55"/>
            <p:cNvSpPr txBox="1"/>
            <p:nvPr/>
          </p:nvSpPr>
          <p:spPr>
            <a:xfrm>
              <a:off x="6241161" y="271224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三个常见误解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6248400" y="3075622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0" y="0"/>
                  </a:moveTo>
                  <a:lnTo>
                    <a:pt x="91440" y="91440"/>
                  </a:lnTo>
                  <a:moveTo>
                    <a:pt x="91440" y="0"/>
                  </a:moveTo>
                  <a:lnTo>
                    <a:pt x="0" y="9144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67094" y="3047048"/>
              <a:ext cx="4562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调用 </a:t>
              </a:r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System.gc()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就一定马上回收：只是建议，JVM 可以不理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6248400" y="3366135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0" y="0"/>
                  </a:moveTo>
                  <a:lnTo>
                    <a:pt x="91440" y="91440"/>
                  </a:lnTo>
                  <a:moveTo>
                    <a:pt x="91440" y="0"/>
                  </a:moveTo>
                  <a:lnTo>
                    <a:pt x="0" y="9144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67094" y="3337560"/>
              <a:ext cx="3661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对象一变垃圾就被回收：什么时候回收由 JVM 决定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6248400" y="3656648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0" y="0"/>
                  </a:moveTo>
                  <a:lnTo>
                    <a:pt x="91440" y="91440"/>
                  </a:lnTo>
                  <a:moveTo>
                    <a:pt x="91440" y="0"/>
                  </a:moveTo>
                  <a:lnTo>
                    <a:pt x="0" y="9144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67094" y="3628072"/>
              <a:ext cx="4987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有了 GC 就不会内存泄漏：集合里一直留着引用，对象就一直回收不掉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6248400" y="4000500"/>
            <a:ext cx="5410200" cy="1274445"/>
            <a:chOff x="6248400" y="4000500"/>
            <a:chExt cx="5410200" cy="1274445"/>
          </a:xfrm>
        </p:grpSpPr>
        <p:sp>
          <p:nvSpPr>
            <p:cNvPr id="63" name="Rectangle 63"/>
            <p:cNvSpPr/>
            <p:nvPr/>
          </p:nvSpPr>
          <p:spPr>
            <a:xfrm>
              <a:off x="6248400" y="400050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57925" y="41338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90335" y="4204335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38189" y="424005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什么时候一个对象才算垃圾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83096" y="4577239"/>
              <a:ext cx="46672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obj = null;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、引用离开作用域、装着它的集合被清空，这些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都会让对象失去最后一个来自活动对象的引用。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9" name="Rectangle 6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511" y="6004084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判断一个对象是不是垃圾，看的是有没有活动对象引用它，不是看有没有人还在用它。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3452020" cy="2643187"/>
            <a:chOff x="667512" y="1835468"/>
            <a:chExt cx="3452020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520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包：库单元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用包给类名分出多重命名空间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包名对应磁盘上的目录结构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79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 建包，import 用包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0197" cy="909257"/>
            <a:chOff x="520446" y="342900"/>
            <a:chExt cx="73501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3.3 包：库单元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01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3.3.1 命名空间：两个人都写了 Vector 怎么办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2925" y="1542574"/>
            <a:ext cx="5146040" cy="1251585"/>
            <a:chOff x="542925" y="1542574"/>
            <a:chExt cx="5146040" cy="1251585"/>
          </a:xfrm>
        </p:grpSpPr>
        <p:sp>
          <p:nvSpPr>
            <p:cNvPr id="7" name="Ellipse 7"/>
            <p:cNvSpPr/>
            <p:nvPr/>
          </p:nvSpPr>
          <p:spPr>
            <a:xfrm>
              <a:off x="542925" y="158496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9135" y="1542574"/>
              <a:ext cx="4615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引入包的机制，提供类的</a:t>
              </a: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多重命名空间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，同时负责类名空间管理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185737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9135" y="1814989"/>
              <a:ext cx="498983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把因不同目的、不同工作而开发的类放在不同的包中，即使出现相同的类名也能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分得清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34410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9135" y="230171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包可以有层次，对应着外存上的目录结构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261651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9135" y="2574131"/>
              <a:ext cx="2828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为了区别于各种平台，Java 用 </a:t>
              </a:r>
              <a:r>
                <a:rPr lang="zh-CN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.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分隔目录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28066" y="2925128"/>
            <a:ext cx="5415534" cy="1696973"/>
            <a:chOff x="528066" y="2925128"/>
            <a:chExt cx="5415534" cy="1696973"/>
          </a:xfrm>
        </p:grpSpPr>
        <p:sp>
          <p:nvSpPr>
            <p:cNvPr id="16" name="Rectangle 16"/>
            <p:cNvSpPr/>
            <p:nvPr/>
          </p:nvSpPr>
          <p:spPr>
            <a:xfrm>
              <a:off x="533400" y="2925128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2223" y="30494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28291" y="30494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书写方向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8853" y="30494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3412" y="35552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24038" y="3455194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主机名在左，顶级域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47098" y="3555206"/>
              <a:ext cx="1127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csw.jlu.edu.cn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319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3668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4060984"/>
              <a:ext cx="714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包名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733550" y="3946208"/>
              <a:ext cx="160401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24038" y="406098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主类（顶级域）在左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47098" y="4060984"/>
              <a:ext cx="1509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cn.edu.jlu.csw.Tool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925128"/>
              <a:ext cx="5410200" cy="14173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719262" y="2925128"/>
              <a:ext cx="9525" cy="1417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42322" y="2925128"/>
              <a:ext cx="9525" cy="1417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066" y="4416742"/>
              <a:ext cx="29133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与域名地址不同的是，Java 将主类从左侧写起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4755832"/>
            <a:ext cx="5410200" cy="1466850"/>
            <a:chOff x="533400" y="4755832"/>
            <a:chExt cx="5410200" cy="1466850"/>
          </a:xfrm>
        </p:grpSpPr>
        <p:sp>
          <p:nvSpPr>
            <p:cNvPr id="34" name="Rectangle 34"/>
            <p:cNvSpPr/>
            <p:nvPr/>
          </p:nvSpPr>
          <p:spPr>
            <a:xfrm>
              <a:off x="533400" y="4755832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88918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94823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3343" y="49825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包名怎么起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5304473"/>
              <a:ext cx="47114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把单位域名倒过来写，再接项目名和模块名，例如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cn.edu.jlu.csw.chat.model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。全部小写，不用下划线，也不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要用 java 开头。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7110603" y="1524000"/>
            <a:ext cx="3685794" cy="2465641"/>
            <a:chOff x="7110603" y="1524000"/>
            <a:chExt cx="3685794" cy="2465641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6" t="0" r="5" b="0"/>
            <a:stretch>
              <a:fillRect/>
            </a:stretch>
          </p:blipFill>
          <p:spPr>
            <a:xfrm>
              <a:off x="7508558" y="1524000"/>
              <a:ext cx="2888932" cy="2166938"/>
            </a:xfrm>
            <a:prstGeom prst="roundRect">
              <a:avLst>
                <a:gd name="adj" fmla="val 6153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7110603" y="378428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两个抽屉里各有一个红标签文件夹，报出抽屉名就不会拿错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248400" y="4142422"/>
            <a:ext cx="5410200" cy="2079308"/>
            <a:chOff x="6248400" y="4142422"/>
            <a:chExt cx="5410200" cy="2079308"/>
          </a:xfrm>
        </p:grpSpPr>
        <p:sp>
          <p:nvSpPr>
            <p:cNvPr id="43" name="Rectangle 43"/>
            <p:cNvSpPr/>
            <p:nvPr/>
          </p:nvSpPr>
          <p:spPr>
            <a:xfrm>
              <a:off x="6248400" y="4142422"/>
              <a:ext cx="5410200" cy="2079308"/>
            </a:xfrm>
            <a:prstGeom prst="roundRect">
              <a:avLst>
                <a:gd name="adj" fmla="val 5497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53188" y="5082542"/>
              <a:ext cx="200023" cy="200023"/>
              <a:chOff x="6453188" y="5082542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0825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86538" y="51492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5892" y="4839652"/>
              <a:ext cx="421424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自带 java.util、java.lang、javax.swing 等大量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包，也可以建自己的包，例如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maindirectory.function.basicfunction。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07674" cy="909257"/>
            <a:chOff x="520446" y="342900"/>
            <a:chExt cx="33076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3.3 包：库单元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3076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3.3.2 package 语句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704850"/>
            <a:chOff x="533400" y="1524000"/>
            <a:chExt cx="5193982" cy="704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499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package pkg1[.pkg2[.pkg3...]];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419350"/>
            <a:ext cx="5193982" cy="1516380"/>
            <a:chOff x="533400" y="2419350"/>
            <a:chExt cx="5193982" cy="1516380"/>
          </a:xfrm>
        </p:grpSpPr>
        <p:sp>
          <p:nvSpPr>
            <p:cNvPr id="11" name="Rectangle 11"/>
            <p:cNvSpPr/>
            <p:nvPr/>
          </p:nvSpPr>
          <p:spPr>
            <a:xfrm>
              <a:off x="533400" y="2419350"/>
              <a:ext cx="5193982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57127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2833211"/>
              <a:ext cx="196723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access.mypackage;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MyClass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...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1-bullets-3"/>
          <p:cNvGrpSpPr/>
          <p:nvPr/>
        </p:nvGrpSpPr>
        <p:grpSpPr>
          <a:xfrm>
            <a:off x="533400" y="4135755"/>
            <a:ext cx="4788703" cy="1178528"/>
            <a:chOff x="533400" y="4135755"/>
            <a:chExt cx="4788703" cy="1178528"/>
          </a:xfrm>
        </p:grpSpPr>
        <p:sp>
          <p:nvSpPr>
            <p:cNvPr id="15" name="Ellipse 15"/>
            <p:cNvSpPr/>
            <p:nvPr/>
          </p:nvSpPr>
          <p:spPr>
            <a:xfrm>
              <a:off x="533400" y="4135755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5307" y="417137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3148" y="4147661"/>
              <a:ext cx="45189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package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语句必须是源文件的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第一行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有效代码（注释不算）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4246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5307" y="447713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148" y="4453414"/>
              <a:ext cx="33644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一个源文件中最多只能有一条 package 语句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748212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5307" y="47838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3148" y="4759166"/>
              <a:ext cx="40537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 package 语句时，类存放到默认包（无名包）中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5053965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5307" y="50895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3148" y="506491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描述包的字符都用小写，避免与类名混淆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032182" y="1524000"/>
            <a:ext cx="5626418" cy="1602105"/>
            <a:chOff x="6032182" y="1524000"/>
            <a:chExt cx="5626418" cy="1602105"/>
          </a:xfrm>
        </p:grpSpPr>
        <p:sp>
          <p:nvSpPr>
            <p:cNvPr id="28" name="Rectangle 28"/>
            <p:cNvSpPr/>
            <p:nvPr/>
          </p:nvSpPr>
          <p:spPr>
            <a:xfrm>
              <a:off x="6032182" y="152400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41708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7983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004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72212" y="2110740"/>
              <a:ext cx="44824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原课件在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java.util、java.lang、java.swing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里写了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java.swing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。Swing 的包名是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javax.swing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，前缀是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javax 不是 java。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032182" y="3316605"/>
            <a:ext cx="5626418" cy="1316355"/>
            <a:chOff x="6032182" y="3316605"/>
            <a:chExt cx="5626418" cy="1316355"/>
          </a:xfrm>
        </p:grpSpPr>
        <p:sp>
          <p:nvSpPr>
            <p:cNvPr id="34" name="Rectangle 34"/>
            <p:cNvSpPr/>
            <p:nvPr/>
          </p:nvSpPr>
          <p:spPr>
            <a:xfrm>
              <a:off x="6032182" y="3316605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41708" y="344995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79832" y="352615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7239" y="35618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默认包的坑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2212" y="3903345"/>
              <a:ext cx="491632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默认包里的类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不能被有包名的类 import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。练习时只要开始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package，就要把所有相关的类都放进包里。</a:t>
              </a:r>
            </a:p>
          </p:txBody>
        </p:sp>
      </p:grpSp>
      <p:grpSp>
        <p:nvGrpSpPr>
          <p:cNvPr id="43" name="c2-code-3"/>
          <p:cNvGrpSpPr/>
          <p:nvPr/>
        </p:nvGrpSpPr>
        <p:grpSpPr>
          <a:xfrm>
            <a:off x="6032182" y="4823460"/>
            <a:ext cx="5626418" cy="907732"/>
            <a:chOff x="6032182" y="4823460"/>
            <a:chExt cx="5626418" cy="907732"/>
          </a:xfrm>
        </p:grpSpPr>
        <p:sp>
          <p:nvSpPr>
            <p:cNvPr id="40" name="Rectangle 40"/>
            <p:cNvSpPr/>
            <p:nvPr/>
          </p:nvSpPr>
          <p:spPr>
            <a:xfrm>
              <a:off x="6032182" y="4823460"/>
              <a:ext cx="5626418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60580" y="497538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带包编译与运行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59817" y="5237321"/>
              <a:ext cx="3297174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javac -d out access/mypackage/MyClass.java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 -cp out access.mypackage.MyClass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3.3 包：库单元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包名怎么变成磁盘上的路径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1823085" y="1702118"/>
            <a:ext cx="3048000" cy="3697605"/>
            <a:chOff x="1823085" y="1702118"/>
            <a:chExt cx="3048000" cy="3697605"/>
          </a:xfrm>
        </p:grpSpPr>
        <p:sp>
          <p:nvSpPr>
            <p:cNvPr id="7" name="Freeform 7"/>
            <p:cNvSpPr/>
            <p:nvPr/>
          </p:nvSpPr>
          <p:spPr>
            <a:xfrm>
              <a:off x="3347085" y="2331720"/>
              <a:ext cx="9525" cy="252412"/>
            </a:xfrm>
            <a:custGeom>
              <a:avLst/>
              <a:gdLst/>
              <a:ahLst/>
              <a:cxnLst/>
              <a:rect l="l" t="t" r="r" b="b"/>
              <a:pathLst>
                <a:path w="9525" h="252412">
                  <a:moveTo>
                    <a:pt x="0" y="0"/>
                  </a:moveTo>
                  <a:lnTo>
                    <a:pt x="0" y="2524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294698" y="25841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47085" y="3318510"/>
              <a:ext cx="9525" cy="251460"/>
            </a:xfrm>
            <a:custGeom>
              <a:avLst/>
              <a:gdLst/>
              <a:ahLst/>
              <a:cxnLst/>
              <a:rect l="l" t="t" r="r" b="b"/>
              <a:pathLst>
                <a:path w="9525" h="251460">
                  <a:moveTo>
                    <a:pt x="0" y="0"/>
                  </a:moveTo>
                  <a:lnTo>
                    <a:pt x="0" y="2514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4698" y="35699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47085" y="4304348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94698" y="4447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918335" y="1702118"/>
              <a:ext cx="2857500" cy="629602"/>
            </a:xfrm>
            <a:prstGeom prst="roundRect">
              <a:avLst>
                <a:gd name="adj" fmla="val 15129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918335" y="2688908"/>
              <a:ext cx="285750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18335" y="3674745"/>
              <a:ext cx="285750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23085" y="4551998"/>
              <a:ext cx="3048000" cy="84772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23744" y="1818799"/>
              <a:ext cx="164668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net.mindview.simple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34336" y="2804636"/>
              <a:ext cx="182549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相对目录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\net\mindview\simple\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44928" y="3791426"/>
              <a:ext cx="2004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CLASSPATH 里的一个根目录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C:\DOC\JavaT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89022" y="4668679"/>
              <a:ext cx="1916125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C:\DOC\JavaT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\net\mindview\simple\</a:t>
              </a:r>
              <a:br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Vector.class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375660" y="2418398"/>
              <a:ext cx="8953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98901" y="24450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点换成分隔符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75660" y="3404235"/>
              <a:ext cx="8953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98901" y="343090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拼在根目录后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6464618" y="1524000"/>
            <a:ext cx="5193982" cy="704850"/>
            <a:chOff x="6464618" y="1524000"/>
            <a:chExt cx="5193982" cy="704850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93015" y="1675924"/>
              <a:ext cx="11741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CLASSPATH 的写法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92252" y="1937861"/>
              <a:ext cx="3146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CLASSPATH=.;D:\JAVA\LIB;C:\DOC\JavaT</a:t>
              </a:r>
            </a:p>
          </p:txBody>
        </p:sp>
      </p:grpSp>
      <p:grpSp>
        <p:nvGrpSpPr>
          <p:cNvPr id="43" name="c2-steps-2"/>
          <p:cNvGrpSpPr/>
          <p:nvPr/>
        </p:nvGrpSpPr>
        <p:grpSpPr>
          <a:xfrm>
            <a:off x="6464618" y="2428875"/>
            <a:ext cx="4904105" cy="2348198"/>
            <a:chOff x="6464618" y="2428875"/>
            <a:chExt cx="4904105" cy="2348198"/>
          </a:xfrm>
        </p:grpSpPr>
        <p:sp>
          <p:nvSpPr>
            <p:cNvPr id="30" name="Rectangle 30"/>
            <p:cNvSpPr/>
            <p:nvPr/>
          </p:nvSpPr>
          <p:spPr>
            <a:xfrm>
              <a:off x="6597968" y="257175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464618" y="242887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8241" y="2502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64618" y="331470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8241" y="33885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64618" y="419957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8241" y="42733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6098" y="2463165"/>
              <a:ext cx="4043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解释器要找 net.mindview.simple.Vector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7241" y="2757011"/>
              <a:ext cx="2768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把包名里的点换成目录分隔符，得到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net\mindview\simple\Vector.class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6098" y="334899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逐个根目录去试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7241" y="3641884"/>
              <a:ext cx="44914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 CLASSPATH 里的每一项当根目录，拼上这段相对路径去找文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6098" y="423386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找到就加载，都找不到就报错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77241" y="4527709"/>
              <a:ext cx="44124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 ClassNotFoundException 或 NoClassDefFoundError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6464618" y="4955858"/>
            <a:ext cx="5193982" cy="1059180"/>
            <a:chOff x="6464618" y="4955858"/>
            <a:chExt cx="5193982" cy="1059180"/>
          </a:xfrm>
        </p:grpSpPr>
        <p:sp>
          <p:nvSpPr>
            <p:cNvPr id="44" name="Rectangle 44"/>
            <p:cNvSpPr/>
            <p:nvPr/>
          </p:nvSpPr>
          <p:spPr>
            <a:xfrm>
              <a:off x="6464618" y="4955858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69405" y="5385435"/>
              <a:ext cx="200026" cy="200025"/>
              <a:chOff x="6669405" y="5385435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69405" y="53854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09144" y="54298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43859" y="55410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71348" y="5104448"/>
              <a:ext cx="42824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CLASSPATH 开头的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.</a:t>
              </a: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表示当前目录。今天更常用的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是编译时写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-d 输出目录</a:t>
              </a: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、运行时写 </a:t>
              </a:r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-cp 输出目</a:t>
              </a:r>
              <a:br/>
              <a:r>
                <a:rPr lang="zh-CN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录</a:t>
              </a: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，不去改系统环境变量。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92503" cy="909257"/>
            <a:chOff x="520446" y="342900"/>
            <a:chExt cx="62925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3.3 包：库单元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925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编译单元：一个 .java 文件里能放几个类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2925" y="1545431"/>
            <a:ext cx="4947666" cy="1409509"/>
            <a:chOff x="542925" y="1545431"/>
            <a:chExt cx="4947666" cy="1409509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4174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.java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源文件就是一个编译单元 compilation unit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190309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185118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编译单元中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至多一个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public 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20980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156936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如果有 public 类，类名必须与文件名完全相同（含大小写），后缀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.java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275844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2705576"/>
              <a:ext cx="46051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其余的类是主类的支持类，编译后各自生成一个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.class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文件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095625"/>
            <a:ext cx="5410200" cy="1734502"/>
            <a:chOff x="533400" y="3095625"/>
            <a:chExt cx="5410200" cy="1734502"/>
          </a:xfrm>
        </p:grpSpPr>
        <p:sp>
          <p:nvSpPr>
            <p:cNvPr id="16" name="Rectangle 16"/>
            <p:cNvSpPr/>
            <p:nvPr/>
          </p:nvSpPr>
          <p:spPr>
            <a:xfrm>
              <a:off x="533400" y="3095625"/>
              <a:ext cx="5410200" cy="1734502"/>
            </a:xfrm>
            <a:prstGeom prst="roundRect">
              <a:avLst>
                <a:gd name="adj" fmla="val 76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228975"/>
              <a:ext cx="47625" cy="14678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3051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1258" y="3340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3682365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原课件写「在每个编译单元中有且仅有一个公共类」。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实测：一个 public 类都没有的源文件照样能编译通过，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所以是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至多一个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，不是有且仅有一个。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248400" y="1524000"/>
            <a:ext cx="5410200" cy="1033462"/>
            <a:chOff x="6248400" y="1524000"/>
            <a:chExt cx="5410200" cy="1033462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1675924"/>
              <a:ext cx="1272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反例：两个 public 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797" y="1935956"/>
              <a:ext cx="1858137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TwoPublic.java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TwoPublic {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AlsoPublic { }</a:t>
              </a:r>
            </a:p>
          </p:txBody>
        </p:sp>
      </p:grpSp>
      <p:grpSp>
        <p:nvGrpSpPr>
          <p:cNvPr id="29" name="c2-code-2"/>
          <p:cNvGrpSpPr/>
          <p:nvPr/>
        </p:nvGrpSpPr>
        <p:grpSpPr>
          <a:xfrm>
            <a:off x="6248400" y="2747962"/>
            <a:ext cx="5410200" cy="858202"/>
            <a:chOff x="6248400" y="2747962"/>
            <a:chExt cx="5410200" cy="858202"/>
          </a:xfrm>
        </p:grpSpPr>
        <p:sp>
          <p:nvSpPr>
            <p:cNvPr id="26" name="Rectangle 26"/>
            <p:cNvSpPr/>
            <p:nvPr/>
          </p:nvSpPr>
          <p:spPr>
            <a:xfrm>
              <a:off x="6248400" y="2747962"/>
              <a:ext cx="541020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797" y="2899886"/>
              <a:ext cx="15152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javac 25 的报错（实测）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797" y="3160871"/>
              <a:ext cx="2828925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类 AlsoPublic 是公共的,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应在名为 AlsoPublic.java 的文件中声明</a:t>
              </a:r>
            </a:p>
          </p:txBody>
        </p:sp>
      </p:grpSp>
      <p:grpSp>
        <p:nvGrpSpPr>
          <p:cNvPr id="33" name="c2-code-3"/>
          <p:cNvGrpSpPr/>
          <p:nvPr/>
        </p:nvGrpSpPr>
        <p:grpSpPr>
          <a:xfrm>
            <a:off x="6248400" y="3796665"/>
            <a:ext cx="5410200" cy="1033462"/>
            <a:chOff x="6248400" y="3796665"/>
            <a:chExt cx="5410200" cy="1033462"/>
          </a:xfrm>
        </p:grpSpPr>
        <p:sp>
          <p:nvSpPr>
            <p:cNvPr id="30" name="Rectangle 30"/>
            <p:cNvSpPr/>
            <p:nvPr/>
          </p:nvSpPr>
          <p:spPr>
            <a:xfrm>
              <a:off x="6248400" y="3796665"/>
              <a:ext cx="541020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6797" y="3948589"/>
              <a:ext cx="16682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正例：零个 public 类也可以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6797" y="4208621"/>
              <a:ext cx="1926590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NoPublicClass.java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Helper1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1;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Helper2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2; }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9495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编译产物是按类走的：一个源文件里有 n 个类，就生成 n 个 .class 文件，文件名是类名而不是源文件名。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07812" cy="909257"/>
            <a:chOff x="520446" y="342900"/>
            <a:chExt cx="48078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3.3 包：库单元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078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3.3.3 import 语句的三种写法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704850"/>
            <a:chOff x="533400" y="1524000"/>
            <a:chExt cx="5410200" cy="704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551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import pkg1[.pkg2...].类名 | *;</a:t>
              </a:r>
            </a:p>
          </p:txBody>
        </p:sp>
      </p:grpSp>
      <p:grpSp>
        <p:nvGrpSpPr>
          <p:cNvPr id="19" name="c1-bullets-2"/>
          <p:cNvGrpSpPr/>
          <p:nvPr/>
        </p:nvGrpSpPr>
        <p:grpSpPr>
          <a:xfrm>
            <a:off x="542925" y="2440781"/>
            <a:ext cx="5134610" cy="1409509"/>
            <a:chOff x="542925" y="2440781"/>
            <a:chExt cx="5134610" cy="1409509"/>
          </a:xfrm>
        </p:grpSpPr>
        <p:sp>
          <p:nvSpPr>
            <p:cNvPr id="11" name="Ellipse 11"/>
            <p:cNvSpPr/>
            <p:nvPr/>
          </p:nvSpPr>
          <p:spPr>
            <a:xfrm>
              <a:off x="542925" y="249269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44078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import 语句放在 package 语句之后、类定义之前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279844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2746534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一个源程序中可以有多条 import 语句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2925" y="310515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8373" y="3052286"/>
              <a:ext cx="49791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import 只是告诉编译器去哪里找名字，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把类复制进来，也不影响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运行速度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42925" y="365379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8373" y="3600926"/>
              <a:ext cx="4027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由解释程序自动加载，不需要显式 import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3990975"/>
            <a:ext cx="5410200" cy="1894522"/>
            <a:chOff x="533400" y="3990975"/>
            <a:chExt cx="5410200" cy="1894522"/>
          </a:xfrm>
        </p:grpSpPr>
        <p:sp>
          <p:nvSpPr>
            <p:cNvPr id="20" name="Rectangle 20"/>
            <p:cNvSpPr/>
            <p:nvPr/>
          </p:nvSpPr>
          <p:spPr>
            <a:xfrm>
              <a:off x="533400" y="3990975"/>
              <a:ext cx="5410200" cy="1894522"/>
            </a:xfrm>
            <a:prstGeom prst="roundRect">
              <a:avLst>
                <a:gd name="adj" fmla="val 603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837748"/>
              <a:ext cx="200026" cy="200025"/>
              <a:chOff x="738188" y="4837748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8377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48821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49933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694872"/>
              <a:ext cx="4377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import pkg.*</a:t>
              </a: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只展开该包的直接成员，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java.util.*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不包含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java.util.concurrent</a:t>
              </a: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里的类。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248400" y="1524000"/>
            <a:ext cx="5410200" cy="1561148"/>
            <a:chOff x="6248400" y="1524000"/>
            <a:chExt cx="5410200" cy="1561148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6797" y="1675924"/>
              <a:ext cx="20847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写法一：完全限定名，不用 import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797" y="1935956"/>
              <a:ext cx="3021838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FullQualification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java.util.ArrayList list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java.util.ArrayList();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ode-2"/>
          <p:cNvGrpSpPr/>
          <p:nvPr/>
        </p:nvGrpSpPr>
        <p:grpSpPr>
          <a:xfrm>
            <a:off x="6248400" y="3275648"/>
            <a:ext cx="5410200" cy="1737360"/>
            <a:chOff x="6248400" y="3275648"/>
            <a:chExt cx="5410200" cy="1737360"/>
          </a:xfrm>
        </p:grpSpPr>
        <p:sp>
          <p:nvSpPr>
            <p:cNvPr id="31" name="Rectangle 31"/>
            <p:cNvSpPr/>
            <p:nvPr/>
          </p:nvSpPr>
          <p:spPr>
            <a:xfrm>
              <a:off x="6248400" y="3275648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797" y="342757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写法二：单类型导入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797" y="3687604"/>
              <a:ext cx="3021838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java.util.ArrayList;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SingleImport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ArrayList list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c2-code-3"/>
          <p:cNvGrpSpPr/>
          <p:nvPr/>
        </p:nvGrpSpPr>
        <p:grpSpPr>
          <a:xfrm>
            <a:off x="6248400" y="5203508"/>
            <a:ext cx="5410200" cy="681990"/>
            <a:chOff x="6248400" y="5203508"/>
            <a:chExt cx="5410200" cy="681990"/>
          </a:xfrm>
        </p:grpSpPr>
        <p:sp>
          <p:nvSpPr>
            <p:cNvPr id="35" name="Rectangle 35"/>
            <p:cNvSpPr/>
            <p:nvPr/>
          </p:nvSpPr>
          <p:spPr>
            <a:xfrm>
              <a:off x="6248400" y="5203508"/>
              <a:ext cx="5410200" cy="681990"/>
            </a:xfrm>
            <a:prstGeom prst="roundRect">
              <a:avLst>
                <a:gd name="adj" fmla="val 139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797" y="535543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写法三：按需导入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797" y="5615464"/>
              <a:ext cx="35455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java.util.*;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要用 java.util 中的其他类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3.3 包：库单元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同名类冲突：什么时候才真的编译不过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93220" cy="264033"/>
            <a:chOff x="526542" y="1545907"/>
            <a:chExt cx="519322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93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原课件这一页的结论反了，下面两段都用 javac 25 实际编译过。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2056448"/>
            <a:chOff x="533400" y="1928812"/>
            <a:chExt cx="5410200" cy="205644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056448"/>
            </a:xfrm>
            <a:prstGeom prst="roundRect">
              <a:avLst>
                <a:gd name="adj" fmla="val 463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情形一：单类型导入优先，能编译通过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435"/>
              <a:ext cx="3193288" cy="15563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access.mypackage.Vector;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SingleImportWins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Vector v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Vector();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v 是 access.mypackage.Vector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java.util.Vector jv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java.util.Vector();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155758"/>
            <a:ext cx="5410200" cy="819150"/>
            <a:chOff x="533400" y="4155758"/>
            <a:chExt cx="5410200" cy="819150"/>
          </a:xfrm>
        </p:grpSpPr>
        <p:sp>
          <p:nvSpPr>
            <p:cNvPr id="13" name="Rectangle 13"/>
            <p:cNvSpPr/>
            <p:nvPr/>
          </p:nvSpPr>
          <p:spPr>
            <a:xfrm>
              <a:off x="533400" y="4155758"/>
              <a:ext cx="5410200" cy="819150"/>
            </a:xfrm>
            <a:prstGeom prst="roundRect">
              <a:avLst>
                <a:gd name="adj" fmla="val 1162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30768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实测运行结果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4566380"/>
              <a:ext cx="1811655" cy="3219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 is a access.mypackage.Vector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jv is a java.util.Vector</a:t>
              </a:r>
            </a:p>
          </p:txBody>
        </p:sp>
      </p:grpSp>
      <p:grpSp>
        <p:nvGrpSpPr>
          <p:cNvPr id="22" name="c1-card-3"/>
          <p:cNvGrpSpPr/>
          <p:nvPr/>
        </p:nvGrpSpPr>
        <p:grpSpPr>
          <a:xfrm>
            <a:off x="533400" y="5144452"/>
            <a:ext cx="5410200" cy="1185862"/>
            <a:chOff x="533400" y="5144452"/>
            <a:chExt cx="5410200" cy="1185862"/>
          </a:xfrm>
        </p:grpSpPr>
        <p:sp>
          <p:nvSpPr>
            <p:cNvPr id="17" name="Rectangle 17"/>
            <p:cNvSpPr/>
            <p:nvPr/>
          </p:nvSpPr>
          <p:spPr>
            <a:xfrm>
              <a:off x="533400" y="514445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527780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533114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759" y="536400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记忆方法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332" y="567499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单类型导入是指名道姓，按需导入是广而告之。指名道姓的优先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级更高，所以它不会和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.*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冲突。</a:t>
              </a:r>
            </a:p>
          </p:txBody>
        </p:sp>
      </p:grpSp>
      <p:grpSp>
        <p:nvGrpSpPr>
          <p:cNvPr id="26" name="c2-code-1"/>
          <p:cNvGrpSpPr/>
          <p:nvPr/>
        </p:nvGrpSpPr>
        <p:grpSpPr>
          <a:xfrm>
            <a:off x="6248400" y="1928812"/>
            <a:ext cx="5410200" cy="1746885"/>
            <a:chOff x="6248400" y="1928812"/>
            <a:chExt cx="5410200" cy="1746885"/>
          </a:xfrm>
        </p:grpSpPr>
        <p:sp>
          <p:nvSpPr>
            <p:cNvPr id="23" name="Rectangle 23"/>
            <p:cNvSpPr/>
            <p:nvPr/>
          </p:nvSpPr>
          <p:spPr>
            <a:xfrm>
              <a:off x="6248400" y="1928812"/>
              <a:ext cx="5410200" cy="1746885"/>
            </a:xfrm>
            <a:prstGeom prst="roundRect">
              <a:avLst>
                <a:gd name="adj" fmla="val 54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797" y="2080736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情形二：两条按需导入，编译错误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6988" y="2339435"/>
              <a:ext cx="2652649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java.util.*;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access.mypackage.*;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AmbiguousOnDemand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Vector v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Vector();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ode-2"/>
          <p:cNvGrpSpPr/>
          <p:nvPr/>
        </p:nvGrpSpPr>
        <p:grpSpPr>
          <a:xfrm>
            <a:off x="6248400" y="3846195"/>
            <a:ext cx="5410200" cy="937260"/>
            <a:chOff x="6248400" y="3846195"/>
            <a:chExt cx="5410200" cy="937260"/>
          </a:xfrm>
        </p:grpSpPr>
        <p:sp>
          <p:nvSpPr>
            <p:cNvPr id="27" name="Rectangle 27"/>
            <p:cNvSpPr/>
            <p:nvPr/>
          </p:nvSpPr>
          <p:spPr>
            <a:xfrm>
              <a:off x="6248400" y="3846195"/>
              <a:ext cx="5410200" cy="937260"/>
            </a:xfrm>
            <a:prstGeom prst="roundRect">
              <a:avLst>
                <a:gd name="adj" fmla="val 101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6797" y="3998119"/>
              <a:ext cx="15152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javac 25 的报错（实测）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988" y="4255532"/>
              <a:ext cx="1544574" cy="438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对Vector的引用不明确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access.mypackage.Vector 和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java.util.Vector 都匹配</a:t>
              </a:r>
            </a:p>
          </p:txBody>
        </p:sp>
      </p:grpSp>
      <p:grpSp>
        <p:nvGrpSpPr>
          <p:cNvPr id="36" name="c2-card-3"/>
          <p:cNvGrpSpPr/>
          <p:nvPr/>
        </p:nvGrpSpPr>
        <p:grpSpPr>
          <a:xfrm>
            <a:off x="6248400" y="4953000"/>
            <a:ext cx="5410200" cy="1376362"/>
            <a:chOff x="6248400" y="4953000"/>
            <a:chExt cx="5410200" cy="1376362"/>
          </a:xfrm>
        </p:grpSpPr>
        <p:sp>
          <p:nvSpPr>
            <p:cNvPr id="31" name="Rectangle 31"/>
            <p:cNvSpPr/>
            <p:nvPr/>
          </p:nvSpPr>
          <p:spPr>
            <a:xfrm>
              <a:off x="6248400" y="4953000"/>
              <a:ext cx="5410200" cy="1376362"/>
            </a:xfrm>
            <a:prstGeom prst="roundRect">
              <a:avLst>
                <a:gd name="adj" fmla="val 9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5086350"/>
              <a:ext cx="47625" cy="11096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3190" y="5139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5862" y="5172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6332" y="5484495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原课件给情形一的那句标了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//error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。单类型导入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优先于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导入，它合法；此时想用另一个同名类，写完全限定名即可。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386777" cy="2643187"/>
            <a:chOff x="667512" y="1835468"/>
            <a:chExt cx="4386777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27159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 Java 标准类库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376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常用包与 Object、System、Math、String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先查库里有没有，再决定自己写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 不需要 import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665666" cy="909257"/>
            <a:chOff x="520446" y="342900"/>
            <a:chExt cx="26656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常用包一览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184290" cy="308039"/>
            <a:chOff x="525399" y="1550194"/>
            <a:chExt cx="61842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功能相关的可重用类被组织成包，编程时先考虑怎么用已有的类。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33400" y="1967865"/>
            <a:ext cx="11125200" cy="2692718"/>
            <a:chOff x="533400" y="1967865"/>
            <a:chExt cx="11125200" cy="269271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41844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57661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装的是什么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60714" y="21026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本课程会用到的类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426018"/>
              <a:ext cx="198310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43378" y="2551271"/>
              <a:ext cx="38961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程序设计中最基础的类，由解释程序自动加载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61161" y="2551271"/>
              <a:ext cx="3451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Object、String、Math、System、Integer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000851"/>
              <a:ext cx="7728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java.util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43378" y="300085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具有特定功能的实用工具类和数据结构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61161" y="3000851"/>
              <a:ext cx="34688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Arrays、Date、Calendar、Stack、Random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449479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java.io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3378" y="344947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与输入输出相关的类，支持对不同设备读写数据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61161" y="3449479"/>
              <a:ext cx="2273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File、InputStream、Reader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3898106"/>
              <a:ext cx="1053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javax.swing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43378" y="38981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创建图形用户界面元素的类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61161" y="3898106"/>
              <a:ext cx="26960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JFrame、JButton、JOptionPane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4346734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java.net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43378" y="43467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与网络操作相关的类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1161" y="4346734"/>
              <a:ext cx="22416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URL、InetAddress、Socket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67865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53079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4857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2"/>
          <p:cNvGrpSpPr/>
          <p:nvPr/>
        </p:nvGrpSpPr>
        <p:grpSpPr>
          <a:xfrm>
            <a:off x="533400" y="4851082"/>
            <a:ext cx="11125200" cy="1511618"/>
            <a:chOff x="533400" y="4851082"/>
            <a:chExt cx="11125200" cy="1511618"/>
          </a:xfrm>
        </p:grpSpPr>
        <p:sp>
          <p:nvSpPr>
            <p:cNvPr id="39" name="Rectangle 39"/>
            <p:cNvSpPr/>
            <p:nvPr/>
          </p:nvSpPr>
          <p:spPr>
            <a:xfrm>
              <a:off x="533400" y="4851082"/>
              <a:ext cx="11125200" cy="1511618"/>
            </a:xfrm>
            <a:prstGeom prst="roundRect">
              <a:avLst>
                <a:gd name="adj" fmla="val 756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506403"/>
              <a:ext cx="200026" cy="200026"/>
              <a:chOff x="738188" y="5506403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5064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573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56064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501640"/>
              <a:ext cx="9458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原课件目录页把包名写成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Java.util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。包名区分大小写，一律小写：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java.util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27844" cy="909257"/>
            <a:chOff x="520446" y="342900"/>
            <a:chExt cx="55278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278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 与 java.util 里有些什么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43952"/>
            <a:chOff x="533400" y="1524000"/>
            <a:chExt cx="5410200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791528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4594" y="1737836"/>
              <a:ext cx="6263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java.lang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由解释程序自动加载，不需要显式 import。提供包装类、基本数学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函数、字符串处理、线程和异常处理类。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2832735"/>
            <a:ext cx="5410200" cy="2474595"/>
            <a:chOff x="533400" y="2832735"/>
            <a:chExt cx="5410200" cy="2474595"/>
          </a:xfrm>
        </p:grpSpPr>
        <p:sp>
          <p:nvSpPr>
            <p:cNvPr id="13" name="Rectangle 13"/>
            <p:cNvSpPr/>
            <p:nvPr/>
          </p:nvSpPr>
          <p:spPr>
            <a:xfrm>
              <a:off x="533400" y="2832735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9660" y="2949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65436" y="294989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078" y="333184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根与元信息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34921" y="3331845"/>
              <a:ext cx="26326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Object、Class、ClassLoader、Package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5909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595688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38061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包装类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34921" y="3712845"/>
              <a:ext cx="338442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Boolean、Byte、Character、Short、Integer、Long、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Float、Double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1586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42814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34921" y="4281488"/>
              <a:ext cx="2547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String、StringBuffer、StringBuilder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405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54533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66248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系统与线程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34921" y="4662488"/>
              <a:ext cx="3295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System、Runtime、Math、Thread、ThreadGroup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9215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50434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34921" y="5043488"/>
              <a:ext cx="1315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Throwable 及其子类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832735"/>
              <a:ext cx="5410200" cy="2474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35480" y="2832735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1386840"/>
            <a:chOff x="6248400" y="1524000"/>
            <a:chExt cx="5410200" cy="1386840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7475" y="1704975"/>
              <a:ext cx="758190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0717" y="1737836"/>
              <a:ext cx="591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java.util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0998" y="2045494"/>
              <a:ext cx="46459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的实用工具类库，提供实用的方法和数据结构：日期时间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Calendar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，随机数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Random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，数据结构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Stack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Vector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BitSet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Hashtable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2" name="c2-table-2"/>
          <p:cNvGrpSpPr/>
          <p:nvPr/>
        </p:nvGrpSpPr>
        <p:grpSpPr>
          <a:xfrm>
            <a:off x="6248400" y="3075622"/>
            <a:ext cx="5410200" cy="2287905"/>
            <a:chOff x="6248400" y="3075622"/>
            <a:chExt cx="5410200" cy="2287905"/>
          </a:xfrm>
        </p:grpSpPr>
        <p:sp>
          <p:nvSpPr>
            <p:cNvPr id="41" name="Rectangle 41"/>
            <p:cNvSpPr/>
            <p:nvPr/>
          </p:nvSpPr>
          <p:spPr>
            <a:xfrm>
              <a:off x="6248400" y="3075622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6634" y="3192780"/>
              <a:ext cx="1563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java.lang 中的常用接口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26930" y="3192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43079" y="3574732"/>
              <a:ext cx="999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CharSequence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82356" y="3574732"/>
              <a:ext cx="1678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char 值的一个可读序列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8338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383857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3079" y="3955732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Cloneable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82356" y="3955732"/>
              <a:ext cx="2441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指示 clone() 可以按字段复制该类实例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42148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3079" y="4337685"/>
              <a:ext cx="824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Comparable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82356" y="433768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对实现它的类的对象进行整体排序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5967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460152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3079" y="4718685"/>
              <a:ext cx="593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Iterable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82356" y="4718685"/>
              <a:ext cx="2335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实现后可以成为 foreach 语句的目标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49777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3079" y="5099685"/>
              <a:ext cx="630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Runnable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82356" y="509968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由打算交给线程执行的类来实现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3075622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082915" y="307562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3" name="Rectangle 63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5805011"/>
              <a:ext cx="82303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 java.lang 类表里的 Compiler 已在 JDK 9 弃用、JDK 11 移除（本机 JDK 25 实测 Class.forName 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ClassNotFoundException）；写日期时间今天推荐 java.time 包的 LocalDate、LocalDateTime。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0255" cy="909257"/>
            <a:chOff x="520446" y="342900"/>
            <a:chExt cx="48302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02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3.4.2 Object 类：所有类的根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2925" y="1545431"/>
            <a:ext cx="4972050" cy="1652397"/>
            <a:chOff x="542925" y="1545431"/>
            <a:chExt cx="4972050" cy="1652397"/>
          </a:xfrm>
        </p:grpSpPr>
        <p:sp>
          <p:nvSpPr>
            <p:cNvPr id="7" name="Ellipse 7"/>
            <p:cNvSpPr/>
            <p:nvPr/>
          </p:nvSpPr>
          <p:spPr>
            <a:xfrm>
              <a:off x="542925" y="159734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373" y="1545431"/>
              <a:ext cx="35321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java.lang.Object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处于 Java 类层次树的根部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190309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8373" y="185118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一个类定义时没写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extends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，编译器就把它当作 Object 的直接子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45268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399824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 定义了所有对象最基本的状态和行为，它提供的方法被每个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类继承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300132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2948464"/>
              <a:ext cx="37842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可以用类型为 Object 的变量引用任意类型的对象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338512"/>
            <a:ext cx="5193982" cy="907732"/>
            <a:chOff x="533400" y="3338512"/>
            <a:chExt cx="5193982" cy="907732"/>
          </a:xfrm>
        </p:grpSpPr>
        <p:sp>
          <p:nvSpPr>
            <p:cNvPr id="16" name="Rectangle 16"/>
            <p:cNvSpPr/>
            <p:nvPr/>
          </p:nvSpPr>
          <p:spPr>
            <a:xfrm>
              <a:off x="533400" y="3338512"/>
              <a:ext cx="5193982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34904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向上转型与向下转型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035" y="3752374"/>
              <a:ext cx="3745230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Object obj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MyObject();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自动向上转型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MyObject x = (MyObject) obj;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向下要强制转换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436745"/>
            <a:ext cx="5193982" cy="1602105"/>
            <a:chOff x="533400" y="4436745"/>
            <a:chExt cx="5193982" cy="1602105"/>
          </a:xfrm>
        </p:grpSpPr>
        <p:sp>
          <p:nvSpPr>
            <p:cNvPr id="20" name="Rectangle 20"/>
            <p:cNvSpPr/>
            <p:nvPr/>
          </p:nvSpPr>
          <p:spPr>
            <a:xfrm>
              <a:off x="533400" y="4436745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57009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46462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1258" y="46820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5023485"/>
              <a:ext cx="4535329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 Object 是所有 Java 类的「基类」。更准确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地说它是所有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的根（超类），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接口不继承 Object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数组也是对象，同样继承 Object。</a:t>
              </a:r>
            </a:p>
          </p:txBody>
        </p:sp>
      </p:grpSp>
      <p:grpSp>
        <p:nvGrpSpPr>
          <p:cNvPr id="52" name="c2-tree-1"/>
          <p:cNvGrpSpPr/>
          <p:nvPr/>
        </p:nvGrpSpPr>
        <p:grpSpPr>
          <a:xfrm>
            <a:off x="6032182" y="1588770"/>
            <a:ext cx="5626418" cy="2821306"/>
            <a:chOff x="6032182" y="1588770"/>
            <a:chExt cx="5626418" cy="2821306"/>
          </a:xfrm>
        </p:grpSpPr>
        <p:sp>
          <p:nvSpPr>
            <p:cNvPr id="26" name="Freeform 26"/>
            <p:cNvSpPr/>
            <p:nvPr/>
          </p:nvSpPr>
          <p:spPr>
            <a:xfrm>
              <a:off x="10293668" y="2238375"/>
              <a:ext cx="419100" cy="238125"/>
            </a:xfrm>
            <a:custGeom>
              <a:avLst/>
              <a:gdLst/>
              <a:ahLst/>
              <a:cxnLst/>
              <a:rect l="l" t="t" r="r" b="b"/>
              <a:pathLst>
                <a:path w="419100" h="238125">
                  <a:moveTo>
                    <a:pt x="0" y="238125"/>
                  </a:moveTo>
                  <a:lnTo>
                    <a:pt x="209550" y="2381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293668" y="2476500"/>
              <a:ext cx="419100" cy="238125"/>
            </a:xfrm>
            <a:custGeom>
              <a:avLst/>
              <a:gdLst/>
              <a:ahLst/>
              <a:cxnLst/>
              <a:rect l="l" t="t" r="r" b="b"/>
              <a:pathLst>
                <a:path w="419100" h="238125">
                  <a:moveTo>
                    <a:pt x="0" y="0"/>
                  </a:moveTo>
                  <a:lnTo>
                    <a:pt x="209550" y="0"/>
                  </a:lnTo>
                  <a:lnTo>
                    <a:pt x="209550" y="238125"/>
                  </a:lnTo>
                  <a:lnTo>
                    <a:pt x="419100" y="2381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293668" y="3190875"/>
              <a:ext cx="419100" cy="238125"/>
            </a:xfrm>
            <a:custGeom>
              <a:avLst/>
              <a:gdLst/>
              <a:ahLst/>
              <a:cxnLst/>
              <a:rect l="l" t="t" r="r" b="b"/>
              <a:pathLst>
                <a:path w="419100" h="238125">
                  <a:moveTo>
                    <a:pt x="0" y="238125"/>
                  </a:moveTo>
                  <a:lnTo>
                    <a:pt x="209550" y="2381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293668" y="3429000"/>
              <a:ext cx="419100" cy="238125"/>
            </a:xfrm>
            <a:custGeom>
              <a:avLst/>
              <a:gdLst/>
              <a:ahLst/>
              <a:cxnLst/>
              <a:rect l="l" t="t" r="r" b="b"/>
              <a:pathLst>
                <a:path w="419100" h="238125">
                  <a:moveTo>
                    <a:pt x="0" y="0"/>
                  </a:moveTo>
                  <a:lnTo>
                    <a:pt x="209550" y="0"/>
                  </a:lnTo>
                  <a:lnTo>
                    <a:pt x="209550" y="238125"/>
                  </a:lnTo>
                  <a:lnTo>
                    <a:pt x="419100" y="2381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541895" y="1762125"/>
              <a:ext cx="419100" cy="1190625"/>
            </a:xfrm>
            <a:custGeom>
              <a:avLst/>
              <a:gdLst/>
              <a:ahLst/>
              <a:cxnLst/>
              <a:rect l="l" t="t" r="r" b="b"/>
              <a:pathLst>
                <a:path w="419100" h="1190625">
                  <a:moveTo>
                    <a:pt x="0" y="1190625"/>
                  </a:moveTo>
                  <a:lnTo>
                    <a:pt x="209550" y="11906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541895" y="2476500"/>
              <a:ext cx="419100" cy="476250"/>
            </a:xfrm>
            <a:custGeom>
              <a:avLst/>
              <a:gdLst/>
              <a:ahLst/>
              <a:cxnLst/>
              <a:rect l="l" t="t" r="r" b="b"/>
              <a:pathLst>
                <a:path w="419100" h="476250">
                  <a:moveTo>
                    <a:pt x="0" y="476250"/>
                  </a:moveTo>
                  <a:lnTo>
                    <a:pt x="209550" y="4762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541895" y="2952750"/>
              <a:ext cx="419100" cy="476250"/>
            </a:xfrm>
            <a:custGeom>
              <a:avLst/>
              <a:gdLst/>
              <a:ahLst/>
              <a:cxnLst/>
              <a:rect l="l" t="t" r="r" b="b"/>
              <a:pathLst>
                <a:path w="419100" h="476250">
                  <a:moveTo>
                    <a:pt x="0" y="0"/>
                  </a:moveTo>
                  <a:lnTo>
                    <a:pt x="209550" y="0"/>
                  </a:lnTo>
                  <a:lnTo>
                    <a:pt x="209550" y="476250"/>
                  </a:lnTo>
                  <a:lnTo>
                    <a:pt x="419100" y="4762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541895" y="2952750"/>
              <a:ext cx="419100" cy="1190625"/>
            </a:xfrm>
            <a:custGeom>
              <a:avLst/>
              <a:gdLst/>
              <a:ahLst/>
              <a:cxnLst/>
              <a:rect l="l" t="t" r="r" b="b"/>
              <a:pathLst>
                <a:path w="419100" h="1190625">
                  <a:moveTo>
                    <a:pt x="0" y="0"/>
                  </a:moveTo>
                  <a:lnTo>
                    <a:pt x="209550" y="0"/>
                  </a:lnTo>
                  <a:lnTo>
                    <a:pt x="209550" y="1190625"/>
                  </a:lnTo>
                  <a:lnTo>
                    <a:pt x="419100" y="11906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960995" y="1588770"/>
              <a:ext cx="233267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712768" y="2065020"/>
              <a:ext cx="9458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712768" y="2541270"/>
              <a:ext cx="9458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960995" y="2303145"/>
              <a:ext cx="2332672" cy="346710"/>
            </a:xfrm>
            <a:prstGeom prst="roundRect">
              <a:avLst>
                <a:gd name="adj" fmla="val 27473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712768" y="3017520"/>
              <a:ext cx="9458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712768" y="3493770"/>
              <a:ext cx="94583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60995" y="3255645"/>
              <a:ext cx="2332672" cy="346710"/>
            </a:xfrm>
            <a:prstGeom prst="roundRect">
              <a:avLst>
                <a:gd name="adj" fmla="val 27473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960995" y="3877628"/>
              <a:ext cx="2332672" cy="532448"/>
            </a:xfrm>
            <a:prstGeom prst="roundRect">
              <a:avLst>
                <a:gd name="adj" fmla="val 17889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32182" y="2779395"/>
              <a:ext cx="1509712" cy="346710"/>
            </a:xfrm>
            <a:prstGeom prst="roundRect">
              <a:avLst>
                <a:gd name="adj" fmla="val 2747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050530" y="1683544"/>
              <a:ext cx="12300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java.lang.String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02303" y="2159794"/>
              <a:ext cx="5586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02303" y="2636044"/>
              <a:ext cx="475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50530" y="2397919"/>
              <a:ext cx="1362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java.lang.Number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02303" y="3112294"/>
              <a:ext cx="724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Exception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02303" y="3588544"/>
              <a:ext cx="430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Error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50530" y="3350419"/>
              <a:ext cx="1583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java.lang.Throwable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50530" y="3972401"/>
              <a:ext cx="1739646" cy="4057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62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自己写的类（不写 extends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21717" y="2874169"/>
              <a:ext cx="1322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java.lang.Object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032182" y="4572000"/>
            <a:ext cx="5626418" cy="1466850"/>
            <a:chOff x="6032182" y="4572000"/>
            <a:chExt cx="5626418" cy="1466850"/>
          </a:xfrm>
        </p:grpSpPr>
        <p:sp>
          <p:nvSpPr>
            <p:cNvPr id="53" name="Rectangle 53"/>
            <p:cNvSpPr/>
            <p:nvPr/>
          </p:nvSpPr>
          <p:spPr>
            <a:xfrm>
              <a:off x="6032182" y="4572000"/>
              <a:ext cx="5626418" cy="1466850"/>
            </a:xfrm>
            <a:prstGeom prst="roundRect">
              <a:avLst>
                <a:gd name="adj" fmla="val 779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236970" y="5205415"/>
              <a:ext cx="200023" cy="200023"/>
              <a:chOff x="6236970" y="5205415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236970" y="52054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370320" y="52720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538912" y="4924425"/>
              <a:ext cx="4701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任何类的对象都能调用 toString()、equals()、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hashCode()、getClass()，因为它们都从 Object 继承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而来。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77245" cy="909257"/>
            <a:chOff x="520446" y="342900"/>
            <a:chExt cx="33772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3772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 类提供的方法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table-1"/>
          <p:cNvGrpSpPr/>
          <p:nvPr/>
        </p:nvGrpSpPr>
        <p:grpSpPr>
          <a:xfrm>
            <a:off x="533400" y="1524000"/>
            <a:ext cx="11125200" cy="3813810"/>
            <a:chOff x="533400" y="1524000"/>
            <a:chExt cx="11125200" cy="3813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7838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3787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27058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要注意的地方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662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Object()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10456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8016" y="2023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子类构造方法最终都会调到它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856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Object clone()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0456" y="2404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建立当前对象的拷贝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8016" y="2404110"/>
              <a:ext cx="3544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 CloneNotSupportedException，类要实现 Cloneable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1945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 equals(Object obj)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10456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8016" y="2785110"/>
              <a:ext cx="3202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 的实现就是比较地址，要按内容比必须重写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1828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void finalize()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10456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释放资源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8016" y="3167062"/>
              <a:ext cx="2484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9 起弃用，JDK 18 起标记为待移除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184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Class&lt;?&gt; getClass()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10456" y="3548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求对象对应的类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8016" y="354806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返回运行时的实际类型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1084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hashCode()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10456" y="3930015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hash 码值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8016" y="3930015"/>
              <a:ext cx="1798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重写 equals 时必须一起重写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2301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void notify() / notifyAll()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325302" y="4203382"/>
              <a:ext cx="331851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10456" y="4311015"/>
              <a:ext cx="2867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唤醒在此对象监视器上等待的</a:t>
              </a: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/ 全部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48016" y="4311015"/>
              <a:ext cx="3537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不是「唤醒当前线程」，且必须在 synchronized 块里调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570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57485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8078" y="4692015"/>
              <a:ext cx="1297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toString()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10456" y="469201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返回当前对象的字符串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48016" y="4692015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默认是 类名@十六进制哈希值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952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8078" y="5073968"/>
              <a:ext cx="1450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void wait(...)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25302" y="4966335"/>
              <a:ext cx="331851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410456" y="507396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</a:t>
              </a: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线程等待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48016" y="5073968"/>
              <a:ext cx="25353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 InterruptedException；有三种重载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524000"/>
              <a:ext cx="11125200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4311015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48575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1-callout-2"/>
          <p:cNvGrpSpPr/>
          <p:nvPr/>
        </p:nvGrpSpPr>
        <p:grpSpPr>
          <a:xfrm>
            <a:off x="533400" y="5502592"/>
            <a:ext cx="11125200" cy="860108"/>
            <a:chOff x="533400" y="5502592"/>
            <a:chExt cx="11125200" cy="860108"/>
          </a:xfrm>
        </p:grpSpPr>
        <p:sp>
          <p:nvSpPr>
            <p:cNvPr id="56" name="Rectangle 56"/>
            <p:cNvSpPr/>
            <p:nvPr/>
          </p:nvSpPr>
          <p:spPr>
            <a:xfrm>
              <a:off x="533400" y="5502592"/>
              <a:ext cx="11125200" cy="860108"/>
            </a:xfrm>
            <a:prstGeom prst="roundRect">
              <a:avLst>
                <a:gd name="adj" fmla="val 1328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833110"/>
              <a:ext cx="200026" cy="200026"/>
              <a:chOff x="738188" y="5833110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8331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58997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59331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5725954"/>
              <a:ext cx="98640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更正：原课件把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notify()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注释成「唤醒当前线程」。让当前线程等待的是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wait()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wait(long timeout, int nanos)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中 timeout 单位毫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秒、nanos 单位纳秒，取值 0～999999。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31916" cy="909257"/>
            <a:chOff x="520446" y="342900"/>
            <a:chExt cx="6431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31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3.8：equals、getClass 与 toString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588895"/>
            <a:chOff x="533400" y="1524000"/>
            <a:chExt cx="5410200" cy="2588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88895"/>
            </a:xfrm>
            <a:prstGeom prst="roundRect">
              <a:avLst>
                <a:gd name="adj" fmla="val 367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67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ObjectExam.java（已按现代写法整理）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021457" cy="2093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java.awt.Rectangle;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ObjectExam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Integer a = Integer.valueOf(1);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Integer b = Integer.valueOf(1);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Rectangle c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Rectangle(20, 5);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System.out.println(a.equals(b));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"The Object class is:"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+ a.getClass());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System.out.println(c.toString());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288155"/>
            <a:ext cx="5410200" cy="988695"/>
            <a:chOff x="533400" y="4288155"/>
            <a:chExt cx="5410200" cy="988695"/>
          </a:xfrm>
        </p:grpSpPr>
        <p:sp>
          <p:nvSpPr>
            <p:cNvPr id="11" name="Rectangle 11"/>
            <p:cNvSpPr/>
            <p:nvPr/>
          </p:nvSpPr>
          <p:spPr>
            <a:xfrm>
              <a:off x="533400" y="4288155"/>
              <a:ext cx="5410200" cy="988695"/>
            </a:xfrm>
            <a:prstGeom prst="roundRect">
              <a:avLst>
                <a:gd name="adj" fmla="val 96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4400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4699349"/>
              <a:ext cx="2775585" cy="493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true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The Object class is:class java.lang.Integer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java.awt.Rectangle[x=0,y=0,width=20,height=5]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6248400" y="1524000"/>
            <a:ext cx="5410200" cy="1768792"/>
            <a:chOff x="6248400" y="15240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57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2047" y="2072640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原课件输出第一行写成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True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，Java 打印 boolean 是全小写的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true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2047" y="263271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Integer(1)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自 JDK 9 起弃用（javac 25 实测给出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deprecation 警告），改用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Integer.valueOf(1)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6" name="c2-table-2"/>
          <p:cNvGrpSpPr/>
          <p:nvPr/>
        </p:nvGrpSpPr>
        <p:grpSpPr>
          <a:xfrm>
            <a:off x="6248400" y="3468052"/>
            <a:ext cx="5410200" cy="1623060"/>
            <a:chOff x="6248400" y="3468052"/>
            <a:chExt cx="5410200" cy="1623060"/>
          </a:xfrm>
        </p:grpSpPr>
        <p:sp>
          <p:nvSpPr>
            <p:cNvPr id="22" name="Rectangle 22"/>
            <p:cNvSpPr/>
            <p:nvPr/>
          </p:nvSpPr>
          <p:spPr>
            <a:xfrm>
              <a:off x="6248400" y="3468052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28243" y="35923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56407" y="35923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实测结果与原因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48412" y="3998119"/>
              <a:ext cx="929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a.equals(b)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21078" y="3998119"/>
              <a:ext cx="2797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true：Integer 重写了 equals，按数值比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42748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427958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8412" y="4403884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== 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21078" y="4403884"/>
              <a:ext cx="22780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true：valueOf 缓存了 −128~127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46805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8412" y="4809649"/>
              <a:ext cx="1971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Object().toString()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21078" y="4809649"/>
              <a:ext cx="2009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java.lang.Object@22a71081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3468052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516302" y="346805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llout-3"/>
          <p:cNvGrpSpPr/>
          <p:nvPr/>
        </p:nvGrpSpPr>
        <p:grpSpPr>
          <a:xfrm>
            <a:off x="6248400" y="5266372"/>
            <a:ext cx="5410200" cy="729615"/>
            <a:chOff x="6248400" y="5266372"/>
            <a:chExt cx="5410200" cy="729615"/>
          </a:xfrm>
        </p:grpSpPr>
        <p:sp>
          <p:nvSpPr>
            <p:cNvPr id="37" name="Rectangle 37"/>
            <p:cNvSpPr/>
            <p:nvPr/>
          </p:nvSpPr>
          <p:spPr>
            <a:xfrm>
              <a:off x="6248400" y="526637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41129" y="5527476"/>
              <a:ext cx="224134" cy="192560"/>
              <a:chOff x="6441129" y="552747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553200" y="55978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41129" y="55274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53200" y="56756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5892" y="5412105"/>
              <a:ext cx="43171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缓存只覆盖 −128~127。两个值为 1000 的 Integer 用 </a:t>
              </a:r>
              <a:r>
                <a:rPr lang="zh-CN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==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比较，实测为 false，要用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equals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861531" cy="909257"/>
            <a:chOff x="520446" y="342900"/>
            <a:chExt cx="28615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8615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3.4.3 System 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42925" y="1541145"/>
            <a:ext cx="5374043" cy="713994"/>
            <a:chOff x="542925" y="1541145"/>
            <a:chExt cx="5374043" cy="713994"/>
          </a:xfrm>
        </p:grpSpPr>
        <p:sp>
          <p:nvSpPr>
            <p:cNvPr id="7" name="Ellipse 7"/>
            <p:cNvSpPr/>
            <p:nvPr/>
          </p:nvSpPr>
          <p:spPr>
            <a:xfrm>
              <a:off x="542925" y="157924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9516" y="1541145"/>
              <a:ext cx="3238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java.lang.System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包含一些常用的方法与成员变量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183356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9516" y="1795462"/>
              <a:ext cx="5217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System </a:t>
              </a: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不能被实例化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，构造方法是私有的，所有方法都是静态的，直接用类名引用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08788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9516" y="2049780"/>
              <a:ext cx="3212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提供标准输入 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、标准输出 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out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和错误 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err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三个流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2378392"/>
            <a:ext cx="5410200" cy="1912620"/>
            <a:chOff x="533400" y="2378392"/>
            <a:chExt cx="5410200" cy="1912620"/>
          </a:xfrm>
        </p:grpSpPr>
        <p:sp>
          <p:nvSpPr>
            <p:cNvPr id="14" name="Rectangle 14"/>
            <p:cNvSpPr/>
            <p:nvPr/>
          </p:nvSpPr>
          <p:spPr>
            <a:xfrm>
              <a:off x="533400" y="2378392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253031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两个输出流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797" y="2791301"/>
              <a:ext cx="3021838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 System.out!"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System.err.println(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 System.err!"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/* output: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System.out!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System.err!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*/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455795"/>
            <a:ext cx="5410200" cy="1719262"/>
            <a:chOff x="533400" y="4455795"/>
            <a:chExt cx="5410200" cy="1719262"/>
          </a:xfrm>
        </p:grpSpPr>
        <p:sp>
          <p:nvSpPr>
            <p:cNvPr id="18" name="Rectangle 18"/>
            <p:cNvSpPr/>
            <p:nvPr/>
          </p:nvSpPr>
          <p:spPr>
            <a:xfrm>
              <a:off x="533400" y="4455795"/>
              <a:ext cx="5410200" cy="1719262"/>
            </a:xfrm>
            <a:prstGeom prst="roundRect">
              <a:avLst>
                <a:gd name="adj" fmla="val 664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215890"/>
              <a:ext cx="200026" cy="200025"/>
              <a:chOff x="738188" y="521589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2158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2603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3714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1273" y="5108734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out 和 err 是两个独立的流，重定向时可以分开：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 Demo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&gt; out.txt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只重定向 out，err 仍打到屏幕。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248400" y="1524000"/>
            <a:ext cx="5410200" cy="2856548"/>
            <a:chOff x="6248400" y="1524000"/>
            <a:chExt cx="5410200" cy="2856548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240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常用成员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8885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43079" y="2023110"/>
              <a:ext cx="15346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getProperty(String)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07159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获取系统属性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286952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3079" y="2404110"/>
              <a:ext cx="1438847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setProperty(String,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07159" y="249745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设置或修改系统属性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3079" y="2971800"/>
              <a:ext cx="1444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currentTimeMillis()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07159" y="29718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取当前时间（毫秒）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3079" y="3353752"/>
              <a:ext cx="825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nanoTime()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07159" y="33537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取高精度计时用的纳秒数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612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3079" y="3734752"/>
              <a:ext cx="671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exit(int)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07159" y="3734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使程序退出系统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993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3998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4116705"/>
              <a:ext cx="1153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arraycopy(...)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07159" y="41167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拷贝数组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407718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6248400" y="4545330"/>
            <a:ext cx="5410200" cy="1629728"/>
            <a:chOff x="6248400" y="4545330"/>
            <a:chExt cx="5410200" cy="1629728"/>
          </a:xfrm>
        </p:grpSpPr>
        <p:sp>
          <p:nvSpPr>
            <p:cNvPr id="51" name="Rectangle 51"/>
            <p:cNvSpPr/>
            <p:nvPr/>
          </p:nvSpPr>
          <p:spPr>
            <a:xfrm>
              <a:off x="6248400" y="4545330"/>
              <a:ext cx="5410200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4678680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67475" y="47263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0147" y="47591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0998" y="5065871"/>
              <a:ext cx="47678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getProperty("OS.name")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"Java.version"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。属性名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区分大小写，应为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os.name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java.version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：本机实测大写返回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null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，小写返回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Windows 11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25.0.1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。方法名也被排成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getProPerty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665666" cy="909257"/>
            <a:chOff x="520446" y="342900"/>
            <a:chExt cx="26656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710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3.4.4 Math 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2925" y="1541145"/>
            <a:ext cx="3380861" cy="968312"/>
            <a:chOff x="542925" y="1541145"/>
            <a:chExt cx="3380861" cy="968312"/>
          </a:xfrm>
        </p:grpSpPr>
        <p:sp>
          <p:nvSpPr>
            <p:cNvPr id="7" name="Ellipse 7"/>
            <p:cNvSpPr/>
            <p:nvPr/>
          </p:nvSpPr>
          <p:spPr>
            <a:xfrm>
              <a:off x="542925" y="157924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9516" y="1541145"/>
              <a:ext cx="3224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java.lang.Math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包含完成基本数学函数所需的方法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2925" y="183356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9516" y="179546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全是静态方法，不用声明具体的实例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2925" y="208788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9516" y="204978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主要包括三角函数、指数、服务方法和随机数方法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234219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9516" y="2304098"/>
              <a:ext cx="28428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声明了两个 double 常量 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Math.PI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Math.E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33400" y="2632710"/>
            <a:ext cx="5410200" cy="2669858"/>
            <a:chOff x="533400" y="2632710"/>
            <a:chExt cx="5410200" cy="2669858"/>
          </a:xfrm>
        </p:grpSpPr>
        <p:sp>
          <p:nvSpPr>
            <p:cNvPr id="16" name="Rectangle 16"/>
            <p:cNvSpPr/>
            <p:nvPr/>
          </p:nvSpPr>
          <p:spPr>
            <a:xfrm>
              <a:off x="533400" y="263271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84972" y="27498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48722" y="27498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078" y="3131820"/>
              <a:ext cx="1664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Math.sin(Math.PI / 6)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39440" y="3024188"/>
              <a:ext cx="279463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24594" y="3131820"/>
              <a:ext cx="1487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0.49999999999999994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909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39566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12820"/>
              <a:ext cx="1701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Math.cos(Math.PI / 6)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4594" y="3512820"/>
              <a:ext cx="1410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0.8660254037844387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7719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894773"/>
              <a:ext cx="2194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Math.toDegrees(Math.PI / 2)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24594" y="389477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90.0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153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15861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275772"/>
              <a:ext cx="14853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Math.toRadians(30)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24594" y="4275772"/>
              <a:ext cx="1410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0.5235987755982988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534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4656772"/>
              <a:ext cx="945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Math.exp(1)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4594" y="4656772"/>
              <a:ext cx="1332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2.718281828459045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916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92156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5038725"/>
              <a:ext cx="1185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Math.pow(2, 3)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24594" y="503872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2632710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25152" y="263271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table-1"/>
          <p:cNvGrpSpPr/>
          <p:nvPr/>
        </p:nvGrpSpPr>
        <p:grpSpPr>
          <a:xfrm>
            <a:off x="6248400" y="1524000"/>
            <a:ext cx="5410200" cy="1906905"/>
            <a:chOff x="6248400" y="1524000"/>
            <a:chExt cx="5410200" cy="1906905"/>
          </a:xfrm>
        </p:grpSpPr>
        <p:sp>
          <p:nvSpPr>
            <p:cNvPr id="43" name="Rectangle 43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46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2772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69783" y="1641157"/>
              <a:ext cx="1013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例（x = −2.5）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43079" y="2023110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ceil(x)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49921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向上取整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89198" y="2023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3079" y="2404110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floor(x)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49921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向下取整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589198" y="240411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−3.0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3079" y="2785110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round(x)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49921" y="2785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四舍五入到整数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589198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3079" y="3167062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abs(x)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49921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绝对值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89198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1524000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5048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48975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rd-2"/>
          <p:cNvGrpSpPr/>
          <p:nvPr/>
        </p:nvGrpSpPr>
        <p:grpSpPr>
          <a:xfrm>
            <a:off x="6248400" y="3595688"/>
            <a:ext cx="5410200" cy="1706880"/>
            <a:chOff x="6248400" y="3595688"/>
            <a:chExt cx="5410200" cy="1706880"/>
          </a:xfrm>
        </p:grpSpPr>
        <p:sp>
          <p:nvSpPr>
            <p:cNvPr id="68" name="Rectangle 68"/>
            <p:cNvSpPr/>
            <p:nvPr/>
          </p:nvSpPr>
          <p:spPr>
            <a:xfrm>
              <a:off x="6248400" y="3595688"/>
              <a:ext cx="5410200" cy="1706880"/>
            </a:xfrm>
            <a:prstGeom prst="roundRect">
              <a:avLst>
                <a:gd name="adj" fmla="val 7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57925" y="3729038"/>
              <a:ext cx="47625" cy="14401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67475" y="3776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60147" y="3809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60998" y="4117181"/>
              <a:ext cx="46540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Math.sin(Math.PI/6)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原课件标 0.5，实际是</a:t>
              </a:r>
              <a:br/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0.49999999999999994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：Math.PI 只是近似值，判断相等要留误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60998" y="4887754"/>
              <a:ext cx="3542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Math.toRadians(30)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被注释成 </a:t>
              </a:r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/6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，漏了 π。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5" name="Rectangle 75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26129" y="5907523"/>
              <a:ext cx="224134" cy="192560"/>
              <a:chOff x="726129" y="5907523"/>
              <a:chExt cx="224134" cy="19256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38200" y="5977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26129" y="5907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6055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1273" y="5805011"/>
              <a:ext cx="9904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Math.random()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返回 [0.0, 1.0) 右端开，所以 a + Math.random() * b 落在 [a, a+b)，(int)(Math.random() * a) 得到的是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 到 a−1。实测 200000 次 (int)(Math.random()*6)，取值范围正是 0..5。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7329" cy="909257"/>
            <a:chOff x="520446" y="342900"/>
            <a:chExt cx="57873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73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3.4.5 String 类：构造方法与不可变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438275"/>
            <a:chOff x="533400" y="1524000"/>
            <a:chExt cx="5410200" cy="1438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38275"/>
            </a:xfrm>
            <a:prstGeom prst="roundRect">
              <a:avLst>
                <a:gd name="adj" fmla="val 66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常用构造方法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2652649" cy="939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bytes)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byte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bytes,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offset,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length)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value)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String(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value,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offset,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String(String original)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String(StringBuffer buffer)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131820"/>
            <a:ext cx="5410200" cy="1283018"/>
            <a:chOff x="533400" y="3131820"/>
            <a:chExt cx="5410200" cy="1283018"/>
          </a:xfrm>
        </p:grpSpPr>
        <p:sp>
          <p:nvSpPr>
            <p:cNvPr id="11" name="Rectangle 11"/>
            <p:cNvSpPr/>
            <p:nvPr/>
          </p:nvSpPr>
          <p:spPr>
            <a:xfrm>
              <a:off x="533400" y="3131820"/>
              <a:ext cx="5410200" cy="1283018"/>
            </a:xfrm>
            <a:prstGeom prst="roundRect">
              <a:avLst>
                <a:gd name="adj" fmla="val 742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28374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四种建法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3543395"/>
              <a:ext cx="2712720" cy="784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s1 =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 Java"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s2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"welcome to String"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c = {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's'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'u'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'n'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 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'j'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'v'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s3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String(c);        </a:t>
              </a:r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sun java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s4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String(c, 4, 4);  </a:t>
              </a:r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java</a:t>
              </a:r>
            </a:p>
          </p:txBody>
        </p:sp>
      </p:grpSp>
      <p:grpSp>
        <p:nvGrpSpPr>
          <p:cNvPr id="20" name="c1-card-3"/>
          <p:cNvGrpSpPr/>
          <p:nvPr/>
        </p:nvGrpSpPr>
        <p:grpSpPr>
          <a:xfrm>
            <a:off x="533400" y="4584382"/>
            <a:ext cx="5410200" cy="1700212"/>
            <a:chOff x="533400" y="4584382"/>
            <a:chExt cx="5410200" cy="1700212"/>
          </a:xfrm>
        </p:grpSpPr>
        <p:sp>
          <p:nvSpPr>
            <p:cNvPr id="15" name="Rectangle 15"/>
            <p:cNvSpPr/>
            <p:nvPr/>
          </p:nvSpPr>
          <p:spPr>
            <a:xfrm>
              <a:off x="533400" y="4584382"/>
              <a:ext cx="5410200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717732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477107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862" y="48039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5115878"/>
              <a:ext cx="468572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原课件列的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String(byte[] bytes, int offset, int length,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count)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参数名不对。JDK 里确实有一个四参数版本，签名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是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String(byte[] ascii, int hibyte, int offset, int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count)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，从 JDK 1.1 起就已弃用，不要再用。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1760220"/>
            <a:chOff x="6248400" y="1524000"/>
            <a:chExt cx="5410200" cy="1760220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350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96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核心性质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0239" y="1745932"/>
              <a:ext cx="1931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String 对象是不可变的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8232" y="2071688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String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用来处理不变的字符串常量。对象一旦创建，它的值就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28232" y="2628900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replace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toUpperCase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trim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substring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都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返回新串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，原串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一个字符都不会变。</a:t>
              </a:r>
            </a:p>
          </p:txBody>
        </p:sp>
      </p:grpSp>
      <p:grpSp>
        <p:nvGrpSpPr>
          <p:cNvPr id="32" name="c2-code-2"/>
          <p:cNvGrpSpPr/>
          <p:nvPr/>
        </p:nvGrpSpPr>
        <p:grpSpPr>
          <a:xfrm>
            <a:off x="6248400" y="3453765"/>
            <a:ext cx="5410200" cy="1561148"/>
            <a:chOff x="6248400" y="3453765"/>
            <a:chExt cx="5410200" cy="1561148"/>
          </a:xfrm>
        </p:grpSpPr>
        <p:sp>
          <p:nvSpPr>
            <p:cNvPr id="28" name="Rectangle 28"/>
            <p:cNvSpPr/>
            <p:nvPr/>
          </p:nvSpPr>
          <p:spPr>
            <a:xfrm>
              <a:off x="6248400" y="3453765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797" y="36056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最常见的错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67450" y="4005262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6797" y="3866674"/>
              <a:ext cx="3364103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 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hello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s.trim();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返回值被丢掉了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"["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"]"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 hello 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 = s.trim();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要接住返回值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"["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"]"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[hello]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6248400" y="5184458"/>
            <a:ext cx="5410200" cy="1100138"/>
            <a:chOff x="6248400" y="5184458"/>
            <a:chExt cx="5410200" cy="1100138"/>
          </a:xfrm>
        </p:grpSpPr>
        <p:sp>
          <p:nvSpPr>
            <p:cNvPr id="33" name="Rectangle 33"/>
            <p:cNvSpPr/>
            <p:nvPr/>
          </p:nvSpPr>
          <p:spPr>
            <a:xfrm>
              <a:off x="6248400" y="5184458"/>
              <a:ext cx="5410200" cy="1100138"/>
            </a:xfrm>
            <a:prstGeom prst="roundRect">
              <a:avLst>
                <a:gd name="adj" fmla="val 1039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53188" y="5634990"/>
              <a:ext cx="200026" cy="200025"/>
              <a:chOff x="6453188" y="5634990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53188" y="56349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92926" y="56794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27642" y="57905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755892" y="5515928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不可变换来的好处：字符串可以安全共享、可以放进常量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池、可以缓存哈希值，多线程下也不必加锁。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0989" cy="909257"/>
            <a:chOff x="520446" y="342900"/>
            <a:chExt cx="41409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09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== 比地址，equals 比内容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936558"/>
            <a:chOff x="533400" y="1524000"/>
            <a:chExt cx="5410200" cy="2936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5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Test.java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157726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s1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s2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"world"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s3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System.out.println(s1 == s3);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s1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s2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System.out.println(s1 == s2);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false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System.out.println(s1.equals(s2));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651058"/>
            <a:ext cx="5410200" cy="1033462"/>
            <a:chOff x="533400" y="4651058"/>
            <a:chExt cx="5410200" cy="1033462"/>
          </a:xfrm>
        </p:grpSpPr>
        <p:sp>
          <p:nvSpPr>
            <p:cNvPr id="11" name="Rectangle 11"/>
            <p:cNvSpPr/>
            <p:nvPr/>
          </p:nvSpPr>
          <p:spPr>
            <a:xfrm>
              <a:off x="533400" y="4651058"/>
              <a:ext cx="541020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80298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5063014"/>
              <a:ext cx="352171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true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true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6248400" y="1533525"/>
            <a:ext cx="5131689" cy="2348198"/>
            <a:chOff x="6248400" y="1533525"/>
            <a:chExt cx="5131689" cy="2348198"/>
          </a:xfrm>
        </p:grpSpPr>
        <p:sp>
          <p:nvSpPr>
            <p:cNvPr id="15" name="Rectangle 15"/>
            <p:cNvSpPr/>
            <p:nvPr/>
          </p:nvSpPr>
          <p:spPr>
            <a:xfrm>
              <a:off x="638175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248400" y="2419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2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248400" y="3304222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42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9880" y="15678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字面量走常量池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023" y="1861661"/>
              <a:ext cx="46865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和 s3 都写成 "hello"，编译期就放进字符串常量池，是同一个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对象，比较地址得 true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59880" y="2453640"/>
              <a:ext cx="16826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一定新建对象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023" y="2746534"/>
              <a:ext cx="4719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String("hello") 在堆上另建一个对象，地址不同，比较地址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false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59880" y="3338512"/>
              <a:ext cx="1735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 比字符序列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023" y="3632359"/>
              <a:ext cx="453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重写了 equals，逐个字符比较，内容相同就是 true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4060508"/>
            <a:ext cx="5410200" cy="1624965"/>
            <a:chOff x="6248400" y="4060508"/>
            <a:chExt cx="5410200" cy="1624965"/>
          </a:xfrm>
        </p:grpSpPr>
        <p:sp>
          <p:nvSpPr>
            <p:cNvPr id="29" name="Rectangle 29"/>
            <p:cNvSpPr/>
            <p:nvPr/>
          </p:nvSpPr>
          <p:spPr>
            <a:xfrm>
              <a:off x="6248400" y="4060508"/>
              <a:ext cx="5410200" cy="1624965"/>
            </a:xfrm>
            <a:prstGeom prst="roundRect">
              <a:avLst>
                <a:gd name="adj" fmla="val 7034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4772027"/>
              <a:ext cx="200023" cy="200023"/>
              <a:chOff x="6453188" y="4772027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53188" y="47720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86538" y="4838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130" y="4491038"/>
              <a:ext cx="44538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比较字符串内容一律用 </a:t>
              </a: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equals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；忽略大小写用</a:t>
              </a:r>
              <a:br/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equalsIgnoreCase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。只有在确实要判断「是不是同一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个对象」时才用地址比较。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字符串常量池：六个判断题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1855470"/>
            <a:chOff x="533400" y="1524000"/>
            <a:chExt cx="5410200" cy="18554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源程序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9966" y="1935004"/>
              <a:ext cx="66802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178"/>
                </a:lnSpc>
              </a:pPr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1542" y="1935004"/>
              <a:ext cx="2128774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s1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s2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s3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s4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"lo"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s5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 s6 = s5.intern();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s7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s8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"ello"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 s9 = s7 + s8;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44252"/>
            <a:ext cx="5410200" cy="2145030"/>
            <a:chOff x="533400" y="3544252"/>
            <a:chExt cx="5410200" cy="2145030"/>
          </a:xfrm>
        </p:grpSpPr>
        <p:sp>
          <p:nvSpPr>
            <p:cNvPr id="12" name="Rectangle 12"/>
            <p:cNvSpPr/>
            <p:nvPr/>
          </p:nvSpPr>
          <p:spPr>
            <a:xfrm>
              <a:off x="533400" y="3544252"/>
              <a:ext cx="5410200" cy="2145030"/>
            </a:xfrm>
            <a:prstGeom prst="roundRect">
              <a:avLst>
                <a:gd name="adj" fmla="val 6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677602"/>
              <a:ext cx="47625" cy="187833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2475" y="372522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9894" y="375808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字符串常量池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4064794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在堆里维护一块常量池。编译期就能确定的字符串字面量只存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一份，内容相同的字面量指向同一个对象。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4593431"/>
              <a:ext cx="48003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intern()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的规则：池里已有相同内容就返回池中那个对象，没有就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把当前字符串登记进池里再返回。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248400" y="1524000"/>
            <a:ext cx="5410200" cy="2856548"/>
            <a:chOff x="6248400" y="1524000"/>
            <a:chExt cx="5410200" cy="2856548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9702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7048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02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43079" y="2023110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== s2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3704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0941" y="202311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同一个字面量，池中同一个对象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8400" y="2286952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3079" y="2497455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== s3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3704" y="24974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0941" y="2404110"/>
              <a:ext cx="30777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两个字面量相加是编译期常量，编译后就是常量池里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Hello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3079" y="2971800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== s4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33704" y="29718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0941" y="2971800"/>
              <a:ext cx="2771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 new String，只能运行期拼，结果在堆上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3079" y="335375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== s9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33704" y="33537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0941" y="3353752"/>
              <a:ext cx="26256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s7、s8 是变量，运行期拼接，结果在堆上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612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3079" y="373475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s4 == s5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3704" y="37347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0941" y="37347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两个不同的堆对象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993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3998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4116705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== s6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33704" y="41167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90941" y="4116705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intern() 返回池中那个对象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434262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191500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6248400" y="4545330"/>
            <a:ext cx="5410200" cy="1143952"/>
            <a:chOff x="6248400" y="4545330"/>
            <a:chExt cx="5410200" cy="1143952"/>
          </a:xfrm>
        </p:grpSpPr>
        <p:sp>
          <p:nvSpPr>
            <p:cNvPr id="53" name="Rectangle 53"/>
            <p:cNvSpPr/>
            <p:nvPr/>
          </p:nvSpPr>
          <p:spPr>
            <a:xfrm>
              <a:off x="6248400" y="454533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67868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7475" y="472630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2044" y="47591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再走一步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60998" y="5065871"/>
              <a:ext cx="4784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 s7、s8 声明成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final String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s7 + s8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就变成编译期常量，此时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s1 == s7 + s8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实测为 true。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9" name="Rectangle 5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1273" y="603932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判断口诀：编译期能算出来的拼接进常量池，运行期才拼的一律在堆上新建对象。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61195" cy="909257"/>
            <a:chOff x="520446" y="342900"/>
            <a:chExt cx="29611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9611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的常用方法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4977765" cy="4457700"/>
            <a:chOff x="533400" y="1524000"/>
            <a:chExt cx="4977765" cy="44577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208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0977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1378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charAt(int index)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21368" y="2054066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返回指定索引处的 char 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length()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21368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返回此字符串的长度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965609"/>
              <a:ext cx="15898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indexOf(String str)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21368" y="2865596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首次出现处的索引，没有返回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4232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47085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471386"/>
              <a:ext cx="199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equalsIgnoreCase(String)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21368" y="347138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忽略大小写比较相等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480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877151"/>
              <a:ext cx="1586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replace(char, char)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21368" y="387715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替换所有匹配字符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538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58615"/>
              <a:ext cx="497776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4382929"/>
              <a:ext cx="1755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startsWith / endsWith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1368" y="4282916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是否开始于、结束于某个字符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7596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888706"/>
              <a:ext cx="2162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toUpperCase / toLowerCase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21368" y="48887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转成大写、转成小写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1654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17017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5294471"/>
              <a:ext cx="1776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substring(int b, int e)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21368" y="5294471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b 开始、到 e−1 结束的子串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5711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5700236"/>
              <a:ext cx="525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trim()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21368" y="570023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去掉字符串两端的空格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4977765" cy="44577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216592" y="1524000"/>
              <a:ext cx="9525" cy="44577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ode-1"/>
          <p:cNvGrpSpPr/>
          <p:nvPr/>
        </p:nvGrpSpPr>
        <p:grpSpPr>
          <a:xfrm>
            <a:off x="5815965" y="1524000"/>
            <a:ext cx="5842635" cy="2908935"/>
            <a:chOff x="5815965" y="1524000"/>
            <a:chExt cx="5842635" cy="2908935"/>
          </a:xfrm>
        </p:grpSpPr>
        <p:sp>
          <p:nvSpPr>
            <p:cNvPr id="43" name="Rectangle 43"/>
            <p:cNvSpPr/>
            <p:nvPr/>
          </p:nvSpPr>
          <p:spPr>
            <a:xfrm>
              <a:off x="5815965" y="1524000"/>
              <a:ext cx="5842635" cy="2908935"/>
            </a:xfrm>
            <a:prstGeom prst="roundRect">
              <a:avLst>
                <a:gd name="adj" fmla="val 32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44362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例：两段测试与实测输出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44552" y="1935194"/>
              <a:ext cx="3205861" cy="2413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s1 =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"sun java"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s2 =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"Sun Java"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s1.charAt(1) 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u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s2.length()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8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s1.indexOf(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"java"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4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s1.indexOf(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"Java"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-1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s1.equals(s2)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false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s1.equalsIgnoreCase(s2)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 =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"Welcome to Java World!"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t =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sun java 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s.startsWith(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"Welcome"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true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s.endsWith(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"World"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false，末尾还有一个 !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s.toLowerCase()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welcome to java world!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s.substring(11)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Java World!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t.trim()     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sun java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5815965" y="4608195"/>
            <a:ext cx="5842635" cy="1373505"/>
            <a:chOff x="5815965" y="4608195"/>
            <a:chExt cx="5842635" cy="1373505"/>
          </a:xfrm>
        </p:grpSpPr>
        <p:sp>
          <p:nvSpPr>
            <p:cNvPr id="47" name="Rectangle 47"/>
            <p:cNvSpPr/>
            <p:nvPr/>
          </p:nvSpPr>
          <p:spPr>
            <a:xfrm>
              <a:off x="5815965" y="4608195"/>
              <a:ext cx="5842635" cy="1373505"/>
            </a:xfrm>
            <a:prstGeom prst="roundRect">
              <a:avLst>
                <a:gd name="adj" fmla="val 832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008694" y="5191243"/>
              <a:ext cx="224134" cy="192560"/>
              <a:chOff x="6008694" y="5191243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120765" y="52616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08694" y="51912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120765" y="53393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323457" y="5075873"/>
              <a:ext cx="489146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索引从 0 数起：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"Welcome to Java World!"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的第 11 个字符正好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 J。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substring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的第二个参数是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开区间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，取不到。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4774" cy="909257"/>
            <a:chOff x="520446" y="342900"/>
            <a:chExt cx="5224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4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StringBuilder 与 StringBuffer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5410200" cy="1497330"/>
            <a:chOff x="533400" y="1524000"/>
            <a:chExt cx="5410200" cy="14973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04110" cy="1497330"/>
            </a:xfrm>
            <a:prstGeom prst="roundRect">
              <a:avLst>
                <a:gd name="adj" fmla="val 89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306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047" y="1738312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72478" y="211455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8497" y="205835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不可变，每次拼接都新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建对象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67462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61842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适合常量和少量拼接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39490" y="1524000"/>
              <a:ext cx="2404110" cy="1497330"/>
            </a:xfrm>
            <a:prstGeom prst="roundRect">
              <a:avLst>
                <a:gd name="adj" fmla="val 89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549015" y="1657350"/>
              <a:ext cx="47625" cy="12306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63137" y="1738312"/>
              <a:ext cx="1245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StringBuilder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778568" y="211455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934587" y="205835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可变，可删除、插入、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追加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778568" y="2674620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34587" y="261842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不加锁，单线程下最快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2985135" y="2019300"/>
              <a:ext cx="506730" cy="50673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35656" y="221218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三选一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33400" y="3196590"/>
            <a:ext cx="5410200" cy="2028825"/>
            <a:chOff x="533400" y="3196590"/>
            <a:chExt cx="5410200" cy="2028825"/>
          </a:xfrm>
        </p:grpSpPr>
        <p:sp>
          <p:nvSpPr>
            <p:cNvPr id="24" name="Rectangle 24"/>
            <p:cNvSpPr/>
            <p:nvPr/>
          </p:nvSpPr>
          <p:spPr>
            <a:xfrm>
              <a:off x="533400" y="3196590"/>
              <a:ext cx="5410200" cy="40576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13243" y="3320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18343" y="3320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3412" y="3726656"/>
              <a:ext cx="96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append(...)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06077" y="37266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把参数的内容追加到末尾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003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00812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132421"/>
              <a:ext cx="1285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insert(int, ...)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06077" y="413242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把参数插入到指定位置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4091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538186"/>
              <a:ext cx="1515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delete(int s, int e)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06077" y="4538186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删除从 s 到 e−1 的一段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8148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81965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943951"/>
              <a:ext cx="795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reverse()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06077" y="494395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将字符序列逆序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196590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801302" y="319659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ode-1"/>
          <p:cNvGrpSpPr/>
          <p:nvPr/>
        </p:nvGrpSpPr>
        <p:grpSpPr>
          <a:xfrm>
            <a:off x="6248400" y="1524000"/>
            <a:ext cx="5410200" cy="2428875"/>
            <a:chOff x="6248400" y="1524000"/>
            <a:chExt cx="5410200" cy="2428875"/>
          </a:xfrm>
        </p:grpSpPr>
        <p:sp>
          <p:nvSpPr>
            <p:cNvPr id="43" name="Rectangle 43"/>
            <p:cNvSpPr/>
            <p:nvPr/>
          </p:nvSpPr>
          <p:spPr>
            <a:xfrm>
              <a:off x="6248400" y="1524000"/>
              <a:ext cx="5410200" cy="2428875"/>
            </a:xfrm>
            <a:prstGeom prst="roundRect">
              <a:avLst>
                <a:gd name="adj" fmla="val 39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76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例：一步步跟踪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76988" y="1935194"/>
              <a:ext cx="2652649" cy="1933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s =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"Mircosoft"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[] a = {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'b'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'c'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StringBuffer sb1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StringBuffer(s);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sb1.append(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'/'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).append(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"IBM"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.append(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'/'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).append(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"Sun"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System.out.println(sb1);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StringBuffer sb2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StringBuffer(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"nu"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&lt;= 9; i++) sb2.append(i);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System.out.println(sb2);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sb2.delete(8, sb2.length()).insert(0, a);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System.out.println(sb2);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System.out.println(sb2.reverse());</a:t>
              </a:r>
            </a:p>
          </p:txBody>
        </p:sp>
      </p:grpSp>
      <p:grpSp>
        <p:nvGrpSpPr>
          <p:cNvPr id="50" name="c2-code-2"/>
          <p:cNvGrpSpPr/>
          <p:nvPr/>
        </p:nvGrpSpPr>
        <p:grpSpPr>
          <a:xfrm>
            <a:off x="6248400" y="4128135"/>
            <a:ext cx="5410200" cy="1148715"/>
            <a:chOff x="6248400" y="4128135"/>
            <a:chExt cx="5410200" cy="1148715"/>
          </a:xfrm>
        </p:grpSpPr>
        <p:sp>
          <p:nvSpPr>
            <p:cNvPr id="47" name="Rectangle 47"/>
            <p:cNvSpPr/>
            <p:nvPr/>
          </p:nvSpPr>
          <p:spPr>
            <a:xfrm>
              <a:off x="6248400" y="4128135"/>
              <a:ext cx="5410200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76797" y="42800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实测输出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76988" y="4539329"/>
              <a:ext cx="1054481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Mircosoft/IBM/Sun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nu0123456789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abcnu012345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543210uncba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1" name="Rectangle 51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5779770"/>
              <a:ext cx="996638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更正：原课件把逆序方法写成 reverse(StringBuilder str)，实际签名是无参的 reverse()；例中变量本来就拼成 Mircosoft，实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际输出是 Mircosoft/IBM/Sun，不是课件印的 Microsoft/IBM/Sun。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拼接性能：实测数据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2073592"/>
            <a:chOff x="533400" y="1524000"/>
            <a:chExt cx="5193982" cy="20735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073592"/>
            </a:xfrm>
            <a:prstGeom prst="roundRect">
              <a:avLst>
                <a:gd name="adj" fmla="val 45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53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AppendStringTest.java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3320415" cy="15740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text =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t0 = System.currentTimeMillis();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10000; i++) text = text + i;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t1 = System.currentTimeMillis();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"Run Time: 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(t1 - t0));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StringBuilder b =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t0 = System.currentTimeMillis();</a:t>
              </a:r>
              <a:br/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10000; i++) b.append(String.valueOf(i));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t1 = System.currentTimeMillis();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"Run Time: 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(t1 - t0));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3762375"/>
            <a:ext cx="5193982" cy="1596390"/>
            <a:chOff x="533400" y="3762375"/>
            <a:chExt cx="5193982" cy="1596390"/>
          </a:xfrm>
        </p:grpSpPr>
        <p:sp>
          <p:nvSpPr>
            <p:cNvPr id="11" name="Rectangle 11"/>
            <p:cNvSpPr/>
            <p:nvPr/>
          </p:nvSpPr>
          <p:spPr>
            <a:xfrm>
              <a:off x="533400" y="3762375"/>
              <a:ext cx="5193982" cy="1596390"/>
            </a:xfrm>
            <a:prstGeom prst="roundRect">
              <a:avLst>
                <a:gd name="adj" fmla="val 83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895725"/>
              <a:ext cx="47625" cy="132969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3943350"/>
              <a:ext cx="2034540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7433" y="3976211"/>
              <a:ext cx="19446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text = text + i 背后发生了什么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4283869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编译器把它翻译成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 StringBuilder(text)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append(...)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toString()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三步。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141" y="4807268"/>
              <a:ext cx="4358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每轮循环都新建一个 StringBuilder，还要把已有内容整个复制一遍。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027230" y="1524000"/>
            <a:ext cx="5631370" cy="1408461"/>
            <a:chOff x="6027230" y="1524000"/>
            <a:chExt cx="5631370" cy="1408461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6327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循环次数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03369" y="1641157"/>
              <a:ext cx="795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String 拼接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35828" y="1641157"/>
              <a:ext cx="96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StringBuilder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3659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倍数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41898" y="2023110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5526" y="2023110"/>
              <a:ext cx="392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 ms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742045" y="1914525"/>
              <a:ext cx="155638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98704" y="2023110"/>
              <a:ext cx="314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ms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36268" y="2023110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38×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32182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32182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01083" y="240411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79005" y="2296478"/>
              <a:ext cx="144399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90040" y="2404110"/>
              <a:ext cx="547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2016 ms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42045" y="2296478"/>
              <a:ext cx="155638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98704" y="2404110"/>
              <a:ext cx="314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ms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58525" y="2404110"/>
              <a:ext cx="50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670×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1524000"/>
              <a:ext cx="5626418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64718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727758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303192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27230" y="2741771"/>
              <a:ext cx="45268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本机 JDK 25 实测，单位毫秒；次数翻十倍，String 拼接的耗时涨了五十多倍</a:t>
              </a:r>
            </a:p>
          </p:txBody>
        </p:sp>
      </p:grpSp>
      <p:grpSp>
        <p:nvGrpSpPr>
          <p:cNvPr id="49" name="c2-bullets-2"/>
          <p:cNvGrpSpPr/>
          <p:nvPr/>
        </p:nvGrpSpPr>
        <p:grpSpPr>
          <a:xfrm>
            <a:off x="6025706" y="3079909"/>
            <a:ext cx="4850654" cy="1010698"/>
            <a:chOff x="6025706" y="3079909"/>
            <a:chExt cx="4850654" cy="1010698"/>
          </a:xfrm>
        </p:grpSpPr>
        <p:sp>
          <p:nvSpPr>
            <p:cNvPr id="42" name="TextBox 42"/>
            <p:cNvSpPr txBox="1"/>
            <p:nvPr/>
          </p:nvSpPr>
          <p:spPr>
            <a:xfrm>
              <a:off x="6025706" y="30799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032182" y="3399472"/>
              <a:ext cx="100965" cy="80962"/>
            </a:xfrm>
            <a:custGeom>
              <a:avLst/>
              <a:gdLst/>
              <a:ahLst/>
              <a:cxnLst/>
              <a:rect l="l" t="t" r="r" b="b"/>
              <a:pathLst>
                <a:path w="100965" h="80962">
                  <a:moveTo>
                    <a:pt x="0" y="42862"/>
                  </a:moveTo>
                  <a:lnTo>
                    <a:pt x="38100" y="80962"/>
                  </a:lnTo>
                  <a:lnTo>
                    <a:pt x="100965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2114" y="3376612"/>
              <a:ext cx="3523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固定的几段字符串直接用 </a:t>
              </a:r>
              <a:r>
                <a:rPr lang="zh-CN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，编译期就合并了，没有开销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032182" y="3653790"/>
              <a:ext cx="100965" cy="80962"/>
            </a:xfrm>
            <a:custGeom>
              <a:avLst/>
              <a:gdLst/>
              <a:ahLst/>
              <a:cxnLst/>
              <a:rect l="l" t="t" r="r" b="b"/>
              <a:pathLst>
                <a:path w="100965" h="80962">
                  <a:moveTo>
                    <a:pt x="0" y="42862"/>
                  </a:moveTo>
                  <a:lnTo>
                    <a:pt x="38100" y="80962"/>
                  </a:lnTo>
                  <a:lnTo>
                    <a:pt x="100965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42114" y="3630930"/>
              <a:ext cx="22377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循环里拼接一律换成 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StringBuilder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032182" y="3907155"/>
              <a:ext cx="100965" cy="81915"/>
            </a:xfrm>
            <a:custGeom>
              <a:avLst/>
              <a:gdLst/>
              <a:ahLst/>
              <a:cxnLst/>
              <a:rect l="l" t="t" r="r" b="b"/>
              <a:pathLst>
                <a:path w="100965" h="81915">
                  <a:moveTo>
                    <a:pt x="0" y="43815"/>
                  </a:moveTo>
                  <a:lnTo>
                    <a:pt x="38100" y="81915"/>
                  </a:lnTo>
                  <a:lnTo>
                    <a:pt x="100965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2114" y="3885248"/>
              <a:ext cx="46342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多个线程共享同一个可变字符串时才用 </a:t>
              </a:r>
              <a:r>
                <a:rPr lang="en-US" sz="10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StringBuffer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，它的方法加了同步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6032182" y="4213860"/>
            <a:ext cx="5626418" cy="1143952"/>
            <a:chOff x="6032182" y="4213860"/>
            <a:chExt cx="5626418" cy="1143952"/>
          </a:xfrm>
        </p:grpSpPr>
        <p:sp>
          <p:nvSpPr>
            <p:cNvPr id="50" name="Rectangle 50"/>
            <p:cNvSpPr/>
            <p:nvPr/>
          </p:nvSpPr>
          <p:spPr>
            <a:xfrm>
              <a:off x="6032182" y="421386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41708" y="434721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1258" y="439483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17475" y="442769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别被这种微基准骗了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44780" y="4735354"/>
              <a:ext cx="4962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这段代码没有预热，测到的是包含类加载和即时编译在内的整体耗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时。要给出可比较的数字，得用 JMH 这类基准框架跑到稳态再取值。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1273" y="6039326"/>
              <a:ext cx="6626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String 拼接的耗时随次数呈平方增长，因为每次都要把前面已有的内容重新复制一遍。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自测（一）：类、成员与访问控制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376297" cy="264033"/>
            <a:chOff x="526542" y="1545907"/>
            <a:chExt cx="23762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先自己写出答案，再看下面。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671638"/>
            <a:chOff x="533400" y="1928812"/>
            <a:chExt cx="3505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8681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一个源文件里可以有几个 public 类？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735104"/>
              <a:ext cx="29552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至多一个，也可以一个都没有。有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 类时它的名字必须和文件名完全相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3505200" cy="1914525"/>
            <a:chOff x="533400" y="3765232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2932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Dog 里的 void Dog(String n) 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不是。构造方法没有返回类型，写了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void 就成了一个与类同名的普通方法。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671638"/>
            <a:chOff x="4343400" y="1928812"/>
            <a:chExt cx="3505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315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类方法里为什么不能写 this？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735104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类方法可以在没有任何对象时用类名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调用，不存在「当前对象」。同理也不能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直接访问实例变量。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3765232"/>
            <a:ext cx="3505200" cy="1914525"/>
            <a:chOff x="4343400" y="3765232"/>
            <a:chExt cx="3505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4343400" y="376523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286726"/>
              <a:ext cx="290814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 p2.Sub extends p1.C1，能用 C1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类型的引用访问 protected 成员吗？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4814411"/>
              <a:ext cx="29796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不能。跨包访问 protected 成员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时，目标必须是 Sub 或其子类类型，父类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引用会编译错误。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671638"/>
            <a:chOff x="8153400" y="1928812"/>
            <a:chExt cx="3505200" cy="1671638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855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A { A(int x){} } 之后 new A()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能编译吗？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不能。只要写了任意构造方法，编译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器就不再提供默认的无参构造方法。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3765232"/>
            <a:ext cx="3505200" cy="1914525"/>
            <a:chOff x="8153400" y="3765232"/>
            <a:chExt cx="3505200" cy="1914525"/>
          </a:xfrm>
        </p:grpSpPr>
        <p:sp>
          <p:nvSpPr>
            <p:cNvPr id="39" name="Rectangle 39"/>
            <p:cNvSpPr/>
            <p:nvPr/>
          </p:nvSpPr>
          <p:spPr>
            <a:xfrm>
              <a:off x="8153400" y="376523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286726"/>
              <a:ext cx="290774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int x = 100; 执行 s1.x++ 之后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s2.x 是多少？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4814411"/>
              <a:ext cx="3020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101。x 是类变量，全类共享静态区里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的同一份；若改的是实例变量 y，只有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那份变。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66987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3、4 题都能用 javac 当场验证：写成两个小文件编译一次，报错信息比背结论管用。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5271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2860" y="407194"/>
              <a:ext cx="2552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 · 3.4 Java 标准类库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自测（二）：对象、包与类库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57412"/>
            <a:chOff x="533400" y="1524000"/>
            <a:chExt cx="3505200" cy="2157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81670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House 里依次写 w1、构造方法、w2、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f()、w3，new House() 的输出是什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816066"/>
              <a:ext cx="28740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Window(1)、Window(2)、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Window(3)、House()、Window(33)。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成员先按书写顺序初始化。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6195"/>
            <a:ext cx="3505200" cy="1671638"/>
            <a:chOff x="533400" y="3846195"/>
            <a:chExt cx="3505200" cy="1671638"/>
          </a:xfrm>
        </p:grpSpPr>
        <p:sp>
          <p:nvSpPr>
            <p:cNvPr id="13" name="Rectangle 13"/>
            <p:cNvSpPr/>
            <p:nvPr/>
          </p:nvSpPr>
          <p:spPr>
            <a:xfrm>
              <a:off x="533400" y="3846195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402717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406003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367689"/>
              <a:ext cx="288173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 s = " hi "; 执行 s.trim(); 之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 s 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4895374"/>
              <a:ext cx="2971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还是 " hi "。String 不可变，必须写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s.trim() 才生效。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671638"/>
            <a:chOff x="4343400" y="1524000"/>
            <a:chExt cx="3505200" cy="167163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898" y="2045494"/>
              <a:ext cx="2961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方法里执行 p = new Xxx(); 调用方的实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参会变吗？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898" y="2573179"/>
              <a:ext cx="3020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不会，Java 只有值传递。但通过参数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调方法改对象内容，调用方看得到。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360420"/>
            <a:ext cx="3505200" cy="2157412"/>
            <a:chOff x="4343400" y="3360420"/>
            <a:chExt cx="3505200" cy="2157412"/>
          </a:xfrm>
        </p:grpSpPr>
        <p:sp>
          <p:nvSpPr>
            <p:cNvPr id="25" name="Rectangle 25"/>
            <p:cNvSpPr/>
            <p:nvPr/>
          </p:nvSpPr>
          <p:spPr>
            <a:xfrm>
              <a:off x="4343400" y="33604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35413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35742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3881914"/>
              <a:ext cx="290774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(int)(Math.random() * 6) 的范围是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多少？想要 1~6 怎么写？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4409599"/>
              <a:ext cx="30121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到 5，random() 是 [0.0, 1.0) 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端开。要 1~6 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(int)(Math.random()*6) + 1。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914525"/>
            <a:chOff x="8153400" y="1524000"/>
            <a:chExt cx="3505200" cy="191452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7898" y="2045494"/>
              <a:ext cx="2880919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写了 import java.util.*; 又 import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access.mypackage.Vector; 后 new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Vector() 报错吗？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7898" y="2816066"/>
              <a:ext cx="28414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不报错，单类型导入优先。两条 .*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都导同名类时才报「引用不明确」。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03308"/>
            <a:ext cx="3505200" cy="1914525"/>
            <a:chOff x="8153400" y="3603308"/>
            <a:chExt cx="3505200" cy="1914525"/>
          </a:xfrm>
        </p:grpSpPr>
        <p:sp>
          <p:nvSpPr>
            <p:cNvPr id="37" name="Rectangle 37"/>
            <p:cNvSpPr/>
            <p:nvPr/>
          </p:nvSpPr>
          <p:spPr>
            <a:xfrm>
              <a:off x="8153400" y="36033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34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3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7898" y="4124801"/>
              <a:ext cx="2991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 a = 1000, b = 1000; a == b 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7898" y="4652486"/>
              <a:ext cx="29878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false。valueOf 只缓存 −128~127，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会新建对象，要用 equals。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9836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finalize() 今天不该再用来释放资源：JDK 9 起弃用、JDK 18 起标记为待移除，改用 AutoCloseable 配 try-with-resources。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第3章 类与对象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492240" cy="3034665"/>
            <a:chOff x="533400" y="1524000"/>
            <a:chExt cx="6492240" cy="3034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6996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824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26336" y="2023110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按角色拆而不是按步骤拆；封装、继承、多态；对象、类、消息三个词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649224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97455"/>
              <a:ext cx="441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 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26336" y="2404110"/>
              <a:ext cx="472459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类声明格式；变量成员与方法成员；static 成员全类一份；四种访问权限；构造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方法名同类名、无返回类型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4988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3065145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对象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26336" y="2971800"/>
              <a:ext cx="46779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声明、实例化、初始化三步；对象在堆、引用在栈；只有值传递；成员按书写顺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序初始化后才执行构造方法体；GC 看引用不看用途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185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423285"/>
              <a:ext cx="649224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633788"/>
              <a:ext cx="441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26336" y="3540443"/>
              <a:ext cx="457790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包名对应目录；package 在第一行、至多一条；一个编译单元至多一个 public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类；单类型导入优先于按需导入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8621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4201478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 类库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26336" y="4108132"/>
              <a:ext cx="465124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java.lang 自动加载；Object 是所有类的根；System 全静态；Math 全静态且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random 右端开；String 不可变，循环拼接用 StringBuilder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492240" cy="3034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26895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llout-2"/>
          <p:cNvGrpSpPr/>
          <p:nvPr/>
        </p:nvGrpSpPr>
        <p:grpSpPr>
          <a:xfrm>
            <a:off x="533400" y="4723448"/>
            <a:ext cx="6492240" cy="1396365"/>
            <a:chOff x="533400" y="4723448"/>
            <a:chExt cx="6492240" cy="1396365"/>
          </a:xfrm>
        </p:grpSpPr>
        <p:sp>
          <p:nvSpPr>
            <p:cNvPr id="29" name="Rectangle 29"/>
            <p:cNvSpPr/>
            <p:nvPr/>
          </p:nvSpPr>
          <p:spPr>
            <a:xfrm>
              <a:off x="533400" y="4723448"/>
              <a:ext cx="6492240" cy="1396365"/>
            </a:xfrm>
            <a:prstGeom prst="roundRect">
              <a:avLst>
                <a:gd name="adj" fmla="val 81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321618"/>
              <a:ext cx="200026" cy="200025"/>
              <a:chOff x="738188" y="5321618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3216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3660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54771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5215414"/>
              <a:ext cx="55643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动手检验：把例 3.7 中的 w3 定义挪到构造方法前面，先预测输出再运行；把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 3.1 的 static 去掉，看 s2.x 还会不会跟着变。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330440" y="1524000"/>
            <a:ext cx="4328160" cy="4596765"/>
            <a:chOff x="7330440" y="1524000"/>
            <a:chExt cx="4328160" cy="4596765"/>
          </a:xfrm>
        </p:grpSpPr>
        <p:sp>
          <p:nvSpPr>
            <p:cNvPr id="36" name="Rectangle 36"/>
            <p:cNvSpPr/>
            <p:nvPr/>
          </p:nvSpPr>
          <p:spPr>
            <a:xfrm>
              <a:off x="7330440" y="1524000"/>
              <a:ext cx="4328160" cy="4596765"/>
            </a:xfrm>
            <a:prstGeom prst="roundRect">
              <a:avLst>
                <a:gd name="adj" fmla="val 3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39965" y="1657350"/>
              <a:ext cx="47625" cy="43300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49515" y="1704975"/>
              <a:ext cx="170307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04531" y="173783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本讲义对原课件的主要更正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59040" y="209740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14488" y="2045494"/>
              <a:ext cx="3158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例 1.1 标题漏字；Rock2 实际输出是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Rock0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Rock1 …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559040" y="262509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14488" y="2573179"/>
              <a:ext cx="3377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大小写笔误：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Static VarTest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 &lt; 10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W3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Import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Class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protected m3()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缺返回类型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559040" y="315372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14488" y="3100864"/>
              <a:ext cx="36055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编译单元是「至多一个」public 类，不是「有且仅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有一个」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559040" y="368141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14488" y="3628549"/>
              <a:ext cx="36136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单类型导入优先于按需导入，原课件标的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//error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不成立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559040" y="420909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14488" y="4156234"/>
              <a:ext cx="3581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java.swing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javax.swing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Compiler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类已移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559040" y="4736782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14488" y="4684871"/>
              <a:ext cx="3709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notify()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唤醒的是别的等待线程，不是当前线程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559040" y="5021580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14488" y="4969669"/>
              <a:ext cx="35567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getProperty("OS.name")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大小写错，实测返回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559040" y="5549265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14488" y="5497354"/>
              <a:ext cx="3158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Math.sin(Math.PI/6)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0.49999999999999994；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random()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右端开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887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第3章 类与对象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3">
  <a:themeElements>
    <a:clrScheme name="java_ch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2026-09-19T14:42:50Z</dcterms:created>
  <dcterms:modified xsi:type="dcterms:W3CDTF">2026-09-19T14:42:50Z</dcterms:modified>
  <cp:category/>
  <cp:contentStatus/>
</cp:coreProperties>
</file>