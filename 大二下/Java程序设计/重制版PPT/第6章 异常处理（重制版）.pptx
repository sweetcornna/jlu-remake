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da64faeb2ccfb0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52369a6a970059c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07b23bb2ed23a5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第6章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程序出错时，谁来报告、谁来处理、处理完去哪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异常与错误的分工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受检异常与不受检异常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try-catch-finally 与 throw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自定义异常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自学复习版｜据吉林大学《Java程序设计》第6章课件整理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158900"/>
            <a:chOff x="521970" y="1515428"/>
            <a:chExt cx="6287453" cy="415890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 异常概述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09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异常与错误的区别、Throwable 类层次、受检与不受检异常、常见的标准异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2026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 捕获和处理异常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995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try-catch-finally 的执行规则、多个 catch 的匹配顺序、finally 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return、try-with-resources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2248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 抛出异常与传递链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587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throws 与 throw 的区别、异常沿调用链逐级上传、综合示例的执行顺序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19481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30053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336732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自定义异常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653439"/>
              <a:ext cx="4895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 Exception 写自己的异常类，在方法里抛出，在调用处捕获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96728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0720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1082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424964"/>
              <a:ext cx="4562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道题，一页概念辨析、一页读程序写输出，答案紧跟题目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100512"/>
            <a:chOff x="7114222" y="1524000"/>
            <a:chExt cx="4544378" cy="4100512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100512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3381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看到一段栈轨迹，能说出异常类型、提示信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息和出错的行号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判断一个异常受检还是不受检，说得出编译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器对两者的要求有什么不同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给出含 try-catch-finally 的代码，能逐句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判断执行与否并写出输出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68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throws 与 throw 的区别，知道多个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为什么要先子类后超类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能写一个带自定义字段的异常类，在方法中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抛出、在调用处捕获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810173" cy="2643187"/>
            <a:chOff x="667512" y="1835468"/>
            <a:chExt cx="4810173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 异常概述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800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程序运行中出了意外，Java 用一个对象来描述它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481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处理后可以恢复，Error 通常只能终止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受检异常由编译器强制处理，不受检异常不强制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异常：运行中打断正常流程的非正常事件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786890"/>
            <a:chOff x="533400" y="1524000"/>
            <a:chExt cx="5193982" cy="1786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337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 Exception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非正常事件，指程序运行过程中出现的、影响正常程序流程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的事件。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649855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 exception 本义是「例外、除外」：大多数时候程序按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预期走，异常就是那个例外。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485198"/>
            <a:ext cx="5193982" cy="1628775"/>
            <a:chOff x="533400" y="3485198"/>
            <a:chExt cx="5193982" cy="1628775"/>
          </a:xfrm>
        </p:grpSpPr>
        <p:sp>
          <p:nvSpPr>
            <p:cNvPr id="15" name="Rectangle 15"/>
            <p:cNvSpPr/>
            <p:nvPr/>
          </p:nvSpPr>
          <p:spPr>
            <a:xfrm>
              <a:off x="533400" y="3485198"/>
              <a:ext cx="5193982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637121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示例：读取文件的初始程序（伪代码）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897344"/>
              <a:ext cx="2283841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readFile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open the file;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determine the length of the file;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allocate that much memory;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read the file into memory;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close the file;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289232"/>
            <a:ext cx="5193982" cy="978218"/>
            <a:chOff x="533400" y="5289232"/>
            <a:chExt cx="5193982" cy="978218"/>
          </a:xfrm>
        </p:grpSpPr>
        <p:sp>
          <p:nvSpPr>
            <p:cNvPr id="19" name="Rectangle 19"/>
            <p:cNvSpPr/>
            <p:nvPr/>
          </p:nvSpPr>
          <p:spPr>
            <a:xfrm>
              <a:off x="533400" y="5289232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677853"/>
              <a:ext cx="200026" cy="200026"/>
              <a:chOff x="738188" y="567785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6778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744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7778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434965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原课件用「人非圣贤，孰能无过。过而能改，善莫大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焉。」开篇。程序出错难免，要紧的是错误能被发现、被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032182" y="1524000"/>
            <a:ext cx="5626418" cy="2434590"/>
            <a:chOff x="6032182" y="1524000"/>
            <a:chExt cx="5626418" cy="2434590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82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572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可能出的错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219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57210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文件不存在，或者没有读权限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32195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求文件长度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57210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读不到文件属性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2195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分配内存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57210" y="28655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文件太大，内存不够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2195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读入内存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57210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读到一半磁盘或网络出故障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2195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关闭文件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57210" y="36771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关闭失败，数据没写回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5243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032182" y="4133850"/>
            <a:ext cx="5626418" cy="2133600"/>
            <a:chOff x="6032182" y="4133850"/>
            <a:chExt cx="5626418" cy="2133600"/>
          </a:xfrm>
        </p:grpSpPr>
        <p:sp>
          <p:nvSpPr>
            <p:cNvPr id="48" name="Rectangle 48"/>
            <p:cNvSpPr/>
            <p:nvPr/>
          </p:nvSpPr>
          <p:spPr>
            <a:xfrm>
              <a:off x="6032182" y="4133850"/>
              <a:ext cx="5626418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42672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62688" y="4326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4128" y="4360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46380" y="436626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初始程序假定每一步都成功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55830" y="469963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五步里任何一步失败，后面几步还会照常往下走，在错误的数据上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继续出错。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55830" y="525970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要让程序健壮，就得在每一步检查成败并做出反应。接下来两页对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比两种写法：传统的错误码，和 Java 的异常。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传统写法：用错误码层层判断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198620"/>
            <a:chOff x="533400" y="1524000"/>
            <a:chExt cx="6059805" cy="4198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84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每一步后面跟一个 if（已更正）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53675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71297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501009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readFile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initialize errorCode = 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open the file;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(theFileIsOpen)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determine the length of the file;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(gotTheFileLength)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allocate that much memory;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if (gotEnoughMemory)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read the file into memory;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if (readFailed) { errorCode = -1;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else { errorCode = -2;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else { errorCode = -3;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close the file;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(theFileDidntClose &amp;&amp; errorCode == 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errorCode = -4;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else if (theFileDidntClose)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errorCode = -5;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else { errorCode = -6;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errorCode;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890385" y="1548765"/>
            <a:ext cx="3726205" cy="2103405"/>
            <a:chOff x="6890385" y="1548765"/>
            <a:chExt cx="3726205" cy="2103405"/>
          </a:xfrm>
        </p:grpSpPr>
        <p:sp>
          <p:nvSpPr>
            <p:cNvPr id="13" name="TextBox 13"/>
            <p:cNvSpPr txBox="1"/>
            <p:nvPr/>
          </p:nvSpPr>
          <p:spPr>
            <a:xfrm>
              <a:off x="6890385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原课件总结的三个缺点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898005" y="19392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38035" y="1903095"/>
              <a:ext cx="2495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errorCode 信息表达能力弱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45655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29678" y="219694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一个负数说不清错在哪一步、为什么错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98005" y="25422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38035" y="250602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异常处理代码和正常流程代码混在一起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5655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29678" y="279987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五行正常逻辑被 if-else 撑成了二十行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98005" y="3145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38035" y="3108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异常识别处理能力弱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45655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29678" y="34028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调用者忘了检查返回值，错误就被悄悄放过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898005" y="3792855"/>
            <a:ext cx="4760595" cy="2527935"/>
            <a:chOff x="6898005" y="3792855"/>
            <a:chExt cx="4760595" cy="2527935"/>
          </a:xfrm>
        </p:grpSpPr>
        <p:sp>
          <p:nvSpPr>
            <p:cNvPr id="27" name="Rectangle 27"/>
            <p:cNvSpPr/>
            <p:nvPr/>
          </p:nvSpPr>
          <p:spPr>
            <a:xfrm>
              <a:off x="6898005" y="3792855"/>
              <a:ext cx="4760595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3926205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5655" y="4002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5863" y="4038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5730" y="4037648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 页的关闭分支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8035" y="439864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原课件写的是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else { errorCode -5; }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：少了等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号，编译不过。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38035" y="5019675"/>
              <a:ext cx="4120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更要紧的是这个 else 在文件正常关闭时也会执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行，会把 0 或前面记下的错误码改成 -5。这里改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else if (theFileDidntClose)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，只在「之前已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出错、关闭又失败」时记 -5。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8673" cy="909257"/>
            <a:chOff x="520446" y="342900"/>
            <a:chExt cx="81486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86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的写法：正常流程写在一起，出错处理放在后面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3349942"/>
            <a:chOff x="533400" y="1524000"/>
            <a:chExt cx="4977765" cy="3349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349942"/>
            </a:xfrm>
            <a:prstGeom prst="roundRect">
              <a:avLst>
                <a:gd name="adj" fmla="val 284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34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try-catch 改写（伪代码）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243328" cy="2853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readFile()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try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open the file;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determine its size;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allocate that much memory;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read the file into memory;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close the file;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(fileOpenFailed)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doSomething;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(sizeDeterminationFailed)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doSomething;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(memoryAllocationFailed)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doSomething;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(readFailed)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doSomething;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(fileCloseFailed)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doSomething;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bullets-2"/>
          <p:cNvGrpSpPr/>
          <p:nvPr/>
        </p:nvGrpSpPr>
        <p:grpSpPr>
          <a:xfrm>
            <a:off x="526923" y="5060156"/>
            <a:ext cx="3179458" cy="1136142"/>
            <a:chOff x="526923" y="5060156"/>
            <a:chExt cx="3179458" cy="1136142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50601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原课件总结的三个优点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5387340"/>
              <a:ext cx="122873" cy="100012"/>
            </a:xfrm>
            <a:custGeom>
              <a:avLst/>
              <a:gdLst/>
              <a:ahLst/>
              <a:cxnLst/>
              <a:rect l="l" t="t" r="r" b="b"/>
              <a:pathLst>
                <a:path w="122873" h="100012">
                  <a:moveTo>
                    <a:pt x="0" y="53340"/>
                  </a:moveTo>
                  <a:lnTo>
                    <a:pt x="46672" y="100012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4096" y="536114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异常事件信息表达能力强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568071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096" y="56535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异常处理代码和正常流程代码分开编写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597408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4096" y="59469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异常识别处理能力强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5965" y="1524000"/>
            <a:ext cx="5842635" cy="2280285"/>
            <a:chOff x="5815965" y="1524000"/>
            <a:chExt cx="5842635" cy="2280285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059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698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错误码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60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10644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95566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一个整数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82481" y="2023110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异常对象，带类型、提示信息和出错位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468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247364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10644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95566" y="2590800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每一步后面跟 if 判断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82481" y="25908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里写正常流程，catch 里集中处理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849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10644" y="30651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忘了处理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5566" y="30651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错误被悄悄放过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97328" y="2864168"/>
              <a:ext cx="2551748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82481" y="2971800"/>
              <a:ext cx="22776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受检异常编译不过；其余异常终止线程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并打印位置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4185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342328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0644" y="35404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向上报告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95566" y="3540443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靠返回值一层层手工传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82481" y="354044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沿调用栈自动向上传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96125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83040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5815965" y="3969068"/>
            <a:ext cx="5842635" cy="1403032"/>
            <a:chOff x="5815965" y="3969068"/>
            <a:chExt cx="5842635" cy="1403032"/>
          </a:xfrm>
        </p:grpSpPr>
        <p:sp>
          <p:nvSpPr>
            <p:cNvPr id="45" name="Rectangle 45"/>
            <p:cNvSpPr/>
            <p:nvPr/>
          </p:nvSpPr>
          <p:spPr>
            <a:xfrm>
              <a:off x="5815965" y="3969068"/>
              <a:ext cx="584263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10241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5040" y="41500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19609" y="41829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对照着读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49618" y="4189571"/>
              <a:ext cx="1943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后面括号里是什么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8563" y="4506754"/>
              <a:ext cx="51335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伪代码里写的是 fileOpenFailed 这样的错误名。真实代码里括号中是异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常类和变量，比如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catch (FileNotFoundException e)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，一个 catch 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应一类错误。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5815965" y="5536882"/>
            <a:ext cx="5842635" cy="609600"/>
            <a:chOff x="5815965" y="5536882"/>
            <a:chExt cx="5842635" cy="609600"/>
          </a:xfrm>
        </p:grpSpPr>
        <p:sp>
          <p:nvSpPr>
            <p:cNvPr id="52" name="Rectangle 52"/>
            <p:cNvSpPr/>
            <p:nvPr/>
          </p:nvSpPr>
          <p:spPr>
            <a:xfrm>
              <a:off x="5815965" y="5536882"/>
              <a:ext cx="5842635" cy="609600"/>
            </a:xfrm>
            <a:prstGeom prst="roundRect">
              <a:avLst>
                <a:gd name="adj" fmla="val 1875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20753" y="5741672"/>
              <a:ext cx="200023" cy="200023"/>
              <a:chOff x="6020753" y="574167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020753" y="57416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54103" y="58083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23838" y="5752624"/>
              <a:ext cx="5074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的异常处理机制体现了 Java 语言鲁棒性（健壮性）的特点。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异常与错误：能不能恢复是分界线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6059804" cy="3038475"/>
            <a:chOff x="533400" y="1524000"/>
            <a:chExt cx="6059804" cy="3038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3038475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717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2211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异常 · 非致命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程序中可能发生、经过处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理有可能恢复正常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129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1764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处理后可以不中断程序的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33279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27326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由程序或外部环境引起，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可以捕获和处理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92430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864769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例：输入输出异常、运行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时异常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72852" y="1524000"/>
              <a:ext cx="2820352" cy="3038475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82378" y="1657350"/>
              <a:ext cx="47625" cy="27717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07548" y="1751171"/>
              <a:ext cx="162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 错误 · 致命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22408" y="214979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78998" y="20902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非常严重且无法恢复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2408" y="246983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78998" y="2410301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将使程序中断执行而退出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022408" y="306133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78998" y="3001804"/>
              <a:ext cx="20793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JVM 抛出，描述系统内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部的非正常事件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022408" y="365283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78998" y="359330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例：虚拟机错误、内存溢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出错误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401378" y="28813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71718" y="29775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4747260"/>
            <a:ext cx="6059805" cy="1564958"/>
            <a:chOff x="533400" y="4747260"/>
            <a:chExt cx="6059805" cy="1564958"/>
          </a:xfrm>
        </p:grpSpPr>
        <p:sp>
          <p:nvSpPr>
            <p:cNvPr id="32" name="Rectangle 32"/>
            <p:cNvSpPr/>
            <p:nvPr/>
          </p:nvSpPr>
          <p:spPr>
            <a:xfrm>
              <a:off x="533400" y="4747260"/>
              <a:ext cx="605980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88061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9510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5543" y="4986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6744" y="4991576"/>
              <a:ext cx="1861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的异常处理机制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8096" y="5343049"/>
              <a:ext cx="533450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中的异常处理是基于面向对象的一种运行态非正常事件处理机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制：把用户非法操作、参数设置异常、硬件系统异常、运行时网络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状态变化等信息封装成对象，交给处理代码。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898005" y="1524000"/>
            <a:ext cx="4760595" cy="1871662"/>
            <a:chOff x="6898005" y="1524000"/>
            <a:chExt cx="4760595" cy="1871662"/>
          </a:xfrm>
        </p:grpSpPr>
        <p:sp>
          <p:nvSpPr>
            <p:cNvPr id="39" name="Rectangle 39"/>
            <p:cNvSpPr/>
            <p:nvPr/>
          </p:nvSpPr>
          <p:spPr>
            <a:xfrm>
              <a:off x="6898005" y="1524000"/>
              <a:ext cx="4760595" cy="1871662"/>
            </a:xfrm>
            <a:prstGeom prst="roundRect">
              <a:avLst>
                <a:gd name="adj" fmla="val 5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26402" y="1675924"/>
              <a:ext cx="2669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Error 在语法上也能 catch（JDK 21 实测）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6554" y="1936337"/>
              <a:ext cx="2850845" cy="1378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down() { down(); }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无限递归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down();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(StackOverflowError 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java.lang.StackOverflowError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898005" y="3580448"/>
            <a:ext cx="4760595" cy="2731770"/>
            <a:chOff x="6898005" y="3580448"/>
            <a:chExt cx="4760595" cy="2731770"/>
          </a:xfrm>
        </p:grpSpPr>
        <p:sp>
          <p:nvSpPr>
            <p:cNvPr id="43" name="Rectangle 43"/>
            <p:cNvSpPr/>
            <p:nvPr/>
          </p:nvSpPr>
          <p:spPr>
            <a:xfrm>
              <a:off x="6898005" y="3580448"/>
              <a:ext cx="4760595" cy="2731770"/>
            </a:xfrm>
            <a:prstGeom prst="roundRect">
              <a:avLst>
                <a:gd name="adj" fmla="val 48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3713798"/>
              <a:ext cx="47625" cy="24650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39940" y="378428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8495" y="38200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但一般不这样做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2701" y="4158139"/>
              <a:ext cx="31186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 很少发生，发生了也没法补救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2701" y="4496276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错误一旦发生，除了提醒用户或者终止程序，基本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没有办法处理。栈溢出、内存耗尽之后，程序通常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无法有意义地继续。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2701" y="5359241"/>
              <a:ext cx="39110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所以日常写代码只 catch Exception 这一支。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读懂一条异常信息：类型、提示、位置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2154555"/>
            <a:chOff x="533400" y="1524000"/>
            <a:chExt cx="5626418" cy="21545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22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6.1　除以零（原课件第 9 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48940"/>
              <a:ext cx="5588318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688" y="1935004"/>
              <a:ext cx="124079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178"/>
                </a:lnSpc>
              </a:pPr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1542" y="1935004"/>
              <a:ext cx="3560699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testabstractclass;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java.io.IOException;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Test1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= i/0;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843338"/>
            <a:ext cx="5626418" cy="809625"/>
            <a:chOff x="533400" y="3843338"/>
            <a:chExt cx="5626418" cy="809625"/>
          </a:xfrm>
        </p:grpSpPr>
        <p:sp>
          <p:nvSpPr>
            <p:cNvPr id="13" name="Rectangle 13"/>
            <p:cNvSpPr/>
            <p:nvPr/>
          </p:nvSpPr>
          <p:spPr>
            <a:xfrm>
              <a:off x="533400" y="3843338"/>
              <a:ext cx="5626418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995261"/>
              <a:ext cx="1555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运行输出（JDK 21 实测）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254341"/>
              <a:ext cx="3847084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java.lang.ArithmeticException: / by zero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testabstractclass.Test1.main(Test1.java:8)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816792"/>
            <a:ext cx="5626418" cy="1348740"/>
            <a:chOff x="533400" y="4816792"/>
            <a:chExt cx="5626418" cy="1348740"/>
          </a:xfrm>
        </p:grpSpPr>
        <p:sp>
          <p:nvSpPr>
            <p:cNvPr id="17" name="Rectangle 17"/>
            <p:cNvSpPr/>
            <p:nvPr/>
          </p:nvSpPr>
          <p:spPr>
            <a:xfrm>
              <a:off x="533400" y="4816792"/>
              <a:ext cx="5626418" cy="1348740"/>
            </a:xfrm>
            <a:prstGeom prst="roundRect">
              <a:avLst>
                <a:gd name="adj" fmla="val 847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391150"/>
              <a:ext cx="200026" cy="200026"/>
              <a:chOff x="738188" y="5391150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3911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457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4911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5167789"/>
              <a:ext cx="466217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上的 throws IOException 与这次异常无关：除零抛的是不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受检的 ArithmeticException。Exception in thread “main” 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示没有代码捕获它，JVM 打印信息后终止了 main 线程。</a:t>
              </a:r>
            </a:p>
          </p:txBody>
        </p:sp>
      </p:grpSp>
      <p:grpSp>
        <p:nvGrpSpPr>
          <p:cNvPr id="32" name="c2-kv-1"/>
          <p:cNvGrpSpPr/>
          <p:nvPr/>
        </p:nvGrpSpPr>
        <p:grpSpPr>
          <a:xfrm>
            <a:off x="6458141" y="1545431"/>
            <a:ext cx="5200459" cy="997077"/>
            <a:chOff x="6458141" y="1545431"/>
            <a:chExt cx="5200459" cy="997077"/>
          </a:xfrm>
        </p:grpSpPr>
        <p:sp>
          <p:nvSpPr>
            <p:cNvPr id="24" name="TextBox 24"/>
            <p:cNvSpPr txBox="1"/>
            <p:nvPr/>
          </p:nvSpPr>
          <p:spPr>
            <a:xfrm>
              <a:off x="6458141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类型名称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3018" y="1545431"/>
              <a:ext cx="362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java.lang.ArithmeticException，出了什么错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64618" y="18173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8141" y="19188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提示信息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3018" y="1918811"/>
              <a:ext cx="3095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by zero，即 getMessage() 的返回值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1907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8141" y="2293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出错位置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3018" y="2293144"/>
              <a:ext cx="3786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包名.类名.方法名(文件名:行号)，这里是第 8 行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2657475"/>
            <a:ext cx="5193982" cy="1444942"/>
            <a:chOff x="6464618" y="2657475"/>
            <a:chExt cx="5193982" cy="1444942"/>
          </a:xfrm>
        </p:grpSpPr>
        <p:sp>
          <p:nvSpPr>
            <p:cNvPr id="33" name="Rectangle 33"/>
            <p:cNvSpPr/>
            <p:nvPr/>
          </p:nvSpPr>
          <p:spPr>
            <a:xfrm>
              <a:off x="6464618" y="2657475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2790825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3692" y="28384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6364" y="28713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50620" y="287797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先看第一行，再找自己的代码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77216" y="3194209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第一行给出类型和提示，判断出了什么错；下面每个 at 是调用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栈的一层，最上面一层就是抛出异常的地方。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77216" y="3721894"/>
              <a:ext cx="4441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调用链很长时，从上往下找第一个属于自己代码的 at 行。</a:t>
              </a:r>
            </a:p>
          </p:txBody>
        </p:sp>
      </p:grpSp>
      <p:grpSp>
        <p:nvGrpSpPr>
          <p:cNvPr id="55" name="c2-table-3"/>
          <p:cNvGrpSpPr/>
          <p:nvPr/>
        </p:nvGrpSpPr>
        <p:grpSpPr>
          <a:xfrm>
            <a:off x="6464618" y="4267200"/>
            <a:ext cx="5193982" cy="1899285"/>
            <a:chOff x="6464618" y="4267200"/>
            <a:chExt cx="5193982" cy="1899285"/>
          </a:xfrm>
        </p:grpSpPr>
        <p:sp>
          <p:nvSpPr>
            <p:cNvPr id="41" name="Rectangle 41"/>
            <p:cNvSpPr/>
            <p:nvPr/>
          </p:nvSpPr>
          <p:spPr>
            <a:xfrm>
              <a:off x="6464618" y="4267200"/>
              <a:ext cx="5193982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33057" y="43843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栈轨迹里还会见到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53625" y="4384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9296" y="4766310"/>
              <a:ext cx="133383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in thread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"main"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36698" y="4859655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线程里没有代码捕获这个异常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52120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5216842"/>
              <a:ext cx="519398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9296" y="5427345"/>
              <a:ext cx="922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Caused by: 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36698" y="5334000"/>
              <a:ext cx="25443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被包装进来的原始异常，根源常在这里（见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节）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57797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9296" y="5901690"/>
              <a:ext cx="782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... 3 more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36698" y="5901690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和上一段重复的栈帧，省略了 3 行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4267200"/>
              <a:ext cx="5193982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537258" y="42672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225" cy="909257"/>
            <a:chOff x="520446" y="342900"/>
            <a:chExt cx="70612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2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Throwable 家族：所有异常和错误的共同祖先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533400" y="1596390"/>
            <a:ext cx="6816090" cy="4693920"/>
            <a:chOff x="533400" y="1596390"/>
            <a:chExt cx="6816090" cy="4693920"/>
          </a:xfrm>
        </p:grpSpPr>
        <p:sp>
          <p:nvSpPr>
            <p:cNvPr id="7" name="Freeform 7"/>
            <p:cNvSpPr/>
            <p:nvPr/>
          </p:nvSpPr>
          <p:spPr>
            <a:xfrm>
              <a:off x="5033010" y="2624138"/>
              <a:ext cx="419100" cy="879158"/>
            </a:xfrm>
            <a:custGeom>
              <a:avLst/>
              <a:gdLst/>
              <a:ahLst/>
              <a:cxnLst/>
              <a:rect l="l" t="t" r="r" b="b"/>
              <a:pathLst>
                <a:path w="419100" h="879158">
                  <a:moveTo>
                    <a:pt x="0" y="879158"/>
                  </a:moveTo>
                  <a:lnTo>
                    <a:pt x="209550" y="8791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33010" y="3063240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440055"/>
                  </a:moveTo>
                  <a:lnTo>
                    <a:pt x="209550" y="4400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033010" y="35032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3010" y="3503295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0"/>
                  </a:moveTo>
                  <a:lnTo>
                    <a:pt x="209550" y="0"/>
                  </a:lnTo>
                  <a:lnTo>
                    <a:pt x="209550" y="440055"/>
                  </a:lnTo>
                  <a:lnTo>
                    <a:pt x="419100" y="4400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033010" y="3503295"/>
              <a:ext cx="419100" cy="880110"/>
            </a:xfrm>
            <a:custGeom>
              <a:avLst/>
              <a:gdLst/>
              <a:ahLst/>
              <a:cxnLst/>
              <a:rect l="l" t="t" r="r" b="b"/>
              <a:pathLst>
                <a:path w="419100" h="880110">
                  <a:moveTo>
                    <a:pt x="0" y="0"/>
                  </a:moveTo>
                  <a:lnTo>
                    <a:pt x="209550" y="0"/>
                  </a:lnTo>
                  <a:lnTo>
                    <a:pt x="209550" y="880110"/>
                  </a:lnTo>
                  <a:lnTo>
                    <a:pt x="419100" y="8801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29890" y="1744028"/>
              <a:ext cx="419100" cy="1539240"/>
            </a:xfrm>
            <a:custGeom>
              <a:avLst/>
              <a:gdLst/>
              <a:ahLst/>
              <a:cxnLst/>
              <a:rect l="l" t="t" r="r" b="b"/>
              <a:pathLst>
                <a:path w="419100" h="1539240">
                  <a:moveTo>
                    <a:pt x="0" y="1539240"/>
                  </a:moveTo>
                  <a:lnTo>
                    <a:pt x="209550" y="15392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29890" y="2184082"/>
              <a:ext cx="419100" cy="1099185"/>
            </a:xfrm>
            <a:custGeom>
              <a:avLst/>
              <a:gdLst/>
              <a:ahLst/>
              <a:cxnLst/>
              <a:rect l="l" t="t" r="r" b="b"/>
              <a:pathLst>
                <a:path w="419100" h="1099185">
                  <a:moveTo>
                    <a:pt x="0" y="1099185"/>
                  </a:moveTo>
                  <a:lnTo>
                    <a:pt x="209550" y="10991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29890" y="3283268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0"/>
                  </a:moveTo>
                  <a:lnTo>
                    <a:pt x="209550" y="0"/>
                  </a:lnTo>
                  <a:lnTo>
                    <a:pt x="209550" y="220028"/>
                  </a:lnTo>
                  <a:lnTo>
                    <a:pt x="419100" y="2200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29890" y="3283268"/>
              <a:ext cx="419100" cy="1540192"/>
            </a:xfrm>
            <a:custGeom>
              <a:avLst/>
              <a:gdLst/>
              <a:ahLst/>
              <a:cxnLst/>
              <a:rect l="l" t="t" r="r" b="b"/>
              <a:pathLst>
                <a:path w="419100" h="1540192">
                  <a:moveTo>
                    <a:pt x="0" y="0"/>
                  </a:moveTo>
                  <a:lnTo>
                    <a:pt x="209550" y="0"/>
                  </a:lnTo>
                  <a:lnTo>
                    <a:pt x="209550" y="1540192"/>
                  </a:lnTo>
                  <a:lnTo>
                    <a:pt x="419100" y="15401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29890" y="5262562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440055"/>
                  </a:moveTo>
                  <a:lnTo>
                    <a:pt x="209550" y="4400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29890" y="570261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29890" y="5702618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0"/>
                  </a:moveTo>
                  <a:lnTo>
                    <a:pt x="209550" y="0"/>
                  </a:lnTo>
                  <a:lnTo>
                    <a:pt x="209550" y="440055"/>
                  </a:lnTo>
                  <a:lnTo>
                    <a:pt x="419100" y="4400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544955" y="328326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44955" y="449294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48990" y="1596390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48990" y="2036445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52110" y="2476500"/>
              <a:ext cx="18973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52110" y="2916555"/>
              <a:ext cx="18973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52110" y="3355658"/>
              <a:ext cx="18973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52110" y="3795712"/>
              <a:ext cx="18973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52110" y="4235768"/>
              <a:ext cx="18973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48990" y="3355658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48990" y="4675822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64055" y="3135630"/>
              <a:ext cx="965835" cy="295275"/>
            </a:xfrm>
            <a:prstGeom prst="roundRect">
              <a:avLst>
                <a:gd name="adj" fmla="val 32258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48990" y="5115878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48990" y="5554980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48990" y="5995035"/>
              <a:ext cx="168402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64055" y="5554980"/>
              <a:ext cx="965835" cy="295275"/>
            </a:xfrm>
            <a:prstGeom prst="roundRect">
              <a:avLst>
                <a:gd name="adj" fmla="val 32258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45305"/>
              <a:ext cx="1011555" cy="295275"/>
            </a:xfrm>
            <a:prstGeom prst="roundRect">
              <a:avLst>
                <a:gd name="adj" fmla="val 32258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39478" y="1686401"/>
              <a:ext cx="13032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39478" y="2126456"/>
              <a:ext cx="6540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42598" y="2566511"/>
              <a:ext cx="11088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ArithmeticException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42598" y="3005614"/>
              <a:ext cx="11227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42598" y="3445669"/>
              <a:ext cx="15333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IndexOutOfBoundsException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42598" y="3885724"/>
              <a:ext cx="1360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IllegalArgumentException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42598" y="432577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更多子类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39478" y="3445669"/>
              <a:ext cx="10017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39478" y="476583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更多子类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54542" y="3225641"/>
              <a:ext cx="5577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Exception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39478" y="5204936"/>
              <a:ext cx="7171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LinkageError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9478" y="5644991"/>
              <a:ext cx="1112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VirtualMachineError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39478" y="608504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更多子类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054542" y="5644991"/>
              <a:ext cx="3318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Error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3888" y="4435316"/>
              <a:ext cx="5810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Throwable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7655242" y="1524000"/>
            <a:ext cx="4003358" cy="1226820"/>
            <a:chOff x="7655242" y="1524000"/>
            <a:chExt cx="4003358" cy="1226820"/>
          </a:xfrm>
        </p:grpSpPr>
        <p:sp>
          <p:nvSpPr>
            <p:cNvPr id="52" name="Rectangle 52"/>
            <p:cNvSpPr/>
            <p:nvPr/>
          </p:nvSpPr>
          <p:spPr>
            <a:xfrm>
              <a:off x="7655242" y="1524000"/>
              <a:ext cx="4003358" cy="1226820"/>
            </a:xfrm>
            <a:prstGeom prst="roundRect">
              <a:avLst>
                <a:gd name="adj" fmla="val 1087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4764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3908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1340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高亮的是不受检的那一片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40789" y="2090738"/>
              <a:ext cx="33655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RuntimeException、Error 及其子类不受检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（原课件用灰底框圈出），其余都受检。</a:t>
              </a:r>
            </a:p>
          </p:txBody>
        </p:sp>
      </p:grpSp>
      <p:grpSp>
        <p:nvGrpSpPr>
          <p:cNvPr id="66" name="c2-kv-2"/>
          <p:cNvGrpSpPr/>
          <p:nvPr/>
        </p:nvGrpSpPr>
        <p:grpSpPr>
          <a:xfrm>
            <a:off x="7648384" y="2947988"/>
            <a:ext cx="4010216" cy="2328100"/>
            <a:chOff x="7648384" y="2947988"/>
            <a:chExt cx="4010216" cy="2328100"/>
          </a:xfrm>
        </p:grpSpPr>
        <p:sp>
          <p:nvSpPr>
            <p:cNvPr id="58" name="TextBox 58"/>
            <p:cNvSpPr txBox="1"/>
            <p:nvPr/>
          </p:nvSpPr>
          <p:spPr>
            <a:xfrm>
              <a:off x="7648384" y="2947988"/>
              <a:ext cx="9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Throwable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89567" y="2947988"/>
              <a:ext cx="1993964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直接继承 Object；只有它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的子类对象才能被 throw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catch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55242" y="3744278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48384" y="3853815"/>
              <a:ext cx="1647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89567" y="3853815"/>
              <a:ext cx="17282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由程序产生的非正常事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件，例如转型、数组越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界、数字错误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55242" y="4650105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48384" y="4758690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Error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89567" y="4758690"/>
              <a:ext cx="197681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JVM 抛出，描述系统内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部的非正常事件</a:t>
              </a:r>
            </a:p>
          </p:txBody>
        </p:sp>
      </p:grpSp>
      <p:grpSp>
        <p:nvGrpSpPr>
          <p:cNvPr id="70" name="c2-code-3"/>
          <p:cNvGrpSpPr/>
          <p:nvPr/>
        </p:nvGrpSpPr>
        <p:grpSpPr>
          <a:xfrm>
            <a:off x="7655242" y="5398770"/>
            <a:ext cx="4003358" cy="937260"/>
            <a:chOff x="7655242" y="5398770"/>
            <a:chExt cx="4003358" cy="937260"/>
          </a:xfrm>
        </p:grpSpPr>
        <p:sp>
          <p:nvSpPr>
            <p:cNvPr id="67" name="Rectangle 67"/>
            <p:cNvSpPr/>
            <p:nvPr/>
          </p:nvSpPr>
          <p:spPr>
            <a:xfrm>
              <a:off x="7655242" y="5398770"/>
              <a:ext cx="4003358" cy="937260"/>
            </a:xfrm>
            <a:prstGeom prst="roundRect">
              <a:avLst>
                <a:gd name="adj" fmla="val 101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83640" y="5550694"/>
              <a:ext cx="1963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：抛一个非 Throwable 对象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83830" y="5809059"/>
              <a:ext cx="1614805" cy="438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不兼容的类型: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String无法转换为Throwable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受检异常与不受检异常：编译器管不管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5842635" cy="3034665"/>
            <a:chOff x="533400" y="1524000"/>
            <a:chExt cx="5842635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540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0773" y="1648301"/>
              <a:ext cx="1300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不受检 Unchecked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20625" y="1648301"/>
              <a:ext cx="975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受检 Checked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2130" y="2054066"/>
              <a:ext cx="19387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RuntimeException、Error 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其子类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39565" y="215407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其余所有异常类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2130" y="2659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不要求捕获或声明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49078" y="2545080"/>
              <a:ext cx="23183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39565" y="265985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强制捕获或用 throws 声明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365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不处理时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2130" y="3065621"/>
              <a:ext cx="19814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能编译；出错时从 main() 抛出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并调用 printStackTrace()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39565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编译报错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23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711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6714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多数反映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2130" y="36714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程序的逻辑错误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39565" y="367141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程序控制不了的外部情况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481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1771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02130" y="4077176"/>
              <a:ext cx="19530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IndexOutOfBoundsException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39565" y="4077176"/>
              <a:ext cx="16614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842635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97355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3479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4733925"/>
            <a:ext cx="5842635" cy="1226820"/>
            <a:chOff x="533400" y="4733925"/>
            <a:chExt cx="5842635" cy="1226820"/>
          </a:xfrm>
        </p:grpSpPr>
        <p:sp>
          <p:nvSpPr>
            <p:cNvPr id="37" name="Rectangle 37"/>
            <p:cNvSpPr/>
            <p:nvPr/>
          </p:nvSpPr>
          <p:spPr>
            <a:xfrm>
              <a:off x="533400" y="4733925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86727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3905" y="49263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345" y="49606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7597" y="4966335"/>
              <a:ext cx="2547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14、15 页的两处笔误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047" y="5299710"/>
              <a:ext cx="51400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页把 Unchecked 拼成了 Uchecked；第 15 页「unchecked 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常反应程序的逻辑错误」的「反应」应为「反映」。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6680835" y="1524000"/>
            <a:ext cx="4977765" cy="1468755"/>
            <a:chOff x="6680835" y="1524000"/>
            <a:chExt cx="4977765" cy="1468755"/>
          </a:xfrm>
        </p:grpSpPr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9232" y="1675924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：调用会抛受检异常的方法却不处理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99885" y="2381250"/>
              <a:ext cx="4939665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9422" y="1935194"/>
              <a:ext cx="2775585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 ... 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read();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未报告的异常错误IOException;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    必须对其进行捕获或声明以便抛出</a:t>
              </a:r>
            </a:p>
          </p:txBody>
        </p:sp>
      </p:grpSp>
      <p:grpSp>
        <p:nvGrpSpPr>
          <p:cNvPr id="52" name="c2-code-2"/>
          <p:cNvGrpSpPr/>
          <p:nvPr/>
        </p:nvGrpSpPr>
        <p:grpSpPr>
          <a:xfrm>
            <a:off x="6680835" y="3168015"/>
            <a:ext cx="4977765" cy="1308735"/>
            <a:chOff x="6680835" y="3168015"/>
            <a:chExt cx="4977765" cy="1308735"/>
          </a:xfrm>
        </p:grpSpPr>
        <p:sp>
          <p:nvSpPr>
            <p:cNvPr id="49" name="Rectangle 49"/>
            <p:cNvSpPr/>
            <p:nvPr/>
          </p:nvSpPr>
          <p:spPr>
            <a:xfrm>
              <a:off x="6680835" y="3168015"/>
              <a:ext cx="4977765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9232" y="331993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：两种合法写法选一种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9422" y="3579209"/>
              <a:ext cx="3613785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写法一：就地捕获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read(); 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"捕获: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e); 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写法二：在 main 上声明，继续往外抛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680835" y="4651058"/>
            <a:ext cx="4977765" cy="1308735"/>
            <a:chOff x="6680835" y="4651058"/>
            <a:chExt cx="4977765" cy="1308735"/>
          </a:xfrm>
        </p:grpSpPr>
        <p:sp>
          <p:nvSpPr>
            <p:cNvPr id="53" name="Rectangle 53"/>
            <p:cNvSpPr/>
            <p:nvPr/>
          </p:nvSpPr>
          <p:spPr>
            <a:xfrm>
              <a:off x="6680835" y="4651058"/>
              <a:ext cx="4977765" cy="1308735"/>
            </a:xfrm>
            <a:prstGeom prst="roundRect">
              <a:avLst>
                <a:gd name="adj" fmla="val 87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885623" y="5206365"/>
              <a:ext cx="200026" cy="200025"/>
              <a:chOff x="6885623" y="520636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885623" y="52063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925361" y="52508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960077" y="53619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188327" y="4963478"/>
              <a:ext cx="396563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不受检异常照样可以 catch，只是编译器不逼你。实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测 throw new IllegalStateException(...) 不声明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也能编译。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常见的标准异常：一行代码就能触发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33400" y="1524000"/>
            <a:ext cx="11125200" cy="3646170"/>
            <a:chOff x="533400" y="1524000"/>
            <a:chExt cx="11125200" cy="3646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967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4564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抛出的异常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749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48855" y="1648301"/>
              <a:ext cx="1325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JDK 21 的提示信息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992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b = 6 / 0;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9530" y="2054066"/>
              <a:ext cx="1512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ArithmeticException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97090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4792" y="205406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by zero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559844"/>
              <a:ext cx="2139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s = null; s.length();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59530" y="2559844"/>
              <a:ext cx="1531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97090" y="25598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4792" y="2459831"/>
              <a:ext cx="28491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Cannot invoke "String.length()" because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"&lt;local0&gt;" is null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365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065621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int[] a = new int[3]; a[5] = 1;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59530" y="3065621"/>
              <a:ext cx="2512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ArrayIndexOutOfBoundsException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7090" y="30656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4792" y="3065621"/>
              <a:ext cx="2497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5 out of bounds for length 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42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47085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571399"/>
              <a:ext cx="2254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(String) Integer.valueOf(1)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59530" y="3571399"/>
              <a:ext cx="1442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ClassCastException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97090" y="35713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4792" y="3471386"/>
              <a:ext cx="32971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java.lang.Integer cannot be cast to class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java.lang.String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481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77176"/>
              <a:ext cx="1948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Integer.parseInt("12a")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59530" y="4077176"/>
              <a:ext cx="1789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NumberFormatException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7090" y="40771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4792" y="4077176"/>
              <a:ext cx="173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input string: “12a”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538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35864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482941"/>
              <a:ext cx="2919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Class.forName("com.example.Nope")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59530" y="4482941"/>
              <a:ext cx="1778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06602" y="4368165"/>
              <a:ext cx="6486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97090" y="44829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64792" y="4482941"/>
              <a:ext cx="1366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com.example.Nope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759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3412" y="4888706"/>
              <a:ext cx="2817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FileReader("no_such_file.txt")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59530" y="4888706"/>
              <a:ext cx="16573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FileNotFoundException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06602" y="4773930"/>
              <a:ext cx="6486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97090" y="48887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64792" y="4888706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no_such_file.txt (系统找不到指定的文件。)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11125200" cy="3646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754755" y="1524000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92315" y="1524000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60018" y="1524000"/>
              <a:ext cx="9525" cy="3646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104363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前五行的根源都在程序自己，先判空、查下标、校验字符串，比事后 catch 更好；后两行取决于类路径和文件系统，是受检异常。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6.1 异常概述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原课件列出的标准异常类，按家族归位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842635" cy="2669858"/>
            <a:chOff x="533400" y="1524000"/>
            <a:chExt cx="5842635" cy="2669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74470" y="1641157"/>
              <a:ext cx="1040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Exception 一支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729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直接超类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788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281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49396" y="2023110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69674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877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9396" y="2404110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9674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488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ArithmeticException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49396" y="2785110"/>
              <a:ext cx="1220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69674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16308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FileNotFoundException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49396" y="3167062"/>
              <a:ext cx="835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69674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2472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ArrayIndexOutOfBoundsException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49396" y="3548062"/>
              <a:ext cx="1961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IndexOutOfBoundsException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69674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507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49396" y="3930015"/>
              <a:ext cx="1220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9674" y="3930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44995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7023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4358640"/>
            <a:ext cx="5842635" cy="1700212"/>
            <a:chOff x="533400" y="4358640"/>
            <a:chExt cx="5842635" cy="1700212"/>
          </a:xfrm>
        </p:grpSpPr>
        <p:sp>
          <p:nvSpPr>
            <p:cNvPr id="41" name="Rectangle 41"/>
            <p:cNvSpPr/>
            <p:nvPr/>
          </p:nvSpPr>
          <p:spPr>
            <a:xfrm>
              <a:off x="533400" y="4358640"/>
              <a:ext cx="5842635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49199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2475" y="45396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147" y="4572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18450" y="4579144"/>
              <a:ext cx="3373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16 页的问题（JDK 21 反射核对）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5998" y="4895374"/>
              <a:ext cx="51823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OutOfMemoryException 在 JDK 里不存在，内存溢出是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OutOfMemoryError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；ArrayIndexOutofBoundsException 的 of 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大写。原图把各类平铺在 Exception 下，实际 ArithmeticException 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RuntimeException，FileNotFoundException 属于 IOException。</a:t>
              </a:r>
            </a:p>
          </p:txBody>
        </p:sp>
      </p:grpSp>
      <p:grpSp>
        <p:nvGrpSpPr>
          <p:cNvPr id="80" name="c2-table-1"/>
          <p:cNvGrpSpPr/>
          <p:nvPr/>
        </p:nvGrpSpPr>
        <p:grpSpPr>
          <a:xfrm>
            <a:off x="6680835" y="1524000"/>
            <a:ext cx="4977765" cy="3432810"/>
            <a:chOff x="6680835" y="1524000"/>
            <a:chExt cx="4977765" cy="3432810"/>
          </a:xfrm>
        </p:grpSpPr>
        <p:sp>
          <p:nvSpPr>
            <p:cNvPr id="48" name="Rectangle 48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6584" y="1641157"/>
              <a:ext cx="1599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Error 一支（都不受检）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7611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直接超类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75514" y="2023110"/>
              <a:ext cx="16054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AbstractMethodError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65336" y="2023110"/>
              <a:ext cx="2091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IncompatibleClassChangeError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5514" y="2404110"/>
              <a:ext cx="1344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IllegalAccessError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65336" y="2404110"/>
              <a:ext cx="2091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IncompatibleClassChangeError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5514" y="2785110"/>
              <a:ext cx="1446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NoSuchMethodError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65336" y="2785110"/>
              <a:ext cx="2091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IncompatibleClassChangeError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75514" y="3167062"/>
              <a:ext cx="1628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NoClassDefFoundError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65336" y="3167062"/>
              <a:ext cx="916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LinkageError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5514" y="3548062"/>
              <a:ext cx="1006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InternalError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65336" y="3548062"/>
              <a:ext cx="142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VirtualMachineError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3807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0835" y="3811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75514" y="3930015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OutOfMemoryError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65336" y="3930015"/>
              <a:ext cx="142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VirtualMachineError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80835" y="41890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75514" y="4311015"/>
              <a:ext cx="1029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UnknownError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65336" y="4311015"/>
              <a:ext cx="142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VirtualMachineError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680835" y="45700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80835" y="4574858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75514" y="4692015"/>
              <a:ext cx="712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AWTError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65336" y="4692015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680835" y="1524000"/>
              <a:ext cx="497776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065895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llout-2"/>
          <p:cNvGrpSpPr/>
          <p:nvPr/>
        </p:nvGrpSpPr>
        <p:grpSpPr>
          <a:xfrm>
            <a:off x="6680835" y="5121592"/>
            <a:ext cx="4977765" cy="937260"/>
            <a:chOff x="6680835" y="5121592"/>
            <a:chExt cx="4977765" cy="937260"/>
          </a:xfrm>
        </p:grpSpPr>
        <p:sp>
          <p:nvSpPr>
            <p:cNvPr id="81" name="Rectangle 81"/>
            <p:cNvSpPr/>
            <p:nvPr/>
          </p:nvSpPr>
          <p:spPr>
            <a:xfrm>
              <a:off x="6680835" y="5121592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885623" y="5490210"/>
              <a:ext cx="200026" cy="200025"/>
              <a:chOff x="6885623" y="5490210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885623" y="5490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925361" y="5534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960077" y="5645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188708" y="5265896"/>
              <a:ext cx="40769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IncompatibleClassChangeError 又是 LinkageError 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子类。这几种多在「编译时和运行时用的类版本不一致」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时出现。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36652" cy="2997517"/>
            <a:chOff x="667512" y="1835468"/>
            <a:chExt cx="393665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 异常处理方法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要么就地捕获，要么交给调用者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try-catch-finally 捕获和处理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声明、throw 抛出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异常沿调用链逐级上传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处理异常的两条路：就地捕获，或者向上抛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917258"/>
            <a:chOff x="533400" y="1524000"/>
            <a:chExt cx="5626418" cy="917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方法一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捕获和处理异常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0445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在程序代码中用 try-catch-finally 语句块结构捕获和处理异常。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2606040"/>
            <a:ext cx="5626418" cy="1160145"/>
            <a:chOff x="533400" y="2606040"/>
            <a:chExt cx="5626418" cy="1160145"/>
          </a:xfrm>
        </p:grpSpPr>
        <p:sp>
          <p:nvSpPr>
            <p:cNvPr id="14" name="Rectangle 14"/>
            <p:cNvSpPr/>
            <p:nvPr/>
          </p:nvSpPr>
          <p:spPr>
            <a:xfrm>
              <a:off x="533400" y="260604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73939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27870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096" y="28198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方法二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3228" y="28265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抛出异常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143726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把异常对象层层向上抛出，直至转交给 JVM 处理。Java 语言称产生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异常和转交异常的过程为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抛出异常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1-table-3"/>
          <p:cNvGrpSpPr/>
          <p:nvPr/>
        </p:nvGrpSpPr>
        <p:grpSpPr>
          <a:xfrm>
            <a:off x="533400" y="3930968"/>
            <a:ext cx="5626418" cy="2287905"/>
            <a:chOff x="533400" y="3930968"/>
            <a:chExt cx="5626418" cy="2287905"/>
          </a:xfrm>
        </p:grpSpPr>
        <p:sp>
          <p:nvSpPr>
            <p:cNvPr id="21" name="Rectangle 21"/>
            <p:cNvSpPr/>
            <p:nvPr/>
          </p:nvSpPr>
          <p:spPr>
            <a:xfrm>
              <a:off x="533400" y="3930968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1362" y="40490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04094" y="40490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8078" y="44300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8724" y="44300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执行可能产生异常的代码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6891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69392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81107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8724" y="48110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捕获异常并处理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711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5193030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8724" y="519303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无论是否发生异常，代码总被执行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4521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45687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5574030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8724" y="557403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异常的生成阶段：手动抛出异常对象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8331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5955983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8724" y="5955983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异常的处理方式：声明方法可能要抛出的各种异常类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930968"/>
              <a:ext cx="562641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79282" y="393096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image-1"/>
          <p:cNvGrpSpPr/>
          <p:nvPr/>
        </p:nvGrpSpPr>
        <p:grpSpPr>
          <a:xfrm>
            <a:off x="7605928" y="1524000"/>
            <a:ext cx="2912313" cy="2306669"/>
            <a:chOff x="7605928" y="1524000"/>
            <a:chExt cx="2912313" cy="2306669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rcRect l="5561" t="0" r="5561" b="0"/>
            <a:stretch>
              <a:fillRect/>
            </a:stretch>
          </p:blipFill>
          <p:spPr>
            <a:xfrm>
              <a:off x="7712392" y="1524000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7605928" y="363997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安全网接住失手的演员，收拾场地的活每场都要干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464618" y="3976688"/>
            <a:ext cx="5193982" cy="702945"/>
            <a:chOff x="6464618" y="3976688"/>
            <a:chExt cx="5193982" cy="702945"/>
          </a:xfrm>
        </p:grpSpPr>
        <p:sp>
          <p:nvSpPr>
            <p:cNvPr id="46" name="Rectangle 46"/>
            <p:cNvSpPr/>
            <p:nvPr/>
          </p:nvSpPr>
          <p:spPr>
            <a:xfrm>
              <a:off x="6464618" y="397668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69405" y="4228150"/>
              <a:ext cx="200023" cy="200023"/>
              <a:chOff x="6669405" y="422815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42281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02755" y="42948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2491" y="4120991"/>
              <a:ext cx="4304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try 是空中的动作，catch 是下面的安全网，finally 是每场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演出后都要做的清场。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4844415"/>
            <a:ext cx="5193982" cy="1375410"/>
            <a:chOff x="6464618" y="4844415"/>
            <a:chExt cx="5193982" cy="1375410"/>
          </a:xfrm>
        </p:grpSpPr>
        <p:sp>
          <p:nvSpPr>
            <p:cNvPr id="52" name="Rectangle 52"/>
            <p:cNvSpPr/>
            <p:nvPr/>
          </p:nvSpPr>
          <p:spPr>
            <a:xfrm>
              <a:off x="6464618" y="4844415"/>
              <a:ext cx="5193982" cy="1375410"/>
            </a:xfrm>
            <a:prstGeom prst="roundRect">
              <a:avLst>
                <a:gd name="adj" fmla="val 831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432108"/>
              <a:ext cx="200026" cy="200026"/>
              <a:chOff x="6669405" y="543210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4321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498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58305" y="55321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491" y="5207794"/>
              <a:ext cx="42801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原课件的比方是「上游排污，下游治污」：throw 在出问题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的地方把异常排出来，throws 把它送往下游的调用者，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在下游治理。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1983" cy="909257"/>
            <a:chOff x="520446" y="342900"/>
            <a:chExt cx="58719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19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try-catch-finally：三块各管一件事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855470"/>
            <a:chOff x="533400" y="1524000"/>
            <a:chExt cx="5410200" cy="1855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956943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可能出现异常的语句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(ExceptionClassName1 e1)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处理第一类异常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(ExceptionClassName2 e2)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处理第二类异常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无论是否发生异常都要执行的语句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923" y="3564731"/>
            <a:ext cx="5416677" cy="1477137"/>
            <a:chOff x="526923" y="3564731"/>
            <a:chExt cx="5416677" cy="1477137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3564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6070" y="356473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程序员认为可能出现异常的语句，在语句序列中划定捕获异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常的范围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076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23" y="417909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catch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6070" y="4179094"/>
              <a:ext cx="429641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括号里是不同的异常参数，每个 catch 块负责处理一种类型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的异常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6901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923" y="4792504"/>
              <a:ext cx="573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finally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6070" y="4792504"/>
              <a:ext cx="4432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 try 语句块中是否发生异常，finally 语句块都要执行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5156835"/>
            <a:ext cx="5410200" cy="1160145"/>
            <a:chOff x="533400" y="5156835"/>
            <a:chExt cx="5410200" cy="1160145"/>
          </a:xfrm>
        </p:grpSpPr>
        <p:sp>
          <p:nvSpPr>
            <p:cNvPr id="20" name="Rectangle 20"/>
            <p:cNvSpPr/>
            <p:nvPr/>
          </p:nvSpPr>
          <p:spPr>
            <a:xfrm>
              <a:off x="533400" y="515683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52901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53378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53706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450" y="5377339"/>
              <a:ext cx="1744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本身就是一条语句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693569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原课件说这些语句块「并不是新的程序语句」。按 Java 语言规范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§14.20，try-catch-finally 整体就是一条 try 语句。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6248400" y="1533525"/>
            <a:ext cx="4573086" cy="2149412"/>
            <a:chOff x="6248400" y="1533525"/>
            <a:chExt cx="4573086" cy="2149412"/>
          </a:xfrm>
        </p:grpSpPr>
        <p:sp>
          <p:nvSpPr>
            <p:cNvPr id="27" name="Rectangle 27"/>
            <p:cNvSpPr/>
            <p:nvPr/>
          </p:nvSpPr>
          <p:spPr>
            <a:xfrm>
              <a:off x="638175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0869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6393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319278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166" y="1818322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程序运行时监测 try 块中的语句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023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166" y="2371725"/>
              <a:ext cx="4159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出现异常时，根据异常的种类决定是否执行 catch 块、执行哪一个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023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166" y="2925128"/>
              <a:ext cx="3360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最后运行 finally 块中的语句，结束捕获和处理的过程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023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2166" y="3477578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异常被处理了，就接着执行整个 try 语句后面的代码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844290"/>
            <a:ext cx="5410200" cy="1160145"/>
            <a:chOff x="6248400" y="3844290"/>
            <a:chExt cx="5410200" cy="1160145"/>
          </a:xfrm>
        </p:grpSpPr>
        <p:sp>
          <p:nvSpPr>
            <p:cNvPr id="45" name="Rectangle 45"/>
            <p:cNvSpPr/>
            <p:nvPr/>
          </p:nvSpPr>
          <p:spPr>
            <a:xfrm>
              <a:off x="6248400" y="384429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97764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7475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0147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3451" y="4065746"/>
              <a:ext cx="2965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后面至少跟一个 catch 或 finally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0998" y="4381976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try { ... 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就接别的语句，javac 报「'try' 不带有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'catch', 'finally' 或资源声明」。</a:t>
              </a:r>
            </a:p>
          </p:txBody>
        </p:sp>
      </p:grpSp>
      <p:grpSp>
        <p:nvGrpSpPr>
          <p:cNvPr id="55" name="c2-code-3"/>
          <p:cNvGrpSpPr/>
          <p:nvPr/>
        </p:nvGrpSpPr>
        <p:grpSpPr>
          <a:xfrm>
            <a:off x="6248400" y="5170170"/>
            <a:ext cx="5410200" cy="958215"/>
            <a:chOff x="6248400" y="5170170"/>
            <a:chExt cx="5410200" cy="958215"/>
          </a:xfrm>
        </p:grpSpPr>
        <p:sp>
          <p:nvSpPr>
            <p:cNvPr id="52" name="Rectangle 52"/>
            <p:cNvSpPr/>
            <p:nvPr/>
          </p:nvSpPr>
          <p:spPr>
            <a:xfrm>
              <a:off x="6248400" y="5170170"/>
              <a:ext cx="5410200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76797" y="532209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三种合法的最短写法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76988" y="5581174"/>
              <a:ext cx="3524250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...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 ... }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只有 catch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...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... }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只有 finally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(资源声明) { ... }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Java 7 起，见后文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4323" cy="909257"/>
            <a:chOff x="520446" y="342900"/>
            <a:chExt cx="73043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43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 catch：从上往下比对，只进第一个匹配的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483292"/>
            <a:chOff x="533400" y="1524000"/>
            <a:chExt cx="5842635" cy="34832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483292"/>
            </a:xfrm>
            <a:prstGeom prst="roundRect">
              <a:avLst>
                <a:gd name="adj" fmla="val 27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314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6.2　三个 catch 只执行一个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62225"/>
              <a:ext cx="5804535" cy="1657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766"/>
              <a:ext cx="3929507" cy="2996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OnlyOne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"try 开始"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6 / 0;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"这一行不会执行"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(ArithmeticException e)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"catch 1: "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(RuntimeException e)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"catch 2"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"catch 3"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"finally"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"try 语句之后继续执行"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5187315"/>
            <a:ext cx="5842635" cy="1168718"/>
            <a:chOff x="533400" y="5187315"/>
            <a:chExt cx="5842635" cy="1168718"/>
          </a:xfrm>
        </p:grpSpPr>
        <p:sp>
          <p:nvSpPr>
            <p:cNvPr id="12" name="Rectangle 12"/>
            <p:cNvSpPr/>
            <p:nvPr/>
          </p:nvSpPr>
          <p:spPr>
            <a:xfrm>
              <a:off x="533400" y="5187315"/>
              <a:ext cx="5842635" cy="1168718"/>
            </a:xfrm>
            <a:prstGeom prst="roundRect">
              <a:avLst>
                <a:gd name="adj" fmla="val 81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5339239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988" y="5599081"/>
              <a:ext cx="1201293" cy="676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try 开始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catch 1: / by zero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finally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try 语句之后继续执行</a:t>
              </a:r>
            </a:p>
          </p:txBody>
        </p:sp>
      </p:grpSp>
      <p:grpSp>
        <p:nvGrpSpPr>
          <p:cNvPr id="32" name="c2-flow-1"/>
          <p:cNvGrpSpPr/>
          <p:nvPr/>
        </p:nvGrpSpPr>
        <p:grpSpPr>
          <a:xfrm>
            <a:off x="7029450" y="1647825"/>
            <a:ext cx="4280535" cy="2392680"/>
            <a:chOff x="7029450" y="1647825"/>
            <a:chExt cx="4280535" cy="2392680"/>
          </a:xfrm>
        </p:grpSpPr>
        <p:sp>
          <p:nvSpPr>
            <p:cNvPr id="16" name="Freeform 16"/>
            <p:cNvSpPr/>
            <p:nvPr/>
          </p:nvSpPr>
          <p:spPr>
            <a:xfrm>
              <a:off x="9169718" y="2060258"/>
              <a:ext cx="9525" cy="143827"/>
            </a:xfrm>
            <a:custGeom>
              <a:avLst/>
              <a:gdLst/>
              <a:ahLst/>
              <a:cxnLst/>
              <a:rect l="l" t="t" r="r" b="b"/>
              <a:pathLst>
                <a:path w="9525" h="143827">
                  <a:moveTo>
                    <a:pt x="0" y="0"/>
                  </a:moveTo>
                  <a:lnTo>
                    <a:pt x="0" y="1438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117330" y="22040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169718" y="2720340"/>
              <a:ext cx="9525" cy="143827"/>
            </a:xfrm>
            <a:custGeom>
              <a:avLst/>
              <a:gdLst/>
              <a:ahLst/>
              <a:cxnLst/>
              <a:rect l="l" t="t" r="r" b="b"/>
              <a:pathLst>
                <a:path w="9525" h="143827">
                  <a:moveTo>
                    <a:pt x="0" y="0"/>
                  </a:moveTo>
                  <a:lnTo>
                    <a:pt x="0" y="1438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117330" y="28641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169718" y="3380422"/>
              <a:ext cx="9525" cy="143828"/>
            </a:xfrm>
            <a:custGeom>
              <a:avLst/>
              <a:gdLst/>
              <a:ahLst/>
              <a:cxnLst/>
              <a:rect l="l" t="t" r="r" b="b"/>
              <a:pathLst>
                <a:path w="9525" h="143828">
                  <a:moveTo>
                    <a:pt x="0" y="0"/>
                  </a:moveTo>
                  <a:lnTo>
                    <a:pt x="0" y="1438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117330" y="3524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29450" y="1647825"/>
              <a:ext cx="4280535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29450" y="2308860"/>
              <a:ext cx="428053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29450" y="2968942"/>
              <a:ext cx="4280535" cy="411480"/>
            </a:xfrm>
            <a:prstGeom prst="roundRect">
              <a:avLst>
                <a:gd name="adj" fmla="val 23148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29450" y="3629025"/>
              <a:ext cx="4280535" cy="4114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22292" y="1770698"/>
              <a:ext cx="129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try 块抛出异常 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55902" y="243078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从上往下比对参数类型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1091" y="3090862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执行第一个匹配的 catch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3721" y="3750945"/>
              <a:ext cx="911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finally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98292" y="2759392"/>
              <a:ext cx="119634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1914" y="2783681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是该类型或其子类</a:t>
              </a:r>
            </a:p>
          </p:txBody>
        </p:sp>
      </p:grpSp>
      <p:grpSp>
        <p:nvGrpSpPr>
          <p:cNvPr id="46" name="c2-bullets-2"/>
          <p:cNvGrpSpPr/>
          <p:nvPr/>
        </p:nvGrpSpPr>
        <p:grpSpPr>
          <a:xfrm>
            <a:off x="6673596" y="4368641"/>
            <a:ext cx="4976925" cy="1595057"/>
            <a:chOff x="6673596" y="4368641"/>
            <a:chExt cx="4976925" cy="1595057"/>
          </a:xfrm>
        </p:grpSpPr>
        <p:sp>
          <p:nvSpPr>
            <p:cNvPr id="33" name="TextBox 33"/>
            <p:cNvSpPr txBox="1"/>
            <p:nvPr/>
          </p:nvSpPr>
          <p:spPr>
            <a:xfrm>
              <a:off x="6673596" y="43686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四条规则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81788" y="4692015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40132" y="4732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1729" y="4704874"/>
              <a:ext cx="40670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 catch 参数类型或其子类的对象，就算匹配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1788" y="501872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40132" y="50590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71729" y="5031581"/>
              <a:ext cx="34649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只执行第一个匹配的 catch，其余的跳过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1788" y="534543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40132" y="53857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71729" y="5358289"/>
              <a:ext cx="28723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里抛出点之后的语句不再执行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567213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0132" y="57124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71729" y="5684996"/>
              <a:ext cx="46787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全都不匹配时，finally 照样执行，之后异常继续往外抛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7918" cy="909257"/>
            <a:chOff x="520446" y="342900"/>
            <a:chExt cx="55879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79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的书写顺序：先子类，后超类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912620"/>
            <a:chOff x="533400" y="1524000"/>
            <a:chExt cx="5410200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：超类写在前面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289737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6 /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(RuntimeException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(ArithmeticException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已捕获到异常错误ArithmeticException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27120"/>
            <a:ext cx="5410200" cy="2242185"/>
            <a:chOff x="533400" y="3627120"/>
            <a:chExt cx="5410200" cy="2242185"/>
          </a:xfrm>
        </p:grpSpPr>
        <p:sp>
          <p:nvSpPr>
            <p:cNvPr id="12" name="Rectangle 12"/>
            <p:cNvSpPr/>
            <p:nvPr/>
          </p:nvSpPr>
          <p:spPr>
            <a:xfrm>
              <a:off x="533400" y="362712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42950" y="38366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158" y="3872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3978" y="3871912"/>
              <a:ext cx="25428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后面那个 catch 永远轮不到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291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ArithmeticException 是 RuntimeException 的子类，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任何除零异常都会先被第一个 catch 接走。编译器发现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第二个 catch 不可能执行，直接报错。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3969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反过来写（ArithmeticException 在前）就能编译：具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体的先处理，剩下的交给宽泛的。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1799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补充：多重捕获（Java 7 起）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797" y="1935956"/>
              <a:ext cx="4297553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== 1)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6 / 0;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String 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s.length();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(ArithmeticException | NullPointerException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"捕获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e.getClass().getSimpleName());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 = 1 时：捕获 ArithmeticException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 = 2 时：捕获 NullPointerException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27120"/>
            <a:ext cx="5410200" cy="2242185"/>
            <a:chOff x="6248400" y="3627120"/>
            <a:chExt cx="5410200" cy="2242185"/>
          </a:xfrm>
        </p:grpSpPr>
        <p:sp>
          <p:nvSpPr>
            <p:cNvPr id="23" name="Rectangle 23"/>
            <p:cNvSpPr/>
            <p:nvPr/>
          </p:nvSpPr>
          <p:spPr>
            <a:xfrm>
              <a:off x="6248400" y="362712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376047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38366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6258" y="3872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7078" y="387191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竖线两边不能有父子关系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4232910"/>
              <a:ext cx="4749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ArithmeticException | RuntimeException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报「multi-catch 语句中的替代无法通过子类化关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联」。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9573" y="5136356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两种异常处理方式相同时才用多重捕获，省去重复的 catch 块。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59580" cy="909257"/>
            <a:chOff x="520446" y="342900"/>
            <a:chExt cx="7859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59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6.3　数组越界：catch 接住异常，finally 收尾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4374832"/>
            <a:chOff x="533400" y="1524000"/>
            <a:chExt cx="6276022" cy="4374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008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21 页的程序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5006975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ExcepDemo3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string[] = {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"Easter Sunday"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"Thanksgiving"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"Christmas"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output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0, m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5; i++)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k = i + 1;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output += string[i];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output +=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m = i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e.toString();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"\nround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k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started"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 +=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"\nIt is terminated at round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JOptionPane.showMessageDialog(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output);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System.exit(0);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7114222" y="1524000"/>
            <a:ext cx="4544378" cy="1363980"/>
            <a:chOff x="7114222" y="1524000"/>
            <a:chExt cx="4544378" cy="1363980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42620" y="1675924"/>
              <a:ext cx="1922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output 的内容（JDK 21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2810" y="1934289"/>
              <a:ext cx="4203319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Easter Sunday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Thanksgiving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Christmas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java.lang.ArrayIndexOutOfBoundsException: Index 3 out of bounds for length 3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round 4 started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It is terminated at round 3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114222" y="3077528"/>
            <a:ext cx="4544378" cy="2958465"/>
            <a:chOff x="7114222" y="3077528"/>
            <a:chExt cx="4544378" cy="2958465"/>
          </a:xfrm>
        </p:grpSpPr>
        <p:sp>
          <p:nvSpPr>
            <p:cNvPr id="16" name="Rectangle 16"/>
            <p:cNvSpPr/>
            <p:nvPr/>
          </p:nvSpPr>
          <p:spPr>
            <a:xfrm>
              <a:off x="7114222" y="3077528"/>
              <a:ext cx="4544378" cy="2958465"/>
            </a:xfrm>
            <a:prstGeom prst="roundRect">
              <a:avLst>
                <a:gd name="adj" fmla="val 4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23748" y="3210878"/>
              <a:ext cx="47625" cy="26917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1872" y="3287078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30024" y="332279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版本差异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2992" y="332232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原课件弹窗里的消息是旧格式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4252" y="3684270"/>
              <a:ext cx="38252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原课件截图显示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ArrayIndexOutOfBoundsException: 3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JDK 10 及以前的写法。JDK 11 起消息带上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数组长度，变成 Index 3 out of bounds for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 3。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5396" y="5158264"/>
              <a:ext cx="380060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文件开头需要 import javax.swing.JOptionPane。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实测时把弹窗换成 System.out.println(output)，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内容相同。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12358" cy="909257"/>
            <a:chOff x="520446" y="342900"/>
            <a:chExt cx="57123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123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6.3 逐轮追踪：k 和 m 为什么差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6059805" cy="2335530"/>
            <a:chOff x="533400" y="1524000"/>
            <a:chExt cx="6059805" cy="2335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4268" y="1652588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1710" y="1652588"/>
              <a:ext cx="639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i + 1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13655" y="1652588"/>
              <a:ext cx="1140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 string[i]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9828" y="1652588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= i + 1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29634" y="1652588"/>
              <a:ext cx="94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output 追加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75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9389" y="2076450"/>
              <a:ext cx="1137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Easter Sunday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0483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3516" y="2076450"/>
              <a:ext cx="1670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Easter Sunday 和换行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975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9389" y="2501265"/>
              <a:ext cx="1002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Thanksgiving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0483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3516" y="2501265"/>
              <a:ext cx="1535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Thanksgiving 和换行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75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9389" y="2926080"/>
              <a:ext cx="808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Christmas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483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3516" y="2926080"/>
              <a:ext cx="1342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Christmas 和换行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16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2135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889" y="34566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6788" y="3230880"/>
              <a:ext cx="889635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59752" y="34566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69389" y="34566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越界，抛出异常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04832" y="3349942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不执行，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仍为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3516" y="3456622"/>
              <a:ext cx="827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跳到 catch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059805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52500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62138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497580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06265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steps-2"/>
          <p:cNvGrpSpPr/>
          <p:nvPr/>
        </p:nvGrpSpPr>
        <p:grpSpPr>
          <a:xfrm>
            <a:off x="533400" y="4049078"/>
            <a:ext cx="5695594" cy="1782508"/>
            <a:chOff x="533400" y="4049078"/>
            <a:chExt cx="5695594" cy="1782508"/>
          </a:xfrm>
        </p:grpSpPr>
        <p:sp>
          <p:nvSpPr>
            <p:cNvPr id="45" name="Rectangle 45"/>
            <p:cNvSpPr/>
            <p:nvPr/>
          </p:nvSpPr>
          <p:spPr>
            <a:xfrm>
              <a:off x="666750" y="4191952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33400" y="40490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024" y="4122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33400" y="46662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7024" y="4740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33400" y="52825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7024" y="5356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5261" y="4081939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6404" y="4362450"/>
              <a:ext cx="5282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是越界异常的超类，匹配成功，把 e.toString() 拼进 output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5261" y="4699159"/>
              <a:ext cx="6367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6404" y="4979670"/>
              <a:ext cx="4008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 round 4 started 和 It is terminated at round 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261" y="53163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404" y="5596890"/>
              <a:ext cx="387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弹窗显示 output，再调用 System.exit(0) 结束程序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898005" y="1524000"/>
            <a:ext cx="4760595" cy="2129790"/>
            <a:chOff x="6898005" y="1524000"/>
            <a:chExt cx="4760595" cy="2129790"/>
          </a:xfrm>
        </p:grpSpPr>
        <p:sp>
          <p:nvSpPr>
            <p:cNvPr id="59" name="Rectangle 59"/>
            <p:cNvSpPr/>
            <p:nvPr/>
          </p:nvSpPr>
          <p:spPr>
            <a:xfrm>
              <a:off x="6898005" y="1524000"/>
              <a:ext cx="4760595" cy="2129790"/>
            </a:xfrm>
            <a:prstGeom prst="roundRect">
              <a:avLst>
                <a:gd name="adj" fmla="val 626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9612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8756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79436" y="175688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异常打断了一轮循环的后半截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8886" y="2100739"/>
              <a:ext cx="40450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在访问数组之前赋值，m 在之后赋值。第 4 轮（i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3）的异常恰好发生在两者之间，所以 k 已经是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4，m 还停在 3。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88886" y="2961799"/>
              <a:ext cx="41172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循环条件写 i &lt; 5 是故意的：数组只有 3 个元素，第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轮一定越界。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898005" y="3833812"/>
            <a:ext cx="4760595" cy="2482215"/>
            <a:chOff x="6898005" y="3833812"/>
            <a:chExt cx="4760595" cy="2482215"/>
          </a:xfrm>
        </p:grpSpPr>
        <p:sp>
          <p:nvSpPr>
            <p:cNvPr id="66" name="Rectangle 66"/>
            <p:cNvSpPr/>
            <p:nvPr/>
          </p:nvSpPr>
          <p:spPr>
            <a:xfrm>
              <a:off x="6898005" y="3833812"/>
              <a:ext cx="4760595" cy="2482215"/>
            </a:xfrm>
            <a:prstGeom prst="roundRect">
              <a:avLst>
                <a:gd name="adj" fmla="val 5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07530" y="3967162"/>
              <a:ext cx="47625" cy="22155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34225" y="40319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25665" y="40662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17536" y="4066699"/>
              <a:ext cx="2516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如果不写 catch 只写 finally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26986" y="441055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仍会执行，output 照样被追加两行；但异常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没被处理，会继续从 main 抛出，弹窗那一行不会执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行，程序以栈轨迹结束。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28129" y="5267325"/>
              <a:ext cx="3921252" cy="897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实测（删掉 catch、在 finally 里打印 k 和 m）：先打印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round 4 / round 3，随后是 Exception in thread “main”</a:t>
              </a:r>
              <a:br/>
              <a:r>
                <a:rPr lang="en-US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java.lang.ArrayIndexOutOfBoundsException: Index 3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out of bounds for length 3。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获取异常信息的三个方法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410200" cy="1823085"/>
            <a:chOff x="533400" y="1524000"/>
            <a:chExt cx="5410200" cy="1823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03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0469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给出什么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1094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getMessage()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1275" y="205406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异常的性质，即创建异常时传入的提示信息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848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1275" y="2459831"/>
              <a:ext cx="3215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异常的类型与性质：类的全名 + ": " + 提示信息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965609"/>
              <a:ext cx="1462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printStackTrace()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1275" y="2865596"/>
              <a:ext cx="2998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异常的类型、性质、栈层次及出现在程序中的位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410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76500" y="152400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5" name="c1-code-2"/>
          <p:cNvGrpSpPr/>
          <p:nvPr/>
        </p:nvGrpSpPr>
        <p:grpSpPr>
          <a:xfrm>
            <a:off x="533400" y="3522345"/>
            <a:ext cx="5410200" cy="1788795"/>
            <a:chOff x="533400" y="3522345"/>
            <a:chExt cx="5410200" cy="1788795"/>
          </a:xfrm>
        </p:grpSpPr>
        <p:sp>
          <p:nvSpPr>
            <p:cNvPr id="22" name="Rectangle 22"/>
            <p:cNvSpPr/>
            <p:nvPr/>
          </p:nvSpPr>
          <p:spPr>
            <a:xfrm>
              <a:off x="533400" y="352234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367426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同一个异常分别调三个方法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988" y="3933539"/>
              <a:ext cx="2714117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[3];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a[5] = 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(ArrayIndexOutOfBoundsException e)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System.out.println(e.getMessage());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System.out.println(e.toString());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e.printStackTrace(System.out);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485448"/>
            <a:ext cx="5410200" cy="729615"/>
            <a:chOff x="533400" y="5485448"/>
            <a:chExt cx="5410200" cy="729615"/>
          </a:xfrm>
        </p:grpSpPr>
        <p:sp>
          <p:nvSpPr>
            <p:cNvPr id="26" name="Rectangle 26"/>
            <p:cNvSpPr/>
            <p:nvPr/>
          </p:nvSpPr>
          <p:spPr>
            <a:xfrm>
              <a:off x="533400" y="548544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50243"/>
              <a:ext cx="200026" cy="200025"/>
              <a:chOff x="738188" y="575024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750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794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905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5632133"/>
              <a:ext cx="45314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"异常:" + e 这种拼接调用的就是 toString()，这是第 4 章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讲过的规则。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248400" y="1524000"/>
            <a:ext cx="5410200" cy="1148715"/>
            <a:chOff x="6248400" y="1524000"/>
            <a:chExt cx="5410200" cy="114871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797" y="167592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988" y="1935194"/>
              <a:ext cx="468109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Index 5 out of bounds for length 3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java.lang.ArrayIndexOutOfBoundsException: Index 5 out of bounds for length 3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java.lang.ArrayIndexOutOfBoundsException: Index 5 out of bounds for length 3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Info.main(Info.java:5)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2847975"/>
            <a:ext cx="5410200" cy="1786890"/>
            <a:chOff x="6248400" y="2847975"/>
            <a:chExt cx="5410200" cy="1786890"/>
          </a:xfrm>
        </p:grpSpPr>
        <p:sp>
          <p:nvSpPr>
            <p:cNvPr id="37" name="Rectangle 37"/>
            <p:cNvSpPr/>
            <p:nvPr/>
          </p:nvSpPr>
          <p:spPr>
            <a:xfrm>
              <a:off x="6248400" y="2847975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298132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8905" y="30403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0345" y="30746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62597" y="308038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没有提示信息的异常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2047" y="3413760"/>
              <a:ext cx="454599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Exception()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不带参数时，getMessage() 返回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 只剩类名 java.lang.Exception（实测）。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2047" y="3973830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所以打印异常时用 toString() 或直接拼接 e，比只打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getMessage() 稳妥。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248400" y="4809172"/>
            <a:ext cx="5410200" cy="1405890"/>
            <a:chOff x="6248400" y="4809172"/>
            <a:chExt cx="5410200" cy="1405890"/>
          </a:xfrm>
        </p:grpSpPr>
        <p:sp>
          <p:nvSpPr>
            <p:cNvPr id="45" name="Rectangle 45"/>
            <p:cNvSpPr/>
            <p:nvPr/>
          </p:nvSpPr>
          <p:spPr>
            <a:xfrm>
              <a:off x="6248400" y="4809172"/>
              <a:ext cx="5410200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942522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50015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0345" y="50358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62597" y="5041583"/>
              <a:ext cx="3700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printStackTrace() 默认写到 System.err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5375910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不带参数时输出到标准错误流，IDE 里常显示成红色；传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System.out 就和普通输出写在一起。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2934" cy="909257"/>
            <a:chOff x="520446" y="342900"/>
            <a:chExt cx="8492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2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在 return 之前执行，只有退出虚拟机能拦住它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383155"/>
            <a:chOff x="533400" y="1524000"/>
            <a:chExt cx="5626418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83155"/>
            </a:xfrm>
            <a:prstGeom prst="roundRect">
              <a:avLst>
                <a:gd name="adj" fmla="val 39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4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try 里 return，finally 照样执行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770071" cy="18897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"f 的 finally 先执行"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x = 2;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"f() =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"g() =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g());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092892"/>
            <a:ext cx="5626418" cy="1018222"/>
            <a:chOff x="533400" y="4092892"/>
            <a:chExt cx="5626418" cy="1018222"/>
          </a:xfrm>
        </p:grpSpPr>
        <p:sp>
          <p:nvSpPr>
            <p:cNvPr id="11" name="Rectangle 11"/>
            <p:cNvSpPr/>
            <p:nvPr/>
          </p:nvSpPr>
          <p:spPr>
            <a:xfrm>
              <a:off x="533400" y="4092892"/>
              <a:ext cx="5626418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244816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4504277"/>
              <a:ext cx="1209370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f 的 finally 先执行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f() = 1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g() = 1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5296852"/>
            <a:ext cx="5626418" cy="910590"/>
            <a:chOff x="533400" y="5296852"/>
            <a:chExt cx="5626418" cy="910590"/>
          </a:xfrm>
        </p:grpSpPr>
        <p:sp>
          <p:nvSpPr>
            <p:cNvPr id="15" name="Rectangle 15"/>
            <p:cNvSpPr/>
            <p:nvPr/>
          </p:nvSpPr>
          <p:spPr>
            <a:xfrm>
              <a:off x="533400" y="5296852"/>
              <a:ext cx="5626418" cy="910590"/>
            </a:xfrm>
            <a:prstGeom prst="roundRect">
              <a:avLst>
                <a:gd name="adj" fmla="val 1255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651185"/>
              <a:ext cx="200023" cy="200023"/>
              <a:chOff x="738188" y="5651185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6511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57178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521166"/>
              <a:ext cx="469430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g() 返回 1：执行 return x 时返回值已经取好，finally 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 x 也影响不到它。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464618" y="1524000"/>
            <a:ext cx="5193982" cy="1701165"/>
            <a:chOff x="6464618" y="1524000"/>
            <a:chExt cx="5193982" cy="170116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3015" y="1675924"/>
              <a:ext cx="224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finally 不执行的情形：System.exit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3167" y="1936337"/>
              <a:ext cx="2242007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"try"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System.exit(0);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"finally"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实测只输出 try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464618" y="3409950"/>
            <a:ext cx="5193982" cy="2796540"/>
            <a:chOff x="6464618" y="3409950"/>
            <a:chExt cx="5193982" cy="2796540"/>
          </a:xfrm>
        </p:grpSpPr>
        <p:sp>
          <p:nvSpPr>
            <p:cNvPr id="25" name="Rectangle 25"/>
            <p:cNvSpPr/>
            <p:nvPr/>
          </p:nvSpPr>
          <p:spPr>
            <a:xfrm>
              <a:off x="6464618" y="3409950"/>
              <a:ext cx="5193982" cy="2796540"/>
            </a:xfrm>
            <a:prstGeom prst="roundRect">
              <a:avLst>
                <a:gd name="adj" fmla="val 47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3543300"/>
              <a:ext cx="47625" cy="2529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06552" y="36137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8861" y="36495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别这样写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92758" y="3654266"/>
              <a:ext cx="28780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finally 里 return 会吞掉异常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9314" y="4005739"/>
              <a:ext cx="42434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try { throw new RuntimeException(); } finally {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return 2; }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：方法正常返回 2，那个异常凭空消失了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（实测）。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314" y="4868704"/>
              <a:ext cx="4474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-Xlint 会警告「finally 子句无法正常完成」。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14172" y="524827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70764" y="5188744"/>
              <a:ext cx="38737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里只做清理：关闭资源、恢复状态，不写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14172" y="5839777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70764" y="5780246"/>
              <a:ext cx="4487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里再抛出新异常，同样会把原来那个异常顶掉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6029" cy="909257"/>
            <a:chOff x="520446" y="342900"/>
            <a:chExt cx="86860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6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补充：try-with-resources 替你写关闭资源的 finally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724150"/>
            <a:chOff x="533400" y="1524000"/>
            <a:chExt cx="6059805" cy="2724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24150"/>
            </a:xfrm>
            <a:prstGeom prst="roundRect">
              <a:avLst>
                <a:gd name="adj" fmla="val 34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08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7 起的写法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23222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49" y="1936337"/>
              <a:ext cx="4187901" cy="2230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AutoCloseable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Res(String n) { name = n;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"打开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close() {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"关闭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(Res a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Res b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"使用 A 和 B"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IllegalStateException(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"出错"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(IllegalStateException 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"catch: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433888"/>
            <a:ext cx="6059805" cy="1530668"/>
            <a:chOff x="533400" y="4433888"/>
            <a:chExt cx="6059805" cy="1530668"/>
          </a:xfrm>
        </p:grpSpPr>
        <p:sp>
          <p:nvSpPr>
            <p:cNvPr id="12" name="Rectangle 12"/>
            <p:cNvSpPr/>
            <p:nvPr/>
          </p:nvSpPr>
          <p:spPr>
            <a:xfrm>
              <a:off x="533400" y="4433888"/>
              <a:ext cx="6059805" cy="1530668"/>
            </a:xfrm>
            <a:prstGeom prst="roundRect">
              <a:avLst>
                <a:gd name="adj" fmla="val 62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585811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949" y="4845272"/>
              <a:ext cx="707974" cy="10373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打开 A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打开 B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使用 A 和 B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关闭 B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关闭 A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catch: 出错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890766" y="1547336"/>
            <a:ext cx="4495546" cy="1547432"/>
            <a:chOff x="6890766" y="1547336"/>
            <a:chExt cx="4495546" cy="1547432"/>
          </a:xfrm>
        </p:grpSpPr>
        <p:sp>
          <p:nvSpPr>
            <p:cNvPr id="16" name="TextBox 16"/>
            <p:cNvSpPr txBox="1"/>
            <p:nvPr/>
          </p:nvSpPr>
          <p:spPr>
            <a:xfrm>
              <a:off x="6890766" y="15473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从输出能读出三条规则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98005" y="187356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6350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7946" y="1886426"/>
              <a:ext cx="41983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后圆括号里声明的资源，离开 try 块时自动调用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2474595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6350" y="25149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7946" y="2486501"/>
              <a:ext cx="3668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多个资源按声明的相反顺序关闭，先 B 后 A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280416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56350" y="28435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7946" y="2816066"/>
              <a:ext cx="27002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资源先关闭，然后才进入 catch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898005" y="3224212"/>
            <a:ext cx="4760595" cy="1836420"/>
            <a:chOff x="6898005" y="3224212"/>
            <a:chExt cx="4760595" cy="1836420"/>
          </a:xfrm>
        </p:grpSpPr>
        <p:sp>
          <p:nvSpPr>
            <p:cNvPr id="27" name="Rectangle 27"/>
            <p:cNvSpPr/>
            <p:nvPr/>
          </p:nvSpPr>
          <p:spPr>
            <a:xfrm>
              <a:off x="6898005" y="3224212"/>
              <a:ext cx="4760595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335756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39940" y="342804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08495" y="34637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和本章开头呼应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1914" y="3467576"/>
              <a:ext cx="26006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readFile 里的 close the file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2701" y="3819049"/>
              <a:ext cx="414426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读文件的例子里，关闭文件这一步无论成败都得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做，旧写法要写进 finally。FileReader 等 I/O 类都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 AutoCloseable，放进 try 的圆括号里就不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必再手写。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898005" y="5245418"/>
            <a:ext cx="4760595" cy="756285"/>
            <a:chOff x="6898005" y="5245418"/>
            <a:chExt cx="4760595" cy="756285"/>
          </a:xfrm>
        </p:grpSpPr>
        <p:sp>
          <p:nvSpPr>
            <p:cNvPr id="34" name="Rectangle 34"/>
            <p:cNvSpPr/>
            <p:nvPr/>
          </p:nvSpPr>
          <p:spPr>
            <a:xfrm>
              <a:off x="6898005" y="524541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102793" y="5523548"/>
              <a:ext cx="200026" cy="200026"/>
              <a:chOff x="7102793" y="552354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102793" y="5523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02805" y="55902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91693" y="56235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405116" y="5392579"/>
              <a:ext cx="379260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资源类必须实现 AutoCloseable（或它的子接口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Closeable），否则不能写进 try 的圆括号。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89385" cy="909257"/>
            <a:chOff x="520446" y="342900"/>
            <a:chExt cx="90893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893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抛出异常：throws 在方法头声明，throw 在方法体里动手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741170"/>
            <a:chOff x="533400" y="1524000"/>
            <a:chExt cx="5410200" cy="1741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把异常交给调用者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8002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允许指明出现的异常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不在当前方法内处理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，而是将其抛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出，送交到调用它的方法来处理。异常在调用序列中逐级向上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传递，乃至传递到 Java 运行时系统，直至找到一个可以处理它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的运行层次为止。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440430"/>
            <a:ext cx="5410200" cy="1468755"/>
            <a:chOff x="533400" y="3440430"/>
            <a:chExt cx="5410200" cy="1468755"/>
          </a:xfrm>
        </p:grpSpPr>
        <p:sp>
          <p:nvSpPr>
            <p:cNvPr id="14" name="Rectangle 14"/>
            <p:cNvSpPr/>
            <p:nvPr/>
          </p:nvSpPr>
          <p:spPr>
            <a:xfrm>
              <a:off x="533400" y="3440430"/>
              <a:ext cx="5410200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5923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两条语法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88" y="3851624"/>
              <a:ext cx="2585593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声明抛出异常：写在方法声明的 throws 子句中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returnType methodName([paramList])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ExceptionList { ...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抛出异常：用 throw 子句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ExceptionObject;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5083492"/>
            <a:ext cx="5410200" cy="969645"/>
            <a:chOff x="533400" y="5083492"/>
            <a:chExt cx="5410200" cy="969645"/>
          </a:xfrm>
        </p:grpSpPr>
        <p:sp>
          <p:nvSpPr>
            <p:cNvPr id="18" name="Rectangle 18"/>
            <p:cNvSpPr/>
            <p:nvPr/>
          </p:nvSpPr>
          <p:spPr>
            <a:xfrm>
              <a:off x="533400" y="5083492"/>
              <a:ext cx="5410200" cy="969645"/>
            </a:xfrm>
            <a:prstGeom prst="roundRect">
              <a:avLst>
                <a:gd name="adj" fmla="val 13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5216842"/>
              <a:ext cx="47625" cy="7029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52758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5345" y="53101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7597" y="5315902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24 页的错字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650230"/>
              <a:ext cx="502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「抛出异常用 throw 子局实现」中的「子局」应为「子句」。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3068955"/>
            <a:chOff x="6248400" y="1524000"/>
            <a:chExt cx="5410200" cy="306895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3068955"/>
            </a:xfrm>
            <a:prstGeom prst="roundRect">
              <a:avLst>
                <a:gd name="adj" fmla="val 310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2284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6.4　read 声明并抛出，main 捕获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67450" y="2221230"/>
              <a:ext cx="537210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67450" y="2541270"/>
              <a:ext cx="5372100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988" y="1935194"/>
              <a:ext cx="3887597" cy="2573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ReadDemo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read(String name)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(name.isEmpty())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"文件名为空"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"读取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read(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"a.txt"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read(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"调用者处理: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ode-2"/>
          <p:cNvGrpSpPr/>
          <p:nvPr/>
        </p:nvGrpSpPr>
        <p:grpSpPr>
          <a:xfrm>
            <a:off x="6248400" y="4768215"/>
            <a:ext cx="5410200" cy="828675"/>
            <a:chOff x="6248400" y="4768215"/>
            <a:chExt cx="5410200" cy="828675"/>
          </a:xfrm>
        </p:grpSpPr>
        <p:sp>
          <p:nvSpPr>
            <p:cNvPr id="31" name="Rectangle 31"/>
            <p:cNvSpPr/>
            <p:nvPr/>
          </p:nvSpPr>
          <p:spPr>
            <a:xfrm>
              <a:off x="6248400" y="4768215"/>
              <a:ext cx="5410200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4920139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988" y="5179409"/>
              <a:ext cx="1250061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读取 a.txt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调用者处理: 文件名为空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声明、抛出、捕获：一个异常经历的三个环节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410200" cy="2791778"/>
            <a:chOff x="533400" y="1524000"/>
            <a:chExt cx="5410200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25 页的示意代码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2697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0612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65760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2723134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method1()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invoke method2;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ex)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捕获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Process exception;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method2()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声明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(an error occurs)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抛出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80560"/>
            <a:ext cx="5410200" cy="1687830"/>
            <a:chOff x="533400" y="4480560"/>
            <a:chExt cx="5410200" cy="1687830"/>
          </a:xfrm>
        </p:grpSpPr>
        <p:sp>
          <p:nvSpPr>
            <p:cNvPr id="14" name="Rectangle 14"/>
            <p:cNvSpPr/>
            <p:nvPr/>
          </p:nvSpPr>
          <p:spPr>
            <a:xfrm>
              <a:off x="533400" y="4480560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61391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6615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46943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47010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发现问题的和解决问题的，可以不是同一个方法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5018246"/>
              <a:ext cx="44589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method2 只负责发现问题并报告，怎么补救交给更了解全局的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method1。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5545931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method1 也可以不捕获，在自己的方法头也写上 throws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Exception，把异常继续往上交，这就是后面要讲的异常传递链。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6248400" y="1533525"/>
            <a:ext cx="5223300" cy="2342769"/>
            <a:chOff x="6248400" y="1533525"/>
            <a:chExt cx="5223300" cy="2342769"/>
          </a:xfrm>
        </p:grpSpPr>
        <p:sp>
          <p:nvSpPr>
            <p:cNvPr id="22" name="Rectangle 22"/>
            <p:cNvSpPr/>
            <p:nvPr/>
          </p:nvSpPr>
          <p:spPr>
            <a:xfrm>
              <a:off x="6381750" y="167640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22802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83273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338613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1564481"/>
              <a:ext cx="1063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 declare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166" y="1818322"/>
              <a:ext cx="46979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method2 在方法头写 throws Exception，告诉所有调用者：调我可能会收到这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种异常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023" y="2310289"/>
              <a:ext cx="945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 throw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2166" y="2565082"/>
              <a:ext cx="4659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错误发生时，method2 执行 throw new Exception()，在抛出点立刻退出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023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166" y="3118485"/>
              <a:ext cx="4201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异常对象回到调用处，也就是 method1 里 invoke method2 那一行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023" y="3416141"/>
              <a:ext cx="90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 catch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166" y="3670935"/>
              <a:ext cx="4809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method1 的 try 块监测到异常，交给匹配的 catch 处理，然后继续往下执行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4037648"/>
            <a:ext cx="5410200" cy="2130742"/>
            <a:chOff x="6248400" y="4037648"/>
            <a:chExt cx="5410200" cy="2130742"/>
          </a:xfrm>
        </p:grpSpPr>
        <p:sp>
          <p:nvSpPr>
            <p:cNvPr id="40" name="Rectangle 40"/>
            <p:cNvSpPr/>
            <p:nvPr/>
          </p:nvSpPr>
          <p:spPr>
            <a:xfrm>
              <a:off x="6248400" y="4037648"/>
              <a:ext cx="5410200" cy="2130742"/>
            </a:xfrm>
            <a:prstGeom prst="roundRect">
              <a:avLst>
                <a:gd name="adj" fmla="val 62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170998"/>
              <a:ext cx="47625" cy="18640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7475" y="421862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4894" y="425148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编译器的检查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1608" y="42591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受检异常必须「要么捕获，要么声明」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0998" y="4575334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method2 如果删掉 throws Exception，javac 报「未报告的异常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错误Exception; 必须对其进行捕获或声明以便抛出」（实测）。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0998" y="5103019"/>
              <a:ext cx="4808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method2 抛的是 RuntimeException 这类不受检异常，这条约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束就不存在，不写 throws 也能编译；method1 不 catch，异常照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样会沿调用链往上走。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6104" cy="909257"/>
            <a:chOff x="520446" y="342900"/>
            <a:chExt cx="7826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6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6.5　ThrowsException：四次调用，三种异常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670935"/>
            <a:chOff x="533400" y="1524000"/>
            <a:chExt cx="5626418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47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catchThowException 方法（原课件第 26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253992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ThrowsException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catchThowException(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ArrayIndexOutOfBoundsException,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ArithmeticException, NullPointerException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System.out.print(str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 == 1)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6 / 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 == 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String s[]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String[5];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s[0].toCharArray();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(str == 3)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a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[5];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a[10] = 10;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"没有发现异常,系统正常执行"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385435"/>
            <a:ext cx="5626418" cy="782955"/>
            <a:chOff x="533400" y="5385435"/>
            <a:chExt cx="5626418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38543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76900"/>
              <a:ext cx="200026" cy="200025"/>
              <a:chOff x="738188" y="567690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769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7213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8324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534025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先别看右下的输出，自己预测：参数 0～3 各走哪个分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支、抛什么异常、main 打印什么，再对照实测结果。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464618" y="1524000"/>
            <a:ext cx="5193982" cy="2791778"/>
            <a:chOff x="6464618" y="1524000"/>
            <a:chExt cx="5193982" cy="2791778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1675924"/>
              <a:ext cx="29941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main（原课件四个 try 写法相同，这里压紧排版）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3015" y="1935956"/>
              <a:ext cx="4092194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ThrowsException te02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ThrowsException();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te02.catchThowException(0);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"异常:"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te02.catchThowException(1);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"异常:"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te02.catchThowException(2);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"异常:"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te02.catchThowException(3);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"异常:"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code-2"/>
          <p:cNvGrpSpPr/>
          <p:nvPr/>
        </p:nvGrpSpPr>
        <p:grpSpPr>
          <a:xfrm>
            <a:off x="6464618" y="4506278"/>
            <a:ext cx="5193982" cy="1442085"/>
            <a:chOff x="6464618" y="4506278"/>
            <a:chExt cx="5193982" cy="1442085"/>
          </a:xfrm>
        </p:grpSpPr>
        <p:sp>
          <p:nvSpPr>
            <p:cNvPr id="22" name="Rectangle 22"/>
            <p:cNvSpPr/>
            <p:nvPr/>
          </p:nvSpPr>
          <p:spPr>
            <a:xfrm>
              <a:off x="6464618" y="4506278"/>
              <a:ext cx="5193982" cy="1442085"/>
            </a:xfrm>
            <a:prstGeom prst="roundRect">
              <a:avLst>
                <a:gd name="adj" fmla="val 66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93015" y="4658201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3205" y="4917043"/>
              <a:ext cx="3253359" cy="945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0 没有发现异常,系统正常执行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 异常:java.lang.ArithmeticException: / by zero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 异常:java.lang.NullPointerException: Cannot invoke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"String.toCharArray()"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because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"&lt;local2&gt;[0]"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 null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3 异常:java.lang.ArrayIndexOutOfBoundsException: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Index 10 out of bounds for length 5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7126" cy="909257"/>
            <a:chOff x="520446" y="342900"/>
            <a:chExt cx="67971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71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6.5 逐次分析：每个 try 只管住一次调用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000250"/>
            <a:chOff x="533400" y="1524000"/>
            <a:chExt cx="605980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8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47151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出错的语句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415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抛出的异常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6345" y="2045494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无，走 else 分支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7570" y="2045494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无，catch 不执行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6345" y="2445544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/ a，a 为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7570" y="2445544"/>
              <a:ext cx="1512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ArithmeticException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6345" y="2845594"/>
              <a:ext cx="1518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s[0].toCharArray()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845594"/>
              <a:ext cx="1531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NullPointerException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634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a[10] = 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17570" y="3245644"/>
              <a:ext cx="2512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ArrayIndexOutOfBoundsException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3442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1565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3693795"/>
            <a:ext cx="6059805" cy="1760220"/>
            <a:chOff x="533400" y="3693795"/>
            <a:chExt cx="6059805" cy="1760220"/>
          </a:xfrm>
        </p:grpSpPr>
        <p:sp>
          <p:nvSpPr>
            <p:cNvPr id="32" name="Rectangle 32"/>
            <p:cNvSpPr/>
            <p:nvPr/>
          </p:nvSpPr>
          <p:spPr>
            <a:xfrm>
              <a:off x="533400" y="3693795"/>
              <a:ext cx="6059805" cy="1760220"/>
            </a:xfrm>
            <a:prstGeom prst="roundRect">
              <a:avLst>
                <a:gd name="adj" fmla="val 757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0090" y="3880485"/>
              <a:ext cx="1335405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6032" y="3913346"/>
              <a:ext cx="12035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为什么要写四个 try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62937" y="3915727"/>
              <a:ext cx="2930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一个异常只会打断它所在的那个 try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232" y="4241482"/>
              <a:ext cx="53972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 1 抛出异常后，第一个 try 结束，程序从下一条语句接着走，所以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 2、3 的调用照样执行。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232" y="4799648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若把四次调用放进同一个 try，参数 1 一出错，后面三次调用都不会执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5623560"/>
            <a:ext cx="6059805" cy="729615"/>
            <a:chOff x="533400" y="5623560"/>
            <a:chExt cx="6059805" cy="729615"/>
          </a:xfrm>
        </p:grpSpPr>
        <p:sp>
          <p:nvSpPr>
            <p:cNvPr id="39" name="Rectangle 39"/>
            <p:cNvSpPr/>
            <p:nvPr/>
          </p:nvSpPr>
          <p:spPr>
            <a:xfrm>
              <a:off x="533400" y="562356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888355"/>
              <a:ext cx="200026" cy="200026"/>
              <a:chOff x="738188" y="588835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8883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9550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9883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770245"/>
              <a:ext cx="50457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String[5] 的元素默认都是 null，所以 s[0].toCharArray()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抛空指针。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898005" y="1524000"/>
            <a:ext cx="4760595" cy="2531745"/>
            <a:chOff x="6898005" y="1524000"/>
            <a:chExt cx="4760595" cy="2531745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2531745"/>
            </a:xfrm>
            <a:prstGeom prst="roundRect">
              <a:avLst>
                <a:gd name="adj" fmla="val 5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22650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22795" y="1710690"/>
              <a:ext cx="110680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94858" y="1743551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版本差异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36089" y="17459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输出和原课件不一样的两行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5937" y="2071688"/>
              <a:ext cx="418852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 行只有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java.lang.NullPointerException。JDK 15 起默认给出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「有用的空指针消息」，指明哪个表达式为 null。用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-g 编译时会显示成 "s[0]"（实测）。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15937" y="3143250"/>
              <a:ext cx="40770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 行是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ArrayIndexOutOfBoundsException: 10，JDK 11 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Index 10 out of bounds for length 5。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4225290"/>
            <a:ext cx="4760595" cy="2127885"/>
            <a:chOff x="6898005" y="4225290"/>
            <a:chExt cx="4760595" cy="2127885"/>
          </a:xfrm>
        </p:grpSpPr>
        <p:sp>
          <p:nvSpPr>
            <p:cNvPr id="54" name="Rectangle 54"/>
            <p:cNvSpPr/>
            <p:nvPr/>
          </p:nvSpPr>
          <p:spPr>
            <a:xfrm>
              <a:off x="6898005" y="4225290"/>
              <a:ext cx="4760595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4358640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22795" y="44119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14514" y="44448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细节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88389" y="4447222"/>
              <a:ext cx="2613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throws 子句其实可以不写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15937" y="4772978"/>
              <a:ext cx="41456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声明的三个异常都是 RuntimeException 的子类，属于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不受检异常，删掉 throws 子句照样编译运行（实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测）。写上只起文档作用。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7080" y="5584031"/>
              <a:ext cx="40368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方法名 catchThowException 少了一个 r，是原课件的拼写，照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29699" cy="909257"/>
            <a:chOff x="520446" y="342900"/>
            <a:chExt cx="70296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29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与 throw：一个是声明，一个是动作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842635" cy="2943226"/>
            <a:chOff x="533400" y="1524000"/>
            <a:chExt cx="5842635" cy="294322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481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874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7665" y="1651635"/>
              <a:ext cx="681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8522" y="1651635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28800" y="1978342"/>
              <a:ext cx="2259330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18144" y="209645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方法声明的方法头中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07180" y="1978342"/>
              <a:ext cx="2259330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96524" y="20964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方法体的内部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088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13635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6612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后面跟着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18144" y="2541270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异常类名，可以多个，用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逗号隔开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96524" y="266128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一个异常对象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3461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18144" y="322611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声明一个方法可能抛出的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所有异常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96524" y="33461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抛出一个具体的异常对象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776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82378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2270" y="40309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18144" y="3910965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一种说明，不一定真的发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96524" y="3910965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具体的执行动作，执行到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就抛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842635" cy="2943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14512" y="1524000"/>
              <a:ext cx="9525" cy="2943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92892" y="1524000"/>
              <a:ext cx="9525" cy="2943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4642485"/>
            <a:ext cx="5842635" cy="729615"/>
            <a:chOff x="533400" y="4642485"/>
            <a:chExt cx="5842635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64248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907280"/>
              <a:ext cx="200026" cy="200025"/>
              <a:chOff x="738188" y="4907280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9072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49517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0628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4788218"/>
              <a:ext cx="47457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记法：throws 带 s，像复数，后面列的是一串异常类；throw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后面只跟一个对象。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680835" y="1524000"/>
            <a:ext cx="4977765" cy="988695"/>
            <a:chOff x="6680835" y="1524000"/>
            <a:chExt cx="4977765" cy="988695"/>
          </a:xfrm>
        </p:grpSpPr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988695"/>
            </a:xfrm>
            <a:prstGeom prst="roundRect">
              <a:avLst>
                <a:gd name="adj" fmla="val 96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9232" y="1675924"/>
              <a:ext cx="2043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反例一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：throw 受检异常却不声明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09422" y="1935194"/>
              <a:ext cx="2775585" cy="493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未报告的异常错误Exception;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    必须对其进行捕获或声明以便抛出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680835" y="2687955"/>
            <a:ext cx="4977765" cy="1148715"/>
            <a:chOff x="6680835" y="2687955"/>
            <a:chExt cx="4977765" cy="1148715"/>
          </a:xfrm>
        </p:grpSpPr>
        <p:sp>
          <p:nvSpPr>
            <p:cNvPr id="45" name="Rectangle 45"/>
            <p:cNvSpPr/>
            <p:nvPr/>
          </p:nvSpPr>
          <p:spPr>
            <a:xfrm>
              <a:off x="6680835" y="2687955"/>
              <a:ext cx="4977765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9232" y="283987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反例二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：重写时声明了更宽的受检异常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09422" y="3099149"/>
              <a:ext cx="345173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FileNotFoundException { } 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 } 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C中的read()无法覆盖P中的read()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    被覆盖的方法未抛出IOException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680835" y="4010978"/>
            <a:ext cx="4977765" cy="1360170"/>
            <a:chOff x="6680835" y="4010978"/>
            <a:chExt cx="4977765" cy="1360170"/>
          </a:xfrm>
        </p:grpSpPr>
        <p:sp>
          <p:nvSpPr>
            <p:cNvPr id="49" name="Rectangle 49"/>
            <p:cNvSpPr/>
            <p:nvPr/>
          </p:nvSpPr>
          <p:spPr>
            <a:xfrm>
              <a:off x="6680835" y="4010978"/>
              <a:ext cx="4977765" cy="1360170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4144328"/>
              <a:ext cx="47625" cy="1093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11340" y="4203382"/>
              <a:ext cx="90392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0401" y="423767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联系第 4 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22704" y="42433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重写的「两小」之一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04482" y="457771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子类重写方法抛出的受检异常只能和超类的一样或更小，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这正是第 4 章重写规则里的那一条。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10395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throw 只能抛 Throwable 子类的对象，throw new String("x") 报「不兼容的类型」；throws 里的受检异常调用者必须处理。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异常传递链：沿调用栈逐级往回找处理者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graph-1"/>
          <p:cNvGrpSpPr/>
          <p:nvPr/>
        </p:nvGrpSpPr>
        <p:grpSpPr>
          <a:xfrm>
            <a:off x="909584" y="1553051"/>
            <a:ext cx="4507726" cy="3881914"/>
            <a:chOff x="909584" y="1553051"/>
            <a:chExt cx="4507726" cy="3881914"/>
          </a:xfrm>
        </p:grpSpPr>
        <p:sp>
          <p:nvSpPr>
            <p:cNvPr id="7" name="Freeform 7"/>
            <p:cNvSpPr/>
            <p:nvPr/>
          </p:nvSpPr>
          <p:spPr>
            <a:xfrm>
              <a:off x="2806065" y="2210752"/>
              <a:ext cx="9525" cy="598170"/>
            </a:xfrm>
            <a:custGeom>
              <a:avLst/>
              <a:gdLst/>
              <a:ahLst/>
              <a:cxnLst/>
              <a:rect l="l" t="t" r="r" b="b"/>
              <a:pathLst>
                <a:path w="9525" h="598170">
                  <a:moveTo>
                    <a:pt x="0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58440" y="28089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06065" y="3285172"/>
              <a:ext cx="9525" cy="599123"/>
            </a:xfrm>
            <a:custGeom>
              <a:avLst/>
              <a:gdLst/>
              <a:ahLst/>
              <a:cxnLst/>
              <a:rect l="l" t="t" r="r" b="b"/>
              <a:pathLst>
                <a:path w="9525" h="599123">
                  <a:moveTo>
                    <a:pt x="0" y="0"/>
                  </a:moveTo>
                  <a:lnTo>
                    <a:pt x="0" y="5991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58440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6065" y="4360545"/>
              <a:ext cx="9525" cy="598170"/>
            </a:xfrm>
            <a:custGeom>
              <a:avLst/>
              <a:gdLst/>
              <a:ahLst/>
              <a:cxnLst/>
              <a:rect l="l" t="t" r="r" b="b"/>
              <a:pathLst>
                <a:path w="9525" h="598170">
                  <a:moveTo>
                    <a:pt x="0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8440" y="49587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77515" y="4431030"/>
              <a:ext cx="228600" cy="622935"/>
            </a:xfrm>
            <a:custGeom>
              <a:avLst/>
              <a:gdLst/>
              <a:ahLst/>
              <a:cxnLst/>
              <a:rect l="l" t="t" r="r" b="b"/>
              <a:pathLst>
                <a:path w="228600" h="622935">
                  <a:moveTo>
                    <a:pt x="0" y="622935"/>
                  </a:moveTo>
                  <a:cubicBezTo>
                    <a:pt x="207645" y="391795"/>
                    <a:pt x="228600" y="184150"/>
                    <a:pt x="62865" y="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2977515" y="4360545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0" y="0"/>
                  </a:moveTo>
                  <a:lnTo>
                    <a:pt x="99060" y="38100"/>
                  </a:lnTo>
                  <a:lnTo>
                    <a:pt x="27622" y="101917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77515" y="3356610"/>
              <a:ext cx="228600" cy="622935"/>
            </a:xfrm>
            <a:custGeom>
              <a:avLst/>
              <a:gdLst/>
              <a:ahLst/>
              <a:cxnLst/>
              <a:rect l="l" t="t" r="r" b="b"/>
              <a:pathLst>
                <a:path w="228600" h="622935">
                  <a:moveTo>
                    <a:pt x="0" y="622935"/>
                  </a:moveTo>
                  <a:cubicBezTo>
                    <a:pt x="207645" y="391160"/>
                    <a:pt x="228600" y="183515"/>
                    <a:pt x="62865" y="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977515" y="328517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0"/>
                  </a:moveTo>
                  <a:lnTo>
                    <a:pt x="99060" y="39053"/>
                  </a:lnTo>
                  <a:lnTo>
                    <a:pt x="27622" y="10287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77515" y="2281238"/>
              <a:ext cx="228600" cy="622935"/>
            </a:xfrm>
            <a:custGeom>
              <a:avLst/>
              <a:gdLst/>
              <a:ahLst/>
              <a:cxnLst/>
              <a:rect l="l" t="t" r="r" b="b"/>
              <a:pathLst>
                <a:path w="228600" h="622935">
                  <a:moveTo>
                    <a:pt x="0" y="622935"/>
                  </a:moveTo>
                  <a:cubicBezTo>
                    <a:pt x="207645" y="391795"/>
                    <a:pt x="228600" y="184150"/>
                    <a:pt x="62865" y="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977515" y="221075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0"/>
                  </a:moveTo>
                  <a:lnTo>
                    <a:pt x="99060" y="39052"/>
                  </a:lnTo>
                  <a:lnTo>
                    <a:pt x="27622" y="10287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19262" y="2020252"/>
              <a:ext cx="658178" cy="9525"/>
            </a:xfrm>
            <a:custGeom>
              <a:avLst/>
              <a:gdLst/>
              <a:ahLst/>
              <a:cxnLst/>
              <a:rect l="l" t="t" r="r" b="b"/>
              <a:pathLst>
                <a:path w="658178" h="9525">
                  <a:moveTo>
                    <a:pt x="65817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624012" y="19726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7262" y="1829752"/>
              <a:ext cx="666750" cy="381000"/>
            </a:xfrm>
            <a:prstGeom prst="roundRect">
              <a:avLst>
                <a:gd name="adj" fmla="val 25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77440" y="1829752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377440" y="2904172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77440" y="3979545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77440" y="5053965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0245" y="1954530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JVM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41181" y="1954530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00183" y="3029902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00183" y="4104323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00183" y="5178742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663190" y="247840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90914" y="250840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663190" y="355377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690914" y="358282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63190" y="462819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90914" y="465820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54505" y="194119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74711" y="197119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无人捕获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12873" y="1553051"/>
              <a:ext cx="1851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情形一：一路都没有 catch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05809" y="5139214"/>
              <a:ext cx="1111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method3 抛出异常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9584" y="2658904"/>
              <a:ext cx="1628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JVM 打印栈轨迹，线程终止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7901940" y="1553051"/>
            <a:ext cx="3245549" cy="3881914"/>
            <a:chOff x="7901940" y="1553051"/>
            <a:chExt cx="3245549" cy="3881914"/>
          </a:xfrm>
        </p:grpSpPr>
        <p:sp>
          <p:nvSpPr>
            <p:cNvPr id="43" name="Freeform 43"/>
            <p:cNvSpPr/>
            <p:nvPr/>
          </p:nvSpPr>
          <p:spPr>
            <a:xfrm>
              <a:off x="8521065" y="2210752"/>
              <a:ext cx="9525" cy="541020"/>
            </a:xfrm>
            <a:custGeom>
              <a:avLst/>
              <a:gdLst/>
              <a:ahLst/>
              <a:cxnLst/>
              <a:rect l="l" t="t" r="r" b="b"/>
              <a:pathLst>
                <a:path w="9525" h="541020">
                  <a:moveTo>
                    <a:pt x="0" y="0"/>
                  </a:moveTo>
                  <a:lnTo>
                    <a:pt x="0" y="5410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73440" y="2751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521065" y="3342322"/>
              <a:ext cx="9525" cy="541973"/>
            </a:xfrm>
            <a:custGeom>
              <a:avLst/>
              <a:gdLst/>
              <a:ahLst/>
              <a:cxnLst/>
              <a:rect l="l" t="t" r="r" b="b"/>
              <a:pathLst>
                <a:path w="9525" h="541973">
                  <a:moveTo>
                    <a:pt x="0" y="0"/>
                  </a:moveTo>
                  <a:lnTo>
                    <a:pt x="0" y="5419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473440" y="3884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521065" y="4360545"/>
              <a:ext cx="9525" cy="598170"/>
            </a:xfrm>
            <a:custGeom>
              <a:avLst/>
              <a:gdLst/>
              <a:ahLst/>
              <a:cxnLst/>
              <a:rect l="l" t="t" r="r" b="b"/>
              <a:pathLst>
                <a:path w="9525" h="598170">
                  <a:moveTo>
                    <a:pt x="0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473440" y="49587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692515" y="4431030"/>
              <a:ext cx="228600" cy="622935"/>
            </a:xfrm>
            <a:custGeom>
              <a:avLst/>
              <a:gdLst/>
              <a:ahLst/>
              <a:cxnLst/>
              <a:rect l="l" t="t" r="r" b="b"/>
              <a:pathLst>
                <a:path w="228600" h="622935">
                  <a:moveTo>
                    <a:pt x="0" y="622935"/>
                  </a:moveTo>
                  <a:cubicBezTo>
                    <a:pt x="207645" y="391795"/>
                    <a:pt x="228600" y="184150"/>
                    <a:pt x="62865" y="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8692515" y="4360545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0" y="0"/>
                  </a:moveTo>
                  <a:lnTo>
                    <a:pt x="99060" y="38100"/>
                  </a:lnTo>
                  <a:lnTo>
                    <a:pt x="27622" y="101917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692515" y="3413760"/>
              <a:ext cx="245745" cy="565785"/>
            </a:xfrm>
            <a:custGeom>
              <a:avLst/>
              <a:gdLst/>
              <a:ahLst/>
              <a:cxnLst/>
              <a:rect l="l" t="t" r="r" b="b"/>
              <a:pathLst>
                <a:path w="245745" h="565785">
                  <a:moveTo>
                    <a:pt x="0" y="565785"/>
                  </a:moveTo>
                  <a:cubicBezTo>
                    <a:pt x="207645" y="334010"/>
                    <a:pt x="245745" y="145415"/>
                    <a:pt x="114300" y="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8743950" y="334232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0"/>
                  </a:moveTo>
                  <a:lnTo>
                    <a:pt x="99060" y="39053"/>
                  </a:lnTo>
                  <a:lnTo>
                    <a:pt x="27622" y="10287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92440" y="1829752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01940" y="2847022"/>
              <a:ext cx="123825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92440" y="3979545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2440" y="5053965"/>
              <a:ext cx="8572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56181" y="1954530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15183" y="2946082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7044" y="3112770"/>
              <a:ext cx="1028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（try-catch）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15183" y="4104323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5183" y="5178742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78190" y="244983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05914" y="247983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378190" y="358235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05914" y="361140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78190" y="462819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05914" y="465820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51131" y="1553051"/>
              <a:ext cx="16047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情形二：method1 捕获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20809" y="5139214"/>
              <a:ext cx="1111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method3 抛出异常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22802" y="2989421"/>
              <a:ext cx="924687" cy="52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处理完，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method1 接着往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下执行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130" y="5991225"/>
              <a:ext cx="9960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方法中产生了异常，方法就在抛出异常的地方退出；不想让方法终止，就在相应的区域用 try 把异常捕获下来。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50664" cy="909257"/>
            <a:chOff x="520446" y="342900"/>
            <a:chExt cx="5650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50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传递链实测：没人接就一路退到 JVM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406140"/>
            <a:chOff x="533400" y="1524000"/>
            <a:chExt cx="5842635" cy="3406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406140"/>
            </a:xfrm>
            <a:prstGeom prst="roundRect">
              <a:avLst>
                <a:gd name="adj" fmla="val 27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52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6.6　c 抛出，b 不管，a 捕获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5107127" cy="291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c()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"c: 抛出"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"磁盘读失败"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"b: 这一行不会执行"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a()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b();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"a: 捕获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"a: 继续执行"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"main: 正常结束"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5115878"/>
            <a:ext cx="5842635" cy="1189672"/>
            <a:chOff x="533400" y="5115878"/>
            <a:chExt cx="5842635" cy="1189672"/>
          </a:xfrm>
        </p:grpSpPr>
        <p:sp>
          <p:nvSpPr>
            <p:cNvPr id="11" name="Rectangle 11"/>
            <p:cNvSpPr/>
            <p:nvPr/>
          </p:nvSpPr>
          <p:spPr>
            <a:xfrm>
              <a:off x="533400" y="5115878"/>
              <a:ext cx="5842635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267801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5528215"/>
              <a:ext cx="1107897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c: 抛出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a: 捕获 磁盘读失败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a: 继续执行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main: 正常结束</a:t>
              </a:r>
            </a:p>
          </p:txBody>
        </p:sp>
      </p:grpSp>
      <p:grpSp>
        <p:nvGrpSpPr>
          <p:cNvPr id="17" name="c2-image-1"/>
          <p:cNvGrpSpPr/>
          <p:nvPr/>
        </p:nvGrpSpPr>
        <p:grpSpPr>
          <a:xfrm>
            <a:off x="7815262" y="1524000"/>
            <a:ext cx="2709862" cy="2347437"/>
            <a:chOff x="7815262" y="1524000"/>
            <a:chExt cx="2709862" cy="2347437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rcRect l="0" t="18746" r="0" b="18747"/>
            <a:stretch>
              <a:fillRect/>
            </a:stretch>
          </p:blipFill>
          <p:spPr>
            <a:xfrm>
              <a:off x="7815262" y="1524000"/>
              <a:ext cx="2709862" cy="2032635"/>
            </a:xfrm>
            <a:prstGeom prst="roundRect">
              <a:avLst>
                <a:gd name="adj" fmla="val 6560"/>
              </a:avLst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957807" y="365140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警示球一层层往上递，直到有人接住</a:t>
              </a:r>
            </a:p>
          </p:txBody>
        </p:sp>
      </p:grpSp>
      <p:grpSp>
        <p:nvGrpSpPr>
          <p:cNvPr id="21" name="c2-code-2"/>
          <p:cNvGrpSpPr/>
          <p:nvPr/>
        </p:nvGrpSpPr>
        <p:grpSpPr>
          <a:xfrm>
            <a:off x="6680835" y="4031932"/>
            <a:ext cx="4977765" cy="1113472"/>
            <a:chOff x="6680835" y="4031932"/>
            <a:chExt cx="4977765" cy="1113472"/>
          </a:xfrm>
        </p:grpSpPr>
        <p:sp>
          <p:nvSpPr>
            <p:cNvPr id="18" name="Rectangle 18"/>
            <p:cNvSpPr/>
            <p:nvPr/>
          </p:nvSpPr>
          <p:spPr>
            <a:xfrm>
              <a:off x="6680835" y="4031932"/>
              <a:ext cx="4977765" cy="1113472"/>
            </a:xfrm>
            <a:prstGeom prst="roundRect">
              <a:avLst>
                <a:gd name="adj" fmla="val 85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9232" y="4183856"/>
              <a:ext cx="3164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对照：a 也不捕获，main 声明 throws IOException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09422" y="4442270"/>
              <a:ext cx="3359277" cy="616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Exception in thread 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"main"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java.io.IOException: 磁盘读失败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Uncaught.c(Uncaught.java:3)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Uncaught.b(Uncaught.java:4)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Uncaught.main(Uncaught.java:6)</a:t>
              </a:r>
            </a:p>
          </p:txBody>
        </p:sp>
      </p:grpSp>
      <p:grpSp>
        <p:nvGrpSpPr>
          <p:cNvPr id="28" name="c2-callout-3"/>
          <p:cNvGrpSpPr/>
          <p:nvPr/>
        </p:nvGrpSpPr>
        <p:grpSpPr>
          <a:xfrm>
            <a:off x="6680835" y="5330190"/>
            <a:ext cx="4977765" cy="974408"/>
            <a:chOff x="6680835" y="5330190"/>
            <a:chExt cx="4977765" cy="974408"/>
          </a:xfrm>
        </p:grpSpPr>
        <p:sp>
          <p:nvSpPr>
            <p:cNvPr id="22" name="Rectangle 22"/>
            <p:cNvSpPr/>
            <p:nvPr/>
          </p:nvSpPr>
          <p:spPr>
            <a:xfrm>
              <a:off x="6680835" y="5330190"/>
              <a:ext cx="4977765" cy="974408"/>
            </a:xfrm>
            <a:prstGeom prst="roundRect">
              <a:avLst>
                <a:gd name="adj" fmla="val 1173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5623" y="5717858"/>
              <a:ext cx="200026" cy="200026"/>
              <a:chOff x="6885623" y="5717858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885623" y="57178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85635" y="5784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74523" y="58178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87946" y="5586889"/>
              <a:ext cx="395490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栈轨迹从下往上读就是调用顺序 main → b → c，第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 at 就是抛出点。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6902" cy="909257"/>
            <a:chOff x="520446" y="342900"/>
            <a:chExt cx="79869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69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6.7　异常处理综合示例：ThrowingExceptions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861560" cy="293370"/>
            <a:chOff x="525780" y="1548765"/>
            <a:chExt cx="48615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注释里方括号中的数字是执行顺序，下一页逐步讲解。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2894648"/>
            <a:chOff x="533400" y="1954530"/>
            <a:chExt cx="5410200" cy="289464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894648"/>
            </a:xfrm>
            <a:prstGeom prst="roundRect">
              <a:avLst>
                <a:gd name="adj" fmla="val 32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8624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前半：main（原课件第 30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49" y="2366867"/>
              <a:ext cx="4080459" cy="2401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ThrowingExceptions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throw1();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[1] [8]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(EOFException eofe)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System.err.println(eofe.getMessage() +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ioe)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System.err.println(ioe.getMessage() +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[9]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System.err.println(e.getMessage() +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[10]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e.printStackTrace();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[11]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034915"/>
            <a:ext cx="5410200" cy="1281112"/>
            <a:chOff x="533400" y="5034915"/>
            <a:chExt cx="5410200" cy="1281112"/>
          </a:xfrm>
        </p:grpSpPr>
        <p:sp>
          <p:nvSpPr>
            <p:cNvPr id="13" name="Rectangle 13"/>
            <p:cNvSpPr/>
            <p:nvPr/>
          </p:nvSpPr>
          <p:spPr>
            <a:xfrm>
              <a:off x="533400" y="5034915"/>
              <a:ext cx="5410200" cy="1281112"/>
            </a:xfrm>
            <a:prstGeom prst="roundRect">
              <a:avLst>
                <a:gd name="adj" fmla="val 89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574983"/>
              <a:ext cx="200026" cy="200026"/>
              <a:chOff x="738188" y="557498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5749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641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6749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182076"/>
              <a:ext cx="4423791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左右两栏是同一个文件，右栏接在左栏后面。main 的三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catch 从具体到宽泛：EOFException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 的子类，IOException 又是 Exception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54530"/>
            <a:ext cx="5410200" cy="2894648"/>
            <a:chOff x="6248400" y="1954530"/>
            <a:chExt cx="5410200" cy="2894648"/>
          </a:xfrm>
        </p:grpSpPr>
        <p:sp>
          <p:nvSpPr>
            <p:cNvPr id="20" name="Rectangle 20"/>
            <p:cNvSpPr/>
            <p:nvPr/>
          </p:nvSpPr>
          <p:spPr>
            <a:xfrm>
              <a:off x="6248400" y="1954530"/>
              <a:ext cx="5410200" cy="2894648"/>
            </a:xfrm>
            <a:prstGeom prst="roundRect">
              <a:avLst>
                <a:gd name="adj" fmla="val 32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06454"/>
              <a:ext cx="2749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后半：throw1 与 throw2（原课件第 31 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949" y="2366867"/>
              <a:ext cx="3823792" cy="2401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throw1()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[7]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throw2();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[2]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throw2()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[6]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"方法二"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[3]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"在方法二中抛出"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[4]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(RuntimeException re)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"在方法二的捕获中抛出"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"finally总是执行的"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[5]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5034915"/>
            <a:ext cx="5410200" cy="1281112"/>
            <a:chOff x="6248400" y="5034915"/>
            <a:chExt cx="5410200" cy="1281112"/>
          </a:xfrm>
        </p:grpSpPr>
        <p:sp>
          <p:nvSpPr>
            <p:cNvPr id="24" name="Rectangle 24"/>
            <p:cNvSpPr/>
            <p:nvPr/>
          </p:nvSpPr>
          <p:spPr>
            <a:xfrm>
              <a:off x="6248400" y="5034915"/>
              <a:ext cx="5410200" cy="1281112"/>
            </a:xfrm>
            <a:prstGeom prst="roundRect">
              <a:avLst>
                <a:gd name="adj" fmla="val 892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41129" y="5571291"/>
              <a:ext cx="224134" cy="192560"/>
              <a:chOff x="6441129" y="5571291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53200" y="56416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41129" y="55712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53200" y="57194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511" y="5313521"/>
              <a:ext cx="425246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先自己想一想：throw2 的 catch 只接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RuntimeException，它接得住第 [4] 步抛出的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Exception 吗？finally 和 main 的 catch 谁先打印？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4590" cy="909257"/>
            <a:chOff x="520446" y="342900"/>
            <a:chExt cx="65945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45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6.7 执行顺序：finally 先于外层 catch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5842635" cy="4051935"/>
            <a:chOff x="533400" y="1524000"/>
            <a:chExt cx="5842635" cy="4051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74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851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5315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34452" y="2054066"/>
              <a:ext cx="9786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→ throw1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throw2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95588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逐层调用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4452" y="265985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的 try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95588" y="2659856"/>
              <a:ext cx="22332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打印「方法二」（System.out）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34452" y="306562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的 try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5588" y="3065621"/>
              <a:ext cx="2760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 一个 Exception，try 块在此中断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34452" y="3471386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的 catch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5588" y="3471386"/>
              <a:ext cx="301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 不匹配 Exception，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跳过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480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3877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34452" y="3877151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的 finally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705100" y="3762375"/>
              <a:ext cx="36623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95588" y="3877151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打印「finally总是执行的」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38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861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28291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34452" y="4282916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方法头的 throws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95588" y="4282916"/>
              <a:ext cx="3524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异常没被处理，throw2、throw1 依次在调用点退出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596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7886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4452" y="4788694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的 catch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95588" y="4688681"/>
              <a:ext cx="29415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EOFException、IOException 都不匹配，落到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(Exception e)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65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7017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529447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34452" y="5294471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的 catch 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95588" y="529447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打印提示信息和一个空行，再打印栈轨迹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5842635" cy="4051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229678" y="1524000"/>
              <a:ext cx="9525" cy="4051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690812" y="1524000"/>
              <a:ext cx="9525" cy="4051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ode-1"/>
          <p:cNvGrpSpPr/>
          <p:nvPr/>
        </p:nvGrpSpPr>
        <p:grpSpPr>
          <a:xfrm>
            <a:off x="6680835" y="1524000"/>
            <a:ext cx="4977765" cy="1788795"/>
            <a:chOff x="6680835" y="1524000"/>
            <a:chExt cx="4977765" cy="1788795"/>
          </a:xfrm>
        </p:grpSpPr>
        <p:sp>
          <p:nvSpPr>
            <p:cNvPr id="50" name="Rectangle 50"/>
            <p:cNvSpPr/>
            <p:nvPr/>
          </p:nvSpPr>
          <p:spPr>
            <a:xfrm>
              <a:off x="6680835" y="1524000"/>
              <a:ext cx="4977765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9232" y="167592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09422" y="1935194"/>
              <a:ext cx="3697605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方法二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finally总是执行的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在方法二中抛出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java.lang.Exception: 在方法二中抛出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ThrowingExceptions.throw2(ThrowingExceptions.java:21)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ThrowingExceptions.throw1(ThrowingExceptions.java:16)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at ThrowingExceptions.main(ThrowingExceptions.java:5)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488055"/>
            <a:ext cx="4977765" cy="2514600"/>
            <a:chOff x="6680835" y="3488055"/>
            <a:chExt cx="4977765" cy="2514600"/>
          </a:xfrm>
        </p:grpSpPr>
        <p:sp>
          <p:nvSpPr>
            <p:cNvPr id="54" name="Rectangle 54"/>
            <p:cNvSpPr/>
            <p:nvPr/>
          </p:nvSpPr>
          <p:spPr>
            <a:xfrm>
              <a:off x="6680835" y="3488055"/>
              <a:ext cx="4977765" cy="2514600"/>
            </a:xfrm>
            <a:prstGeom prst="roundRect">
              <a:avLst>
                <a:gd name="adj" fmla="val 530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73240" y="36804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64680" y="37147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56932" y="3719512"/>
              <a:ext cx="3337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finally 比 main 的 catch 先打印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66382" y="405384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finally 属于 throw2 自己的 try 语句。异常要离开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throw2，必须先执行完 throw2 的 finally，然后才轮得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到外层的 catch。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66382" y="4871085"/>
              <a:ext cx="38799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throw2 的 catch 没接住异常，finally 照样执行：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finally 执不执行，与有没有 catch 匹配无关。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67525" y="5426869"/>
              <a:ext cx="43995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栈轨迹里第 21 行是 throw 语句，第 16 行是 throw1 调 throw2，第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行是 main 调 throw1。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99562" cy="909257"/>
            <a:chOff x="520446" y="342900"/>
            <a:chExt cx="52995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317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435" y="407194"/>
              <a:ext cx="244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6.2 异常处理方法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995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改一处看变化：例 6.7 的三个变式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11125200" cy="2360295"/>
            <a:chOff x="533400" y="1524000"/>
            <a:chExt cx="11125200" cy="2360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45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71699" y="1655445"/>
              <a:ext cx="1581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结果（JDK 21 实测）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888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286245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catch (Exception e) 挪到 main 的第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catch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80485" y="1964055"/>
              <a:ext cx="3763328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76307" y="2085022"/>
              <a:ext cx="32964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编译错误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：已捕获到异常错误EOFException、已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捕获到异常错误IOException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58684" y="2191702"/>
              <a:ext cx="2814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后两个 catch 永远轮不到，编译器拒绝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592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9746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728912"/>
              <a:ext cx="181241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改为 throw new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RuntimeException(...)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6307" y="2728912"/>
              <a:ext cx="3425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/ 在方法二的捕获中抛出 / finally总是执行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58684" y="2728912"/>
              <a:ext cx="36088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自己的 catch 匹配，异常就地处理，main 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都不执行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2802"/>
              <a:ext cx="232676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throw2 改为 throw new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EOFException("读到文件末尾")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76307" y="3479482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/ finally总是执行的 / 读到文件末尾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8684" y="3479482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的第一个 catch 就匹配，不打印栈轨迹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1112520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6619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48575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070032"/>
            <a:ext cx="11125200" cy="1603058"/>
            <a:chOff x="533400" y="4070032"/>
            <a:chExt cx="11125200" cy="1603058"/>
          </a:xfrm>
        </p:grpSpPr>
        <p:sp>
          <p:nvSpPr>
            <p:cNvPr id="28" name="Rectangle 28"/>
            <p:cNvSpPr/>
            <p:nvPr/>
          </p:nvSpPr>
          <p:spPr>
            <a:xfrm>
              <a:off x="533400" y="4070032"/>
              <a:ext cx="11125200" cy="1603058"/>
            </a:xfrm>
            <a:prstGeom prst="roundRect">
              <a:avLst>
                <a:gd name="adj" fmla="val 8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203382"/>
              <a:ext cx="47625" cy="13363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27386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4842" y="430958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原课件的思考题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7309" y="4313396"/>
              <a:ext cx="3871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「Exception e 捕获提前会发生什么现象？」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4665821"/>
              <a:ext cx="99061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答案就是表中第一行：编译不通过。catch (Exception e) 写在最前面会接走所有异常，编译器发现后面的 EOFException、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 分支不可能执行，逐个报「已捕获到异常错误」。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5" name="Rectangle 3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04084"/>
              <a:ext cx="103515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输出里「方法二」走 System.out，其余走 System.err。两条流各自缓冲，在控制台里的先后偶尔会和代码顺序不一致。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024884" cy="2643187"/>
            <a:chOff x="667512" y="1835468"/>
            <a:chExt cx="402488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520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自定义异常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标准异常说不清的情况，就自己定义一个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707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 Exception 得到受检异常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83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 RuntimeException 得到不受检异常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6.3 自定义异常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自定义异常的创建：继承一个现有的异常类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26820"/>
            <a:chOff x="533400" y="1524000"/>
            <a:chExt cx="5626418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在现有异常类的基础上创建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可以在 Java 类库中现有异常类的基础上由用户创建新的异常类，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新的异常类要用 extends 子句声明为 Exception 类的子类。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2926080"/>
            <a:ext cx="5626418" cy="1308735"/>
            <a:chOff x="533400" y="2926080"/>
            <a:chExt cx="5626418" cy="1308735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5626418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078004"/>
              <a:ext cx="25425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6.8　MyException（原课件第 33 页）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88" y="3337274"/>
              <a:ext cx="2775585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MyException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MyException(String errorMessage)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(errorMessage);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1-bullets-3"/>
          <p:cNvGrpSpPr/>
          <p:nvPr/>
        </p:nvGrpSpPr>
        <p:grpSpPr>
          <a:xfrm>
            <a:off x="526542" y="4431982"/>
            <a:ext cx="5710866" cy="1463231"/>
            <a:chOff x="526542" y="4431982"/>
            <a:chExt cx="5710866" cy="1463231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44319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写法要点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478059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382" y="4752022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构造方法调用 super(errorMessage)，提示信息交给 Throwable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保存，之后 getMessage() 就能取到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534828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0382" y="5319712"/>
              <a:ext cx="2255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类名习惯以 Exception 结尾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565975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0382" y="5631180"/>
              <a:ext cx="5467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参数名按 Java 命名习惯写成小写开头（原课件是 ErrorMessage）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464618" y="1524000"/>
            <a:ext cx="5193982" cy="1217295"/>
            <a:chOff x="6464618" y="1524000"/>
            <a:chExt cx="5193982" cy="121729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1570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243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得到的是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14432" y="16483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调用者必须处理吗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4630" y="2054066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056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受检异常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798368" y="1939290"/>
              <a:ext cx="185070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88855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是，捕获或声明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4630" y="2459831"/>
              <a:ext cx="1366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0565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不受检异常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8885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25790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84080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ode-2"/>
          <p:cNvGrpSpPr/>
          <p:nvPr/>
        </p:nvGrpSpPr>
        <p:grpSpPr>
          <a:xfrm>
            <a:off x="6464618" y="2916555"/>
            <a:ext cx="5193982" cy="1468755"/>
            <a:chOff x="6464618" y="2916555"/>
            <a:chExt cx="5193982" cy="1468755"/>
          </a:xfrm>
        </p:grpSpPr>
        <p:sp>
          <p:nvSpPr>
            <p:cNvPr id="43" name="Rectangle 43"/>
            <p:cNvSpPr/>
            <p:nvPr/>
          </p:nvSpPr>
          <p:spPr>
            <a:xfrm>
              <a:off x="6464618" y="2916555"/>
              <a:ext cx="5193982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93015" y="306847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不受检的自定义异常（实测）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93205" y="3327749"/>
              <a:ext cx="3334385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BadInputException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RuntimeException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BadInputException(String msg)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(msg);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parse("") 里 throw new BadInputException("输入为空")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方法头不写 throws 也能编译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捕获后打印：BadInputException: 输入为空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464618" y="4559618"/>
            <a:ext cx="5193982" cy="1483995"/>
            <a:chOff x="6464618" y="4559618"/>
            <a:chExt cx="5193982" cy="1483995"/>
          </a:xfrm>
        </p:grpSpPr>
        <p:sp>
          <p:nvSpPr>
            <p:cNvPr id="47" name="Rectangle 47"/>
            <p:cNvSpPr/>
            <p:nvPr/>
          </p:nvSpPr>
          <p:spPr>
            <a:xfrm>
              <a:off x="6464618" y="4559618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69296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475202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66560" y="47863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常见的构造方法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45564" y="479202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一般提供两到三个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5126355"/>
              <a:ext cx="42228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无参；带 String message；带 message 和 Throwable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cause。最后一种用来把底层异常包起来往上报，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getCause() 可以取回原来那个。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6.3 自定义异常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自定义异常的抛出与捕获：和标准异常用法一样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83995"/>
            <a:chOff x="533400" y="1524000"/>
            <a:chExt cx="5410200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与已有的异常类基本相同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定义异常类的代码写在程序中，与其他类定义并列，成为程序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的一部分。使用时与已有的异常类基本相同，只是在 throw 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句中 new 的是自己的类。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183255"/>
            <a:ext cx="5410200" cy="2108835"/>
            <a:chOff x="533400" y="3183255"/>
            <a:chExt cx="5410200" cy="2108835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5410200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335179"/>
              <a:ext cx="15512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用上一页的 MyException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88" y="3594449"/>
              <a:ext cx="3261741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check(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age)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MyException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(age &lt; 0)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MyException(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"年龄不能为负: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age);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"年龄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age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合法"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里：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check(20); check(-3); 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(MyException e)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"捕获: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ode-3"/>
          <p:cNvGrpSpPr/>
          <p:nvPr/>
        </p:nvGrpSpPr>
        <p:grpSpPr>
          <a:xfrm>
            <a:off x="533400" y="5466398"/>
            <a:ext cx="5410200" cy="828675"/>
            <a:chOff x="533400" y="5466398"/>
            <a:chExt cx="5410200" cy="828675"/>
          </a:xfrm>
        </p:grpSpPr>
        <p:sp>
          <p:nvSpPr>
            <p:cNvPr id="18" name="Rectangle 18"/>
            <p:cNvSpPr/>
            <p:nvPr/>
          </p:nvSpPr>
          <p:spPr>
            <a:xfrm>
              <a:off x="533400" y="5466398"/>
              <a:ext cx="5410200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5618321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88" y="5878544"/>
              <a:ext cx="1272413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年龄 20 合法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捕获: 年龄不能为负: -3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2514600"/>
            <a:chOff x="6248400" y="1524000"/>
            <a:chExt cx="5410200" cy="25146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2514600"/>
            </a:xfrm>
            <a:prstGeom prst="roundRect">
              <a:avLst>
                <a:gd name="adj" fmla="val 5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2247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62597" y="1756410"/>
              <a:ext cx="4221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原课件写的 throw new MyException( ) 编译不过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2047" y="2090738"/>
              <a:ext cx="48057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33 页的 MyException 只定义了带 String 参数的构造方法，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编译器不再生成无参构造方法。照第 34 页写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MyException( 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，javac 报：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3190" y="2903696"/>
              <a:ext cx="47480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错误: 无法将类 MyException中的构造器 MyException应用到给定类型; 需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要: String 找到: 没有参数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2047" y="3377565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要么传一个提示信息，要么给 MyException 补一个无参构造方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248400" y="4213860"/>
            <a:ext cx="5410200" cy="729615"/>
            <a:chOff x="6248400" y="4213860"/>
            <a:chExt cx="5410200" cy="729615"/>
          </a:xfrm>
        </p:grpSpPr>
        <p:sp>
          <p:nvSpPr>
            <p:cNvPr id="31" name="Rectangle 31"/>
            <p:cNvSpPr/>
            <p:nvPr/>
          </p:nvSpPr>
          <p:spPr>
            <a:xfrm>
              <a:off x="6248400" y="421386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4478657"/>
              <a:ext cx="200023" cy="200023"/>
              <a:chOff x="6453188" y="4478657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44786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86538" y="45453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892" y="4359592"/>
              <a:ext cx="43599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MyException 继承 Exception，是受检异常，所以 check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的方法头必须写 throws MyException。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248400" y="5117782"/>
            <a:ext cx="5410200" cy="1177290"/>
            <a:chOff x="6248400" y="5117782"/>
            <a:chExt cx="5410200" cy="1177290"/>
          </a:xfrm>
        </p:grpSpPr>
        <p:sp>
          <p:nvSpPr>
            <p:cNvPr id="37" name="Rectangle 37"/>
            <p:cNvSpPr/>
            <p:nvPr/>
          </p:nvSpPr>
          <p:spPr>
            <a:xfrm>
              <a:off x="6248400" y="5117782"/>
              <a:ext cx="5410200" cy="1177290"/>
            </a:xfrm>
            <a:prstGeom prst="roundRect">
              <a:avLst>
                <a:gd name="adj" fmla="val 970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606415"/>
              <a:ext cx="200026" cy="200025"/>
              <a:chOff x="6453188" y="560641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56064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92926" y="56508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27642" y="57619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892" y="548830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这条「写了带参构造方法就没有默认无参构造方法」的规则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在第 3 章讲过，对异常类同样成立。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6.3 自定义异常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6.9　最简单的自定义异常：类体可以是空的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065145"/>
            <a:chOff x="533400" y="1524000"/>
            <a:chExt cx="6059805" cy="3065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065145"/>
            </a:xfrm>
            <a:prstGeom prst="roundRect">
              <a:avLst>
                <a:gd name="adj" fmla="val 31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92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35 页的程序（已补分号）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900238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582228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4211777" cy="2571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SimpleException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 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SimpleExceptionDemo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SimpleException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"Throwing SimpleException from f()"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SimpleException();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SimpleExceptionDemo sed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SimpleExceptionDemo();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sed.f();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(SimpleException 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System.err.println(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"Caught it!"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774882"/>
            <a:ext cx="6059805" cy="847725"/>
            <a:chOff x="533400" y="4774882"/>
            <a:chExt cx="6059805" cy="847725"/>
          </a:xfrm>
        </p:grpSpPr>
        <p:sp>
          <p:nvSpPr>
            <p:cNvPr id="13" name="Rectangle 13"/>
            <p:cNvSpPr/>
            <p:nvPr/>
          </p:nvSpPr>
          <p:spPr>
            <a:xfrm>
              <a:off x="533400" y="4774882"/>
              <a:ext cx="6059805" cy="847725"/>
            </a:xfrm>
            <a:prstGeom prst="roundRect">
              <a:avLst>
                <a:gd name="adj" fmla="val 112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926806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49" y="5187220"/>
              <a:ext cx="2176348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Throwing SimpleException from f()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Caught it!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898005" y="1524000"/>
            <a:ext cx="4760595" cy="2156460"/>
            <a:chOff x="6898005" y="1524000"/>
            <a:chExt cx="4760595" cy="2156460"/>
          </a:xfrm>
        </p:grpSpPr>
        <p:sp>
          <p:nvSpPr>
            <p:cNvPr id="17" name="Rectangle 17"/>
            <p:cNvSpPr/>
            <p:nvPr/>
          </p:nvSpPr>
          <p:spPr>
            <a:xfrm>
              <a:off x="6898005" y="1524000"/>
              <a:ext cx="4760595" cy="2156460"/>
            </a:xfrm>
            <a:prstGeom prst="roundRect">
              <a:avLst>
                <a:gd name="adj" fmla="val 618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01840" y="1727835"/>
              <a:ext cx="245840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27189" y="1763554"/>
              <a:ext cx="2406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 new SimpleException()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4601" y="21007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空类体有默认构造方法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4601" y="2439829"/>
              <a:ext cx="418033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SimpleException 一个构造方法都没写，编译器自动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生成无参构造方法，它会调用 Exception()。所以这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 new 不带参数没问题，和上一页的 MyException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正好相反。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865245"/>
            <a:ext cx="4760595" cy="2476500"/>
            <a:chOff x="6898005" y="3865245"/>
            <a:chExt cx="4760595" cy="2476500"/>
          </a:xfrm>
        </p:grpSpPr>
        <p:sp>
          <p:nvSpPr>
            <p:cNvPr id="23" name="Rectangle 23"/>
            <p:cNvSpPr/>
            <p:nvPr/>
          </p:nvSpPr>
          <p:spPr>
            <a:xfrm>
              <a:off x="6898005" y="3865245"/>
              <a:ext cx="4760595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3998595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39940" y="4069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30148" y="4104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0396" y="4109561"/>
              <a:ext cx="22673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35 页的三处出入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39940" y="444912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8285" y="44885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9881" y="4461034"/>
              <a:ext cx="37114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println("Throwing SimpleException from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f()") 后面少了分号，javac 报「需要';'」。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139940" y="5040630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98285" y="50800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9881" y="5052536"/>
              <a:ext cx="34319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输出框写成 Throw SimpleException from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f()，实际打印的是代码里的 Throwing。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139940" y="563213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98285" y="56715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9881" y="5644039"/>
              <a:ext cx="38106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输出框里 Caught it 后面是中文感叹号，实际是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英文的 !。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6.3 自定义异常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6.10　余额不足：让异常带上额外的数据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276022" cy="3576638"/>
            <a:chOff x="533400" y="1524000"/>
            <a:chExt cx="6276022" cy="3576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576638"/>
            </a:xfrm>
            <a:prstGeom prst="roundRect">
              <a:avLst>
                <a:gd name="adj" fmla="val 26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异常类与账户类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70735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411730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117658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49" y="1936337"/>
              <a:ext cx="4474413" cy="3083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InsufficientFundsException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shortfall;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InsufficientFundsException(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shortfall)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"余额不足，还差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shortfall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元"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.shortfall = shortfall;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getShortfall()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shortfall;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Account(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balance)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.balance = balance;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withdraw(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InsufficientFundsException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(amount &gt; balance)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InsufficientFundsException(amount - balance);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balance -= amount;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"取出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amount +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"，余额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balance);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5286375"/>
            <a:ext cx="6276022" cy="1018222"/>
            <a:chOff x="533400" y="5286375"/>
            <a:chExt cx="6276022" cy="1018222"/>
          </a:xfrm>
        </p:grpSpPr>
        <p:sp>
          <p:nvSpPr>
            <p:cNvPr id="14" name="Rectangle 14"/>
            <p:cNvSpPr/>
            <p:nvPr/>
          </p:nvSpPr>
          <p:spPr>
            <a:xfrm>
              <a:off x="533400" y="5286375"/>
              <a:ext cx="627602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695950"/>
              <a:ext cx="200026" cy="200026"/>
              <a:chOff x="738188" y="569595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6959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762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7959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433536"/>
              <a:ext cx="527138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构造方法先 super(提示信息) 交给 Exception 保存，再给自己的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字段赋值。继承的是 Exception，所以 withdraw 的方法头必须写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7114222" y="1524000"/>
            <a:ext cx="4544378" cy="2042160"/>
            <a:chOff x="7114222" y="1524000"/>
            <a:chExt cx="4544378" cy="2042160"/>
          </a:xfrm>
        </p:grpSpPr>
        <p:sp>
          <p:nvSpPr>
            <p:cNvPr id="21" name="Rectangle 21"/>
            <p:cNvSpPr/>
            <p:nvPr/>
          </p:nvSpPr>
          <p:spPr>
            <a:xfrm>
              <a:off x="7114222" y="1524000"/>
              <a:ext cx="4544378" cy="2042160"/>
            </a:xfrm>
            <a:prstGeom prst="roundRect">
              <a:avLst>
                <a:gd name="adj" fmla="val 46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42620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2772" y="1936337"/>
              <a:ext cx="3465652" cy="1548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Account acc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Account(500);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acc.withdraw(200);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acc.withdraw(400);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"这一行不会执行"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(InsufficientFundsException e)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System.out.println(e.getMessage());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"差额 =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e.getShortfall());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ode-2"/>
          <p:cNvGrpSpPr/>
          <p:nvPr/>
        </p:nvGrpSpPr>
        <p:grpSpPr>
          <a:xfrm>
            <a:off x="7114222" y="3750945"/>
            <a:ext cx="4544378" cy="1018222"/>
            <a:chOff x="7114222" y="3750945"/>
            <a:chExt cx="4544378" cy="1018222"/>
          </a:xfrm>
        </p:grpSpPr>
        <p:sp>
          <p:nvSpPr>
            <p:cNvPr id="25" name="Rectangle 25"/>
            <p:cNvSpPr/>
            <p:nvPr/>
          </p:nvSpPr>
          <p:spPr>
            <a:xfrm>
              <a:off x="7114222" y="3750945"/>
              <a:ext cx="4544378" cy="1018222"/>
            </a:xfrm>
            <a:prstGeom prst="roundRect">
              <a:avLst>
                <a:gd name="adj" fmla="val 93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42620" y="3902869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21 实测）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42772" y="4163282"/>
              <a:ext cx="1424254" cy="525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取出 200.0，余额 300.0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余额不足，还差 100.0 元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差额 = 100.0</a:t>
              </a:r>
            </a:p>
          </p:txBody>
        </p:sp>
      </p:grpSp>
      <p:grpSp>
        <p:nvGrpSpPr>
          <p:cNvPr id="35" name="c2-card-3"/>
          <p:cNvGrpSpPr/>
          <p:nvPr/>
        </p:nvGrpSpPr>
        <p:grpSpPr>
          <a:xfrm>
            <a:off x="7114222" y="4954905"/>
            <a:ext cx="4544378" cy="1349692"/>
            <a:chOff x="7114222" y="4954905"/>
            <a:chExt cx="4544378" cy="1349692"/>
          </a:xfrm>
        </p:grpSpPr>
        <p:sp>
          <p:nvSpPr>
            <p:cNvPr id="29" name="Rectangle 29"/>
            <p:cNvSpPr/>
            <p:nvPr/>
          </p:nvSpPr>
          <p:spPr>
            <a:xfrm>
              <a:off x="7114222" y="4954905"/>
              <a:ext cx="4544378" cy="1349692"/>
            </a:xfrm>
            <a:prstGeom prst="roundRect">
              <a:avLst>
                <a:gd name="adj" fmla="val 98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3748" y="5088255"/>
              <a:ext cx="47625" cy="10829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56158" y="515874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29614" y="51944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自定义的好处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6208" y="519922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调用方拿到的是结构化的信息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48918" y="5550694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差额存在字段里，调用方可以据此提示用户充值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多少，不必从提示字符串里解析数字。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5549" cy="909257"/>
            <a:chOff x="520446" y="342900"/>
            <a:chExt cx="67755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 · 6.3 自定义异常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55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异常处理机制的优点，和几条用法建议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bullets-1"/>
          <p:cNvGrpSpPr/>
          <p:nvPr/>
        </p:nvGrpSpPr>
        <p:grpSpPr>
          <a:xfrm>
            <a:off x="525780" y="1548765"/>
            <a:ext cx="5321618" cy="2312670"/>
            <a:chOff x="525780" y="1548765"/>
            <a:chExt cx="5321618" cy="23126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原课件总结的五个优点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08" y="190309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把各种不同的异常事件进行分类，体现了良好的层次性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24790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处理异常的代码和常规代码分开，减少代码，增强可读性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6241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25927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异常事件可以沿调用栈自动向上传播，不必通过函数返回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值传播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25469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32232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可以统一或分别处理具有相同父类的异常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59949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908" y="35680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为具有动态运行特性的复杂程序提供了有力的控制方式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992880"/>
            <a:ext cx="5410200" cy="1130618"/>
            <a:chOff x="533400" y="3992880"/>
            <a:chExt cx="5410200" cy="1130618"/>
          </a:xfrm>
        </p:grpSpPr>
        <p:sp>
          <p:nvSpPr>
            <p:cNvPr id="19" name="Rectangle 19"/>
            <p:cNvSpPr/>
            <p:nvPr/>
          </p:nvSpPr>
          <p:spPr>
            <a:xfrm>
              <a:off x="533400" y="3992880"/>
              <a:ext cx="5410200" cy="1130618"/>
            </a:xfrm>
            <a:prstGeom prst="roundRect">
              <a:avLst>
                <a:gd name="adj" fmla="val 1011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458653"/>
              <a:ext cx="200026" cy="200026"/>
              <a:chOff x="738188" y="445865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4586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5253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45586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177665"/>
              <a:ext cx="4225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第四条对应 catch 的匹配规则：写 catch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(IOException e) 就把 FileNotFoundException、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EOFException 等子类一起处理了。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3599498"/>
            <a:chOff x="6248400" y="1524000"/>
            <a:chExt cx="5410200" cy="359949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954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005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57925" y="1982152"/>
              <a:ext cx="2631758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6223" y="2221706"/>
              <a:ext cx="1426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块不要留空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7030" y="2108359"/>
              <a:ext cx="2345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 catch 把错误吞掉，出了问题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无从查起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6223" y="28970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捕获尽量具体的类型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07030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(Exception e) 会连意料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之外的错误一起接走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6223" y="35723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不要用异常控制正常流程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07030" y="3459004"/>
              <a:ext cx="21993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 if 判断的越界、空值先判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断，异常留给真正的意外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994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99954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6223" y="4134326"/>
              <a:ext cx="223311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资源用 try-with-resources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7030" y="4247674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比手写 finally 更短，也不会漏关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6701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4810601"/>
              <a:ext cx="2115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包装底层异常时带上 cause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07030" y="481060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保留原始的栈轨迹，方便追查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894445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88799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catch 里至少做一件事：打印或记录 e、改用一个合理的默认值，或者包装成更合适的异常再抛出。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383458" cy="264033"/>
            <a:chOff x="526542" y="1545907"/>
            <a:chExt cx="938345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383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先自己写答案，再对照。第 3、4 题这类编译错误常以「下列代码能否通过编译」的形式考，都在 JDK 21 上验证过。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3074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与 Error 的区别是什么？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301409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是经过处理有可能恢复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的非致命事件；Error 是 JVM 抛出的严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重错误，通常无法恢复，程序一般不捕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获它。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88678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(Exception e) 写在 catch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(ArithmeticException e) 前面会怎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444490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编译报错：已捕获到异常错误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ArithmeticException。catch 要先子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类后超类。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743075"/>
            <a:chOff x="4343400" y="1928812"/>
            <a:chExt cx="3505200" cy="174307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哪些异常属于不受检异常？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2759392"/>
              <a:ext cx="29369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 及其子类、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 及其子类。其余都是受检异常，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编译器强制捕获或声明。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41432"/>
            <a:ext cx="3505200" cy="2514600"/>
            <a:chOff x="4343400" y="3841432"/>
            <a:chExt cx="3505200" cy="2514600"/>
          </a:xfrm>
        </p:grpSpPr>
        <p:sp>
          <p:nvSpPr>
            <p:cNvPr id="27" name="Rectangle 27"/>
            <p:cNvSpPr/>
            <p:nvPr/>
          </p:nvSpPr>
          <p:spPr>
            <a:xfrm>
              <a:off x="4343400" y="3841432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372928"/>
              <a:ext cx="28799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和 throw 分别写在哪里、后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面跟什么？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4930140"/>
              <a:ext cx="28940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写在方法头，后面跟一个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或多个异常类名；throw 写在方法体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里，后面跟一个异常对象。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257425"/>
            <a:chOff x="8153400" y="1928812"/>
            <a:chExt cx="3505200" cy="22574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70933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方法里 throw new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IOException("x")，方法头不写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throws，也没有 try，结果如何？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273742"/>
              <a:ext cx="28597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编译报错：未报告的异常错误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IOException; 必须对其进行捕获或声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明以便抛出。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355782"/>
            <a:ext cx="3505200" cy="2000250"/>
            <a:chOff x="8153400" y="4355782"/>
            <a:chExt cx="350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88727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自定义异常想让调用者不必强制处理，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应该继承哪个类？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444490"/>
              <a:ext cx="2414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RuntimeException。继承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得到的是受检异常。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自测（二）：读程序写输出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025968"/>
            <a:chOff x="533400" y="1524000"/>
            <a:chExt cx="350520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95660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初值 "A"。try 里依次执行 s +=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"B"、1 / 0、s += "C"；catch 算术异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常时 s += "D"；finally 里 s += "E"。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 s + "F" 是？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3147060"/>
              <a:ext cx="3200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ABDEF。除零后 s += "C" 不执行。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25228"/>
            <a:ext cx="3505200" cy="2283142"/>
            <a:chOff x="533400" y="3725228"/>
            <a:chExt cx="3505200" cy="2283142"/>
          </a:xfrm>
        </p:grpSpPr>
        <p:sp>
          <p:nvSpPr>
            <p:cNvPr id="13" name="Rectangle 13"/>
            <p:cNvSpPr/>
            <p:nvPr/>
          </p:nvSpPr>
          <p:spPr>
            <a:xfrm>
              <a:off x="533400" y="3725228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274820"/>
              <a:ext cx="238101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x = 1; try { return x; }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{ x = 2; } 返回几？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29712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1。返回值在执行 finally 前已经确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540318"/>
            <a:chOff x="4343400" y="1524000"/>
            <a:chExt cx="3505200" cy="254031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840927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m() 的 try 打印 1 后抛空指针，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只接算术异常，finally 打印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3，try 语句之后打印 4。main 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(RuntimeException e) 打印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5，最后打印 6。输出？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3404235"/>
              <a:ext cx="2902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6。catch 不匹配，finally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照样执行，异常继续抛出，4 不打印。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239578"/>
            <a:ext cx="3505200" cy="1768792"/>
            <a:chOff x="4343400" y="4239578"/>
            <a:chExt cx="3505200" cy="1768792"/>
          </a:xfrm>
        </p:grpSpPr>
        <p:sp>
          <p:nvSpPr>
            <p:cNvPr id="25" name="Rectangle 25"/>
            <p:cNvSpPr/>
            <p:nvPr/>
          </p:nvSpPr>
          <p:spPr>
            <a:xfrm>
              <a:off x="4343400" y="4239578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789170"/>
              <a:ext cx="28353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6.3 的数组若有 5 个元素，round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terminated 后面各是几？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348288"/>
              <a:ext cx="29112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5。循环正常结束，catch 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执行，finally 仍执行。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83142"/>
            <a:chOff x="8153400" y="1524000"/>
            <a:chExt cx="3505200" cy="228314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897505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里抛 IllegalStateException，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(RuntimeException e) 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 1，finally 打印 F。调用并打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印返回值，输出？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3147060"/>
              <a:ext cx="23882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1。return 1 之前先执行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82402"/>
            <a:ext cx="3505200" cy="2025968"/>
            <a:chOff x="8153400" y="3982402"/>
            <a:chExt cx="3505200" cy="2025968"/>
          </a:xfrm>
        </p:grpSpPr>
        <p:sp>
          <p:nvSpPr>
            <p:cNvPr id="37" name="Rectangle 37"/>
            <p:cNvSpPr/>
            <p:nvPr/>
          </p:nvSpPr>
          <p:spPr>
            <a:xfrm>
              <a:off x="8153400" y="3982402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531995"/>
              <a:ext cx="282463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块里调用了 System.exit(0)，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还执行吗？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0911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不执行，虚拟机直接退出。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第6章 异常处理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161" y="1547336"/>
            <a:ext cx="5217858" cy="2633282"/>
            <a:chOff x="526161" y="1547336"/>
            <a:chExt cx="5217858" cy="263328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三节各自的落点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491972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 异常用对象描述运行中的非正常事件。Throwable 下分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和 Error；RuntimeException 与 Error 两支不受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检，其余受检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746057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7863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757964"/>
              <a:ext cx="476643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 处理异常有两条路：try-catch-finally 就地捕获，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throws/throw 交给调用者。catch 从上到下只匹配一个，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在离开 try 语句前总会执行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854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36579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3630454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自定义异常继承 Exception 或 RuntimeException，用法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与标准异常相同，还能带上额外的数据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310062"/>
            <a:ext cx="5410200" cy="1642110"/>
            <a:chOff x="533400" y="4310062"/>
            <a:chExt cx="5410200" cy="1642110"/>
          </a:xfrm>
        </p:grpSpPr>
        <p:sp>
          <p:nvSpPr>
            <p:cNvPr id="18" name="Rectangle 18"/>
            <p:cNvSpPr/>
            <p:nvPr/>
          </p:nvSpPr>
          <p:spPr>
            <a:xfrm>
              <a:off x="533400" y="4310062"/>
              <a:ext cx="541020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443412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45138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7644" y="45496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0588" y="45534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先分清类别，再追执行流程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90489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先判断一个异常受检还是不受检，决定编译器要不要你处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理；再用「抛出点退出、逐层往回找 catch、途经的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都要执行」这条线去追输出。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2581275"/>
            <a:chOff x="6248400" y="1524000"/>
            <a:chExt cx="5410200" cy="258127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8202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3747" y="2085022"/>
              <a:ext cx="1369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throws 与 throw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7826" y="2085022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方法头里的声明 / 方法体里的动作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2515552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catch 顺序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22005" y="2393632"/>
              <a:ext cx="322707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17826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先子类后超类，否则编译报错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2946082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与 return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7826" y="2946082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finally 先执行，返回值已确定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3747" y="3375660"/>
              <a:ext cx="1957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getMessage 与 toString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17826" y="3375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只有提示 / 类名加提示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3747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异常与错误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17826" y="3806190"/>
              <a:ext cx="2641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 可恢复 / Error 不可恢复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40771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248400" y="4290060"/>
            <a:ext cx="5410200" cy="1662112"/>
            <a:chOff x="6248400" y="4290060"/>
            <a:chExt cx="5410200" cy="1662112"/>
          </a:xfrm>
        </p:grpSpPr>
        <p:sp>
          <p:nvSpPr>
            <p:cNvPr id="48" name="Rectangle 48"/>
            <p:cNvSpPr/>
            <p:nvPr/>
          </p:nvSpPr>
          <p:spPr>
            <a:xfrm>
              <a:off x="6248400" y="429006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42341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44938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2644" y="45296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版本差异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5588" y="4534376"/>
              <a:ext cx="17443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JDK 21 实测订正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4885849"/>
              <a:ext cx="41320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数组越界的提示信息：JDK 11 起带上数组长度。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3096" y="5205889"/>
              <a:ext cx="5087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空指针的提示信息：JDK 15 起默认说明哪个表达式为 null。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3096" y="5525929"/>
              <a:ext cx="451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多重捕获与 try-with-resources：Java 7 起可用。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第6章 异常处理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6">
  <a:themeElements>
    <a:clrScheme name="java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2026-09-23T08:40:20Z</dcterms:created>
  <dcterms:modified xsi:type="dcterms:W3CDTF">2026-09-23T08:40:20Z</dcterms:modified>
  <cp:category/>
  <cp:contentStatus/>
</cp:coreProperties>
</file>