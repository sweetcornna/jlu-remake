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1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1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b136a62bbfa0e7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25f0bc4f968fa0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494602dd3bbebca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13935" cy="3437763"/>
            <a:chOff x="666750" y="1619250"/>
            <a:chExt cx="481393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69770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9909" y="1718310"/>
              <a:ext cx="1741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第11章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04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java.net 让两台计算机上的程序互相说话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网络协议与端口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78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InetAddress 查地址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51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Socket 做 TCP 通信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87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Datagram 做 UDP 通信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60558" cy="205359"/>
            <a:chOff x="680466" y="6192202"/>
            <a:chExt cx="446055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60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自学复习版｜据吉林大学《Java程序设计》第11章课件整理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394167"/>
            <a:chOff x="521970" y="1515428"/>
            <a:chExt cx="6287453" cy="439416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网络协议概述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50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计算机网络与协议，OSI 七层与 TCP/IP 四层，TCP 与 UDP，五元组与端口，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java.net 包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1676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4185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用主机名查 IP、取本机地址，命令行参数怎样传给程序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94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 通信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5458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ServerSocket 与 Socket，点对点的建立步骤，流的配对，点对面的多线程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19481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30053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336732"/>
              <a:ext cx="94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通信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653439"/>
              <a:ext cx="5434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DatagramSocket 与 DatagramPacket，报价服务器和 writeUTF 打包两个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例子，UDP 的易错点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52016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30733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3435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660231"/>
              <a:ext cx="352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道题，一页概念辨析、一页读程序判断结果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335780"/>
            <a:chOff x="7114222" y="1524000"/>
            <a:chExt cx="4544378" cy="433578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335780"/>
            </a:xfrm>
            <a:prstGeom prst="roundRect">
              <a:avLst>
                <a:gd name="adj" fmla="val 3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06908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OSI 七层与 TCP/IP 四层的对应关系，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TCP、UDP 各在哪一层、有什么区别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InetAddress 写出按主机名查 IP 的程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序，知道 UnknownHostException 何时出现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 TCP 服务器 5 步和客户机 4 步，写出读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写配对、会 flush 的一问一答程序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把单连接服务器改成「accept 循环 + 每连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接一个线程」的点对面服务器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DatagramPacket 收发数据报，正确使用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getLength()、回信地址和超时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网络协议概述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写网络程序之前，先弄清数据在两台计算机之间怎么走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协议是通信双方约定好的规则集合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142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应用程序直接打交道的是传输层的 TCP 和 UDP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地址找到主机，端口找到主机上的进程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网络协议概述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计算机网络靠协议协调：双方先约定规则，再交换数据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811655"/>
            <a:chOff x="533400" y="1524000"/>
            <a:chExt cx="5626418" cy="18116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计算机网络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88365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把地理位置不同、具有独立功能的多台计算机及其外部设备，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通过通信线路连接起来，在网络操作系统、网络管理软件和网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络通信协议的管理和协调下，实现资源共享和信息传递的计算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机系统。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15678"/>
            <a:ext cx="5626418" cy="2809875"/>
            <a:chOff x="533400" y="3515678"/>
            <a:chExt cx="5626418" cy="2809875"/>
          </a:xfrm>
        </p:grpSpPr>
        <p:sp>
          <p:nvSpPr>
            <p:cNvPr id="14" name="Rectangle 14"/>
            <p:cNvSpPr/>
            <p:nvPr/>
          </p:nvSpPr>
          <p:spPr>
            <a:xfrm>
              <a:off x="533400" y="3515678"/>
              <a:ext cx="5626418" cy="2809875"/>
            </a:xfrm>
            <a:prstGeom prst="roundRect">
              <a:avLst>
                <a:gd name="adj" fmla="val 47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49028"/>
              <a:ext cx="47625" cy="254317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7137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3748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2931" y="37495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网络协议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09241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网络通信是计算机之间按网络协议交换数据。网络协议是通信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双方约定好的规则集合。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4742498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468201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：数据的格式，比如每个字段占几个字节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7240" y="505968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831" y="500014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：每个字段表示什么、收到后做什么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7240" y="537781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3831" y="531733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：谁先发、收到什么以后再发什么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6622732" y="1945005"/>
            <a:ext cx="4931093" cy="1380172"/>
            <a:chOff x="6622732" y="1945005"/>
            <a:chExt cx="4931093" cy="1380172"/>
          </a:xfrm>
        </p:grpSpPr>
        <p:sp>
          <p:nvSpPr>
            <p:cNvPr id="27" name="Freeform 27"/>
            <p:cNvSpPr/>
            <p:nvPr/>
          </p:nvSpPr>
          <p:spPr>
            <a:xfrm>
              <a:off x="7553325" y="2195512"/>
              <a:ext cx="630555" cy="9525"/>
            </a:xfrm>
            <a:custGeom>
              <a:avLst/>
              <a:gdLst/>
              <a:ahLst/>
              <a:cxnLst/>
              <a:rect l="l" t="t" r="r" b="b"/>
              <a:pathLst>
                <a:path w="630555" h="9525">
                  <a:moveTo>
                    <a:pt x="0" y="0"/>
                  </a:moveTo>
                  <a:lnTo>
                    <a:pt x="630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00160" y="2195512"/>
              <a:ext cx="530543" cy="9525"/>
            </a:xfrm>
            <a:custGeom>
              <a:avLst/>
              <a:gdLst/>
              <a:ahLst/>
              <a:cxnLst/>
              <a:rect l="l" t="t" r="r" b="b"/>
              <a:pathLst>
                <a:path w="530543" h="9525">
                  <a:moveTo>
                    <a:pt x="0" y="0"/>
                  </a:moveTo>
                  <a:lnTo>
                    <a:pt x="5305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146982" y="2195512"/>
              <a:ext cx="368618" cy="9525"/>
            </a:xfrm>
            <a:custGeom>
              <a:avLst/>
              <a:gdLst/>
              <a:ahLst/>
              <a:cxnLst/>
              <a:rect l="l" t="t" r="r" b="b"/>
              <a:pathLst>
                <a:path w="368618" h="9525">
                  <a:moveTo>
                    <a:pt x="0" y="0"/>
                  </a:moveTo>
                  <a:lnTo>
                    <a:pt x="3686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88505" y="2446020"/>
              <a:ext cx="3947160" cy="756285"/>
            </a:xfrm>
            <a:custGeom>
              <a:avLst/>
              <a:gdLst/>
              <a:ahLst/>
              <a:cxnLst/>
              <a:rect l="l" t="t" r="r" b="b"/>
              <a:pathLst>
                <a:path w="3947160" h="756285">
                  <a:moveTo>
                    <a:pt x="0" y="0"/>
                  </a:moveTo>
                  <a:lnTo>
                    <a:pt x="0" y="756285"/>
                  </a:lnTo>
                  <a:lnTo>
                    <a:pt x="3947160" y="756285"/>
                  </a:lnTo>
                  <a:lnTo>
                    <a:pt x="3947160" y="95250"/>
                  </a:lnTo>
                </a:path>
              </a:pathLst>
            </a:custGeom>
            <a:noFill/>
            <a:ln w="17145">
              <a:solidFill>
                <a:srgbClr val="A1343C"/>
              </a:solidFill>
              <a:custDash>
                <a:ds d="333333" sp="222222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10988040" y="24460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22732" y="1945005"/>
              <a:ext cx="931545" cy="501015"/>
            </a:xfrm>
            <a:prstGeom prst="roundRect">
              <a:avLst>
                <a:gd name="adj" fmla="val 1901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83880" y="2016442"/>
              <a:ext cx="716280" cy="358140"/>
            </a:xfrm>
            <a:prstGeom prst="roundRect">
              <a:avLst>
                <a:gd name="adj" fmla="val 2659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30702" y="2016442"/>
              <a:ext cx="716280" cy="358140"/>
            </a:xfrm>
            <a:prstGeom prst="roundRect">
              <a:avLst>
                <a:gd name="adj" fmla="val 2659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515600" y="1945005"/>
              <a:ext cx="1038225" cy="501015"/>
            </a:xfrm>
            <a:prstGeom prst="roundRect">
              <a:avLst>
                <a:gd name="adj" fmla="val 1901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60924" y="20359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 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6628" y="22150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浏览器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0143" y="21255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路由器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56966" y="21255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路由器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08084" y="20359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30391" y="2215039"/>
              <a:ext cx="81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服务器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66735" y="3116580"/>
              <a:ext cx="1790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48638" y="314896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双方按同一套协议解释收到的字节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464618" y="3942398"/>
            <a:ext cx="5193982" cy="2383155"/>
            <a:chOff x="6464618" y="3942398"/>
            <a:chExt cx="5193982" cy="2383155"/>
          </a:xfrm>
        </p:grpSpPr>
        <p:sp>
          <p:nvSpPr>
            <p:cNvPr id="45" name="Rectangle 45"/>
            <p:cNvSpPr/>
            <p:nvPr/>
          </p:nvSpPr>
          <p:spPr>
            <a:xfrm>
              <a:off x="6464618" y="3942398"/>
              <a:ext cx="5193982" cy="2383155"/>
            </a:xfrm>
            <a:prstGeom prst="roundRect">
              <a:avLst>
                <a:gd name="adj" fmla="val 5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4075748"/>
              <a:ext cx="47625" cy="2116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00838" y="414051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72275" y="417480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两个模型的来历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08458" y="4561522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65048" y="4501039"/>
              <a:ext cx="438817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ISO/OSI 七层模型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：国际标准化组织提出的开放系统互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连参考模型（ISO 7498，1984 年）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08458" y="5150167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5048" y="5090636"/>
              <a:ext cx="428853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TCP/IP 四层模型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：起源于美国国防部高级研究计划署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（ARPA）让若干台主机互相通信的研究计划，1983 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起成为 ARPANET 的标准协议，也就是今天互联网用的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协议族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9141" cy="909257"/>
            <a:chOff x="520446" y="342900"/>
            <a:chExt cx="5229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网络协议概述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9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OSI 七层与 TCP/IP 四层怎样对应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1110615" y="1642110"/>
            <a:ext cx="5299139" cy="4350068"/>
            <a:chOff x="1110615" y="1642110"/>
            <a:chExt cx="5299139" cy="4350068"/>
          </a:xfrm>
        </p:grpSpPr>
        <p:sp>
          <p:nvSpPr>
            <p:cNvPr id="7" name="Freeform 7"/>
            <p:cNvSpPr/>
            <p:nvPr/>
          </p:nvSpPr>
          <p:spPr>
            <a:xfrm>
              <a:off x="2388870" y="4002405"/>
              <a:ext cx="729615" cy="9525"/>
            </a:xfrm>
            <a:custGeom>
              <a:avLst/>
              <a:gdLst/>
              <a:ahLst/>
              <a:cxnLst/>
              <a:rect l="l" t="t" r="r" b="b"/>
              <a:pathLst>
                <a:path w="729615" h="9525">
                  <a:moveTo>
                    <a:pt x="0" y="0"/>
                  </a:moveTo>
                  <a:lnTo>
                    <a:pt x="729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118485" y="3954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93620" y="3954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388870" y="4604385"/>
              <a:ext cx="729615" cy="9525"/>
            </a:xfrm>
            <a:custGeom>
              <a:avLst/>
              <a:gdLst/>
              <a:ahLst/>
              <a:cxnLst/>
              <a:rect l="l" t="t" r="r" b="b"/>
              <a:pathLst>
                <a:path w="729615" h="9525">
                  <a:moveTo>
                    <a:pt x="0" y="0"/>
                  </a:moveTo>
                  <a:lnTo>
                    <a:pt x="729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3118485" y="45567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293620" y="45567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10615" y="2012632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0615" y="2614612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0615" y="3215640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10615" y="3817620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10615" y="4419600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10615" y="5020628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10615" y="5622608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13735" y="2152650"/>
              <a:ext cx="1183005" cy="1293495"/>
            </a:xfrm>
            <a:prstGeom prst="roundRect">
              <a:avLst>
                <a:gd name="adj" fmla="val 805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13735" y="3817620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13735" y="4419600"/>
              <a:ext cx="1183005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13735" y="5090160"/>
              <a:ext cx="1183005" cy="831532"/>
            </a:xfrm>
            <a:prstGeom prst="roundRect">
              <a:avLst>
                <a:gd name="adj" fmla="val 11455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02672" y="1642110"/>
              <a:ext cx="998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OSI 参考模型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75856" y="1642110"/>
              <a:ext cx="1258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TCP/IP 概念层次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1616" y="2123122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应用层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1616" y="272415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表示层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1616" y="332613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会话层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81616" y="392811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传输层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1616" y="4529138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网络层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0072" y="5131117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数据链路层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1616" y="573214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物理层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826" y="27241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826" y="39281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6826" y="452913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网际层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95282" y="54311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网络接口层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5962" y="2669857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Telnet、FTP、DNS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HTTP、SMTP、POP3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5962" y="3872865"/>
              <a:ext cx="765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TCP、UDP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25962" y="4474845"/>
              <a:ext cx="1214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IP、ICMP、IGMP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25962" y="5376862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设备驱动和网卡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以太网等链路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680835" y="1524000"/>
            <a:ext cx="4977765" cy="2790825"/>
            <a:chOff x="6680835" y="1524000"/>
            <a:chExt cx="4977765" cy="279082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0987" y="1655445"/>
              <a:ext cx="774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TCP/IP 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7413" y="1655445"/>
              <a:ext cx="89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 OSI 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854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负责什么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6182" y="2191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1569" y="2191702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5–7 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75064" y="208502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具体应用的报文格式，如网页、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邮件、文件传输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25927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0835" y="2597468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2606992"/>
              <a:ext cx="117538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182" y="28355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81569" y="2835592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5064" y="272891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进程到进程的传输，用端口区分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32365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86182" y="34794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网际层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81569" y="3479482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75064" y="337280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主机到主机的寻址和路由，用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 地址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3879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80835" y="388429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6182" y="40157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网络接口层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81569" y="401574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1–2 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75064" y="40157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把数据帧送上具体的物理线路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1524000"/>
              <a:ext cx="497776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7146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6495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680835" y="4500562"/>
            <a:ext cx="4977765" cy="1836420"/>
            <a:chOff x="6680835" y="4500562"/>
            <a:chExt cx="4977765" cy="1836420"/>
          </a:xfrm>
        </p:grpSpPr>
        <p:sp>
          <p:nvSpPr>
            <p:cNvPr id="68" name="Rectangle 68"/>
            <p:cNvSpPr/>
            <p:nvPr/>
          </p:nvSpPr>
          <p:spPr>
            <a:xfrm>
              <a:off x="6680835" y="4500562"/>
              <a:ext cx="4977765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90360" y="4633912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22770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13931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24179" y="4743926"/>
              <a:ext cx="2041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ARP、RARP 放在哪一层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15531" y="5095399"/>
              <a:ext cx="432460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 页把 ARP、RARP 画在网络接口层。它们负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 IP 地址与网卡 MAC 地址之间的转换，归法各教材不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一，谢希仁《计算机网络》把 ARP 放在网际层。RARP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早已被 DHCP 取代。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44024" cy="909257"/>
            <a:chOff x="520446" y="342900"/>
            <a:chExt cx="4944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网络协议概述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44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 像打电话，UDP 像寄明信片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5626418" cy="3416618"/>
            <a:chOff x="533400" y="1524000"/>
            <a:chExt cx="5626418" cy="3416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136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18040" y="1641157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56402" y="1641157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116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8724" y="202311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面向连接：先建立连接再传数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16134" y="211645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无连接：拿到地址直接发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68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7364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6841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93570" y="2483168"/>
              <a:ext cx="2119312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78724" y="259080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可靠：丢了重传，按发送顺序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30980" y="2483168"/>
              <a:ext cx="2119312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16134" y="259080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不可靠：可能丢失、重复、乱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365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2518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数据形式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8724" y="325183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字节流，没有消息边界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16134" y="315849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一个个独立的数据报，保留边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052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0997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7271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开销与速度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8724" y="372713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首部大、要确认，较慢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16134" y="372713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首部 8 字节，较快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862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1081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典型应用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8724" y="410813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网页、邮件、文件传输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16134" y="4108132"/>
              <a:ext cx="1856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 查询、音视频、在线游戏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3672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371975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4583430"/>
              <a:ext cx="528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8724" y="4583430"/>
              <a:ext cx="1564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Socket、ServerSocket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16134" y="4490085"/>
              <a:ext cx="119748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626418" cy="34166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79282" y="1524000"/>
              <a:ext cx="9525" cy="34166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16692" y="1524000"/>
              <a:ext cx="9525" cy="34166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rd-2"/>
          <p:cNvGrpSpPr/>
          <p:nvPr/>
        </p:nvGrpSpPr>
        <p:grpSpPr>
          <a:xfrm>
            <a:off x="533400" y="5105400"/>
            <a:ext cx="5626418" cy="1143952"/>
            <a:chOff x="533400" y="5105400"/>
            <a:chExt cx="5626418" cy="1143952"/>
          </a:xfrm>
        </p:grpSpPr>
        <p:sp>
          <p:nvSpPr>
            <p:cNvPr id="43" name="Rectangle 43"/>
            <p:cNvSpPr/>
            <p:nvPr/>
          </p:nvSpPr>
          <p:spPr>
            <a:xfrm>
              <a:off x="533400" y="51054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52387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2475" y="52863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5147" y="53192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5998" y="5625941"/>
              <a:ext cx="4906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6 页写「UDP 是面向非连接、不可靠的连接」，前后矛盾。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准确说法：UDP 是无连接、不可靠的协议。</a:t>
              </a:r>
            </a:p>
          </p:txBody>
        </p:sp>
      </p:grpSp>
      <p:grpSp>
        <p:nvGrpSpPr>
          <p:cNvPr id="51" name="c2-image-1"/>
          <p:cNvGrpSpPr/>
          <p:nvPr/>
        </p:nvGrpSpPr>
        <p:grpSpPr>
          <a:xfrm>
            <a:off x="6464618" y="1524000"/>
            <a:ext cx="5193982" cy="3204876"/>
            <a:chOff x="6464618" y="1524000"/>
            <a:chExt cx="5193982" cy="3204876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rcRect l="0" t="8" r="0" b="7"/>
            <a:stretch>
              <a:fillRect/>
            </a:stretch>
          </p:blipFill>
          <p:spPr>
            <a:xfrm>
              <a:off x="6464618" y="1524000"/>
              <a:ext cx="5193982" cy="2921318"/>
            </a:xfrm>
            <a:prstGeom prst="roundRect">
              <a:avLst>
                <a:gd name="adj" fmla="val 4564"/>
              </a:avLst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6584361" y="4538186"/>
              <a:ext cx="4955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左：传声筒先拉好线再说话（TCP）；右：明信片各自投递，掉了也没人知道（UDP）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464618" y="5425440"/>
            <a:ext cx="5193982" cy="937260"/>
            <a:chOff x="6464618" y="5425440"/>
            <a:chExt cx="5193982" cy="937260"/>
          </a:xfrm>
        </p:grpSpPr>
        <p:sp>
          <p:nvSpPr>
            <p:cNvPr id="52" name="Rectangle 52"/>
            <p:cNvSpPr/>
            <p:nvPr/>
          </p:nvSpPr>
          <p:spPr>
            <a:xfrm>
              <a:off x="6464618" y="5425440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794058"/>
              <a:ext cx="200026" cy="200025"/>
              <a:chOff x="6669405" y="579405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7940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9144" y="58385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43859" y="59496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491" y="5569744"/>
              <a:ext cx="427202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 TCP 还是 UDP，看丢一点数据能不能接受。文件一个字节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都不能错，用 TCP；视频通话晚到的画面已经没用，用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UDP。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网络协议概述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一个网络连接由五元组确定，端口用来找到进程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64958"/>
            <a:chOff x="533400" y="1524000"/>
            <a:chExt cx="5410200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五元组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一个网络连接用（协议名称，本地地址，本地端口，远程地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址，远程端口）五项唯一确定，任意一项不同就是另一个连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接。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273742"/>
            <a:ext cx="5415915" cy="2877027"/>
            <a:chOff x="527685" y="3273742"/>
            <a:chExt cx="5415915" cy="2877027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5484" y="34051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五元组的项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8268" y="34051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本章例子里的取值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38357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协议名称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02826" y="3835718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1300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13480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42652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本地地址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02826" y="4265295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127.0.0.1（客户机）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596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46958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本地端口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2826" y="4695825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系统随机分配的临时端口，如 52814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90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9491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51263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02826" y="5126355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127.0.0.1（服务器）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4197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5559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远程端口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02826" y="5555932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10000（服务器监听的端口）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273742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92718" y="3273742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930741"/>
              <a:ext cx="533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同一台机器开 4 个客户端连同一个服务器，只有本地端口不同，所以是 4 个连接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933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端口范围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59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57925" y="1964055"/>
              <a:ext cx="182022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2085022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0–1023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93024" y="208502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系统保留（熟知端口），分给标准服务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3747" y="2515552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1024–49151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93024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登记端口，常见应用软件使用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3747" y="2946082"/>
              <a:ext cx="103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49152–65535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93024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动态端口，客户端临时使用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8291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table-2"/>
          <p:cNvGrpSpPr/>
          <p:nvPr/>
        </p:nvGrpSpPr>
        <p:grpSpPr>
          <a:xfrm>
            <a:off x="6248400" y="3429952"/>
            <a:ext cx="5410200" cy="1720215"/>
            <a:chOff x="6248400" y="3429952"/>
            <a:chExt cx="5410200" cy="1720215"/>
          </a:xfrm>
        </p:grpSpPr>
        <p:sp>
          <p:nvSpPr>
            <p:cNvPr id="53" name="Rectangle 53"/>
            <p:cNvSpPr/>
            <p:nvPr/>
          </p:nvSpPr>
          <p:spPr>
            <a:xfrm>
              <a:off x="6248400" y="3429952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57035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09585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2135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14685" y="35613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53747" y="399097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FTP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6297" y="399097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58846" y="399097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11396" y="399097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4285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429006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53747" y="442150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SSH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06297" y="44215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58846" y="442150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11396" y="44215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4715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3747" y="4852035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SMTP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06297" y="48520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58846" y="4852035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11396" y="48520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429952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596188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948738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301288" y="342995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llout-3"/>
          <p:cNvGrpSpPr/>
          <p:nvPr/>
        </p:nvGrpSpPr>
        <p:grpSpPr>
          <a:xfrm>
            <a:off x="6248400" y="5335905"/>
            <a:ext cx="5410200" cy="1018222"/>
            <a:chOff x="6248400" y="5335905"/>
            <a:chExt cx="5410200" cy="1018222"/>
          </a:xfrm>
        </p:grpSpPr>
        <p:sp>
          <p:nvSpPr>
            <p:cNvPr id="78" name="Rectangle 78"/>
            <p:cNvSpPr/>
            <p:nvPr/>
          </p:nvSpPr>
          <p:spPr>
            <a:xfrm>
              <a:off x="6248400" y="5335905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453188" y="5745480"/>
              <a:ext cx="200026" cy="200026"/>
              <a:chOff x="6453188" y="5745480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453188" y="57454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53200" y="5812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542088" y="58454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755511" y="5483066"/>
              <a:ext cx="449592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端口号是 16 位无符号数，取值 0~65535。自己写的服务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器选 1024 以上的端口，Linux 上普通用户绑定 1024 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下的端口会被拒绝。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9260" cy="909257"/>
            <a:chOff x="520446" y="342900"/>
            <a:chExt cx="57492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网络协议概述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92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java.net 包：按底层协议分成两组类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33400" y="1646872"/>
            <a:ext cx="5410200" cy="4593908"/>
            <a:chOff x="533400" y="1646872"/>
            <a:chExt cx="5410200" cy="4593908"/>
          </a:xfrm>
        </p:grpSpPr>
        <p:sp>
          <p:nvSpPr>
            <p:cNvPr id="7" name="Freeform 7"/>
            <p:cNvSpPr/>
            <p:nvPr/>
          </p:nvSpPr>
          <p:spPr>
            <a:xfrm>
              <a:off x="3451860" y="1826895"/>
              <a:ext cx="419100" cy="301942"/>
            </a:xfrm>
            <a:custGeom>
              <a:avLst/>
              <a:gdLst/>
              <a:ahLst/>
              <a:cxnLst/>
              <a:rect l="l" t="t" r="r" b="b"/>
              <a:pathLst>
                <a:path w="419100" h="301942">
                  <a:moveTo>
                    <a:pt x="0" y="301942"/>
                  </a:moveTo>
                  <a:lnTo>
                    <a:pt x="209550" y="3019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51860" y="2128838"/>
              <a:ext cx="419100" cy="301942"/>
            </a:xfrm>
            <a:custGeom>
              <a:avLst/>
              <a:gdLst/>
              <a:ahLst/>
              <a:cxnLst/>
              <a:rect l="l" t="t" r="r" b="b"/>
              <a:pathLst>
                <a:path w="419100" h="301942">
                  <a:moveTo>
                    <a:pt x="0" y="0"/>
                  </a:moveTo>
                  <a:lnTo>
                    <a:pt x="209550" y="0"/>
                  </a:lnTo>
                  <a:lnTo>
                    <a:pt x="209550" y="301942"/>
                  </a:lnTo>
                  <a:lnTo>
                    <a:pt x="419100" y="3019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51860" y="3036570"/>
              <a:ext cx="419100" cy="603885"/>
            </a:xfrm>
            <a:custGeom>
              <a:avLst/>
              <a:gdLst/>
              <a:ahLst/>
              <a:cxnLst/>
              <a:rect l="l" t="t" r="r" b="b"/>
              <a:pathLst>
                <a:path w="419100" h="603885">
                  <a:moveTo>
                    <a:pt x="0" y="603885"/>
                  </a:moveTo>
                  <a:lnTo>
                    <a:pt x="209550" y="6038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51860" y="364045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1860" y="3640455"/>
              <a:ext cx="419100" cy="605790"/>
            </a:xfrm>
            <a:custGeom>
              <a:avLst/>
              <a:gdLst/>
              <a:ahLst/>
              <a:cxnLst/>
              <a:rect l="l" t="t" r="r" b="b"/>
              <a:pathLst>
                <a:path w="419100" h="605790">
                  <a:moveTo>
                    <a:pt x="0" y="0"/>
                  </a:moveTo>
                  <a:lnTo>
                    <a:pt x="209550" y="0"/>
                  </a:lnTo>
                  <a:lnTo>
                    <a:pt x="209550" y="605790"/>
                  </a:lnTo>
                  <a:lnTo>
                    <a:pt x="419100" y="6057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51860" y="4850130"/>
              <a:ext cx="419100" cy="605790"/>
            </a:xfrm>
            <a:custGeom>
              <a:avLst/>
              <a:gdLst/>
              <a:ahLst/>
              <a:cxnLst/>
              <a:rect l="l" t="t" r="r" b="b"/>
              <a:pathLst>
                <a:path w="419100" h="605790">
                  <a:moveTo>
                    <a:pt x="0" y="605790"/>
                  </a:moveTo>
                  <a:lnTo>
                    <a:pt x="209550" y="6057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51860" y="545592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51860" y="5455920"/>
              <a:ext cx="419100" cy="603885"/>
            </a:xfrm>
            <a:custGeom>
              <a:avLst/>
              <a:gdLst/>
              <a:ahLst/>
              <a:cxnLst/>
              <a:rect l="l" t="t" r="r" b="b"/>
              <a:pathLst>
                <a:path w="419100" h="603885">
                  <a:moveTo>
                    <a:pt x="0" y="0"/>
                  </a:moveTo>
                  <a:lnTo>
                    <a:pt x="209550" y="0"/>
                  </a:lnTo>
                  <a:lnTo>
                    <a:pt x="209550" y="603885"/>
                  </a:lnTo>
                  <a:lnTo>
                    <a:pt x="419100" y="6038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14512" y="2128838"/>
              <a:ext cx="419100" cy="1663065"/>
            </a:xfrm>
            <a:custGeom>
              <a:avLst/>
              <a:gdLst/>
              <a:ahLst/>
              <a:cxnLst/>
              <a:rect l="l" t="t" r="r" b="b"/>
              <a:pathLst>
                <a:path w="419100" h="1663065">
                  <a:moveTo>
                    <a:pt x="0" y="1663065"/>
                  </a:moveTo>
                  <a:lnTo>
                    <a:pt x="209550" y="166306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14512" y="3640455"/>
              <a:ext cx="419100" cy="151448"/>
            </a:xfrm>
            <a:custGeom>
              <a:avLst/>
              <a:gdLst/>
              <a:ahLst/>
              <a:cxnLst/>
              <a:rect l="l" t="t" r="r" b="b"/>
              <a:pathLst>
                <a:path w="419100" h="151448">
                  <a:moveTo>
                    <a:pt x="0" y="151448"/>
                  </a:moveTo>
                  <a:lnTo>
                    <a:pt x="209550" y="15144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14512" y="3791902"/>
              <a:ext cx="419100" cy="1664017"/>
            </a:xfrm>
            <a:custGeom>
              <a:avLst/>
              <a:gdLst/>
              <a:ahLst/>
              <a:cxnLst/>
              <a:rect l="l" t="t" r="r" b="b"/>
              <a:pathLst>
                <a:path w="419100" h="1664017">
                  <a:moveTo>
                    <a:pt x="0" y="0"/>
                  </a:moveTo>
                  <a:lnTo>
                    <a:pt x="209550" y="0"/>
                  </a:lnTo>
                  <a:lnTo>
                    <a:pt x="209550" y="1664017"/>
                  </a:lnTo>
                  <a:lnTo>
                    <a:pt x="419100" y="166401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70960" y="1646872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70960" y="2251710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33612" y="1948815"/>
              <a:ext cx="121920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70960" y="2856548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70960" y="3461385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70960" y="4066222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33612" y="3461385"/>
              <a:ext cx="121920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70960" y="4671060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70960" y="5275898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70960" y="5880735"/>
              <a:ext cx="207264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33612" y="5275898"/>
              <a:ext cx="1219200" cy="360045"/>
            </a:xfrm>
            <a:prstGeom prst="roundRect">
              <a:avLst>
                <a:gd name="adj" fmla="val 26455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611880"/>
              <a:ext cx="1281112" cy="360045"/>
            </a:xfrm>
            <a:prstGeom prst="roundRect">
              <a:avLst>
                <a:gd name="adj" fmla="val 2645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0114" y="1743075"/>
              <a:ext cx="958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60114" y="2347913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InetSocketAddress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22766" y="20450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0114" y="2952750"/>
              <a:ext cx="158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URL、URLConnection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60114" y="3557588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60114" y="4162425"/>
              <a:ext cx="1088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22766" y="3557588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基于 TCP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60114" y="4766310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60114" y="5371148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60114" y="5975985"/>
              <a:ext cx="1306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MulticastSocket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22766" y="5371148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基于 UDP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554" y="3708082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java.net</a:t>
              </a:r>
            </a:p>
          </p:txBody>
        </p:sp>
      </p:grpSp>
      <p:grpSp>
        <p:nvGrpSpPr>
          <p:cNvPr id="57" name="c2-kv-1"/>
          <p:cNvGrpSpPr/>
          <p:nvPr/>
        </p:nvGrpSpPr>
        <p:grpSpPr>
          <a:xfrm>
            <a:off x="6241161" y="1547336"/>
            <a:ext cx="5417439" cy="2769490"/>
            <a:chOff x="6241161" y="1547336"/>
            <a:chExt cx="5417439" cy="2769490"/>
          </a:xfrm>
        </p:grpSpPr>
        <p:sp>
          <p:nvSpPr>
            <p:cNvPr id="43" name="TextBox 43"/>
            <p:cNvSpPr txBox="1"/>
            <p:nvPr/>
          </p:nvSpPr>
          <p:spPr>
            <a:xfrm>
              <a:off x="6241161" y="1547336"/>
              <a:ext cx="1190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InetAddress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9024" y="1547336"/>
              <a:ext cx="298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表示一个 IP 地址（本章第二部分）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853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1161" y="1969294"/>
              <a:ext cx="126423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Socket、</a:t>
              </a:r>
              <a:br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ServerSocket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89024" y="1969294"/>
              <a:ext cx="312534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客户端和服务器端的 TCP 套接字（第三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5431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1161" y="2658904"/>
              <a:ext cx="16907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DatagramSocket、</a:t>
              </a:r>
              <a:br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DatagramPacket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9024" y="2658904"/>
              <a:ext cx="30845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套接字和数据报包（第四部分）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1161" y="3348514"/>
              <a:ext cx="132104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URL、</a:t>
              </a:r>
              <a:br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URLConnection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89024" y="3348514"/>
              <a:ext cx="322453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按网址访问资源，底层走 HTTP 等应用层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协议，HTTP 又跑在 TCP 上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9214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1161" y="4038124"/>
              <a:ext cx="16222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MulticastSocket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89024" y="403812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组播，一个包发给加入同一组的多台主机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248400" y="4445318"/>
            <a:ext cx="5410200" cy="1564958"/>
            <a:chOff x="6248400" y="4445318"/>
            <a:chExt cx="5410200" cy="1564958"/>
          </a:xfrm>
        </p:grpSpPr>
        <p:sp>
          <p:nvSpPr>
            <p:cNvPr id="58" name="Rectangle 58"/>
            <p:cNvSpPr/>
            <p:nvPr/>
          </p:nvSpPr>
          <p:spPr>
            <a:xfrm>
              <a:off x="6248400" y="4445318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578668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90335" y="464915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2644" y="46848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版本补充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75588" y="4689634"/>
              <a:ext cx="31137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 的构造方法在 JDK 20 起已过时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3096" y="5041106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URL(String)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JDK 21 编译会报 deprecation 警告，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改用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URI.create(s).toURL()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。访问网页现在一般用 JDK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11 加入的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java.net.http.HttpClient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250218" cy="2643187"/>
            <a:chOff x="667512" y="1835468"/>
            <a:chExt cx="625021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65722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0225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通信之前先拿到对方的 IP 地址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010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表示一个 32 位（IPv4）或 128 位（IPv6）的 IP 地址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没有公共构造方法，用静态方法获取对象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6466" cy="909257"/>
            <a:chOff x="520446" y="342900"/>
            <a:chExt cx="7396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460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67" y="407194"/>
              <a:ext cx="2448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InetAddress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6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没有构造方法，用静态方法拿对象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6059805" cy="3221355"/>
            <a:chOff x="533400" y="1524000"/>
            <a:chExt cx="6059805" cy="3221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9926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282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191702"/>
              <a:ext cx="1855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getLocalHost()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04794" y="2085022"/>
              <a:ext cx="2816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返回本地主机，打印出来是「主机名/IP地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606992"/>
              <a:ext cx="264699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46" y="2728912"/>
              <a:ext cx="194843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getByName(String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host)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4794" y="2728912"/>
              <a:ext cx="2823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按主机名或 IP 字符串返回地址，查不到抛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UnknownHostException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3479482"/>
              <a:ext cx="2457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getLoopbackAddress()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4794" y="3372802"/>
              <a:ext cx="2892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返回回环地址 localhost/127.0.0.1（JDK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起）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79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88429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015740"/>
              <a:ext cx="127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getHostName()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04794" y="4015740"/>
              <a:ext cx="2198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返回主机名，必要时按 IP 反查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10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446270"/>
              <a:ext cx="1516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getHostAddress()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04794" y="4446270"/>
              <a:ext cx="2561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IP 地址字符串，如 127.0.0.1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94685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ode-2"/>
          <p:cNvGrpSpPr/>
          <p:nvPr/>
        </p:nvGrpSpPr>
        <p:grpSpPr>
          <a:xfrm>
            <a:off x="533400" y="4930140"/>
            <a:ext cx="6059805" cy="1313498"/>
            <a:chOff x="533400" y="4930140"/>
            <a:chExt cx="6059805" cy="1313498"/>
          </a:xfrm>
        </p:grpSpPr>
        <p:sp>
          <p:nvSpPr>
            <p:cNvPr id="30" name="Rectangle 30"/>
            <p:cNvSpPr/>
            <p:nvPr/>
          </p:nvSpPr>
          <p:spPr>
            <a:xfrm>
              <a:off x="533400" y="4930140"/>
              <a:ext cx="605980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797" y="5082064"/>
              <a:ext cx="764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035" y="5344954"/>
              <a:ext cx="447065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getByName(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"127.0.0.1"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= /127.0.0.1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getByName(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"::1"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= /0:0:0:0:0:0:0:1   Inet6Address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getLoopbackAddress() = localhost/127.0.0.1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getByName(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"no-such-host.invalid"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-&gt; UnknownHostException</a:t>
              </a:r>
            </a:p>
          </p:txBody>
        </p:sp>
      </p:grpSp>
      <p:grpSp>
        <p:nvGrpSpPr>
          <p:cNvPr id="61" name="c2-uml-1"/>
          <p:cNvGrpSpPr/>
          <p:nvPr/>
        </p:nvGrpSpPr>
        <p:grpSpPr>
          <a:xfrm>
            <a:off x="7516178" y="1786890"/>
            <a:ext cx="3523297" cy="2439352"/>
            <a:chOff x="7516178" y="1786890"/>
            <a:chExt cx="3523297" cy="2439352"/>
          </a:xfrm>
        </p:grpSpPr>
        <p:sp>
          <p:nvSpPr>
            <p:cNvPr id="34" name="Freeform 34"/>
            <p:cNvSpPr/>
            <p:nvPr/>
          </p:nvSpPr>
          <p:spPr>
            <a:xfrm>
              <a:off x="9278302" y="2374582"/>
              <a:ext cx="9525" cy="211455"/>
            </a:xfrm>
            <a:custGeom>
              <a:avLst/>
              <a:gdLst/>
              <a:ahLst/>
              <a:cxnLst/>
              <a:rect l="l" t="t" r="r" b="b"/>
              <a:pathLst>
                <a:path w="9525" h="211455">
                  <a:moveTo>
                    <a:pt x="0" y="2114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204960" y="22488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087678" y="3552825"/>
              <a:ext cx="1095375" cy="211455"/>
            </a:xfrm>
            <a:custGeom>
              <a:avLst/>
              <a:gdLst/>
              <a:ahLst/>
              <a:cxnLst/>
              <a:rect l="l" t="t" r="r" b="b"/>
              <a:pathLst>
                <a:path w="1095375" h="211455">
                  <a:moveTo>
                    <a:pt x="0" y="211455"/>
                  </a:moveTo>
                  <a:lnTo>
                    <a:pt x="0" y="42862"/>
                  </a:lnTo>
                  <a:lnTo>
                    <a:pt x="1095375" y="42862"/>
                  </a:lnTo>
                  <a:lnTo>
                    <a:pt x="10953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109710" y="34270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373552" y="3552825"/>
              <a:ext cx="1094422" cy="211455"/>
            </a:xfrm>
            <a:custGeom>
              <a:avLst/>
              <a:gdLst/>
              <a:ahLst/>
              <a:cxnLst/>
              <a:rect l="l" t="t" r="r" b="b"/>
              <a:pathLst>
                <a:path w="1094422" h="211455">
                  <a:moveTo>
                    <a:pt x="1094422" y="211455"/>
                  </a:moveTo>
                  <a:lnTo>
                    <a:pt x="1094422" y="42862"/>
                  </a:lnTo>
                  <a:lnTo>
                    <a:pt x="0" y="4286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300210" y="34270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566785" y="1786890"/>
              <a:ext cx="1423035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73452" y="1794510"/>
              <a:ext cx="1408748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66785" y="2053590"/>
              <a:ext cx="142303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66785" y="2148840"/>
              <a:ext cx="142303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558212" y="2586038"/>
              <a:ext cx="143922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65832" y="2593658"/>
              <a:ext cx="1424940" cy="26479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558212" y="2852738"/>
              <a:ext cx="143922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58212" y="2947988"/>
              <a:ext cx="1439228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16178" y="3764280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23798" y="3770948"/>
              <a:ext cx="1128712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16178" y="4030980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16178" y="4126230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96475" y="3764280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4095" y="3770948"/>
              <a:ext cx="1128712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896475" y="4030980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96475" y="4126230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16906" y="1851184"/>
              <a:ext cx="1322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java.lang.Object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08754" y="2650331"/>
              <a:ext cx="939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InetAddress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29078" y="3020378"/>
              <a:ext cx="129749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getByName(host)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getHostAddress()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4145" y="3828574"/>
              <a:ext cx="1027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Inet4Address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54443" y="3828574"/>
              <a:ext cx="1027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Inet6Address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898005" y="4674870"/>
            <a:ext cx="4760595" cy="1568768"/>
            <a:chOff x="6898005" y="4674870"/>
            <a:chExt cx="4760595" cy="1568768"/>
          </a:xfrm>
        </p:grpSpPr>
        <p:sp>
          <p:nvSpPr>
            <p:cNvPr id="62" name="Rectangle 62"/>
            <p:cNvSpPr/>
            <p:nvPr/>
          </p:nvSpPr>
          <p:spPr>
            <a:xfrm>
              <a:off x="6898005" y="4674870"/>
              <a:ext cx="4760595" cy="1568768"/>
            </a:xfrm>
            <a:prstGeom prst="roundRect">
              <a:avLst>
                <a:gd name="adj" fmla="val 728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102793" y="5359718"/>
              <a:ext cx="200026" cy="200026"/>
              <a:chOff x="7102793" y="535971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102793" y="53597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02805" y="5426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191693" y="54597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405116" y="5228749"/>
              <a:ext cx="384670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 InetAddress 得到「主机名/IP」。用 IP 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符串创建时不查 DNS，斜杠前的主机名是空的。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57195" cy="909257"/>
            <a:chOff x="520446" y="342900"/>
            <a:chExt cx="67571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460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67" y="407194"/>
              <a:ext cx="2448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InetAddress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571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示例：输入主机名，打印它和本机的 IP 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3449002"/>
            <a:chOff x="533400" y="1524000"/>
            <a:chExt cx="6492240" cy="34490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449002"/>
            </a:xfrm>
            <a:prstGeom prst="roundRect">
              <a:avLst>
                <a:gd name="adj" fmla="val 27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4487545" cy="2945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java.net.*;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InetAddressDemo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(args.length != 1)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"用法：java InetAddressDemo &lt;主机名&gt;"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InetAddress address = InetAddress.getByName(args[0]);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"输入的主机名称"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args[0]);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"主机"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args[0]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"为："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address);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"程序获取的主机名称"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address.getHostName());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"程序获取的IP地址为"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address.getHostAddress());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InetAddress local = InetAddress.getLocalHost();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"本机为："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local);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"本机的主机名称为："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local.getHostName());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"本机的IP地址为："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local.getHostAddress());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5143500"/>
            <a:ext cx="6492240" cy="1185862"/>
            <a:chOff x="533400" y="5143500"/>
            <a:chExt cx="6492240" cy="1185862"/>
          </a:xfrm>
        </p:grpSpPr>
        <p:sp>
          <p:nvSpPr>
            <p:cNvPr id="11" name="Rectangle 11"/>
            <p:cNvSpPr/>
            <p:nvPr/>
          </p:nvSpPr>
          <p:spPr>
            <a:xfrm>
              <a:off x="533400" y="5143500"/>
              <a:ext cx="649224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2768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53301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53630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5674042"/>
              <a:ext cx="57230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原课件调用了三次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getLocalHost()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，这里合并成变量 local，输出不变。查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不到主机时 UnknownHostException 从 main 抛出，程序打印异常后结束。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7330440" y="1524000"/>
            <a:ext cx="4328160" cy="1912620"/>
            <a:chOff x="7330440" y="1524000"/>
            <a:chExt cx="4328160" cy="1912620"/>
          </a:xfrm>
        </p:grpSpPr>
        <p:sp>
          <p:nvSpPr>
            <p:cNvPr id="17" name="Rectangle 17"/>
            <p:cNvSpPr/>
            <p:nvPr/>
          </p:nvSpPr>
          <p:spPr>
            <a:xfrm>
              <a:off x="7330440" y="1524000"/>
              <a:ext cx="432816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883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原课件的运行结果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8837" y="1935956"/>
              <a:ext cx="351967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&gt;java InetAddressDemo mail.jlu.edu.cn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输入的主机名称mail.jlu.edu.cn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主机mail.jlu.edu.cn为：mail.jlu.edu.cn/202.198.16.56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程序获取的主机名称mail.jlu.edu.cn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程序获取的IP地址为202.198.16.56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本机为：Hl-THINK/192.168.1.100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本机的主机名称为：Hl-THINK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本机的IP地址为：192.168.1.100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330440" y="3607118"/>
            <a:ext cx="4328160" cy="2722245"/>
            <a:chOff x="7330440" y="3607118"/>
            <a:chExt cx="4328160" cy="2722245"/>
          </a:xfrm>
        </p:grpSpPr>
        <p:sp>
          <p:nvSpPr>
            <p:cNvPr id="21" name="Rectangle 21"/>
            <p:cNvSpPr/>
            <p:nvPr/>
          </p:nvSpPr>
          <p:spPr>
            <a:xfrm>
              <a:off x="7330440" y="3607118"/>
              <a:ext cx="4328160" cy="2722245"/>
            </a:xfrm>
            <a:prstGeom prst="roundRect">
              <a:avLst>
                <a:gd name="adj" fmla="val 48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39965" y="3740468"/>
              <a:ext cx="47625" cy="24555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55230" y="379380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43851" y="382666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563802" y="419385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19822" y="4137660"/>
              <a:ext cx="34855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前四行取决于 DNS 的解析结果，换网络、挂代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理后 IP 可能不同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563802" y="475107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19822" y="469487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后三行是运行这台机器的名字和局域网地址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563802" y="505110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19822" y="4994910"/>
              <a:ext cx="34084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不带参数运行只打印用法，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args.length !=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挡住了下标越界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3380" cy="909257"/>
            <a:chOff x="520446" y="342900"/>
            <a:chExt cx="6623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460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67" y="407194"/>
              <a:ext cx="2448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InetAddress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3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程序要命令行参数时，终端和 IDE 各怎么传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80076" cy="2011109"/>
            <a:chOff x="533400" y="1533525"/>
            <a:chExt cx="5180076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终端里编译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352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javac -encoding UTF-8 InetAddressDemo.java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终端里运行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767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InetAddressDemo localhost，类名后面空格隔开的每一项依次放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args[0]、args[1] 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1871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11 起可省掉编译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4389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InetAddressDemo.java localhost 直接运行单个源文件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720465"/>
            <a:ext cx="5410200" cy="1313498"/>
            <a:chOff x="533400" y="3720465"/>
            <a:chExt cx="5410200" cy="1313498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872389"/>
              <a:ext cx="19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实测：参数为 localhost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135279"/>
              <a:ext cx="277088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输入的主机名称localhost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主机localhost为：localhost/127.0.0.1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程序获取的主机名称localhost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程序获取的IP地址为127.0.0.1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219700"/>
            <a:ext cx="5410200" cy="1018222"/>
            <a:chOff x="533400" y="5219700"/>
            <a:chExt cx="5410200" cy="1018222"/>
          </a:xfrm>
        </p:grpSpPr>
        <p:sp>
          <p:nvSpPr>
            <p:cNvPr id="25" name="Rectangle 25"/>
            <p:cNvSpPr/>
            <p:nvPr/>
          </p:nvSpPr>
          <p:spPr>
            <a:xfrm>
              <a:off x="533400" y="521970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625583"/>
              <a:ext cx="224134" cy="192560"/>
              <a:chOff x="726129" y="5625583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6959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6255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773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366861"/>
              <a:ext cx="444182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运行时类名后面不带 .class：java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InetAddressDemo.class 实测报「找不到或无法加载主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 InetAddressDemo.class」。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242685" y="1524000"/>
            <a:ext cx="5415915" cy="2226469"/>
            <a:chOff x="6242685" y="1524000"/>
            <a:chExt cx="5415915" cy="2226469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2161" y="1655445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5808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在哪里填参数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3747" y="2298382"/>
              <a:ext cx="585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Eclipse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44372" y="2085022"/>
              <a:ext cx="367741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右击程序 → Run As → Run Configurations…，左栏选中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该程序，切到 Arguments 标签，在 Program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arguments 里填写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8060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81082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3747" y="3048952"/>
              <a:ext cx="997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IntelliJ IDEA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44372" y="2942272"/>
              <a:ext cx="3182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 → Edit Configurations…，选中该程序，在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Program arguments 一栏填写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930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34262" y="1524000"/>
              <a:ext cx="9525" cy="1930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2685" y="3530441"/>
              <a:ext cx="3499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Eclipse 的做法来自原课件第 11 页，IntelliJ 为补充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890962"/>
            <a:ext cx="5410200" cy="2346960"/>
            <a:chOff x="6248400" y="3890962"/>
            <a:chExt cx="5410200" cy="2346960"/>
          </a:xfrm>
        </p:grpSpPr>
        <p:sp>
          <p:nvSpPr>
            <p:cNvPr id="45" name="Rectangle 45"/>
            <p:cNvSpPr/>
            <p:nvPr/>
          </p:nvSpPr>
          <p:spPr>
            <a:xfrm>
              <a:off x="6248400" y="3890962"/>
              <a:ext cx="5410200" cy="234696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024312"/>
              <a:ext cx="47625" cy="20802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40947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0543" y="41305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1744" y="413527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参数之间用空格分隔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83096" y="448675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Eclipse 里「每行是一个参数」。实际上空格和换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行都会把参数分开，含空格的参数要用双引号括起来，比如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"hello world"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是一个参数。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21540" cy="2997517"/>
            <a:chOff x="667512" y="1835468"/>
            <a:chExt cx="622154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727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TCP 的 Socket 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374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服务器用 ServerSocket 等人来，客户机用 Socket 找上门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982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连上以后双方各拿一对输入输出流，读写方式和第8章的文件流一样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点对点：一个服务器服务一个客户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771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点对面：accept 循环加每个连接一个线程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95500" cy="909257"/>
            <a:chOff x="520446" y="342900"/>
            <a:chExt cx="89955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955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在服务器端等连接，Socket 是连接的两端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28447" y="1524000"/>
            <a:ext cx="5415153" cy="3112484"/>
            <a:chOff x="528447" y="1524000"/>
            <a:chExt cx="5415153" cy="311248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2257" y="1641157"/>
              <a:ext cx="2204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ServerSocket 的构造方法 / 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529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1164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9396" y="2023110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创建未绑定端口的对象，之后要调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bind()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590800"/>
              <a:ext cx="1742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ServerSocket(int port)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49396" y="2590800"/>
              <a:ext cx="971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port 上监听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3065145"/>
              <a:ext cx="265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ServerSocket(int port, int backlog)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49396" y="2971800"/>
              <a:ext cx="21175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backlog 是等待 accept 的连接队列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2328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432810"/>
              <a:ext cx="290226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633788"/>
              <a:ext cx="1203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 accept()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49396" y="3540443"/>
              <a:ext cx="21442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阻塞，直到有客户连上，返回与该客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户通信的 Socket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86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10813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49396" y="41081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关闭，停止监听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410200" cy="2847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49955" y="1524000"/>
              <a:ext cx="9525" cy="2847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447" y="4445794"/>
              <a:ext cx="3414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继承关系：java.lang.Object → java.net.ServerSocket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762500"/>
            <a:ext cx="5410200" cy="1582102"/>
            <a:chOff x="533400" y="4762500"/>
            <a:chExt cx="5410200" cy="1582102"/>
          </a:xfrm>
        </p:grpSpPr>
        <p:sp>
          <p:nvSpPr>
            <p:cNvPr id="31" name="Rectangle 31"/>
            <p:cNvSpPr/>
            <p:nvPr/>
          </p:nvSpPr>
          <p:spPr>
            <a:xfrm>
              <a:off x="533400" y="4762500"/>
              <a:ext cx="5410200" cy="1582102"/>
            </a:xfrm>
            <a:prstGeom prst="roundRect">
              <a:avLst>
                <a:gd name="adj" fmla="val 84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895850"/>
              <a:ext cx="47625" cy="13154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943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147" y="4976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528399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三个构造方法都声明 throws IOException。端口已被别的程序占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用时抛 BindException（JDK 21 实测）。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243447" y="1524000"/>
            <a:ext cx="5415153" cy="3306794"/>
            <a:chOff x="6243447" y="1524000"/>
            <a:chExt cx="5415153" cy="3306794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4458" y="1641157"/>
              <a:ext cx="1710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Socket 的构造方法 / 方法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679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3079" y="2023110"/>
              <a:ext cx="669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4396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创建未连接的对象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2404110"/>
              <a:ext cx="2203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Socket(String host, int port)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64396" y="2404110"/>
              <a:ext cx="2102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按主机名连接服务器的 port 端口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3079" y="2785110"/>
              <a:ext cx="2257949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Socket(InetAddress address, int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port)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64396" y="28784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按地址对象连接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23659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246120"/>
              <a:ext cx="290226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3447098"/>
              <a:ext cx="2264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 getInputStream()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64396" y="3353752"/>
              <a:ext cx="213093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Socket 输入流，读对方发来的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799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3813810"/>
              <a:ext cx="29022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3921443"/>
              <a:ext cx="2562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OutputStream getOutputStream()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64396" y="3921443"/>
              <a:ext cx="1980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Socket 输出流，往对方写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180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185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079" y="4303395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4396" y="4303395"/>
              <a:ext cx="1937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 Socket，两个流随之关闭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3043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164955" y="1524000"/>
              <a:ext cx="9525" cy="3043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447" y="4640104"/>
              <a:ext cx="2974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继承关系：java.lang.Object → java.net.Socket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957762"/>
            <a:ext cx="5410200" cy="1386840"/>
            <a:chOff x="6248400" y="4957762"/>
            <a:chExt cx="5410200" cy="1386840"/>
          </a:xfrm>
        </p:grpSpPr>
        <p:sp>
          <p:nvSpPr>
            <p:cNvPr id="66" name="Rectangle 66"/>
            <p:cNvSpPr/>
            <p:nvPr/>
          </p:nvSpPr>
          <p:spPr>
            <a:xfrm>
              <a:off x="6248400" y="4957762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509111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67475" y="51387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60147" y="5171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0998" y="5478304"/>
              <a:ext cx="46540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13 页写 Socket(InetAddress, int) 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UnknownHostException 和 IOException。按 JDK 文档它只声明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IOException：地址已经是 InetAddress，不用再解析主机名。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点对点通信：服务器先监听，客户机再连，连上后各拿一对流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graph-1"/>
          <p:cNvGrpSpPr/>
          <p:nvPr/>
        </p:nvGrpSpPr>
        <p:grpSpPr>
          <a:xfrm>
            <a:off x="1790700" y="1643062"/>
            <a:ext cx="8610600" cy="3615690"/>
            <a:chOff x="1790700" y="1643062"/>
            <a:chExt cx="8610600" cy="3615690"/>
          </a:xfrm>
        </p:grpSpPr>
        <p:sp>
          <p:nvSpPr>
            <p:cNvPr id="7" name="Freeform 7"/>
            <p:cNvSpPr/>
            <p:nvPr/>
          </p:nvSpPr>
          <p:spPr>
            <a:xfrm>
              <a:off x="2981325" y="2500312"/>
              <a:ext cx="9525" cy="243840"/>
            </a:xfrm>
            <a:custGeom>
              <a:avLst/>
              <a:gdLst/>
              <a:ahLst/>
              <a:cxnLst/>
              <a:rect l="l" t="t" r="r" b="b"/>
              <a:pathLst>
                <a:path w="9525" h="243840">
                  <a:moveTo>
                    <a:pt x="0" y="0"/>
                  </a:moveTo>
                  <a:lnTo>
                    <a:pt x="0" y="2438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33700" y="2744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81325" y="3315652"/>
              <a:ext cx="9525" cy="244792"/>
            </a:xfrm>
            <a:custGeom>
              <a:avLst/>
              <a:gdLst/>
              <a:ahLst/>
              <a:cxnLst/>
              <a:rect l="l" t="t" r="r" b="b"/>
              <a:pathLst>
                <a:path w="9525" h="244792">
                  <a:moveTo>
                    <a:pt x="0" y="0"/>
                  </a:moveTo>
                  <a:lnTo>
                    <a:pt x="0" y="2447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33700" y="3560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210675" y="3315652"/>
              <a:ext cx="9525" cy="244792"/>
            </a:xfrm>
            <a:custGeom>
              <a:avLst/>
              <a:gdLst/>
              <a:ahLst/>
              <a:cxnLst/>
              <a:rect l="l" t="t" r="r" b="b"/>
              <a:pathLst>
                <a:path w="9525" h="244792">
                  <a:moveTo>
                    <a:pt x="0" y="0"/>
                  </a:moveTo>
                  <a:lnTo>
                    <a:pt x="0" y="2447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163050" y="3560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67200" y="3077528"/>
              <a:ext cx="3752850" cy="9525"/>
            </a:xfrm>
            <a:custGeom>
              <a:avLst/>
              <a:gdLst/>
              <a:ahLst/>
              <a:cxnLst/>
              <a:rect l="l" t="t" r="r" b="b"/>
              <a:pathLst>
                <a:path w="3752850" h="9525">
                  <a:moveTo>
                    <a:pt x="37528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71950" y="30299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71950" y="4115752"/>
              <a:ext cx="1007745" cy="188595"/>
            </a:xfrm>
            <a:custGeom>
              <a:avLst/>
              <a:gdLst/>
              <a:ahLst/>
              <a:cxnLst/>
              <a:rect l="l" t="t" r="r" b="b"/>
              <a:pathLst>
                <a:path w="1007745" h="188595">
                  <a:moveTo>
                    <a:pt x="0" y="0"/>
                  </a:moveTo>
                  <a:lnTo>
                    <a:pt x="1007745" y="188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012305" y="4115752"/>
              <a:ext cx="1007745" cy="188595"/>
            </a:xfrm>
            <a:custGeom>
              <a:avLst/>
              <a:gdLst/>
              <a:ahLst/>
              <a:cxnLst/>
              <a:rect l="l" t="t" r="r" b="b"/>
              <a:pathLst>
                <a:path w="1007745" h="188595">
                  <a:moveTo>
                    <a:pt x="1007745" y="0"/>
                  </a:moveTo>
                  <a:lnTo>
                    <a:pt x="0" y="188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44328" y="4647248"/>
              <a:ext cx="1035367" cy="194310"/>
            </a:xfrm>
            <a:custGeom>
              <a:avLst/>
              <a:gdLst/>
              <a:ahLst/>
              <a:cxnLst/>
              <a:rect l="l" t="t" r="r" b="b"/>
              <a:pathLst>
                <a:path w="1035367" h="194310">
                  <a:moveTo>
                    <a:pt x="1035367" y="0"/>
                  </a:moveTo>
                  <a:lnTo>
                    <a:pt x="0" y="194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050030" y="4793932"/>
              <a:ext cx="102870" cy="94298"/>
            </a:xfrm>
            <a:custGeom>
              <a:avLst/>
              <a:gdLst/>
              <a:ahLst/>
              <a:cxnLst/>
              <a:rect l="l" t="t" r="r" b="b"/>
              <a:pathLst>
                <a:path w="102870" h="94298">
                  <a:moveTo>
                    <a:pt x="0" y="64770"/>
                  </a:moveTo>
                  <a:lnTo>
                    <a:pt x="84773" y="0"/>
                  </a:lnTo>
                  <a:lnTo>
                    <a:pt x="102870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012305" y="4647248"/>
              <a:ext cx="1035367" cy="194310"/>
            </a:xfrm>
            <a:custGeom>
              <a:avLst/>
              <a:gdLst/>
              <a:ahLst/>
              <a:cxnLst/>
              <a:rect l="l" t="t" r="r" b="b"/>
              <a:pathLst>
                <a:path w="1035367" h="194310">
                  <a:moveTo>
                    <a:pt x="0" y="0"/>
                  </a:moveTo>
                  <a:lnTo>
                    <a:pt x="1035367" y="194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39100" y="4793932"/>
              <a:ext cx="102870" cy="94298"/>
            </a:xfrm>
            <a:custGeom>
              <a:avLst/>
              <a:gdLst/>
              <a:ahLst/>
              <a:cxnLst/>
              <a:rect l="l" t="t" r="r" b="b"/>
              <a:pathLst>
                <a:path w="102870" h="94298">
                  <a:moveTo>
                    <a:pt x="102870" y="64770"/>
                  </a:moveTo>
                  <a:lnTo>
                    <a:pt x="0" y="94298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90700" y="2024062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90700" y="2839402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790700" y="3655695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90700" y="4858702"/>
              <a:ext cx="238125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20050" y="2839402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20050" y="3655695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20050" y="4858702"/>
              <a:ext cx="238125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304348"/>
              <a:ext cx="3143250" cy="342900"/>
            </a:xfrm>
            <a:prstGeom prst="roundRect">
              <a:avLst>
                <a:gd name="adj" fmla="val 27778"/>
              </a:avLst>
            </a:prstGeom>
            <a:solidFill>
              <a:srgbClr val="A1343C"/>
            </a:solidFill>
            <a:ln w="17145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63170" y="1643062"/>
              <a:ext cx="1436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服务器程序 Server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35326" y="1643062"/>
              <a:ext cx="135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客户机程序 Client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4654" y="2091690"/>
              <a:ext cx="2213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new ServerSocket(port)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90597" y="2282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监听指定端口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29973" y="2907982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accept()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29053" y="30984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阻塞等待客户连接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54464" y="3723322"/>
              <a:ext cx="1653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getInputStream()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2085" y="3913822"/>
              <a:ext cx="1678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getOutputStream()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71853" y="4984432"/>
              <a:ext cx="1418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关闭流和 Socket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8153" y="2907982"/>
              <a:ext cx="2165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new Socket(host, port)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9947" y="30984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发出连接请求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83814" y="3723322"/>
              <a:ext cx="1653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getInputStream()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1435" y="3913822"/>
              <a:ext cx="1678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getOutputStream()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01203" y="4984432"/>
              <a:ext cx="1418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关闭流和 Socket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85145" y="4401502"/>
              <a:ext cx="2221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/ ③ 通过两对流读写（会话）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59742" y="2985135"/>
              <a:ext cx="107156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63337" y="301990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三次握手建立连接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accept() 和 read 类方法都会阻塞：服务器必须先启动，客户端连一个没人监听的端口会抛 ConnectException（JDK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21 实测）。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17585" cy="909257"/>
            <a:chOff x="520446" y="342900"/>
            <a:chExt cx="53175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175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建立服务器 5 步，建立客户机 4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123561" cy="3649313"/>
            <a:chOff x="533400" y="1533525"/>
            <a:chExt cx="5123561" cy="364931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60629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20761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创建 ServerSocket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3816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server = new ServerSocket(port,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queueLength);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453640"/>
              <a:ext cx="26691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调用 accept() 监听客户机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746534"/>
              <a:ext cx="32589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 connection = server.accept();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104198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获得输出流和输入流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97091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connection.getOutputStream()、getInputStream() 包装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成需要的流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9002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处理阶段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8291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服务器和客户机通过这两个流通信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64058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关闭连接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933474"/>
              <a:ext cx="398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传输结束，调用流的 close() 和 Socket 的 close()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6248400" y="1533525"/>
            <a:ext cx="5148758" cy="2764440"/>
            <a:chOff x="6248400" y="1533525"/>
            <a:chExt cx="5148758" cy="2764440"/>
          </a:xfrm>
        </p:grpSpPr>
        <p:sp>
          <p:nvSpPr>
            <p:cNvPr id="29" name="Rectangle 29"/>
            <p:cNvSpPr/>
            <p:nvPr/>
          </p:nvSpPr>
          <p:spPr>
            <a:xfrm>
              <a:off x="6381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37204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880" y="1567815"/>
              <a:ext cx="24436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创建 Socket 连接服务器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023" y="1861661"/>
              <a:ext cx="4736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 connection = new Socket(serverAddress, port);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9880" y="2218372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获得输入流和输出流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023" y="2512219"/>
              <a:ext cx="4678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getInputStream()、getOutputStream() 返回与该 Socket 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联的流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3104198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处理阶段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023" y="33970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客户机与服务器通过这两个流通信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375475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关闭连接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4048601"/>
              <a:ext cx="398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传输结束，调用流的 close() 和 Socket 的 close()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248400" y="4475798"/>
            <a:ext cx="5410200" cy="782955"/>
            <a:chOff x="6248400" y="4475798"/>
            <a:chExt cx="5410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6248400" y="447579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4767265"/>
              <a:ext cx="200023" cy="200023"/>
              <a:chOff x="6453188" y="476726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47672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86538" y="4833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4624388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服务器比客户机多出的一步就是 accept()。连上以后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两边地位对等，都是拿 Socket 的两个流读写。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3" name="Rectangle 5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728335"/>
              <a:ext cx="9721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queueLength（即 backlog）限制的是已经连上、还没被 accept() 取走的连接个数，不是服务器能同时服务的客户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4566" cy="909257"/>
            <a:chOff x="520446" y="342900"/>
            <a:chExt cx="704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4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两端都先建 ObjectInputStream 会互相卡死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527935"/>
            <a:chOff x="533400" y="1524000"/>
            <a:chExt cx="5626418" cy="2527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739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15、16 页第 3 步的顺序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原课件服务器和客户机都先 new ObjectInputStream，再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ObjectOutputStream。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882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 的构造方法要先从流里读到对方写的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字节流头才返回；流头要等对方 new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ObjectOutputStream 时才写出。两边都在等对方的流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头，谁也走不到下一行。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4242435"/>
            <a:ext cx="5626418" cy="1516380"/>
            <a:chOff x="533400" y="4242435"/>
            <a:chExt cx="5626418" cy="1516380"/>
          </a:xfrm>
        </p:grpSpPr>
        <p:sp>
          <p:nvSpPr>
            <p:cNvPr id="15" name="Rectangle 15"/>
            <p:cNvSpPr/>
            <p:nvPr/>
          </p:nvSpPr>
          <p:spPr>
            <a:xfrm>
              <a:off x="533400" y="4242435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394359"/>
              <a:ext cx="23766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改正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：先建输出流并 flush，再建输入流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656296"/>
              <a:ext cx="447065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ObjectOutputStream output =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ObjectOutputStream(connection.getOutputStream());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output.flush();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立即把流头发给对方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ObjectInputStream input =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ObjectInputStream(connection.getInputStream());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2327910"/>
            <a:chOff x="6464618" y="1524000"/>
            <a:chExt cx="5193982" cy="2327910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3015" y="1675924"/>
              <a:ext cx="23745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实测（两端都设了 2 秒读超时）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2252" y="1937861"/>
              <a:ext cx="384479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原课件顺序：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客户机 等了 2 秒仍卡在 new ObjectInputStream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java.net.SocketTimeoutException: Read timed out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服务器 等了 2 秒仍卡在 new ObjectInputStream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java.net.SocketTimeoutException: Read timed out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先建输出流并 flush：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客户机 收到：服务器 发来的问候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服务器 收到：客户机 发来的问候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4042410"/>
            <a:ext cx="5193982" cy="1937385"/>
            <a:chOff x="6464618" y="4042410"/>
            <a:chExt cx="5193982" cy="1937385"/>
          </a:xfrm>
        </p:grpSpPr>
        <p:sp>
          <p:nvSpPr>
            <p:cNvPr id="23" name="Rectangle 23"/>
            <p:cNvSpPr/>
            <p:nvPr/>
          </p:nvSpPr>
          <p:spPr>
            <a:xfrm>
              <a:off x="6464618" y="404241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417576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12268" y="42519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3428" y="42876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4648" y="46291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只要有一端先建输出流就能打通。两端都「先输出、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再输入」最省心，不用去想谁先谁后。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4648" y="52501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不设超时的话，原课件的写法会永远卡住，不报任何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错误，排查起来很费劲。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例：服务器发一句问候，客户机读出来打印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967990"/>
            <a:chOff x="533400" y="1524000"/>
            <a:chExt cx="5626418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51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服务端 TCPServer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390898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TCPServer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1.创建服务，指定服务端口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ServerSocket serverSocket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ServerSocket(8081);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2.接受客户端的连接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 socket = serverSocket.accept();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"服务端接受连接！"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3.发送数据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DataOutputStream dos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BufferedOutputStream(socket.getOutputStream()));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dos.writeUTF(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"你好！我是服务端！"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dos.flush();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656772"/>
            <a:ext cx="5626418" cy="858202"/>
            <a:chOff x="533400" y="4656772"/>
            <a:chExt cx="5626418" cy="858202"/>
          </a:xfrm>
        </p:grpSpPr>
        <p:sp>
          <p:nvSpPr>
            <p:cNvPr id="11" name="Rectangle 11"/>
            <p:cNvSpPr/>
            <p:nvPr/>
          </p:nvSpPr>
          <p:spPr>
            <a:xfrm>
              <a:off x="533400" y="4656772"/>
              <a:ext cx="5626418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808696"/>
              <a:ext cx="27429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实测（先启动服务端，再启动客户端）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5068729"/>
              <a:ext cx="187680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服务端窗口：服务端接受连接！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客户端窗口：你好！我是服务端！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464618" y="1524000"/>
            <a:ext cx="5193982" cy="2440305"/>
            <a:chOff x="6464618" y="1524000"/>
            <a:chExt cx="5193982" cy="2440305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3015" y="1675924"/>
              <a:ext cx="1158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 TCPClient1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3015" y="1935956"/>
              <a:ext cx="4322445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TCPClient1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1.连接服务器 8081 端口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 client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Socket(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"localhost"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8081);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2.接收服务端数据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DataInputStream dis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BufferedInputStream(client.getInputStream()));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 = dis.readUTF();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6464618" y="4129088"/>
            <a:ext cx="5193982" cy="1914525"/>
            <a:chOff x="6464618" y="4129088"/>
            <a:chExt cx="5193982" cy="1914525"/>
          </a:xfrm>
        </p:grpSpPr>
        <p:sp>
          <p:nvSpPr>
            <p:cNvPr id="19" name="Rectangle 19"/>
            <p:cNvSpPr/>
            <p:nvPr/>
          </p:nvSpPr>
          <p:spPr>
            <a:xfrm>
              <a:off x="6464618" y="4129088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4142" y="4262438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83692" y="43100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6364" y="4342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7216" y="4650581"/>
              <a:ext cx="45890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原课件客户端第 1 步的注释照抄了服务端的「创建服务，指定服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务端口」，已改为「连接服务器 8081 端口」。两个程序都省略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import java.io.* 和 java.net.*。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7216" y="5421154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两边都没有关闭 Socket，靠进程结束时回收。长期运行的程序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要按第 5 步显式关闭，写法见 try-with-resources 一页。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读写必须配对：对方怎么写，这边就怎么读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2577465"/>
            <a:chOff x="533400" y="1524000"/>
            <a:chExt cx="6059805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386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发送方写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5219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接收方读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70132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本章出现的地方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191702"/>
              <a:ext cx="1049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writeUTF(s)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78037" y="2191702"/>
              <a:ext cx="831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readUTF()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5406" y="2085022"/>
              <a:ext cx="18562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TCPServer → TCPClient1；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例 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728912"/>
              <a:ext cx="137236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write("...\n") +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flush()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482215" y="2606992"/>
              <a:ext cx="179832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578037" y="2835592"/>
              <a:ext cx="866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5406" y="2835592"/>
              <a:ext cx="1947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 发 WHO_ARE_YOU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2802"/>
              <a:ext cx="993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writeInt(n)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78037" y="3372802"/>
              <a:ext cx="777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readInt()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5406" y="3372802"/>
              <a:ext cx="1511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回复自己的 id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661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67093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802380"/>
              <a:ext cx="1307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writeObject(o)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78037" y="3802380"/>
              <a:ext cx="1076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readObject()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5406" y="3802380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15、16 页的对象流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059805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6792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529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bullets-2"/>
          <p:cNvGrpSpPr/>
          <p:nvPr/>
        </p:nvGrpSpPr>
        <p:grpSpPr>
          <a:xfrm>
            <a:off x="533400" y="4310539"/>
            <a:ext cx="5475327" cy="1751266"/>
            <a:chOff x="533400" y="4310539"/>
            <a:chExt cx="5475327" cy="1751266"/>
          </a:xfrm>
        </p:grpSpPr>
        <p:sp>
          <p:nvSpPr>
            <p:cNvPr id="33" name="Freeform 33"/>
            <p:cNvSpPr/>
            <p:nvPr/>
          </p:nvSpPr>
          <p:spPr>
            <a:xfrm>
              <a:off x="533400" y="434054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7621" y="4310539"/>
              <a:ext cx="49467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类型和顺序一一对应：先 writeInt 再 writeUTF，对方就得先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readInt 再 readUTF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3400" y="494157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7621" y="4911566"/>
              <a:ext cx="523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 读到换行符才返回，发送方忘了写 \n 它就一直等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33400" y="5270182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7621" y="5240179"/>
              <a:ext cx="50008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套了缓冲流或 Writer 的输出流，写完要 flush()。实测把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TCPServer 的 dos.flush() 删掉，数据随进程丢失，客户端抛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SocketException: Connection reset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898005" y="1524000"/>
            <a:ext cx="4760595" cy="2107882"/>
            <a:chOff x="6898005" y="1524000"/>
            <a:chExt cx="4760595" cy="2107882"/>
          </a:xfrm>
        </p:grpSpPr>
        <p:sp>
          <p:nvSpPr>
            <p:cNvPr id="40" name="Rectangle 40"/>
            <p:cNvSpPr/>
            <p:nvPr/>
          </p:nvSpPr>
          <p:spPr>
            <a:xfrm>
              <a:off x="6898005" y="1524000"/>
              <a:ext cx="4760595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1657350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40396" y="1767364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int，读成一行文字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39940" y="2095500"/>
              <a:ext cx="431482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68337" y="22474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67575" y="2510314"/>
              <a:ext cx="372389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发送方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out.writeInt(3);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4 个字节 00 00 00 03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接收方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in.readLine();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!! 等不到换行符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898005" y="3816668"/>
            <a:ext cx="4760595" cy="2188845"/>
            <a:chOff x="6898005" y="3816668"/>
            <a:chExt cx="4760595" cy="2188845"/>
          </a:xfrm>
        </p:grpSpPr>
        <p:sp>
          <p:nvSpPr>
            <p:cNvPr id="49" name="Rectangle 49"/>
            <p:cNvSpPr/>
            <p:nvPr/>
          </p:nvSpPr>
          <p:spPr>
            <a:xfrm>
              <a:off x="6898005" y="3816668"/>
              <a:ext cx="4760595" cy="2188845"/>
            </a:xfrm>
            <a:prstGeom prst="roundRect">
              <a:avLst>
                <a:gd name="adj" fmla="val 6092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01840" y="402050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8098" y="40562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5171" y="4060984"/>
              <a:ext cx="3295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 只管送字节，不管字节是什么意思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4601" y="4412456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 是字节流，不记录「这是一个 int」「那是一行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字」。字节怎样解释，是通信双方自己约定的应用层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协议。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网络构造方法抛受检异常，必须捕获或声明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072515"/>
            <a:chOff x="533400" y="1524000"/>
            <a:chExt cx="5410200" cy="1072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：既不捕获也不声明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1108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Socket s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Socket(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"localhost"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8081);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776538"/>
            <a:ext cx="5410200" cy="882968"/>
            <a:chOff x="533400" y="2776538"/>
            <a:chExt cx="5410200" cy="882968"/>
          </a:xfrm>
        </p:grpSpPr>
        <p:sp>
          <p:nvSpPr>
            <p:cNvPr id="11" name="Rectangle 11"/>
            <p:cNvSpPr/>
            <p:nvPr/>
          </p:nvSpPr>
          <p:spPr>
            <a:xfrm>
              <a:off x="533400" y="2776538"/>
              <a:ext cx="541020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928461"/>
              <a:ext cx="855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21 报错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416" y="3189923"/>
              <a:ext cx="303104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未报告的异常错误UnknownHostException;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必须对其进行捕获或声明以便抛出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3839528"/>
            <a:ext cx="5410200" cy="1072515"/>
            <a:chOff x="533400" y="3839528"/>
            <a:chExt cx="5410200" cy="1072515"/>
          </a:xfrm>
        </p:grpSpPr>
        <p:sp>
          <p:nvSpPr>
            <p:cNvPr id="15" name="Rectangle 15"/>
            <p:cNvSpPr/>
            <p:nvPr/>
          </p:nvSpPr>
          <p:spPr>
            <a:xfrm>
              <a:off x="533400" y="3839528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99145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：父类异常写在前面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416" y="4252912"/>
              <a:ext cx="3177730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 ...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(UnknownHostException e) { ... 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已捕获到异常错误UnknownHostException</a:t>
              </a:r>
            </a:p>
          </p:txBody>
        </p:sp>
      </p:grpSp>
      <p:grpSp>
        <p:nvGrpSpPr>
          <p:cNvPr id="24" name="c1-card-4"/>
          <p:cNvGrpSpPr/>
          <p:nvPr/>
        </p:nvGrpSpPr>
        <p:grpSpPr>
          <a:xfrm>
            <a:off x="533400" y="5092065"/>
            <a:ext cx="5410200" cy="1268730"/>
            <a:chOff x="533400" y="5092065"/>
            <a:chExt cx="5410200" cy="1268730"/>
          </a:xfrm>
        </p:grpSpPr>
        <p:sp>
          <p:nvSpPr>
            <p:cNvPr id="19" name="Rectangle 19"/>
            <p:cNvSpPr/>
            <p:nvPr/>
          </p:nvSpPr>
          <p:spPr>
            <a:xfrm>
              <a:off x="533400" y="5092065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52901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2960" y="53244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4831" y="532495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子类异常写在父类前面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281" y="5668804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UnknownHostException 是 IOException 的子类。父类的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catch 在前，子类那一支永远轮不到，javac 直接报错。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6248400" y="1524000"/>
            <a:ext cx="5410200" cy="2207895"/>
            <a:chOff x="6248400" y="1524000"/>
            <a:chExt cx="5410200" cy="220789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2339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：try-with-resources 自动关闭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416" y="1937385"/>
              <a:ext cx="403783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(Socket s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Socket(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"localhost"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8081);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DataInputStream in =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DataInputStream(s.getInputStream()))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System.out.println(in.readUTF());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(UnknownHostException e) {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子类在前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"找不到主机："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e.getMessage());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"连接或读写失败："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code-2"/>
          <p:cNvGrpSpPr/>
          <p:nvPr/>
        </p:nvGrpSpPr>
        <p:grpSpPr>
          <a:xfrm>
            <a:off x="6248400" y="3912870"/>
            <a:ext cx="5410200" cy="870585"/>
            <a:chOff x="6248400" y="3912870"/>
            <a:chExt cx="5410200" cy="870585"/>
          </a:xfrm>
        </p:grpSpPr>
        <p:sp>
          <p:nvSpPr>
            <p:cNvPr id="29" name="Rectangle 29"/>
            <p:cNvSpPr/>
            <p:nvPr/>
          </p:nvSpPr>
          <p:spPr>
            <a:xfrm>
              <a:off x="6248400" y="3912870"/>
              <a:ext cx="5410200" cy="870585"/>
            </a:xfrm>
            <a:prstGeom prst="roundRect">
              <a:avLst>
                <a:gd name="adj" fmla="val 109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4064794"/>
              <a:ext cx="1752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实测：服务端没启动 / 已启动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606" y="4325541"/>
              <a:ext cx="4846066" cy="380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0"/>
                </a:lnSpc>
              </a:pPr>
              <a:r>
                <a:rPr lang="zh-CN" sz="10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连接或读写失败：java.net.ConnectException: Connection refused: connect</a:t>
              </a:r>
              <a:br/>
              <a:r>
                <a:rPr lang="zh-CN" sz="10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你好！我是服务端！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248400" y="4962525"/>
            <a:ext cx="5410200" cy="1397318"/>
            <a:chOff x="6248400" y="4962525"/>
            <a:chExt cx="5410200" cy="1397318"/>
          </a:xfrm>
        </p:grpSpPr>
        <p:sp>
          <p:nvSpPr>
            <p:cNvPr id="33" name="Rectangle 33"/>
            <p:cNvSpPr/>
            <p:nvPr/>
          </p:nvSpPr>
          <p:spPr>
            <a:xfrm>
              <a:off x="6248400" y="4962525"/>
              <a:ext cx="5410200" cy="1397318"/>
            </a:xfrm>
            <a:prstGeom prst="roundRect">
              <a:avLst>
                <a:gd name="adj" fmla="val 818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53188" y="5561648"/>
              <a:ext cx="200026" cy="200025"/>
              <a:chOff x="6453188" y="556164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53188" y="55616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92926" y="56060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27642" y="57172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511" y="5300186"/>
              <a:ext cx="436968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Socket、ServerSocket、DatagramSocket 都实现了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Closeable，可以直接写进 try(...)，离开时按声明的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逆序关闭。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5692" cy="909257"/>
            <a:chOff x="520446" y="342900"/>
            <a:chExt cx="88756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56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点对面通信：主线程只管 accept，每个连接交给一个线程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388790" cy="2529173"/>
            <a:chOff x="533400" y="1533525"/>
            <a:chExt cx="4388790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服务器端程序监听指定端口，等待客户端的连接请求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准备线程类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构造一个线程类，准备接管客户端会话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交出会话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96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Socket 会话产生后，把它交给一个新线程处理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继续监听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主线程回到 accept()，接着等下一个客户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4241482"/>
            <a:ext cx="5626418" cy="1313498"/>
            <a:chOff x="533400" y="4241482"/>
            <a:chExt cx="5626418" cy="1313498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562641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39340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035" y="4655344"/>
              <a:ext cx="329717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Socket socket = serverSocket.accept();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ServerThread(socket).start();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719367" y="1524000"/>
            <a:ext cx="4685436" cy="3614262"/>
            <a:chOff x="6719367" y="1524000"/>
            <a:chExt cx="4685436" cy="361426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4" r="0" b="3"/>
            <a:stretch>
              <a:fillRect/>
            </a:stretch>
          </p:blipFill>
          <p:spPr>
            <a:xfrm>
              <a:off x="6861810" y="1524000"/>
              <a:ext cx="4399598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719367" y="4918234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迎宾（主线程）只在门口接客，每位客人交给一位服务员（工作线程）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464618" y="5303520"/>
            <a:ext cx="5193982" cy="1059180"/>
            <a:chOff x="6464618" y="5303520"/>
            <a:chExt cx="5193982" cy="1059180"/>
          </a:xfrm>
        </p:grpSpPr>
        <p:sp>
          <p:nvSpPr>
            <p:cNvPr id="32" name="Rectangle 32"/>
            <p:cNvSpPr/>
            <p:nvPr/>
          </p:nvSpPr>
          <p:spPr>
            <a:xfrm>
              <a:off x="6464618" y="53035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57347" y="5729406"/>
              <a:ext cx="224134" cy="192560"/>
              <a:chOff x="6657347" y="5729406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769418" y="57997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57347" y="57294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69418" y="58775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71348" y="5452110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如果在 while 循环里直接处理会话，处理完一个客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户才能 accept 下一个，后来的客户只能在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backlog 队列里排队。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1529" cy="909257"/>
            <a:chOff x="520446" y="342900"/>
            <a:chExt cx="7171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1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例：点对面服务器 Server，主循环与服务线程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4559618"/>
            <a:chOff x="533400" y="1524000"/>
            <a:chExt cx="5410200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45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Server.java（上半）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23030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java.net.*;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PORT_NUM = 10000;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ServerSocket serverSocket;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Server()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serverSocket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ServerSocket(PORT_NUM);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start()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Socket socket = serverSocket.accept();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ServerThread(socket).start();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Server().start();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248400" y="1524000"/>
            <a:ext cx="5410200" cy="4374832"/>
            <a:chOff x="6248400" y="1524000"/>
            <a:chExt cx="5410200" cy="4374832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32897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Server.java（下半）：原课件类名拼作 ServerThead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797" y="1935956"/>
              <a:ext cx="4117086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ServerThread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 socket;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ServerThread(Socket socket)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.socket = socket;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Writer output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OutputStreamWriter(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socket.getOutputStream());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DataInputStream input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socket.getInputStream());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output.write(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"WHO_ARE_YOU\n"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output.flush();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"Client connected! id:"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input.readInt());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读回答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socket.close();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e.printStackTrace();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35420" cy="909257"/>
            <a:chOff x="520446" y="342900"/>
            <a:chExt cx="91354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354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例：客户端 Client，收到 WHO_ARE_YOU 就报上自己的 id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723322"/>
            <a:chOff x="533400" y="1524000"/>
            <a:chExt cx="5410200" cy="3723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996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Client.java（上半）：字段、构造方法、connect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971163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java.io.*;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java.net.*;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java.util.concurrent.atomic.AtomicInteger;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 = 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Socket socket;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AtomicInteger idGen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AtomicInteger(1);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.id = idGen.getAndIncrement();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"Client Started: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id);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connect(InetAddress address)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Socket(address, Server.PORT_NUM);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248400" y="1524000"/>
            <a:ext cx="5410200" cy="2586990"/>
            <a:chOff x="6248400" y="1524000"/>
            <a:chExt cx="5410200" cy="2586990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1935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Client.java（中段）：一问一答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416" y="1937385"/>
              <a:ext cx="4431220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comm()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BufferedReader input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InputStreamReader(socket.getInputStream()));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DataOutputStream output =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DataOutputStream(socket.getOutputStream());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cmd = input.readLine();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读服务器的问题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(cmd.equals(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"WHO_ARE_YOU"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output.writeInt(id);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回答 4 字节 int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socket.close();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6248400" y="4286250"/>
            <a:ext cx="5410200" cy="2025968"/>
            <a:chOff x="6248400" y="4286250"/>
            <a:chExt cx="5410200" cy="2025968"/>
          </a:xfrm>
        </p:grpSpPr>
        <p:sp>
          <p:nvSpPr>
            <p:cNvPr id="15" name="Rectangle 15"/>
            <p:cNvSpPr/>
            <p:nvPr/>
          </p:nvSpPr>
          <p:spPr>
            <a:xfrm>
              <a:off x="6248400" y="4286250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57925" y="4419600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8905" y="447865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8344" y="45129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2047" y="483489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原课件方法名拼作 connet，已改为 connect；idGen 的声明原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22 页，挪到了字段处。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2047" y="5394960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服务器用 Writer 写一行文字，这边就用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BufferedReader.readLine() 读；这边用 writeInt 回答，服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务器就用 readInt 读。两对读写正好配对。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22218" cy="909257"/>
            <a:chOff x="520446" y="342900"/>
            <a:chExt cx="70222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222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例：Client 的 main 同时启动 4 个客户端线程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153852"/>
            <a:chOff x="533400" y="1524000"/>
            <a:chExt cx="6059805" cy="4153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05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Client.java（下半）：main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861814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5; ++i)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Thread() {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匿名子类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Client client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client.connect(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InetAddress.getLoopbackAddress());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client.comm();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}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e.printStackTrace();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}.start();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898005" y="1533525"/>
            <a:ext cx="4456176" cy="3074099"/>
            <a:chOff x="6898005" y="1533525"/>
            <a:chExt cx="4456176" cy="3074099"/>
          </a:xfrm>
        </p:grpSpPr>
        <p:sp>
          <p:nvSpPr>
            <p:cNvPr id="11" name="Rectangle 11"/>
            <p:cNvSpPr/>
            <p:nvPr/>
          </p:nvSpPr>
          <p:spPr>
            <a:xfrm>
              <a:off x="7031355" y="1676400"/>
              <a:ext cx="19050" cy="25250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898005" y="237553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91629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898005" y="321754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1629" y="32913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98005" y="405860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41324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866" y="1566386"/>
              <a:ext cx="818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 4 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1009" y="1846898"/>
              <a:ext cx="3738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取 1、2、3、4，每次 new 一个 Thread 的匿名子类并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9866" y="2408396"/>
              <a:ext cx="2171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每个线程各建一个 Client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1009" y="2688907"/>
              <a:ext cx="40431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构造方法从 idGen 领号，领到 1~4 中的一个，并打印 Client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325040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连本机服务器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3530918"/>
              <a:ext cx="3296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getLoopbackAddress() 即 127.0.0.1，端口用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Server.PORT_NUM = 10000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4092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一问一答后关闭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4372928"/>
              <a:ext cx="3909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comm() 读到 WHO_ARE_YOU，回写 id，关闭 Socket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898005" y="4783455"/>
            <a:ext cx="4760595" cy="1545908"/>
            <a:chOff x="6898005" y="4783455"/>
            <a:chExt cx="4760595" cy="1545908"/>
          </a:xfrm>
        </p:grpSpPr>
        <p:sp>
          <p:nvSpPr>
            <p:cNvPr id="29" name="Rectangle 29"/>
            <p:cNvSpPr/>
            <p:nvPr/>
          </p:nvSpPr>
          <p:spPr>
            <a:xfrm>
              <a:off x="6898005" y="4783455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01840" y="4987290"/>
              <a:ext cx="1845945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46651" y="5023009"/>
              <a:ext cx="1756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为什么用 AtomicInteger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4601" y="5360194"/>
              <a:ext cx="411721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个线程同时 new Client()。普通 int 做 id++ 可能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丢更新、领到重号（第9章的竞争条件），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getAndIncrement() 是原子操作，不会重号。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运行结果：4 个客户都被服务，但打印顺序每次不同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5415915" cy="2446497"/>
            <a:chOff x="527685" y="1524000"/>
            <a:chExt cx="5415915" cy="24464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78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8752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7083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服务器端输出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0787" y="2085022"/>
              <a:ext cx="1282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Started: 1 2 3 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4866" y="2085022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id: 4 3 1 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实测第 1 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0787" y="2515552"/>
              <a:ext cx="1282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Started: 4 1 3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4866" y="2515552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id: 1 3 4 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实测第 2 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20787" y="2946082"/>
              <a:ext cx="1282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Started: 4 3 1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4866" y="2946082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id: 1 3 2 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实测第 3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20787" y="3375660"/>
              <a:ext cx="1282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Started: 4 3 2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4866" y="3375660"/>
              <a:ext cx="787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id: 1 4 3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1067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77475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750469"/>
              <a:ext cx="4753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实测为 JDK 21，先启动 Server，再运行 3 次 Client；输出前缀有省略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4111942"/>
            <a:ext cx="5410200" cy="2137410"/>
            <a:chOff x="533400" y="4111942"/>
            <a:chExt cx="5410200" cy="2137410"/>
          </a:xfrm>
        </p:grpSpPr>
        <p:sp>
          <p:nvSpPr>
            <p:cNvPr id="33" name="Rectangle 33"/>
            <p:cNvSpPr/>
            <p:nvPr/>
          </p:nvSpPr>
          <p:spPr>
            <a:xfrm>
              <a:off x="533400" y="4111942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7235" y="431577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6742" y="4351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为什么顺序不定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44855" y="47482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1446" y="4688681"/>
              <a:ext cx="433362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个线程并发执行，谁先跑到 println 由调度决定。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getAndIncrement 保证 id 不重复，但取号和打印是两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步，打印顺序不一定按号码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44855" y="5611177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1446" y="5551646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服务器端每个连接也是一个线程，谁先读到 readInt 谁先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打印</a:t>
              </a:r>
            </a:p>
          </p:txBody>
        </p:sp>
      </p:grpSp>
      <p:grpSp>
        <p:nvGrpSpPr>
          <p:cNvPr id="71" name="c2-flow-1"/>
          <p:cNvGrpSpPr/>
          <p:nvPr/>
        </p:nvGrpSpPr>
        <p:grpSpPr>
          <a:xfrm>
            <a:off x="6437948" y="1907858"/>
            <a:ext cx="5031105" cy="3348037"/>
            <a:chOff x="6437948" y="1907858"/>
            <a:chExt cx="5031105" cy="3348037"/>
          </a:xfrm>
        </p:grpSpPr>
        <p:sp>
          <p:nvSpPr>
            <p:cNvPr id="41" name="Freeform 41"/>
            <p:cNvSpPr/>
            <p:nvPr/>
          </p:nvSpPr>
          <p:spPr>
            <a:xfrm>
              <a:off x="8763952" y="220980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038272" y="21574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6050" y="2511742"/>
              <a:ext cx="9525" cy="663892"/>
            </a:xfrm>
            <a:custGeom>
              <a:avLst/>
              <a:gdLst/>
              <a:ahLst/>
              <a:cxnLst/>
              <a:rect l="l" t="t" r="r" b="b"/>
              <a:pathLst>
                <a:path w="9525" h="663892">
                  <a:moveTo>
                    <a:pt x="0" y="0"/>
                  </a:moveTo>
                  <a:lnTo>
                    <a:pt x="0" y="663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253662" y="31756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868728" y="358235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63952" y="35299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600950" y="3883342"/>
              <a:ext cx="9525" cy="663892"/>
            </a:xfrm>
            <a:custGeom>
              <a:avLst/>
              <a:gdLst/>
              <a:ahLst/>
              <a:cxnLst/>
              <a:rect l="l" t="t" r="r" b="b"/>
              <a:pathLst>
                <a:path w="9525" h="663892">
                  <a:moveTo>
                    <a:pt x="0" y="0"/>
                  </a:moveTo>
                  <a:lnTo>
                    <a:pt x="0" y="6638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548562" y="4547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763952" y="495395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038272" y="49015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37948" y="1907858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143048" y="1907858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43048" y="3280410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37948" y="3280410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37948" y="4652010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43048" y="4652010"/>
              <a:ext cx="2326005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70014" y="2023110"/>
              <a:ext cx="12618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线程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Socket(...)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89414" y="2023110"/>
              <a:ext cx="10332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 主线程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accept() 返回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10344" y="3395662"/>
              <a:ext cx="13914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ServerThread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WHO_ARE_YOU\n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19544" y="3395662"/>
              <a:ext cx="11628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 得到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WHO_ARE_YOU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3844" y="4767262"/>
              <a:ext cx="9342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writeInt(id)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66554" y="4767262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readInt() 打印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close()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772525" y="199358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806815" y="20202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334625" y="280416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357866" y="28308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新线程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39200" y="33661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77490" y="33928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39200" y="47377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877490" y="47644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7524" cy="909257"/>
            <a:chOff x="520446" y="342900"/>
            <a:chExt cx="71375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3086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728" y="407194"/>
              <a:ext cx="3073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TCP 的 Socket 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75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版本补充：JDK 21 用虚拟线程写点对面服务器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550092"/>
            <a:chOff x="533400" y="1524000"/>
            <a:chExt cx="6276022" cy="4550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550092"/>
            </a:xfrm>
            <a:prstGeom prst="roundRect">
              <a:avLst>
                <a:gd name="adj" fmla="val 20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870069" cy="4067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(ServerSocket server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ServerSocket(10000);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ExecutorService pool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Executors.newVirtualThreadPerTaskExecutor())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Socket socket = server.accept();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pool.submit(() -&gt; handle(socket));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handle(Socket socket)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(socket;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Writer out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OutputStreamWriter(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socket.getOutputStream());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DataInputStream in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socket.getInputStream()))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out.write(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"WHO_ARE_YOU\n"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out.flush();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"Client connected! id:"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in.readInt());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 e.printStackTrace();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table-1"/>
          <p:cNvGrpSpPr/>
          <p:nvPr/>
        </p:nvGrpSpPr>
        <p:grpSpPr>
          <a:xfrm>
            <a:off x="7114222" y="1524000"/>
            <a:ext cx="4544378" cy="2000250"/>
            <a:chOff x="7114222" y="1524000"/>
            <a:chExt cx="4544378" cy="2000250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1861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7308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839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11378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每个连接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3918" y="20454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新建一个平台线程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19360" y="20454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新建一个虚拟线程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14222" y="23193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14222" y="2324100"/>
              <a:ext cx="454437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11378" y="2545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同时上万连接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83918" y="2545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线程栈占内存多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19360" y="2445544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虚拟线程很轻，可以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撑住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114222" y="29194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11378" y="3145631"/>
              <a:ext cx="888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 Socket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3918" y="3045619"/>
              <a:ext cx="1277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 close()，出异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常时会漏掉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19360" y="3045619"/>
              <a:ext cx="12844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 资源语句自动关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38200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1744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2-code-2"/>
          <p:cNvGrpSpPr/>
          <p:nvPr/>
        </p:nvGrpSpPr>
        <p:grpSpPr>
          <a:xfrm>
            <a:off x="7114222" y="3693795"/>
            <a:ext cx="4544378" cy="1209675"/>
            <a:chOff x="7114222" y="3693795"/>
            <a:chExt cx="4544378" cy="1209675"/>
          </a:xfrm>
        </p:grpSpPr>
        <p:sp>
          <p:nvSpPr>
            <p:cNvPr id="31" name="Rectangle 31"/>
            <p:cNvSpPr/>
            <p:nvPr/>
          </p:nvSpPr>
          <p:spPr>
            <a:xfrm>
              <a:off x="7114222" y="3693795"/>
              <a:ext cx="454437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42620" y="3845719"/>
              <a:ext cx="16307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实测：配合上一例的 Client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2620" y="4106704"/>
              <a:ext cx="1515872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Client connected! id:2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Client connected! id:1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Client connected! id:3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Client connected! id:4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7114222" y="5073968"/>
            <a:ext cx="4544378" cy="1001078"/>
            <a:chOff x="7114222" y="5073968"/>
            <a:chExt cx="4544378" cy="1001078"/>
          </a:xfrm>
        </p:grpSpPr>
        <p:sp>
          <p:nvSpPr>
            <p:cNvPr id="35" name="Rectangle 35"/>
            <p:cNvSpPr/>
            <p:nvPr/>
          </p:nvSpPr>
          <p:spPr>
            <a:xfrm>
              <a:off x="7114222" y="5073968"/>
              <a:ext cx="4544378" cy="1001078"/>
            </a:xfrm>
            <a:prstGeom prst="roundRect">
              <a:avLst>
                <a:gd name="adj" fmla="val 1141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19010" y="5474018"/>
              <a:ext cx="200026" cy="200026"/>
              <a:chOff x="7319010" y="547401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19010" y="54740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19023" y="5540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07910" y="55740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621714" y="5231130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虚拟线程是 JDK 21 的正式特性（JEP 444），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try (socket; …)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这种写已有变量的形式要 JDK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起。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823819" cy="2643187"/>
            <a:chOff x="667512" y="1835468"/>
            <a:chExt cx="6823819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12338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UDP 的数据报通信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不建连接，每个包自己写上目的地址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5845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 是信封加信纸，DatagramSocket 是投递和收信的邮筒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 发出一个包，receive() 阻塞到收到一个包为止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数据报：各走各的路，不保证送到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64958"/>
            <a:chOff x="533400" y="1524000"/>
            <a:chExt cx="5626418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784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数据报 Datagram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一种无连接的通信方式。数据报经过不确定的路径传向目的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地，可靠性和正确性都不能保证：可能重复到达，也可能根本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到不了。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6161" y="3298031"/>
            <a:ext cx="5633657" cy="1503617"/>
            <a:chOff x="526161" y="3298031"/>
            <a:chExt cx="5633657" cy="1503617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298031"/>
              <a:ext cx="1612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DatagramPacket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32101" y="3298031"/>
              <a:ext cx="362127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数据报包。发送方用它装上要发的数据和目的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地址、端口；接收方用它准备一块缓冲区来接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1395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4255294"/>
              <a:ext cx="1612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DatagramSocket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32101" y="425529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收发数据报的套接字，是发送和接收的端点。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 发送，receive() 接收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931092"/>
            <a:ext cx="5626418" cy="1018222"/>
            <a:chOff x="533400" y="4931092"/>
            <a:chExt cx="5626418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4931092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336023"/>
              <a:ext cx="224134" cy="192560"/>
              <a:chOff x="726129" y="533602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4063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3360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4841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078254"/>
              <a:ext cx="473938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DatagramSocket 构造时绑不上指定端口（比如端口已被占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用）会抛 SocketException，实测具体是它的子类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BindException，代码里要处理。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464618" y="1524000"/>
            <a:ext cx="5193982" cy="3221355"/>
            <a:chOff x="6464618" y="1524000"/>
            <a:chExt cx="5193982" cy="3221355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152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3953" y="165544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TCP 这边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55146" y="1655445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UDP 这边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9964" y="219170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服务器端的类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20609" y="2085022"/>
              <a:ext cx="11475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+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1802" y="2191702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5927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59746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9964" y="27289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客户端的类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20609" y="2728912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1802" y="2728912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0232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964" y="32661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数据怎么发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20609" y="32661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往输出流写字节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41802" y="3159442"/>
              <a:ext cx="1566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装进 DatagramPacket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 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6661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67093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9964" y="380238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对方地址写在哪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20609" y="3802380"/>
              <a:ext cx="1455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 Socket 时写一次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745980" y="3680460"/>
              <a:ext cx="190309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41802" y="38023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每个要发的包里都写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40967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9964" y="43395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服务器怎么回信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20609" y="4232910"/>
              <a:ext cx="1520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Socket 的输出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745980" y="4110990"/>
              <a:ext cx="190309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41802" y="423291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从收到的包取地址和端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10500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31692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2"/>
          <p:cNvGrpSpPr/>
          <p:nvPr/>
        </p:nvGrpSpPr>
        <p:grpSpPr>
          <a:xfrm>
            <a:off x="6464618" y="4930140"/>
            <a:ext cx="5193982" cy="1019175"/>
            <a:chOff x="6464618" y="4930140"/>
            <a:chExt cx="5193982" cy="1019175"/>
          </a:xfrm>
        </p:grpSpPr>
        <p:sp>
          <p:nvSpPr>
            <p:cNvPr id="58" name="Rectangle 58"/>
            <p:cNvSpPr/>
            <p:nvPr/>
          </p:nvSpPr>
          <p:spPr>
            <a:xfrm>
              <a:off x="6464618" y="4930140"/>
              <a:ext cx="5193982" cy="1019175"/>
            </a:xfrm>
            <a:prstGeom prst="roundRect">
              <a:avLst>
                <a:gd name="adj" fmla="val 1121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339715"/>
              <a:ext cx="200026" cy="200025"/>
              <a:chOff x="6669405" y="533971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3397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3841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4952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729" y="5078254"/>
              <a:ext cx="424345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UDP 服务器只需一个 DatagramSocket 就能和任意多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个客户收发，不用 accept，也不用为每个客户开线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8111" cy="909257"/>
            <a:chOff x="520446" y="342900"/>
            <a:chExt cx="74681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81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 类：发送和接收数据报的端点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28447" y="1524000"/>
            <a:ext cx="6497193" cy="3502056"/>
            <a:chOff x="528447" y="1524000"/>
            <a:chExt cx="6497193" cy="35020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6502" y="1641157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 / 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06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1357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03738" y="202311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常用于客户端，系统随机分配可用端口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19355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DatagramSocket(int port)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3738" y="2404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使用固定端口，服务器端用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67100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DatagramSocket(int port, InetAddress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laddr)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3738" y="287845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绑定到本机指定地址（多网卡时用）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1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246120"/>
              <a:ext cx="33566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353752"/>
              <a:ext cx="2350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receive(DatagramPacket p)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03738" y="3353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接收一个包，没收到就阻塞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12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734752"/>
              <a:ext cx="2143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send(DatagramPacket p)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03738" y="37347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发往包里写的目的地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38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859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4116705"/>
              <a:ext cx="19355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setSoTimeout(int ms)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03738" y="4116705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receive 设超时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375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4497705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close()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3738" y="449770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关闭套接字，释放端口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492240" cy="3237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04298" y="1524000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4835366"/>
              <a:ext cx="46414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继承关系：java.lang.Object → java.net.DatagramSocket；最后两行为补充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5152072"/>
            <a:ext cx="6492240" cy="926782"/>
            <a:chOff x="533400" y="5152072"/>
            <a:chExt cx="6492240" cy="926782"/>
          </a:xfrm>
        </p:grpSpPr>
        <p:sp>
          <p:nvSpPr>
            <p:cNvPr id="38" name="Rectangle 38"/>
            <p:cNvSpPr/>
            <p:nvPr/>
          </p:nvSpPr>
          <p:spPr>
            <a:xfrm>
              <a:off x="533400" y="5152072"/>
              <a:ext cx="6492240" cy="926782"/>
            </a:xfrm>
            <a:prstGeom prst="roundRect">
              <a:avLst>
                <a:gd name="adj" fmla="val 1233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514975"/>
              <a:ext cx="200026" cy="200025"/>
              <a:chOff x="738188" y="551497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514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5559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5670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1273" y="5408771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客户端一般用无参构造，让系统分配端口。后面例 2 的客户端写死了 8088，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同一台机器上同时开两个就会在第二个上抛 BindException。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7330440" y="1524000"/>
            <a:ext cx="4328160" cy="1033462"/>
            <a:chOff x="7330440" y="1524000"/>
            <a:chExt cx="4328160" cy="1033462"/>
          </a:xfrm>
        </p:grpSpPr>
        <p:sp>
          <p:nvSpPr>
            <p:cNvPr id="45" name="Rectangle 45"/>
            <p:cNvSpPr/>
            <p:nvPr/>
          </p:nvSpPr>
          <p:spPr>
            <a:xfrm>
              <a:off x="7330440" y="1524000"/>
              <a:ext cx="432816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58837" y="167592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实测：同一端口绑两次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58837" y="1935956"/>
              <a:ext cx="2754249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new DatagramSocket(9876);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第一次成功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new DatagramSocket(9876);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第二次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-&gt; java.net.BindException</a:t>
              </a:r>
            </a:p>
          </p:txBody>
        </p:sp>
      </p:grpSp>
      <p:grpSp>
        <p:nvGrpSpPr>
          <p:cNvPr id="52" name="c2-code-2"/>
          <p:cNvGrpSpPr/>
          <p:nvPr/>
        </p:nvGrpSpPr>
        <p:grpSpPr>
          <a:xfrm>
            <a:off x="7330440" y="2722245"/>
            <a:ext cx="4328160" cy="1033462"/>
            <a:chOff x="7330440" y="2722245"/>
            <a:chExt cx="4328160" cy="1033462"/>
          </a:xfrm>
        </p:grpSpPr>
        <p:sp>
          <p:nvSpPr>
            <p:cNvPr id="49" name="Rectangle 49"/>
            <p:cNvSpPr/>
            <p:nvPr/>
          </p:nvSpPr>
          <p:spPr>
            <a:xfrm>
              <a:off x="7330440" y="2722245"/>
              <a:ext cx="432816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58837" y="2874169"/>
              <a:ext cx="20896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实测：500 毫秒内没收到包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58837" y="3135154"/>
              <a:ext cx="2337308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rx.setSoTimeout(500);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rx.receive(p);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-&gt; java.net.SocketTimeoutException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7330440" y="3920490"/>
            <a:ext cx="4328160" cy="2157412"/>
            <a:chOff x="7330440" y="3920490"/>
            <a:chExt cx="4328160" cy="2157412"/>
          </a:xfrm>
        </p:grpSpPr>
        <p:sp>
          <p:nvSpPr>
            <p:cNvPr id="53" name="Rectangle 53"/>
            <p:cNvSpPr/>
            <p:nvPr/>
          </p:nvSpPr>
          <p:spPr>
            <a:xfrm>
              <a:off x="7330440" y="3920490"/>
              <a:ext cx="4328160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39965" y="4053840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49515" y="41014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42187" y="41343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43038" y="4441984"/>
              <a:ext cx="3629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不设超时的 receive() 会一直等下去。UDP 包丢了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也没人通知，客户端最好都设超时。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43038" y="4969669"/>
              <a:ext cx="373557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BindException 继承 SocketException，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SocketTimeoutException 继承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InterruptedIOException，都是 IOException 的子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类，main 声明 throws IOException 就能抛出去。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71078" cy="909257"/>
            <a:chOff x="520446" y="342900"/>
            <a:chExt cx="98710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710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 类：带地址的是发送包，不带地址的是接收包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27685" y="1524000"/>
            <a:ext cx="6281737" cy="4770596"/>
            <a:chOff x="527685" y="1524000"/>
            <a:chExt cx="6281737" cy="477059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044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143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3617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length)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87315" y="1982152"/>
              <a:ext cx="1612582" cy="429578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8561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373395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offset, int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5613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32309"/>
              <a:ext cx="340111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length,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address, int port)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87315" y="3107055"/>
              <a:ext cx="161258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5613" y="33456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68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77285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907631"/>
              <a:ext cx="373395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offset, int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length, InetAddress address, int port)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5613" y="40209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434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583906"/>
              <a:ext cx="340111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length,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SocketAddress address)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5613" y="46972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1187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12349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259229"/>
              <a:ext cx="373395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DatagramPacket(byte[] buf, int offset, int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length, SocketAddress address)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5613" y="53725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4274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73028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685" y="5874544"/>
              <a:ext cx="59641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继承关系：java.lang.Object → java.net.DatagramPacket；offset 表示从 buf 的第几个字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节开始用</a:t>
              </a:r>
            </a:p>
          </p:txBody>
        </p:sp>
      </p:grpSp>
      <p:grpSp>
        <p:nvGrpSpPr>
          <p:cNvPr id="47" name="c2-kv-1"/>
          <p:cNvGrpSpPr/>
          <p:nvPr/>
        </p:nvGrpSpPr>
        <p:grpSpPr>
          <a:xfrm>
            <a:off x="7106602" y="1548765"/>
            <a:ext cx="4551998" cy="3023235"/>
            <a:chOff x="7106602" y="1548765"/>
            <a:chExt cx="4551998" cy="3023235"/>
          </a:xfrm>
        </p:grpSpPr>
        <p:sp>
          <p:nvSpPr>
            <p:cNvPr id="36" name="TextBox 36"/>
            <p:cNvSpPr txBox="1"/>
            <p:nvPr/>
          </p:nvSpPr>
          <p:spPr>
            <a:xfrm>
              <a:off x="7106602" y="1548765"/>
              <a:ext cx="1073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getData()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78315" y="1548765"/>
              <a:ext cx="2110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返回整个缓冲区数组（不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是只有收到的那几个字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14222" y="243268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06602" y="2552700"/>
              <a:ext cx="1306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getLength()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8315" y="2552700"/>
              <a:ext cx="1920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这次实际收到（或要发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送）的字节数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14222" y="315468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06602" y="3274695"/>
              <a:ext cx="152590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getAddress()、</a:t>
              </a:r>
              <a:br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getPort()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78315" y="3274695"/>
              <a:ext cx="2110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收到的包是谁发来的，回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信就发到这里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387667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6602" y="3996690"/>
              <a:ext cx="2129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getSocketAddress()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78315" y="3996690"/>
              <a:ext cx="2110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地址和端口合在一起，如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/127.0.0.1:8088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7114222" y="4703445"/>
            <a:ext cx="4544378" cy="1621155"/>
            <a:chOff x="7114222" y="4703445"/>
            <a:chExt cx="4544378" cy="1621155"/>
          </a:xfrm>
        </p:grpSpPr>
        <p:sp>
          <p:nvSpPr>
            <p:cNvPr id="48" name="Rectangle 48"/>
            <p:cNvSpPr/>
            <p:nvPr/>
          </p:nvSpPr>
          <p:spPr>
            <a:xfrm>
              <a:off x="7114222" y="4703445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23772" y="49129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13981" y="4948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23848" y="4948238"/>
              <a:ext cx="258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取数据一定配 getLength()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6152" y="5309235"/>
              <a:ext cx="3901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new String(p.getData(), 0,</a:t>
              </a:r>
              <a:br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p.getLength(), "utf-8")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，缓冲区后面没用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到的部分全是 0。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一问一答：服务器从收到的包里取回信地址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1520190" y="1656398"/>
            <a:ext cx="9153353" cy="3430333"/>
            <a:chOff x="1520190" y="1656398"/>
            <a:chExt cx="9153353" cy="3430333"/>
          </a:xfrm>
        </p:grpSpPr>
        <p:sp>
          <p:nvSpPr>
            <p:cNvPr id="7" name="Freeform 7"/>
            <p:cNvSpPr/>
            <p:nvPr/>
          </p:nvSpPr>
          <p:spPr>
            <a:xfrm>
              <a:off x="2758440" y="2671762"/>
              <a:ext cx="9525" cy="502920"/>
            </a:xfrm>
            <a:custGeom>
              <a:avLst/>
              <a:gdLst/>
              <a:ahLst/>
              <a:cxnLst/>
              <a:rect l="l" t="t" r="r" b="b"/>
              <a:pathLst>
                <a:path w="9525" h="502920">
                  <a:moveTo>
                    <a:pt x="0" y="0"/>
                  </a:moveTo>
                  <a:lnTo>
                    <a:pt x="0" y="5029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10815" y="3174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58440" y="3746182"/>
              <a:ext cx="9525" cy="751522"/>
            </a:xfrm>
            <a:custGeom>
              <a:avLst/>
              <a:gdLst/>
              <a:ahLst/>
              <a:cxnLst/>
              <a:rect l="l" t="t" r="r" b="b"/>
              <a:pathLst>
                <a:path w="9525" h="751522">
                  <a:moveTo>
                    <a:pt x="0" y="0"/>
                  </a:moveTo>
                  <a:lnTo>
                    <a:pt x="0" y="751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10815" y="4497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433560" y="2671762"/>
              <a:ext cx="9525" cy="502920"/>
            </a:xfrm>
            <a:custGeom>
              <a:avLst/>
              <a:gdLst/>
              <a:ahLst/>
              <a:cxnLst/>
              <a:rect l="l" t="t" r="r" b="b"/>
              <a:pathLst>
                <a:path w="9525" h="502920">
                  <a:moveTo>
                    <a:pt x="0" y="0"/>
                  </a:moveTo>
                  <a:lnTo>
                    <a:pt x="0" y="5029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385935" y="3174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433560" y="3746182"/>
              <a:ext cx="9525" cy="751522"/>
            </a:xfrm>
            <a:custGeom>
              <a:avLst/>
              <a:gdLst/>
              <a:ahLst/>
              <a:cxnLst/>
              <a:rect l="l" t="t" r="r" b="b"/>
              <a:pathLst>
                <a:path w="9525" h="751522">
                  <a:moveTo>
                    <a:pt x="0" y="0"/>
                  </a:moveTo>
                  <a:lnTo>
                    <a:pt x="0" y="751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385935" y="44977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96690" y="2640330"/>
              <a:ext cx="4151948" cy="668655"/>
            </a:xfrm>
            <a:custGeom>
              <a:avLst/>
              <a:gdLst/>
              <a:ahLst/>
              <a:cxnLst/>
              <a:rect l="l" t="t" r="r" b="b"/>
              <a:pathLst>
                <a:path w="4151948" h="668655">
                  <a:moveTo>
                    <a:pt x="0" y="668655"/>
                  </a:moveTo>
                  <a:lnTo>
                    <a:pt x="415194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141018" y="2593658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31433"/>
                  </a:moveTo>
                  <a:lnTo>
                    <a:pt x="1524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91940" y="4831080"/>
              <a:ext cx="4150995" cy="9525"/>
            </a:xfrm>
            <a:custGeom>
              <a:avLst/>
              <a:gdLst/>
              <a:ahLst/>
              <a:cxnLst/>
              <a:rect l="l" t="t" r="r" b="b"/>
              <a:pathLst>
                <a:path w="4150995" h="9525">
                  <a:moveTo>
                    <a:pt x="415099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A1343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96690" y="47834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A1343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15440" y="2195512"/>
              <a:ext cx="228600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520190" y="3269932"/>
              <a:ext cx="247650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20190" y="4592955"/>
              <a:ext cx="2476500" cy="4762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242935" y="2195512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242935" y="3269932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242935" y="4592955"/>
              <a:ext cx="2381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97043" y="1656398"/>
              <a:ext cx="1322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 UDPClient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93576" y="1656398"/>
              <a:ext cx="24799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UDPServer（端口 4445）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0409" y="2263140"/>
              <a:ext cx="1916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DatagramSocket()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7712" y="24536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系统分配端口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84583" y="3338512"/>
              <a:ext cx="2347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装包：buf + 服务器地址 + 4445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72469" y="3529012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6747" y="4661535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receive() 阻塞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8630" y="4852035"/>
              <a:ext cx="2439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收到后按 getLength() 取字符串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7703" y="2263140"/>
              <a:ext cx="229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DatagramSocket(4445)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41867" y="245364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receive() 阻塞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60566" y="3338512"/>
              <a:ext cx="2145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getAddress()、getPort()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81288" y="35290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取出客户端的地址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22212" y="4661535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装包：报价 + 客户端地址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47589" y="485203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21642" y="2873692"/>
              <a:ext cx="11963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21185" y="290845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请求包（内容为空）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95022" y="4737735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6968" y="47725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回复包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10062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服务器事先不知道谁会来。回信地址只能从收到的包里拿，这是 UDP 服务器和 TCP 服务器写法差别最大的地方。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1：报价服务器，每收到一个请求回一句报价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3139440"/>
            <a:chOff x="533400" y="1524000"/>
            <a:chExt cx="4760595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11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UDPServer.java：主类、字段与构造方法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253359" cy="2636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UDPServer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UDPServerThread().start();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UDPServerThread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DatagramSocket socket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 in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moreQuotes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UDPServerThread()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DatagramSocket(4445);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BufferedReader(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StringReader(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"one\r two\r three\r four\r five\r six\r"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833938"/>
            <a:ext cx="4760595" cy="1443038"/>
            <a:chOff x="533400" y="4833938"/>
            <a:chExt cx="4760595" cy="1443038"/>
          </a:xfrm>
        </p:grpSpPr>
        <p:sp>
          <p:nvSpPr>
            <p:cNvPr id="11" name="Rectangle 11"/>
            <p:cNvSpPr/>
            <p:nvPr/>
          </p:nvSpPr>
          <p:spPr>
            <a:xfrm>
              <a:off x="533400" y="4833938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96728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50206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50534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5364480"/>
              <a:ext cx="41199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28 页截图跳过了第 21–36 行（while 循环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体），右栏按 Java 官方教程 QuoteServerThread 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全；类名 UDPSever 改为 UDPServer。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5598795" y="1524000"/>
            <a:ext cx="6059805" cy="3758565"/>
            <a:chOff x="5598795" y="1524000"/>
            <a:chExt cx="6059805" cy="3758565"/>
          </a:xfrm>
        </p:grpSpPr>
        <p:sp>
          <p:nvSpPr>
            <p:cNvPr id="17" name="Rectangle 17"/>
            <p:cNvSpPr/>
            <p:nvPr/>
          </p:nvSpPr>
          <p:spPr>
            <a:xfrm>
              <a:off x="5598795" y="1524000"/>
              <a:ext cx="6059805" cy="3758565"/>
            </a:xfrm>
            <a:prstGeom prst="roundRect">
              <a:avLst>
                <a:gd name="adj" fmla="val 25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27192" y="1675924"/>
              <a:ext cx="2369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run()：收一个请求，按来信地址回一句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27382" y="1935575"/>
              <a:ext cx="3613785" cy="3253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(moreQuotes)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buf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[256];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DatagramPacket packet =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DatagramPacket(buf, buf.length);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socket.receive(packet);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等请求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String dString = getNextQuote();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buf = dString.getBytes(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"utf-8"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InetAddress address = packet.getAddress();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port = packet.getPort();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回信地址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packet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DatagramPacket(buf, buf.length,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            address, port);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socket.send(packet);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e.printStackTrace();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moreQuotes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socket.close();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51596" cy="909257"/>
            <a:chOff x="520446" y="342900"/>
            <a:chExt cx="91515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515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1：getNextQuote() 逐行取报价，取完就让服务器停下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602230"/>
            <a:chOff x="533400" y="1524000"/>
            <a:chExt cx="5410200" cy="2602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02230"/>
            </a:xfrm>
            <a:prstGeom prst="roundRect">
              <a:avLst>
                <a:gd name="adj" fmla="val 36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217037" cy="2105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getNextQuote()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returnValue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((returnValue = in.readLine()) ==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in.close();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moreQuotes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returnValue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 more quotes. Goodbye"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returnValue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"IOException"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returnValue;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291012"/>
            <a:ext cx="5410200" cy="1945005"/>
            <a:chOff x="533400" y="4291012"/>
            <a:chExt cx="5410200" cy="1945005"/>
          </a:xfrm>
        </p:grpSpPr>
        <p:sp>
          <p:nvSpPr>
            <p:cNvPr id="11" name="Rectangle 11"/>
            <p:cNvSpPr/>
            <p:nvPr/>
          </p:nvSpPr>
          <p:spPr>
            <a:xfrm>
              <a:off x="533400" y="4291012"/>
              <a:ext cx="5410200" cy="1945005"/>
            </a:xfrm>
            <a:prstGeom prst="roundRect">
              <a:avLst>
                <a:gd name="adj" fmla="val 6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424362"/>
              <a:ext cx="47625" cy="16783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4719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096" y="45048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812506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readLine() 把 \r、\n、\r\n 都当作行结束符。报价串里每个 \r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后面紧跟一个空格，这个空格就成了下一行的开头。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5340191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读到末尾返回 null 时，把 moreQuotes 置为 false，run() 发完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这句告别语就退出循环并关闭套接字。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243447" y="1524000"/>
            <a:ext cx="5415153" cy="3883056"/>
            <a:chOff x="6243447" y="1524000"/>
            <a:chExt cx="5415153" cy="3883056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9746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第几次请求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6669" y="1641157"/>
              <a:ext cx="1122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readLine() 返回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6077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回复内容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17640" y="1641157"/>
              <a:ext cx="891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moreQuotes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230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3194" y="2023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"one"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3376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02467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6230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63194" y="2404110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two"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23376" y="2404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␣two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02467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30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63194" y="278511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three"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23376" y="2785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␣three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02467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6230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63194" y="316706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four"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23376" y="31670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␣four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2467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6230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63194" y="354806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five"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23376" y="354806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␣five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02467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6230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3194" y="3930015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 six"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23376" y="3930015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␣six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02467" y="393001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4189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62308" y="44043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63194" y="4404360"/>
              <a:ext cx="250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23376" y="4311015"/>
              <a:ext cx="107080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 more quotes.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Goodbye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4203382"/>
              <a:ext cx="1171575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881265" y="4404360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756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476154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62308" y="48787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63194" y="4878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638222" y="4771072"/>
              <a:ext cx="182022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723376" y="487870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服务器已关闭，无人回复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19082" y="48787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1524000"/>
              <a:ext cx="5410200" cy="3619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63752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623935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463212" y="1524000"/>
              <a:ext cx="9525" cy="3619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43447" y="5216366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␣ 表示一个空格；与下一页客户端连续运行 8 次的实测输出一致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6248400" y="5533072"/>
            <a:ext cx="5410200" cy="702945"/>
            <a:chOff x="6248400" y="5533072"/>
            <a:chExt cx="5410200" cy="702945"/>
          </a:xfrm>
        </p:grpSpPr>
        <p:sp>
          <p:nvSpPr>
            <p:cNvPr id="74" name="Rectangle 74"/>
            <p:cNvSpPr/>
            <p:nvPr/>
          </p:nvSpPr>
          <p:spPr>
            <a:xfrm>
              <a:off x="6248400" y="553307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453188" y="5784533"/>
              <a:ext cx="200026" cy="200026"/>
              <a:chOff x="6453188" y="5784533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453188" y="5784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53200" y="5851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542088" y="58845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756273" y="567832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服务器只有一个线程、一个套接字，7 次请求来自 7 次独立运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行的客户端，它照样逐个回复。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客户端：发一个空包，收一句报价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917632"/>
            <a:chOff x="533400" y="1524000"/>
            <a:chExt cx="6059805" cy="3917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917632"/>
            </a:xfrm>
            <a:prstGeom prst="roundRect">
              <a:avLst>
                <a:gd name="adj" fmla="val 2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408754" cy="3424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UDPClient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(args.length != 1)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"Usage: java UDPClient &lt;hostname&gt;"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DatagramSocket socket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DatagramSocket();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buf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[256];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InetAddress address = InetAddress.getByName(args[0]);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DatagramPacket packet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buf, buf.length, address, 4445);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socket.send(packet);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发请求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DatagramPacket(buf, buf.length);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socket.receive(packet);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等回复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received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String(packet.getData(),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0, packet.getLength(),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"utf-8"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"Server Say: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received);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socket.close();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898005" y="1524000"/>
            <a:ext cx="4760595" cy="2125028"/>
            <a:chOff x="6898005" y="1524000"/>
            <a:chExt cx="4760595" cy="2125028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26402" y="1675924"/>
              <a:ext cx="2869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实测：连续运行 8 次 java UDPClient localhost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5640" y="1937861"/>
              <a:ext cx="274955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one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 two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 three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 four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 five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 six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Server Say: No more quotes. Goodbye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（第 8 次一直卡在 receive，没有输出）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898005" y="3834765"/>
            <a:ext cx="4760595" cy="2408872"/>
            <a:chOff x="6898005" y="3834765"/>
            <a:chExt cx="4760595" cy="2408872"/>
          </a:xfrm>
        </p:grpSpPr>
        <p:sp>
          <p:nvSpPr>
            <p:cNvPr id="15" name="Rectangle 15"/>
            <p:cNvSpPr/>
            <p:nvPr/>
          </p:nvSpPr>
          <p:spPr>
            <a:xfrm>
              <a:off x="6898005" y="3834765"/>
              <a:ext cx="4760595" cy="2408872"/>
            </a:xfrm>
            <a:prstGeom prst="roundRect">
              <a:avLst>
                <a:gd name="adj" fmla="val 5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07530" y="3968115"/>
              <a:ext cx="47625" cy="214217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39940" y="40386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26198" y="40743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47560" y="4471035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04151" y="4411504"/>
              <a:ext cx="38827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StringReader 里的 \r 是行结束符，它后面的空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格留在下一行开头，所以 two 到 six 前面多一个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47560" y="5334000"/>
              <a:ext cx="60960" cy="609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04151" y="5274469"/>
              <a:ext cx="38557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次拿到告别语后服务器退出。第 8 次的请求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没人收，客户端的 receive() 永远阻塞，这正是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 一页说客户端要设超时的原因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2：用数据流把字符串打包进数据报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894648"/>
            <a:chOff x="533400" y="1524000"/>
            <a:chExt cx="5410200" cy="28946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94648"/>
            </a:xfrm>
            <a:prstGeom prst="roundRect">
              <a:avLst>
                <a:gd name="adj" fmla="val 32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25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服务端 UDPServer（端口 8086）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811854" cy="2401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DatagramSocket datagramSocket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DatagramSocket(8086);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container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[1024];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准备容器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DatagramPacket packet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container, container.length);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打包容器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datagramSocket.receive(packet);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接收数据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data = packet.getData();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从包里取数据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str = convert(data);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转换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System.out.println(str);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convert(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data)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DataInputStream dis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ByteArrayInputStream(data));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dis.readUTF();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604385"/>
            <a:ext cx="5410200" cy="1545908"/>
            <a:chOff x="533400" y="4604385"/>
            <a:chExt cx="5410200" cy="1545908"/>
          </a:xfrm>
        </p:grpSpPr>
        <p:sp>
          <p:nvSpPr>
            <p:cNvPr id="11" name="Rectangle 11"/>
            <p:cNvSpPr/>
            <p:nvPr/>
          </p:nvSpPr>
          <p:spPr>
            <a:xfrm>
              <a:off x="533400" y="460438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73773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48082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5543" y="48439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5181124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原课件客户端第 1 步注释写「创建服务，指定服务端口」。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8088 是客户端自己绑定的本机端口，目的端口 8086 写在包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里。两段代码省略了 main 的外壳和 import。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3235642"/>
            <a:chOff x="6248400" y="1524000"/>
            <a:chExt cx="5410200" cy="3235642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3235642"/>
            </a:xfrm>
            <a:prstGeom prst="roundRect">
              <a:avLst>
                <a:gd name="adj" fmla="val 29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22181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 UDPClient（本机端口 8088）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949" y="1936337"/>
              <a:ext cx="3949141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DatagramSocket client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DatagramSocket(8088);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data = convert(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"哈哈哈！"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准备数据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DatagramPacket packet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DatagramPacket(data,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data.length,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InetSocketAddress(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"localhost"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8086));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client.send(packet);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发送数据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client.close();    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释放资源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convert(String str)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ByteArrayOutputStream bos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ByteArrayOutputStream();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DataOutputStream dos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DataOutputStream(bos);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dos.writeUTF(str);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dos.flush();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data = bos.toByteArray();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dos.close();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code-2"/>
          <p:cNvGrpSpPr/>
          <p:nvPr/>
        </p:nvGrpSpPr>
        <p:grpSpPr>
          <a:xfrm>
            <a:off x="6248400" y="4945380"/>
            <a:ext cx="5410200" cy="907732"/>
            <a:chOff x="6248400" y="4945380"/>
            <a:chExt cx="5410200" cy="907732"/>
          </a:xfrm>
        </p:grpSpPr>
        <p:sp>
          <p:nvSpPr>
            <p:cNvPr id="21" name="Rectangle 21"/>
            <p:cNvSpPr/>
            <p:nvPr/>
          </p:nvSpPr>
          <p:spPr>
            <a:xfrm>
              <a:off x="6248400" y="4945380"/>
              <a:ext cx="541020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797" y="509730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21 实测（先启动服务端）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5359241"/>
              <a:ext cx="1462278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客户端：发出 14 字节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服务端：哈哈哈！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5175" cy="909257"/>
            <a:chOff x="520446" y="342900"/>
            <a:chExt cx="8225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5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的数据报里装了什么：2 字节长度加 12 字节内容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cells-1"/>
          <p:cNvGrpSpPr/>
          <p:nvPr/>
        </p:nvGrpSpPr>
        <p:grpSpPr>
          <a:xfrm>
            <a:off x="527685" y="1569720"/>
            <a:ext cx="5849303" cy="846296"/>
            <a:chOff x="527685" y="1569720"/>
            <a:chExt cx="5849303" cy="846296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39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2118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9215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34857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0C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25930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22524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13598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15120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01265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01835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88932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84574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76600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77170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4268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64838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50982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47577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38650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40173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26318" y="1819275"/>
              <a:ext cx="38766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26888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13985" y="1819275"/>
              <a:ext cx="38766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09627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EF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601652" y="1819275"/>
              <a:ext cx="38766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7294" y="19397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89320" y="1819275"/>
              <a:ext cx="38766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89890" y="19397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978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7453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8512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2788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59503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4717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34838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2250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10173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9784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54199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41866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29534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17201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933" y="1569720"/>
              <a:ext cx="429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长度 12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106805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54898" y="15697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哈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88214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16948" y="15697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哈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04419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79951" y="15697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哈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4207192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42001" y="15697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5369242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4" name="c1-steps-2"/>
          <p:cNvGrpSpPr/>
          <p:nvPr/>
        </p:nvGrpSpPr>
        <p:grpSpPr>
          <a:xfrm>
            <a:off x="533400" y="2566035"/>
            <a:ext cx="5581299" cy="1693069"/>
            <a:chOff x="533400" y="2566035"/>
            <a:chExt cx="5581299" cy="1693069"/>
          </a:xfrm>
        </p:grpSpPr>
        <p:sp>
          <p:nvSpPr>
            <p:cNvPr id="61" name="Rectangle 61"/>
            <p:cNvSpPr/>
            <p:nvPr/>
          </p:nvSpPr>
          <p:spPr>
            <a:xfrm>
              <a:off x="666750" y="270891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533400" y="256603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7024" y="2639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33400" y="315277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7024" y="3226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33400" y="374046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7024" y="38142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5642" y="2598420"/>
              <a:ext cx="1646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 先写长度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6785" y="2865596"/>
              <a:ext cx="471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2 个字节（高位在前）写出后面内容的字节数，这里是 0x000C = 12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5642" y="31851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再写内容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785" y="3452336"/>
              <a:ext cx="4118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个字符按 UTF-8 编码（见下表），每个 3 字节，共 12 字节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5642" y="3771900"/>
              <a:ext cx="1551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readUTF 按长度读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6785" y="4039076"/>
              <a:ext cx="5167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先读 2 字节得到 12，再读 12 字节解码，缓冲区后面 1010 个 0 不会被读进来</a:t>
              </a:r>
            </a:p>
          </p:txBody>
        </p:sp>
      </p:grpSp>
      <p:grpSp>
        <p:nvGrpSpPr>
          <p:cNvPr id="95" name="c1-table-3"/>
          <p:cNvGrpSpPr/>
          <p:nvPr/>
        </p:nvGrpSpPr>
        <p:grpSpPr>
          <a:xfrm>
            <a:off x="528066" y="4428172"/>
            <a:ext cx="5847969" cy="1496949"/>
            <a:chOff x="528066" y="4428172"/>
            <a:chExt cx="5847969" cy="1496949"/>
          </a:xfrm>
        </p:grpSpPr>
        <p:sp>
          <p:nvSpPr>
            <p:cNvPr id="75" name="Rectangle 75"/>
            <p:cNvSpPr/>
            <p:nvPr/>
          </p:nvSpPr>
          <p:spPr>
            <a:xfrm>
              <a:off x="533400" y="4428172"/>
              <a:ext cx="584263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2691" y="45524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052072" y="4552474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Unicode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744175" y="4552474"/>
              <a:ext cx="823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UTF-8 编码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560276" y="45524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8078" y="49582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076480" y="4958239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U+54C8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839390" y="4958239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E5 93 88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744975" y="49582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" y="52349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533400" y="5239702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6529" y="53640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！（全角）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076480" y="536400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U+FF01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839390" y="5364004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EF BC 81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744975" y="53640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33400" y="4428172"/>
              <a:ext cx="584263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580198" y="442817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3099435" y="442817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203508" y="442817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28066" y="5719762"/>
              <a:ext cx="4255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Python 按 UTF-8 编码复算，与 JDK 21 实测发出的 14 字节一致</a:t>
              </a:r>
            </a:p>
          </p:txBody>
        </p:sp>
      </p:grpSp>
      <p:grpSp>
        <p:nvGrpSpPr>
          <p:cNvPr id="107" name="c2-kv-1"/>
          <p:cNvGrpSpPr/>
          <p:nvPr/>
        </p:nvGrpSpPr>
        <p:grpSpPr>
          <a:xfrm>
            <a:off x="6673977" y="1545907"/>
            <a:ext cx="4984623" cy="2472881"/>
            <a:chOff x="6673977" y="1545907"/>
            <a:chExt cx="4984623" cy="2472881"/>
          </a:xfrm>
        </p:grpSpPr>
        <p:sp>
          <p:nvSpPr>
            <p:cNvPr id="96" name="TextBox 96"/>
            <p:cNvSpPr txBox="1"/>
            <p:nvPr/>
          </p:nvSpPr>
          <p:spPr>
            <a:xfrm>
              <a:off x="6673977" y="1545907"/>
              <a:ext cx="2318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ByteArrayOutputStream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62860" y="1545907"/>
              <a:ext cx="22425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写进去的字节都存在内存数组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里，toByteArray() 取出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680835" y="20888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73977" y="2198370"/>
              <a:ext cx="1787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DataOutputStream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162860" y="2198370"/>
              <a:ext cx="225113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String、int 等写成约定格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式的字节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680835" y="27403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73977" y="2849880"/>
              <a:ext cx="2126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ByteArrayInputStream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162860" y="2849880"/>
              <a:ext cx="22425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把一个字节数组当成输入流来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680835" y="33918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673977" y="3501390"/>
              <a:ext cx="1596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162860" y="3501390"/>
              <a:ext cx="18996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按同样的格式把字节读回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String、int</a:t>
              </a:r>
            </a:p>
          </p:txBody>
        </p:sp>
      </p:grpSp>
      <p:grpSp>
        <p:nvGrpSpPr>
          <p:cNvPr id="114" name="c2-card-2"/>
          <p:cNvGrpSpPr/>
          <p:nvPr/>
        </p:nvGrpSpPr>
        <p:grpSpPr>
          <a:xfrm>
            <a:off x="6680835" y="4140518"/>
            <a:ext cx="4977765" cy="1786890"/>
            <a:chOff x="6680835" y="4140518"/>
            <a:chExt cx="4977765" cy="1786890"/>
          </a:xfrm>
        </p:grpSpPr>
        <p:sp>
          <p:nvSpPr>
            <p:cNvPr id="108" name="Rectangle 108"/>
            <p:cNvSpPr/>
            <p:nvPr/>
          </p:nvSpPr>
          <p:spPr>
            <a:xfrm>
              <a:off x="6680835" y="4140518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873240" y="4332922"/>
              <a:ext cx="728662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957609" y="4367212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对比例 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709344" y="437292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两种把字符串装进数据报的方法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866382" y="4707255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1 用 getBytes 直接编码，接收方要靠 getLength()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知道到哪里结束。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866382" y="5267325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2 用 writeUTF 把长度写进包里，接收方按长度读，但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两端都必须用 Data 流，这就是第三部分讲的读写配对。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746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036" y="407194"/>
              <a:ext cx="2902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 · 基于 UDP 的数据报通信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易错点：缓冲区大小、有效长度、字符集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626418" cy="2790825"/>
            <a:chOff x="533400" y="1524000"/>
            <a:chExt cx="5626418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6020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1198" y="1655445"/>
              <a:ext cx="1258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JDK 21 实测结果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191702"/>
              <a:ext cx="2111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10 字节，用 4 字节缓冲收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130868" y="1964055"/>
              <a:ext cx="3019425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26689" y="2085022"/>
              <a:ext cx="2564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getLength() = 4，内容 Hell，多出的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字节直接丢掉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5927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59746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46" y="2835592"/>
              <a:ext cx="2204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10 字节，用 16 字节缓冲收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30868" y="2606992"/>
              <a:ext cx="3019425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26689" y="2728912"/>
              <a:ext cx="2442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String(getData()) 长 16，带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getLength() 才是 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365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37280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服务器已退出，客户端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6689" y="34794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一直阻塞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79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88429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01574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本地端口已被占用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6689" y="4015740"/>
              <a:ext cx="1095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BindException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626418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1658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500562"/>
            <a:ext cx="5626418" cy="1430655"/>
            <a:chOff x="533400" y="4500562"/>
            <a:chExt cx="5626418" cy="1430655"/>
          </a:xfrm>
        </p:grpSpPr>
        <p:sp>
          <p:nvSpPr>
            <p:cNvPr id="28" name="Rectangle 28"/>
            <p:cNvSpPr/>
            <p:nvPr/>
          </p:nvSpPr>
          <p:spPr>
            <a:xfrm>
              <a:off x="533400" y="4500562"/>
              <a:ext cx="5626418" cy="1430655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633912"/>
              <a:ext cx="47625" cy="11639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54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76744" y="474392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缓冲区要按最大可能的包开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095399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不会把一个包拆开分两次给你，放不下的部分就没了。例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用 256 字节，例 2 用 1024 字节，都够装下各自的消息。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58902" y="1524000"/>
            <a:ext cx="5199698" cy="2429351"/>
            <a:chOff x="6458902" y="1524000"/>
            <a:chExt cx="5199698" cy="2429351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3233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2884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9964" y="2191702"/>
              <a:ext cx="1460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String(data)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9722" y="2085022"/>
              <a:ext cx="2740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String(data, 0, p.getLength(),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UTF_8)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5927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59746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9964" y="2728912"/>
              <a:ext cx="1138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s.getBytes()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9722" y="2728912"/>
              <a:ext cx="3069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s.getBytes(StandardCharsets.UTF_8)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0232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9964" y="3159442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receive() 不设超时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39722" y="3159442"/>
              <a:ext cx="2923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setSoTimeout(ms)，超时后重发或报错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29612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8902" y="3533299"/>
              <a:ext cx="4847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 即 p.getData()。反例依次导致：尾部多出一串 0 字节、依赖默认字符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集、服务器不回复时永远阻塞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094798"/>
            <a:ext cx="5193982" cy="1836420"/>
            <a:chOff x="6464618" y="4094798"/>
            <a:chExt cx="5193982" cy="1836420"/>
          </a:xfrm>
        </p:grpSpPr>
        <p:sp>
          <p:nvSpPr>
            <p:cNvPr id="51" name="Rectangle 51"/>
            <p:cNvSpPr/>
            <p:nvPr/>
          </p:nvSpPr>
          <p:spPr>
            <a:xfrm>
              <a:off x="6464618" y="4094798"/>
              <a:ext cx="5193982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228148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06552" y="429863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8861" y="43343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版本补充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92758" y="43381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默认字符集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99314" y="4690586"/>
              <a:ext cx="45229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18 起默认字符集统一为 UTF-8（JEP 400，本机 JDK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实测 UTF-8）；更早的中文 Windows 默认 GBK，两端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编码不一致时中文会乱码。例 1 的 UDPClient 按 utf-8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解码，服务器也写明 utf-8 才稳妥。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768792"/>
            <a:chOff x="533400" y="1524000"/>
            <a:chExt cx="3505200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898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TCP/IP 的传输层对应 OSI 的第几层？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TCP、UDP 在哪一层？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8083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 OSI 第 4 层传输层。TCP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都是传输层协议。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68052"/>
            <a:ext cx="3505200" cy="2540318"/>
            <a:chOff x="533400" y="3468052"/>
            <a:chExt cx="3505200" cy="2540318"/>
          </a:xfrm>
        </p:grpSpPr>
        <p:sp>
          <p:nvSpPr>
            <p:cNvPr id="13" name="Rectangle 13"/>
            <p:cNvSpPr/>
            <p:nvPr/>
          </p:nvSpPr>
          <p:spPr>
            <a:xfrm>
              <a:off x="533400" y="3468052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017645"/>
              <a:ext cx="2951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服务器怎样知道把回复发给谁？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319588"/>
              <a:ext cx="29112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从收到的 DatagramPacket 上调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getAddress() 和 getPort()（或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getSocketAddress()），用它们构造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回复包。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025968"/>
            <a:chOff x="4343400" y="1524000"/>
            <a:chExt cx="3505200" cy="202596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同一台机器上的两个客户端连同一个服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务器端口，为什么不会串线？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五元组里的本地端口不同（系统各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分配一个临时端口），所以是两个不同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的连接。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725228"/>
            <a:ext cx="3505200" cy="2283142"/>
            <a:chOff x="4343400" y="3725228"/>
            <a:chExt cx="3505200" cy="2283142"/>
          </a:xfrm>
        </p:grpSpPr>
        <p:sp>
          <p:nvSpPr>
            <p:cNvPr id="25" name="Rectangle 25"/>
            <p:cNvSpPr/>
            <p:nvPr/>
          </p:nvSpPr>
          <p:spPr>
            <a:xfrm>
              <a:off x="4343400" y="3725228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274820"/>
              <a:ext cx="2924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 能 new 出来吗？怎样得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到本机和 localhost 的地址对象？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4833937"/>
              <a:ext cx="29455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不能，它没有公共构造方法。本机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InetAddress.getLocalHost()，回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环地址用 getLoopbackAddress() 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getByName("localhost")。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83142"/>
            <a:chOff x="8153400" y="1524000"/>
            <a:chExt cx="3505200" cy="228314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866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和 Socket 分别用在哪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一端？哪个方法会阻塞到有客户连上？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90264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只在服务器端监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听；通信两端用的都是 Socket。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ServerSocket.accept() 阻塞，返回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与该客户通信的 Socket。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82402"/>
            <a:ext cx="3505200" cy="2025968"/>
            <a:chOff x="8153400" y="3982402"/>
            <a:chExt cx="3505200" cy="2025968"/>
          </a:xfrm>
        </p:grpSpPr>
        <p:sp>
          <p:nvSpPr>
            <p:cNvPr id="37" name="Rectangle 37"/>
            <p:cNvSpPr/>
            <p:nvPr/>
          </p:nvSpPr>
          <p:spPr>
            <a:xfrm>
              <a:off x="8153400" y="3982402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53199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点对面服务器为什么要为每个连接开线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09111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否则主线程处理一个会话时不能回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accept()，其他客户只能排队。开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线程后主线程只负责接受连接。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自测（二）：读程序判断结果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540318"/>
            <a:chOff x="533400" y="1524000"/>
            <a:chExt cx="3505200" cy="2540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21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服务器和客户机都先 new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ObjectInputStream(s.getInputSt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ream()) 再建输出流，运行会怎样？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889885"/>
              <a:ext cx="29455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两边都卡在 ObjectInputStream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的构造方法里等对方的流头，谁也不往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下走。至少一端先建输出流并 flush 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能通。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39578"/>
            <a:ext cx="3505200" cy="2025968"/>
            <a:chOff x="533400" y="4239578"/>
            <a:chExt cx="3505200" cy="2025968"/>
          </a:xfrm>
        </p:grpSpPr>
        <p:sp>
          <p:nvSpPr>
            <p:cNvPr id="13" name="Rectangle 13"/>
            <p:cNvSpPr/>
            <p:nvPr/>
          </p:nvSpPr>
          <p:spPr>
            <a:xfrm>
              <a:off x="53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789170"/>
              <a:ext cx="287950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new byte[4] 接收一个 10 字节的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数据报，getLength() 返回多少？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348288"/>
              <a:ext cx="28683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4。UDP 把放不下的 6 字节直接丢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掉，不会留到下一次 receive。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540318"/>
            <a:chOff x="4343400" y="1524000"/>
            <a:chExt cx="3505200" cy="254031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9682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TCPServer 把 dos.flush() 删掉后立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即结束，客户端 readUTF() 会读到什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889885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读不到。数据留在缓冲区里随进程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丢失，JDK 21 在 Windows 上实测客户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端抛 SocketException: Connection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reset。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4239578"/>
            <a:ext cx="3505200" cy="2025968"/>
            <a:chOff x="4343400" y="4239578"/>
            <a:chExt cx="3505200" cy="2025968"/>
          </a:xfrm>
        </p:grpSpPr>
        <p:sp>
          <p:nvSpPr>
            <p:cNvPr id="25" name="Rectangle 25"/>
            <p:cNvSpPr/>
            <p:nvPr/>
          </p:nvSpPr>
          <p:spPr>
            <a:xfrm>
              <a:off x="434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789170"/>
              <a:ext cx="28254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客户端 writeUTF("哈哈哈！")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后发出多少字节？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348288"/>
              <a:ext cx="29712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字节：2 字节长度 + 4 个汉字和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全角符号各 3 字节（UTF-8）。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540318"/>
            <a:chOff x="8153400" y="1524000"/>
            <a:chExt cx="3505200" cy="254031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84092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发送方 writeInt(7)，接收方用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BufferedReader.readLine() 读，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会怎样？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889885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readLine 要等换行符，4 个字节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 00 07 里没有 \n，接收方一直阻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塞（对方关闭连接后才返回）。读写必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须配对用 readInt()。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239578"/>
            <a:ext cx="3505200" cy="2025968"/>
            <a:chOff x="8153400" y="4239578"/>
            <a:chExt cx="3505200" cy="2025968"/>
          </a:xfrm>
        </p:grpSpPr>
        <p:sp>
          <p:nvSpPr>
            <p:cNvPr id="37" name="Rectangle 37"/>
            <p:cNvSpPr/>
            <p:nvPr/>
          </p:nvSpPr>
          <p:spPr>
            <a:xfrm>
              <a:off x="815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789170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的报价服务器发完告别语后，再运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行一次 UDPClient 会怎样？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348288"/>
              <a:ext cx="29798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服务器已经 close 退出，请求包没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人收，客户端卡在 receive() 不返回。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setSoTimeout 可以让它超时退出。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第11章 网络应用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923" y="1545431"/>
            <a:ext cx="5174107" cy="2401062"/>
            <a:chOff x="526923" y="1545431"/>
            <a:chExt cx="5174107" cy="2401062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四部分各自的落点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354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307" y="18701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148" y="1846421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协议概述：TCP/IP 四层对应 OSI 七层；TCP 面向连接、可靠，UDP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无连接、不可靠；五元组确定一个连接，端口 0~65535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37077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4063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382679"/>
              <a:ext cx="48734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InetAddress：没有构造方法，用 getByName、getLocalHost 取对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象，查不到主机抛 UnknownHostException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90703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29426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2917984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TCP：服务器 new ServerSocket → accept → 取流 → 读写 → 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闭；客户机少一步 accept；点对面就是 accept 循环加线程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4328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4779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454241"/>
              <a:ext cx="4897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UDP：DatagramSocket 收发，DatagramPacket 装数据和地址；回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信地址从收到的包里取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061460"/>
            <a:ext cx="5410200" cy="2073592"/>
            <a:chOff x="533400" y="4061460"/>
            <a:chExt cx="5410200" cy="2073592"/>
          </a:xfrm>
        </p:grpSpPr>
        <p:sp>
          <p:nvSpPr>
            <p:cNvPr id="21" name="Rectangle 21"/>
            <p:cNvSpPr/>
            <p:nvPr/>
          </p:nvSpPr>
          <p:spPr>
            <a:xfrm>
              <a:off x="533400" y="4061460"/>
              <a:ext cx="5410200" cy="2073592"/>
            </a:xfrm>
            <a:prstGeom prst="roundRect">
              <a:avLst>
                <a:gd name="adj" fmla="val 64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94810"/>
              <a:ext cx="47625" cy="18068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2424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2752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281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先画时序，再写代码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5981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写网络程序前先画出两端谁先发、发什么类型、谁等谁，再逐行写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和对应的 read，最后检查 flush、close 和超时。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2287905"/>
            <a:chOff x="6248400" y="1524000"/>
            <a:chExt cx="5410200" cy="228790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6737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431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3079" y="2023110"/>
              <a:ext cx="1725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ServerSocket 与 Socket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15744" y="202311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只在服务器监听 / 通信两端都用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3079" y="2404110"/>
              <a:ext cx="1591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accept() 与 receive()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744" y="2404110"/>
              <a:ext cx="2400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TCP 连接 / 等一个 UDP 包，都阻塞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3079" y="2785110"/>
              <a:ext cx="1885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getData() 与 getLength()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30590" y="2677478"/>
              <a:ext cx="311848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15744" y="278511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整个缓冲区 / 本次有效字节数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3079" y="3167062"/>
              <a:ext cx="1636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writeUTF 与 write + \n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15744" y="3167062"/>
              <a:ext cx="2259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对方用 readUTF / 对方用 readLine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548062"/>
              <a:ext cx="2077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DatagramSocket() 与 (port)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5744" y="354806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系统分配端口 / 固定端口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1630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3976688"/>
            <a:ext cx="5410200" cy="2157412"/>
            <a:chOff x="6248400" y="3976688"/>
            <a:chExt cx="5410200" cy="2157412"/>
          </a:xfrm>
        </p:grpSpPr>
        <p:sp>
          <p:nvSpPr>
            <p:cNvPr id="51" name="Rectangle 51"/>
            <p:cNvSpPr/>
            <p:nvPr/>
          </p:nvSpPr>
          <p:spPr>
            <a:xfrm>
              <a:off x="6248400" y="3976688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110038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7475" y="415766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44894" y="41905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本讲更正汇总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0998" y="4498181"/>
              <a:ext cx="482473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15、16 页对象流顺序会卡死，已改为先建输出流；第 28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页补全缺失的循环体；第 13 页 Socket 构造方法的异常声明；另有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UDP「不可靠的连接」、ServerThead、connet、UDPSever、第 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 Datagram 类、第 32 页 Sockedt 与 UCP 等笔误。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60998" y="5511641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版本：URL 构造方法 JDK 20 起过时；JDK 18 起默认 UTF-8；JDK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虚拟线程。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599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第11章 网络应用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11">
  <a:themeElements>
    <a:clrScheme name="java_ch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1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2026-09-23T10:14:50Z</dcterms:created>
  <dcterms:modified xsi:type="dcterms:W3CDTF">2026-09-23T10:14:50Z</dcterms:modified>
  <cp:category/>
  <cp:contentStatus/>
</cp:coreProperties>
</file>